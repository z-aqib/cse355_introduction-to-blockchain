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68" r:id="rId1"/>
  </p:sldMasterIdLst>
  <p:notesMasterIdLst>
    <p:notesMasterId r:id="rId27"/>
  </p:notesMasterIdLst>
  <p:sldIdLst>
    <p:sldId id="1440" r:id="rId2"/>
    <p:sldId id="1464" r:id="rId3"/>
    <p:sldId id="1461" r:id="rId4"/>
    <p:sldId id="1446" r:id="rId5"/>
    <p:sldId id="1389" r:id="rId6"/>
    <p:sldId id="1460" r:id="rId7"/>
    <p:sldId id="1354" r:id="rId8"/>
    <p:sldId id="1386" r:id="rId9"/>
    <p:sldId id="1376" r:id="rId10"/>
    <p:sldId id="1425" r:id="rId11"/>
    <p:sldId id="1378" r:id="rId12"/>
    <p:sldId id="1390" r:id="rId13"/>
    <p:sldId id="1463" r:id="rId14"/>
    <p:sldId id="1467" r:id="rId15"/>
    <p:sldId id="1377" r:id="rId16"/>
    <p:sldId id="1471" r:id="rId17"/>
    <p:sldId id="1392" r:id="rId18"/>
    <p:sldId id="1379" r:id="rId19"/>
    <p:sldId id="1381" r:id="rId20"/>
    <p:sldId id="1472" r:id="rId21"/>
    <p:sldId id="1447" r:id="rId22"/>
    <p:sldId id="1448" r:id="rId23"/>
    <p:sldId id="1449" r:id="rId24"/>
    <p:sldId id="1450" r:id="rId25"/>
    <p:sldId id="1451" r:id="rId26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308D3E"/>
    <a:srgbClr val="FFD579"/>
    <a:srgbClr val="C5FFFC"/>
    <a:srgbClr val="D5FC79"/>
    <a:srgbClr val="9437FF"/>
    <a:srgbClr val="FF40FF"/>
    <a:srgbClr val="1BA05F"/>
    <a:srgbClr val="FFECE5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45A1C0-08B1-417A-9758-3E39D6186477}" v="146" dt="2026-01-22T07:48:41.1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82470"/>
  </p:normalViewPr>
  <p:slideViewPr>
    <p:cSldViewPr snapToGrid="0" snapToObjects="1">
      <p:cViewPr varScale="1">
        <p:scale>
          <a:sx n="65" d="100"/>
          <a:sy n="65" d="100"/>
        </p:scale>
        <p:origin x="82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ed Akhtar" userId="24df8cbf-c4bb-4b0f-990a-c34b46f32809" providerId="ADAL" clId="{7B603757-AF4F-447D-9CF3-5B3B3781D1BD}"/>
    <pc:docChg chg="undo custSel addSld delSld modSld modMainMaster">
      <pc:chgData name="Ahmed Akhtar" userId="24df8cbf-c4bb-4b0f-990a-c34b46f32809" providerId="ADAL" clId="{7B603757-AF4F-447D-9CF3-5B3B3781D1BD}" dt="2026-01-22T07:50:35.538" v="361"/>
      <pc:docMkLst>
        <pc:docMk/>
      </pc:docMkLst>
      <pc:sldChg chg="del">
        <pc:chgData name="Ahmed Akhtar" userId="24df8cbf-c4bb-4b0f-990a-c34b46f32809" providerId="ADAL" clId="{7B603757-AF4F-447D-9CF3-5B3B3781D1BD}" dt="2026-01-22T06:29:18.427" v="142" actId="47"/>
        <pc:sldMkLst>
          <pc:docMk/>
          <pc:sldMk cId="3202781895" sldId="825"/>
        </pc:sldMkLst>
      </pc:sldChg>
      <pc:sldChg chg="addAnim delAnim">
        <pc:chgData name="Ahmed Akhtar" userId="24df8cbf-c4bb-4b0f-990a-c34b46f32809" providerId="ADAL" clId="{7B603757-AF4F-447D-9CF3-5B3B3781D1BD}" dt="2026-01-22T07:27:12.044" v="328"/>
        <pc:sldMkLst>
          <pc:docMk/>
          <pc:sldMk cId="3788245743" sldId="1377"/>
        </pc:sldMkLst>
      </pc:sldChg>
      <pc:sldChg chg="addAnim delAnim">
        <pc:chgData name="Ahmed Akhtar" userId="24df8cbf-c4bb-4b0f-990a-c34b46f32809" providerId="ADAL" clId="{7B603757-AF4F-447D-9CF3-5B3B3781D1BD}" dt="2026-01-22T07:45:33.497" v="336"/>
        <pc:sldMkLst>
          <pc:docMk/>
          <pc:sldMk cId="1082507443" sldId="1379"/>
        </pc:sldMkLst>
      </pc:sldChg>
      <pc:sldChg chg="addAnim delAnim">
        <pc:chgData name="Ahmed Akhtar" userId="24df8cbf-c4bb-4b0f-990a-c34b46f32809" providerId="ADAL" clId="{7B603757-AF4F-447D-9CF3-5B3B3781D1BD}" dt="2026-01-22T07:46:44.725" v="339"/>
        <pc:sldMkLst>
          <pc:docMk/>
          <pc:sldMk cId="3256905400" sldId="1381"/>
        </pc:sldMkLst>
      </pc:sldChg>
      <pc:sldChg chg="addAnim delAnim">
        <pc:chgData name="Ahmed Akhtar" userId="24df8cbf-c4bb-4b0f-990a-c34b46f32809" providerId="ADAL" clId="{7B603757-AF4F-447D-9CF3-5B3B3781D1BD}" dt="2026-01-22T07:21:58.725" v="322"/>
        <pc:sldMkLst>
          <pc:docMk/>
          <pc:sldMk cId="161723427" sldId="1386"/>
        </pc:sldMkLst>
      </pc:sldChg>
      <pc:sldChg chg="delSp modSp mod">
        <pc:chgData name="Ahmed Akhtar" userId="24df8cbf-c4bb-4b0f-990a-c34b46f32809" providerId="ADAL" clId="{7B603757-AF4F-447D-9CF3-5B3B3781D1BD}" dt="2026-01-22T06:26:30.071" v="94" actId="478"/>
        <pc:sldMkLst>
          <pc:docMk/>
          <pc:sldMk cId="1812663018" sldId="1440"/>
        </pc:sldMkLst>
        <pc:spChg chg="mod">
          <ac:chgData name="Ahmed Akhtar" userId="24df8cbf-c4bb-4b0f-990a-c34b46f32809" providerId="ADAL" clId="{7B603757-AF4F-447D-9CF3-5B3B3781D1BD}" dt="2026-01-22T06:25:31.709" v="30" actId="2711"/>
          <ac:spMkLst>
            <pc:docMk/>
            <pc:sldMk cId="1812663018" sldId="1440"/>
            <ac:spMk id="3" creationId="{F13B4093-EDEB-88AD-105E-DD4B298CCEEA}"/>
          </ac:spMkLst>
        </pc:spChg>
        <pc:spChg chg="del">
          <ac:chgData name="Ahmed Akhtar" userId="24df8cbf-c4bb-4b0f-990a-c34b46f32809" providerId="ADAL" clId="{7B603757-AF4F-447D-9CF3-5B3B3781D1BD}" dt="2026-01-22T06:24:45.861" v="1" actId="478"/>
          <ac:spMkLst>
            <pc:docMk/>
            <pc:sldMk cId="1812663018" sldId="1440"/>
            <ac:spMk id="5" creationId="{FB8C87DA-190F-57D7-D813-B48417A12002}"/>
          </ac:spMkLst>
        </pc:spChg>
        <pc:spChg chg="mod">
          <ac:chgData name="Ahmed Akhtar" userId="24df8cbf-c4bb-4b0f-990a-c34b46f32809" providerId="ADAL" clId="{7B603757-AF4F-447D-9CF3-5B3B3781D1BD}" dt="2026-01-22T06:26:22.195" v="93" actId="20577"/>
          <ac:spMkLst>
            <pc:docMk/>
            <pc:sldMk cId="1812663018" sldId="1440"/>
            <ac:spMk id="7" creationId="{B02CF6C0-F187-BF6B-6A7A-C82247549081}"/>
          </ac:spMkLst>
        </pc:spChg>
        <pc:picChg chg="del">
          <ac:chgData name="Ahmed Akhtar" userId="24df8cbf-c4bb-4b0f-990a-c34b46f32809" providerId="ADAL" clId="{7B603757-AF4F-447D-9CF3-5B3B3781D1BD}" dt="2026-01-22T06:26:30.071" v="94" actId="478"/>
          <ac:picMkLst>
            <pc:docMk/>
            <pc:sldMk cId="1812663018" sldId="1440"/>
            <ac:picMk id="4" creationId="{29376DD0-ADF3-FECF-200B-7EDB3EB119B7}"/>
          </ac:picMkLst>
        </pc:picChg>
        <pc:picChg chg="mod">
          <ac:chgData name="Ahmed Akhtar" userId="24df8cbf-c4bb-4b0f-990a-c34b46f32809" providerId="ADAL" clId="{7B603757-AF4F-447D-9CF3-5B3B3781D1BD}" dt="2026-01-22T06:24:42.660" v="0" actId="14826"/>
          <ac:picMkLst>
            <pc:docMk/>
            <pc:sldMk cId="1812663018" sldId="1440"/>
            <ac:picMk id="6" creationId="{A92A327C-08C1-4A0B-3853-4BC7F0718664}"/>
          </ac:picMkLst>
        </pc:picChg>
      </pc:sldChg>
      <pc:sldChg chg="del">
        <pc:chgData name="Ahmed Akhtar" userId="24df8cbf-c4bb-4b0f-990a-c34b46f32809" providerId="ADAL" clId="{7B603757-AF4F-447D-9CF3-5B3B3781D1BD}" dt="2026-01-22T06:29:48.031" v="144" actId="47"/>
        <pc:sldMkLst>
          <pc:docMk/>
          <pc:sldMk cId="1550998986" sldId="1441"/>
        </pc:sldMkLst>
      </pc:sldChg>
      <pc:sldChg chg="del">
        <pc:chgData name="Ahmed Akhtar" userId="24df8cbf-c4bb-4b0f-990a-c34b46f32809" providerId="ADAL" clId="{7B603757-AF4F-447D-9CF3-5B3B3781D1BD}" dt="2026-01-22T06:29:26.255" v="143" actId="47"/>
        <pc:sldMkLst>
          <pc:docMk/>
          <pc:sldMk cId="3531171434" sldId="1442"/>
        </pc:sldMkLst>
      </pc:sldChg>
      <pc:sldChg chg="del">
        <pc:chgData name="Ahmed Akhtar" userId="24df8cbf-c4bb-4b0f-990a-c34b46f32809" providerId="ADAL" clId="{7B603757-AF4F-447D-9CF3-5B3B3781D1BD}" dt="2026-01-22T06:29:55.689" v="145" actId="47"/>
        <pc:sldMkLst>
          <pc:docMk/>
          <pc:sldMk cId="1823386158" sldId="1443"/>
        </pc:sldMkLst>
      </pc:sldChg>
      <pc:sldChg chg="delSp mod">
        <pc:chgData name="Ahmed Akhtar" userId="24df8cbf-c4bb-4b0f-990a-c34b46f32809" providerId="ADAL" clId="{7B603757-AF4F-447D-9CF3-5B3B3781D1BD}" dt="2026-01-22T06:38:23.569" v="172" actId="478"/>
        <pc:sldMkLst>
          <pc:docMk/>
          <pc:sldMk cId="3654118371" sldId="1447"/>
        </pc:sldMkLst>
        <pc:spChg chg="del">
          <ac:chgData name="Ahmed Akhtar" userId="24df8cbf-c4bb-4b0f-990a-c34b46f32809" providerId="ADAL" clId="{7B603757-AF4F-447D-9CF3-5B3B3781D1BD}" dt="2026-01-22T06:38:23.569" v="172" actId="478"/>
          <ac:spMkLst>
            <pc:docMk/>
            <pc:sldMk cId="3654118371" sldId="1447"/>
            <ac:spMk id="5" creationId="{4968132B-D7AF-073C-CEC3-81AF21DBC439}"/>
          </ac:spMkLst>
        </pc:spChg>
      </pc:sldChg>
      <pc:sldChg chg="addSp modSp mod">
        <pc:chgData name="Ahmed Akhtar" userId="24df8cbf-c4bb-4b0f-990a-c34b46f32809" providerId="ADAL" clId="{7B603757-AF4F-447D-9CF3-5B3B3781D1BD}" dt="2026-01-22T07:49:13.143" v="360" actId="1036"/>
        <pc:sldMkLst>
          <pc:docMk/>
          <pc:sldMk cId="1966515162" sldId="1448"/>
        </pc:sldMkLst>
        <pc:spChg chg="add mod">
          <ac:chgData name="Ahmed Akhtar" userId="24df8cbf-c4bb-4b0f-990a-c34b46f32809" providerId="ADAL" clId="{7B603757-AF4F-447D-9CF3-5B3B3781D1BD}" dt="2026-01-22T07:49:13.143" v="360" actId="1036"/>
          <ac:spMkLst>
            <pc:docMk/>
            <pc:sldMk cId="1966515162" sldId="1448"/>
            <ac:spMk id="3" creationId="{86E3E2F0-46F4-AA17-66A2-5E1A0F10C9F5}"/>
          </ac:spMkLst>
        </pc:spChg>
      </pc:sldChg>
      <pc:sldChg chg="addAnim delAnim modAnim">
        <pc:chgData name="Ahmed Akhtar" userId="24df8cbf-c4bb-4b0f-990a-c34b46f32809" providerId="ADAL" clId="{7B603757-AF4F-447D-9CF3-5B3B3781D1BD}" dt="2026-01-22T07:50:35.538" v="361"/>
        <pc:sldMkLst>
          <pc:docMk/>
          <pc:sldMk cId="1956733691" sldId="1449"/>
        </pc:sldMkLst>
      </pc:sldChg>
      <pc:sldChg chg="modAnim">
        <pc:chgData name="Ahmed Akhtar" userId="24df8cbf-c4bb-4b0f-990a-c34b46f32809" providerId="ADAL" clId="{7B603757-AF4F-447D-9CF3-5B3B3781D1BD}" dt="2026-01-22T06:37:54.227" v="171"/>
        <pc:sldMkLst>
          <pc:docMk/>
          <pc:sldMk cId="1456454383" sldId="1450"/>
        </pc:sldMkLst>
      </pc:sldChg>
      <pc:sldChg chg="modAnim">
        <pc:chgData name="Ahmed Akhtar" userId="24df8cbf-c4bb-4b0f-990a-c34b46f32809" providerId="ADAL" clId="{7B603757-AF4F-447D-9CF3-5B3B3781D1BD}" dt="2026-01-22T06:35:11.660" v="165"/>
        <pc:sldMkLst>
          <pc:docMk/>
          <pc:sldMk cId="2218559429" sldId="1460"/>
        </pc:sldMkLst>
      </pc:sldChg>
      <pc:sldChg chg="addSp delSp modSp mod delAnim modAnim">
        <pc:chgData name="Ahmed Akhtar" userId="24df8cbf-c4bb-4b0f-990a-c34b46f32809" providerId="ADAL" clId="{7B603757-AF4F-447D-9CF3-5B3B3781D1BD}" dt="2026-01-22T06:51:44.122" v="321" actId="20577"/>
        <pc:sldMkLst>
          <pc:docMk/>
          <pc:sldMk cId="622541499" sldId="1461"/>
        </pc:sldMkLst>
        <pc:spChg chg="mod">
          <ac:chgData name="Ahmed Akhtar" userId="24df8cbf-c4bb-4b0f-990a-c34b46f32809" providerId="ADAL" clId="{7B603757-AF4F-447D-9CF3-5B3B3781D1BD}" dt="2026-01-22T06:51:22.593" v="318" actId="20577"/>
          <ac:spMkLst>
            <pc:docMk/>
            <pc:sldMk cId="622541499" sldId="1461"/>
            <ac:spMk id="2" creationId="{7947F958-8A54-80EC-BF20-475AB596DC85}"/>
          </ac:spMkLst>
        </pc:spChg>
        <pc:spChg chg="mod">
          <ac:chgData name="Ahmed Akhtar" userId="24df8cbf-c4bb-4b0f-990a-c34b46f32809" providerId="ADAL" clId="{7B603757-AF4F-447D-9CF3-5B3B3781D1BD}" dt="2026-01-22T06:51:44.122" v="321" actId="20577"/>
          <ac:spMkLst>
            <pc:docMk/>
            <pc:sldMk cId="622541499" sldId="1461"/>
            <ac:spMk id="3" creationId="{83CBD831-3E01-F51E-95A4-72F749A3010E}"/>
          </ac:spMkLst>
        </pc:spChg>
        <pc:spChg chg="add del mod">
          <ac:chgData name="Ahmed Akhtar" userId="24df8cbf-c4bb-4b0f-990a-c34b46f32809" providerId="ADAL" clId="{7B603757-AF4F-447D-9CF3-5B3B3781D1BD}" dt="2026-01-22T06:45:00.617" v="263" actId="478"/>
          <ac:spMkLst>
            <pc:docMk/>
            <pc:sldMk cId="622541499" sldId="1461"/>
            <ac:spMk id="5" creationId="{0F810298-B69F-0ED3-5689-9FA8B85D997E}"/>
          </ac:spMkLst>
        </pc:spChg>
      </pc:sldChg>
      <pc:sldChg chg="delSp modSp mod">
        <pc:chgData name="Ahmed Akhtar" userId="24df8cbf-c4bb-4b0f-990a-c34b46f32809" providerId="ADAL" clId="{7B603757-AF4F-447D-9CF3-5B3B3781D1BD}" dt="2026-01-22T06:33:54.270" v="163" actId="478"/>
        <pc:sldMkLst>
          <pc:docMk/>
          <pc:sldMk cId="2993291625" sldId="1463"/>
        </pc:sldMkLst>
        <pc:spChg chg="mod">
          <ac:chgData name="Ahmed Akhtar" userId="24df8cbf-c4bb-4b0f-990a-c34b46f32809" providerId="ADAL" clId="{7B603757-AF4F-447D-9CF3-5B3B3781D1BD}" dt="2026-01-22T06:33:50.980" v="162" actId="2711"/>
          <ac:spMkLst>
            <pc:docMk/>
            <pc:sldMk cId="2993291625" sldId="1463"/>
            <ac:spMk id="2" creationId="{58A1C2DC-D1E4-4C26-73AA-3529A5B96DD2}"/>
          </ac:spMkLst>
        </pc:spChg>
        <pc:spChg chg="del">
          <ac:chgData name="Ahmed Akhtar" userId="24df8cbf-c4bb-4b0f-990a-c34b46f32809" providerId="ADAL" clId="{7B603757-AF4F-447D-9CF3-5B3B3781D1BD}" dt="2026-01-22T06:33:54.270" v="163" actId="478"/>
          <ac:spMkLst>
            <pc:docMk/>
            <pc:sldMk cId="2993291625" sldId="1463"/>
            <ac:spMk id="3" creationId="{7E0631D1-BE08-AB28-318F-CD66B1934F8E}"/>
          </ac:spMkLst>
        </pc:spChg>
      </pc:sldChg>
      <pc:sldChg chg="delSp modSp mod">
        <pc:chgData name="Ahmed Akhtar" userId="24df8cbf-c4bb-4b0f-990a-c34b46f32809" providerId="ADAL" clId="{7B603757-AF4F-447D-9CF3-5B3B3781D1BD}" dt="2026-01-22T06:29:09.812" v="141" actId="478"/>
        <pc:sldMkLst>
          <pc:docMk/>
          <pc:sldMk cId="2607778482" sldId="1464"/>
        </pc:sldMkLst>
        <pc:spChg chg="mod">
          <ac:chgData name="Ahmed Akhtar" userId="24df8cbf-c4bb-4b0f-990a-c34b46f32809" providerId="ADAL" clId="{7B603757-AF4F-447D-9CF3-5B3B3781D1BD}" dt="2026-01-22T06:29:06.460" v="140" actId="2711"/>
          <ac:spMkLst>
            <pc:docMk/>
            <pc:sldMk cId="2607778482" sldId="1464"/>
            <ac:spMk id="2" creationId="{7EA83C47-7D9A-6297-159B-E32C98CAF6C6}"/>
          </ac:spMkLst>
        </pc:spChg>
        <pc:spChg chg="del">
          <ac:chgData name="Ahmed Akhtar" userId="24df8cbf-c4bb-4b0f-990a-c34b46f32809" providerId="ADAL" clId="{7B603757-AF4F-447D-9CF3-5B3B3781D1BD}" dt="2026-01-22T06:29:09.812" v="141" actId="478"/>
          <ac:spMkLst>
            <pc:docMk/>
            <pc:sldMk cId="2607778482" sldId="1464"/>
            <ac:spMk id="3" creationId="{44B3EFA5-12BA-10A2-4D69-0A0D926577B6}"/>
          </ac:spMkLst>
        </pc:spChg>
      </pc:sldChg>
      <pc:sldChg chg="modAnim">
        <pc:chgData name="Ahmed Akhtar" userId="24df8cbf-c4bb-4b0f-990a-c34b46f32809" providerId="ADAL" clId="{7B603757-AF4F-447D-9CF3-5B3B3781D1BD}" dt="2026-01-22T07:24:46.676" v="325"/>
        <pc:sldMkLst>
          <pc:docMk/>
          <pc:sldMk cId="2807788267" sldId="1467"/>
        </pc:sldMkLst>
      </pc:sldChg>
      <pc:sldChg chg="modAnim">
        <pc:chgData name="Ahmed Akhtar" userId="24df8cbf-c4bb-4b0f-990a-c34b46f32809" providerId="ADAL" clId="{7B603757-AF4F-447D-9CF3-5B3B3781D1BD}" dt="2026-01-22T07:36:02.589" v="334"/>
        <pc:sldMkLst>
          <pc:docMk/>
          <pc:sldMk cId="2906092347" sldId="1471"/>
        </pc:sldMkLst>
      </pc:sldChg>
      <pc:sldChg chg="addAnim delAnim modAnim">
        <pc:chgData name="Ahmed Akhtar" userId="24df8cbf-c4bb-4b0f-990a-c34b46f32809" providerId="ADAL" clId="{7B603757-AF4F-447D-9CF3-5B3B3781D1BD}" dt="2026-01-22T07:47:31.017" v="341"/>
        <pc:sldMkLst>
          <pc:docMk/>
          <pc:sldMk cId="1639102532" sldId="1472"/>
        </pc:sldMkLst>
      </pc:sldChg>
      <pc:sldChg chg="modSp add del mod modAnim">
        <pc:chgData name="Ahmed Akhtar" userId="24df8cbf-c4bb-4b0f-990a-c34b46f32809" providerId="ADAL" clId="{7B603757-AF4F-447D-9CF3-5B3B3781D1BD}" dt="2026-01-22T06:45:27.915" v="264" actId="47"/>
        <pc:sldMkLst>
          <pc:docMk/>
          <pc:sldMk cId="4107904872" sldId="1473"/>
        </pc:sldMkLst>
        <pc:spChg chg="mod">
          <ac:chgData name="Ahmed Akhtar" userId="24df8cbf-c4bb-4b0f-990a-c34b46f32809" providerId="ADAL" clId="{7B603757-AF4F-447D-9CF3-5B3B3781D1BD}" dt="2026-01-22T06:43:26.842" v="251" actId="20577"/>
          <ac:spMkLst>
            <pc:docMk/>
            <pc:sldMk cId="4107904872" sldId="1473"/>
            <ac:spMk id="2" creationId="{C37B06C3-4D2A-3D2A-D622-804D93220DEE}"/>
          </ac:spMkLst>
        </pc:spChg>
        <pc:spChg chg="mod">
          <ac:chgData name="Ahmed Akhtar" userId="24df8cbf-c4bb-4b0f-990a-c34b46f32809" providerId="ADAL" clId="{7B603757-AF4F-447D-9CF3-5B3B3781D1BD}" dt="2026-01-22T06:43:55.752" v="253" actId="1076"/>
          <ac:spMkLst>
            <pc:docMk/>
            <pc:sldMk cId="4107904872" sldId="1473"/>
            <ac:spMk id="3" creationId="{88F68A34-8E7C-CEDF-607D-9D6EB02A5170}"/>
          </ac:spMkLst>
        </pc:spChg>
      </pc:sldChg>
      <pc:sldChg chg="modSp add del mod modAnim">
        <pc:chgData name="Ahmed Akhtar" userId="24df8cbf-c4bb-4b0f-990a-c34b46f32809" providerId="ADAL" clId="{7B603757-AF4F-447D-9CF3-5B3B3781D1BD}" dt="2026-01-22T06:41:57.914" v="183" actId="47"/>
        <pc:sldMkLst>
          <pc:docMk/>
          <pc:sldMk cId="2259365139" sldId="1474"/>
        </pc:sldMkLst>
        <pc:spChg chg="mod">
          <ac:chgData name="Ahmed Akhtar" userId="24df8cbf-c4bb-4b0f-990a-c34b46f32809" providerId="ADAL" clId="{7B603757-AF4F-447D-9CF3-5B3B3781D1BD}" dt="2026-01-22T06:41:55.555" v="182" actId="6549"/>
          <ac:spMkLst>
            <pc:docMk/>
            <pc:sldMk cId="2259365139" sldId="1474"/>
            <ac:spMk id="3" creationId="{5F827AE1-5411-7CDA-80DA-726D710FC3FF}"/>
          </ac:spMkLst>
        </pc:spChg>
      </pc:sldChg>
      <pc:sldMasterChg chg="modSp mod">
        <pc:chgData name="Ahmed Akhtar" userId="24df8cbf-c4bb-4b0f-990a-c34b46f32809" providerId="ADAL" clId="{7B603757-AF4F-447D-9CF3-5B3B3781D1BD}" dt="2026-01-22T06:27:47.719" v="122" actId="2711"/>
        <pc:sldMasterMkLst>
          <pc:docMk/>
          <pc:sldMasterMk cId="2926153553" sldId="2147483668"/>
        </pc:sldMasterMkLst>
        <pc:spChg chg="mod">
          <ac:chgData name="Ahmed Akhtar" userId="24df8cbf-c4bb-4b0f-990a-c34b46f32809" providerId="ADAL" clId="{7B603757-AF4F-447D-9CF3-5B3B3781D1BD}" dt="2026-01-22T06:27:47.719" v="122" actId="2711"/>
          <ac:spMkLst>
            <pc:docMk/>
            <pc:sldMasterMk cId="2926153553" sldId="2147483668"/>
            <ac:spMk id="9" creationId="{CB69E88A-7B5E-60E0-B736-7FCE9C47388C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613B30-E6E3-CF4E-BBFC-C0D557DB9A15}" type="datetimeFigureOut">
              <a:rPr lang="en-PK" smtClean="0"/>
              <a:t>22/01/2026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07DBF7-D854-5948-86B6-07B87F1D8E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14281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B9441-6582-E7F9-4722-23CA10EF9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6AECBD-37BA-320F-0498-2FBDDF25A4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140E71-C87A-0B56-00D5-27F7BEAA37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946C2-ED0D-D3F0-737B-0299160800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7DBF7-D854-5948-86B6-07B87F1D8E96}" type="slidenum">
              <a:rPr lang="en-PK" smtClean="0"/>
              <a:t>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63232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7DBF7-D854-5948-86B6-07B87F1D8E96}" type="slidenum">
              <a:rPr lang="en-PK" smtClean="0"/>
              <a:t>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196884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PK" dirty="0"/>
              <a:t>Why? Because intermediaries (banks) can censor transactions, reverse (charge back) transactions, and may not always be online</a:t>
            </a:r>
          </a:p>
          <a:p>
            <a:pPr marL="228600" indent="-228600">
              <a:buAutoNum type="arabicParenR"/>
            </a:pPr>
            <a:r>
              <a:rPr lang="en-PK" dirty="0"/>
              <a:t>Digital P2P payments inherently suffer from double-spending – a centralized ledger works (requires a trusted 3rd party)</a:t>
            </a:r>
          </a:p>
          <a:p>
            <a:pPr marL="228600" indent="-228600">
              <a:buAutoNum type="arabicParenR"/>
            </a:pPr>
            <a:r>
              <a:rPr lang="en-PK" dirty="0"/>
              <a:t>Satoshi witness</a:t>
            </a:r>
            <a:r>
              <a:rPr lang="en-GB" dirty="0"/>
              <a:t>ed</a:t>
            </a:r>
            <a:r>
              <a:rPr lang="en-PK" dirty="0"/>
              <a:t> failures in gov</a:t>
            </a:r>
            <a:r>
              <a:rPr lang="en-GB" dirty="0" err="1"/>
              <a:t>ernment</a:t>
            </a:r>
            <a:r>
              <a:rPr lang="en-GB" dirty="0"/>
              <a:t>-</a:t>
            </a:r>
            <a:r>
              <a:rPr lang="en-PK" dirty="0"/>
              <a:t>controlled monetary systems (bailouts of </a:t>
            </a:r>
            <a:r>
              <a:rPr lang="en-GB" dirty="0"/>
              <a:t>the </a:t>
            </a:r>
            <a:r>
              <a:rPr lang="en-PK" dirty="0"/>
              <a:t>2008 financial crisis resulting from sub-prime mortgages)</a:t>
            </a:r>
          </a:p>
          <a:p>
            <a:pPr marL="228600" indent="-228600">
              <a:buAutoNum type="arabicParenR"/>
            </a:pPr>
            <a:r>
              <a:rPr lang="en-PK" dirty="0"/>
              <a:t>Traditional banking is SLOW, EXPENSIVE, and FRAGMENTED across countries – we need: </a:t>
            </a:r>
            <a:r>
              <a:rPr lang="en-PK" b="1" dirty="0"/>
              <a:t>NO SWIFT, NO currency conversion delays</a:t>
            </a:r>
          </a:p>
          <a:p>
            <a:pPr marL="228600" indent="-228600">
              <a:buAutoNum type="arabicParenR"/>
            </a:pPr>
            <a:endParaRPr lang="en-PK" dirty="0"/>
          </a:p>
          <a:p>
            <a:pPr marL="228600" indent="-228600">
              <a:buAutoNum type="arabicParenR"/>
            </a:pPr>
            <a:r>
              <a:rPr lang="en-PK" b="1" dirty="0"/>
              <a:t>This was the Bitcoin blockchain – we will talk about bitcoin later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7DBF7-D854-5948-86B6-07B87F1D8E96}" type="slidenum">
              <a:rPr lang="en-PK" smtClean="0"/>
              <a:t>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80388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K" dirty="0"/>
              <a:t>Old-fashioned ledger is neither distributed NOR digital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7DBF7-D854-5948-86B6-07B87F1D8E96}" type="slidenum">
              <a:rPr lang="en-PK" smtClean="0"/>
              <a:t>8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468608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Online tools:</a:t>
            </a:r>
          </a:p>
          <a:p>
            <a:r>
              <a:rPr lang="en-GB" dirty="0"/>
              <a:t>https://emn178.github.io/online-tools/sha256.html</a:t>
            </a:r>
          </a:p>
          <a:p>
            <a:r>
              <a:rPr lang="en-GB" dirty="0"/>
              <a:t>https://</a:t>
            </a:r>
            <a:r>
              <a:rPr lang="en-GB" dirty="0" err="1"/>
              <a:t>academo.org</a:t>
            </a:r>
            <a:r>
              <a:rPr lang="en-GB" dirty="0"/>
              <a:t>/demos/SHA-256-hash-generator/</a:t>
            </a:r>
          </a:p>
          <a:p>
            <a:r>
              <a:rPr lang="en-GB" dirty="0"/>
              <a:t>https://</a:t>
            </a:r>
            <a:r>
              <a:rPr lang="en-GB" dirty="0" err="1"/>
              <a:t>passwordsgenerator.net</a:t>
            </a:r>
            <a:r>
              <a:rPr lang="en-GB" dirty="0"/>
              <a:t>/sha256-hash-generator/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7DBF7-D854-5948-86B6-07B87F1D8E96}" type="slidenum">
              <a:rPr lang="en-PK" smtClean="0"/>
              <a:t>10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438445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K" dirty="0"/>
              <a:t>Explain that finding a good NONCE requires effort, hence computation and hence energy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7DBF7-D854-5948-86B6-07B87F1D8E96}" type="slidenum">
              <a:rPr lang="en-PK" smtClean="0"/>
              <a:t>12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170971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2"/>
                </a:solidFill>
              </a:rPr>
              <a:t>Who saves if someone actually does that? </a:t>
            </a:r>
            <a:r>
              <a:rPr lang="en-US" sz="1200" b="1" dirty="0">
                <a:solidFill>
                  <a:schemeClr val="tx2"/>
                </a:solidFill>
              </a:rPr>
              <a:t>Decentralization comes to rescue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1" dirty="0">
              <a:solidFill>
                <a:srgbClr val="308D3E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308D3E"/>
                </a:solidFill>
              </a:rPr>
              <a:t>T</a:t>
            </a:r>
            <a:r>
              <a:rPr lang="en-PK" dirty="0">
                <a:solidFill>
                  <a:srgbClr val="308D3E"/>
                </a:solidFill>
              </a:rPr>
              <a:t>ransactions </a:t>
            </a:r>
            <a:r>
              <a:rPr lang="en-PK" b="1" dirty="0">
                <a:solidFill>
                  <a:srgbClr val="308D3E"/>
                </a:solidFill>
              </a:rPr>
              <a:t>[verification and execution]</a:t>
            </a:r>
            <a:r>
              <a:rPr lang="en-PK" dirty="0">
                <a:solidFill>
                  <a:srgbClr val="308D3E"/>
                </a:solidFill>
              </a:rPr>
              <a:t> without needing a central authority – </a:t>
            </a:r>
            <a:r>
              <a:rPr lang="en-PK" b="1" dirty="0">
                <a:solidFill>
                  <a:srgbClr val="308D3E"/>
                </a:solidFill>
              </a:rPr>
              <a:t>anyone can validate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PK" b="1" dirty="0">
              <a:solidFill>
                <a:srgbClr val="308D3E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PK" b="1" dirty="0">
                <a:solidFill>
                  <a:srgbClr val="308D3E"/>
                </a:solidFill>
              </a:rPr>
              <a:t>Privacy – typical blockchain (GONE!) – but ZK-based blockchain can provide privacy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7DBF7-D854-5948-86B6-07B87F1D8E96}" type="slidenum">
              <a:rPr lang="en-PK" smtClean="0"/>
              <a:t>15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337387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3A02F-846D-8883-A17B-8CD4A94A0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BAFFF2-C4D3-8069-8070-15B655B0B4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8764DE-24D2-8032-D1EB-6A9D0AEA93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www.nervos.org</a:t>
            </a:r>
            <a:r>
              <a:rPr lang="en-GB" dirty="0"/>
              <a:t>/knowledge-base/</a:t>
            </a:r>
            <a:r>
              <a:rPr lang="en-GB" dirty="0" err="1"/>
              <a:t>what_is_SPV</a:t>
            </a:r>
            <a:r>
              <a:rPr lang="en-GB" dirty="0"/>
              <a:t>_(</a:t>
            </a:r>
            <a:r>
              <a:rPr lang="en-GB" dirty="0" err="1"/>
              <a:t>explainCKBot</a:t>
            </a:r>
            <a:r>
              <a:rPr lang="en-GB" dirty="0"/>
              <a:t>)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6F64CF-374C-97F0-65A2-09DA31FA5D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7DBF7-D854-5948-86B6-07B87F1D8E96}" type="slidenum">
              <a:rPr lang="en-PK" smtClean="0"/>
              <a:t>17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021927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PK" sz="2000" b="0" i="0" baseline="0" dirty="0"/>
              <a:t>Financial transactions without a bank: </a:t>
            </a:r>
            <a:r>
              <a:rPr lang="en-GB" sz="2000" b="0" i="0" baseline="0" dirty="0"/>
              <a:t>a </a:t>
            </a:r>
            <a:r>
              <a:rPr lang="en-PK" sz="2000" b="0" i="0" baseline="0" dirty="0"/>
              <a:t>tribe on an island announces that each individual possesses 10 units of something (maybe precious stones – </a:t>
            </a:r>
            <a:r>
              <a:rPr lang="en-PK" sz="2000" b="1" i="0" baseline="0" dirty="0"/>
              <a:t>that we call currency</a:t>
            </a:r>
            <a:r>
              <a:rPr lang="en-PK" sz="2000" b="0" i="0" baseline="0" dirty="0"/>
              <a:t>) to begin with. Any transaction (for example, one stone in exchange </a:t>
            </a:r>
            <a:r>
              <a:rPr lang="en-GB" sz="2000" b="0" i="0" baseline="0" dirty="0"/>
              <a:t>for</a:t>
            </a:r>
            <a:r>
              <a:rPr lang="en-PK" sz="2000" b="0" i="0" baseline="0" dirty="0"/>
              <a:t> food) is publicly announced. This is </a:t>
            </a:r>
            <a:r>
              <a:rPr lang="en-GB" sz="2000" b="0" i="0" baseline="0" dirty="0"/>
              <a:t>a </a:t>
            </a:r>
            <a:r>
              <a:rPr lang="en-PK" sz="2000" b="0" i="0" baseline="0" dirty="0"/>
              <a:t>decentralized system. Thought: Do we really need the stones physically? Why not just agree that everyone begins with 10 precious stones that only exist virtually? AND KEEP RECORDING ALL THE TRANSACTIONS – A poor man’s blockchain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7DBF7-D854-5948-86B6-07B87F1D8E96}" type="slidenum">
              <a:rPr lang="en-PK" smtClean="0"/>
              <a:t>18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750913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3FE2B-3C26-9F34-B5F2-F56D9251A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1445E5-1B47-4176-EB56-129D4490ED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7993F6-7407-F26B-FCFA-D4BD7FF2E0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14D53C-E458-44FC-2F84-92EA2D300D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7DBF7-D854-5948-86B6-07B87F1D8E96}" type="slidenum">
              <a:rPr lang="en-PK" smtClean="0"/>
              <a:t>19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793988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7DBF7-D854-5948-86B6-07B87F1D8E96}" type="slidenum">
              <a:rPr lang="en-PK" smtClean="0"/>
              <a:t>24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20205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C7858-D394-1DF3-8548-66CE55288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9452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rgbClr val="0432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76C1A2-C823-594D-0305-E762FC21A8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61840"/>
            <a:ext cx="9144000" cy="158496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EADBC-FC3A-F6AB-47B4-2E47609F8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49243-4112-7B47-A574-2D273E35D5BF}" type="datetime1">
              <a:rPr lang="en-US" smtClean="0"/>
              <a:t>1/22/2026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CD5FA-CF77-D285-681E-29E6811E8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01942-960C-299C-A498-C3ED2A47A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410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2BD9A-E09E-27C0-F440-9D83036CB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680" y="101601"/>
            <a:ext cx="11186160" cy="98551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317A4-8BBD-54EB-8341-6A6B09914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" y="1097280"/>
            <a:ext cx="11186160" cy="5079683"/>
          </a:xfrm>
        </p:spPr>
        <p:txBody>
          <a:bodyPr>
            <a:normAutofit/>
          </a:bodyPr>
          <a:lstStyle>
            <a:lvl1pPr>
              <a:defRPr sz="3200"/>
            </a:lvl1pPr>
            <a:lvl2pPr marL="685800" indent="-228600">
              <a:buFont typeface="System Font Regular"/>
              <a:buChar char="−"/>
              <a:defRPr sz="2800"/>
            </a:lvl2pPr>
            <a:lvl3pPr marL="1143000" indent="-228600">
              <a:buFont typeface="Wingdings" pitchFamily="2" charset="2"/>
              <a:buChar char="§"/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K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348C2E2-1287-A287-C5A8-249139348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CC187-CAD7-6048-8C63-99BBB8908136}" type="datetime1">
              <a:rPr lang="en-US" smtClean="0"/>
              <a:t>1/22/2026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DC7CB26-524D-696E-CC83-507688F1F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5E6A54D-DC81-738E-1BEE-B237D69CC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859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04648-4538-750C-7EE1-223668DCD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00F2E1-ECAA-4DD2-425F-64F40CAD3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963A2-C90D-F927-6660-D043609CC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EF2E6-6629-DA43-81BC-EC712F4B5466}" type="datetime1">
              <a:rPr lang="en-US" smtClean="0"/>
              <a:t>1/22/2026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FE049-0473-B4C2-1291-C73354AD4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31B0E-4E34-EAD8-A1D1-57CBD5CE2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470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C6983-ACF4-D2FF-550D-7521D9C10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760F6-F485-781B-D79F-C026B432F2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0A9B31-1608-966B-6FF9-D180F6BA70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4E9F2A-B43F-F0D4-3F76-27FB4DE7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14FDE-C188-ED4A-8904-90C7377CA55E}" type="datetime1">
              <a:rPr lang="en-US" smtClean="0"/>
              <a:t>1/22/2026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05907C-697C-ED08-3F75-E31B2EE3D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AA1F3D-78B2-4FF0-F5DB-76EFAA2F7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363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C5B2D-0C64-FBAF-5593-D97CF801A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51EA66-FAC3-3698-6220-1A94F8A42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CA302E-0245-F0D0-D052-B1D8D82B27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CA6952-B46D-38B4-F728-B77FC99602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D0A727-B6BA-1E0C-A4A4-CEAA10F30F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97075C-8C1E-2AE7-1628-AE106A293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959A2-FD1F-D047-9B71-2099CD96FB05}" type="datetime1">
              <a:rPr lang="en-US" smtClean="0"/>
              <a:t>1/22/2026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2270EF-DDC8-5339-C583-77D740793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0C3B1F-1426-32FD-9474-94C0B2238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064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D32E3-B42B-8881-ECBD-DD87B0837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P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BCC8C1-CDF5-4584-D4F9-21C17A750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421AD-14B7-AB4F-B42E-6335F98BEAFF}" type="datetime1">
              <a:rPr lang="en-US" smtClean="0"/>
              <a:t>1/22/2026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C88A07-7922-BC79-0A35-EFFA19918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F73C74-5D1C-ADB6-FF80-7000D0030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688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5375D4-3AF6-A58E-051F-58D7D1235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A72A-0C74-6E44-A7EE-CA74955F1256}" type="datetime1">
              <a:rPr lang="en-US" smtClean="0"/>
              <a:t>1/22/2026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7B3ECF-6748-2655-F77F-E8CA40163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F60ABE-8C6A-9352-A215-6EBF86F83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892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A5DAC-4002-01D9-6457-D37C5DF97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FBE91-7D8E-3944-5569-40E8D6B74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E325B0-27F2-9710-58F6-0C07626C23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7CBABE-1AE7-D70C-7708-85020C73E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B1005-574F-D344-BCB1-9D2AB269A3EC}" type="datetime1">
              <a:rPr lang="en-US" smtClean="0"/>
              <a:t>1/22/2026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73628-77BC-4A24-08E2-D57F3D53A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05F63F-7883-63AF-C6F9-B3BC8A2E1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503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0EB26-001F-167A-6BA0-DCD22D591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DCA67E-ABF8-043E-F669-25D35A32AA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1ED5B5-8357-7928-0AFB-A855388E38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A618A2-5986-F9BA-EC13-3460B7AB1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8EC7F-129E-B04A-94CE-A0E8D5F704B5}" type="datetime1">
              <a:rPr lang="en-US" smtClean="0"/>
              <a:t>1/22/2026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607585-1E53-29E6-E14C-D4E5C685D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F9FB97-D9C9-FC78-3D39-E81B15177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28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B7194-44EF-7006-9E4C-D94DF8394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D5E83A-839B-9260-0A21-8B997EE526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D60F5-F487-9F40-578A-E36732D3A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EC171-6AFE-CA49-AAE9-DDDD51BDA4CC}" type="datetime1">
              <a:rPr lang="en-US" smtClean="0"/>
              <a:t>1/22/2026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94D0E-FEF0-3CE4-88E0-9B5CC1342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A42E7-F5E7-2271-1D3F-3BB0DA5FB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636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7BDCBF-90E9-B6D4-B1BD-BB6439AE41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0AB2C1-4897-983B-2FB9-BD11C271D0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2C104-D518-1AB2-0F63-977F49D66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BC7AE-E3C9-5846-8CAD-0E757E344CB1}" type="datetime1">
              <a:rPr lang="en-US" smtClean="0"/>
              <a:t>1/22/2026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6A4A2-8093-06BB-B2C2-65BC1329E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C8E6A-87A5-42E0-E66E-73CA8E984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094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0F3F57-E6B6-8186-2E62-9C692D195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101601"/>
            <a:ext cx="11104880" cy="985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111C77-CC50-A510-3609-2D8F9FCB7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160" y="1097280"/>
            <a:ext cx="11104880" cy="5079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1BAA1-DC72-3CD1-7F89-2EE55E237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</a:defRPr>
            </a:lvl1pPr>
          </a:lstStyle>
          <a:p>
            <a:fld id="{2A23580C-EA65-AC41-9F7C-B6439987B4B7}" type="datetime1">
              <a:rPr lang="en-US" smtClean="0"/>
              <a:t>1/22/2026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29EAC-E423-483D-525E-9C75A56954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</a:defRPr>
            </a:lvl1pPr>
          </a:lstStyle>
          <a:p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7901939-8975-2548-1296-9C55C71BB2BA}"/>
              </a:ext>
            </a:extLst>
          </p:cNvPr>
          <p:cNvCxnSpPr>
            <a:cxnSpLocks/>
          </p:cNvCxnSpPr>
          <p:nvPr userDrawn="1"/>
        </p:nvCxnSpPr>
        <p:spPr>
          <a:xfrm>
            <a:off x="518160" y="924560"/>
            <a:ext cx="1110488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B69E88A-7B5E-60E0-B736-7FCE9C47388C}"/>
              </a:ext>
            </a:extLst>
          </p:cNvPr>
          <p:cNvSpPr/>
          <p:nvPr userDrawn="1"/>
        </p:nvSpPr>
        <p:spPr>
          <a:xfrm>
            <a:off x="0" y="6581940"/>
            <a:ext cx="12192000" cy="279070"/>
          </a:xfrm>
          <a:prstGeom prst="rect">
            <a:avLst/>
          </a:prstGeom>
          <a:solidFill>
            <a:srgbClr val="C5FF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+mn-lt"/>
              </a:rPr>
              <a:t>Spring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2026 | CS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E-355</a:t>
            </a:r>
            <a:r>
              <a:rPr lang="en-PK" sz="1400" dirty="0">
                <a:solidFill>
                  <a:schemeClr val="tx1"/>
                </a:solidFill>
                <a:latin typeface="+mn-lt"/>
              </a:rPr>
              <a:t> | Introduction to Blockchain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A1E25-5EFC-07B9-34A4-FC84A6B0A1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20104" y="6578930"/>
            <a:ext cx="1060269" cy="2790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 i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153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rgbClr val="0432FF"/>
          </a:solidFill>
          <a:latin typeface="Candara" panose="020E0502030303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532F2-2275-3F6B-82B8-1B0CA52FB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80EC572-1CE7-598F-9FA4-5062F84F9CA5}"/>
              </a:ext>
            </a:extLst>
          </p:cNvPr>
          <p:cNvSpPr/>
          <p:nvPr/>
        </p:nvSpPr>
        <p:spPr>
          <a:xfrm>
            <a:off x="384313" y="3016490"/>
            <a:ext cx="10846671" cy="14465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>
              <a:latin typeface="Candara" panose="020E0502030303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170A78-22DF-BCD5-825B-B0A7F8375E55}"/>
              </a:ext>
            </a:extLst>
          </p:cNvPr>
          <p:cNvSpPr/>
          <p:nvPr/>
        </p:nvSpPr>
        <p:spPr>
          <a:xfrm>
            <a:off x="252663" y="637674"/>
            <a:ext cx="11555024" cy="4317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92A327C-08C1-4A0B-3853-4BC7F0718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5401750" y="440958"/>
            <a:ext cx="1256849" cy="1256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13B4093-EDEB-88AD-105E-DD4B298CCE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+mn-lt"/>
              </a:rPr>
              <a:t>Introduction to Blockchain</a:t>
            </a:r>
            <a:br>
              <a:rPr lang="en-GB" dirty="0">
                <a:latin typeface="+mn-lt"/>
              </a:rPr>
            </a:br>
            <a:br>
              <a:rPr lang="en-GB" dirty="0">
                <a:latin typeface="+mn-lt"/>
              </a:rPr>
            </a:br>
            <a:r>
              <a:rPr lang="en-GB" sz="4000" dirty="0">
                <a:solidFill>
                  <a:srgbClr val="C00000"/>
                </a:solidFill>
                <a:latin typeface="+mn-lt"/>
              </a:rPr>
              <a:t>CSE-355</a:t>
            </a:r>
            <a:endParaRPr lang="en-PK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B02CF6C0-F187-BF6B-6A7A-C822475490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Ahmed Akhtar</a:t>
            </a:r>
          </a:p>
          <a:p>
            <a:r>
              <a:rPr lang="en-GB" dirty="0"/>
              <a:t>Department of Computer Science</a:t>
            </a:r>
          </a:p>
          <a:p>
            <a:r>
              <a:rPr lang="en-GB" dirty="0"/>
              <a:t>SMCS, IBA Karachi</a:t>
            </a:r>
          </a:p>
          <a:p>
            <a:r>
              <a:rPr lang="en-GB" dirty="0"/>
              <a:t>Spring 2026</a:t>
            </a:r>
          </a:p>
        </p:txBody>
      </p:sp>
    </p:spTree>
    <p:extLst>
      <p:ext uri="{BB962C8B-B14F-4D97-AF65-F5344CB8AC3E}">
        <p14:creationId xmlns:p14="http://schemas.microsoft.com/office/powerpoint/2010/main" val="1812663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DC885-B446-69F4-DCD8-EC1CF0C5F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83C47-7D9A-6297-159B-E32C98CAF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>
                <a:latin typeface="+mn-lt"/>
              </a:rPr>
              <a:t>Lecture 01</a:t>
            </a:r>
            <a:br>
              <a:rPr lang="en-PK" dirty="0">
                <a:latin typeface="+mn-lt"/>
              </a:rPr>
            </a:br>
            <a:r>
              <a:rPr lang="en-US" dirty="0">
                <a:latin typeface="+mn-lt"/>
              </a:rPr>
              <a:t>Tuesday</a:t>
            </a:r>
            <a:r>
              <a:rPr lang="en-PK" dirty="0">
                <a:latin typeface="+mn-lt"/>
              </a:rPr>
              <a:t>, </a:t>
            </a:r>
            <a:r>
              <a:rPr lang="en-US" dirty="0">
                <a:latin typeface="+mn-lt"/>
              </a:rPr>
              <a:t>Jan</a:t>
            </a:r>
            <a:r>
              <a:rPr lang="en-PK" dirty="0">
                <a:latin typeface="+mn-lt"/>
              </a:rPr>
              <a:t> </a:t>
            </a:r>
            <a:r>
              <a:rPr lang="en-US" dirty="0">
                <a:latin typeface="+mn-lt"/>
              </a:rPr>
              <a:t>20</a:t>
            </a:r>
            <a:r>
              <a:rPr lang="en-PK" dirty="0">
                <a:latin typeface="+mn-lt"/>
              </a:rPr>
              <a:t>, 202</a:t>
            </a:r>
            <a:r>
              <a:rPr lang="en-US" dirty="0">
                <a:latin typeface="+mn-lt"/>
              </a:rPr>
              <a:t>6</a:t>
            </a:r>
            <a:endParaRPr lang="en-PK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CCC29D-B9BA-7829-D363-45532F232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778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5E92D-707D-4B92-F533-E60A9822B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7F958-8A54-80EC-BF20-475AB596D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Bitcoin Statistics: </a:t>
            </a:r>
            <a:r>
              <a:rPr lang="en-US" dirty="0"/>
              <a:t>Jan</a:t>
            </a:r>
            <a:r>
              <a:rPr lang="en-PK" dirty="0"/>
              <a:t> </a:t>
            </a:r>
            <a:r>
              <a:rPr lang="en-US" dirty="0"/>
              <a:t>22</a:t>
            </a:r>
            <a:r>
              <a:rPr lang="en-PK" dirty="0"/>
              <a:t>, 202</a:t>
            </a:r>
            <a:r>
              <a:rPr lang="en-US" dirty="0"/>
              <a:t>6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BD831-3E01-F51E-95A4-72F749A30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Bitcoins in circulation: </a:t>
            </a:r>
            <a:r>
              <a:rPr lang="en-US" dirty="0">
                <a:solidFill>
                  <a:srgbClr val="C00000"/>
                </a:solidFill>
              </a:rPr>
              <a:t>19.98 Million (over $2T market cap)</a:t>
            </a:r>
          </a:p>
          <a:p>
            <a:r>
              <a:rPr lang="en-US" dirty="0"/>
              <a:t>Total will be </a:t>
            </a:r>
            <a:r>
              <a:rPr lang="en-US" dirty="0">
                <a:solidFill>
                  <a:srgbClr val="C00000"/>
                </a:solidFill>
              </a:rPr>
              <a:t>21 Million </a:t>
            </a:r>
            <a:r>
              <a:rPr lang="en-US" dirty="0"/>
              <a:t>(last will be mined about in the year </a:t>
            </a:r>
            <a:r>
              <a:rPr lang="en-US" dirty="0">
                <a:solidFill>
                  <a:srgbClr val="C00000"/>
                </a:solidFill>
              </a:rPr>
              <a:t>2140</a:t>
            </a:r>
            <a:r>
              <a:rPr lang="en-US" dirty="0"/>
              <a:t>)</a:t>
            </a:r>
          </a:p>
          <a:p>
            <a:r>
              <a:rPr lang="en-US" dirty="0"/>
              <a:t>Bitcoins left to be </a:t>
            </a:r>
            <a:r>
              <a:rPr lang="en-US" i="1" u="sng" dirty="0"/>
              <a:t>mined</a:t>
            </a:r>
            <a:r>
              <a:rPr lang="en-US" dirty="0"/>
              <a:t>: </a:t>
            </a:r>
            <a:r>
              <a:rPr lang="en-US" dirty="0">
                <a:solidFill>
                  <a:srgbClr val="C00000"/>
                </a:solidFill>
              </a:rPr>
              <a:t>1.02 Million (</a:t>
            </a:r>
            <a:r>
              <a:rPr lang="en-US" dirty="0"/>
              <a:t>Total issued: </a:t>
            </a:r>
            <a:r>
              <a:rPr lang="en-US" dirty="0">
                <a:solidFill>
                  <a:srgbClr val="C00000"/>
                </a:solidFill>
              </a:rPr>
              <a:t>95.1%)</a:t>
            </a:r>
          </a:p>
          <a:p>
            <a:r>
              <a:rPr lang="en-US" dirty="0"/>
              <a:t>Mined Bitcoin </a:t>
            </a:r>
            <a:r>
              <a:rPr lang="en-US" i="1" u="sng" dirty="0"/>
              <a:t>Blocks</a:t>
            </a:r>
            <a:r>
              <a:rPr lang="en-US" dirty="0"/>
              <a:t>: </a:t>
            </a:r>
            <a:r>
              <a:rPr lang="en-US" dirty="0">
                <a:solidFill>
                  <a:srgbClr val="C00000"/>
                </a:solidFill>
              </a:rPr>
              <a:t>933,250 yesterday; 933, 390 (this morning)</a:t>
            </a:r>
          </a:p>
          <a:p>
            <a:r>
              <a:rPr lang="en-US" dirty="0"/>
              <a:t>Blockchain Size: </a:t>
            </a:r>
            <a:r>
              <a:rPr lang="en-US" dirty="0">
                <a:solidFill>
                  <a:srgbClr val="C00000"/>
                </a:solidFill>
              </a:rPr>
              <a:t>715 GB</a:t>
            </a:r>
          </a:p>
          <a:p>
            <a:r>
              <a:rPr lang="en-US" dirty="0"/>
              <a:t>New Bitcoin Blocks per day (presently): </a:t>
            </a:r>
            <a:r>
              <a:rPr lang="en-US" dirty="0">
                <a:solidFill>
                  <a:srgbClr val="C00000"/>
                </a:solidFill>
              </a:rPr>
              <a:t>144 (on average)</a:t>
            </a:r>
          </a:p>
          <a:p>
            <a:r>
              <a:rPr lang="en-US" dirty="0"/>
              <a:t>New Bitcoins per day (presently): </a:t>
            </a:r>
            <a:r>
              <a:rPr lang="en-US" dirty="0">
                <a:solidFill>
                  <a:srgbClr val="C00000"/>
                </a:solidFill>
              </a:rPr>
              <a:t>450 (144 x </a:t>
            </a:r>
            <a:r>
              <a:rPr lang="en-US" b="1" u="sng" dirty="0">
                <a:solidFill>
                  <a:srgbClr val="C00000"/>
                </a:solidFill>
              </a:rPr>
              <a:t>3.125</a:t>
            </a:r>
            <a:r>
              <a:rPr lang="en-US" dirty="0">
                <a:solidFill>
                  <a:srgbClr val="C00000"/>
                </a:solidFill>
              </a:rPr>
              <a:t>)</a:t>
            </a:r>
          </a:p>
          <a:p>
            <a:r>
              <a:rPr lang="en-US" dirty="0"/>
              <a:t>About </a:t>
            </a:r>
            <a:r>
              <a:rPr lang="en-US" dirty="0">
                <a:solidFill>
                  <a:srgbClr val="C00000"/>
                </a:solidFill>
              </a:rPr>
              <a:t>4 Million </a:t>
            </a:r>
            <a:r>
              <a:rPr lang="en-US" dirty="0"/>
              <a:t>Bitcoins were lost forever (estimate)</a:t>
            </a:r>
          </a:p>
          <a:p>
            <a:r>
              <a:rPr lang="en-US" dirty="0"/>
              <a:t>Transactions per second: </a:t>
            </a:r>
            <a:r>
              <a:rPr lang="en-US" dirty="0">
                <a:solidFill>
                  <a:srgbClr val="C00000"/>
                </a:solidFill>
              </a:rPr>
              <a:t>7</a:t>
            </a:r>
            <a:r>
              <a:rPr lang="en-US" dirty="0"/>
              <a:t> (VISA has about </a:t>
            </a:r>
            <a:r>
              <a:rPr lang="en-US" dirty="0">
                <a:solidFill>
                  <a:srgbClr val="C00000"/>
                </a:solidFill>
              </a:rPr>
              <a:t>24k</a:t>
            </a:r>
            <a:r>
              <a:rPr lang="en-US" dirty="0"/>
              <a:t>)</a:t>
            </a:r>
          </a:p>
          <a:p>
            <a:pPr lvl="1"/>
            <a:endParaRPr lang="en-US" sz="1500" dirty="0"/>
          </a:p>
          <a:p>
            <a:r>
              <a:rPr lang="en-US" dirty="0"/>
              <a:t>Yet, Bitcoin is only one of the many cryptocurrencies around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321AE-39C1-A41A-C4F9-222DCA2DF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541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4F9EE-2757-63A1-5743-C01A79F4D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The Cryptocurrency Avalanche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770E2-74FF-654B-09F8-6FC8C2AD0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Cryptocurrencies today: </a:t>
            </a:r>
            <a:r>
              <a:rPr lang="en-US" dirty="0">
                <a:solidFill>
                  <a:srgbClr val="C00000"/>
                </a:solidFill>
              </a:rPr>
              <a:t>18000+ active (lot more inactive)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250+ on Coinbase and 400+ on Binance</a:t>
            </a:r>
          </a:p>
          <a:p>
            <a:r>
              <a:rPr lang="en-US" dirty="0"/>
              <a:t>Cryptocurrency users: </a:t>
            </a:r>
            <a:r>
              <a:rPr lang="en-US" dirty="0">
                <a:solidFill>
                  <a:srgbClr val="C00000"/>
                </a:solidFill>
              </a:rPr>
              <a:t>(500-600)+ Million</a:t>
            </a:r>
          </a:p>
          <a:p>
            <a:r>
              <a:rPr lang="en-US" dirty="0"/>
              <a:t>Businesses accepting crypto payments: </a:t>
            </a:r>
            <a:r>
              <a:rPr lang="en-US" dirty="0">
                <a:solidFill>
                  <a:srgbClr val="C00000"/>
                </a:solidFill>
              </a:rPr>
              <a:t>~250+ listed + </a:t>
            </a:r>
            <a:r>
              <a:rPr lang="en-US" dirty="0" err="1">
                <a:solidFill>
                  <a:srgbClr val="C00000"/>
                </a:solidFill>
              </a:rPr>
              <a:t>Paypal</a:t>
            </a:r>
            <a:r>
              <a:rPr lang="en-US" dirty="0">
                <a:solidFill>
                  <a:srgbClr val="C00000"/>
                </a:solidFill>
              </a:rPr>
              <a:t> access</a:t>
            </a:r>
            <a:endParaRPr lang="en-US" dirty="0"/>
          </a:p>
          <a:p>
            <a:r>
              <a:rPr lang="en-US" dirty="0"/>
              <a:t>Crypto exchanges: </a:t>
            </a:r>
            <a:r>
              <a:rPr lang="en-US" dirty="0">
                <a:solidFill>
                  <a:srgbClr val="C00000"/>
                </a:solidFill>
              </a:rPr>
              <a:t>1000+ (some failed, some big failures!!!)</a:t>
            </a:r>
          </a:p>
          <a:p>
            <a:pPr lvl="1"/>
            <a:endParaRPr lang="en-US" dirty="0"/>
          </a:p>
          <a:p>
            <a:r>
              <a:rPr lang="en-US" dirty="0"/>
              <a:t>Despite the humongous growth in cryptocurrencies: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We will not cover crypto for the reasons they are famous for</a:t>
            </a:r>
          </a:p>
          <a:p>
            <a:pPr lvl="1"/>
            <a:endParaRPr lang="en-US" dirty="0"/>
          </a:p>
          <a:p>
            <a:r>
              <a:rPr lang="en-US" dirty="0"/>
              <a:t>Our focus: Blockchain Technology (concepts around for 30 years)</a:t>
            </a:r>
          </a:p>
          <a:p>
            <a:r>
              <a:rPr lang="en-US" dirty="0"/>
              <a:t>Or, more broadly, distributed ledger technology (DLT)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Around for about 40 years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606B9A-9577-1BF0-A649-3CA856819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662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B90C5-8099-1534-F800-C4642F2CF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What is a Blockchain?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87A244-0911-9CEC-19B0-2E46B781F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arenR"/>
            </a:pPr>
            <a:r>
              <a:rPr lang="en-PK" sz="2800" dirty="0">
                <a:solidFill>
                  <a:schemeClr val="tx1"/>
                </a:solidFill>
              </a:rPr>
              <a:t>A practical introduction to the basics of blockchain</a:t>
            </a:r>
          </a:p>
          <a:p>
            <a:pPr marL="514350" indent="-514350">
              <a:buAutoNum type="arabicParenR"/>
            </a:pPr>
            <a:r>
              <a:rPr lang="en-PK" sz="2800" dirty="0">
                <a:solidFill>
                  <a:schemeClr val="tx1"/>
                </a:solidFill>
              </a:rPr>
              <a:t>Get familiar with the common terminology and mechanisms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5B4EC-06C3-73DE-9A8A-0DF3CE0EB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18FB159-EA8A-D2F5-768C-EBC336E1F0AB}"/>
              </a:ext>
            </a:extLst>
          </p:cNvPr>
          <p:cNvSpPr txBox="1">
            <a:spLocks/>
          </p:cNvSpPr>
          <p:nvPr/>
        </p:nvSpPr>
        <p:spPr>
          <a:xfrm>
            <a:off x="2132418" y="2382958"/>
            <a:ext cx="7927164" cy="753148"/>
          </a:xfrm>
          <a:prstGeom prst="roundRect">
            <a:avLst/>
          </a:prstGeom>
          <a:solidFill>
            <a:srgbClr val="FFD579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chemeClr val="tx2"/>
                </a:solidFill>
              </a:rPr>
              <a:t>Blockchain does not always mean Bitcoin</a:t>
            </a:r>
          </a:p>
        </p:txBody>
      </p:sp>
    </p:spTree>
    <p:extLst>
      <p:ext uri="{BB962C8B-B14F-4D97-AF65-F5344CB8AC3E}">
        <p14:creationId xmlns:p14="http://schemas.microsoft.com/office/powerpoint/2010/main" val="1182824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D5794-2C19-2055-0F41-1BC8D8678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E8463-8511-F3BC-4877-3CB6DE34A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About this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31CD-4336-FE2D-FF79-1AD62584D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will this course teach you?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Underlying Technologies to Construct a Blockchain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Blockchains: Properties and Pitfalls</a:t>
            </a:r>
          </a:p>
          <a:p>
            <a:pPr lvl="1"/>
            <a:r>
              <a:rPr lang="en-US" dirty="0">
                <a:solidFill>
                  <a:srgbClr val="308D3E"/>
                </a:solidFill>
              </a:rPr>
              <a:t>Programmability in Blockchains: Smart Contracts</a:t>
            </a:r>
          </a:p>
          <a:p>
            <a:pPr lvl="1"/>
            <a:r>
              <a:rPr lang="en-US" dirty="0">
                <a:solidFill>
                  <a:srgbClr val="0432FF"/>
                </a:solidFill>
              </a:rPr>
              <a:t>Cryptocurrencies – as a Use Case for Blockchain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Financial Applications: Stablecoins and Asset Tokenization</a:t>
            </a:r>
          </a:p>
          <a:p>
            <a:r>
              <a:rPr lang="en-US" dirty="0"/>
              <a:t>What it won’t?</a:t>
            </a:r>
          </a:p>
          <a:p>
            <a:pPr lvl="1"/>
            <a:r>
              <a:rPr lang="en-US" dirty="0">
                <a:solidFill>
                  <a:srgbClr val="308D3E"/>
                </a:solidFill>
              </a:rPr>
              <a:t>Steps to open a crypto account in a given regime</a:t>
            </a:r>
          </a:p>
          <a:p>
            <a:pPr lvl="1"/>
            <a:r>
              <a:rPr lang="en-US" dirty="0">
                <a:solidFill>
                  <a:srgbClr val="0432FF"/>
                </a:solidFill>
              </a:rPr>
              <a:t>Investment strategies [on your own or with an exchange]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What kind of regulations should be adopted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E8826D-4285-6165-0911-9CA5323E0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D35B3BC-56F2-1DD9-DD64-00B8C8881164}"/>
              </a:ext>
            </a:extLst>
          </p:cNvPr>
          <p:cNvSpPr txBox="1">
            <a:spLocks/>
          </p:cNvSpPr>
          <p:nvPr/>
        </p:nvSpPr>
        <p:spPr>
          <a:xfrm>
            <a:off x="2839010" y="5800389"/>
            <a:ext cx="6483499" cy="753148"/>
          </a:xfrm>
          <a:prstGeom prst="roundRect">
            <a:avLst/>
          </a:prstGeom>
          <a:solidFill>
            <a:srgbClr val="FFD579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chemeClr val="tx2"/>
                </a:solidFill>
              </a:rPr>
              <a:t>Why should one take this course?</a:t>
            </a:r>
          </a:p>
        </p:txBody>
      </p:sp>
    </p:spTree>
    <p:extLst>
      <p:ext uri="{BB962C8B-B14F-4D97-AF65-F5344CB8AC3E}">
        <p14:creationId xmlns:p14="http://schemas.microsoft.com/office/powerpoint/2010/main" val="2218559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F28D9-4689-8B5A-79F5-E463F690B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Motivation for creating Blockchain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EAD4D-D13A-D879-94EF-6626022EE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PK" sz="3600" dirty="0"/>
          </a:p>
          <a:p>
            <a:r>
              <a:rPr lang="en-PK" dirty="0">
                <a:solidFill>
                  <a:srgbClr val="7030A0"/>
                </a:solidFill>
              </a:rPr>
              <a:t>Requiring </a:t>
            </a:r>
            <a:r>
              <a:rPr lang="en-PK" b="1" u="sng" dirty="0">
                <a:solidFill>
                  <a:srgbClr val="7030A0"/>
                </a:solidFill>
              </a:rPr>
              <a:t>intermediaries</a:t>
            </a:r>
            <a:endParaRPr lang="en-PK" dirty="0">
              <a:solidFill>
                <a:srgbClr val="7030A0"/>
              </a:solidFill>
            </a:endParaRPr>
          </a:p>
          <a:p>
            <a:pPr lvl="1"/>
            <a:r>
              <a:rPr lang="en-PK" dirty="0">
                <a:solidFill>
                  <a:srgbClr val="7030A0"/>
                </a:solidFill>
              </a:rPr>
              <a:t>Which can prohibit or reverse payment</a:t>
            </a:r>
          </a:p>
          <a:p>
            <a:pPr lvl="1"/>
            <a:r>
              <a:rPr lang="en-PK" dirty="0">
                <a:solidFill>
                  <a:srgbClr val="7030A0"/>
                </a:solidFill>
              </a:rPr>
              <a:t>May not </a:t>
            </a:r>
            <a:r>
              <a:rPr lang="en-GB" dirty="0">
                <a:solidFill>
                  <a:srgbClr val="7030A0"/>
                </a:solidFill>
              </a:rPr>
              <a:t>always be</a:t>
            </a:r>
            <a:r>
              <a:rPr lang="en-PK" dirty="0">
                <a:solidFill>
                  <a:srgbClr val="7030A0"/>
                </a:solidFill>
              </a:rPr>
              <a:t> online</a:t>
            </a:r>
          </a:p>
          <a:p>
            <a:r>
              <a:rPr lang="en-PK" dirty="0">
                <a:solidFill>
                  <a:srgbClr val="C00000"/>
                </a:solidFill>
              </a:rPr>
              <a:t>The matter of </a:t>
            </a:r>
            <a:r>
              <a:rPr lang="en-GB" b="1" u="sng" dirty="0">
                <a:solidFill>
                  <a:srgbClr val="C00000"/>
                </a:solidFill>
              </a:rPr>
              <a:t>double-</a:t>
            </a:r>
            <a:r>
              <a:rPr lang="en-PK" b="1" u="sng" dirty="0">
                <a:solidFill>
                  <a:srgbClr val="C00000"/>
                </a:solidFill>
              </a:rPr>
              <a:t>spending</a:t>
            </a:r>
            <a:endParaRPr lang="en-PK" dirty="0">
              <a:solidFill>
                <a:srgbClr val="C00000"/>
              </a:solidFill>
            </a:endParaRPr>
          </a:p>
          <a:p>
            <a:pPr lvl="1"/>
            <a:r>
              <a:rPr lang="en-PK" b="1" i="1" dirty="0">
                <a:solidFill>
                  <a:srgbClr val="7030A0"/>
                </a:solidFill>
              </a:rPr>
              <a:t>Discussion:</a:t>
            </a:r>
            <a:r>
              <a:rPr lang="en-PK" dirty="0">
                <a:solidFill>
                  <a:srgbClr val="C00000"/>
                </a:solidFill>
              </a:rPr>
              <a:t> Can you double-spend physical currency notes?</a:t>
            </a:r>
          </a:p>
          <a:p>
            <a:pPr lvl="1"/>
            <a:r>
              <a:rPr lang="en-PK" dirty="0">
                <a:solidFill>
                  <a:srgbClr val="C00000"/>
                </a:solidFill>
              </a:rPr>
              <a:t>Inherent problem in payments that are both: </a:t>
            </a:r>
            <a:r>
              <a:rPr lang="en-PK" b="1" i="1" u="sng" dirty="0">
                <a:solidFill>
                  <a:srgbClr val="C00000"/>
                </a:solidFill>
              </a:rPr>
              <a:t>P2P</a:t>
            </a:r>
            <a:r>
              <a:rPr lang="en-PK" dirty="0">
                <a:solidFill>
                  <a:srgbClr val="C00000"/>
                </a:solidFill>
              </a:rPr>
              <a:t> </a:t>
            </a:r>
            <a:r>
              <a:rPr lang="en-PK" i="1" u="sng" dirty="0">
                <a:solidFill>
                  <a:srgbClr val="7030A0"/>
                </a:solidFill>
              </a:rPr>
              <a:t>AND</a:t>
            </a:r>
            <a:r>
              <a:rPr lang="en-PK" dirty="0">
                <a:solidFill>
                  <a:srgbClr val="C00000"/>
                </a:solidFill>
              </a:rPr>
              <a:t> </a:t>
            </a:r>
            <a:r>
              <a:rPr lang="en-PK" b="1" i="1" u="sng" dirty="0">
                <a:solidFill>
                  <a:srgbClr val="C00000"/>
                </a:solidFill>
              </a:rPr>
              <a:t>digital</a:t>
            </a:r>
            <a:r>
              <a:rPr lang="en-PK" dirty="0">
                <a:solidFill>
                  <a:srgbClr val="C00000"/>
                </a:solidFill>
              </a:rPr>
              <a:t> </a:t>
            </a:r>
          </a:p>
          <a:p>
            <a:r>
              <a:rPr lang="en-GB" dirty="0">
                <a:solidFill>
                  <a:srgbClr val="308D3E"/>
                </a:solidFill>
              </a:rPr>
              <a:t>Missing </a:t>
            </a:r>
            <a:r>
              <a:rPr lang="en-GB" b="1" u="sng" dirty="0">
                <a:solidFill>
                  <a:srgbClr val="308D3E"/>
                </a:solidFill>
              </a:rPr>
              <a:t>financial freedom</a:t>
            </a:r>
            <a:r>
              <a:rPr lang="en-GB" dirty="0">
                <a:solidFill>
                  <a:srgbClr val="308D3E"/>
                </a:solidFill>
              </a:rPr>
              <a:t> (the bailouts of 2008)</a:t>
            </a:r>
          </a:p>
          <a:p>
            <a:r>
              <a:rPr lang="en-GB" dirty="0">
                <a:solidFill>
                  <a:srgbClr val="0432FF"/>
                </a:solidFill>
              </a:rPr>
              <a:t>Complicated </a:t>
            </a:r>
            <a:r>
              <a:rPr lang="en-GB" b="1" u="sng" dirty="0">
                <a:solidFill>
                  <a:srgbClr val="0432FF"/>
                </a:solidFill>
              </a:rPr>
              <a:t>global</a:t>
            </a:r>
            <a:r>
              <a:rPr lang="en-GB" dirty="0">
                <a:solidFill>
                  <a:srgbClr val="0432FF"/>
                </a:solidFill>
              </a:rPr>
              <a:t> transactions (we need: </a:t>
            </a:r>
            <a:r>
              <a:rPr lang="en-GB" b="1" u="sng" dirty="0">
                <a:solidFill>
                  <a:srgbClr val="0432FF"/>
                </a:solidFill>
              </a:rPr>
              <a:t>fast and cheap</a:t>
            </a:r>
            <a:r>
              <a:rPr lang="en-GB" dirty="0">
                <a:solidFill>
                  <a:srgbClr val="0432FF"/>
                </a:solidFill>
              </a:rPr>
              <a:t>)</a:t>
            </a:r>
            <a:endParaRPr lang="en-PK" b="1" u="sng" dirty="0">
              <a:solidFill>
                <a:srgbClr val="0432FF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E1B1B76-EA96-84FA-2886-6EDD4CD5ADD6}"/>
              </a:ext>
            </a:extLst>
          </p:cNvPr>
          <p:cNvSpPr txBox="1">
            <a:spLocks/>
          </p:cNvSpPr>
          <p:nvPr/>
        </p:nvSpPr>
        <p:spPr>
          <a:xfrm>
            <a:off x="841006" y="5760720"/>
            <a:ext cx="10479508" cy="7200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chemeClr val="bg1"/>
                </a:solidFill>
              </a:rPr>
              <a:t>Satoshi Nakamoto created blockchain technology in 2009 </a:t>
            </a:r>
            <a:endParaRPr lang="en-PK" sz="3200" dirty="0">
              <a:solidFill>
                <a:schemeClr val="bg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9105998-88CB-0F3C-7CA4-16F7A871FEDE}"/>
              </a:ext>
            </a:extLst>
          </p:cNvPr>
          <p:cNvSpPr txBox="1">
            <a:spLocks/>
          </p:cNvSpPr>
          <p:nvPr/>
        </p:nvSpPr>
        <p:spPr>
          <a:xfrm>
            <a:off x="679583" y="959815"/>
            <a:ext cx="10832834" cy="720000"/>
          </a:xfrm>
          <a:prstGeom prst="roundRect">
            <a:avLst/>
          </a:prstGeom>
          <a:solidFill>
            <a:srgbClr val="308D3E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chemeClr val="bg1"/>
                </a:solidFill>
              </a:rPr>
              <a:t>The growing need for </a:t>
            </a:r>
            <a:r>
              <a:rPr lang="en-US" sz="3200" b="1" u="sng" dirty="0">
                <a:solidFill>
                  <a:schemeClr val="bg1"/>
                </a:solidFill>
              </a:rPr>
              <a:t>digital payments</a:t>
            </a:r>
            <a:r>
              <a:rPr lang="en-US" sz="3200" dirty="0">
                <a:solidFill>
                  <a:schemeClr val="bg1"/>
                </a:solidFill>
              </a:rPr>
              <a:t> led to challenges</a:t>
            </a:r>
            <a:endParaRPr lang="en-US" sz="3200" b="1" u="sng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99F130B-B8D3-DD2E-08FE-2170EEC87BF3}"/>
              </a:ext>
            </a:extLst>
          </p:cNvPr>
          <p:cNvSpPr txBox="1">
            <a:spLocks/>
          </p:cNvSpPr>
          <p:nvPr/>
        </p:nvSpPr>
        <p:spPr>
          <a:xfrm>
            <a:off x="7721599" y="1985864"/>
            <a:ext cx="2931888" cy="1104330"/>
          </a:xfrm>
          <a:prstGeom prst="roundRect">
            <a:avLst/>
          </a:prstGeom>
          <a:solidFill>
            <a:srgbClr val="FFD579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chemeClr val="tx2"/>
                </a:solidFill>
              </a:rPr>
              <a:t>Needed direct</a:t>
            </a:r>
          </a:p>
          <a:p>
            <a:r>
              <a:rPr lang="en-US" sz="3200" dirty="0">
                <a:solidFill>
                  <a:schemeClr val="tx2"/>
                </a:solidFill>
              </a:rPr>
              <a:t>P2P payments</a:t>
            </a:r>
            <a:endParaRPr lang="en-US" sz="3200" b="1" u="sng" dirty="0">
              <a:solidFill>
                <a:schemeClr val="tx2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F34CA7E-E60B-641A-6AE4-81106A905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7610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59124-7B07-522F-0C87-6DDD5DD7D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3737A-5D68-CB0A-4976-864DE2FDD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What is Blockchain?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7D802-6A9F-C991-113F-55C64F8E4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PK" dirty="0"/>
              <a:t>A ledger for recording data, just like databases</a:t>
            </a:r>
          </a:p>
          <a:p>
            <a:pPr lvl="1"/>
            <a:r>
              <a:rPr lang="en-PK" dirty="0">
                <a:solidFill>
                  <a:srgbClr val="308D3E"/>
                </a:solidFill>
              </a:rPr>
              <a:t>Used to record </a:t>
            </a:r>
            <a:r>
              <a:rPr lang="en-PK" b="1" dirty="0">
                <a:solidFill>
                  <a:srgbClr val="308D3E"/>
                </a:solidFill>
              </a:rPr>
              <a:t>transactions </a:t>
            </a:r>
            <a:r>
              <a:rPr lang="en-PK" dirty="0">
                <a:solidFill>
                  <a:srgbClr val="308D3E"/>
                </a:solidFill>
              </a:rPr>
              <a:t>(</a:t>
            </a:r>
            <a:r>
              <a:rPr lang="en-PK" dirty="0">
                <a:solidFill>
                  <a:srgbClr val="7030A0"/>
                </a:solidFill>
              </a:rPr>
              <a:t>often financial!</a:t>
            </a:r>
            <a:r>
              <a:rPr lang="en-PK" dirty="0">
                <a:solidFill>
                  <a:srgbClr val="308D3E"/>
                </a:solidFill>
              </a:rPr>
              <a:t>)</a:t>
            </a:r>
          </a:p>
          <a:p>
            <a:pPr lvl="1"/>
            <a:r>
              <a:rPr lang="en-PK" dirty="0">
                <a:solidFill>
                  <a:srgbClr val="0432FF"/>
                </a:solidFill>
              </a:rPr>
              <a:t>Across a network of computers </a:t>
            </a:r>
            <a:r>
              <a:rPr lang="en-PK" b="1" dirty="0">
                <a:solidFill>
                  <a:srgbClr val="0432FF"/>
                </a:solidFill>
              </a:rPr>
              <a:t>(nodes)</a:t>
            </a:r>
          </a:p>
          <a:p>
            <a:pPr lvl="2"/>
            <a:endParaRPr lang="en-PK" b="1" dirty="0">
              <a:solidFill>
                <a:srgbClr val="0432FF"/>
              </a:solidFill>
            </a:endParaRPr>
          </a:p>
          <a:p>
            <a:pPr lvl="2"/>
            <a:endParaRPr lang="en-PK" b="1" dirty="0">
              <a:solidFill>
                <a:srgbClr val="0432FF"/>
              </a:solidFill>
            </a:endParaRPr>
          </a:p>
          <a:p>
            <a:pPr lvl="2"/>
            <a:endParaRPr lang="en-PK" b="1" dirty="0">
              <a:solidFill>
                <a:srgbClr val="0432FF"/>
              </a:solidFill>
            </a:endParaRPr>
          </a:p>
          <a:p>
            <a:r>
              <a:rPr lang="en-PK" dirty="0"/>
              <a:t>Who initiates/generates those transactions?</a:t>
            </a:r>
          </a:p>
          <a:p>
            <a:pPr lvl="1"/>
            <a:r>
              <a:rPr lang="en-PK" dirty="0">
                <a:solidFill>
                  <a:srgbClr val="308D3E"/>
                </a:solidFill>
              </a:rPr>
              <a:t>Any node (</a:t>
            </a:r>
            <a:r>
              <a:rPr lang="en-PK" i="1" dirty="0">
                <a:solidFill>
                  <a:srgbClr val="7030A0"/>
                </a:solidFill>
              </a:rPr>
              <a:t>a computer running software</a:t>
            </a:r>
            <a:r>
              <a:rPr lang="en-PK" dirty="0">
                <a:solidFill>
                  <a:srgbClr val="308D3E"/>
                </a:solidFill>
              </a:rPr>
              <a:t>) in the blockchain network</a:t>
            </a:r>
          </a:p>
          <a:p>
            <a:pPr lvl="1"/>
            <a:r>
              <a:rPr lang="en-PK" dirty="0">
                <a:solidFill>
                  <a:srgbClr val="308D3E"/>
                </a:solidFill>
              </a:rPr>
              <a:t>An end user or an organization (e.g., an exchange) on their behalf</a:t>
            </a:r>
          </a:p>
          <a:p>
            <a:pPr lvl="2"/>
            <a:endParaRPr lang="en-PK" dirty="0">
              <a:solidFill>
                <a:srgbClr val="0432FF"/>
              </a:solidFill>
            </a:endParaRPr>
          </a:p>
          <a:p>
            <a:r>
              <a:rPr lang="en-PK" dirty="0"/>
              <a:t>Who maintains/stores the distributed ledger?</a:t>
            </a:r>
          </a:p>
          <a:p>
            <a:pPr lvl="1"/>
            <a:r>
              <a:rPr lang="en-PK" dirty="0">
                <a:solidFill>
                  <a:srgbClr val="0432FF"/>
                </a:solidFill>
              </a:rPr>
              <a:t>Most nodes keep a part of </a:t>
            </a:r>
            <a:r>
              <a:rPr lang="en-GB" dirty="0">
                <a:solidFill>
                  <a:srgbClr val="0432FF"/>
                </a:solidFill>
              </a:rPr>
              <a:t>the </a:t>
            </a:r>
            <a:r>
              <a:rPr lang="en-PK" dirty="0">
                <a:solidFill>
                  <a:srgbClr val="0432FF"/>
                </a:solidFill>
              </a:rPr>
              <a:t>ledger</a:t>
            </a:r>
          </a:p>
          <a:p>
            <a:pPr lvl="1"/>
            <a:r>
              <a:rPr lang="en-PK" dirty="0">
                <a:solidFill>
                  <a:srgbClr val="308D3E"/>
                </a:solidFill>
              </a:rPr>
              <a:t>Some nodes keep </a:t>
            </a:r>
            <a:r>
              <a:rPr lang="en-GB" dirty="0">
                <a:solidFill>
                  <a:srgbClr val="308D3E"/>
                </a:solidFill>
              </a:rPr>
              <a:t>a </a:t>
            </a:r>
            <a:r>
              <a:rPr lang="en-PK" dirty="0">
                <a:solidFill>
                  <a:srgbClr val="308D3E"/>
                </a:solidFill>
              </a:rPr>
              <a:t>full ledger</a:t>
            </a:r>
          </a:p>
        </p:txBody>
      </p:sp>
      <p:pic>
        <p:nvPicPr>
          <p:cNvPr id="5" name="Picture 4" descr="An open notebook with writing on it&#10;&#10;AI-generated content may be incorrect.">
            <a:extLst>
              <a:ext uri="{FF2B5EF4-FFF2-40B4-BE49-F238E27FC236}">
                <a16:creationId xmlns:a16="http://schemas.microsoft.com/office/drawing/2014/main" id="{02ACDC45-B51C-EE2C-D1F4-CD8D42D06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1255" y="565153"/>
            <a:ext cx="3175000" cy="3175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ADE8DB4-B69C-615E-0B48-144E336D51C9}"/>
              </a:ext>
            </a:extLst>
          </p:cNvPr>
          <p:cNvSpPr txBox="1">
            <a:spLocks/>
          </p:cNvSpPr>
          <p:nvPr/>
        </p:nvSpPr>
        <p:spPr>
          <a:xfrm>
            <a:off x="2466558" y="2439537"/>
            <a:ext cx="4235819" cy="637492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</a:rPr>
              <a:t>The distributed ledger</a:t>
            </a:r>
            <a:endParaRPr lang="en-PK" sz="2800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4DF96-4E5E-FD7A-50F9-F34DB1B45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23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48C93-94C1-32CE-64DB-244DD7CDA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1C090-D65B-20BC-3986-620525B8B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Why is it called a Blockchain?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C941F-A428-69B0-E792-71D5389EA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PK" dirty="0"/>
              <a:t>Because of its structure</a:t>
            </a:r>
          </a:p>
          <a:p>
            <a:pPr lvl="1"/>
            <a:r>
              <a:rPr lang="en-PK" dirty="0">
                <a:solidFill>
                  <a:srgbClr val="0432FF"/>
                </a:solidFill>
              </a:rPr>
              <a:t>Transactions are written in </a:t>
            </a:r>
            <a:r>
              <a:rPr lang="en-PK" b="1" dirty="0">
                <a:solidFill>
                  <a:srgbClr val="0432FF"/>
                </a:solidFill>
              </a:rPr>
              <a:t>blocks</a:t>
            </a:r>
            <a:r>
              <a:rPr lang="en-PK" dirty="0">
                <a:solidFill>
                  <a:srgbClr val="0432FF"/>
                </a:solidFill>
              </a:rPr>
              <a:t> of data</a:t>
            </a:r>
          </a:p>
          <a:p>
            <a:pPr lvl="1"/>
            <a:r>
              <a:rPr lang="en-PK" dirty="0">
                <a:solidFill>
                  <a:srgbClr val="C00000"/>
                </a:solidFill>
              </a:rPr>
              <a:t>Which are somehow </a:t>
            </a:r>
            <a:r>
              <a:rPr lang="en-PK" b="1" dirty="0">
                <a:solidFill>
                  <a:srgbClr val="C00000"/>
                </a:solidFill>
              </a:rPr>
              <a:t>chained</a:t>
            </a:r>
            <a:r>
              <a:rPr lang="en-PK" dirty="0">
                <a:solidFill>
                  <a:srgbClr val="C00000"/>
                </a:solidFill>
              </a:rPr>
              <a:t> together</a:t>
            </a:r>
            <a:endParaRPr lang="en-PK" b="1" dirty="0">
              <a:solidFill>
                <a:srgbClr val="C00000"/>
              </a:solidFill>
            </a:endParaRPr>
          </a:p>
          <a:p>
            <a:pPr lvl="1"/>
            <a:r>
              <a:rPr lang="en-GB" dirty="0">
                <a:solidFill>
                  <a:srgbClr val="308D3E"/>
                </a:solidFill>
              </a:rPr>
              <a:t>T</a:t>
            </a:r>
            <a:r>
              <a:rPr lang="en-PK" dirty="0">
                <a:solidFill>
                  <a:srgbClr val="308D3E"/>
                </a:solidFill>
              </a:rPr>
              <a:t>hrough cryptographic hashing</a:t>
            </a:r>
          </a:p>
          <a:p>
            <a:pPr lvl="2"/>
            <a:r>
              <a:rPr lang="en-PK" dirty="0">
                <a:solidFill>
                  <a:srgbClr val="7030A0"/>
                </a:solidFill>
              </a:rPr>
              <a:t>And what is that?</a:t>
            </a:r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50BE4CA4-2248-1DF2-CAD4-CCEBCE8BEA67}"/>
              </a:ext>
            </a:extLst>
          </p:cNvPr>
          <p:cNvCxnSpPr>
            <a:cxnSpLocks/>
          </p:cNvCxnSpPr>
          <p:nvPr/>
        </p:nvCxnSpPr>
        <p:spPr>
          <a:xfrm flipV="1">
            <a:off x="3412900" y="4582561"/>
            <a:ext cx="1710745" cy="794108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EEA156F0-985D-72B3-3253-A00F1BFEF912}"/>
              </a:ext>
            </a:extLst>
          </p:cNvPr>
          <p:cNvCxnSpPr>
            <a:cxnSpLocks/>
          </p:cNvCxnSpPr>
          <p:nvPr/>
        </p:nvCxnSpPr>
        <p:spPr>
          <a:xfrm flipV="1">
            <a:off x="7119870" y="4582561"/>
            <a:ext cx="1710745" cy="794108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A1FB7D4-FBD5-95BC-88AC-D21F020A3B65}"/>
              </a:ext>
            </a:extLst>
          </p:cNvPr>
          <p:cNvGrpSpPr/>
          <p:nvPr/>
        </p:nvGrpSpPr>
        <p:grpSpPr>
          <a:xfrm>
            <a:off x="1416675" y="3750969"/>
            <a:ext cx="1996226" cy="2009751"/>
            <a:chOff x="1416675" y="3750969"/>
            <a:chExt cx="1996226" cy="20097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40D9B52-D54E-EA04-C9B1-62C312E9825C}"/>
                </a:ext>
              </a:extLst>
            </p:cNvPr>
            <p:cNvSpPr/>
            <p:nvPr/>
          </p:nvSpPr>
          <p:spPr>
            <a:xfrm>
              <a:off x="1416676" y="4198514"/>
              <a:ext cx="1996225" cy="156220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Transaction 01</a:t>
              </a:r>
            </a:p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Transaction 02</a:t>
              </a:r>
            </a:p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…</a:t>
              </a:r>
            </a:p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Transaction 76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C332692-37D1-5525-57EF-8C69D1AA144B}"/>
                </a:ext>
              </a:extLst>
            </p:cNvPr>
            <p:cNvSpPr/>
            <p:nvPr/>
          </p:nvSpPr>
          <p:spPr>
            <a:xfrm>
              <a:off x="1416675" y="3750969"/>
              <a:ext cx="1996225" cy="447541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K" dirty="0"/>
                <a:t>Block 55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87D6675-6182-EFC5-BE21-E2108A047716}"/>
              </a:ext>
            </a:extLst>
          </p:cNvPr>
          <p:cNvGrpSpPr/>
          <p:nvPr/>
        </p:nvGrpSpPr>
        <p:grpSpPr>
          <a:xfrm>
            <a:off x="5123644" y="3750969"/>
            <a:ext cx="1996226" cy="2009750"/>
            <a:chOff x="5123644" y="3750969"/>
            <a:chExt cx="1996226" cy="200975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D586D06-C66D-7D5D-1CC6-9D391A01A42D}"/>
                </a:ext>
              </a:extLst>
            </p:cNvPr>
            <p:cNvSpPr/>
            <p:nvPr/>
          </p:nvSpPr>
          <p:spPr>
            <a:xfrm>
              <a:off x="5123645" y="4198512"/>
              <a:ext cx="1996225" cy="1562207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Transaction 01</a:t>
              </a:r>
            </a:p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Transaction 02</a:t>
              </a:r>
            </a:p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…</a:t>
              </a:r>
            </a:p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Transaction 43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234047A-5473-065F-6276-29C4CD7AE47F}"/>
                </a:ext>
              </a:extLst>
            </p:cNvPr>
            <p:cNvSpPr/>
            <p:nvPr/>
          </p:nvSpPr>
          <p:spPr>
            <a:xfrm>
              <a:off x="5123644" y="3750969"/>
              <a:ext cx="1996225" cy="447541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K" dirty="0"/>
                <a:t>Block 56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6C9B35B-8B47-E0B4-4316-22BA9DF2EC42}"/>
              </a:ext>
            </a:extLst>
          </p:cNvPr>
          <p:cNvGrpSpPr/>
          <p:nvPr/>
        </p:nvGrpSpPr>
        <p:grpSpPr>
          <a:xfrm>
            <a:off x="8830612" y="3750969"/>
            <a:ext cx="1996228" cy="2009750"/>
            <a:chOff x="8830612" y="3750969"/>
            <a:chExt cx="1996228" cy="200975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6956E5A-21AC-5BC7-A363-22935B41273A}"/>
                </a:ext>
              </a:extLst>
            </p:cNvPr>
            <p:cNvSpPr/>
            <p:nvPr/>
          </p:nvSpPr>
          <p:spPr>
            <a:xfrm>
              <a:off x="8830615" y="4198512"/>
              <a:ext cx="1996225" cy="1562207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Transaction 01</a:t>
              </a:r>
            </a:p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Transaction 02</a:t>
              </a:r>
            </a:p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…</a:t>
              </a:r>
            </a:p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Transaction 89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E4C5A8E-B25D-B496-1966-C0CF896F53F7}"/>
                </a:ext>
              </a:extLst>
            </p:cNvPr>
            <p:cNvSpPr/>
            <p:nvPr/>
          </p:nvSpPr>
          <p:spPr>
            <a:xfrm>
              <a:off x="8830612" y="3750969"/>
              <a:ext cx="1996225" cy="447541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K" dirty="0"/>
                <a:t>Block 57</a:t>
              </a:r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43822-E14A-2F04-E7CC-2C2CA5B62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256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B23E9-E100-F312-E03C-61827E630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Cryptographic Hashing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EB999-D56B-225A-A680-662BC440C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K" dirty="0"/>
              <a:t>Maps an input text to a fixed-length, random-looking output</a:t>
            </a:r>
          </a:p>
          <a:p>
            <a:pPr lvl="1"/>
            <a:r>
              <a:rPr lang="en-PK" dirty="0">
                <a:solidFill>
                  <a:srgbClr val="308D3E"/>
                </a:solidFill>
              </a:rPr>
              <a:t>A complicated mathematical function – </a:t>
            </a:r>
            <a:r>
              <a:rPr lang="en-PK" dirty="0">
                <a:solidFill>
                  <a:srgbClr val="C00000"/>
                </a:solidFill>
              </a:rPr>
              <a:t>almost black magic</a:t>
            </a:r>
          </a:p>
          <a:p>
            <a:r>
              <a:rPr lang="en-PK" dirty="0"/>
              <a:t>How is </a:t>
            </a:r>
            <a:r>
              <a:rPr lang="en-PK" b="1" i="1" dirty="0"/>
              <a:t>hash</a:t>
            </a:r>
            <a:r>
              <a:rPr lang="en-PK" dirty="0"/>
              <a:t> computed?</a:t>
            </a:r>
          </a:p>
          <a:p>
            <a:pPr lvl="1"/>
            <a:r>
              <a:rPr lang="en-GB" dirty="0"/>
              <a:t>W</a:t>
            </a:r>
            <a:r>
              <a:rPr lang="en-PK" dirty="0"/>
              <a:t>ell-known software (e.g., sha256)</a:t>
            </a:r>
          </a:p>
          <a:p>
            <a:r>
              <a:rPr lang="en-PK" dirty="0">
                <a:solidFill>
                  <a:srgbClr val="7030A0"/>
                </a:solidFill>
              </a:rPr>
              <a:t>Any change in input text (block data)</a:t>
            </a:r>
          </a:p>
          <a:p>
            <a:pPr lvl="1"/>
            <a:r>
              <a:rPr lang="en-PK" dirty="0">
                <a:solidFill>
                  <a:srgbClr val="C00000"/>
                </a:solidFill>
              </a:rPr>
              <a:t>Significant change in hashed output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984D90E-FAC9-5F9C-44EC-64035D68F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000" y="4093350"/>
            <a:ext cx="9594927" cy="252000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74F603-71B9-8F2F-D894-23C425490C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6000" y="4093350"/>
            <a:ext cx="9594925" cy="2520000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B932EEC-4004-DC5B-1FDE-F2B03ABD37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6000" y="4093350"/>
            <a:ext cx="9594925" cy="2520000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6484FF8-DE49-6D43-A8FF-DC57C6F868E0}"/>
              </a:ext>
            </a:extLst>
          </p:cNvPr>
          <p:cNvSpPr/>
          <p:nvPr/>
        </p:nvSpPr>
        <p:spPr>
          <a:xfrm>
            <a:off x="7898423" y="2384822"/>
            <a:ext cx="1603717" cy="7596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K" dirty="0"/>
              <a:t>Cryptographic Hash Function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7EB4417-2AC5-FA84-EA2A-27E928EDA07E}"/>
              </a:ext>
            </a:extLst>
          </p:cNvPr>
          <p:cNvCxnSpPr>
            <a:cxnSpLocks/>
          </p:cNvCxnSpPr>
          <p:nvPr/>
        </p:nvCxnSpPr>
        <p:spPr>
          <a:xfrm>
            <a:off x="7124700" y="2764650"/>
            <a:ext cx="773723" cy="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97B802B-3B07-AC6B-59F3-D6417353630A}"/>
              </a:ext>
            </a:extLst>
          </p:cNvPr>
          <p:cNvCxnSpPr>
            <a:cxnSpLocks/>
          </p:cNvCxnSpPr>
          <p:nvPr/>
        </p:nvCxnSpPr>
        <p:spPr>
          <a:xfrm>
            <a:off x="9502140" y="2764650"/>
            <a:ext cx="773723" cy="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C4273FF-88A4-CD9A-774B-7EC6C3894913}"/>
              </a:ext>
            </a:extLst>
          </p:cNvPr>
          <p:cNvSpPr/>
          <p:nvPr/>
        </p:nvSpPr>
        <p:spPr>
          <a:xfrm>
            <a:off x="5312605" y="2303543"/>
            <a:ext cx="1812095" cy="9855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K" dirty="0">
                <a:solidFill>
                  <a:schemeClr val="tx1"/>
                </a:solidFill>
              </a:rPr>
              <a:t>This could be some text of any length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C82B0D-900A-4380-7CF9-A795E7801622}"/>
              </a:ext>
            </a:extLst>
          </p:cNvPr>
          <p:cNvSpPr/>
          <p:nvPr/>
        </p:nvSpPr>
        <p:spPr>
          <a:xfrm>
            <a:off x="10275863" y="2343988"/>
            <a:ext cx="1397977" cy="841324"/>
          </a:xfrm>
          <a:prstGeom prst="rect">
            <a:avLst/>
          </a:prstGeom>
          <a:solidFill>
            <a:srgbClr val="FF4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K" dirty="0"/>
              <a:t>A94D539C1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2899C5-96F4-D735-3E91-65CCD7CC1127}"/>
              </a:ext>
            </a:extLst>
          </p:cNvPr>
          <p:cNvSpPr txBox="1"/>
          <p:nvPr/>
        </p:nvSpPr>
        <p:spPr>
          <a:xfrm>
            <a:off x="10275863" y="3289062"/>
            <a:ext cx="13979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K" dirty="0"/>
              <a:t>Fixed-length hash output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C3D1CF-7C21-370B-758A-CE0622A4A829}"/>
              </a:ext>
            </a:extLst>
          </p:cNvPr>
          <p:cNvSpPr txBox="1"/>
          <p:nvPr/>
        </p:nvSpPr>
        <p:spPr>
          <a:xfrm>
            <a:off x="6812573" y="2902592"/>
            <a:ext cx="13979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</a:t>
            </a:r>
            <a:r>
              <a:rPr lang="en-PK" dirty="0"/>
              <a:t>nput</a:t>
            </a:r>
          </a:p>
          <a:p>
            <a:pPr algn="ctr"/>
            <a:r>
              <a:rPr lang="en-PK" dirty="0"/>
              <a:t>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74B8C87-D6B0-E878-8676-C06DC92DF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206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10" grpId="0" animBg="1"/>
      <p:bldP spid="10" grpId="1" animBg="1"/>
      <p:bldP spid="11" grpId="0" animBg="1"/>
      <p:bldP spid="11" grpId="1" animBg="1"/>
      <p:bldP spid="12" grpId="0"/>
      <p:bldP spid="12" grpId="1"/>
      <p:bldP spid="13" grpId="0"/>
      <p:bldP spid="13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E37D5-B582-71AA-26DE-6DC054DAA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4320B-7B12-AD6C-500D-3C6FD22FB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Chaining Blocks using Hashes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AA6AB-41D3-C00F-8CD0-2B72455F2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PK" dirty="0"/>
              <a:t>Each block contains a </a:t>
            </a:r>
            <a:r>
              <a:rPr lang="en-PK" b="1" dirty="0"/>
              <a:t>hash (or digest)</a:t>
            </a:r>
            <a:r>
              <a:rPr lang="en-PK" dirty="0"/>
              <a:t> of </a:t>
            </a:r>
            <a:r>
              <a:rPr lang="en-GB" dirty="0"/>
              <a:t>the</a:t>
            </a:r>
            <a:r>
              <a:rPr lang="en-PK" dirty="0"/>
              <a:t> previous block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CF8F65B-ADEB-66D9-BDA8-1AA87BD249CE}"/>
              </a:ext>
            </a:extLst>
          </p:cNvPr>
          <p:cNvGrpSpPr/>
          <p:nvPr/>
        </p:nvGrpSpPr>
        <p:grpSpPr>
          <a:xfrm>
            <a:off x="1416672" y="2520000"/>
            <a:ext cx="1996226" cy="2009751"/>
            <a:chOff x="1416675" y="3750969"/>
            <a:chExt cx="1996226" cy="20097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2D12BCA-2B80-BE48-201C-190555FCF0E8}"/>
                </a:ext>
              </a:extLst>
            </p:cNvPr>
            <p:cNvSpPr/>
            <p:nvPr/>
          </p:nvSpPr>
          <p:spPr>
            <a:xfrm>
              <a:off x="1416676" y="4198514"/>
              <a:ext cx="1996225" cy="156220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Transaction 01</a:t>
              </a:r>
            </a:p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Transaction 02</a:t>
              </a:r>
            </a:p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…</a:t>
              </a:r>
            </a:p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Transaction 76</a:t>
              </a:r>
            </a:p>
            <a:p>
              <a:pPr algn="ctr"/>
              <a:r>
                <a:rPr lang="en-PK" dirty="0">
                  <a:ln w="0"/>
                  <a:solidFill>
                    <a:srgbClr val="7030A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&lt;prev-hash&gt;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4DC0629-A6EC-5B78-17E1-51361FA71FE7}"/>
                </a:ext>
              </a:extLst>
            </p:cNvPr>
            <p:cNvSpPr/>
            <p:nvPr/>
          </p:nvSpPr>
          <p:spPr>
            <a:xfrm>
              <a:off x="1416675" y="3750969"/>
              <a:ext cx="1996225" cy="447541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K" dirty="0"/>
                <a:t>Block 55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5FB7527-BD66-9E08-C62D-8EB9BE03AB78}"/>
              </a:ext>
            </a:extLst>
          </p:cNvPr>
          <p:cNvGrpSpPr/>
          <p:nvPr/>
        </p:nvGrpSpPr>
        <p:grpSpPr>
          <a:xfrm>
            <a:off x="5123643" y="2520000"/>
            <a:ext cx="1996226" cy="2009750"/>
            <a:chOff x="5123644" y="3750969"/>
            <a:chExt cx="1996226" cy="200975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4A33370-6DF5-BD13-7467-039093DBD5F5}"/>
                </a:ext>
              </a:extLst>
            </p:cNvPr>
            <p:cNvSpPr/>
            <p:nvPr/>
          </p:nvSpPr>
          <p:spPr>
            <a:xfrm>
              <a:off x="5123645" y="4198512"/>
              <a:ext cx="1996225" cy="1562207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Transaction 01</a:t>
              </a:r>
            </a:p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Transaction 02</a:t>
              </a:r>
            </a:p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…</a:t>
              </a:r>
            </a:p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Transaction 43</a:t>
              </a:r>
            </a:p>
            <a:p>
              <a:pPr algn="ctr"/>
              <a:r>
                <a:rPr lang="en-PK" dirty="0">
                  <a:ln w="0"/>
                  <a:solidFill>
                    <a:srgbClr val="7030A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B6349C62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4C8BF2A-16D1-0043-AD09-C6FCCB861162}"/>
                </a:ext>
              </a:extLst>
            </p:cNvPr>
            <p:cNvSpPr/>
            <p:nvPr/>
          </p:nvSpPr>
          <p:spPr>
            <a:xfrm>
              <a:off x="5123644" y="3750969"/>
              <a:ext cx="1996225" cy="447541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K" dirty="0"/>
                <a:t>Block 56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0931CC9-8584-C871-64E6-EE04839444FE}"/>
              </a:ext>
            </a:extLst>
          </p:cNvPr>
          <p:cNvGrpSpPr/>
          <p:nvPr/>
        </p:nvGrpSpPr>
        <p:grpSpPr>
          <a:xfrm>
            <a:off x="8830612" y="2520000"/>
            <a:ext cx="1996228" cy="2009750"/>
            <a:chOff x="8830612" y="3750969"/>
            <a:chExt cx="1996228" cy="200975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22815C5-A7D9-0036-B8C2-AAAF93A437F9}"/>
                </a:ext>
              </a:extLst>
            </p:cNvPr>
            <p:cNvSpPr/>
            <p:nvPr/>
          </p:nvSpPr>
          <p:spPr>
            <a:xfrm>
              <a:off x="8830615" y="4198512"/>
              <a:ext cx="1996225" cy="1562207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Transaction 01</a:t>
              </a:r>
            </a:p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Transaction 02</a:t>
              </a:r>
            </a:p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…</a:t>
              </a:r>
            </a:p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Transaction 89</a:t>
              </a:r>
            </a:p>
            <a:p>
              <a:pPr algn="ctr"/>
              <a:r>
                <a:rPr lang="en-PK" dirty="0">
                  <a:ln w="0"/>
                  <a:solidFill>
                    <a:srgbClr val="7030A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7E9253AB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709B348-D2FA-A97D-8247-916D69D530F8}"/>
                </a:ext>
              </a:extLst>
            </p:cNvPr>
            <p:cNvSpPr/>
            <p:nvPr/>
          </p:nvSpPr>
          <p:spPr>
            <a:xfrm>
              <a:off x="8830612" y="3750969"/>
              <a:ext cx="1996225" cy="447541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K" dirty="0"/>
                <a:t>Block 57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E1E03DCD-A373-0C39-8B6E-C69D61CB9CBC}"/>
              </a:ext>
            </a:extLst>
          </p:cNvPr>
          <p:cNvSpPr/>
          <p:nvPr/>
        </p:nvSpPr>
        <p:spPr>
          <a:xfrm>
            <a:off x="1416672" y="5183016"/>
            <a:ext cx="1996225" cy="44754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K" dirty="0"/>
              <a:t>B6349C62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8A79C73-3847-56EC-EF98-EA7CC8217794}"/>
              </a:ext>
            </a:extLst>
          </p:cNvPr>
          <p:cNvCxnSpPr>
            <a:cxnSpLocks/>
          </p:cNvCxnSpPr>
          <p:nvPr/>
        </p:nvCxnSpPr>
        <p:spPr>
          <a:xfrm flipH="1">
            <a:off x="2414785" y="4536000"/>
            <a:ext cx="1" cy="648000"/>
          </a:xfrm>
          <a:prstGeom prst="straightConnector1">
            <a:avLst/>
          </a:prstGeom>
          <a:ln w="6350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5476A52F-08AE-40DF-2DF5-F9C608FF39AB}"/>
              </a:ext>
            </a:extLst>
          </p:cNvPr>
          <p:cNvCxnSpPr>
            <a:cxnSpLocks/>
          </p:cNvCxnSpPr>
          <p:nvPr/>
        </p:nvCxnSpPr>
        <p:spPr>
          <a:xfrm flipV="1">
            <a:off x="3412900" y="4282018"/>
            <a:ext cx="2181076" cy="1094651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22CDF3B9-8FB4-6734-8D0C-7421B26CC8EE}"/>
              </a:ext>
            </a:extLst>
          </p:cNvPr>
          <p:cNvSpPr/>
          <p:nvPr/>
        </p:nvSpPr>
        <p:spPr>
          <a:xfrm>
            <a:off x="5123641" y="5184000"/>
            <a:ext cx="1996225" cy="44754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7E9253AB</a:t>
            </a:r>
            <a:endParaRPr lang="en-PK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A177ACA-456D-5C1C-5C6C-3E8B1E8A3C33}"/>
              </a:ext>
            </a:extLst>
          </p:cNvPr>
          <p:cNvCxnSpPr>
            <a:cxnSpLocks/>
          </p:cNvCxnSpPr>
          <p:nvPr/>
        </p:nvCxnSpPr>
        <p:spPr>
          <a:xfrm flipH="1">
            <a:off x="6121753" y="4536000"/>
            <a:ext cx="1" cy="648000"/>
          </a:xfrm>
          <a:prstGeom prst="straightConnector1">
            <a:avLst/>
          </a:prstGeom>
          <a:ln w="6350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922F41AF-AC3D-B286-0733-E0A1806CD075}"/>
              </a:ext>
            </a:extLst>
          </p:cNvPr>
          <p:cNvCxnSpPr>
            <a:cxnSpLocks/>
          </p:cNvCxnSpPr>
          <p:nvPr/>
        </p:nvCxnSpPr>
        <p:spPr>
          <a:xfrm flipV="1">
            <a:off x="7119866" y="4326865"/>
            <a:ext cx="2181076" cy="1094651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434B55-A4AB-52FB-6B20-CDE5B9A48B0B}"/>
              </a:ext>
            </a:extLst>
          </p:cNvPr>
          <p:cNvSpPr txBox="1"/>
          <p:nvPr/>
        </p:nvSpPr>
        <p:spPr>
          <a:xfrm>
            <a:off x="1052046" y="4527392"/>
            <a:ext cx="13979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Compute the hash</a:t>
            </a:r>
            <a:endParaRPr lang="en-PK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7D1F2BE-2B59-7A8A-746D-9D8A1F417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875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1" grpId="0" animBg="1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C269C-D891-DF33-DF58-D4879DBC8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F5623-C431-2A78-AD6D-9169F5934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Hashes in a Practical Blockchain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98937-EEF2-346D-EACB-4EFCD3162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PK" dirty="0"/>
              <a:t>Hashes need to meet </a:t>
            </a:r>
            <a:r>
              <a:rPr lang="en-PK" b="1" u="sng" dirty="0"/>
              <a:t>some</a:t>
            </a:r>
            <a:r>
              <a:rPr lang="en-PK" dirty="0"/>
              <a:t> criteria</a:t>
            </a:r>
          </a:p>
          <a:p>
            <a:pPr lvl="1"/>
            <a:r>
              <a:rPr lang="en-PK" dirty="0">
                <a:solidFill>
                  <a:srgbClr val="308D3E"/>
                </a:solidFill>
              </a:rPr>
              <a:t>For example, </a:t>
            </a:r>
            <a:r>
              <a:rPr lang="en-GB" dirty="0">
                <a:solidFill>
                  <a:srgbClr val="308D3E"/>
                </a:solidFill>
              </a:rPr>
              <a:t>a </a:t>
            </a:r>
            <a:r>
              <a:rPr lang="en-PK" dirty="0">
                <a:solidFill>
                  <a:srgbClr val="308D3E"/>
                </a:solidFill>
              </a:rPr>
              <a:t>hash must start with 3 zeros</a:t>
            </a:r>
          </a:p>
          <a:p>
            <a:r>
              <a:rPr lang="en-PK" dirty="0"/>
              <a:t>What if it does not meet </a:t>
            </a:r>
            <a:r>
              <a:rPr lang="en-GB" dirty="0"/>
              <a:t>the </a:t>
            </a:r>
            <a:r>
              <a:rPr lang="en-PK" dirty="0"/>
              <a:t>criteria?</a:t>
            </a:r>
          </a:p>
          <a:p>
            <a:pPr lvl="1"/>
            <a:r>
              <a:rPr lang="en-PK" dirty="0">
                <a:solidFill>
                  <a:srgbClr val="C00000"/>
                </a:solidFill>
              </a:rPr>
              <a:t>The block will not be allowed</a:t>
            </a:r>
          </a:p>
          <a:p>
            <a:pPr lvl="1"/>
            <a:endParaRPr lang="en-PK" dirty="0">
              <a:solidFill>
                <a:srgbClr val="C00000"/>
              </a:solidFill>
            </a:endParaRPr>
          </a:p>
          <a:p>
            <a:r>
              <a:rPr lang="en-PK" dirty="0">
                <a:solidFill>
                  <a:srgbClr val="7030A0"/>
                </a:solidFill>
              </a:rPr>
              <a:t>Change something in the block data</a:t>
            </a:r>
          </a:p>
          <a:p>
            <a:pPr lvl="1"/>
            <a:r>
              <a:rPr lang="en-PK" dirty="0">
                <a:solidFill>
                  <a:srgbClr val="308D3E"/>
                </a:solidFill>
              </a:rPr>
              <a:t>But block data is fixed (Transactions)</a:t>
            </a:r>
          </a:p>
          <a:p>
            <a:r>
              <a:rPr lang="en-PK" dirty="0">
                <a:solidFill>
                  <a:srgbClr val="7030A0"/>
                </a:solidFill>
              </a:rPr>
              <a:t>Include a fictitious number (NONCE)</a:t>
            </a:r>
          </a:p>
          <a:p>
            <a:pPr lvl="1"/>
            <a:r>
              <a:rPr lang="en-PK" dirty="0">
                <a:solidFill>
                  <a:srgbClr val="C00000"/>
                </a:solidFill>
              </a:rPr>
              <a:t>What if </a:t>
            </a:r>
            <a:r>
              <a:rPr lang="en-GB" dirty="0">
                <a:solidFill>
                  <a:srgbClr val="C00000"/>
                </a:solidFill>
              </a:rPr>
              <a:t>the </a:t>
            </a:r>
            <a:r>
              <a:rPr lang="en-PK" dirty="0">
                <a:solidFill>
                  <a:srgbClr val="C00000"/>
                </a:solidFill>
              </a:rPr>
              <a:t>hash value </a:t>
            </a:r>
            <a:r>
              <a:rPr lang="en-PK" b="1" u="sng" dirty="0">
                <a:solidFill>
                  <a:srgbClr val="C00000"/>
                </a:solidFill>
              </a:rPr>
              <a:t>still</a:t>
            </a:r>
            <a:r>
              <a:rPr lang="en-PK" dirty="0">
                <a:solidFill>
                  <a:srgbClr val="C00000"/>
                </a:solidFill>
              </a:rPr>
              <a:t> does not meet the criteria?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6BA12AA-54A3-B5A6-0D23-59D78C964609}"/>
              </a:ext>
            </a:extLst>
          </p:cNvPr>
          <p:cNvGrpSpPr/>
          <p:nvPr/>
        </p:nvGrpSpPr>
        <p:grpSpPr>
          <a:xfrm>
            <a:off x="9677614" y="1236920"/>
            <a:ext cx="1996226" cy="2398483"/>
            <a:chOff x="5123644" y="3750969"/>
            <a:chExt cx="1996226" cy="239848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95BAB2F-C8B2-06E0-9EA5-DF2D1DBF4D8E}"/>
                </a:ext>
              </a:extLst>
            </p:cNvPr>
            <p:cNvSpPr/>
            <p:nvPr/>
          </p:nvSpPr>
          <p:spPr>
            <a:xfrm>
              <a:off x="5123645" y="4198512"/>
              <a:ext cx="1996225" cy="195094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Transaction 01</a:t>
              </a:r>
            </a:p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Transaction 02</a:t>
              </a:r>
            </a:p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…</a:t>
              </a:r>
            </a:p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Transaction 43</a:t>
              </a:r>
            </a:p>
            <a:p>
              <a:pPr algn="ctr"/>
              <a:r>
                <a:rPr lang="en-PK" dirty="0">
                  <a:ln w="0"/>
                  <a:solidFill>
                    <a:srgbClr val="7030A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&lt;prev hash&gt;</a:t>
              </a:r>
            </a:p>
            <a:p>
              <a:pPr algn="ctr"/>
              <a:endParaRPr lang="en-PK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 algn="ctr"/>
              <a:r>
                <a:rPr lang="en-PK" dirty="0">
                  <a:ln w="0"/>
                  <a:solidFill>
                    <a:srgbClr val="C0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&lt;NONCE&gt;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92A33AE-9959-2C81-D9AC-BC3F0AAA7856}"/>
                </a:ext>
              </a:extLst>
            </p:cNvPr>
            <p:cNvSpPr/>
            <p:nvPr/>
          </p:nvSpPr>
          <p:spPr>
            <a:xfrm>
              <a:off x="5123644" y="3750969"/>
              <a:ext cx="1996225" cy="447541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K" dirty="0"/>
                <a:t>Block 56</a:t>
              </a: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01517F63-51BC-1EB8-DACC-CBE2E0EA56AD}"/>
              </a:ext>
            </a:extLst>
          </p:cNvPr>
          <p:cNvSpPr/>
          <p:nvPr/>
        </p:nvSpPr>
        <p:spPr>
          <a:xfrm>
            <a:off x="9677614" y="4322101"/>
            <a:ext cx="1996225" cy="44754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K" dirty="0"/>
              <a:t>Hash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9006079-82E2-CF91-FD46-A4EB79CCE809}"/>
              </a:ext>
            </a:extLst>
          </p:cNvPr>
          <p:cNvCxnSpPr>
            <a:cxnSpLocks/>
          </p:cNvCxnSpPr>
          <p:nvPr/>
        </p:nvCxnSpPr>
        <p:spPr>
          <a:xfrm flipH="1">
            <a:off x="10675726" y="3657184"/>
            <a:ext cx="1" cy="664917"/>
          </a:xfrm>
          <a:prstGeom prst="straightConnector1">
            <a:avLst/>
          </a:prstGeom>
          <a:ln w="6350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7C1E6B75-5FBF-501E-9F39-E048945F3669}"/>
              </a:ext>
            </a:extLst>
          </p:cNvPr>
          <p:cNvGrpSpPr/>
          <p:nvPr/>
        </p:nvGrpSpPr>
        <p:grpSpPr>
          <a:xfrm>
            <a:off x="9677613" y="1625653"/>
            <a:ext cx="1996226" cy="2009750"/>
            <a:chOff x="5123644" y="3750969"/>
            <a:chExt cx="1996226" cy="20097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5EAD62E-67FC-FA89-1B31-FA06188C762E}"/>
                </a:ext>
              </a:extLst>
            </p:cNvPr>
            <p:cNvSpPr/>
            <p:nvPr/>
          </p:nvSpPr>
          <p:spPr>
            <a:xfrm>
              <a:off x="5123645" y="4198512"/>
              <a:ext cx="1996225" cy="1562207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Transaction 01</a:t>
              </a:r>
            </a:p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Transaction 02</a:t>
              </a:r>
            </a:p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…</a:t>
              </a:r>
            </a:p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Transaction 43</a:t>
              </a:r>
            </a:p>
            <a:p>
              <a:pPr algn="ctr"/>
              <a:r>
                <a:rPr lang="en-PK" dirty="0">
                  <a:ln w="0"/>
                  <a:solidFill>
                    <a:srgbClr val="7030A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B6349C62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18846F9-A175-475D-9CCB-D962F9244C6A}"/>
                </a:ext>
              </a:extLst>
            </p:cNvPr>
            <p:cNvSpPr/>
            <p:nvPr/>
          </p:nvSpPr>
          <p:spPr>
            <a:xfrm>
              <a:off x="5123644" y="3750969"/>
              <a:ext cx="1996225" cy="447541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K" dirty="0"/>
                <a:t>Block 56</a:t>
              </a: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A5501FE9-ED85-F4B6-48AD-5F5159A667C8}"/>
              </a:ext>
            </a:extLst>
          </p:cNvPr>
          <p:cNvSpPr/>
          <p:nvPr/>
        </p:nvSpPr>
        <p:spPr>
          <a:xfrm>
            <a:off x="9677612" y="4318662"/>
            <a:ext cx="1996225" cy="44754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7E9253AB</a:t>
            </a:r>
            <a:endParaRPr lang="en-PK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054A2C6-684C-AF8C-2296-0FB4746F5A8A}"/>
              </a:ext>
            </a:extLst>
          </p:cNvPr>
          <p:cNvSpPr txBox="1">
            <a:spLocks/>
          </p:cNvSpPr>
          <p:nvPr/>
        </p:nvSpPr>
        <p:spPr>
          <a:xfrm>
            <a:off x="1303866" y="5605590"/>
            <a:ext cx="6480000" cy="648000"/>
          </a:xfrm>
          <a:prstGeom prst="roundRect">
            <a:avLst/>
          </a:prstGeom>
          <a:solidFill>
            <a:srgbClr val="308D3E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</a:rPr>
              <a:t>Keep changing NONCE until criteria met</a:t>
            </a:r>
            <a:endParaRPr lang="en-PK" sz="2800" b="1" dirty="0">
              <a:solidFill>
                <a:schemeClr val="bg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3182EA0-D8F9-3BBF-3569-24B3DBA9F674}"/>
              </a:ext>
            </a:extLst>
          </p:cNvPr>
          <p:cNvSpPr txBox="1">
            <a:spLocks/>
          </p:cNvSpPr>
          <p:nvPr/>
        </p:nvSpPr>
        <p:spPr>
          <a:xfrm>
            <a:off x="8732520" y="5605591"/>
            <a:ext cx="2160000" cy="6480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</a:rPr>
              <a:t>MINING!</a:t>
            </a:r>
            <a:endParaRPr lang="en-PK" sz="2800" b="1" dirty="0">
              <a:solidFill>
                <a:schemeClr val="bg1"/>
              </a:solidFill>
            </a:endParaRP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9FE32ED4-5F73-F273-DF4C-86448B0DF1F7}"/>
              </a:ext>
            </a:extLst>
          </p:cNvPr>
          <p:cNvSpPr/>
          <p:nvPr/>
        </p:nvSpPr>
        <p:spPr>
          <a:xfrm>
            <a:off x="7958667" y="5756799"/>
            <a:ext cx="621453" cy="355600"/>
          </a:xfrm>
          <a:prstGeom prst="rightArrow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EA263A-178D-1318-7EEF-B61A0C746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DEDE06E-120D-71A8-CFC8-F6831525128A}"/>
              </a:ext>
            </a:extLst>
          </p:cNvPr>
          <p:cNvSpPr txBox="1">
            <a:spLocks/>
          </p:cNvSpPr>
          <p:nvPr/>
        </p:nvSpPr>
        <p:spPr>
          <a:xfrm>
            <a:off x="6631866" y="2779040"/>
            <a:ext cx="2304000" cy="648000"/>
          </a:xfrm>
          <a:prstGeom prst="roundRect">
            <a:avLst/>
          </a:prstGeom>
          <a:solidFill>
            <a:srgbClr val="FFD579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tx2"/>
                </a:solidFill>
              </a:rPr>
              <a:t>What to do?</a:t>
            </a:r>
          </a:p>
        </p:txBody>
      </p:sp>
    </p:spTree>
    <p:extLst>
      <p:ext uri="{BB962C8B-B14F-4D97-AF65-F5344CB8AC3E}">
        <p14:creationId xmlns:p14="http://schemas.microsoft.com/office/powerpoint/2010/main" val="3900786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11" grpId="0" animBg="1"/>
      <p:bldP spid="11" grpId="1" animBg="1"/>
      <p:bldP spid="12" grpId="0" animBg="1"/>
      <p:bldP spid="13" grpId="0" animBg="1"/>
      <p:bldP spid="14" grpId="0" animBg="1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1C2DC-D1E4-4C26-73AA-3529A5B96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>
                <a:latin typeface="+mn-lt"/>
              </a:rPr>
              <a:t>Lecture 02</a:t>
            </a:r>
            <a:br>
              <a:rPr lang="en-PK" dirty="0">
                <a:latin typeface="+mn-lt"/>
              </a:rPr>
            </a:br>
            <a:r>
              <a:rPr lang="en-US" dirty="0">
                <a:latin typeface="+mn-lt"/>
              </a:rPr>
              <a:t>Thursday</a:t>
            </a:r>
            <a:r>
              <a:rPr lang="en-PK" dirty="0">
                <a:latin typeface="+mn-lt"/>
              </a:rPr>
              <a:t>, </a:t>
            </a:r>
            <a:r>
              <a:rPr lang="en-US" dirty="0">
                <a:latin typeface="+mn-lt"/>
              </a:rPr>
              <a:t>Jan</a:t>
            </a:r>
            <a:r>
              <a:rPr lang="en-PK" dirty="0">
                <a:latin typeface="+mn-lt"/>
              </a:rPr>
              <a:t> </a:t>
            </a:r>
            <a:r>
              <a:rPr lang="en-US" dirty="0">
                <a:latin typeface="+mn-lt"/>
              </a:rPr>
              <a:t>22</a:t>
            </a:r>
            <a:r>
              <a:rPr lang="en-PK" dirty="0">
                <a:latin typeface="+mn-lt"/>
              </a:rPr>
              <a:t>,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3D41DD-D7DF-1A71-C6F0-E162D7DDC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2916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CD383-76A4-0B38-6E9E-4A9D44C8C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DED53-9253-7CDD-CA7B-7E4A481F4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Recap: Transactions, Blocks, Hashes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21C62-4C68-A0F5-9BD9-FA024A622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PK" dirty="0"/>
              <a:t>Each block in a typical blockchain contains:</a:t>
            </a:r>
          </a:p>
          <a:p>
            <a:pPr marL="457200" lvl="1" indent="0">
              <a:buNone/>
            </a:pPr>
            <a:r>
              <a:rPr lang="en-PK" b="1" dirty="0">
                <a:solidFill>
                  <a:srgbClr val="308D3E"/>
                </a:solidFill>
              </a:rPr>
              <a:t>1) Transactions, </a:t>
            </a:r>
            <a:r>
              <a:rPr lang="en-PK" b="1" dirty="0">
                <a:solidFill>
                  <a:srgbClr val="0432FF"/>
                </a:solidFill>
              </a:rPr>
              <a:t>2) hash</a:t>
            </a:r>
            <a:r>
              <a:rPr lang="en-PK" dirty="0">
                <a:solidFill>
                  <a:srgbClr val="0432FF"/>
                </a:solidFill>
              </a:rPr>
              <a:t> of previous block</a:t>
            </a:r>
            <a:r>
              <a:rPr lang="en-PK" dirty="0">
                <a:solidFill>
                  <a:srgbClr val="308D3E"/>
                </a:solidFill>
              </a:rPr>
              <a:t>, and 3) </a:t>
            </a:r>
            <a:r>
              <a:rPr lang="en-PK" b="1" dirty="0">
                <a:solidFill>
                  <a:srgbClr val="308D3E"/>
                </a:solidFill>
              </a:rPr>
              <a:t>NONCE</a:t>
            </a:r>
          </a:p>
          <a:p>
            <a:endParaRPr lang="en-PK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58C543-59EE-F748-B1C6-ABEAA551FE1E}"/>
              </a:ext>
            </a:extLst>
          </p:cNvPr>
          <p:cNvSpPr/>
          <p:nvPr/>
        </p:nvSpPr>
        <p:spPr>
          <a:xfrm>
            <a:off x="1390918" y="5366933"/>
            <a:ext cx="1996225" cy="44754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K" dirty="0"/>
              <a:t>B6349C62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4790932-6A32-0631-79C3-8F7941637B4A}"/>
              </a:ext>
            </a:extLst>
          </p:cNvPr>
          <p:cNvCxnSpPr>
            <a:cxnSpLocks/>
          </p:cNvCxnSpPr>
          <p:nvPr/>
        </p:nvCxnSpPr>
        <p:spPr>
          <a:xfrm flipH="1">
            <a:off x="2389031" y="4719917"/>
            <a:ext cx="1" cy="648000"/>
          </a:xfrm>
          <a:prstGeom prst="straightConnector1">
            <a:avLst/>
          </a:prstGeom>
          <a:ln w="6350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1E320B31-8301-B072-AD6D-C53575D7A062}"/>
              </a:ext>
            </a:extLst>
          </p:cNvPr>
          <p:cNvSpPr/>
          <p:nvPr/>
        </p:nvSpPr>
        <p:spPr>
          <a:xfrm>
            <a:off x="5097887" y="5367917"/>
            <a:ext cx="1996225" cy="44754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7E9253AB</a:t>
            </a:r>
            <a:endParaRPr lang="en-PK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EA5752E-2278-82A4-7AB7-021B52F0662C}"/>
              </a:ext>
            </a:extLst>
          </p:cNvPr>
          <p:cNvCxnSpPr>
            <a:cxnSpLocks/>
          </p:cNvCxnSpPr>
          <p:nvPr/>
        </p:nvCxnSpPr>
        <p:spPr>
          <a:xfrm flipH="1">
            <a:off x="6095999" y="4719917"/>
            <a:ext cx="1" cy="648000"/>
          </a:xfrm>
          <a:prstGeom prst="straightConnector1">
            <a:avLst/>
          </a:prstGeom>
          <a:ln w="6350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F60909C-C7BD-1BC8-61E5-5B4FDB91FE9F}"/>
              </a:ext>
            </a:extLst>
          </p:cNvPr>
          <p:cNvSpPr txBox="1"/>
          <p:nvPr/>
        </p:nvSpPr>
        <p:spPr>
          <a:xfrm>
            <a:off x="1026292" y="4711309"/>
            <a:ext cx="13979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Compute the hash</a:t>
            </a:r>
            <a:endParaRPr lang="en-PK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0A94123-F3BA-9B19-FEA8-2BFE16D5A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144BB62-0713-7E06-5754-704A8353019C}"/>
              </a:ext>
            </a:extLst>
          </p:cNvPr>
          <p:cNvGrpSpPr/>
          <p:nvPr/>
        </p:nvGrpSpPr>
        <p:grpSpPr>
          <a:xfrm>
            <a:off x="8804852" y="2312826"/>
            <a:ext cx="1996226" cy="2398483"/>
            <a:chOff x="5123644" y="3750969"/>
            <a:chExt cx="1996226" cy="239848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DD17816-F5E3-B60A-B78A-E5ED6A66B40D}"/>
                </a:ext>
              </a:extLst>
            </p:cNvPr>
            <p:cNvSpPr/>
            <p:nvPr/>
          </p:nvSpPr>
          <p:spPr>
            <a:xfrm>
              <a:off x="5123645" y="4198512"/>
              <a:ext cx="1996225" cy="195094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Transaction 01</a:t>
              </a:r>
            </a:p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Transaction 02</a:t>
              </a:r>
            </a:p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…</a:t>
              </a:r>
            </a:p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Transaction 89</a:t>
              </a:r>
            </a:p>
            <a:p>
              <a:pPr algn="ctr"/>
              <a:r>
                <a:rPr lang="en-GB" dirty="0">
                  <a:ln w="0"/>
                  <a:solidFill>
                    <a:srgbClr val="7030A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7E9253AB</a:t>
              </a:r>
              <a:endParaRPr lang="en-PK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 algn="ctr"/>
              <a:endParaRPr lang="en-PK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 algn="ctr"/>
              <a:r>
                <a:rPr lang="en-PK" dirty="0">
                  <a:ln w="0"/>
                  <a:solidFill>
                    <a:srgbClr val="C0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&lt;NONCE&gt;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F2F8765-FE90-2B15-7734-027EE7B0E108}"/>
                </a:ext>
              </a:extLst>
            </p:cNvPr>
            <p:cNvSpPr/>
            <p:nvPr/>
          </p:nvSpPr>
          <p:spPr>
            <a:xfrm>
              <a:off x="5123644" y="3750969"/>
              <a:ext cx="1996225" cy="447541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K" dirty="0"/>
                <a:t>Block 57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016D382-7A11-E80D-7621-EC0D0C1910D6}"/>
              </a:ext>
            </a:extLst>
          </p:cNvPr>
          <p:cNvGrpSpPr/>
          <p:nvPr/>
        </p:nvGrpSpPr>
        <p:grpSpPr>
          <a:xfrm>
            <a:off x="5097887" y="2321434"/>
            <a:ext cx="1996226" cy="2398483"/>
            <a:chOff x="5123644" y="3750969"/>
            <a:chExt cx="1996226" cy="2398483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8C1F69E-B9D1-118B-691C-003233CBB760}"/>
                </a:ext>
              </a:extLst>
            </p:cNvPr>
            <p:cNvSpPr/>
            <p:nvPr/>
          </p:nvSpPr>
          <p:spPr>
            <a:xfrm>
              <a:off x="5123645" y="4198512"/>
              <a:ext cx="1996225" cy="195094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Transaction 01</a:t>
              </a:r>
            </a:p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Transaction 02</a:t>
              </a:r>
            </a:p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…</a:t>
              </a:r>
            </a:p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Transaction 43</a:t>
              </a:r>
            </a:p>
            <a:p>
              <a:pPr algn="ctr"/>
              <a:r>
                <a:rPr lang="en-GB" dirty="0">
                  <a:ln w="0"/>
                  <a:solidFill>
                    <a:srgbClr val="7030A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B6349C62</a:t>
              </a:r>
              <a:endParaRPr lang="en-PK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 algn="ctr"/>
              <a:endParaRPr lang="en-PK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 algn="ctr"/>
              <a:r>
                <a:rPr lang="en-PK" dirty="0">
                  <a:ln w="0"/>
                  <a:solidFill>
                    <a:srgbClr val="C0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&lt;NONCE&gt;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62B0A81-6215-C508-826D-2CB05FE944B6}"/>
                </a:ext>
              </a:extLst>
            </p:cNvPr>
            <p:cNvSpPr/>
            <p:nvPr/>
          </p:nvSpPr>
          <p:spPr>
            <a:xfrm>
              <a:off x="5123644" y="3750969"/>
              <a:ext cx="1996225" cy="447541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K" dirty="0"/>
                <a:t>Block 56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CF6325F-7676-1328-9384-564AD5C0070F}"/>
              </a:ext>
            </a:extLst>
          </p:cNvPr>
          <p:cNvGrpSpPr/>
          <p:nvPr/>
        </p:nvGrpSpPr>
        <p:grpSpPr>
          <a:xfrm>
            <a:off x="1426157" y="2321434"/>
            <a:ext cx="1996226" cy="2398483"/>
            <a:chOff x="5123644" y="3750969"/>
            <a:chExt cx="1996226" cy="2398483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4F3F307-6CDA-F61E-8AC1-2E5AB7FBD498}"/>
                </a:ext>
              </a:extLst>
            </p:cNvPr>
            <p:cNvSpPr/>
            <p:nvPr/>
          </p:nvSpPr>
          <p:spPr>
            <a:xfrm>
              <a:off x="5123645" y="4198512"/>
              <a:ext cx="1996225" cy="195094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Transaction 01</a:t>
              </a:r>
            </a:p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Transaction 02</a:t>
              </a:r>
            </a:p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…</a:t>
              </a:r>
            </a:p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Transaction 76</a:t>
              </a:r>
            </a:p>
            <a:p>
              <a:pPr algn="ctr"/>
              <a:r>
                <a:rPr lang="en-PK" dirty="0">
                  <a:ln w="0"/>
                  <a:solidFill>
                    <a:srgbClr val="7030A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&lt;prev hash&gt;</a:t>
              </a:r>
            </a:p>
            <a:p>
              <a:pPr algn="ctr"/>
              <a:endParaRPr lang="en-PK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 algn="ctr"/>
              <a:r>
                <a:rPr lang="en-PK" dirty="0">
                  <a:ln w="0"/>
                  <a:solidFill>
                    <a:srgbClr val="C0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&lt;NONCE&gt;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46DA755-47D3-9AED-3302-38E6B37379BB}"/>
                </a:ext>
              </a:extLst>
            </p:cNvPr>
            <p:cNvSpPr/>
            <p:nvPr/>
          </p:nvSpPr>
          <p:spPr>
            <a:xfrm>
              <a:off x="5123644" y="3750969"/>
              <a:ext cx="1996225" cy="447541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K" dirty="0"/>
                <a:t>Block 55</a:t>
              </a:r>
            </a:p>
          </p:txBody>
        </p:sp>
      </p:grp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B24FA03F-5444-FB55-A7C0-23B10C2CB8FD}"/>
              </a:ext>
            </a:extLst>
          </p:cNvPr>
          <p:cNvCxnSpPr>
            <a:cxnSpLocks/>
          </p:cNvCxnSpPr>
          <p:nvPr/>
        </p:nvCxnSpPr>
        <p:spPr>
          <a:xfrm flipV="1">
            <a:off x="3387146" y="4071917"/>
            <a:ext cx="2087929" cy="1512000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630B7852-97C5-D47A-BDB0-0635A398C9BE}"/>
              </a:ext>
            </a:extLst>
          </p:cNvPr>
          <p:cNvCxnSpPr>
            <a:cxnSpLocks/>
          </p:cNvCxnSpPr>
          <p:nvPr/>
        </p:nvCxnSpPr>
        <p:spPr>
          <a:xfrm flipV="1">
            <a:off x="7094112" y="4071917"/>
            <a:ext cx="2087929" cy="1512000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itle 1">
            <a:extLst>
              <a:ext uri="{FF2B5EF4-FFF2-40B4-BE49-F238E27FC236}">
                <a16:creationId xmlns:a16="http://schemas.microsoft.com/office/drawing/2014/main" id="{7935887B-493C-0D2B-BD38-B298E0AD558B}"/>
              </a:ext>
            </a:extLst>
          </p:cNvPr>
          <p:cNvSpPr txBox="1">
            <a:spLocks/>
          </p:cNvSpPr>
          <p:nvPr/>
        </p:nvSpPr>
        <p:spPr>
          <a:xfrm>
            <a:off x="2030760" y="5957490"/>
            <a:ext cx="8100000" cy="504000"/>
          </a:xfrm>
          <a:prstGeom prst="roundRect">
            <a:avLst/>
          </a:prstGeom>
          <a:solidFill>
            <a:srgbClr val="FFD579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chemeClr val="tx2"/>
                </a:solidFill>
              </a:rPr>
              <a:t>Mining</a:t>
            </a:r>
            <a:r>
              <a:rPr lang="en-US" sz="2400" dirty="0">
                <a:solidFill>
                  <a:schemeClr val="tx2"/>
                </a:solidFill>
              </a:rPr>
              <a:t>: Cycle through the NONCE </a:t>
            </a:r>
            <a:r>
              <a:rPr lang="en-US" sz="2400" dirty="0">
                <a:solidFill>
                  <a:schemeClr val="tx2"/>
                </a:solidFill>
                <a:sym typeface="Wingdings" pitchFamily="2" charset="2"/>
              </a:rPr>
              <a:t>to meet </a:t>
            </a:r>
            <a:r>
              <a:rPr lang="en-US" sz="2400" b="1" i="1" dirty="0">
                <a:solidFill>
                  <a:schemeClr val="tx2"/>
                </a:solidFill>
                <a:sym typeface="Wingdings" pitchFamily="2" charset="2"/>
              </a:rPr>
              <a:t>some</a:t>
            </a:r>
            <a:r>
              <a:rPr lang="en-US" sz="2400" dirty="0">
                <a:solidFill>
                  <a:schemeClr val="tx2"/>
                </a:solidFill>
                <a:sym typeface="Wingdings" pitchFamily="2" charset="2"/>
              </a:rPr>
              <a:t> hash criteria</a:t>
            </a:r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7788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1" grpId="0" animBg="1"/>
      <p:bldP spid="6" grpId="0"/>
      <p:bldP spid="3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78079-AD91-2CCC-8684-0FD6363D4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1A3AB-C4B3-9044-3C1F-FD746B348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What does Blockchain bring to the table?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3D011-EAA7-AC04-B455-F07CAA680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PK" dirty="0"/>
              <a:t>Immutability / tamper-proof</a:t>
            </a:r>
          </a:p>
          <a:p>
            <a:pPr lvl="1"/>
            <a:r>
              <a:rPr lang="en-PK" dirty="0">
                <a:solidFill>
                  <a:srgbClr val="0432FF"/>
                </a:solidFill>
              </a:rPr>
              <a:t>Nearly impossible to change or roll back transactions</a:t>
            </a:r>
          </a:p>
          <a:p>
            <a:pPr lvl="1"/>
            <a:r>
              <a:rPr lang="en-PK" dirty="0">
                <a:solidFill>
                  <a:srgbClr val="308D3E"/>
                </a:solidFill>
              </a:rPr>
              <a:t>Ensured by hashes – we make it very hard to (re)compute the hash</a:t>
            </a:r>
          </a:p>
          <a:p>
            <a:pPr lvl="1"/>
            <a:r>
              <a:rPr lang="en-PK" dirty="0">
                <a:solidFill>
                  <a:srgbClr val="C00000"/>
                </a:solidFill>
              </a:rPr>
              <a:t>Change a transaction: </a:t>
            </a:r>
            <a:r>
              <a:rPr lang="en-PK" i="1" dirty="0">
                <a:solidFill>
                  <a:srgbClr val="7030A0"/>
                </a:solidFill>
              </a:rPr>
              <a:t>recompute hash (this block </a:t>
            </a:r>
            <a:r>
              <a:rPr lang="en-PK" b="1" i="1" dirty="0">
                <a:solidFill>
                  <a:srgbClr val="7030A0"/>
                </a:solidFill>
              </a:rPr>
              <a:t>AND</a:t>
            </a:r>
            <a:r>
              <a:rPr lang="en-PK" i="1" dirty="0">
                <a:solidFill>
                  <a:srgbClr val="7030A0"/>
                </a:solidFill>
              </a:rPr>
              <a:t> all subsequent ones)</a:t>
            </a:r>
          </a:p>
          <a:p>
            <a:endParaRPr lang="en-PK" i="1" dirty="0">
              <a:solidFill>
                <a:srgbClr val="7030A0"/>
              </a:solidFill>
            </a:endParaRPr>
          </a:p>
          <a:p>
            <a:r>
              <a:rPr lang="en-PK" dirty="0"/>
              <a:t>Auditability</a:t>
            </a:r>
          </a:p>
          <a:p>
            <a:pPr lvl="1"/>
            <a:r>
              <a:rPr lang="en-PK" dirty="0">
                <a:solidFill>
                  <a:srgbClr val="0432FF"/>
                </a:solidFill>
              </a:rPr>
              <a:t>All transactions can be tracked and verified</a:t>
            </a:r>
          </a:p>
          <a:p>
            <a:pPr lvl="1"/>
            <a:r>
              <a:rPr lang="en-PK" dirty="0">
                <a:solidFill>
                  <a:srgbClr val="308D3E"/>
                </a:solidFill>
              </a:rPr>
              <a:t>All historical transactions are around and available</a:t>
            </a:r>
          </a:p>
          <a:p>
            <a:pPr lvl="2"/>
            <a:endParaRPr lang="en-PK" dirty="0">
              <a:solidFill>
                <a:srgbClr val="308D3E"/>
              </a:solidFill>
            </a:endParaRPr>
          </a:p>
          <a:p>
            <a:r>
              <a:rPr lang="en-PK" dirty="0"/>
              <a:t>Decentralization</a:t>
            </a:r>
            <a:endParaRPr lang="en-GB" dirty="0"/>
          </a:p>
          <a:p>
            <a:pPr lvl="1"/>
            <a:r>
              <a:rPr lang="en-GB" dirty="0">
                <a:solidFill>
                  <a:srgbClr val="0432FF"/>
                </a:solidFill>
              </a:rPr>
              <a:t>Enables autonomy and censorship resistance</a:t>
            </a:r>
          </a:p>
          <a:p>
            <a:pPr lvl="1"/>
            <a:r>
              <a:rPr lang="en-GB" dirty="0">
                <a:solidFill>
                  <a:srgbClr val="308D3E"/>
                </a:solidFill>
              </a:rPr>
              <a:t>T</a:t>
            </a:r>
            <a:r>
              <a:rPr lang="en-PK" dirty="0">
                <a:solidFill>
                  <a:srgbClr val="308D3E"/>
                </a:solidFill>
              </a:rPr>
              <a:t>ransactions without needing a central authority (such as banks!)</a:t>
            </a:r>
          </a:p>
          <a:p>
            <a:pPr lvl="1"/>
            <a:r>
              <a:rPr lang="en-GB" dirty="0">
                <a:solidFill>
                  <a:srgbClr val="C00000"/>
                </a:solidFill>
              </a:rPr>
              <a:t>Reduced risk of single points of failure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4BE1A86-F9CE-9F24-9A68-83004F51F8AA}"/>
              </a:ext>
            </a:extLst>
          </p:cNvPr>
          <p:cNvSpPr txBox="1">
            <a:spLocks/>
          </p:cNvSpPr>
          <p:nvPr/>
        </p:nvSpPr>
        <p:spPr>
          <a:xfrm>
            <a:off x="9524855" y="3046689"/>
            <a:ext cx="2148985" cy="503999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chemeClr val="bg1"/>
                </a:solidFill>
              </a:rPr>
              <a:t>Privacy?</a:t>
            </a:r>
            <a:endParaRPr lang="en-PK" sz="2400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F9CAF65-E65C-61D0-BE96-D5FFD7872845}"/>
              </a:ext>
            </a:extLst>
          </p:cNvPr>
          <p:cNvSpPr txBox="1">
            <a:spLocks/>
          </p:cNvSpPr>
          <p:nvPr/>
        </p:nvSpPr>
        <p:spPr>
          <a:xfrm>
            <a:off x="9524854" y="3737189"/>
            <a:ext cx="2148985" cy="503999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chemeClr val="bg1"/>
                </a:solidFill>
              </a:rPr>
              <a:t>Anonymity?</a:t>
            </a:r>
            <a:endParaRPr lang="en-PK" sz="2400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181667-4C16-025B-BB59-B1C71ED1D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220C418-11A4-C183-7818-BB3524EC74B8}"/>
              </a:ext>
            </a:extLst>
          </p:cNvPr>
          <p:cNvSpPr txBox="1">
            <a:spLocks/>
          </p:cNvSpPr>
          <p:nvPr/>
        </p:nvSpPr>
        <p:spPr>
          <a:xfrm>
            <a:off x="3423682" y="2542104"/>
            <a:ext cx="5688000" cy="504000"/>
          </a:xfrm>
          <a:prstGeom prst="roundRect">
            <a:avLst/>
          </a:prstGeom>
          <a:solidFill>
            <a:srgbClr val="FFD579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chemeClr val="tx2"/>
                </a:solidFill>
              </a:rPr>
              <a:t>What if someone actually does that?</a:t>
            </a:r>
          </a:p>
        </p:txBody>
      </p:sp>
    </p:spTree>
    <p:extLst>
      <p:ext uri="{BB962C8B-B14F-4D97-AF65-F5344CB8AC3E}">
        <p14:creationId xmlns:p14="http://schemas.microsoft.com/office/powerpoint/2010/main" val="3788245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9E719-FF7B-FD0F-71B1-48BBF6C3D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B63C3-F778-5D6B-8799-D27E30BBC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Securing + Chaining of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7EC78-363C-643E-D3DA-43FCA816B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PK" dirty="0"/>
              <a:t>What if the data in a block is </a:t>
            </a:r>
            <a:r>
              <a:rPr lang="en-PK" b="1" dirty="0">
                <a:solidFill>
                  <a:srgbClr val="C00000"/>
                </a:solidFill>
              </a:rPr>
              <a:t>tampered</a:t>
            </a:r>
            <a:r>
              <a:rPr lang="en-PK" dirty="0"/>
              <a:t> with?</a:t>
            </a:r>
            <a:endParaRPr lang="en-PK" b="1" dirty="0"/>
          </a:p>
          <a:p>
            <a:r>
              <a:rPr lang="en-PK" dirty="0"/>
              <a:t>Hash value changes</a:t>
            </a:r>
            <a:r>
              <a:rPr lang="en-PK" dirty="0">
                <a:sym typeface="Wingdings" pitchFamily="2" charset="2"/>
              </a:rPr>
              <a:t>:  </a:t>
            </a:r>
            <a:r>
              <a:rPr lang="en-GB" dirty="0"/>
              <a:t>leads</a:t>
            </a:r>
            <a:r>
              <a:rPr lang="en-PK" dirty="0"/>
              <a:t> to </a:t>
            </a:r>
            <a:r>
              <a:rPr lang="en-PK" b="1" dirty="0">
                <a:solidFill>
                  <a:srgbClr val="C00000"/>
                </a:solidFill>
              </a:rPr>
              <a:t>Unchaining</a:t>
            </a:r>
            <a:endParaRPr lang="en-PK" dirty="0">
              <a:solidFill>
                <a:srgbClr val="C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D89E57-496F-13CE-1AA7-BF80B6F3A984}"/>
              </a:ext>
            </a:extLst>
          </p:cNvPr>
          <p:cNvSpPr/>
          <p:nvPr/>
        </p:nvSpPr>
        <p:spPr>
          <a:xfrm>
            <a:off x="1390918" y="5364000"/>
            <a:ext cx="1996225" cy="4475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K" dirty="0">
                <a:solidFill>
                  <a:srgbClr val="7030A0"/>
                </a:solidFill>
              </a:rPr>
              <a:t>B6349C62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FB13C4E-27EA-C80C-2307-D23E40352885}"/>
              </a:ext>
            </a:extLst>
          </p:cNvPr>
          <p:cNvCxnSpPr>
            <a:cxnSpLocks/>
          </p:cNvCxnSpPr>
          <p:nvPr/>
        </p:nvCxnSpPr>
        <p:spPr>
          <a:xfrm flipH="1">
            <a:off x="2389031" y="4719917"/>
            <a:ext cx="1" cy="648000"/>
          </a:xfrm>
          <a:prstGeom prst="straightConnector1">
            <a:avLst/>
          </a:prstGeom>
          <a:ln w="6350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9DC70EB5-3E6B-99A3-AB68-3267EB05287C}"/>
              </a:ext>
            </a:extLst>
          </p:cNvPr>
          <p:cNvSpPr/>
          <p:nvPr/>
        </p:nvSpPr>
        <p:spPr>
          <a:xfrm>
            <a:off x="5097887" y="5367917"/>
            <a:ext cx="1996225" cy="4475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7030A0"/>
                </a:solidFill>
              </a:rPr>
              <a:t>7E9253AB</a:t>
            </a:r>
            <a:endParaRPr lang="en-PK" dirty="0">
              <a:solidFill>
                <a:srgbClr val="7030A0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6356E54-29CB-40D4-1467-AF8B3C91FD67}"/>
              </a:ext>
            </a:extLst>
          </p:cNvPr>
          <p:cNvCxnSpPr>
            <a:cxnSpLocks/>
          </p:cNvCxnSpPr>
          <p:nvPr/>
        </p:nvCxnSpPr>
        <p:spPr>
          <a:xfrm flipH="1">
            <a:off x="6095999" y="4719917"/>
            <a:ext cx="1" cy="648000"/>
          </a:xfrm>
          <a:prstGeom prst="straightConnector1">
            <a:avLst/>
          </a:prstGeom>
          <a:ln w="6350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0497737-A910-DEF8-F86E-8E6EC5D31B7E}"/>
              </a:ext>
            </a:extLst>
          </p:cNvPr>
          <p:cNvSpPr txBox="1"/>
          <p:nvPr/>
        </p:nvSpPr>
        <p:spPr>
          <a:xfrm>
            <a:off x="1026292" y="4711309"/>
            <a:ext cx="13979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Compute the hash</a:t>
            </a:r>
            <a:endParaRPr lang="en-PK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0D5823A-A18C-A13D-A369-8232DCDF2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33DE750-0E8B-BF19-FD9E-BEE18A09F9B4}"/>
              </a:ext>
            </a:extLst>
          </p:cNvPr>
          <p:cNvGrpSpPr/>
          <p:nvPr/>
        </p:nvGrpSpPr>
        <p:grpSpPr>
          <a:xfrm>
            <a:off x="8804852" y="2312826"/>
            <a:ext cx="1996226" cy="2398483"/>
            <a:chOff x="5123644" y="3750969"/>
            <a:chExt cx="1996226" cy="239848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B8B6CB0-15CD-1CDF-47CB-A9174C02C38B}"/>
                </a:ext>
              </a:extLst>
            </p:cNvPr>
            <p:cNvSpPr/>
            <p:nvPr/>
          </p:nvSpPr>
          <p:spPr>
            <a:xfrm>
              <a:off x="5123645" y="4198512"/>
              <a:ext cx="1996225" cy="195094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Transaction 01</a:t>
              </a:r>
            </a:p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Transaction 02</a:t>
              </a:r>
            </a:p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…</a:t>
              </a:r>
            </a:p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Transaction 89</a:t>
              </a:r>
            </a:p>
            <a:p>
              <a:pPr algn="ctr"/>
              <a:r>
                <a:rPr lang="en-GB" dirty="0">
                  <a:ln w="0"/>
                  <a:solidFill>
                    <a:srgbClr val="7030A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7E9253AB</a:t>
              </a:r>
              <a:endParaRPr lang="en-PK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 algn="ctr"/>
              <a:endParaRPr lang="en-PK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 algn="ctr"/>
              <a:r>
                <a:rPr lang="en-PK" dirty="0">
                  <a:ln w="0"/>
                  <a:solidFill>
                    <a:srgbClr val="308D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9E4221DD5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A33CEE3-AE81-51F1-5C12-AAAAB9CE9BAF}"/>
                </a:ext>
              </a:extLst>
            </p:cNvPr>
            <p:cNvSpPr/>
            <p:nvPr/>
          </p:nvSpPr>
          <p:spPr>
            <a:xfrm>
              <a:off x="5123644" y="3750969"/>
              <a:ext cx="1996225" cy="447541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K" dirty="0"/>
                <a:t>Block 57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AA9B287-61CC-B4F6-1970-FB09D06ACEF1}"/>
              </a:ext>
            </a:extLst>
          </p:cNvPr>
          <p:cNvGrpSpPr/>
          <p:nvPr/>
        </p:nvGrpSpPr>
        <p:grpSpPr>
          <a:xfrm>
            <a:off x="5097887" y="2321434"/>
            <a:ext cx="1996226" cy="2398483"/>
            <a:chOff x="5123644" y="3750969"/>
            <a:chExt cx="1996226" cy="2398483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3835A4B-C4E6-0E35-2887-77BBE0D3B6A1}"/>
                </a:ext>
              </a:extLst>
            </p:cNvPr>
            <p:cNvSpPr/>
            <p:nvPr/>
          </p:nvSpPr>
          <p:spPr>
            <a:xfrm>
              <a:off x="5123645" y="4198512"/>
              <a:ext cx="1996225" cy="195094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Transaction 01</a:t>
              </a:r>
            </a:p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Transaction 02</a:t>
              </a:r>
            </a:p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…</a:t>
              </a:r>
            </a:p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Transaction 43</a:t>
              </a:r>
            </a:p>
            <a:p>
              <a:pPr algn="ctr"/>
              <a:r>
                <a:rPr lang="en-GB" dirty="0">
                  <a:ln w="0"/>
                  <a:solidFill>
                    <a:srgbClr val="7030A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B6349C62</a:t>
              </a:r>
              <a:endParaRPr lang="en-PK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 algn="ctr"/>
              <a:endParaRPr lang="en-PK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 algn="ctr"/>
              <a:r>
                <a:rPr lang="en-PK" dirty="0">
                  <a:ln w="0"/>
                  <a:solidFill>
                    <a:srgbClr val="308D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D8F4C0319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0A18075-2018-DD17-DE2F-6F29238737D1}"/>
                </a:ext>
              </a:extLst>
            </p:cNvPr>
            <p:cNvSpPr/>
            <p:nvPr/>
          </p:nvSpPr>
          <p:spPr>
            <a:xfrm>
              <a:off x="5123644" y="3750969"/>
              <a:ext cx="1996225" cy="447541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K" dirty="0"/>
                <a:t>Block 56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B4A0856-FA84-C9E2-21E0-208C8D8EC0BF}"/>
              </a:ext>
            </a:extLst>
          </p:cNvPr>
          <p:cNvGrpSpPr/>
          <p:nvPr/>
        </p:nvGrpSpPr>
        <p:grpSpPr>
          <a:xfrm>
            <a:off x="1426157" y="2321434"/>
            <a:ext cx="1996226" cy="2398483"/>
            <a:chOff x="5123644" y="3750969"/>
            <a:chExt cx="1996226" cy="2398483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977C83F-985B-824B-4BB4-23D2F297AFEE}"/>
                </a:ext>
              </a:extLst>
            </p:cNvPr>
            <p:cNvSpPr/>
            <p:nvPr/>
          </p:nvSpPr>
          <p:spPr>
            <a:xfrm>
              <a:off x="5123645" y="4198512"/>
              <a:ext cx="1996225" cy="195094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Transaction 01</a:t>
              </a:r>
            </a:p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Asim </a:t>
              </a:r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sym typeface="Wingdings" pitchFamily="2" charset="2"/>
                </a:rPr>
                <a:t></a:t>
              </a:r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Arif: $20</a:t>
              </a:r>
            </a:p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…</a:t>
              </a:r>
            </a:p>
            <a:p>
              <a:pPr algn="ctr"/>
              <a:r>
                <a:rPr lang="en-PK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Transaction 76</a:t>
              </a:r>
            </a:p>
            <a:p>
              <a:pPr algn="ctr"/>
              <a:r>
                <a:rPr lang="en-PK" dirty="0">
                  <a:ln w="0"/>
                  <a:solidFill>
                    <a:srgbClr val="7030A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&lt;prev hash&gt;</a:t>
              </a:r>
            </a:p>
            <a:p>
              <a:pPr algn="ctr"/>
              <a:endParaRPr lang="en-PK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 algn="ctr"/>
              <a:r>
                <a:rPr lang="en-PK" dirty="0">
                  <a:ln w="0"/>
                  <a:solidFill>
                    <a:srgbClr val="308D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7A39D4F32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CC08703-DD6E-FDA3-F35D-D2E0CD63B939}"/>
                </a:ext>
              </a:extLst>
            </p:cNvPr>
            <p:cNvSpPr/>
            <p:nvPr/>
          </p:nvSpPr>
          <p:spPr>
            <a:xfrm>
              <a:off x="5123644" y="3750969"/>
              <a:ext cx="1996225" cy="447541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K" dirty="0"/>
                <a:t>Block 55</a:t>
              </a:r>
            </a:p>
          </p:txBody>
        </p:sp>
      </p:grp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CDFAD965-BB7C-70A9-BBEA-780DAC7E812F}"/>
              </a:ext>
            </a:extLst>
          </p:cNvPr>
          <p:cNvCxnSpPr>
            <a:cxnSpLocks/>
          </p:cNvCxnSpPr>
          <p:nvPr/>
        </p:nvCxnSpPr>
        <p:spPr>
          <a:xfrm flipV="1">
            <a:off x="3387146" y="4071917"/>
            <a:ext cx="2087929" cy="1512000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3F3619D6-65D4-6914-3AB4-5DF7490C7652}"/>
              </a:ext>
            </a:extLst>
          </p:cNvPr>
          <p:cNvCxnSpPr>
            <a:cxnSpLocks/>
          </p:cNvCxnSpPr>
          <p:nvPr/>
        </p:nvCxnSpPr>
        <p:spPr>
          <a:xfrm flipV="1">
            <a:off x="7094112" y="4071917"/>
            <a:ext cx="2087929" cy="1512000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itle 1">
            <a:extLst>
              <a:ext uri="{FF2B5EF4-FFF2-40B4-BE49-F238E27FC236}">
                <a16:creationId xmlns:a16="http://schemas.microsoft.com/office/drawing/2014/main" id="{29D919E5-21F2-AC8E-1DB2-C832D9B19A89}"/>
              </a:ext>
            </a:extLst>
          </p:cNvPr>
          <p:cNvSpPr txBox="1">
            <a:spLocks/>
          </p:cNvSpPr>
          <p:nvPr/>
        </p:nvSpPr>
        <p:spPr>
          <a:xfrm>
            <a:off x="2030760" y="5957490"/>
            <a:ext cx="8100000" cy="504000"/>
          </a:xfrm>
          <a:prstGeom prst="roundRect">
            <a:avLst/>
          </a:prstGeom>
          <a:solidFill>
            <a:srgbClr val="FFD579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chemeClr val="tx2"/>
                </a:solidFill>
              </a:rPr>
              <a:t>Any change in the block data can be easily detected</a:t>
            </a: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4F09D6-88CE-FE99-CF63-30BEE4C6ABFA}"/>
              </a:ext>
            </a:extLst>
          </p:cNvPr>
          <p:cNvSpPr txBox="1"/>
          <p:nvPr/>
        </p:nvSpPr>
        <p:spPr>
          <a:xfrm>
            <a:off x="1534176" y="3036596"/>
            <a:ext cx="1779654" cy="349702"/>
          </a:xfrm>
          <a:prstGeom prst="rect">
            <a:avLst/>
          </a:prstGeom>
          <a:solidFill>
            <a:schemeClr val="bg1"/>
          </a:solidFill>
        </p:spPr>
        <p:txBody>
          <a:bodyPr wrap="none" tIns="36000" bIns="36000" rtlCol="0" anchor="ctr" anchorCtr="1">
            <a:spAutoFit/>
          </a:bodyPr>
          <a:lstStyle/>
          <a:p>
            <a:r>
              <a:rPr lang="en-PK" dirty="0">
                <a:solidFill>
                  <a:srgbClr val="C00000"/>
                </a:solidFill>
              </a:rPr>
              <a:t>Asim </a:t>
            </a:r>
            <a:r>
              <a:rPr lang="en-PK" dirty="0">
                <a:solidFill>
                  <a:srgbClr val="C00000"/>
                </a:solidFill>
                <a:sym typeface="Wingdings" pitchFamily="2" charset="2"/>
              </a:rPr>
              <a:t> Arif: $50</a:t>
            </a:r>
            <a:endParaRPr lang="en-PK" dirty="0">
              <a:solidFill>
                <a:srgbClr val="C0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130B7C-5CFB-11F9-D8AF-985824C70277}"/>
              </a:ext>
            </a:extLst>
          </p:cNvPr>
          <p:cNvSpPr/>
          <p:nvPr/>
        </p:nvSpPr>
        <p:spPr>
          <a:xfrm>
            <a:off x="1390918" y="5364000"/>
            <a:ext cx="1996225" cy="4475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K" b="1" dirty="0">
                <a:solidFill>
                  <a:srgbClr val="C00000"/>
                </a:solidFill>
              </a:rPr>
              <a:t>A634B331</a:t>
            </a:r>
          </a:p>
        </p:txBody>
      </p:sp>
    </p:spTree>
    <p:extLst>
      <p:ext uri="{BB962C8B-B14F-4D97-AF65-F5344CB8AC3E}">
        <p14:creationId xmlns:p14="http://schemas.microsoft.com/office/powerpoint/2010/main" val="2906092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D0001D"/>
                                      </p:to>
                                    </p:animClr>
                                    <p:set>
                                      <p:cBhvr>
                                        <p:cTn id="4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1" grpId="0" animBg="1"/>
      <p:bldP spid="6" grpId="0"/>
      <p:bldP spid="36" grpId="0" animBg="1"/>
      <p:bldP spid="8" grpId="0" animBg="1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7B496-F4D7-7AE1-FCAC-F3364B39D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0ACED-668F-CFAE-1028-3F5ACA04C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Security and Efficiency in blockchain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ACB9D-21F4-6307-9A84-5D0324187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PK" dirty="0"/>
              <a:t>Can the data written on blockchain be </a:t>
            </a:r>
            <a:r>
              <a:rPr lang="en-PK" b="1" i="1" dirty="0">
                <a:solidFill>
                  <a:srgbClr val="C00000"/>
                </a:solidFill>
              </a:rPr>
              <a:t>permanently</a:t>
            </a:r>
            <a:r>
              <a:rPr lang="en-PK" dirty="0"/>
              <a:t> tampered?</a:t>
            </a:r>
          </a:p>
          <a:p>
            <a:pPr lvl="1"/>
            <a:r>
              <a:rPr lang="en-PK" dirty="0">
                <a:solidFill>
                  <a:srgbClr val="308D3E"/>
                </a:solidFill>
              </a:rPr>
              <a:t>Possible, but requires more than 50% of </a:t>
            </a:r>
            <a:r>
              <a:rPr lang="en-US" dirty="0">
                <a:solidFill>
                  <a:srgbClr val="308D3E"/>
                </a:solidFill>
              </a:rPr>
              <a:t>control</a:t>
            </a:r>
            <a:endParaRPr lang="en-PK" dirty="0">
              <a:solidFill>
                <a:srgbClr val="308D3E"/>
              </a:solidFill>
            </a:endParaRPr>
          </a:p>
          <a:p>
            <a:r>
              <a:rPr lang="en-PK" dirty="0"/>
              <a:t>Security of </a:t>
            </a:r>
            <a:r>
              <a:rPr lang="en-PK" b="1" i="1" dirty="0"/>
              <a:t>financial transactions</a:t>
            </a:r>
            <a:r>
              <a:rPr lang="en-PK" dirty="0"/>
              <a:t>:</a:t>
            </a:r>
          </a:p>
          <a:p>
            <a:pPr lvl="1"/>
            <a:r>
              <a:rPr lang="en-PK" dirty="0">
                <a:solidFill>
                  <a:srgbClr val="C00000"/>
                </a:solidFill>
              </a:rPr>
              <a:t>Has the payer authorized the transaction?</a:t>
            </a:r>
          </a:p>
          <a:p>
            <a:pPr lvl="1"/>
            <a:r>
              <a:rPr lang="en-PK" dirty="0">
                <a:solidFill>
                  <a:srgbClr val="C00000"/>
                </a:solidFill>
              </a:rPr>
              <a:t>Is the payee the right person?</a:t>
            </a:r>
          </a:p>
          <a:p>
            <a:r>
              <a:rPr lang="en-PK" dirty="0"/>
              <a:t>Can we verify transactions before writing them in a block?</a:t>
            </a:r>
          </a:p>
          <a:p>
            <a:pPr lvl="1"/>
            <a:r>
              <a:rPr lang="en-PK" dirty="0">
                <a:solidFill>
                  <a:srgbClr val="C00000"/>
                </a:solidFill>
              </a:rPr>
              <a:t>Is someone trying to spend more than what they have?</a:t>
            </a:r>
          </a:p>
          <a:p>
            <a:pPr lvl="1"/>
            <a:r>
              <a:rPr lang="en-PK" dirty="0">
                <a:solidFill>
                  <a:srgbClr val="308D3E"/>
                </a:solidFill>
              </a:rPr>
              <a:t>How do we check this in current banking?</a:t>
            </a:r>
          </a:p>
          <a:p>
            <a:pPr lvl="3"/>
            <a:endParaRPr lang="en-PK" dirty="0"/>
          </a:p>
          <a:p>
            <a:r>
              <a:rPr lang="en-PK" dirty="0"/>
              <a:t>Can this verification be done efficiently?</a:t>
            </a:r>
          </a:p>
          <a:p>
            <a:pPr lvl="1"/>
            <a:r>
              <a:rPr lang="en-PK" dirty="0">
                <a:solidFill>
                  <a:srgbClr val="308D3E"/>
                </a:solidFill>
              </a:rPr>
              <a:t>Simplified Payment Verification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D69DC00-BE5A-A8C6-B54D-A5EC27497CFB}"/>
              </a:ext>
            </a:extLst>
          </p:cNvPr>
          <p:cNvSpPr txBox="1">
            <a:spLocks/>
          </p:cNvSpPr>
          <p:nvPr/>
        </p:nvSpPr>
        <p:spPr>
          <a:xfrm>
            <a:off x="8059949" y="2282183"/>
            <a:ext cx="3817832" cy="985519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txBody>
          <a:bodyPr vert="horz" lIns="91440" tIns="45720" rIns="91440" bIns="45720" rtlCol="0" anchor="ctr" anchorCtr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dirty="0">
                <a:solidFill>
                  <a:schemeClr val="bg1"/>
                </a:solidFill>
              </a:rPr>
              <a:t>Digital Signatures and Public Key Cryptography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A91FD1E-3E0D-9D79-3874-D758B590749D}"/>
              </a:ext>
            </a:extLst>
          </p:cNvPr>
          <p:cNvSpPr txBox="1">
            <a:spLocks/>
          </p:cNvSpPr>
          <p:nvPr/>
        </p:nvSpPr>
        <p:spPr>
          <a:xfrm>
            <a:off x="9764925" y="3904622"/>
            <a:ext cx="2112856" cy="987452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txBody>
          <a:bodyPr vert="horz" lIns="91440" tIns="45720" rIns="91440" bIns="45720" rtlCol="0" anchor="ctr" anchorCtr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dirty="0">
                <a:solidFill>
                  <a:schemeClr val="bg1"/>
                </a:solidFill>
              </a:rPr>
              <a:t>Transactions are all there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94A1CF-0915-03E9-6B60-E78C8143A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104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4356F-D9F1-3849-95C2-053C324C9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When to use a Blockchain?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1F95D-009B-FF9F-3A07-B63A8EC52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PK" dirty="0"/>
              <a:t>When there is a multitude of transactions that:</a:t>
            </a:r>
          </a:p>
          <a:p>
            <a:pPr lvl="1"/>
            <a:r>
              <a:rPr lang="en-PK" dirty="0">
                <a:solidFill>
                  <a:srgbClr val="C00000"/>
                </a:solidFill>
              </a:rPr>
              <a:t>Are </a:t>
            </a:r>
            <a:r>
              <a:rPr lang="en-GB" dirty="0">
                <a:solidFill>
                  <a:srgbClr val="C00000"/>
                </a:solidFill>
              </a:rPr>
              <a:t>generated (and potentially consumed) by multiple parties</a:t>
            </a:r>
          </a:p>
          <a:p>
            <a:pPr lvl="1"/>
            <a:r>
              <a:rPr lang="en-GB" dirty="0">
                <a:solidFill>
                  <a:srgbClr val="0432FF"/>
                </a:solidFill>
              </a:rPr>
              <a:t>Have a common interest</a:t>
            </a:r>
          </a:p>
          <a:p>
            <a:pPr lvl="1"/>
            <a:r>
              <a:rPr lang="en-GB" dirty="0">
                <a:solidFill>
                  <a:srgbClr val="308D3E"/>
                </a:solidFill>
              </a:rPr>
              <a:t>Need to avoid a central control (</a:t>
            </a:r>
            <a:r>
              <a:rPr lang="en-GB" b="1" i="1" dirty="0">
                <a:solidFill>
                  <a:srgbClr val="308D3E"/>
                </a:solidFill>
              </a:rPr>
              <a:t>decentralization</a:t>
            </a:r>
            <a:r>
              <a:rPr lang="en-GB" dirty="0">
                <a:solidFill>
                  <a:srgbClr val="308D3E"/>
                </a:solidFill>
              </a:rPr>
              <a:t>)</a:t>
            </a:r>
          </a:p>
          <a:p>
            <a:pPr lvl="1"/>
            <a:r>
              <a:rPr lang="en-GB" b="1" i="1" dirty="0"/>
              <a:t>Discussion:</a:t>
            </a:r>
            <a:r>
              <a:rPr lang="en-GB" dirty="0"/>
              <a:t> </a:t>
            </a:r>
            <a:r>
              <a:rPr lang="en-GB" i="1" dirty="0"/>
              <a:t>How can you do financial transactions without a bank?</a:t>
            </a:r>
          </a:p>
          <a:p>
            <a:pPr lvl="2"/>
            <a:r>
              <a:rPr lang="en-GB" i="1" dirty="0">
                <a:solidFill>
                  <a:srgbClr val="7030A0"/>
                </a:solidFill>
              </a:rPr>
              <a:t>Consider a tribe on an island a couple of thousand years ago!</a:t>
            </a:r>
          </a:p>
          <a:p>
            <a:pPr lvl="2"/>
            <a:endParaRPr lang="en-GB" i="1" dirty="0"/>
          </a:p>
          <a:p>
            <a:r>
              <a:rPr lang="en-GB" dirty="0"/>
              <a:t>Boils down to a Multi-party </a:t>
            </a:r>
            <a:r>
              <a:rPr lang="en-GB" b="1" dirty="0"/>
              <a:t>consensus</a:t>
            </a:r>
            <a:r>
              <a:rPr lang="en-GB" dirty="0"/>
              <a:t> system</a:t>
            </a:r>
          </a:p>
          <a:p>
            <a:pPr lvl="1"/>
            <a:r>
              <a:rPr lang="en-GB" dirty="0">
                <a:solidFill>
                  <a:srgbClr val="C00000"/>
                </a:solidFill>
              </a:rPr>
              <a:t>Everyone agrees that Muneeb has transferred PKR 70k to Zain</a:t>
            </a:r>
          </a:p>
          <a:p>
            <a:pPr lvl="1"/>
            <a:r>
              <a:rPr lang="en-GB" dirty="0">
                <a:solidFill>
                  <a:srgbClr val="0432FF"/>
                </a:solidFill>
              </a:rPr>
              <a:t>Or that food at a restaurant now ranks 3.1 out of 5</a:t>
            </a:r>
          </a:p>
          <a:p>
            <a:pPr lvl="1"/>
            <a:r>
              <a:rPr lang="en-GB" b="1" dirty="0"/>
              <a:t>Agreement over a shared set of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4AAC24-9BDC-E6BF-6BBF-CE0C30BE5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507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6DBF5-F118-2FA6-E72E-6055500BC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EDF94-3EE5-E1F9-66CC-789994E74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Consensus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806E1-E499-8D5E-28CF-3072251F2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Recap: Why is consensus needed?</a:t>
            </a:r>
          </a:p>
          <a:p>
            <a:pPr lvl="1"/>
            <a:r>
              <a:rPr lang="en-GB" dirty="0">
                <a:solidFill>
                  <a:srgbClr val="308D3E"/>
                </a:solidFill>
              </a:rPr>
              <a:t>To develop a ledger (single converged view of blockchain)</a:t>
            </a:r>
          </a:p>
          <a:p>
            <a:pPr lvl="1"/>
            <a:endParaRPr lang="en-GB" i="1" dirty="0"/>
          </a:p>
          <a:p>
            <a:r>
              <a:rPr lang="en-GB" dirty="0"/>
              <a:t>First popular consensus option: Proof of work (PoW)</a:t>
            </a:r>
          </a:p>
          <a:p>
            <a:pPr lvl="1"/>
            <a:r>
              <a:rPr lang="en-GB" dirty="0">
                <a:solidFill>
                  <a:srgbClr val="0432FF"/>
                </a:solidFill>
              </a:rPr>
              <a:t>Block creators purchase (and spend) energy to create blocks</a:t>
            </a:r>
          </a:p>
          <a:p>
            <a:pPr lvl="1"/>
            <a:r>
              <a:rPr lang="en-GB" dirty="0">
                <a:solidFill>
                  <a:srgbClr val="0432FF"/>
                </a:solidFill>
              </a:rPr>
              <a:t>In exchange, they get some </a:t>
            </a:r>
            <a:r>
              <a:rPr lang="en-GB" b="1" dirty="0">
                <a:solidFill>
                  <a:srgbClr val="0432FF"/>
                </a:solidFill>
              </a:rPr>
              <a:t>reward</a:t>
            </a:r>
          </a:p>
          <a:p>
            <a:pPr lvl="1"/>
            <a:r>
              <a:rPr lang="en-GB" b="1" i="1" dirty="0">
                <a:solidFill>
                  <a:srgbClr val="0432FF"/>
                </a:solidFill>
              </a:rPr>
              <a:t>Block creators are called miners</a:t>
            </a:r>
          </a:p>
          <a:p>
            <a:pPr lvl="1"/>
            <a:endParaRPr lang="en-GB" b="1" dirty="0">
              <a:solidFill>
                <a:srgbClr val="C00000"/>
              </a:solidFill>
            </a:endParaRPr>
          </a:p>
          <a:p>
            <a:r>
              <a:rPr lang="en-GB" dirty="0"/>
              <a:t>Second popular consensus option: Proof of stake (</a:t>
            </a:r>
            <a:r>
              <a:rPr lang="en-GB" dirty="0" err="1"/>
              <a:t>PoS</a:t>
            </a:r>
            <a:r>
              <a:rPr lang="en-GB" dirty="0"/>
              <a:t>)</a:t>
            </a:r>
          </a:p>
          <a:p>
            <a:pPr lvl="1"/>
            <a:r>
              <a:rPr lang="en-GB" dirty="0">
                <a:solidFill>
                  <a:srgbClr val="C00000"/>
                </a:solidFill>
              </a:rPr>
              <a:t>Block creators purchase (and stake) cryptocurrency</a:t>
            </a:r>
          </a:p>
          <a:p>
            <a:pPr lvl="1"/>
            <a:r>
              <a:rPr lang="en-GB" dirty="0">
                <a:solidFill>
                  <a:srgbClr val="C00000"/>
                </a:solidFill>
              </a:rPr>
              <a:t>In exchange, they get a </a:t>
            </a:r>
            <a:r>
              <a:rPr lang="en-GB" b="1" dirty="0">
                <a:solidFill>
                  <a:srgbClr val="C00000"/>
                </a:solidFill>
              </a:rPr>
              <a:t>fee</a:t>
            </a:r>
          </a:p>
          <a:p>
            <a:pPr lvl="1"/>
            <a:r>
              <a:rPr lang="en-GB" b="1" i="1" dirty="0">
                <a:solidFill>
                  <a:srgbClr val="C00000"/>
                </a:solidFill>
              </a:rPr>
              <a:t>Block creators are called validators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15146A6-9724-E882-3617-C76E14B13F94}"/>
              </a:ext>
            </a:extLst>
          </p:cNvPr>
          <p:cNvSpPr txBox="1">
            <a:spLocks/>
          </p:cNvSpPr>
          <p:nvPr/>
        </p:nvSpPr>
        <p:spPr>
          <a:xfrm>
            <a:off x="9867900" y="2728624"/>
            <a:ext cx="2175087" cy="908497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</a:rPr>
              <a:t>Bitcoin Blockchain</a:t>
            </a:r>
            <a:endParaRPr lang="en-PK" sz="2800" b="1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C51A5E1-145C-8B42-5E3D-0008C35DF0DA}"/>
              </a:ext>
            </a:extLst>
          </p:cNvPr>
          <p:cNvSpPr txBox="1">
            <a:spLocks/>
          </p:cNvSpPr>
          <p:nvPr/>
        </p:nvSpPr>
        <p:spPr>
          <a:xfrm>
            <a:off x="9867900" y="4862383"/>
            <a:ext cx="2175087" cy="908497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</a:rPr>
              <a:t>Ethereum Blockchain</a:t>
            </a:r>
            <a:endParaRPr lang="en-PK" sz="2800" b="1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E8164A-BF8F-5B67-07D6-8E0A721D6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905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6D1F2-830A-A975-A45A-43778E8BF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96C7D-4367-5AF3-C658-28A821234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Validatidy of a blockchain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25B36-B7E2-9129-6127-555BB3A2C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When is a blockchain legit?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When all the blocks are valid</a:t>
            </a:r>
          </a:p>
          <a:p>
            <a:pPr lvl="1"/>
            <a:endParaRPr lang="en-US" dirty="0"/>
          </a:p>
          <a:p>
            <a:r>
              <a:rPr lang="en-US" dirty="0"/>
              <a:t>How do we ensure that a block is valid?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A correct hash of the previous block is present</a:t>
            </a:r>
          </a:p>
          <a:p>
            <a:pPr lvl="1"/>
            <a:r>
              <a:rPr lang="en-US" dirty="0">
                <a:solidFill>
                  <a:srgbClr val="24469D"/>
                </a:solidFill>
              </a:rPr>
              <a:t>Hash of this block meets the criteria (PoW blockchain)</a:t>
            </a:r>
          </a:p>
          <a:p>
            <a:pPr lvl="1"/>
            <a:r>
              <a:rPr lang="en-US" b="1" u="sng" dirty="0">
                <a:solidFill>
                  <a:srgbClr val="009900"/>
                </a:solidFill>
              </a:rPr>
              <a:t>All transactions</a:t>
            </a:r>
            <a:r>
              <a:rPr lang="en-US" dirty="0">
                <a:solidFill>
                  <a:srgbClr val="009900"/>
                </a:solidFill>
              </a:rPr>
              <a:t> in the block are valid</a:t>
            </a:r>
          </a:p>
          <a:p>
            <a:pPr lvl="1"/>
            <a:endParaRPr lang="en-US" dirty="0"/>
          </a:p>
          <a:p>
            <a:r>
              <a:rPr lang="en-US" dirty="0"/>
              <a:t>How do we ensure a transaction is valid?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Cryptocurrency example: Alice gives 0.3 BTC to Bob</a:t>
            </a:r>
          </a:p>
          <a:p>
            <a:pPr lvl="1"/>
            <a:r>
              <a:rPr lang="en-US" dirty="0">
                <a:solidFill>
                  <a:srgbClr val="24469D"/>
                </a:solidFill>
              </a:rPr>
              <a:t>Did Alice have the currency?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Did Alice agree?</a:t>
            </a:r>
          </a:p>
          <a:p>
            <a:pPr lvl="1"/>
            <a:r>
              <a:rPr lang="en-US" dirty="0">
                <a:solidFill>
                  <a:srgbClr val="009900"/>
                </a:solidFill>
              </a:rPr>
              <a:t>How do we indicate that Alice agreed?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330876-1E69-5B79-97F9-1B198859E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35D9477-E2FD-DB58-ECFF-45B42A1B2D25}"/>
              </a:ext>
            </a:extLst>
          </p:cNvPr>
          <p:cNvSpPr txBox="1">
            <a:spLocks/>
          </p:cNvSpPr>
          <p:nvPr/>
        </p:nvSpPr>
        <p:spPr>
          <a:xfrm>
            <a:off x="8367562" y="4981123"/>
            <a:ext cx="3306278" cy="779597"/>
          </a:xfrm>
          <a:prstGeom prst="roundRect">
            <a:avLst/>
          </a:prstGeom>
          <a:solidFill>
            <a:srgbClr val="FFD579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chemeClr val="tx2"/>
                </a:solidFill>
              </a:rPr>
              <a:t>We will answer these questions soon!</a:t>
            </a:r>
          </a:p>
        </p:txBody>
      </p:sp>
    </p:spTree>
    <p:extLst>
      <p:ext uri="{BB962C8B-B14F-4D97-AF65-F5344CB8AC3E}">
        <p14:creationId xmlns:p14="http://schemas.microsoft.com/office/powerpoint/2010/main" val="1639102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D5304-E526-E8C9-0480-5BF9F84259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K" dirty="0"/>
              <a:t>Process: Blockchain Formation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DAFE9E-5D21-A851-A582-0CB05D5F6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1183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1617D-45CF-B0BE-E6A8-EB04F3C2D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E70E3-BC05-A9BB-0ABE-B35FFC953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Centralized Database vs Distributed Ledger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DDBDA2-529C-1367-DB5D-A45882F6B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5" name="Content Placeholder 5" descr="Chart&#10;&#10;Description automatically generated">
            <a:extLst>
              <a:ext uri="{FF2B5EF4-FFF2-40B4-BE49-F238E27FC236}">
                <a16:creationId xmlns:a16="http://schemas.microsoft.com/office/drawing/2014/main" id="{BADEEF84-224E-A8D4-FD5A-C4571590F2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9854" y="1780368"/>
            <a:ext cx="7886700" cy="41053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5F87ED2-FEC2-5EDD-A706-FC3616DFA6B2}"/>
              </a:ext>
            </a:extLst>
          </p:cNvPr>
          <p:cNvSpPr/>
          <p:nvPr/>
        </p:nvSpPr>
        <p:spPr>
          <a:xfrm>
            <a:off x="2544470" y="3854901"/>
            <a:ext cx="7713684" cy="739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>
              <a:solidFill>
                <a:schemeClr val="accent2">
                  <a:lumMod val="75000"/>
                </a:schemeClr>
              </a:solidFill>
              <a:highlight>
                <a:srgbClr val="00FF00"/>
              </a:highligh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A36F4F-A22E-F75C-00A2-B612312BBD09}"/>
              </a:ext>
            </a:extLst>
          </p:cNvPr>
          <p:cNvSpPr/>
          <p:nvPr/>
        </p:nvSpPr>
        <p:spPr>
          <a:xfrm>
            <a:off x="2544470" y="4533407"/>
            <a:ext cx="7713684" cy="739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>
              <a:solidFill>
                <a:schemeClr val="accent2">
                  <a:lumMod val="75000"/>
                </a:schemeClr>
              </a:solidFill>
              <a:highlight>
                <a:srgbClr val="00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E3E2F0-46F4-AA17-66A2-5E1A0F10C9F5}"/>
              </a:ext>
            </a:extLst>
          </p:cNvPr>
          <p:cNvSpPr txBox="1"/>
          <p:nvPr/>
        </p:nvSpPr>
        <p:spPr>
          <a:xfrm>
            <a:off x="1055946" y="5482632"/>
            <a:ext cx="1172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Legend:</a:t>
            </a:r>
            <a:endParaRPr lang="en-PK" sz="2400" b="1" dirty="0"/>
          </a:p>
        </p:txBody>
      </p:sp>
    </p:spTree>
    <p:extLst>
      <p:ext uri="{BB962C8B-B14F-4D97-AF65-F5344CB8AC3E}">
        <p14:creationId xmlns:p14="http://schemas.microsoft.com/office/powerpoint/2010/main" val="1966515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BB3B5-081B-C8A2-B2BC-96866DC61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101601"/>
            <a:ext cx="11104880" cy="985519"/>
          </a:xfrm>
        </p:spPr>
        <p:txBody>
          <a:bodyPr anchor="ctr">
            <a:normAutofit/>
          </a:bodyPr>
          <a:lstStyle/>
          <a:p>
            <a:r>
              <a:rPr lang="en-PK" dirty="0"/>
              <a:t>DLT: An Accurate Description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EA3C5FB-3069-55F4-B817-B344A5B998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Consider four entities/nodes distributed in the network</a:t>
            </a:r>
          </a:p>
          <a:p>
            <a:r>
              <a:rPr lang="en-US" dirty="0">
                <a:solidFill>
                  <a:srgbClr val="0432FF"/>
                </a:solidFill>
              </a:rPr>
              <a:t>Transaction data is </a:t>
            </a:r>
            <a:r>
              <a:rPr lang="en-US" b="1" u="sng" dirty="0">
                <a:solidFill>
                  <a:srgbClr val="0432FF"/>
                </a:solidFill>
              </a:rPr>
              <a:t>generated</a:t>
            </a:r>
            <a:r>
              <a:rPr lang="en-US" dirty="0">
                <a:solidFill>
                  <a:srgbClr val="0432FF"/>
                </a:solidFill>
              </a:rPr>
              <a:t> by these nodes (</a:t>
            </a:r>
            <a:r>
              <a:rPr lang="en-US" dirty="0">
                <a:solidFill>
                  <a:srgbClr val="0432FF"/>
                </a:solidFill>
                <a:highlight>
                  <a:srgbClr val="FFFF00"/>
                </a:highlight>
              </a:rPr>
              <a:t>and </a:t>
            </a:r>
            <a:r>
              <a:rPr lang="en-US" b="1" u="sng" dirty="0">
                <a:solidFill>
                  <a:srgbClr val="0432FF"/>
                </a:solidFill>
                <a:highlight>
                  <a:srgbClr val="FFFF00"/>
                </a:highlight>
              </a:rPr>
              <a:t>shared</a:t>
            </a:r>
            <a:r>
              <a:rPr lang="en-US" dirty="0">
                <a:solidFill>
                  <a:srgbClr val="0432FF"/>
                </a:solidFill>
              </a:rPr>
              <a:t>)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Each node builds a </a:t>
            </a:r>
            <a:r>
              <a:rPr lang="en-US" b="1" dirty="0">
                <a:solidFill>
                  <a:srgbClr val="C00000"/>
                </a:solidFill>
              </a:rPr>
              <a:t>journal</a:t>
            </a:r>
          </a:p>
          <a:p>
            <a:pPr lvl="1"/>
            <a:r>
              <a:rPr lang="en-US" dirty="0">
                <a:solidFill>
                  <a:srgbClr val="308D3E"/>
                </a:solidFill>
              </a:rPr>
              <a:t>its own version of the database</a:t>
            </a:r>
          </a:p>
          <a:p>
            <a:pPr lvl="1"/>
            <a:r>
              <a:rPr lang="en-US" dirty="0"/>
              <a:t>For this example: 4 journals</a:t>
            </a:r>
          </a:p>
          <a:p>
            <a:pPr lvl="1"/>
            <a:r>
              <a:rPr lang="en-US" dirty="0">
                <a:solidFill>
                  <a:srgbClr val="0432FF"/>
                </a:solidFill>
              </a:rPr>
              <a:t>Journals could be </a:t>
            </a:r>
            <a:r>
              <a:rPr lang="en-US" b="1" i="1" dirty="0">
                <a:solidFill>
                  <a:srgbClr val="0432FF"/>
                </a:solidFill>
              </a:rPr>
              <a:t>different; </a:t>
            </a:r>
            <a:r>
              <a:rPr lang="en-US" dirty="0">
                <a:solidFill>
                  <a:srgbClr val="0432FF"/>
                </a:solidFill>
              </a:rPr>
              <a:t>why?</a:t>
            </a:r>
          </a:p>
        </p:txBody>
      </p:sp>
      <p:pic>
        <p:nvPicPr>
          <p:cNvPr id="4" name="Picture 3" descr="Radar chart&#10;&#10;Description automatically generated with low confidence">
            <a:extLst>
              <a:ext uri="{FF2B5EF4-FFF2-40B4-BE49-F238E27FC236}">
                <a16:creationId xmlns:a16="http://schemas.microsoft.com/office/drawing/2014/main" id="{C64272C2-E762-D6A5-66C0-D7EF0B7537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63" r="11256"/>
          <a:stretch>
            <a:fillRect/>
          </a:stretch>
        </p:blipFill>
        <p:spPr>
          <a:xfrm>
            <a:off x="6172199" y="1551380"/>
            <a:ext cx="5508173" cy="4625583"/>
          </a:xfrm>
          <a:prstGeom prst="rect">
            <a:avLst/>
          </a:pr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6522E6-E40E-4EF8-763F-6DD8CAF19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20104" y="6578930"/>
            <a:ext cx="1060269" cy="27907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D57F1E4F-1CFF-5643-939E-217C01CDF565}" type="slidenum">
              <a:rPr lang="en-US" sz="1300" smtClean="0"/>
              <a:pPr>
                <a:lnSpc>
                  <a:spcPct val="90000"/>
                </a:lnSpc>
                <a:spcAft>
                  <a:spcPts val="600"/>
                </a:spcAft>
              </a:pPr>
              <a:t>23</a:t>
            </a:fld>
            <a:endParaRPr lang="en-US" sz="130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CE5646E-7797-6016-5D1C-C2EB64606EA9}"/>
              </a:ext>
            </a:extLst>
          </p:cNvPr>
          <p:cNvSpPr txBox="1">
            <a:spLocks/>
          </p:cNvSpPr>
          <p:nvPr/>
        </p:nvSpPr>
        <p:spPr>
          <a:xfrm>
            <a:off x="1413968" y="5397366"/>
            <a:ext cx="4030063" cy="779597"/>
          </a:xfrm>
          <a:prstGeom prst="roundRect">
            <a:avLst/>
          </a:prstGeom>
          <a:solidFill>
            <a:srgbClr val="FFD579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chemeClr val="tx2"/>
                </a:solidFill>
              </a:rPr>
              <a:t>The blockchain is the unified view of individual journals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87521E-2B9B-0B9A-9977-54D04682F865}"/>
              </a:ext>
            </a:extLst>
          </p:cNvPr>
          <p:cNvSpPr/>
          <p:nvPr/>
        </p:nvSpPr>
        <p:spPr>
          <a:xfrm>
            <a:off x="6019800" y="3306523"/>
            <a:ext cx="726705" cy="8104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C5B9C1-0E46-C194-5F31-BE42156070B1}"/>
              </a:ext>
            </a:extLst>
          </p:cNvPr>
          <p:cNvSpPr/>
          <p:nvPr/>
        </p:nvSpPr>
        <p:spPr>
          <a:xfrm>
            <a:off x="11127148" y="3361943"/>
            <a:ext cx="726705" cy="8104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8BD97C-5576-9EAF-5BE9-A13B86C2B9CE}"/>
              </a:ext>
            </a:extLst>
          </p:cNvPr>
          <p:cNvSpPr/>
          <p:nvPr/>
        </p:nvSpPr>
        <p:spPr>
          <a:xfrm>
            <a:off x="8716817" y="4901374"/>
            <a:ext cx="726705" cy="8104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A2BB32-0F96-05CD-8883-3ECF4BF8C296}"/>
              </a:ext>
            </a:extLst>
          </p:cNvPr>
          <p:cNvSpPr/>
          <p:nvPr/>
        </p:nvSpPr>
        <p:spPr>
          <a:xfrm>
            <a:off x="8562932" y="1927669"/>
            <a:ext cx="726705" cy="8104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CA70D6-AE7E-0402-F3FC-C89C43FAD8EF}"/>
              </a:ext>
            </a:extLst>
          </p:cNvPr>
          <p:cNvSpPr/>
          <p:nvPr/>
        </p:nvSpPr>
        <p:spPr>
          <a:xfrm>
            <a:off x="7004213" y="2036619"/>
            <a:ext cx="1197678" cy="9997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FB8984-6519-2F30-19E6-F37CEF0A8850}"/>
              </a:ext>
            </a:extLst>
          </p:cNvPr>
          <p:cNvSpPr/>
          <p:nvPr/>
        </p:nvSpPr>
        <p:spPr>
          <a:xfrm>
            <a:off x="9650678" y="2036619"/>
            <a:ext cx="1197678" cy="9997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754E57-7A62-8091-E28C-C8208E5E3A39}"/>
              </a:ext>
            </a:extLst>
          </p:cNvPr>
          <p:cNvSpPr/>
          <p:nvPr/>
        </p:nvSpPr>
        <p:spPr>
          <a:xfrm>
            <a:off x="9650678" y="4443115"/>
            <a:ext cx="1197678" cy="9997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5112D7-70CD-AEF9-0011-AFDC119CB208}"/>
              </a:ext>
            </a:extLst>
          </p:cNvPr>
          <p:cNvSpPr/>
          <p:nvPr/>
        </p:nvSpPr>
        <p:spPr>
          <a:xfrm>
            <a:off x="7004213" y="4443115"/>
            <a:ext cx="1197678" cy="9997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C01D66-2841-98D3-9E65-EFB2FF4572E8}"/>
              </a:ext>
            </a:extLst>
          </p:cNvPr>
          <p:cNvSpPr/>
          <p:nvPr/>
        </p:nvSpPr>
        <p:spPr>
          <a:xfrm>
            <a:off x="8807858" y="5849869"/>
            <a:ext cx="2545941" cy="5364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7F6A0E-795A-35F3-F4DD-9F3C5D936C6A}"/>
              </a:ext>
            </a:extLst>
          </p:cNvPr>
          <p:cNvSpPr/>
          <p:nvPr/>
        </p:nvSpPr>
        <p:spPr>
          <a:xfrm>
            <a:off x="7542670" y="1164161"/>
            <a:ext cx="2737796" cy="4044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47A246-7F1C-5DED-DC32-039D94743399}"/>
              </a:ext>
            </a:extLst>
          </p:cNvPr>
          <p:cNvSpPr/>
          <p:nvPr/>
        </p:nvSpPr>
        <p:spPr>
          <a:xfrm>
            <a:off x="6114661" y="5894611"/>
            <a:ext cx="2602156" cy="404484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BB8538-BB7E-6CE1-ECF3-5B671D8EF2D9}"/>
              </a:ext>
            </a:extLst>
          </p:cNvPr>
          <p:cNvSpPr/>
          <p:nvPr/>
        </p:nvSpPr>
        <p:spPr>
          <a:xfrm>
            <a:off x="9063264" y="5894611"/>
            <a:ext cx="2602156" cy="404484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56733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839CC-AB04-9891-6C41-15DF09F9A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0DB75-EE40-8662-740F-7242036F4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101601"/>
            <a:ext cx="11104880" cy="985519"/>
          </a:xfrm>
        </p:spPr>
        <p:txBody>
          <a:bodyPr anchor="ctr">
            <a:normAutofit/>
          </a:bodyPr>
          <a:lstStyle/>
          <a:p>
            <a:r>
              <a:rPr lang="en-PK" dirty="0"/>
              <a:t>DLT: An Accurate Description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F994142-708A-EEAB-E40C-9E843EF296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PK" b="1" dirty="0">
                <a:solidFill>
                  <a:srgbClr val="C00000"/>
                </a:solidFill>
              </a:rPr>
              <a:t>GOAL:</a:t>
            </a:r>
            <a:r>
              <a:rPr lang="en-PK" dirty="0">
                <a:solidFill>
                  <a:srgbClr val="C00000"/>
                </a:solidFill>
              </a:rPr>
              <a:t> </a:t>
            </a:r>
            <a:r>
              <a:rPr lang="en-GB" dirty="0"/>
              <a:t>D</a:t>
            </a:r>
            <a:r>
              <a:rPr lang="en-PK" dirty="0"/>
              <a:t>ifferent journals are in sync </a:t>
            </a:r>
            <a:r>
              <a:rPr lang="en-PK" b="1" i="1" dirty="0"/>
              <a:t>most</a:t>
            </a:r>
            <a:r>
              <a:rPr lang="en-PK" dirty="0"/>
              <a:t> of the time</a:t>
            </a:r>
          </a:p>
          <a:p>
            <a:pPr lvl="1"/>
            <a:r>
              <a:rPr lang="en-PK" dirty="0">
                <a:solidFill>
                  <a:srgbClr val="308D3E"/>
                </a:solidFill>
              </a:rPr>
              <a:t>Offer a </a:t>
            </a:r>
            <a:r>
              <a:rPr lang="en-PK" b="1" dirty="0">
                <a:solidFill>
                  <a:srgbClr val="308D3E"/>
                </a:solidFill>
              </a:rPr>
              <a:t>shared view</a:t>
            </a:r>
            <a:endParaRPr lang="en-PK" b="1" dirty="0"/>
          </a:p>
          <a:p>
            <a:r>
              <a:rPr lang="en-PK" dirty="0">
                <a:solidFill>
                  <a:srgbClr val="7030A0"/>
                </a:solidFill>
              </a:rPr>
              <a:t>Sync effort must be without a central party</a:t>
            </a:r>
          </a:p>
          <a:p>
            <a:r>
              <a:rPr lang="en-PK" dirty="0">
                <a:solidFill>
                  <a:srgbClr val="C00000"/>
                </a:solidFill>
              </a:rPr>
              <a:t>What is the </a:t>
            </a:r>
            <a:r>
              <a:rPr lang="en-PK" b="1" dirty="0">
                <a:solidFill>
                  <a:srgbClr val="C00000"/>
                </a:solidFill>
              </a:rPr>
              <a:t>LEDGER</a:t>
            </a:r>
            <a:r>
              <a:rPr lang="en-PK" dirty="0">
                <a:solidFill>
                  <a:srgbClr val="C00000"/>
                </a:solidFill>
              </a:rPr>
              <a:t>?</a:t>
            </a:r>
          </a:p>
          <a:p>
            <a:pPr lvl="1"/>
            <a:r>
              <a:rPr lang="en-PK" dirty="0"/>
              <a:t>Not the database</a:t>
            </a:r>
          </a:p>
          <a:p>
            <a:pPr lvl="1"/>
            <a:r>
              <a:rPr lang="en-PK" dirty="0"/>
              <a:t>Mechanism of syncing different journals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0E0D7B-8BC3-FD8A-10AB-0BCD05CC2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20104" y="6578930"/>
            <a:ext cx="1060269" cy="27907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D57F1E4F-1CFF-5643-939E-217C01CDF565}" type="slidenum">
              <a:rPr lang="en-US" sz="1300" smtClean="0"/>
              <a:pPr>
                <a:lnSpc>
                  <a:spcPct val="90000"/>
                </a:lnSpc>
                <a:spcAft>
                  <a:spcPts val="600"/>
                </a:spcAft>
              </a:pPr>
              <a:t>24</a:t>
            </a:fld>
            <a:endParaRPr lang="en-US" sz="1300"/>
          </a:p>
        </p:txBody>
      </p:sp>
      <p:pic>
        <p:nvPicPr>
          <p:cNvPr id="5" name="Picture 4" descr="Radar chart&#10;&#10;Description automatically generated with low confidence">
            <a:extLst>
              <a:ext uri="{FF2B5EF4-FFF2-40B4-BE49-F238E27FC236}">
                <a16:creationId xmlns:a16="http://schemas.microsoft.com/office/drawing/2014/main" id="{29AB4EB0-E367-4995-A666-F196A884C8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203" y="2788042"/>
            <a:ext cx="5511974" cy="3703062"/>
          </a:xfrm>
          <a:prstGeom prst="rect">
            <a:avLst/>
          </a:prstGeom>
        </p:spPr>
      </p:pic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0FF60DBC-7356-FFE5-408E-6C342ACA31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2130" y="1087120"/>
            <a:ext cx="2476119" cy="170092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700047-ECE4-9B7F-04F6-14EEE1D55B67}"/>
              </a:ext>
            </a:extLst>
          </p:cNvPr>
          <p:cNvSpPr/>
          <p:nvPr/>
        </p:nvSpPr>
        <p:spPr>
          <a:xfrm>
            <a:off x="7882308" y="999293"/>
            <a:ext cx="2737796" cy="17887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56454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3A067-66B5-AB06-B393-4E0E5D9B4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Syncing: Building consensus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FD836-0A87-B28D-17B4-EFA1A4FF9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of journals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Individual views of shared data</a:t>
            </a:r>
          </a:p>
          <a:p>
            <a:r>
              <a:rPr lang="en-US" dirty="0"/>
              <a:t>Convergence to a single shared view</a:t>
            </a:r>
          </a:p>
          <a:p>
            <a:pPr lvl="1"/>
            <a:r>
              <a:rPr lang="en-US" dirty="0">
                <a:solidFill>
                  <a:srgbClr val="0432FF"/>
                </a:solidFill>
              </a:rPr>
              <a:t>That everyone agrees with – </a:t>
            </a:r>
            <a:r>
              <a:rPr lang="en-US" b="1" dirty="0">
                <a:solidFill>
                  <a:srgbClr val="0432FF"/>
                </a:solidFill>
                <a:highlight>
                  <a:srgbClr val="FFFF00"/>
                </a:highlight>
              </a:rPr>
              <a:t>The distributed ledger</a:t>
            </a:r>
          </a:p>
          <a:p>
            <a:r>
              <a:rPr lang="en-US" dirty="0"/>
              <a:t>A ledger isn’t quite a tangible thing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Just emerges from the efforts of synchronizing individual journals</a:t>
            </a:r>
          </a:p>
          <a:p>
            <a:pPr lvl="1"/>
            <a:endParaRPr lang="en-US" dirty="0"/>
          </a:p>
          <a:p>
            <a:r>
              <a:rPr lang="en-US" dirty="0"/>
              <a:t>Distributed consensus (Syncing): </a:t>
            </a:r>
            <a:r>
              <a:rPr lang="en-US" b="1" dirty="0">
                <a:solidFill>
                  <a:srgbClr val="7030A0"/>
                </a:solidFill>
              </a:rPr>
              <a:t>How does that work?</a:t>
            </a:r>
          </a:p>
          <a:p>
            <a:pPr lvl="1"/>
            <a:r>
              <a:rPr lang="en-US" b="1" dirty="0">
                <a:solidFill>
                  <a:srgbClr val="308D3E"/>
                </a:solidFill>
              </a:rPr>
              <a:t>Five-step</a:t>
            </a:r>
            <a:r>
              <a:rPr lang="en-US" dirty="0">
                <a:solidFill>
                  <a:srgbClr val="308D3E"/>
                </a:solidFill>
              </a:rPr>
              <a:t> process, but before that:</a:t>
            </a:r>
          </a:p>
          <a:p>
            <a:pPr lvl="1"/>
            <a:r>
              <a:rPr lang="en-US" dirty="0">
                <a:solidFill>
                  <a:srgbClr val="308D3E"/>
                </a:solidFill>
              </a:rPr>
              <a:t>Building distributed consensus is </a:t>
            </a:r>
            <a:r>
              <a:rPr lang="en-US" dirty="0">
                <a:solidFill>
                  <a:srgbClr val="C00000"/>
                </a:solidFill>
              </a:rPr>
              <a:t>HARD</a:t>
            </a:r>
            <a:r>
              <a:rPr lang="en-US" dirty="0">
                <a:solidFill>
                  <a:srgbClr val="308D3E"/>
                </a:solidFill>
              </a:rPr>
              <a:t>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E189E1-4BB5-DAD3-74DA-34B0046B4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731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58036</TotalTime>
  <Words>2007</Words>
  <Application>Microsoft Office PowerPoint</Application>
  <PresentationFormat>Widescreen</PresentationFormat>
  <Paragraphs>385</Paragraphs>
  <Slides>25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Candara</vt:lpstr>
      <vt:lpstr>System Font Regular</vt:lpstr>
      <vt:lpstr>Wingdings</vt:lpstr>
      <vt:lpstr>Office Theme</vt:lpstr>
      <vt:lpstr>Introduction to Blockchain  CSE-355</vt:lpstr>
      <vt:lpstr>Lecture 01 Tuesday, Jan 20, 2026</vt:lpstr>
      <vt:lpstr>Bitcoin Statistics: Jan 22, 2026</vt:lpstr>
      <vt:lpstr>The Cryptocurrency Avalanche</vt:lpstr>
      <vt:lpstr>What is a Blockchain?</vt:lpstr>
      <vt:lpstr>About this course</vt:lpstr>
      <vt:lpstr>Motivation for creating Blockchain</vt:lpstr>
      <vt:lpstr>What is Blockchain?</vt:lpstr>
      <vt:lpstr>Why is it called a Blockchain?</vt:lpstr>
      <vt:lpstr>Cryptographic Hashing</vt:lpstr>
      <vt:lpstr>Chaining Blocks using Hashes</vt:lpstr>
      <vt:lpstr>Hashes in a Practical Blockchain</vt:lpstr>
      <vt:lpstr>Lecture 02 Thursday, Jan 22, 2025</vt:lpstr>
      <vt:lpstr>Recap: Transactions, Blocks, Hashes</vt:lpstr>
      <vt:lpstr>What does Blockchain bring to the table?</vt:lpstr>
      <vt:lpstr>Securing + Chaining of Blocks</vt:lpstr>
      <vt:lpstr>Security and Efficiency in blockchain</vt:lpstr>
      <vt:lpstr>When to use a Blockchain?</vt:lpstr>
      <vt:lpstr>Consensus Options</vt:lpstr>
      <vt:lpstr>Validatidy of a blockchain</vt:lpstr>
      <vt:lpstr>Process: Blockchain Formation</vt:lpstr>
      <vt:lpstr>Centralized Database vs Distributed Ledger</vt:lpstr>
      <vt:lpstr>DLT: An Accurate Description</vt:lpstr>
      <vt:lpstr>DLT: An Accurate Description</vt:lpstr>
      <vt:lpstr>Syncing: Building consensus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</dc:title>
  <dc:creator>Ihsan Ayyub Qazi</dc:creator>
  <cp:lastModifiedBy>Ahmed Akhtar</cp:lastModifiedBy>
  <cp:revision>959</cp:revision>
  <dcterms:created xsi:type="dcterms:W3CDTF">2022-06-22T11:04:43Z</dcterms:created>
  <dcterms:modified xsi:type="dcterms:W3CDTF">2026-01-22T09:11:07Z</dcterms:modified>
</cp:coreProperties>
</file>