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6"/>
  </p:notesMasterIdLst>
  <p:handoutMasterIdLst>
    <p:handoutMasterId r:id="rId27"/>
  </p:handoutMasterIdLst>
  <p:sldIdLst>
    <p:sldId id="1585" r:id="rId3"/>
    <p:sldId id="1876" r:id="rId4"/>
    <p:sldId id="256" r:id="rId5"/>
    <p:sldId id="428" r:id="rId6"/>
    <p:sldId id="455" r:id="rId7"/>
    <p:sldId id="444" r:id="rId8"/>
    <p:sldId id="446" r:id="rId9"/>
    <p:sldId id="448" r:id="rId10"/>
    <p:sldId id="429" r:id="rId11"/>
    <p:sldId id="449" r:id="rId12"/>
    <p:sldId id="432" r:id="rId13"/>
    <p:sldId id="452" r:id="rId14"/>
    <p:sldId id="433" r:id="rId15"/>
    <p:sldId id="456" r:id="rId16"/>
    <p:sldId id="1877" r:id="rId17"/>
    <p:sldId id="458" r:id="rId18"/>
    <p:sldId id="459" r:id="rId19"/>
    <p:sldId id="460" r:id="rId20"/>
    <p:sldId id="457" r:id="rId21"/>
    <p:sldId id="453" r:id="rId22"/>
    <p:sldId id="454" r:id="rId23"/>
    <p:sldId id="436" r:id="rId24"/>
    <p:sldId id="450" r:id="rId25"/>
  </p:sldIdLst>
  <p:sldSz cx="12192000" cy="6858000"/>
  <p:notesSz cx="6797675" cy="9856788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7ED8"/>
    <a:srgbClr val="82B2DE"/>
    <a:srgbClr val="5D9CD5"/>
    <a:srgbClr val="CDDAEF"/>
    <a:srgbClr val="DC000A"/>
    <a:srgbClr val="005014"/>
    <a:srgbClr val="146414"/>
    <a:srgbClr val="009655"/>
    <a:srgbClr val="009632"/>
    <a:srgbClr val="009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5465" autoAdjust="0"/>
  </p:normalViewPr>
  <p:slideViewPr>
    <p:cSldViewPr snapToGrid="0">
      <p:cViewPr varScale="1">
        <p:scale>
          <a:sx n="68" d="100"/>
          <a:sy n="68" d="100"/>
        </p:scale>
        <p:origin x="1421" y="38"/>
      </p:cViewPr>
      <p:guideLst/>
    </p:cSldViewPr>
  </p:slideViewPr>
  <p:outlineViewPr>
    <p:cViewPr>
      <p:scale>
        <a:sx n="33" d="100"/>
        <a:sy n="33" d="100"/>
      </p:scale>
      <p:origin x="0" y="-90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7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khtar" userId="24df8cbf-c4bb-4b0f-990a-c34b46f32809" providerId="ADAL" clId="{7B603757-AF4F-447D-9CF3-5B3B3781D1BD}"/>
    <pc:docChg chg="custSel addSld modSld sldOrd modMainMaster">
      <pc:chgData name="Ahmed Akhtar" userId="24df8cbf-c4bb-4b0f-990a-c34b46f32809" providerId="ADAL" clId="{7B603757-AF4F-447D-9CF3-5B3B3781D1BD}" dt="2026-04-23T06:47:31.432" v="32" actId="20577"/>
      <pc:docMkLst>
        <pc:docMk/>
      </pc:docMkLst>
      <pc:sldChg chg="modSp add mod ord">
        <pc:chgData name="Ahmed Akhtar" userId="24df8cbf-c4bb-4b0f-990a-c34b46f32809" providerId="ADAL" clId="{7B603757-AF4F-447D-9CF3-5B3B3781D1BD}" dt="2026-04-23T06:47:31.432" v="32" actId="20577"/>
        <pc:sldMkLst>
          <pc:docMk/>
          <pc:sldMk cId="9541773" sldId="1877"/>
        </pc:sldMkLst>
        <pc:spChg chg="mod">
          <ac:chgData name="Ahmed Akhtar" userId="24df8cbf-c4bb-4b0f-990a-c34b46f32809" providerId="ADAL" clId="{7B603757-AF4F-447D-9CF3-5B3B3781D1BD}" dt="2026-04-23T06:47:31.432" v="32" actId="20577"/>
          <ac:spMkLst>
            <pc:docMk/>
            <pc:sldMk cId="9541773" sldId="1877"/>
            <ac:spMk id="2" creationId="{3DFCE37A-A21C-5447-CBE2-A639C9D55D3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2F39BC-A736-4615-99A3-17F414793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AF0EA-5F10-4F4A-805D-086AA49C17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916F6-075E-4719-999D-FE0E3DAE50E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64E48-EFD1-4EF3-B14B-9375B3E98E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63075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1AFA8-F243-4334-97EA-A5A459F849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363075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36A51-0896-4593-B542-D09F23272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6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4552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4552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7D1664D1-8CFB-4748-8652-F6CDCD1A39DD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1325" y="1231900"/>
            <a:ext cx="5915025" cy="3327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43579"/>
            <a:ext cx="5438140" cy="3881110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4551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4551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85412D0C-2374-4405-A38C-518845727A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11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9441-6582-E7F9-4722-23CA10EF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AECBD-37BA-320F-0498-2FBDDF25A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40E71-C87A-0B56-00D5-27F7BEAA3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46C2-ED0D-D3F0-737B-029916080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323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50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695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98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956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246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491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7"/>
            <a:ext cx="10515600" cy="4827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1579" y="6294440"/>
            <a:ext cx="1313507" cy="365125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258018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160496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314702"/>
            <a:ext cx="10515600" cy="27749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5605" y="6310018"/>
            <a:ext cx="2444436" cy="266348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150147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15605" y="6334734"/>
            <a:ext cx="2444436" cy="266348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423752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91438" tIns="45719" rIns="91438" bIns="45719"/>
          <a:lstStyle/>
          <a:p>
            <a:endParaRPr lang="aa-E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15605" y="6384158"/>
            <a:ext cx="2444436" cy="266348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16111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15605" y="6293543"/>
            <a:ext cx="2444436" cy="266348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37001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/>
        </p:nvSpPr>
        <p:spPr>
          <a:xfrm>
            <a:off x="9235257" y="6254800"/>
            <a:ext cx="2743200" cy="266347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E8B7B-3258-47CD-BBC0-34D05FC906E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550" y="6581870"/>
            <a:ext cx="8872397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 lang="aa-E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119874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91438" tIns="45719" rIns="91438" bIns="45719"/>
          <a:lstStyle/>
          <a:p>
            <a:endParaRPr lang="aa-ET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392396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41485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375921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14770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91438" tIns="45719" rIns="91438" bIns="45719"/>
          <a:lstStyle/>
          <a:p>
            <a:endParaRPr lang="aa-ET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581870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0215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91438" tIns="45719" rIns="91438" bIns="45719"/>
          <a:lstStyle/>
          <a:p>
            <a:endParaRPr lang="aa-ET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581870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8033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7858-D394-1DF3-8548-66CE5528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452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432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C1A2-C823-594D-0305-E762FC21A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1840"/>
            <a:ext cx="9144000" cy="15849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DBC-FC3A-F6AB-47B4-2E47609F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9243-4112-7B47-A574-2D273E35D5B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D5FA-CF77-D285-681E-29E6811E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01942-960C-299C-A498-C3ED2A47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38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BD9A-E09E-27C0-F440-9D83036C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101601"/>
            <a:ext cx="11186160" cy="98551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17A4-8BBD-54EB-8341-6A6B0991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097280"/>
            <a:ext cx="11186160" cy="5079683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System Font Regular"/>
              <a:buChar char="−"/>
              <a:defRPr sz="2800"/>
            </a:lvl2pPr>
            <a:lvl3pPr marL="1143000" indent="-228600">
              <a:buFont typeface="Wingdings" pitchFamily="2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48C2E2-1287-A287-C5A8-24913934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C187-CAD7-6048-8C63-99BBB8908136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DC7CB26-524D-696E-CC83-507688F1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E6A54D-DC81-738E-1BEE-B237D69C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864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4648-4538-750C-7EE1-223668D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0F2E1-ECAA-4DD2-425F-64F40CAD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63A2-C90D-F927-6660-D043609C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EF2E6-6629-DA43-81BC-EC712F4B5466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E049-0473-B4C2-1291-C73354AD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1B0E-4E34-EAD8-A1D1-57CBD5CE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098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6983-ACF4-D2FF-550D-7521D9C1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760F6-F485-781B-D79F-C026B432F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9B31-1608-966B-6FF9-D180F6BA7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E9F2A-B43F-F0D4-3F76-27FB4DE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4FDE-C188-ED4A-8904-90C7377CA55E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907C-697C-ED08-3F75-E31B2EE3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1F3D-78B2-4FF0-F5DB-76EFAA2F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07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B2D-0C64-FBAF-5593-D97CF80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EA66-FAC3-3698-6220-1A94F8A4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302E-0245-F0D0-D052-B1D8D82B2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A6952-B46D-38B4-F728-B77FC9960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0A727-B6BA-1E0C-A4A4-CEAA10F30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7075C-8C1E-2AE7-1628-AE106A293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59A2-FD1F-D047-9B71-2099CD96FB0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270EF-DDC8-5339-C583-77D74079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C3B1F-1426-32FD-9474-94C0B223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46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32E3-B42B-8881-ECBD-DD87B083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CC8C1-CDF5-4584-D4F9-21C17A75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21AD-14B7-AB4F-B42E-6335F98BEAF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8A07-7922-BC79-0A35-EFFA1991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3C74-5D1C-ADB6-FF80-7000D003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8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375D4-3AF6-A58E-051F-58D7D123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A72A-0C74-6E44-A7EE-CA74955F1256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B3ECF-6748-2655-F77F-E8CA4016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60ABE-8C6A-9352-A215-6EBF86F8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802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5DAC-4002-01D9-6457-D37C5DF9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BE91-7D8E-3944-5569-40E8D6B7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325B0-27F2-9710-58F6-0C07626C2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CBABE-1AE7-D70C-7708-85020C73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005-574F-D344-BCB1-9D2AB269A3EC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73628-77BC-4A24-08E2-D57F3D53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F63F-7883-63AF-C6F9-B3BC8A2E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16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EB26-001F-167A-6BA0-DCD22D59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CA67E-ABF8-043E-F669-25D35A32A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ED5B5-8357-7928-0AFB-A855388E3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18A2-5986-F9BA-EC13-3460B7AB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EC7F-129E-B04A-94CE-A0E8D5F704B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7585-1E53-29E6-E14C-D4E5C685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9FB97-D9C9-FC78-3D39-E81B1517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54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7194-44EF-7006-9E4C-D94DF839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5E83A-839B-9260-0A21-8B997EE5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D60F5-F487-9F40-578A-E36732D3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C171-6AFE-CA49-AAE9-DDDD51BDA4CC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94D0E-FEF0-3CE4-88E0-9B5CC134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42E7-F5E7-2271-1D3F-3BB0DA5F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336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BDCBF-90E9-B6D4-B1BD-BB6439AE4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AB2C1-4897-983B-2FB9-BD11C271D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2C104-D518-1AB2-0F63-977F49D6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C7AE-E3C9-5846-8CAD-0E757E344CB1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A4A2-8093-06BB-B2C2-65BC1329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8E6A-87A5-42E0-E66E-73CA8E98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465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4879" y="143137"/>
            <a:ext cx="11272129" cy="942352"/>
          </a:xfrm>
          <a:prstGeom prst="rect">
            <a:avLst/>
          </a:prstGeom>
        </p:spPr>
        <p:txBody>
          <a:bodyPr/>
          <a:lstStyle/>
          <a:p>
            <a:r>
              <a:rPr dirty="0"/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xfrm>
            <a:off x="468168" y="1161288"/>
            <a:ext cx="11198603" cy="53439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System Font Regular"/>
              <a:buChar char="−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A413C1A-A16E-3242-A2B3-521C11C1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544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6B42B1-ACC7-BB4A-9D3D-E79A92B76714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AA7152-9480-AC46-B8CB-94D0C226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5446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4133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2332"/>
            <a:ext cx="10515600" cy="914067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73392"/>
            <a:ext cx="10515600" cy="512740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581870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sp>
        <p:nvSpPr>
          <p:cNvPr id="9" name="Rectangle 8"/>
          <p:cNvSpPr/>
          <p:nvPr/>
        </p:nvSpPr>
        <p:spPr>
          <a:xfrm>
            <a:off x="0" y="993895"/>
            <a:ext cx="12192000" cy="45720"/>
          </a:xfrm>
          <a:prstGeom prst="rect">
            <a:avLst/>
          </a:prstGeom>
          <a:solidFill>
            <a:srgbClr val="24469D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0394F-774D-1FA6-C8BD-D0BE77C2A3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5092" y="117689"/>
            <a:ext cx="727986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08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F3F57-E6B6-8186-2E62-9C692D19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01"/>
            <a:ext cx="11104880" cy="985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11C77-CC50-A510-3609-2D8F9FCB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" y="1097280"/>
            <a:ext cx="11104880" cy="5079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1BAA1-DC72-3CD1-7F89-2EE55E237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2A23580C-EA65-AC41-9F7C-B6439987B4B7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9EAC-E423-483D-525E-9C75A5695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01939-8975-2548-1296-9C55C71BB2BA}"/>
              </a:ext>
            </a:extLst>
          </p:cNvPr>
          <p:cNvCxnSpPr>
            <a:cxnSpLocks/>
          </p:cNvCxnSpPr>
          <p:nvPr userDrawn="1"/>
        </p:nvCxnSpPr>
        <p:spPr>
          <a:xfrm>
            <a:off x="518160" y="924560"/>
            <a:ext cx="111048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A1E25-5EFC-07B9-34A4-FC84A6B0A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0104" y="6578930"/>
            <a:ext cx="1060269" cy="279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27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rgbClr val="0432FF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4.svg"/><Relationship Id="rId7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32F2-2275-3F6B-82B8-1B0CA52F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0EC572-1CE7-598F-9FA4-5062F84F9CA5}"/>
              </a:ext>
            </a:extLst>
          </p:cNvPr>
          <p:cNvSpPr/>
          <p:nvPr/>
        </p:nvSpPr>
        <p:spPr>
          <a:xfrm>
            <a:off x="384313" y="3016490"/>
            <a:ext cx="10846671" cy="1446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Candara" panose="020E0502030303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70A78-22DF-BCD5-825B-B0A7F8375E55}"/>
              </a:ext>
            </a:extLst>
          </p:cNvPr>
          <p:cNvSpPr/>
          <p:nvPr/>
        </p:nvSpPr>
        <p:spPr>
          <a:xfrm>
            <a:off x="252663" y="637674"/>
            <a:ext cx="11555024" cy="431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A327C-08C1-4A0B-3853-4BC7F0718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401750" y="440958"/>
            <a:ext cx="1256849" cy="12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3B4093-EDEB-88AD-105E-DD4B298CC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Introduction to Blockchain</a:t>
            </a:r>
            <a:br>
              <a:rPr lang="en-GB" dirty="0">
                <a:latin typeface="+mn-lt"/>
              </a:rPr>
            </a:br>
            <a:br>
              <a:rPr lang="en-GB" dirty="0">
                <a:latin typeface="+mn-lt"/>
              </a:rPr>
            </a:br>
            <a:r>
              <a:rPr lang="en-GB" sz="4000" dirty="0">
                <a:solidFill>
                  <a:srgbClr val="C00000"/>
                </a:solidFill>
                <a:latin typeface="+mn-lt"/>
              </a:rPr>
              <a:t>CSE-355</a:t>
            </a:r>
            <a:endParaRPr lang="en-PK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2CF6C0-F187-BF6B-6A7A-C82247549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Ahmed Akhtar</a:t>
            </a:r>
          </a:p>
          <a:p>
            <a:r>
              <a:rPr lang="en-GB" dirty="0"/>
              <a:t>Department of Computer Science</a:t>
            </a:r>
          </a:p>
          <a:p>
            <a:r>
              <a:rPr lang="en-GB" dirty="0"/>
              <a:t>SMCS, IBA Karachi</a:t>
            </a:r>
          </a:p>
          <a:p>
            <a:r>
              <a:rPr lang="en-GB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218361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1340-394C-8092-5D0A-E3BCC7B6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9F2F-9E03-4A62-A198-A3062FB80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</a:t>
            </a:r>
            <a:r>
              <a:rPr lang="en-US" dirty="0">
                <a:latin typeface="+mn-lt"/>
              </a:rPr>
              <a:t>27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Tuesday</a:t>
            </a:r>
            <a:r>
              <a:rPr lang="en-PK" dirty="0">
                <a:latin typeface="+mn-lt"/>
              </a:rPr>
              <a:t>, </a:t>
            </a:r>
            <a:r>
              <a:rPr lang="en-US">
                <a:latin typeface="+mn-lt"/>
              </a:rPr>
              <a:t>May</a:t>
            </a:r>
            <a:r>
              <a:rPr lang="en-PK">
                <a:latin typeface="+mn-lt"/>
              </a:rPr>
              <a:t> </a:t>
            </a:r>
            <a:r>
              <a:rPr lang="en-US" dirty="0">
                <a:latin typeface="+mn-lt"/>
              </a:rPr>
              <a:t>5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174B-0761-8199-54BA-09C4CA09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61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0E39-5EEF-4182-93C4-E64C28F88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330" y="1407436"/>
            <a:ext cx="10889673" cy="1488164"/>
          </a:xfrm>
        </p:spPr>
        <p:txBody>
          <a:bodyPr>
            <a:normAutofit/>
          </a:bodyPr>
          <a:lstStyle/>
          <a:p>
            <a:r>
              <a:rPr lang="en-US" sz="4900" dirty="0">
                <a:latin typeface="Calibri Light" panose="020F0302020204030204" pitchFamily="34" charset="0"/>
              </a:rPr>
              <a:t>Security Risks </a:t>
            </a:r>
            <a:r>
              <a:rPr lang="en-US" sz="4900">
                <a:latin typeface="Calibri Light" panose="020F0302020204030204" pitchFamily="34" charset="0"/>
              </a:rPr>
              <a:t>and Controls</a:t>
            </a:r>
            <a:endParaRPr lang="aa-ET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AC8862CD-1CBA-4887-98B2-BBBF9365F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90503"/>
            <a:ext cx="12192000" cy="890552"/>
          </a:xfrm>
        </p:spPr>
        <p:txBody>
          <a:bodyPr>
            <a:noAutofit/>
          </a:bodyPr>
          <a:lstStyle/>
          <a:p>
            <a:r>
              <a:rPr lang="en-US" b="1" dirty="0"/>
              <a:t>A Leadership summit on Blockchain and Digital Assets: Technology and Innovation</a:t>
            </a:r>
          </a:p>
        </p:txBody>
      </p:sp>
    </p:spTree>
    <p:extLst>
      <p:ext uri="{BB962C8B-B14F-4D97-AF65-F5344CB8AC3E}">
        <p14:creationId xmlns:p14="http://schemas.microsoft.com/office/powerpoint/2010/main" val="256883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Public vs. Private </a:t>
            </a:r>
            <a:r>
              <a:rPr lang="en-US" dirty="0" err="1"/>
              <a:t>Blockchains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4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52107"/>
              </p:ext>
            </p:extLst>
          </p:nvPr>
        </p:nvGraphicFramePr>
        <p:xfrm>
          <a:off x="838200" y="1970087"/>
          <a:ext cx="10515600" cy="3733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507013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23512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6611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Aspect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Public Blockchain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Private </a:t>
                      </a:r>
                      <a:r>
                        <a:rPr lang="en-US" b="1" dirty="0" err="1"/>
                        <a:t>Blockchain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525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Data Confidentiality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Transparent by design;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limited privacy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Encrypted and access-controlled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19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Access Control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Open participation; identity is pseudonymous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Permissioned with enterprise-grade identity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84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Consensus Risks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Susceptible to 51% and Sybil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Centralized/semi-centralized validators; risk of collusion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055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Smart Contract Security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Open codebase → public scrutiny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Closed codebase → relies on internal audits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295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Compliance &amp; Regulation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 to enforce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enforce KYC/AML, audit trails, regulatory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8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82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A711-8AF6-A42C-9DB4-A9AD9C22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327A-8B6E-FCBB-886C-C21EFEA3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84D52-721D-CC49-039D-504D9E41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5</a:t>
            </a:fld>
            <a:endParaRPr lang="aa-ET"/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E0B328C4-0480-7AD5-9045-697FC90C2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967"/>
            <a:ext cx="5257800" cy="5143179"/>
          </a:xfrm>
        </p:spPr>
        <p:txBody>
          <a:bodyPr>
            <a:normAutofit/>
          </a:bodyPr>
          <a:lstStyle/>
          <a:p>
            <a:r>
              <a:rPr lang="en-US" dirty="0"/>
              <a:t>Security risks and controls</a:t>
            </a:r>
          </a:p>
          <a:p>
            <a:pPr lvl="1"/>
            <a:r>
              <a:rPr lang="en-US" dirty="0" err="1"/>
              <a:t>Blockchain</a:t>
            </a:r>
            <a:r>
              <a:rPr lang="en-US" dirty="0"/>
              <a:t> layer</a:t>
            </a:r>
          </a:p>
          <a:p>
            <a:pPr lvl="1"/>
            <a:r>
              <a:rPr lang="en-US" dirty="0"/>
              <a:t>Enterprise layer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76" y="1199846"/>
            <a:ext cx="5590410" cy="51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9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Risks</a:t>
            </a:r>
          </a:p>
          <a:p>
            <a:r>
              <a:rPr lang="en-US" dirty="0"/>
              <a:t>Smart Contract Vulnerabilities</a:t>
            </a:r>
          </a:p>
          <a:p>
            <a:pPr lvl="1"/>
            <a:r>
              <a:rPr lang="en-US" dirty="0"/>
              <a:t>Errors in smart contract logic (reentrancy, overflow, underflow)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6</a:t>
            </a:fld>
            <a:endParaRPr lang="aa-ET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620633" y="4571324"/>
            <a:ext cx="2553536" cy="972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700069" y="4756150"/>
            <a:ext cx="2474100" cy="66040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700068" y="5168900"/>
            <a:ext cx="2474101" cy="67310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2412459" y="3550881"/>
            <a:ext cx="2480553" cy="2723682"/>
            <a:chOff x="2412459" y="3627081"/>
            <a:chExt cx="2480553" cy="2723682"/>
          </a:xfrm>
        </p:grpSpPr>
        <p:sp>
          <p:nvSpPr>
            <p:cNvPr id="5" name="Rectangle 4"/>
            <p:cNvSpPr/>
            <p:nvPr/>
          </p:nvSpPr>
          <p:spPr>
            <a:xfrm>
              <a:off x="2412459" y="3627081"/>
              <a:ext cx="2480553" cy="272368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84830" y="4107561"/>
              <a:ext cx="1935803" cy="87548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Attack()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Call Withdraw()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605393" y="5298232"/>
              <a:ext cx="2094675" cy="8787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Receive()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Call Withdraw()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12459" y="3627081"/>
              <a:ext cx="24805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Attacker Contract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981231" y="3608031"/>
            <a:ext cx="2512356" cy="2666532"/>
            <a:chOff x="6981231" y="3684231"/>
            <a:chExt cx="2512356" cy="2666532"/>
          </a:xfrm>
        </p:grpSpPr>
        <p:sp>
          <p:nvSpPr>
            <p:cNvPr id="6" name="Rectangle 5"/>
            <p:cNvSpPr/>
            <p:nvPr/>
          </p:nvSpPr>
          <p:spPr>
            <a:xfrm>
              <a:off x="6981231" y="3684231"/>
              <a:ext cx="2480553" cy="26665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174169" y="4202349"/>
              <a:ext cx="2153981" cy="17984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Withdraw()</a:t>
              </a: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Send_Ether</a:t>
              </a:r>
              <a:r>
                <a:rPr lang="en-US" dirty="0">
                  <a:solidFill>
                    <a:schemeClr val="tx1"/>
                  </a:solidFill>
                </a:rPr>
                <a:t>()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/*transfer ether*/</a:t>
              </a:r>
            </a:p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Update_Balance</a:t>
              </a:r>
              <a:r>
                <a:rPr lang="en-US" dirty="0">
                  <a:solidFill>
                    <a:schemeClr val="tx1"/>
                  </a:solidFill>
                </a:rPr>
                <a:t>()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13034" y="3684231"/>
              <a:ext cx="24805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Vulnerable Contract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133455" y="3137272"/>
            <a:ext cx="3527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Reentrancy Vulnerability</a:t>
            </a:r>
          </a:p>
        </p:txBody>
      </p:sp>
    </p:spTree>
    <p:extLst>
      <p:ext uri="{BB962C8B-B14F-4D97-AF65-F5344CB8AC3E}">
        <p14:creationId xmlns:p14="http://schemas.microsoft.com/office/powerpoint/2010/main" val="196119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8"/>
            <a:ext cx="10515600" cy="153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Risks</a:t>
            </a:r>
          </a:p>
          <a:p>
            <a:r>
              <a:rPr lang="en-US" dirty="0"/>
              <a:t>Smart Contract Vulnerabilities</a:t>
            </a:r>
          </a:p>
          <a:p>
            <a:pPr lvl="1"/>
            <a:r>
              <a:rPr lang="en-US" dirty="0"/>
              <a:t>Errors in smart contract logic (reentrancy, overflow, underflow)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7</a:t>
            </a:fld>
            <a:endParaRPr lang="aa-ET"/>
          </a:p>
        </p:txBody>
      </p:sp>
      <p:sp>
        <p:nvSpPr>
          <p:cNvPr id="5" name="TextBox 4"/>
          <p:cNvSpPr txBox="1"/>
          <p:nvPr/>
        </p:nvSpPr>
        <p:spPr>
          <a:xfrm>
            <a:off x="1533525" y="3638550"/>
            <a:ext cx="254317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Uint8 balance = 255</a:t>
            </a:r>
          </a:p>
          <a:p>
            <a:r>
              <a:rPr lang="en-US" dirty="0"/>
              <a:t>balance = balance + 1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5125" y="3638550"/>
            <a:ext cx="254317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Uint8 balance = 0</a:t>
            </a:r>
          </a:p>
          <a:p>
            <a:r>
              <a:rPr lang="en-US" dirty="0"/>
              <a:t>balance = balance - 1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3560928"/>
            <a:ext cx="240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Overflow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4100" y="3560928"/>
            <a:ext cx="240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Underflow</a:t>
            </a:r>
          </a:p>
        </p:txBody>
      </p:sp>
    </p:spTree>
    <p:extLst>
      <p:ext uri="{BB962C8B-B14F-4D97-AF65-F5344CB8AC3E}">
        <p14:creationId xmlns:p14="http://schemas.microsoft.com/office/powerpoint/2010/main" val="128934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Risks</a:t>
            </a:r>
          </a:p>
          <a:p>
            <a:r>
              <a:rPr lang="en-US" dirty="0"/>
              <a:t>Smart Contract Vulnerabilities</a:t>
            </a:r>
          </a:p>
          <a:p>
            <a:pPr lvl="1"/>
            <a:r>
              <a:rPr lang="en-US" dirty="0"/>
              <a:t>Errors in smart contract logic (reentrancy, overflow, underflow)</a:t>
            </a:r>
          </a:p>
          <a:p>
            <a:pPr lvl="1"/>
            <a:r>
              <a:rPr lang="en-US" dirty="0"/>
              <a:t>Exploitation of whitelist/blacklist functionalities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8</a:t>
            </a:fld>
            <a:endParaRPr lang="aa-E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095E5-5140-60B9-FC6C-5AB303E33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429" y="4058240"/>
            <a:ext cx="1886114" cy="2194751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580772" y="3216526"/>
            <a:ext cx="3344278" cy="3275620"/>
            <a:chOff x="6580772" y="3216526"/>
            <a:chExt cx="3344278" cy="327562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C842C8E-C9BE-54A6-DA07-ACCB6A7CFD1D}"/>
                </a:ext>
              </a:extLst>
            </p:cNvPr>
            <p:cNvSpPr/>
            <p:nvPr/>
          </p:nvSpPr>
          <p:spPr>
            <a:xfrm>
              <a:off x="6580772" y="3216526"/>
              <a:ext cx="3344278" cy="327562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649DFA-3288-8F3A-3268-70D8B45623EA}"/>
                </a:ext>
              </a:extLst>
            </p:cNvPr>
            <p:cNvSpPr/>
            <p:nvPr/>
          </p:nvSpPr>
          <p:spPr>
            <a:xfrm>
              <a:off x="6829140" y="3908065"/>
              <a:ext cx="1293290" cy="571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</a:rPr>
                <a:t>getBalance</a:t>
              </a:r>
              <a:r>
                <a:rPr lang="en-US" sz="1600" dirty="0">
                  <a:solidFill>
                    <a:schemeClr val="tx1"/>
                  </a:solidFill>
                </a:rPr>
                <a:t>()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733720" y="3360410"/>
              <a:ext cx="297448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/>
                <a:t>Stablecoin</a:t>
              </a:r>
              <a:r>
                <a:rPr lang="en-US" b="1" dirty="0"/>
                <a:t> Smart Contract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649DFA-3288-8F3A-3268-70D8B45623EA}"/>
                </a:ext>
              </a:extLst>
            </p:cNvPr>
            <p:cNvSpPr/>
            <p:nvPr/>
          </p:nvSpPr>
          <p:spPr>
            <a:xfrm>
              <a:off x="8324565" y="3917590"/>
              <a:ext cx="1293290" cy="571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transfer()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649DFA-3288-8F3A-3268-70D8B45623EA}"/>
                </a:ext>
              </a:extLst>
            </p:cNvPr>
            <p:cNvSpPr/>
            <p:nvPr/>
          </p:nvSpPr>
          <p:spPr>
            <a:xfrm>
              <a:off x="8324565" y="4603390"/>
              <a:ext cx="1293290" cy="571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transfer from()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649DFA-3288-8F3A-3268-70D8B45623EA}"/>
                </a:ext>
              </a:extLst>
            </p:cNvPr>
            <p:cNvSpPr/>
            <p:nvPr/>
          </p:nvSpPr>
          <p:spPr>
            <a:xfrm>
              <a:off x="6838665" y="4593865"/>
              <a:ext cx="1293290" cy="571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mint()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649DFA-3288-8F3A-3268-70D8B45623EA}"/>
                </a:ext>
              </a:extLst>
            </p:cNvPr>
            <p:cNvSpPr/>
            <p:nvPr/>
          </p:nvSpPr>
          <p:spPr>
            <a:xfrm>
              <a:off x="6848190" y="5327290"/>
              <a:ext cx="1293290" cy="571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burn()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649DFA-3288-8F3A-3268-70D8B45623EA}"/>
                </a:ext>
              </a:extLst>
            </p:cNvPr>
            <p:cNvSpPr/>
            <p:nvPr/>
          </p:nvSpPr>
          <p:spPr>
            <a:xfrm>
              <a:off x="8315040" y="5327290"/>
              <a:ext cx="1293290" cy="5715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approve allowance()</a:t>
              </a:r>
            </a:p>
          </p:txBody>
        </p:sp>
      </p:grpSp>
      <p:cxnSp>
        <p:nvCxnSpPr>
          <p:cNvPr id="18" name="Straight Arrow Connector 17"/>
          <p:cNvCxnSpPr>
            <a:endCxn id="14" idx="1"/>
          </p:cNvCxnSpPr>
          <p:nvPr/>
        </p:nvCxnSpPr>
        <p:spPr>
          <a:xfrm flipV="1">
            <a:off x="4410075" y="4879615"/>
            <a:ext cx="2428590" cy="25760"/>
          </a:xfrm>
          <a:prstGeom prst="straightConnector1">
            <a:avLst/>
          </a:prstGeom>
          <a:ln w="38100" cmpd="thinThick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38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7"/>
            <a:ext cx="10515600" cy="1883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Risks</a:t>
            </a:r>
          </a:p>
          <a:p>
            <a:r>
              <a:rPr lang="en-US" dirty="0"/>
              <a:t>Sequencing Errors</a:t>
            </a:r>
          </a:p>
          <a:p>
            <a:pPr lvl="1"/>
            <a:r>
              <a:rPr lang="en-US" dirty="0"/>
              <a:t>Incorrect transaction ordering and batching</a:t>
            </a:r>
          </a:p>
          <a:p>
            <a:pPr lvl="1"/>
            <a:r>
              <a:rPr lang="en-US" dirty="0"/>
              <a:t>Manipulation or delays in transaction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9</a:t>
            </a:fld>
            <a:endParaRPr lang="aa-ET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52570495-6AF8-5D7B-CD56-5CA38B3BA83E}"/>
              </a:ext>
            </a:extLst>
          </p:cNvPr>
          <p:cNvGrpSpPr>
            <a:grpSpLocks noChangeAspect="1"/>
          </p:cNvGrpSpPr>
          <p:nvPr/>
        </p:nvGrpSpPr>
        <p:grpSpPr>
          <a:xfrm>
            <a:off x="1996475" y="3208242"/>
            <a:ext cx="835418" cy="869239"/>
            <a:chOff x="0" y="0"/>
            <a:chExt cx="2526549" cy="2628838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BD86D8DE-71E0-678B-89D2-55C9D3265799}"/>
                </a:ext>
              </a:extLst>
            </p:cNvPr>
            <p:cNvSpPr/>
            <p:nvPr/>
          </p:nvSpPr>
          <p:spPr>
            <a:xfrm>
              <a:off x="134007" y="0"/>
              <a:ext cx="2392542" cy="2628838"/>
            </a:xfrm>
            <a:custGeom>
              <a:avLst/>
              <a:gdLst/>
              <a:ahLst/>
              <a:cxnLst/>
              <a:rect l="l" t="t" r="r" b="b"/>
              <a:pathLst>
                <a:path w="2392542" h="2628838">
                  <a:moveTo>
                    <a:pt x="0" y="0"/>
                  </a:moveTo>
                  <a:lnTo>
                    <a:pt x="2392542" y="0"/>
                  </a:lnTo>
                  <a:lnTo>
                    <a:pt x="2392542" y="2628838"/>
                  </a:lnTo>
                  <a:lnTo>
                    <a:pt x="0" y="2628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837" b="-6837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DAD4B0E8-2C6B-57E7-5E06-419F02B2DE4C}"/>
                </a:ext>
              </a:extLst>
            </p:cNvPr>
            <p:cNvGrpSpPr/>
            <p:nvPr/>
          </p:nvGrpSpPr>
          <p:grpSpPr>
            <a:xfrm>
              <a:off x="0" y="2224838"/>
              <a:ext cx="2526549" cy="404000"/>
              <a:chOff x="0" y="0"/>
              <a:chExt cx="834304" cy="133407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68F23438-7B73-F2BC-C8F9-4F1BF067DCBE}"/>
                  </a:ext>
                </a:extLst>
              </p:cNvPr>
              <p:cNvSpPr/>
              <p:nvPr/>
            </p:nvSpPr>
            <p:spPr>
              <a:xfrm>
                <a:off x="0" y="0"/>
                <a:ext cx="834304" cy="133407"/>
              </a:xfrm>
              <a:custGeom>
                <a:avLst/>
                <a:gdLst/>
                <a:ahLst/>
                <a:cxnLst/>
                <a:rect l="l" t="t" r="r" b="b"/>
                <a:pathLst>
                  <a:path w="834304" h="133407">
                    <a:moveTo>
                      <a:pt x="66703" y="0"/>
                    </a:moveTo>
                    <a:lnTo>
                      <a:pt x="767601" y="0"/>
                    </a:lnTo>
                    <a:cubicBezTo>
                      <a:pt x="785292" y="0"/>
                      <a:pt x="802258" y="7028"/>
                      <a:pt x="814767" y="19537"/>
                    </a:cubicBezTo>
                    <a:cubicBezTo>
                      <a:pt x="827277" y="32046"/>
                      <a:pt x="834304" y="49013"/>
                      <a:pt x="834304" y="66703"/>
                    </a:cubicBezTo>
                    <a:lnTo>
                      <a:pt x="834304" y="66703"/>
                    </a:lnTo>
                    <a:cubicBezTo>
                      <a:pt x="834304" y="84394"/>
                      <a:pt x="827277" y="101361"/>
                      <a:pt x="814767" y="113870"/>
                    </a:cubicBezTo>
                    <a:cubicBezTo>
                      <a:pt x="802258" y="126379"/>
                      <a:pt x="785292" y="133407"/>
                      <a:pt x="767601" y="133407"/>
                    </a:cubicBezTo>
                    <a:lnTo>
                      <a:pt x="66703" y="133407"/>
                    </a:lnTo>
                    <a:cubicBezTo>
                      <a:pt x="49013" y="133407"/>
                      <a:pt x="32046" y="126379"/>
                      <a:pt x="19537" y="113870"/>
                    </a:cubicBezTo>
                    <a:cubicBezTo>
                      <a:pt x="7028" y="101361"/>
                      <a:pt x="0" y="84394"/>
                      <a:pt x="0" y="66703"/>
                    </a:cubicBezTo>
                    <a:lnTo>
                      <a:pt x="0" y="66703"/>
                    </a:lnTo>
                    <a:cubicBezTo>
                      <a:pt x="0" y="49013"/>
                      <a:pt x="7028" y="32046"/>
                      <a:pt x="19537" y="19537"/>
                    </a:cubicBezTo>
                    <a:cubicBezTo>
                      <a:pt x="32046" y="7028"/>
                      <a:pt x="49013" y="0"/>
                      <a:pt x="667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9E347DC8-2624-46AA-01BB-C7F6E58589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4304" cy="1715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CBC4CD-BD20-6EA8-7D3C-E002015DF368}"/>
                </a:ext>
              </a:extLst>
            </p:cNvPr>
            <p:cNvSpPr txBox="1"/>
            <p:nvPr/>
          </p:nvSpPr>
          <p:spPr>
            <a:xfrm>
              <a:off x="0" y="2160791"/>
              <a:ext cx="2526549" cy="37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4"/>
                </a:lnSpc>
                <a:spcBef>
                  <a:spcPct val="0"/>
                </a:spcBef>
              </a:pPr>
              <a:r>
                <a:rPr lang="en-US" sz="167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Voter A</a:t>
              </a:r>
            </a:p>
          </p:txBody>
        </p:sp>
      </p:grpSp>
      <p:sp>
        <p:nvSpPr>
          <p:cNvPr id="11" name="Freeform 8">
            <a:extLst>
              <a:ext uri="{FF2B5EF4-FFF2-40B4-BE49-F238E27FC236}">
                <a16:creationId xmlns:a16="http://schemas.microsoft.com/office/drawing/2014/main" id="{3D8C262A-EC16-526A-056D-BCB22C1F0038}"/>
              </a:ext>
            </a:extLst>
          </p:cNvPr>
          <p:cNvSpPr>
            <a:spLocks noChangeAspect="1"/>
          </p:cNvSpPr>
          <p:nvPr/>
        </p:nvSpPr>
        <p:spPr>
          <a:xfrm>
            <a:off x="5619556" y="4297605"/>
            <a:ext cx="507790" cy="507790"/>
          </a:xfrm>
          <a:custGeom>
            <a:avLst/>
            <a:gdLst/>
            <a:ahLst/>
            <a:cxnLst/>
            <a:rect l="l" t="t" r="r" b="b"/>
            <a:pathLst>
              <a:path w="1151783" h="1151783">
                <a:moveTo>
                  <a:pt x="0" y="0"/>
                </a:moveTo>
                <a:lnTo>
                  <a:pt x="1151783" y="0"/>
                </a:lnTo>
                <a:lnTo>
                  <a:pt x="1151783" y="1151783"/>
                </a:lnTo>
                <a:lnTo>
                  <a:pt x="0" y="115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E8BB66FA-A12C-C677-8338-D231E54C4117}"/>
              </a:ext>
            </a:extLst>
          </p:cNvPr>
          <p:cNvSpPr>
            <a:spLocks noChangeAspect="1"/>
          </p:cNvSpPr>
          <p:nvPr/>
        </p:nvSpPr>
        <p:spPr>
          <a:xfrm>
            <a:off x="5554503" y="4196159"/>
            <a:ext cx="1287098" cy="1256679"/>
          </a:xfrm>
          <a:custGeom>
            <a:avLst/>
            <a:gdLst/>
            <a:ahLst/>
            <a:cxnLst/>
            <a:rect l="l" t="t" r="r" b="b"/>
            <a:pathLst>
              <a:path w="2919429" h="2850425">
                <a:moveTo>
                  <a:pt x="0" y="0"/>
                </a:moveTo>
                <a:lnTo>
                  <a:pt x="2919429" y="0"/>
                </a:lnTo>
                <a:lnTo>
                  <a:pt x="2919429" y="2850424"/>
                </a:lnTo>
                <a:lnTo>
                  <a:pt x="0" y="2850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3341C253-4420-5566-29A5-5B3D928595FB}"/>
              </a:ext>
            </a:extLst>
          </p:cNvPr>
          <p:cNvGrpSpPr>
            <a:grpSpLocks noChangeAspect="1"/>
          </p:cNvGrpSpPr>
          <p:nvPr/>
        </p:nvGrpSpPr>
        <p:grpSpPr>
          <a:xfrm>
            <a:off x="1986378" y="4317973"/>
            <a:ext cx="835418" cy="869239"/>
            <a:chOff x="0" y="0"/>
            <a:chExt cx="2526549" cy="2628838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BE66D461-F789-5AE9-6939-2E0671719372}"/>
                </a:ext>
              </a:extLst>
            </p:cNvPr>
            <p:cNvSpPr/>
            <p:nvPr/>
          </p:nvSpPr>
          <p:spPr>
            <a:xfrm>
              <a:off x="134007" y="0"/>
              <a:ext cx="2392542" cy="2628838"/>
            </a:xfrm>
            <a:custGeom>
              <a:avLst/>
              <a:gdLst/>
              <a:ahLst/>
              <a:cxnLst/>
              <a:rect l="l" t="t" r="r" b="b"/>
              <a:pathLst>
                <a:path w="2392542" h="2628838">
                  <a:moveTo>
                    <a:pt x="0" y="0"/>
                  </a:moveTo>
                  <a:lnTo>
                    <a:pt x="2392542" y="0"/>
                  </a:lnTo>
                  <a:lnTo>
                    <a:pt x="2392542" y="2628838"/>
                  </a:lnTo>
                  <a:lnTo>
                    <a:pt x="0" y="2628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837" b="-6837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" name="Group 12">
              <a:extLst>
                <a:ext uri="{FF2B5EF4-FFF2-40B4-BE49-F238E27FC236}">
                  <a16:creationId xmlns:a16="http://schemas.microsoft.com/office/drawing/2014/main" id="{93F41749-2C04-875E-BF17-D5B7C0D1F2A1}"/>
                </a:ext>
              </a:extLst>
            </p:cNvPr>
            <p:cNvGrpSpPr/>
            <p:nvPr/>
          </p:nvGrpSpPr>
          <p:grpSpPr>
            <a:xfrm>
              <a:off x="0" y="2224838"/>
              <a:ext cx="2526549" cy="404000"/>
              <a:chOff x="0" y="0"/>
              <a:chExt cx="834304" cy="133407"/>
            </a:xfrm>
          </p:grpSpPr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7F79D8A0-F3E8-6E02-D8C4-E4BD9B376940}"/>
                  </a:ext>
                </a:extLst>
              </p:cNvPr>
              <p:cNvSpPr/>
              <p:nvPr/>
            </p:nvSpPr>
            <p:spPr>
              <a:xfrm>
                <a:off x="0" y="0"/>
                <a:ext cx="834304" cy="133407"/>
              </a:xfrm>
              <a:custGeom>
                <a:avLst/>
                <a:gdLst/>
                <a:ahLst/>
                <a:cxnLst/>
                <a:rect l="l" t="t" r="r" b="b"/>
                <a:pathLst>
                  <a:path w="834304" h="133407">
                    <a:moveTo>
                      <a:pt x="66703" y="0"/>
                    </a:moveTo>
                    <a:lnTo>
                      <a:pt x="767601" y="0"/>
                    </a:lnTo>
                    <a:cubicBezTo>
                      <a:pt x="785292" y="0"/>
                      <a:pt x="802258" y="7028"/>
                      <a:pt x="814767" y="19537"/>
                    </a:cubicBezTo>
                    <a:cubicBezTo>
                      <a:pt x="827277" y="32046"/>
                      <a:pt x="834304" y="49013"/>
                      <a:pt x="834304" y="66703"/>
                    </a:cubicBezTo>
                    <a:lnTo>
                      <a:pt x="834304" y="66703"/>
                    </a:lnTo>
                    <a:cubicBezTo>
                      <a:pt x="834304" y="84394"/>
                      <a:pt x="827277" y="101361"/>
                      <a:pt x="814767" y="113870"/>
                    </a:cubicBezTo>
                    <a:cubicBezTo>
                      <a:pt x="802258" y="126379"/>
                      <a:pt x="785292" y="133407"/>
                      <a:pt x="767601" y="133407"/>
                    </a:cubicBezTo>
                    <a:lnTo>
                      <a:pt x="66703" y="133407"/>
                    </a:lnTo>
                    <a:cubicBezTo>
                      <a:pt x="49013" y="133407"/>
                      <a:pt x="32046" y="126379"/>
                      <a:pt x="19537" y="113870"/>
                    </a:cubicBezTo>
                    <a:cubicBezTo>
                      <a:pt x="7028" y="101361"/>
                      <a:pt x="0" y="84394"/>
                      <a:pt x="0" y="66703"/>
                    </a:cubicBezTo>
                    <a:lnTo>
                      <a:pt x="0" y="66703"/>
                    </a:lnTo>
                    <a:cubicBezTo>
                      <a:pt x="0" y="49013"/>
                      <a:pt x="7028" y="32046"/>
                      <a:pt x="19537" y="19537"/>
                    </a:cubicBezTo>
                    <a:cubicBezTo>
                      <a:pt x="32046" y="7028"/>
                      <a:pt x="49013" y="0"/>
                      <a:pt x="667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4">
                <a:extLst>
                  <a:ext uri="{FF2B5EF4-FFF2-40B4-BE49-F238E27FC236}">
                    <a16:creationId xmlns:a16="http://schemas.microsoft.com/office/drawing/2014/main" id="{A27CF60F-93B8-4395-48F5-0D1651E30A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4304" cy="1715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68F17C-AC9E-D784-CB92-376E586149AF}"/>
                </a:ext>
              </a:extLst>
            </p:cNvPr>
            <p:cNvSpPr txBox="1"/>
            <p:nvPr/>
          </p:nvSpPr>
          <p:spPr>
            <a:xfrm>
              <a:off x="0" y="2160791"/>
              <a:ext cx="2526549" cy="37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4"/>
                </a:lnSpc>
                <a:spcBef>
                  <a:spcPct val="0"/>
                </a:spcBef>
              </a:pPr>
              <a:r>
                <a:rPr lang="en-US" sz="167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Voter B</a:t>
              </a:r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E5CB7AA4-D7BA-BFF9-90E6-A8A77876EA35}"/>
              </a:ext>
            </a:extLst>
          </p:cNvPr>
          <p:cNvGrpSpPr>
            <a:grpSpLocks noChangeAspect="1"/>
          </p:cNvGrpSpPr>
          <p:nvPr/>
        </p:nvGrpSpPr>
        <p:grpSpPr>
          <a:xfrm>
            <a:off x="1996475" y="5509033"/>
            <a:ext cx="835418" cy="869239"/>
            <a:chOff x="0" y="0"/>
            <a:chExt cx="2526549" cy="2628838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994B5D7D-8C08-E81F-4354-1897712CCAF5}"/>
                </a:ext>
              </a:extLst>
            </p:cNvPr>
            <p:cNvSpPr/>
            <p:nvPr/>
          </p:nvSpPr>
          <p:spPr>
            <a:xfrm>
              <a:off x="134007" y="0"/>
              <a:ext cx="2392542" cy="2628838"/>
            </a:xfrm>
            <a:custGeom>
              <a:avLst/>
              <a:gdLst/>
              <a:ahLst/>
              <a:cxnLst/>
              <a:rect l="l" t="t" r="r" b="b"/>
              <a:pathLst>
                <a:path w="2392542" h="2628838">
                  <a:moveTo>
                    <a:pt x="0" y="0"/>
                  </a:moveTo>
                  <a:lnTo>
                    <a:pt x="2392542" y="0"/>
                  </a:lnTo>
                  <a:lnTo>
                    <a:pt x="2392542" y="2628838"/>
                  </a:lnTo>
                  <a:lnTo>
                    <a:pt x="0" y="2628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837" b="-6837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18">
              <a:extLst>
                <a:ext uri="{FF2B5EF4-FFF2-40B4-BE49-F238E27FC236}">
                  <a16:creationId xmlns:a16="http://schemas.microsoft.com/office/drawing/2014/main" id="{BB65895C-521E-60BF-80E0-0121E2DF68FA}"/>
                </a:ext>
              </a:extLst>
            </p:cNvPr>
            <p:cNvGrpSpPr/>
            <p:nvPr/>
          </p:nvGrpSpPr>
          <p:grpSpPr>
            <a:xfrm>
              <a:off x="0" y="2224838"/>
              <a:ext cx="2526549" cy="404000"/>
              <a:chOff x="0" y="0"/>
              <a:chExt cx="834304" cy="133407"/>
            </a:xfrm>
          </p:grpSpPr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7B4D8327-213D-46D3-EB15-CB29307C21BE}"/>
                  </a:ext>
                </a:extLst>
              </p:cNvPr>
              <p:cNvSpPr/>
              <p:nvPr/>
            </p:nvSpPr>
            <p:spPr>
              <a:xfrm>
                <a:off x="0" y="0"/>
                <a:ext cx="834304" cy="133407"/>
              </a:xfrm>
              <a:custGeom>
                <a:avLst/>
                <a:gdLst/>
                <a:ahLst/>
                <a:cxnLst/>
                <a:rect l="l" t="t" r="r" b="b"/>
                <a:pathLst>
                  <a:path w="834304" h="133407">
                    <a:moveTo>
                      <a:pt x="66703" y="0"/>
                    </a:moveTo>
                    <a:lnTo>
                      <a:pt x="767601" y="0"/>
                    </a:lnTo>
                    <a:cubicBezTo>
                      <a:pt x="785292" y="0"/>
                      <a:pt x="802258" y="7028"/>
                      <a:pt x="814767" y="19537"/>
                    </a:cubicBezTo>
                    <a:cubicBezTo>
                      <a:pt x="827277" y="32046"/>
                      <a:pt x="834304" y="49013"/>
                      <a:pt x="834304" y="66703"/>
                    </a:cubicBezTo>
                    <a:lnTo>
                      <a:pt x="834304" y="66703"/>
                    </a:lnTo>
                    <a:cubicBezTo>
                      <a:pt x="834304" y="84394"/>
                      <a:pt x="827277" y="101361"/>
                      <a:pt x="814767" y="113870"/>
                    </a:cubicBezTo>
                    <a:cubicBezTo>
                      <a:pt x="802258" y="126379"/>
                      <a:pt x="785292" y="133407"/>
                      <a:pt x="767601" y="133407"/>
                    </a:cubicBezTo>
                    <a:lnTo>
                      <a:pt x="66703" y="133407"/>
                    </a:lnTo>
                    <a:cubicBezTo>
                      <a:pt x="49013" y="133407"/>
                      <a:pt x="32046" y="126379"/>
                      <a:pt x="19537" y="113870"/>
                    </a:cubicBezTo>
                    <a:cubicBezTo>
                      <a:pt x="7028" y="101361"/>
                      <a:pt x="0" y="84394"/>
                      <a:pt x="0" y="66703"/>
                    </a:cubicBezTo>
                    <a:lnTo>
                      <a:pt x="0" y="66703"/>
                    </a:lnTo>
                    <a:cubicBezTo>
                      <a:pt x="0" y="49013"/>
                      <a:pt x="7028" y="32046"/>
                      <a:pt x="19537" y="19537"/>
                    </a:cubicBezTo>
                    <a:cubicBezTo>
                      <a:pt x="32046" y="7028"/>
                      <a:pt x="49013" y="0"/>
                      <a:pt x="667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682A53F5-C980-D0BC-92FA-1A8BDA7E84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4304" cy="1715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57D9CB7-5471-E588-9958-A688F99EE6E1}"/>
                </a:ext>
              </a:extLst>
            </p:cNvPr>
            <p:cNvSpPr txBox="1"/>
            <p:nvPr/>
          </p:nvSpPr>
          <p:spPr>
            <a:xfrm>
              <a:off x="0" y="2160791"/>
              <a:ext cx="2526549" cy="3750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4"/>
                </a:lnSpc>
                <a:spcBef>
                  <a:spcPct val="0"/>
                </a:spcBef>
              </a:pPr>
              <a:r>
                <a:rPr lang="en-US" sz="167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Voter C</a:t>
              </a:r>
            </a:p>
          </p:txBody>
        </p:sp>
      </p:grpSp>
      <p:sp>
        <p:nvSpPr>
          <p:cNvPr id="25" name="AutoShape 22">
            <a:extLst>
              <a:ext uri="{FF2B5EF4-FFF2-40B4-BE49-F238E27FC236}">
                <a16:creationId xmlns:a16="http://schemas.microsoft.com/office/drawing/2014/main" id="{C262E2C8-DBE1-B727-80C2-1D244F0DD3F5}"/>
              </a:ext>
            </a:extLst>
          </p:cNvPr>
          <p:cNvSpPr>
            <a:spLocks noChangeAspect="1"/>
          </p:cNvSpPr>
          <p:nvPr/>
        </p:nvSpPr>
        <p:spPr>
          <a:xfrm rot="480000" flipV="1">
            <a:off x="3003603" y="4592003"/>
            <a:ext cx="2344768" cy="15250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9BA42895-0BC8-350A-DAF0-357E5AF82206}"/>
              </a:ext>
            </a:extLst>
          </p:cNvPr>
          <p:cNvSpPr>
            <a:spLocks noChangeAspect="1"/>
          </p:cNvSpPr>
          <p:nvPr/>
        </p:nvSpPr>
        <p:spPr>
          <a:xfrm>
            <a:off x="2907817" y="4752592"/>
            <a:ext cx="244311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4">
            <a:extLst>
              <a:ext uri="{FF2B5EF4-FFF2-40B4-BE49-F238E27FC236}">
                <a16:creationId xmlns:a16="http://schemas.microsoft.com/office/drawing/2014/main" id="{90962723-920D-74E3-6A31-6454B719A547}"/>
              </a:ext>
            </a:extLst>
          </p:cNvPr>
          <p:cNvSpPr>
            <a:spLocks noChangeAspect="1"/>
          </p:cNvSpPr>
          <p:nvPr/>
        </p:nvSpPr>
        <p:spPr>
          <a:xfrm rot="-540000">
            <a:off x="2876925" y="3439188"/>
            <a:ext cx="2460675" cy="1520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5">
            <a:extLst>
              <a:ext uri="{FF2B5EF4-FFF2-40B4-BE49-F238E27FC236}">
                <a16:creationId xmlns:a16="http://schemas.microsoft.com/office/drawing/2014/main" id="{491B5CA4-14E7-23C6-B864-8E16A97BDC47}"/>
              </a:ext>
            </a:extLst>
          </p:cNvPr>
          <p:cNvSpPr>
            <a:spLocks noChangeAspect="1"/>
          </p:cNvSpPr>
          <p:nvPr/>
        </p:nvSpPr>
        <p:spPr>
          <a:xfrm rot="840000" flipV="1">
            <a:off x="7086339" y="3296394"/>
            <a:ext cx="2298184" cy="15544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6">
            <a:extLst>
              <a:ext uri="{FF2B5EF4-FFF2-40B4-BE49-F238E27FC236}">
                <a16:creationId xmlns:a16="http://schemas.microsoft.com/office/drawing/2014/main" id="{0CF32A37-C461-0D6A-CE11-ECD3C01AFEB8}"/>
              </a:ext>
            </a:extLst>
          </p:cNvPr>
          <p:cNvSpPr>
            <a:spLocks noChangeAspect="1"/>
          </p:cNvSpPr>
          <p:nvPr/>
        </p:nvSpPr>
        <p:spPr>
          <a:xfrm flipV="1">
            <a:off x="6932441" y="4599771"/>
            <a:ext cx="2605981" cy="740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27">
            <a:extLst>
              <a:ext uri="{FF2B5EF4-FFF2-40B4-BE49-F238E27FC236}">
                <a16:creationId xmlns:a16="http://schemas.microsoft.com/office/drawing/2014/main" id="{3AC99327-783F-D1A2-9498-09488124FB07}"/>
              </a:ext>
            </a:extLst>
          </p:cNvPr>
          <p:cNvSpPr>
            <a:spLocks noChangeAspect="1"/>
          </p:cNvSpPr>
          <p:nvPr/>
        </p:nvSpPr>
        <p:spPr>
          <a:xfrm rot="-1200000">
            <a:off x="7132315" y="4435567"/>
            <a:ext cx="2201870" cy="15570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2C88A504-9C2A-BBA5-DB41-58AD9790C95D}"/>
              </a:ext>
            </a:extLst>
          </p:cNvPr>
          <p:cNvGrpSpPr>
            <a:grpSpLocks noChangeAspect="1"/>
          </p:cNvGrpSpPr>
          <p:nvPr/>
        </p:nvGrpSpPr>
        <p:grpSpPr>
          <a:xfrm>
            <a:off x="9620368" y="2944778"/>
            <a:ext cx="1603325" cy="872526"/>
            <a:chOff x="0" y="-192881"/>
            <a:chExt cx="4848922" cy="2638779"/>
          </a:xfrm>
        </p:grpSpPr>
        <p:grpSp>
          <p:nvGrpSpPr>
            <p:cNvPr id="32" name="Group 29">
              <a:extLst>
                <a:ext uri="{FF2B5EF4-FFF2-40B4-BE49-F238E27FC236}">
                  <a16:creationId xmlns:a16="http://schemas.microsoft.com/office/drawing/2014/main" id="{6F7C37AC-475C-9AB4-F773-EDE28176967A}"/>
                </a:ext>
              </a:extLst>
            </p:cNvPr>
            <p:cNvGrpSpPr/>
            <p:nvPr/>
          </p:nvGrpSpPr>
          <p:grpSpPr>
            <a:xfrm>
              <a:off x="0" y="-192881"/>
              <a:ext cx="4848922" cy="2638779"/>
              <a:chOff x="0" y="-38100"/>
              <a:chExt cx="957812" cy="521241"/>
            </a:xfrm>
          </p:grpSpPr>
          <p:sp>
            <p:nvSpPr>
              <p:cNvPr id="34" name="Freeform 30">
                <a:extLst>
                  <a:ext uri="{FF2B5EF4-FFF2-40B4-BE49-F238E27FC236}">
                    <a16:creationId xmlns:a16="http://schemas.microsoft.com/office/drawing/2014/main" id="{DDB97EB1-9F39-5CE7-A932-77829C24389D}"/>
                  </a:ext>
                </a:extLst>
              </p:cNvPr>
              <p:cNvSpPr/>
              <p:nvPr/>
            </p:nvSpPr>
            <p:spPr>
              <a:xfrm>
                <a:off x="0" y="161046"/>
                <a:ext cx="957812" cy="322095"/>
              </a:xfrm>
              <a:custGeom>
                <a:avLst/>
                <a:gdLst/>
                <a:ahLst/>
                <a:cxnLst/>
                <a:rect l="l" t="t" r="r" b="b"/>
                <a:pathLst>
                  <a:path w="957812" h="322095">
                    <a:moveTo>
                      <a:pt x="108571" y="0"/>
                    </a:moveTo>
                    <a:lnTo>
                      <a:pt x="849241" y="0"/>
                    </a:lnTo>
                    <a:cubicBezTo>
                      <a:pt x="878036" y="0"/>
                      <a:pt x="905651" y="11439"/>
                      <a:pt x="926012" y="31800"/>
                    </a:cubicBezTo>
                    <a:cubicBezTo>
                      <a:pt x="946373" y="52161"/>
                      <a:pt x="957812" y="79776"/>
                      <a:pt x="957812" y="108571"/>
                    </a:cubicBezTo>
                    <a:lnTo>
                      <a:pt x="957812" y="213524"/>
                    </a:lnTo>
                    <a:cubicBezTo>
                      <a:pt x="957812" y="242319"/>
                      <a:pt x="946373" y="269934"/>
                      <a:pt x="926012" y="290295"/>
                    </a:cubicBezTo>
                    <a:cubicBezTo>
                      <a:pt x="905651" y="310656"/>
                      <a:pt x="878036" y="322095"/>
                      <a:pt x="849241" y="322095"/>
                    </a:cubicBezTo>
                    <a:lnTo>
                      <a:pt x="108571" y="322095"/>
                    </a:lnTo>
                    <a:cubicBezTo>
                      <a:pt x="79776" y="322095"/>
                      <a:pt x="52161" y="310656"/>
                      <a:pt x="31800" y="290295"/>
                    </a:cubicBezTo>
                    <a:cubicBezTo>
                      <a:pt x="11439" y="269934"/>
                      <a:pt x="0" y="242319"/>
                      <a:pt x="0" y="213524"/>
                    </a:cubicBezTo>
                    <a:lnTo>
                      <a:pt x="0" y="108571"/>
                    </a:lnTo>
                    <a:cubicBezTo>
                      <a:pt x="0" y="79776"/>
                      <a:pt x="11439" y="52161"/>
                      <a:pt x="31800" y="31800"/>
                    </a:cubicBezTo>
                    <a:cubicBezTo>
                      <a:pt x="52161" y="11439"/>
                      <a:pt x="79776" y="0"/>
                      <a:pt x="108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1">
                <a:extLst>
                  <a:ext uri="{FF2B5EF4-FFF2-40B4-BE49-F238E27FC236}">
                    <a16:creationId xmlns:a16="http://schemas.microsoft.com/office/drawing/2014/main" id="{9368D75A-4117-D42F-E8FF-4B25552CE2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57812" cy="3601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0AAF16-F6C5-E95B-C17B-0DCDB57ED512}"/>
                </a:ext>
              </a:extLst>
            </p:cNvPr>
            <p:cNvSpPr txBox="1"/>
            <p:nvPr/>
          </p:nvSpPr>
          <p:spPr>
            <a:xfrm>
              <a:off x="192085" y="1051935"/>
              <a:ext cx="4464749" cy="1303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Vote A Transaction</a:t>
              </a:r>
            </a:p>
          </p:txBody>
        </p:sp>
      </p:grpSp>
      <p:grpSp>
        <p:nvGrpSpPr>
          <p:cNvPr id="36" name="Group 33">
            <a:extLst>
              <a:ext uri="{FF2B5EF4-FFF2-40B4-BE49-F238E27FC236}">
                <a16:creationId xmlns:a16="http://schemas.microsoft.com/office/drawing/2014/main" id="{8E66F9A7-5722-A39A-9941-35306A45A8E9}"/>
              </a:ext>
            </a:extLst>
          </p:cNvPr>
          <p:cNvGrpSpPr>
            <a:grpSpLocks noChangeAspect="1"/>
          </p:cNvGrpSpPr>
          <p:nvPr/>
        </p:nvGrpSpPr>
        <p:grpSpPr>
          <a:xfrm>
            <a:off x="9641512" y="4242619"/>
            <a:ext cx="1582181" cy="539168"/>
            <a:chOff x="0" y="0"/>
            <a:chExt cx="4784988" cy="1630604"/>
          </a:xfrm>
        </p:grpSpPr>
        <p:grpSp>
          <p:nvGrpSpPr>
            <p:cNvPr id="37" name="Group 34">
              <a:extLst>
                <a:ext uri="{FF2B5EF4-FFF2-40B4-BE49-F238E27FC236}">
                  <a16:creationId xmlns:a16="http://schemas.microsoft.com/office/drawing/2014/main" id="{87B16C2D-2707-1E34-B13A-5D73EC3D46BF}"/>
                </a:ext>
              </a:extLst>
            </p:cNvPr>
            <p:cNvGrpSpPr/>
            <p:nvPr/>
          </p:nvGrpSpPr>
          <p:grpSpPr>
            <a:xfrm>
              <a:off x="0" y="0"/>
              <a:ext cx="4784988" cy="1630604"/>
              <a:chOff x="0" y="0"/>
              <a:chExt cx="945183" cy="322095"/>
            </a:xfrm>
          </p:grpSpPr>
          <p:sp>
            <p:nvSpPr>
              <p:cNvPr id="39" name="Freeform 35">
                <a:extLst>
                  <a:ext uri="{FF2B5EF4-FFF2-40B4-BE49-F238E27FC236}">
                    <a16:creationId xmlns:a16="http://schemas.microsoft.com/office/drawing/2014/main" id="{AF32EE1E-A4B6-980C-D47C-28FA2091F777}"/>
                  </a:ext>
                </a:extLst>
              </p:cNvPr>
              <p:cNvSpPr/>
              <p:nvPr/>
            </p:nvSpPr>
            <p:spPr>
              <a:xfrm>
                <a:off x="0" y="0"/>
                <a:ext cx="945183" cy="322095"/>
              </a:xfrm>
              <a:custGeom>
                <a:avLst/>
                <a:gdLst/>
                <a:ahLst/>
                <a:cxnLst/>
                <a:rect l="l" t="t" r="r" b="b"/>
                <a:pathLst>
                  <a:path w="945183" h="322095">
                    <a:moveTo>
                      <a:pt x="110021" y="0"/>
                    </a:moveTo>
                    <a:lnTo>
                      <a:pt x="835161" y="0"/>
                    </a:lnTo>
                    <a:cubicBezTo>
                      <a:pt x="895924" y="0"/>
                      <a:pt x="945183" y="49258"/>
                      <a:pt x="945183" y="110021"/>
                    </a:cubicBezTo>
                    <a:lnTo>
                      <a:pt x="945183" y="212073"/>
                    </a:lnTo>
                    <a:cubicBezTo>
                      <a:pt x="945183" y="272836"/>
                      <a:pt x="895924" y="322095"/>
                      <a:pt x="835161" y="322095"/>
                    </a:cubicBezTo>
                    <a:lnTo>
                      <a:pt x="110021" y="322095"/>
                    </a:lnTo>
                    <a:cubicBezTo>
                      <a:pt x="49258" y="322095"/>
                      <a:pt x="0" y="272836"/>
                      <a:pt x="0" y="212073"/>
                    </a:cubicBezTo>
                    <a:lnTo>
                      <a:pt x="0" y="110021"/>
                    </a:lnTo>
                    <a:cubicBezTo>
                      <a:pt x="0" y="49258"/>
                      <a:pt x="49258" y="0"/>
                      <a:pt x="110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36">
                <a:extLst>
                  <a:ext uri="{FF2B5EF4-FFF2-40B4-BE49-F238E27FC236}">
                    <a16:creationId xmlns:a16="http://schemas.microsoft.com/office/drawing/2014/main" id="{24D50679-5463-3C70-D70D-7209FAA8A8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45183" cy="3601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9647AA-8296-E9D4-DA49-0645FA6D5843}"/>
                </a:ext>
              </a:extLst>
            </p:cNvPr>
            <p:cNvSpPr txBox="1"/>
            <p:nvPr/>
          </p:nvSpPr>
          <p:spPr>
            <a:xfrm>
              <a:off x="141824" y="243701"/>
              <a:ext cx="4405880" cy="1303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Vote B Transaction</a:t>
              </a:r>
            </a:p>
          </p:txBody>
        </p:sp>
      </p:grpSp>
      <p:grpSp>
        <p:nvGrpSpPr>
          <p:cNvPr id="41" name="Group 38">
            <a:extLst>
              <a:ext uri="{FF2B5EF4-FFF2-40B4-BE49-F238E27FC236}">
                <a16:creationId xmlns:a16="http://schemas.microsoft.com/office/drawing/2014/main" id="{277CFB74-F713-4FEE-DE99-8EAECDB96A9D}"/>
              </a:ext>
            </a:extLst>
          </p:cNvPr>
          <p:cNvGrpSpPr>
            <a:grpSpLocks noChangeAspect="1"/>
          </p:cNvGrpSpPr>
          <p:nvPr/>
        </p:nvGrpSpPr>
        <p:grpSpPr>
          <a:xfrm>
            <a:off x="9650853" y="5341085"/>
            <a:ext cx="1948033" cy="1011795"/>
            <a:chOff x="-1258410" y="-1429365"/>
            <a:chExt cx="5891427" cy="3059969"/>
          </a:xfrm>
        </p:grpSpPr>
        <p:grpSp>
          <p:nvGrpSpPr>
            <p:cNvPr id="42" name="Group 39">
              <a:extLst>
                <a:ext uri="{FF2B5EF4-FFF2-40B4-BE49-F238E27FC236}">
                  <a16:creationId xmlns:a16="http://schemas.microsoft.com/office/drawing/2014/main" id="{EB53E47E-9FE0-CA2E-C7F1-52E11CED4BFC}"/>
                </a:ext>
              </a:extLst>
            </p:cNvPr>
            <p:cNvGrpSpPr/>
            <p:nvPr/>
          </p:nvGrpSpPr>
          <p:grpSpPr>
            <a:xfrm>
              <a:off x="-1258410" y="-1429365"/>
              <a:ext cx="5891427" cy="3059969"/>
              <a:chOff x="-248575" y="-282344"/>
              <a:chExt cx="1163739" cy="604439"/>
            </a:xfrm>
          </p:grpSpPr>
          <p:sp>
            <p:nvSpPr>
              <p:cNvPr id="44" name="Freeform 40">
                <a:extLst>
                  <a:ext uri="{FF2B5EF4-FFF2-40B4-BE49-F238E27FC236}">
                    <a16:creationId xmlns:a16="http://schemas.microsoft.com/office/drawing/2014/main" id="{5D124E62-C924-C9FA-91D6-7F3203B36F5A}"/>
                  </a:ext>
                </a:extLst>
              </p:cNvPr>
              <p:cNvSpPr/>
              <p:nvPr/>
            </p:nvSpPr>
            <p:spPr>
              <a:xfrm>
                <a:off x="-248575" y="-282344"/>
                <a:ext cx="915164" cy="322095"/>
              </a:xfrm>
              <a:custGeom>
                <a:avLst/>
                <a:gdLst/>
                <a:ahLst/>
                <a:cxnLst/>
                <a:rect l="l" t="t" r="r" b="b"/>
                <a:pathLst>
                  <a:path w="915164" h="322095">
                    <a:moveTo>
                      <a:pt x="113630" y="0"/>
                    </a:moveTo>
                    <a:lnTo>
                      <a:pt x="801534" y="0"/>
                    </a:lnTo>
                    <a:cubicBezTo>
                      <a:pt x="864290" y="0"/>
                      <a:pt x="915164" y="50874"/>
                      <a:pt x="915164" y="113630"/>
                    </a:cubicBezTo>
                    <a:lnTo>
                      <a:pt x="915164" y="208464"/>
                    </a:lnTo>
                    <a:cubicBezTo>
                      <a:pt x="915164" y="271221"/>
                      <a:pt x="864290" y="322095"/>
                      <a:pt x="801534" y="322095"/>
                    </a:cubicBezTo>
                    <a:lnTo>
                      <a:pt x="113630" y="322095"/>
                    </a:lnTo>
                    <a:cubicBezTo>
                      <a:pt x="50874" y="322095"/>
                      <a:pt x="0" y="271221"/>
                      <a:pt x="0" y="208464"/>
                    </a:cubicBezTo>
                    <a:lnTo>
                      <a:pt x="0" y="113630"/>
                    </a:lnTo>
                    <a:cubicBezTo>
                      <a:pt x="0" y="50874"/>
                      <a:pt x="50874" y="0"/>
                      <a:pt x="113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1">
                <a:extLst>
                  <a:ext uri="{FF2B5EF4-FFF2-40B4-BE49-F238E27FC236}">
                    <a16:creationId xmlns:a16="http://schemas.microsoft.com/office/drawing/2014/main" id="{C3EEE527-4FF2-45AD-BED0-FFF05D573C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5164" cy="3601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52E1000-9D47-16C9-9568-B6F155C28320}"/>
                </a:ext>
              </a:extLst>
            </p:cNvPr>
            <p:cNvSpPr txBox="1"/>
            <p:nvPr/>
          </p:nvSpPr>
          <p:spPr>
            <a:xfrm>
              <a:off x="-1258410" y="-1372049"/>
              <a:ext cx="4265950" cy="1303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Vote C Transaction</a:t>
              </a:r>
            </a:p>
          </p:txBody>
        </p:sp>
      </p:grpSp>
      <p:sp>
        <p:nvSpPr>
          <p:cNvPr id="46" name="Freeform 43">
            <a:extLst>
              <a:ext uri="{FF2B5EF4-FFF2-40B4-BE49-F238E27FC236}">
                <a16:creationId xmlns:a16="http://schemas.microsoft.com/office/drawing/2014/main" id="{5CDBB529-901B-8A24-B58F-C8E891575781}"/>
              </a:ext>
            </a:extLst>
          </p:cNvPr>
          <p:cNvSpPr>
            <a:spLocks noChangeAspect="1"/>
          </p:cNvSpPr>
          <p:nvPr/>
        </p:nvSpPr>
        <p:spPr>
          <a:xfrm>
            <a:off x="10066953" y="3280269"/>
            <a:ext cx="699348" cy="513146"/>
          </a:xfrm>
          <a:custGeom>
            <a:avLst/>
            <a:gdLst/>
            <a:ahLst/>
            <a:cxnLst/>
            <a:rect l="l" t="t" r="r" b="b"/>
            <a:pathLst>
              <a:path w="1586276" h="1163930">
                <a:moveTo>
                  <a:pt x="0" y="0"/>
                </a:moveTo>
                <a:lnTo>
                  <a:pt x="1586277" y="0"/>
                </a:lnTo>
                <a:lnTo>
                  <a:pt x="1586277" y="1163930"/>
                </a:lnTo>
                <a:lnTo>
                  <a:pt x="0" y="1163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4">
            <a:extLst>
              <a:ext uri="{FF2B5EF4-FFF2-40B4-BE49-F238E27FC236}">
                <a16:creationId xmlns:a16="http://schemas.microsoft.com/office/drawing/2014/main" id="{E068EC44-2D1F-BBD7-8CC5-9BF3257B86CF}"/>
              </a:ext>
            </a:extLst>
          </p:cNvPr>
          <p:cNvSpPr>
            <a:spLocks noChangeAspect="1"/>
          </p:cNvSpPr>
          <p:nvPr/>
        </p:nvSpPr>
        <p:spPr>
          <a:xfrm>
            <a:off x="10099538" y="4272180"/>
            <a:ext cx="699348" cy="513146"/>
          </a:xfrm>
          <a:custGeom>
            <a:avLst/>
            <a:gdLst/>
            <a:ahLst/>
            <a:cxnLst/>
            <a:rect l="l" t="t" r="r" b="b"/>
            <a:pathLst>
              <a:path w="1586276" h="1163930">
                <a:moveTo>
                  <a:pt x="0" y="0"/>
                </a:moveTo>
                <a:lnTo>
                  <a:pt x="1586277" y="0"/>
                </a:lnTo>
                <a:lnTo>
                  <a:pt x="1586277" y="1163931"/>
                </a:lnTo>
                <a:lnTo>
                  <a:pt x="0" y="116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5">
            <a:extLst>
              <a:ext uri="{FF2B5EF4-FFF2-40B4-BE49-F238E27FC236}">
                <a16:creationId xmlns:a16="http://schemas.microsoft.com/office/drawing/2014/main" id="{EB59BEEC-0B88-EE1C-D4C9-6647F56F9E7C}"/>
              </a:ext>
            </a:extLst>
          </p:cNvPr>
          <p:cNvSpPr>
            <a:spLocks noChangeAspect="1"/>
          </p:cNvSpPr>
          <p:nvPr/>
        </p:nvSpPr>
        <p:spPr>
          <a:xfrm>
            <a:off x="9955546" y="5257243"/>
            <a:ext cx="801173" cy="794164"/>
          </a:xfrm>
          <a:custGeom>
            <a:avLst/>
            <a:gdLst/>
            <a:ahLst/>
            <a:cxnLst/>
            <a:rect l="l" t="t" r="r" b="b"/>
            <a:pathLst>
              <a:path w="1817238" h="1801337">
                <a:moveTo>
                  <a:pt x="0" y="0"/>
                </a:moveTo>
                <a:lnTo>
                  <a:pt x="1817238" y="0"/>
                </a:lnTo>
                <a:lnTo>
                  <a:pt x="1817238" y="1801337"/>
                </a:lnTo>
                <a:lnTo>
                  <a:pt x="0" y="1801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46">
            <a:extLst>
              <a:ext uri="{FF2B5EF4-FFF2-40B4-BE49-F238E27FC236}">
                <a16:creationId xmlns:a16="http://schemas.microsoft.com/office/drawing/2014/main" id="{8EA4474E-4B98-9EDB-F529-A0856C2BBD4B}"/>
              </a:ext>
            </a:extLst>
          </p:cNvPr>
          <p:cNvSpPr txBox="1">
            <a:spLocks noChangeAspect="1"/>
          </p:cNvSpPr>
          <p:nvPr/>
        </p:nvSpPr>
        <p:spPr>
          <a:xfrm>
            <a:off x="4736384" y="3731402"/>
            <a:ext cx="2718095" cy="446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DAO Smart Contract</a:t>
            </a:r>
          </a:p>
        </p:txBody>
      </p:sp>
      <p:sp>
        <p:nvSpPr>
          <p:cNvPr id="50" name="TextBox 47">
            <a:extLst>
              <a:ext uri="{FF2B5EF4-FFF2-40B4-BE49-F238E27FC236}">
                <a16:creationId xmlns:a16="http://schemas.microsoft.com/office/drawing/2014/main" id="{42EEB71D-FCE5-B661-1ACA-FB72622C8744}"/>
              </a:ext>
            </a:extLst>
          </p:cNvPr>
          <p:cNvSpPr txBox="1">
            <a:spLocks noChangeAspect="1"/>
          </p:cNvSpPr>
          <p:nvPr/>
        </p:nvSpPr>
        <p:spPr>
          <a:xfrm>
            <a:off x="4560622" y="5354962"/>
            <a:ext cx="287551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Voting Ends at  01:00</a:t>
            </a:r>
          </a:p>
        </p:txBody>
      </p:sp>
      <p:sp>
        <p:nvSpPr>
          <p:cNvPr id="51" name="TextBox 48">
            <a:extLst>
              <a:ext uri="{FF2B5EF4-FFF2-40B4-BE49-F238E27FC236}">
                <a16:creationId xmlns:a16="http://schemas.microsoft.com/office/drawing/2014/main" id="{CFDF93CB-59F1-B14D-E6FF-FC2F7E825792}"/>
              </a:ext>
            </a:extLst>
          </p:cNvPr>
          <p:cNvSpPr txBox="1">
            <a:spLocks noChangeAspect="1"/>
          </p:cNvSpPr>
          <p:nvPr/>
        </p:nvSpPr>
        <p:spPr>
          <a:xfrm rot="20016646">
            <a:off x="3144948" y="5101984"/>
            <a:ext cx="1211801" cy="3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Voted at 12:56</a:t>
            </a:r>
          </a:p>
        </p:txBody>
      </p:sp>
      <p:sp>
        <p:nvSpPr>
          <p:cNvPr id="52" name="TextBox 49">
            <a:extLst>
              <a:ext uri="{FF2B5EF4-FFF2-40B4-BE49-F238E27FC236}">
                <a16:creationId xmlns:a16="http://schemas.microsoft.com/office/drawing/2014/main" id="{F728DFC3-73D5-1EDA-A19B-F05525C4B5A9}"/>
              </a:ext>
            </a:extLst>
          </p:cNvPr>
          <p:cNvSpPr txBox="1">
            <a:spLocks noChangeAspect="1"/>
          </p:cNvSpPr>
          <p:nvPr/>
        </p:nvSpPr>
        <p:spPr>
          <a:xfrm>
            <a:off x="3332818" y="4362653"/>
            <a:ext cx="1211801" cy="3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Voted at 12:57</a:t>
            </a:r>
          </a:p>
        </p:txBody>
      </p:sp>
      <p:sp>
        <p:nvSpPr>
          <p:cNvPr id="53" name="TextBox 50">
            <a:extLst>
              <a:ext uri="{FF2B5EF4-FFF2-40B4-BE49-F238E27FC236}">
                <a16:creationId xmlns:a16="http://schemas.microsoft.com/office/drawing/2014/main" id="{6E3B52EE-0AF3-6349-1A55-9FB79F906347}"/>
              </a:ext>
            </a:extLst>
          </p:cNvPr>
          <p:cNvSpPr txBox="1">
            <a:spLocks noChangeAspect="1"/>
          </p:cNvSpPr>
          <p:nvPr/>
        </p:nvSpPr>
        <p:spPr>
          <a:xfrm rot="1361436">
            <a:off x="3387241" y="3738282"/>
            <a:ext cx="1283907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Voted at 12:58</a:t>
            </a:r>
          </a:p>
        </p:txBody>
      </p:sp>
      <p:sp>
        <p:nvSpPr>
          <p:cNvPr id="54" name="TextBox 51">
            <a:extLst>
              <a:ext uri="{FF2B5EF4-FFF2-40B4-BE49-F238E27FC236}">
                <a16:creationId xmlns:a16="http://schemas.microsoft.com/office/drawing/2014/main" id="{850E789C-E72E-CAF7-8007-321C2E918196}"/>
              </a:ext>
            </a:extLst>
          </p:cNvPr>
          <p:cNvSpPr txBox="1">
            <a:spLocks noChangeAspect="1"/>
          </p:cNvSpPr>
          <p:nvPr/>
        </p:nvSpPr>
        <p:spPr>
          <a:xfrm>
            <a:off x="9858890" y="2870358"/>
            <a:ext cx="1141124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Posted 12:58</a:t>
            </a:r>
          </a:p>
        </p:txBody>
      </p:sp>
      <p:sp>
        <p:nvSpPr>
          <p:cNvPr id="55" name="TextBox 52">
            <a:extLst>
              <a:ext uri="{FF2B5EF4-FFF2-40B4-BE49-F238E27FC236}">
                <a16:creationId xmlns:a16="http://schemas.microsoft.com/office/drawing/2014/main" id="{679A5611-DCE1-ADAF-2E43-45198A030428}"/>
              </a:ext>
            </a:extLst>
          </p:cNvPr>
          <p:cNvSpPr txBox="1">
            <a:spLocks noChangeAspect="1"/>
          </p:cNvSpPr>
          <p:nvPr/>
        </p:nvSpPr>
        <p:spPr>
          <a:xfrm>
            <a:off x="9766011" y="4919665"/>
            <a:ext cx="1155120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Posted 01:01</a:t>
            </a:r>
          </a:p>
        </p:txBody>
      </p:sp>
      <p:sp>
        <p:nvSpPr>
          <p:cNvPr id="56" name="TextBox 53">
            <a:extLst>
              <a:ext uri="{FF2B5EF4-FFF2-40B4-BE49-F238E27FC236}">
                <a16:creationId xmlns:a16="http://schemas.microsoft.com/office/drawing/2014/main" id="{333343E6-A0DF-F5E3-0E8B-B2CB5E9D65F5}"/>
              </a:ext>
            </a:extLst>
          </p:cNvPr>
          <p:cNvSpPr txBox="1">
            <a:spLocks noChangeAspect="1"/>
          </p:cNvSpPr>
          <p:nvPr/>
        </p:nvSpPr>
        <p:spPr>
          <a:xfrm>
            <a:off x="9857768" y="3816700"/>
            <a:ext cx="1118101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Posted 12:57</a:t>
            </a:r>
          </a:p>
        </p:txBody>
      </p:sp>
    </p:spTree>
    <p:extLst>
      <p:ext uri="{BB962C8B-B14F-4D97-AF65-F5344CB8AC3E}">
        <p14:creationId xmlns:p14="http://schemas.microsoft.com/office/powerpoint/2010/main" val="237962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46" grpId="0" animBg="1"/>
      <p:bldP spid="47" grpId="0" animBg="1"/>
      <p:bldP spid="48" grpId="0" animBg="1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Risks</a:t>
            </a:r>
          </a:p>
          <a:p>
            <a:r>
              <a:rPr lang="en-US" dirty="0"/>
              <a:t>Smart Contract Vulnerabilities</a:t>
            </a:r>
          </a:p>
          <a:p>
            <a:pPr lvl="1"/>
            <a:r>
              <a:rPr lang="en-US" dirty="0"/>
              <a:t>Errors in smart contract logic (reentrancy, overflow, underflow)</a:t>
            </a:r>
          </a:p>
          <a:p>
            <a:pPr lvl="1"/>
            <a:r>
              <a:rPr lang="en-US" dirty="0"/>
              <a:t>Exploitation of whitelist/blacklist functionalities</a:t>
            </a:r>
          </a:p>
          <a:p>
            <a:r>
              <a:rPr lang="en-US" dirty="0"/>
              <a:t>Sequencing Errors</a:t>
            </a:r>
          </a:p>
          <a:p>
            <a:pPr lvl="1"/>
            <a:r>
              <a:rPr lang="en-US" dirty="0"/>
              <a:t>Incorrect transaction ordering and batching</a:t>
            </a:r>
          </a:p>
          <a:p>
            <a:pPr lvl="1"/>
            <a:r>
              <a:rPr lang="en-US" dirty="0"/>
              <a:t>Manipulation or delays in transaction sequencing</a:t>
            </a:r>
          </a:p>
          <a:p>
            <a:pPr marL="0" indent="0">
              <a:buNone/>
            </a:pPr>
            <a:r>
              <a:rPr lang="en-US" b="1" dirty="0"/>
              <a:t>Controls</a:t>
            </a:r>
          </a:p>
          <a:p>
            <a:r>
              <a:rPr lang="en-US" dirty="0"/>
              <a:t>Formal verification and rigorous smart contract audits</a:t>
            </a:r>
          </a:p>
          <a:p>
            <a:r>
              <a:rPr lang="en-US" dirty="0"/>
              <a:t>Secure coding practices (e.g., </a:t>
            </a:r>
            <a:r>
              <a:rPr lang="en-US" dirty="0" err="1"/>
              <a:t>OpenZeppelin</a:t>
            </a:r>
            <a:r>
              <a:rPr lang="en-US" dirty="0"/>
              <a:t> standards)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10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33770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8"/>
            <a:ext cx="10515600" cy="286108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Private Key Management and Custody - Risks</a:t>
            </a:r>
          </a:p>
          <a:p>
            <a:r>
              <a:rPr lang="en-US" dirty="0"/>
              <a:t>Loss or theft of private keys results in permanent loss of access</a:t>
            </a:r>
          </a:p>
          <a:p>
            <a:pPr lvl="1"/>
            <a:r>
              <a:rPr lang="en-US" dirty="0"/>
              <a:t>If a private key is lost or stolen, the holder permanently loses control over the associated digital assets — there is no recovery mechanism like in traditional systems</a:t>
            </a:r>
          </a:p>
          <a:p>
            <a:r>
              <a:rPr lang="en-US" dirty="0"/>
              <a:t>Inadequate backup and recovery mechanisms</a:t>
            </a:r>
          </a:p>
          <a:p>
            <a:pPr lvl="1"/>
            <a:r>
              <a:rPr lang="en-US" dirty="0"/>
              <a:t>Without secure and redundant backups, accidental key deletion, device failure, or natural disasters can result in total asset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11</a:t>
            </a:fld>
            <a:endParaRPr lang="aa-ET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4295775"/>
            <a:ext cx="2624667" cy="1476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56879" t="28847" r="19553" b="53993"/>
          <a:stretch/>
        </p:blipFill>
        <p:spPr>
          <a:xfrm>
            <a:off x="4097553" y="4210050"/>
            <a:ext cx="7628362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3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Private Key Management and Custody - Risks</a:t>
            </a:r>
          </a:p>
          <a:p>
            <a:r>
              <a:rPr lang="en-US" dirty="0"/>
              <a:t>Loss or theft of private keys results in permanent loss of access</a:t>
            </a:r>
          </a:p>
          <a:p>
            <a:pPr lvl="1"/>
            <a:r>
              <a:rPr lang="en-US" dirty="0"/>
              <a:t>If a private key is lost or stolen, the holder permanently loses control over the associated digital assets — there is no recovery mechanism like in traditional systems</a:t>
            </a:r>
          </a:p>
          <a:p>
            <a:r>
              <a:rPr lang="en-US" dirty="0"/>
              <a:t>Inadequate backup and recovery mechanisms</a:t>
            </a:r>
          </a:p>
          <a:p>
            <a:pPr lvl="1"/>
            <a:r>
              <a:rPr lang="en-US" dirty="0"/>
              <a:t>Without secure and redundant backups, accidental key deletion, device failure, or natural disasters can result in total asset loss</a:t>
            </a:r>
          </a:p>
          <a:p>
            <a:pPr marL="0" indent="0">
              <a:buNone/>
            </a:pPr>
            <a:r>
              <a:rPr lang="en-US" b="1" dirty="0"/>
              <a:t>Controls</a:t>
            </a:r>
          </a:p>
          <a:p>
            <a:r>
              <a:rPr lang="en-US" dirty="0"/>
              <a:t>Use Hardware Security Modules (HSMs) for key storage</a:t>
            </a:r>
          </a:p>
          <a:p>
            <a:r>
              <a:rPr lang="en-US" dirty="0"/>
              <a:t>Implement multi-signature wallets and threshold schemes</a:t>
            </a:r>
          </a:p>
          <a:p>
            <a:r>
              <a:rPr lang="en-US" dirty="0"/>
              <a:t>Maintain secure key backup with geo-distributed recovery plans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02331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7"/>
            <a:ext cx="10515600" cy="2800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Interoperability and Cross-chain Security - Risks</a:t>
            </a:r>
          </a:p>
          <a:p>
            <a:r>
              <a:rPr lang="en-US" dirty="0"/>
              <a:t>Vulnerability in </a:t>
            </a:r>
            <a:r>
              <a:rPr lang="en-US" dirty="0" err="1"/>
              <a:t>Blockchain</a:t>
            </a:r>
            <a:r>
              <a:rPr lang="en-US" dirty="0"/>
              <a:t> bridge smart contract</a:t>
            </a:r>
          </a:p>
          <a:p>
            <a:pPr lvl="1"/>
            <a:r>
              <a:rPr lang="en-US" dirty="0"/>
              <a:t>Example: Wormhole Bridge Exploit (February 2022) - Wormhole Bridge Smart contract served as a messaging and token bridge between </a:t>
            </a:r>
            <a:r>
              <a:rPr lang="en-US" dirty="0" err="1"/>
              <a:t>Ethereum</a:t>
            </a:r>
            <a:r>
              <a:rPr lang="en-US" dirty="0"/>
              <a:t> and Solana</a:t>
            </a:r>
          </a:p>
          <a:p>
            <a:pPr lvl="2"/>
            <a:r>
              <a:rPr lang="en-US" dirty="0"/>
              <a:t>A vulnerability in the Wormhole bridge’s smart contract allowed an attacker to mint wrapped ETH (</a:t>
            </a:r>
            <a:r>
              <a:rPr lang="en-US" dirty="0" err="1"/>
              <a:t>wETH</a:t>
            </a:r>
            <a:r>
              <a:rPr lang="en-US" dirty="0"/>
              <a:t>) on Solana without depositing real ETH on Ethereum, resulting in a loss of around $320 Million in ETH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13</a:t>
            </a:fld>
            <a:endParaRPr lang="aa-ET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9FCB42F-5073-E411-70D6-EA3036CBED25}"/>
              </a:ext>
            </a:extLst>
          </p:cNvPr>
          <p:cNvGrpSpPr/>
          <p:nvPr/>
        </p:nvGrpSpPr>
        <p:grpSpPr>
          <a:xfrm>
            <a:off x="3924472" y="5144838"/>
            <a:ext cx="1123959" cy="1097392"/>
            <a:chOff x="2653273" y="5592609"/>
            <a:chExt cx="1123959" cy="1097392"/>
          </a:xfrm>
        </p:grpSpPr>
        <p:sp>
          <p:nvSpPr>
            <p:cNvPr id="39" name="Freeform 2">
              <a:extLst>
                <a:ext uri="{FF2B5EF4-FFF2-40B4-BE49-F238E27FC236}">
                  <a16:creationId xmlns:a16="http://schemas.microsoft.com/office/drawing/2014/main" id="{494B2F8D-0C1A-C9E5-C622-BFBB16065E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53273" y="5592609"/>
              <a:ext cx="1123959" cy="1097392"/>
            </a:xfrm>
            <a:custGeom>
              <a:avLst/>
              <a:gdLst/>
              <a:ahLst/>
              <a:cxnLst/>
              <a:rect l="l" t="t" r="r" b="b"/>
              <a:pathLst>
                <a:path w="2919429" h="2850425">
                  <a:moveTo>
                    <a:pt x="0" y="0"/>
                  </a:moveTo>
                  <a:lnTo>
                    <a:pt x="2919430" y="0"/>
                  </a:lnTo>
                  <a:lnTo>
                    <a:pt x="2919430" y="2850425"/>
                  </a:lnTo>
                  <a:lnTo>
                    <a:pt x="0" y="2850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70FFAF85-0741-FECF-658D-E4E6278F36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07361" y="5647701"/>
              <a:ext cx="404264" cy="404264"/>
            </a:xfrm>
            <a:custGeom>
              <a:avLst/>
              <a:gdLst/>
              <a:ahLst/>
              <a:cxnLst/>
              <a:rect l="l" t="t" r="r" b="b"/>
              <a:pathLst>
                <a:path w="1050055" h="1050055">
                  <a:moveTo>
                    <a:pt x="0" y="0"/>
                  </a:moveTo>
                  <a:lnTo>
                    <a:pt x="1050055" y="0"/>
                  </a:lnTo>
                  <a:lnTo>
                    <a:pt x="1050055" y="1050055"/>
                  </a:lnTo>
                  <a:lnTo>
                    <a:pt x="0" y="1050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961FA33-3D31-FBCB-C95D-4B3B3956A2E3}"/>
              </a:ext>
            </a:extLst>
          </p:cNvPr>
          <p:cNvGrpSpPr/>
          <p:nvPr/>
        </p:nvGrpSpPr>
        <p:grpSpPr>
          <a:xfrm>
            <a:off x="7266291" y="5144838"/>
            <a:ext cx="1123959" cy="1097392"/>
            <a:chOff x="10546751" y="4960337"/>
            <a:chExt cx="1123959" cy="1097392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78AEAC82-9987-BA9B-E5C1-7B76B03BB7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6751" y="4960337"/>
              <a:ext cx="1123959" cy="1097392"/>
            </a:xfrm>
            <a:custGeom>
              <a:avLst/>
              <a:gdLst/>
              <a:ahLst/>
              <a:cxnLst/>
              <a:rect l="l" t="t" r="r" b="b"/>
              <a:pathLst>
                <a:path w="2919429" h="2850425">
                  <a:moveTo>
                    <a:pt x="0" y="0"/>
                  </a:moveTo>
                  <a:lnTo>
                    <a:pt x="2919429" y="0"/>
                  </a:lnTo>
                  <a:lnTo>
                    <a:pt x="2919429" y="2850425"/>
                  </a:lnTo>
                  <a:lnTo>
                    <a:pt x="0" y="2850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EC77A6F9-A24B-9A9D-41AF-BB2CAF13D5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01579" y="5080673"/>
              <a:ext cx="399387" cy="399387"/>
            </a:xfrm>
            <a:custGeom>
              <a:avLst/>
              <a:gdLst/>
              <a:ahLst/>
              <a:cxnLst/>
              <a:rect l="l" t="t" r="r" b="b"/>
              <a:pathLst>
                <a:path w="1037391" h="1037391">
                  <a:moveTo>
                    <a:pt x="0" y="0"/>
                  </a:moveTo>
                  <a:lnTo>
                    <a:pt x="1037391" y="0"/>
                  </a:lnTo>
                  <a:lnTo>
                    <a:pt x="1037391" y="1037391"/>
                  </a:lnTo>
                  <a:lnTo>
                    <a:pt x="0" y="1037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Freeform 6">
            <a:extLst>
              <a:ext uri="{FF2B5EF4-FFF2-40B4-BE49-F238E27FC236}">
                <a16:creationId xmlns:a16="http://schemas.microsoft.com/office/drawing/2014/main" id="{D1F0251D-B150-9126-9B6A-D20B0CEBDB36}"/>
              </a:ext>
            </a:extLst>
          </p:cNvPr>
          <p:cNvSpPr>
            <a:spLocks noChangeAspect="1"/>
          </p:cNvSpPr>
          <p:nvPr/>
        </p:nvSpPr>
        <p:spPr>
          <a:xfrm>
            <a:off x="5102519" y="4946879"/>
            <a:ext cx="2097198" cy="775963"/>
          </a:xfrm>
          <a:custGeom>
            <a:avLst/>
            <a:gdLst/>
            <a:ahLst/>
            <a:cxnLst/>
            <a:rect l="l" t="t" r="r" b="b"/>
            <a:pathLst>
              <a:path w="5447367" h="2015526">
                <a:moveTo>
                  <a:pt x="0" y="0"/>
                </a:moveTo>
                <a:lnTo>
                  <a:pt x="5447367" y="0"/>
                </a:lnTo>
                <a:lnTo>
                  <a:pt x="5447367" y="2015526"/>
                </a:lnTo>
                <a:lnTo>
                  <a:pt x="0" y="2015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7">
            <a:extLst>
              <a:ext uri="{FF2B5EF4-FFF2-40B4-BE49-F238E27FC236}">
                <a16:creationId xmlns:a16="http://schemas.microsoft.com/office/drawing/2014/main" id="{B1AC026B-AA14-735B-E391-C4B6311E9331}"/>
              </a:ext>
            </a:extLst>
          </p:cNvPr>
          <p:cNvGrpSpPr>
            <a:grpSpLocks noChangeAspect="1"/>
          </p:cNvGrpSpPr>
          <p:nvPr/>
        </p:nvGrpSpPr>
        <p:grpSpPr>
          <a:xfrm>
            <a:off x="5749550" y="4107216"/>
            <a:ext cx="859992" cy="839663"/>
            <a:chOff x="0" y="0"/>
            <a:chExt cx="2978382" cy="2907984"/>
          </a:xfrm>
        </p:grpSpPr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1B22F19A-EFAC-97CA-6E5E-5D8686250544}"/>
                </a:ext>
              </a:extLst>
            </p:cNvPr>
            <p:cNvSpPr/>
            <p:nvPr/>
          </p:nvSpPr>
          <p:spPr>
            <a:xfrm>
              <a:off x="0" y="0"/>
              <a:ext cx="2978382" cy="2907984"/>
            </a:xfrm>
            <a:custGeom>
              <a:avLst/>
              <a:gdLst/>
              <a:ahLst/>
              <a:cxnLst/>
              <a:rect l="l" t="t" r="r" b="b"/>
              <a:pathLst>
                <a:path w="2978382" h="2907984">
                  <a:moveTo>
                    <a:pt x="0" y="0"/>
                  </a:moveTo>
                  <a:lnTo>
                    <a:pt x="2978382" y="0"/>
                  </a:lnTo>
                  <a:lnTo>
                    <a:pt x="2978382" y="2907984"/>
                  </a:lnTo>
                  <a:lnTo>
                    <a:pt x="0" y="29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" name="Group 9">
              <a:extLst>
                <a:ext uri="{FF2B5EF4-FFF2-40B4-BE49-F238E27FC236}">
                  <a16:creationId xmlns:a16="http://schemas.microsoft.com/office/drawing/2014/main" id="{081130AA-99B8-7BD0-9351-A08FB9D011D3}"/>
                </a:ext>
              </a:extLst>
            </p:cNvPr>
            <p:cNvGrpSpPr/>
            <p:nvPr/>
          </p:nvGrpSpPr>
          <p:grpSpPr>
            <a:xfrm>
              <a:off x="137308" y="302057"/>
              <a:ext cx="987806" cy="987806"/>
              <a:chOff x="0" y="0"/>
              <a:chExt cx="812800" cy="812800"/>
            </a:xfrm>
          </p:grpSpPr>
          <p:sp>
            <p:nvSpPr>
              <p:cNvPr id="48" name="Freeform 10">
                <a:extLst>
                  <a:ext uri="{FF2B5EF4-FFF2-40B4-BE49-F238E27FC236}">
                    <a16:creationId xmlns:a16="http://schemas.microsoft.com/office/drawing/2014/main" id="{16D3FB93-DEF4-9F6C-DA6D-22C4ED5983E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11">
                <a:extLst>
                  <a:ext uri="{FF2B5EF4-FFF2-40B4-BE49-F238E27FC236}">
                    <a16:creationId xmlns:a16="http://schemas.microsoft.com/office/drawing/2014/main" id="{729ABFE0-F6DA-9579-3D98-FDBFE39D55E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5F765FDB-999D-C0C1-4D52-50CFF5F65A1E}"/>
                </a:ext>
              </a:extLst>
            </p:cNvPr>
            <p:cNvSpPr/>
            <p:nvPr/>
          </p:nvSpPr>
          <p:spPr>
            <a:xfrm>
              <a:off x="210454" y="640279"/>
              <a:ext cx="841515" cy="311360"/>
            </a:xfrm>
            <a:custGeom>
              <a:avLst/>
              <a:gdLst/>
              <a:ahLst/>
              <a:cxnLst/>
              <a:rect l="l" t="t" r="r" b="b"/>
              <a:pathLst>
                <a:path w="841515" h="311360">
                  <a:moveTo>
                    <a:pt x="0" y="0"/>
                  </a:moveTo>
                  <a:lnTo>
                    <a:pt x="841514" y="0"/>
                  </a:lnTo>
                  <a:lnTo>
                    <a:pt x="841514" y="311361"/>
                  </a:lnTo>
                  <a:lnTo>
                    <a:pt x="0" y="311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Box 14">
            <a:extLst>
              <a:ext uri="{FF2B5EF4-FFF2-40B4-BE49-F238E27FC236}">
                <a16:creationId xmlns:a16="http://schemas.microsoft.com/office/drawing/2014/main" id="{082C3AC5-AB3F-7E03-2240-8E1BE122F16E}"/>
              </a:ext>
            </a:extLst>
          </p:cNvPr>
          <p:cNvSpPr txBox="1">
            <a:spLocks noChangeAspect="1"/>
          </p:cNvSpPr>
          <p:nvPr/>
        </p:nvSpPr>
        <p:spPr>
          <a:xfrm rot="19861336">
            <a:off x="3938678" y="4209865"/>
            <a:ext cx="1784076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DepositEthers</a:t>
            </a:r>
            <a:r>
              <a:rPr lang="en-US" sz="1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  <a:p>
            <a:pPr algn="ctr"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(Deposits Ethers to generate a wrapped Ether on a different chain)</a:t>
            </a:r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33C63F01-C913-28D3-80C9-38E072ACF266}"/>
              </a:ext>
            </a:extLst>
          </p:cNvPr>
          <p:cNvSpPr txBox="1">
            <a:spLocks noChangeAspect="1"/>
          </p:cNvSpPr>
          <p:nvPr/>
        </p:nvSpPr>
        <p:spPr>
          <a:xfrm rot="1951780">
            <a:off x="6543746" y="4276842"/>
            <a:ext cx="1796270" cy="6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</a:t>
            </a:r>
            <a:r>
              <a:rPr lang="en-US" sz="16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wETH</a:t>
            </a:r>
            <a:r>
              <a:rPr lang="en-US" sz="1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()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(Generates wrapped Ethers equivalent to the amount that was locked)</a:t>
            </a:r>
          </a:p>
        </p:txBody>
      </p:sp>
      <p:sp>
        <p:nvSpPr>
          <p:cNvPr id="54" name="Freeform 17">
            <a:extLst>
              <a:ext uri="{FF2B5EF4-FFF2-40B4-BE49-F238E27FC236}">
                <a16:creationId xmlns:a16="http://schemas.microsoft.com/office/drawing/2014/main" id="{2CE0BA26-6E7F-244C-4C52-2D35E497619C}"/>
              </a:ext>
            </a:extLst>
          </p:cNvPr>
          <p:cNvSpPr>
            <a:spLocks noChangeAspect="1"/>
          </p:cNvSpPr>
          <p:nvPr/>
        </p:nvSpPr>
        <p:spPr>
          <a:xfrm rot="4011786">
            <a:off x="7011218" y="4209379"/>
            <a:ext cx="768628" cy="563980"/>
          </a:xfrm>
          <a:custGeom>
            <a:avLst/>
            <a:gdLst/>
            <a:ahLst/>
            <a:cxnLst/>
            <a:rect l="l" t="t" r="r" b="b"/>
            <a:pathLst>
              <a:path w="1996479" h="1464916">
                <a:moveTo>
                  <a:pt x="0" y="0"/>
                </a:moveTo>
                <a:lnTo>
                  <a:pt x="1996478" y="0"/>
                </a:lnTo>
                <a:lnTo>
                  <a:pt x="1996478" y="1464916"/>
                </a:lnTo>
                <a:lnTo>
                  <a:pt x="0" y="1464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18">
            <a:extLst>
              <a:ext uri="{FF2B5EF4-FFF2-40B4-BE49-F238E27FC236}">
                <a16:creationId xmlns:a16="http://schemas.microsoft.com/office/drawing/2014/main" id="{4FDDFDA4-5081-1C7F-798B-15BEEBB6EFD6}"/>
              </a:ext>
            </a:extLst>
          </p:cNvPr>
          <p:cNvSpPr>
            <a:spLocks noChangeAspect="1"/>
          </p:cNvSpPr>
          <p:nvPr/>
        </p:nvSpPr>
        <p:spPr>
          <a:xfrm rot="19548089">
            <a:off x="4609049" y="4279553"/>
            <a:ext cx="499359" cy="494986"/>
          </a:xfrm>
          <a:custGeom>
            <a:avLst/>
            <a:gdLst/>
            <a:ahLst/>
            <a:cxnLst/>
            <a:rect l="l" t="t" r="r" b="b"/>
            <a:pathLst>
              <a:path w="1297054" h="1285705">
                <a:moveTo>
                  <a:pt x="0" y="0"/>
                </a:moveTo>
                <a:lnTo>
                  <a:pt x="1297054" y="0"/>
                </a:lnTo>
                <a:lnTo>
                  <a:pt x="1297054" y="1285705"/>
                </a:lnTo>
                <a:lnTo>
                  <a:pt x="0" y="1285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655F8E3-E1AC-B2D6-0FDE-88B25FE5C95E}"/>
              </a:ext>
            </a:extLst>
          </p:cNvPr>
          <p:cNvCxnSpPr/>
          <p:nvPr/>
        </p:nvCxnSpPr>
        <p:spPr>
          <a:xfrm flipH="1">
            <a:off x="4486451" y="4452917"/>
            <a:ext cx="1263099" cy="691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5031D1D-BA8F-F56C-CB2B-4A7FAD6873D3}"/>
              </a:ext>
            </a:extLst>
          </p:cNvPr>
          <p:cNvCxnSpPr>
            <a:cxnSpLocks/>
          </p:cNvCxnSpPr>
          <p:nvPr/>
        </p:nvCxnSpPr>
        <p:spPr>
          <a:xfrm>
            <a:off x="6528846" y="4479656"/>
            <a:ext cx="1069383" cy="66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08641F6-C28B-9F44-12C7-BCD6A340BB6A}"/>
              </a:ext>
            </a:extLst>
          </p:cNvPr>
          <p:cNvSpPr txBox="1"/>
          <p:nvPr/>
        </p:nvSpPr>
        <p:spPr>
          <a:xfrm>
            <a:off x="3787916" y="6169156"/>
            <a:ext cx="118981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Ethereum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CEE7064-0CDE-DCAB-F0B5-A93BD0A3224B}"/>
              </a:ext>
            </a:extLst>
          </p:cNvPr>
          <p:cNvSpPr txBox="1"/>
          <p:nvPr/>
        </p:nvSpPr>
        <p:spPr>
          <a:xfrm>
            <a:off x="7315753" y="6169156"/>
            <a:ext cx="90805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Solana</a:t>
            </a:r>
          </a:p>
        </p:txBody>
      </p:sp>
    </p:spTree>
    <p:extLst>
      <p:ext uri="{BB962C8B-B14F-4D97-AF65-F5344CB8AC3E}">
        <p14:creationId xmlns:p14="http://schemas.microsoft.com/office/powerpoint/2010/main" val="200032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  <p:bldP spid="54" grpId="0" animBg="1"/>
      <p:bldP spid="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Interoperability and Cross-chain Security - Risks</a:t>
            </a:r>
          </a:p>
          <a:p>
            <a:r>
              <a:rPr lang="en-US" dirty="0"/>
              <a:t>Vulnerability in </a:t>
            </a:r>
            <a:r>
              <a:rPr lang="en-US" dirty="0" err="1"/>
              <a:t>Blockchain</a:t>
            </a:r>
            <a:r>
              <a:rPr lang="en-US" dirty="0"/>
              <a:t> bridge smart contract</a:t>
            </a:r>
          </a:p>
          <a:p>
            <a:pPr lvl="1"/>
            <a:r>
              <a:rPr lang="en-US" dirty="0"/>
              <a:t>Example: Wormhole Bridge Exploit (February 2022) - Wormhole Bridge Smart contract served as a messaging and token bridge between </a:t>
            </a:r>
            <a:r>
              <a:rPr lang="en-US" dirty="0" err="1"/>
              <a:t>Ethereum</a:t>
            </a:r>
            <a:r>
              <a:rPr lang="en-US" dirty="0"/>
              <a:t> and Solana</a:t>
            </a:r>
          </a:p>
          <a:p>
            <a:pPr lvl="2"/>
            <a:r>
              <a:rPr lang="en-US" dirty="0"/>
              <a:t>A vulnerability in the Wormhole bridge’s smart contract allowed an attacker to mint wrapped ETH (</a:t>
            </a:r>
            <a:r>
              <a:rPr lang="en-US" dirty="0" err="1"/>
              <a:t>wETH</a:t>
            </a:r>
            <a:r>
              <a:rPr lang="en-US" dirty="0"/>
              <a:t>) on Solana without depositing real ETH on </a:t>
            </a:r>
            <a:r>
              <a:rPr lang="en-US" dirty="0" err="1"/>
              <a:t>Ethereum</a:t>
            </a:r>
            <a:r>
              <a:rPr lang="en-US" dirty="0"/>
              <a:t>, resulting in a loss of around $320 Million in ETH</a:t>
            </a:r>
          </a:p>
          <a:p>
            <a:pPr marL="0" indent="0">
              <a:buNone/>
            </a:pPr>
            <a:r>
              <a:rPr lang="en-US" b="1" dirty="0"/>
              <a:t>Controls </a:t>
            </a:r>
          </a:p>
          <a:p>
            <a:r>
              <a:rPr lang="en-US" dirty="0"/>
              <a:t>Use audited bridging protocols</a:t>
            </a:r>
          </a:p>
          <a:p>
            <a:r>
              <a:rPr lang="en-US" dirty="0"/>
              <a:t>Implement layered verification models</a:t>
            </a:r>
          </a:p>
          <a:p>
            <a:r>
              <a:rPr lang="en-US" dirty="0"/>
              <a:t>Deploy on-chain monitoring tools to track unusual activity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14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43314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82F45-E9FB-6298-ECE8-FA06CB39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E37A-A21C-5447-CBE2-A639C9D55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</a:t>
            </a:r>
            <a:r>
              <a:rPr lang="en-US" dirty="0">
                <a:latin typeface="+mn-lt"/>
              </a:rPr>
              <a:t>28</a:t>
            </a:r>
            <a:br>
              <a:rPr lang="en-PK" dirty="0">
                <a:latin typeface="+mn-lt"/>
              </a:rPr>
            </a:br>
            <a:r>
              <a:rPr lang="en-US">
                <a:latin typeface="+mn-lt"/>
              </a:rPr>
              <a:t>Thursday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May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7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9101F-C22A-66B0-B005-3314B256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ERC-20 Limitations: Contracts Cannot Detect Incoming Tokens</a:t>
            </a:r>
          </a:p>
          <a:p>
            <a:r>
              <a:rPr lang="en-US" dirty="0"/>
              <a:t>ERC-20 transfers do not notify the receiving contract</a:t>
            </a:r>
          </a:p>
          <a:p>
            <a:r>
              <a:rPr lang="en-US" dirty="0"/>
              <a:t>No callback or hook mechanism</a:t>
            </a:r>
          </a:p>
          <a:p>
            <a:r>
              <a:rPr lang="en-US" dirty="0"/>
              <a:t>Smart contracts cannot react to deposits automatically</a:t>
            </a:r>
          </a:p>
          <a:p>
            <a:pPr marL="0" indent="0">
              <a:buNone/>
            </a:pPr>
            <a:r>
              <a:rPr lang="en-US" b="1" dirty="0"/>
              <a:t>Example Scenario - </a:t>
            </a:r>
            <a:r>
              <a:rPr lang="en-US" dirty="0"/>
              <a:t>User attempts to deposit 100 tokens into a staking contract</a:t>
            </a:r>
          </a:p>
          <a:p>
            <a:pPr lvl="1"/>
            <a:r>
              <a:rPr lang="en-US" dirty="0"/>
              <a:t>User Sends Tokens (ERC-20 Transfer) - </a:t>
            </a:r>
            <a:r>
              <a:rPr lang="en-US" sz="2400" dirty="0"/>
              <a:t>User directly calls the token contract:</a:t>
            </a:r>
          </a:p>
          <a:p>
            <a:pPr marL="914377" lvl="2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ERC20.transfer(</a:t>
            </a:r>
            <a:r>
              <a:rPr lang="en-US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StakingContractAddress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, 100)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The 100 tokens move from the user to the staking contract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24861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4141"/>
            <a:ext cx="10515600" cy="4827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ERC-20 Limitations: Contracts Cannot Detect Incoming Tokens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17</a:t>
            </a:fld>
            <a:endParaRPr lang="aa-ET"/>
          </a:p>
        </p:txBody>
      </p:sp>
      <p:sp>
        <p:nvSpPr>
          <p:cNvPr id="5" name="Rectangle 4"/>
          <p:cNvSpPr/>
          <p:nvPr/>
        </p:nvSpPr>
        <p:spPr>
          <a:xfrm>
            <a:off x="2425430" y="1809036"/>
            <a:ext cx="9251004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deposit</a:t>
            </a:r>
            <a:r>
              <a:rPr lang="en-US" dirty="0">
                <a:latin typeface="Consolas" panose="020B0609020204030204" pitchFamily="49" charset="0"/>
              </a:rPr>
              <a:t>(uint256 amount) external {</a:t>
            </a:r>
          </a:p>
          <a:p>
            <a:r>
              <a:rPr lang="en-US" dirty="0">
                <a:latin typeface="Consolas" panose="020B0609020204030204" pitchFamily="49" charset="0"/>
              </a:rPr>
              <a:t>    //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transfer tokens into contract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stakingToken.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transferFrom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msg.sender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address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37ED8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latin typeface="Consolas" panose="020B0609020204030204" pitchFamily="49" charset="0"/>
              </a:rPr>
              <a:t>), amount);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// update user stake balance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stakedBalance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msg.sender</a:t>
            </a:r>
            <a:r>
              <a:rPr lang="en-US" dirty="0">
                <a:latin typeface="Consolas" panose="020B0609020204030204" pitchFamily="49" charset="0"/>
              </a:rPr>
              <a:t>] += amount;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// emit event</a:t>
            </a:r>
          </a:p>
          <a:p>
            <a:r>
              <a:rPr lang="en-US" dirty="0">
                <a:latin typeface="Consolas" panose="020B0609020204030204" pitchFamily="49" charset="0"/>
              </a:rPr>
              <a:t>    emit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Deposited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msg.sender</a:t>
            </a:r>
            <a:r>
              <a:rPr lang="en-US" dirty="0">
                <a:latin typeface="Consolas" panose="020B0609020204030204" pitchFamily="49" charset="0"/>
              </a:rPr>
              <a:t>, amount);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25852" y="4741810"/>
            <a:ext cx="988974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solidFill>
                  <a:srgbClr val="FF0000"/>
                </a:solidFill>
              </a:rPr>
              <a:t>But this function is never called when using ERC-20   </a:t>
            </a:r>
            <a:r>
              <a:rPr kumimoji="0" lang="en-US" altLang="en-US" sz="2400" b="1" i="0" u="none" strike="noStrike" cap="none" normalizeH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transfer()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The 100 tokens sit idle in contract balance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The user is not staked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The contract does not credit reward</a:t>
            </a:r>
          </a:p>
        </p:txBody>
      </p:sp>
    </p:spTree>
    <p:extLst>
      <p:ext uri="{BB962C8B-B14F-4D97-AF65-F5344CB8AC3E}">
        <p14:creationId xmlns:p14="http://schemas.microsoft.com/office/powerpoint/2010/main" val="88174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</a:t>
            </a:r>
            <a:r>
              <a:rPr lang="en-US" dirty="0" err="1"/>
              <a:t>Blockchain</a:t>
            </a:r>
            <a:r>
              <a:rPr lang="en-US" dirty="0"/>
              <a:t>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ERC-20 Limitations: Contracts Cannot Detect Incoming Tokens</a:t>
            </a:r>
          </a:p>
          <a:p>
            <a:r>
              <a:rPr lang="en-US" dirty="0"/>
              <a:t>ERC-777 Solution: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tokensReceived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Hook</a:t>
            </a:r>
          </a:p>
          <a:p>
            <a:pPr lvl="1"/>
            <a:r>
              <a:rPr lang="en-US" dirty="0"/>
              <a:t>Automatically notifies the receiving contract on every token transfer</a:t>
            </a:r>
          </a:p>
          <a:p>
            <a:pPr lvl="1"/>
            <a:r>
              <a:rPr lang="en-US" dirty="0"/>
              <a:t>Contract can validate, process, or reject incoming tokens</a:t>
            </a:r>
          </a:p>
          <a:p>
            <a:pPr lvl="1"/>
            <a:r>
              <a:rPr lang="en-US" dirty="0"/>
              <a:t>Eliminates silent transfers and prevents stuck deposits</a:t>
            </a:r>
          </a:p>
          <a:p>
            <a:pPr marL="0" indent="0">
              <a:buNone/>
            </a:pPr>
            <a:r>
              <a:rPr lang="en-US" b="1" dirty="0"/>
              <a:t>How it works</a:t>
            </a:r>
          </a:p>
          <a:p>
            <a:pPr marL="0" indent="0">
              <a:buNone/>
            </a:pPr>
            <a:r>
              <a:rPr lang="en-US" dirty="0"/>
              <a:t>1. User sends tokens: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send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StakingContract</a:t>
            </a:r>
            <a:r>
              <a:rPr lang="en-US" dirty="0">
                <a:latin typeface="Consolas" panose="020B0609020204030204" pitchFamily="49" charset="0"/>
              </a:rPr>
              <a:t>, 100)</a:t>
            </a:r>
          </a:p>
          <a:p>
            <a:pPr marL="0" indent="0">
              <a:buNone/>
            </a:pPr>
            <a:r>
              <a:rPr lang="en-US" dirty="0"/>
              <a:t>2. ERC-777 triggers: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tokensReceived</a:t>
            </a:r>
            <a:r>
              <a:rPr lang="en-US" dirty="0">
                <a:latin typeface="Consolas" panose="020B0609020204030204" pitchFamily="49" charset="0"/>
              </a:rPr>
              <a:t>(operator, from, to, amount, ...)</a:t>
            </a:r>
          </a:p>
          <a:p>
            <a:pPr marL="0" indent="0">
              <a:buNone/>
            </a:pPr>
            <a:r>
              <a:rPr lang="en-US" dirty="0"/>
              <a:t>3. Staking contract updates user balance, logs deposit, starts rewards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18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92504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D969-7EB4-2493-4F70-628C9A47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9068-93A9-5B76-BE4D-540EFB4C8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Enterprise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94D3C-5C33-E8ED-AB18-32878BA7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19</a:t>
            </a:fld>
            <a:endParaRPr lang="aa-E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467" t="37802" r="69892" b="46166"/>
          <a:stretch/>
        </p:blipFill>
        <p:spPr>
          <a:xfrm>
            <a:off x="882467" y="1515822"/>
            <a:ext cx="10375715" cy="19789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15674" t="29631" r="69045" b="62054"/>
          <a:stretch/>
        </p:blipFill>
        <p:spPr>
          <a:xfrm>
            <a:off x="658730" y="3174187"/>
            <a:ext cx="7668146" cy="11735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8816" t="34314" r="70152" b="44623"/>
          <a:stretch/>
        </p:blipFill>
        <p:spPr>
          <a:xfrm>
            <a:off x="658730" y="4586486"/>
            <a:ext cx="5750892" cy="16197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/>
          <a:srcRect l="9051" t="31022" r="71030" b="60959"/>
          <a:stretch/>
        </p:blipFill>
        <p:spPr>
          <a:xfrm>
            <a:off x="2427632" y="5508393"/>
            <a:ext cx="8687851" cy="98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2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D969-7EB4-2493-4F70-628C9A47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9068-93A9-5B76-BE4D-540EFB4C8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Enterprise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94D3C-5C33-E8ED-AB18-32878BA7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20</a:t>
            </a:fld>
            <a:endParaRPr lang="aa-ET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C10C24EC-6ECD-4421-CF1E-B5A0BB3A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967"/>
            <a:ext cx="5257800" cy="5143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API Security - Risks</a:t>
            </a:r>
          </a:p>
          <a:p>
            <a:r>
              <a:rPr lang="en-US" dirty="0"/>
              <a:t>Unauthorized access via exposed Treasury or service APIs</a:t>
            </a:r>
          </a:p>
          <a:p>
            <a:pPr lvl="1"/>
            <a:r>
              <a:rPr lang="en-US" dirty="0"/>
              <a:t>If APIs are not properly secured, attackers can use them to move funds, extract sensitive data, or manipulate system behavior</a:t>
            </a:r>
          </a:p>
          <a:p>
            <a:r>
              <a:rPr lang="en-US" dirty="0"/>
              <a:t>Poor authentication and rate limiting</a:t>
            </a:r>
          </a:p>
          <a:p>
            <a:pPr lvl="1"/>
            <a:r>
              <a:rPr lang="en-US" dirty="0"/>
              <a:t>APIs lacking strong user identity checks or traffic throttling are more susceptible to brute-force or scraping attacks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76" y="1199846"/>
            <a:ext cx="5590410" cy="51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3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DBB1-9FC5-F2A1-F636-C26515FD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76F6-B705-65CF-637A-5F8C5EAB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Enterprise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0AEF6-F76D-5C44-C46B-10CA0917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21</a:t>
            </a:fld>
            <a:endParaRPr lang="aa-ET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A334A234-0068-B324-001C-DED0A28E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967"/>
            <a:ext cx="5257800" cy="5143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Customer Wallet Security - Risks</a:t>
            </a:r>
          </a:p>
          <a:p>
            <a:r>
              <a:rPr lang="en-GB" dirty="0"/>
              <a:t>Insider threats or misconfigured permissions</a:t>
            </a:r>
          </a:p>
          <a:p>
            <a:pPr lvl="1"/>
            <a:r>
              <a:rPr lang="en-GB" dirty="0"/>
              <a:t>Employees or internal actors with excessive access rights may intentionally or unintentionally compromise customer wallet (private key)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76" y="1199846"/>
            <a:ext cx="5590410" cy="51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7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Considerations – Enterprise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348967"/>
            <a:ext cx="4970318" cy="48279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Controls</a:t>
            </a:r>
          </a:p>
          <a:p>
            <a:r>
              <a:rPr lang="en-US" dirty="0"/>
              <a:t>Use strong authentication mechanisms (e.g., OAuth 2.0, </a:t>
            </a:r>
            <a:r>
              <a:rPr lang="en-US" dirty="0" err="1"/>
              <a:t>mTLS</a:t>
            </a:r>
            <a:r>
              <a:rPr lang="en-US" dirty="0"/>
              <a:t>)</a:t>
            </a:r>
          </a:p>
          <a:p>
            <a:r>
              <a:rPr lang="en-US" dirty="0"/>
              <a:t>Implement access control management for both internal and external users</a:t>
            </a:r>
          </a:p>
          <a:p>
            <a:r>
              <a:rPr lang="en-US" dirty="0"/>
              <a:t>Enforce API rate limiting</a:t>
            </a:r>
          </a:p>
          <a:p>
            <a:r>
              <a:rPr lang="en-US" dirty="0"/>
              <a:t>Log and audit all API and wallet accesses</a:t>
            </a:r>
          </a:p>
          <a:p>
            <a:r>
              <a:rPr lang="en-US" dirty="0"/>
              <a:t>Place APIs behind WAFs and API gateways</a:t>
            </a:r>
          </a:p>
          <a:p>
            <a:r>
              <a:rPr lang="en-US" dirty="0"/>
              <a:t>Ensure end-point protection is enabled on user devices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22</a:t>
            </a:fld>
            <a:endParaRPr lang="aa-E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76" y="1199846"/>
            <a:ext cx="5590410" cy="51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risks span the </a:t>
            </a:r>
            <a:r>
              <a:rPr lang="en-US" dirty="0" err="1"/>
              <a:t>Blockchain</a:t>
            </a:r>
            <a:r>
              <a:rPr lang="en-US" dirty="0"/>
              <a:t> Layer (smart contracts, key custody, cross-chain bridges) and the Enterprise Layer (APIs, insider threats)</a:t>
            </a:r>
          </a:p>
          <a:p>
            <a:r>
              <a:rPr lang="en-US" dirty="0" err="1"/>
              <a:t>Blockchain</a:t>
            </a:r>
            <a:r>
              <a:rPr lang="en-US" dirty="0"/>
              <a:t> Layer controls: smart contract audits &amp; formal verification, secure coding standards, HSMs, multi-signature wallets, and monitored cross-chain protocols</a:t>
            </a:r>
          </a:p>
          <a:p>
            <a:r>
              <a:rPr lang="en-US" dirty="0"/>
              <a:t>Enterprise Layer controls: strong API authentication &amp; rate limiting, access management, audit logging, and endpoint protection</a:t>
            </a:r>
          </a:p>
          <a:p>
            <a:r>
              <a:rPr lang="en-US" dirty="0"/>
              <a:t>Continuous monitoring &amp; response: real-time threat detection, anomaly tracking, and defined recovery procedures</a:t>
            </a:r>
          </a:p>
          <a:p>
            <a:r>
              <a:rPr lang="en-US" dirty="0"/>
              <a:t>A layered and holistic security strategy integrating both layers ensures resilience, protects assets, and builds trust in </a:t>
            </a:r>
            <a:r>
              <a:rPr lang="en-US" dirty="0" err="1"/>
              <a:t>blockchain</a:t>
            </a:r>
            <a:r>
              <a:rPr lang="en-US" dirty="0"/>
              <a:t>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2469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Theme_Ayesh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Ayesha" id="{AE0499E2-76F2-4F63-850D-D79D88549216}" vid="{195E5D1D-B7AE-4F98-A698-07C9495039D3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Theme_Ayesha</Template>
  <TotalTime>25775</TotalTime>
  <Words>1370</Words>
  <Application>Microsoft Office PowerPoint</Application>
  <PresentationFormat>Widescreen</PresentationFormat>
  <Paragraphs>225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Candara</vt:lpstr>
      <vt:lpstr>Canva Sans</vt:lpstr>
      <vt:lpstr>Consolas</vt:lpstr>
      <vt:lpstr>System Font Regular</vt:lpstr>
      <vt:lpstr>Wingdings</vt:lpstr>
      <vt:lpstr>Theme_Ayesha</vt:lpstr>
      <vt:lpstr>1_Office Theme</vt:lpstr>
      <vt:lpstr>Introduction to Blockchain  CSE-355</vt:lpstr>
      <vt:lpstr>Lecture 27 Tuesday, May 5, 2026</vt:lpstr>
      <vt:lpstr>Security Risks and Controls</vt:lpstr>
      <vt:lpstr>Security Considerations – Public vs. Private Blockchains</vt:lpstr>
      <vt:lpstr>Security Considerations</vt:lpstr>
      <vt:lpstr>Security Considerations – Blockchain Layer</vt:lpstr>
      <vt:lpstr>Security Considerations – Blockchain Layer</vt:lpstr>
      <vt:lpstr>Security Considerations – Blockchain Layer</vt:lpstr>
      <vt:lpstr>Security Considerations – Blockchain Layer</vt:lpstr>
      <vt:lpstr>Security Considerations – Blockchain Layer</vt:lpstr>
      <vt:lpstr>Security Considerations – Blockchain Layer</vt:lpstr>
      <vt:lpstr>Security Considerations – Blockchain Layer</vt:lpstr>
      <vt:lpstr>Security Considerations – Blockchain Layer</vt:lpstr>
      <vt:lpstr>Security Considerations – Blockchain Layer</vt:lpstr>
      <vt:lpstr>Lecture 28 Thursday, May 7, 2026</vt:lpstr>
      <vt:lpstr>Security Considerations – Blockchain Layer</vt:lpstr>
      <vt:lpstr>Security Considerations – Blockchain Layer</vt:lpstr>
      <vt:lpstr>Security Considerations – Blockchain Layer</vt:lpstr>
      <vt:lpstr>Security Considerations – Enterprise Layer</vt:lpstr>
      <vt:lpstr>Security Considerations – Enterprise Layer</vt:lpstr>
      <vt:lpstr>Security Considerations – Enterprise Layer</vt:lpstr>
      <vt:lpstr>Security Considerations – Enterprise Layer</vt:lpstr>
      <vt:lpstr>Concluding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Fault Management in Business Processes</dc:title>
  <dc:creator>Muhammad Adeel Zahid</dc:creator>
  <cp:lastModifiedBy>Dr. Ahmed Akhtar / Assistant Professor</cp:lastModifiedBy>
  <cp:revision>2978</cp:revision>
  <cp:lastPrinted>2019-12-07T09:45:34Z</cp:lastPrinted>
  <dcterms:created xsi:type="dcterms:W3CDTF">2019-06-07T14:41:21Z</dcterms:created>
  <dcterms:modified xsi:type="dcterms:W3CDTF">2026-04-23T06:47:32Z</dcterms:modified>
</cp:coreProperties>
</file>