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8" r:id="rId1"/>
  </p:sldMasterIdLst>
  <p:notesMasterIdLst>
    <p:notesMasterId r:id="rId30"/>
  </p:notesMasterIdLst>
  <p:sldIdLst>
    <p:sldId id="1497" r:id="rId2"/>
    <p:sldId id="1474" r:id="rId3"/>
    <p:sldId id="1475" r:id="rId4"/>
    <p:sldId id="1459" r:id="rId5"/>
    <p:sldId id="1456" r:id="rId6"/>
    <p:sldId id="1457" r:id="rId7"/>
    <p:sldId id="1458" r:id="rId8"/>
    <p:sldId id="1496" r:id="rId9"/>
    <p:sldId id="1453" r:id="rId10"/>
    <p:sldId id="1454" r:id="rId11"/>
    <p:sldId id="1455" r:id="rId12"/>
    <p:sldId id="1476" r:id="rId13"/>
    <p:sldId id="1382" r:id="rId14"/>
    <p:sldId id="1404" r:id="rId15"/>
    <p:sldId id="1432" r:id="rId16"/>
    <p:sldId id="1361" r:id="rId17"/>
    <p:sldId id="1481" r:id="rId18"/>
    <p:sldId id="1485" r:id="rId19"/>
    <p:sldId id="1486" r:id="rId20"/>
    <p:sldId id="1487" r:id="rId21"/>
    <p:sldId id="1433" r:id="rId22"/>
    <p:sldId id="1483" r:id="rId23"/>
    <p:sldId id="1468" r:id="rId24"/>
    <p:sldId id="1470" r:id="rId25"/>
    <p:sldId id="1434" r:id="rId26"/>
    <p:sldId id="1419" r:id="rId27"/>
    <p:sldId id="1477" r:id="rId28"/>
    <p:sldId id="1439" r:id="rId2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308D3E"/>
    <a:srgbClr val="FFD579"/>
    <a:srgbClr val="C5FFFC"/>
    <a:srgbClr val="D5FC79"/>
    <a:srgbClr val="9437FF"/>
    <a:srgbClr val="FF40FF"/>
    <a:srgbClr val="1BA05F"/>
    <a:srgbClr val="FFECE5"/>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2F25D-9F98-4A28-A3F9-49390CAFD28A}" v="3" dt="2026-01-27T09:23:00.3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82470"/>
  </p:normalViewPr>
  <p:slideViewPr>
    <p:cSldViewPr snapToGrid="0" snapToObjects="1">
      <p:cViewPr varScale="1">
        <p:scale>
          <a:sx n="65" d="100"/>
          <a:sy n="65" d="100"/>
        </p:scale>
        <p:origin x="533"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khtar" userId="24df8cbf-c4bb-4b0f-990a-c34b46f32809" providerId="ADAL" clId="{7B603757-AF4F-447D-9CF3-5B3B3781D1BD}"/>
    <pc:docChg chg="undo custSel addSld delSld modSld modMainMaster">
      <pc:chgData name="Ahmed Akhtar" userId="24df8cbf-c4bb-4b0f-990a-c34b46f32809" providerId="ADAL" clId="{7B603757-AF4F-447D-9CF3-5B3B3781D1BD}" dt="2026-01-29T06:08:55.457" v="64" actId="478"/>
      <pc:docMkLst>
        <pc:docMk/>
      </pc:docMkLst>
      <pc:sldChg chg="delSp modSp mod">
        <pc:chgData name="Ahmed Akhtar" userId="24df8cbf-c4bb-4b0f-990a-c34b46f32809" providerId="ADAL" clId="{7B603757-AF4F-447D-9CF3-5B3B3781D1BD}" dt="2026-01-29T06:08:55.457" v="64" actId="478"/>
        <pc:sldMkLst>
          <pc:docMk/>
          <pc:sldMk cId="1943967450" sldId="1474"/>
        </pc:sldMkLst>
        <pc:spChg chg="mod">
          <ac:chgData name="Ahmed Akhtar" userId="24df8cbf-c4bb-4b0f-990a-c34b46f32809" providerId="ADAL" clId="{7B603757-AF4F-447D-9CF3-5B3B3781D1BD}" dt="2026-01-27T07:05:02.680" v="51" actId="20577"/>
          <ac:spMkLst>
            <pc:docMk/>
            <pc:sldMk cId="1943967450" sldId="1474"/>
            <ac:spMk id="2" creationId="{82A72AFA-7611-3D93-0C8E-E239117160C3}"/>
          </ac:spMkLst>
        </pc:spChg>
        <pc:spChg chg="del">
          <ac:chgData name="Ahmed Akhtar" userId="24df8cbf-c4bb-4b0f-990a-c34b46f32809" providerId="ADAL" clId="{7B603757-AF4F-447D-9CF3-5B3B3781D1BD}" dt="2026-01-29T06:08:55.457" v="64" actId="478"/>
          <ac:spMkLst>
            <pc:docMk/>
            <pc:sldMk cId="1943967450" sldId="1474"/>
            <ac:spMk id="3" creationId="{BE803088-320A-E3CF-1800-2949646C4878}"/>
          </ac:spMkLst>
        </pc:spChg>
      </pc:sldChg>
      <pc:sldChg chg="modSp mod">
        <pc:chgData name="Ahmed Akhtar" userId="24df8cbf-c4bb-4b0f-990a-c34b46f32809" providerId="ADAL" clId="{7B603757-AF4F-447D-9CF3-5B3B3781D1BD}" dt="2026-01-27T09:26:06.727" v="63" actId="167"/>
        <pc:sldMkLst>
          <pc:docMk/>
          <pc:sldMk cId="779133209" sldId="1475"/>
        </pc:sldMkLst>
        <pc:spChg chg="mod">
          <ac:chgData name="Ahmed Akhtar" userId="24df8cbf-c4bb-4b0f-990a-c34b46f32809" providerId="ADAL" clId="{7B603757-AF4F-447D-9CF3-5B3B3781D1BD}" dt="2026-01-27T09:25:56.749" v="61" actId="1076"/>
          <ac:spMkLst>
            <pc:docMk/>
            <pc:sldMk cId="779133209" sldId="1475"/>
            <ac:spMk id="9" creationId="{844EB213-8D67-08EF-5A04-113C187AF464}"/>
          </ac:spMkLst>
        </pc:spChg>
        <pc:spChg chg="ord">
          <ac:chgData name="Ahmed Akhtar" userId="24df8cbf-c4bb-4b0f-990a-c34b46f32809" providerId="ADAL" clId="{7B603757-AF4F-447D-9CF3-5B3B3781D1BD}" dt="2026-01-27T09:26:06.727" v="63" actId="167"/>
          <ac:spMkLst>
            <pc:docMk/>
            <pc:sldMk cId="779133209" sldId="1475"/>
            <ac:spMk id="10" creationId="{57A08DF9-05F0-DA4D-2ED5-CC537F59E1A6}"/>
          </ac:spMkLst>
        </pc:spChg>
        <pc:spChg chg="mod">
          <ac:chgData name="Ahmed Akhtar" userId="24df8cbf-c4bb-4b0f-990a-c34b46f32809" providerId="ADAL" clId="{7B603757-AF4F-447D-9CF3-5B3B3781D1BD}" dt="2026-01-27T09:23:00.348" v="57" actId="20577"/>
          <ac:spMkLst>
            <pc:docMk/>
            <pc:sldMk cId="779133209" sldId="1475"/>
            <ac:spMk id="12" creationId="{B6DFFB5B-06AC-3903-8A81-2DBEA6CDD51F}"/>
          </ac:spMkLst>
        </pc:spChg>
        <pc:spChg chg="ord">
          <ac:chgData name="Ahmed Akhtar" userId="24df8cbf-c4bb-4b0f-990a-c34b46f32809" providerId="ADAL" clId="{7B603757-AF4F-447D-9CF3-5B3B3781D1BD}" dt="2026-01-27T09:24:05.665" v="58" actId="166"/>
          <ac:spMkLst>
            <pc:docMk/>
            <pc:sldMk cId="779133209" sldId="1475"/>
            <ac:spMk id="13" creationId="{024AF613-5C5A-9CC5-AC3E-E16629EBD31C}"/>
          </ac:spMkLst>
        </pc:spChg>
        <pc:spChg chg="ord">
          <ac:chgData name="Ahmed Akhtar" userId="24df8cbf-c4bb-4b0f-990a-c34b46f32809" providerId="ADAL" clId="{7B603757-AF4F-447D-9CF3-5B3B3781D1BD}" dt="2026-01-27T09:24:51.186" v="59" actId="166"/>
          <ac:spMkLst>
            <pc:docMk/>
            <pc:sldMk cId="779133209" sldId="1475"/>
            <ac:spMk id="14" creationId="{37B19941-0110-24D8-EACD-C421E9CB5274}"/>
          </ac:spMkLst>
        </pc:spChg>
        <pc:spChg chg="ord">
          <ac:chgData name="Ahmed Akhtar" userId="24df8cbf-c4bb-4b0f-990a-c34b46f32809" providerId="ADAL" clId="{7B603757-AF4F-447D-9CF3-5B3B3781D1BD}" dt="2026-01-27T09:25:31.398" v="60" actId="166"/>
          <ac:spMkLst>
            <pc:docMk/>
            <pc:sldMk cId="779133209" sldId="1475"/>
            <ac:spMk id="15" creationId="{29FA29FC-8972-F817-4D59-4CF11C95DE11}"/>
          </ac:spMkLst>
        </pc:spChg>
      </pc:sldChg>
      <pc:sldChg chg="modSp mod">
        <pc:chgData name="Ahmed Akhtar" userId="24df8cbf-c4bb-4b0f-990a-c34b46f32809" providerId="ADAL" clId="{7B603757-AF4F-447D-9CF3-5B3B3781D1BD}" dt="2026-01-27T07:04:47.468" v="46" actId="2711"/>
        <pc:sldMkLst>
          <pc:docMk/>
          <pc:sldMk cId="2518043891" sldId="1481"/>
        </pc:sldMkLst>
        <pc:spChg chg="mod">
          <ac:chgData name="Ahmed Akhtar" userId="24df8cbf-c4bb-4b0f-990a-c34b46f32809" providerId="ADAL" clId="{7B603757-AF4F-447D-9CF3-5B3B3781D1BD}" dt="2026-01-27T07:04:47.468" v="46" actId="2711"/>
          <ac:spMkLst>
            <pc:docMk/>
            <pc:sldMk cId="2518043891" sldId="1481"/>
            <ac:spMk id="2" creationId="{C017455E-1823-3672-87E6-93685323EB2B}"/>
          </ac:spMkLst>
        </pc:spChg>
      </pc:sldChg>
      <pc:sldChg chg="add">
        <pc:chgData name="Ahmed Akhtar" userId="24df8cbf-c4bb-4b0f-990a-c34b46f32809" providerId="ADAL" clId="{7B603757-AF4F-447D-9CF3-5B3B3781D1BD}" dt="2026-01-27T07:02:48.774" v="0"/>
        <pc:sldMkLst>
          <pc:docMk/>
          <pc:sldMk cId="3805082391" sldId="1497"/>
        </pc:sldMkLst>
      </pc:sldChg>
      <pc:sldMasterChg chg="modSp mod">
        <pc:chgData name="Ahmed Akhtar" userId="24df8cbf-c4bb-4b0f-990a-c34b46f32809" providerId="ADAL" clId="{7B603757-AF4F-447D-9CF3-5B3B3781D1BD}" dt="2026-01-27T07:03:35.530" v="4" actId="20577"/>
        <pc:sldMasterMkLst>
          <pc:docMk/>
          <pc:sldMasterMk cId="2926153553" sldId="2147483668"/>
        </pc:sldMasterMkLst>
        <pc:spChg chg="mod">
          <ac:chgData name="Ahmed Akhtar" userId="24df8cbf-c4bb-4b0f-990a-c34b46f32809" providerId="ADAL" clId="{7B603757-AF4F-447D-9CF3-5B3B3781D1BD}" dt="2026-01-27T07:03:35.530" v="4" actId="20577"/>
          <ac:spMkLst>
            <pc:docMk/>
            <pc:sldMasterMk cId="2926153553" sldId="2147483668"/>
            <ac:spMk id="9" creationId="{CB69E88A-7B5E-60E0-B736-7FCE9C47388C}"/>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13B30-E6E3-CF4E-BBFC-C0D557DB9A15}" type="datetimeFigureOut">
              <a:rPr lang="en-PK" smtClean="0"/>
              <a:t>29/01/2026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07DBF7-D854-5948-86B6-07B87F1D8E96}" type="slidenum">
              <a:rPr lang="en-PK" smtClean="0"/>
              <a:t>‹#›</a:t>
            </a:fld>
            <a:endParaRPr lang="en-PK"/>
          </a:p>
        </p:txBody>
      </p:sp>
    </p:spTree>
    <p:extLst>
      <p:ext uri="{BB962C8B-B14F-4D97-AF65-F5344CB8AC3E}">
        <p14:creationId xmlns:p14="http://schemas.microsoft.com/office/powerpoint/2010/main" val="1414281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441-6582-E7F9-4722-23CA10EF9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CBD-37BA-320F-0498-2FBDDF25A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40E71-C87A-0B56-00D5-27F7BEAA3768}"/>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5946C2-ED0D-D3F0-737B-0299160800D4}"/>
              </a:ext>
            </a:extLst>
          </p:cNvPr>
          <p:cNvSpPr>
            <a:spLocks noGrp="1"/>
          </p:cNvSpPr>
          <p:nvPr>
            <p:ph type="sldNum" sz="quarter" idx="5"/>
          </p:nvPr>
        </p:nvSpPr>
        <p:spPr/>
        <p:txBody>
          <a:bodyPr/>
          <a:lstStyle/>
          <a:p>
            <a:fld id="{8007DBF7-D854-5948-86B6-07B87F1D8E96}" type="slidenum">
              <a:rPr lang="en-PK" smtClean="0"/>
              <a:t>1</a:t>
            </a:fld>
            <a:endParaRPr lang="en-PK"/>
          </a:p>
        </p:txBody>
      </p:sp>
    </p:spTree>
    <p:extLst>
      <p:ext uri="{BB962C8B-B14F-4D97-AF65-F5344CB8AC3E}">
        <p14:creationId xmlns:p14="http://schemas.microsoft.com/office/powerpoint/2010/main" val="31632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3EEB0-302C-B7C0-84B4-6D9CE392D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DB7A1-67D1-5E1F-77B1-9252F922D6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1FE77-7DEC-D8E5-B41C-82C512EF0915}"/>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A136640B-78A6-5C43-479F-C086DD69BF9A}"/>
              </a:ext>
            </a:extLst>
          </p:cNvPr>
          <p:cNvSpPr>
            <a:spLocks noGrp="1"/>
          </p:cNvSpPr>
          <p:nvPr>
            <p:ph type="sldNum" sz="quarter" idx="5"/>
          </p:nvPr>
        </p:nvSpPr>
        <p:spPr/>
        <p:txBody>
          <a:bodyPr/>
          <a:lstStyle/>
          <a:p>
            <a:fld id="{8007DBF7-D854-5948-86B6-07B87F1D8E96}" type="slidenum">
              <a:rPr lang="en-PK" smtClean="0"/>
              <a:t>13</a:t>
            </a:fld>
            <a:endParaRPr lang="en-PK"/>
          </a:p>
        </p:txBody>
      </p:sp>
    </p:spTree>
    <p:extLst>
      <p:ext uri="{BB962C8B-B14F-4D97-AF65-F5344CB8AC3E}">
        <p14:creationId xmlns:p14="http://schemas.microsoft.com/office/powerpoint/2010/main" val="3004334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08E24-3991-2AB0-CE4A-790203827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DDC22-C744-84BE-0EF7-AFC67D20C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2800A-E4BA-5AD9-7EE6-59841582FEE6}"/>
              </a:ext>
            </a:extLst>
          </p:cNvPr>
          <p:cNvSpPr>
            <a:spLocks noGrp="1"/>
          </p:cNvSpPr>
          <p:nvPr>
            <p:ph type="body" idx="1"/>
          </p:nvPr>
        </p:nvSpPr>
        <p:spPr/>
        <p:txBody>
          <a:bodyPr/>
          <a:lstStyle/>
          <a:p>
            <a:r>
              <a:rPr lang="en-PK" dirty="0"/>
              <a:t>TTP == Trusted Third Party</a:t>
            </a:r>
          </a:p>
          <a:p>
            <a:r>
              <a:rPr lang="en-PK" dirty="0"/>
              <a:t>Permissionless: Bitcoin, Ethereum, BASE</a:t>
            </a:r>
          </a:p>
          <a:p>
            <a:r>
              <a:rPr lang="en-PK" dirty="0"/>
              <a:t>Public Permissioned: Hedera Hashgraph, Ripple (governing council: Google, IBM, LG, etc.)</a:t>
            </a:r>
          </a:p>
          <a:p>
            <a:r>
              <a:rPr lang="en-PK" dirty="0"/>
              <a:t>Private Permissioned: JPMorgan</a:t>
            </a:r>
          </a:p>
        </p:txBody>
      </p:sp>
      <p:sp>
        <p:nvSpPr>
          <p:cNvPr id="4" name="Slide Number Placeholder 3">
            <a:extLst>
              <a:ext uri="{FF2B5EF4-FFF2-40B4-BE49-F238E27FC236}">
                <a16:creationId xmlns:a16="http://schemas.microsoft.com/office/drawing/2014/main" id="{113E0C3C-79BF-F2CF-2EC1-6B9450AAE450}"/>
              </a:ext>
            </a:extLst>
          </p:cNvPr>
          <p:cNvSpPr>
            <a:spLocks noGrp="1"/>
          </p:cNvSpPr>
          <p:nvPr>
            <p:ph type="sldNum" sz="quarter" idx="5"/>
          </p:nvPr>
        </p:nvSpPr>
        <p:spPr/>
        <p:txBody>
          <a:bodyPr/>
          <a:lstStyle/>
          <a:p>
            <a:fld id="{8007DBF7-D854-5948-86B6-07B87F1D8E96}" type="slidenum">
              <a:rPr lang="en-PK" smtClean="0"/>
              <a:t>15</a:t>
            </a:fld>
            <a:endParaRPr lang="en-PK"/>
          </a:p>
        </p:txBody>
      </p:sp>
    </p:spTree>
    <p:extLst>
      <p:ext uri="{BB962C8B-B14F-4D97-AF65-F5344CB8AC3E}">
        <p14:creationId xmlns:p14="http://schemas.microsoft.com/office/powerpoint/2010/main" val="198589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dirty="0"/>
              <a:t>Last point: </a:t>
            </a:r>
            <a:r>
              <a:rPr lang="en-US" dirty="0">
                <a:solidFill>
                  <a:srgbClr val="C00000"/>
                </a:solidFill>
              </a:rPr>
              <a:t>On receiving a block, </a:t>
            </a:r>
            <a:r>
              <a:rPr lang="en-US" dirty="0"/>
              <a:t>Miners must </a:t>
            </a:r>
            <a:r>
              <a:rPr lang="en-US" b="1" i="1" dirty="0">
                <a:solidFill>
                  <a:srgbClr val="7030A0"/>
                </a:solidFill>
              </a:rPr>
              <a:t>start afresh </a:t>
            </a:r>
            <a:r>
              <a:rPr lang="en-US" dirty="0"/>
              <a:t>on a </a:t>
            </a:r>
            <a:r>
              <a:rPr lang="en-US" b="1" i="1" dirty="0">
                <a:solidFill>
                  <a:srgbClr val="308D3E"/>
                </a:solidFill>
              </a:rPr>
              <a:t>new block </a:t>
            </a:r>
            <a:r>
              <a:rPr lang="en-US" dirty="0"/>
              <a:t>using the hash of the latest-found block as part of the data [instead of continuing with what block number they were working on]. Why?</a:t>
            </a:r>
          </a:p>
          <a:p>
            <a:r>
              <a:rPr lang="en-PK" dirty="0"/>
              <a:t>Answer: Because if you received block 53 and continue to mine 53, many others will be creating block 54 and someone might create block 54 before you create your own version of block 53. Effort wasted!</a:t>
            </a:r>
          </a:p>
        </p:txBody>
      </p:sp>
      <p:sp>
        <p:nvSpPr>
          <p:cNvPr id="4" name="Slide Number Placeholder 3"/>
          <p:cNvSpPr>
            <a:spLocks noGrp="1"/>
          </p:cNvSpPr>
          <p:nvPr>
            <p:ph type="sldNum" sz="quarter" idx="5"/>
          </p:nvPr>
        </p:nvSpPr>
        <p:spPr/>
        <p:txBody>
          <a:bodyPr/>
          <a:lstStyle/>
          <a:p>
            <a:fld id="{8007DBF7-D854-5948-86B6-07B87F1D8E96}" type="slidenum">
              <a:rPr lang="en-PK" smtClean="0"/>
              <a:t>20</a:t>
            </a:fld>
            <a:endParaRPr lang="en-PK"/>
          </a:p>
        </p:txBody>
      </p:sp>
    </p:spTree>
    <p:extLst>
      <p:ext uri="{BB962C8B-B14F-4D97-AF65-F5344CB8AC3E}">
        <p14:creationId xmlns:p14="http://schemas.microsoft.com/office/powerpoint/2010/main" val="164324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Before talking about digital signatures – </a:t>
            </a:r>
          </a:p>
          <a:p>
            <a:endParaRPr lang="en-PK" dirty="0"/>
          </a:p>
          <a:p>
            <a:r>
              <a:rPr lang="en-PK" dirty="0"/>
              <a:t>For Blockchain transactions: Amounts are ALWAYS locked. Payer can unlock their amount and send it to the payee by LOCKING it to the payee public address</a:t>
            </a:r>
          </a:p>
        </p:txBody>
      </p:sp>
      <p:sp>
        <p:nvSpPr>
          <p:cNvPr id="4" name="Slide Number Placeholder 3"/>
          <p:cNvSpPr>
            <a:spLocks noGrp="1"/>
          </p:cNvSpPr>
          <p:nvPr>
            <p:ph type="sldNum" sz="quarter" idx="5"/>
          </p:nvPr>
        </p:nvSpPr>
        <p:spPr/>
        <p:txBody>
          <a:bodyPr/>
          <a:lstStyle/>
          <a:p>
            <a:fld id="{8007DBF7-D854-5948-86B6-07B87F1D8E96}" type="slidenum">
              <a:rPr lang="en-PK" smtClean="0"/>
              <a:t>25</a:t>
            </a:fld>
            <a:endParaRPr lang="en-PK"/>
          </a:p>
        </p:txBody>
      </p:sp>
    </p:spTree>
    <p:extLst>
      <p:ext uri="{BB962C8B-B14F-4D97-AF65-F5344CB8AC3E}">
        <p14:creationId xmlns:p14="http://schemas.microsoft.com/office/powerpoint/2010/main" val="827893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FIX</a:t>
            </a:r>
          </a:p>
        </p:txBody>
      </p:sp>
      <p:sp>
        <p:nvSpPr>
          <p:cNvPr id="4" name="Slide Number Placeholder 3"/>
          <p:cNvSpPr>
            <a:spLocks noGrp="1"/>
          </p:cNvSpPr>
          <p:nvPr>
            <p:ph type="sldNum" sz="quarter" idx="5"/>
          </p:nvPr>
        </p:nvSpPr>
        <p:spPr/>
        <p:txBody>
          <a:bodyPr/>
          <a:lstStyle/>
          <a:p>
            <a:fld id="{8007DBF7-D854-5948-86B6-07B87F1D8E96}" type="slidenum">
              <a:rPr lang="en-PK" smtClean="0"/>
              <a:t>26</a:t>
            </a:fld>
            <a:endParaRPr lang="en-PK"/>
          </a:p>
        </p:txBody>
      </p:sp>
    </p:spTree>
    <p:extLst>
      <p:ext uri="{BB962C8B-B14F-4D97-AF65-F5344CB8AC3E}">
        <p14:creationId xmlns:p14="http://schemas.microsoft.com/office/powerpoint/2010/main" val="1295116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The answer to the thought question is NO. Kevin does not know the symmetric key but he can send some garbage data </a:t>
            </a:r>
            <a:r>
              <a:rPr lang="en-PK" dirty="0">
                <a:sym typeface="Wingdings" pitchFamily="2" charset="2"/>
              </a:rPr>
              <a:t> Bob will decode/decrypt and will get something that will also be garbage  Bob has no way of knowing it did not come from Alice</a:t>
            </a:r>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27</a:t>
            </a:fld>
            <a:endParaRPr lang="en-PK"/>
          </a:p>
        </p:txBody>
      </p:sp>
    </p:spTree>
    <p:extLst>
      <p:ext uri="{BB962C8B-B14F-4D97-AF65-F5344CB8AC3E}">
        <p14:creationId xmlns:p14="http://schemas.microsoft.com/office/powerpoint/2010/main" val="3769378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dirty="0"/>
              <a:t>Signature </a:t>
            </a:r>
            <a:r>
              <a:rPr lang="en-GB" dirty="0">
                <a:solidFill>
                  <a:srgbClr val="7030A0"/>
                </a:solidFill>
              </a:rPr>
              <a:t>along with message is sent (sent where?)</a:t>
            </a:r>
          </a:p>
          <a:p>
            <a:endParaRPr lang="en-PK" dirty="0"/>
          </a:p>
          <a:p>
            <a:r>
              <a:rPr lang="en-PK" b="1" dirty="0"/>
              <a:t>Sent to the receiver in general – or to the pool of unconfirmed transactions in blockchain</a:t>
            </a:r>
          </a:p>
        </p:txBody>
      </p:sp>
      <p:sp>
        <p:nvSpPr>
          <p:cNvPr id="4" name="Slide Number Placeholder 3"/>
          <p:cNvSpPr>
            <a:spLocks noGrp="1"/>
          </p:cNvSpPr>
          <p:nvPr>
            <p:ph type="sldNum" sz="quarter" idx="5"/>
          </p:nvPr>
        </p:nvSpPr>
        <p:spPr/>
        <p:txBody>
          <a:bodyPr/>
          <a:lstStyle/>
          <a:p>
            <a:fld id="{8007DBF7-D854-5948-86B6-07B87F1D8E96}" type="slidenum">
              <a:rPr lang="en-PK" smtClean="0"/>
              <a:t>28</a:t>
            </a:fld>
            <a:endParaRPr lang="en-PK"/>
          </a:p>
        </p:txBody>
      </p:sp>
    </p:spTree>
    <p:extLst>
      <p:ext uri="{BB962C8B-B14F-4D97-AF65-F5344CB8AC3E}">
        <p14:creationId xmlns:p14="http://schemas.microsoft.com/office/powerpoint/2010/main" val="280373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858-D394-1DF3-8548-66CE55288883}"/>
              </a:ext>
            </a:extLst>
          </p:cNvPr>
          <p:cNvSpPr>
            <a:spLocks noGrp="1"/>
          </p:cNvSpPr>
          <p:nvPr>
            <p:ph type="ctrTitle"/>
          </p:nvPr>
        </p:nvSpPr>
        <p:spPr>
          <a:xfrm>
            <a:off x="1524000" y="1894523"/>
            <a:ext cx="9144000" cy="2387600"/>
          </a:xfrm>
        </p:spPr>
        <p:txBody>
          <a:bodyPr anchor="b">
            <a:normAutofit/>
          </a:bodyPr>
          <a:lstStyle>
            <a:lvl1pPr algn="ctr">
              <a:defRPr sz="5400">
                <a:solidFill>
                  <a:srgbClr val="0432FF"/>
                </a:solidFill>
              </a:defRPr>
            </a:lvl1pPr>
          </a:lstStyle>
          <a:p>
            <a:r>
              <a:rPr lang="en-GB" dirty="0"/>
              <a:t>Click to edit Master title style</a:t>
            </a:r>
            <a:endParaRPr lang="en-PK" dirty="0"/>
          </a:p>
        </p:txBody>
      </p:sp>
      <p:sp>
        <p:nvSpPr>
          <p:cNvPr id="3" name="Subtitle 2">
            <a:extLst>
              <a:ext uri="{FF2B5EF4-FFF2-40B4-BE49-F238E27FC236}">
                <a16:creationId xmlns:a16="http://schemas.microsoft.com/office/drawing/2014/main" id="{0676C1A2-C823-594D-0305-E762FC21A848}"/>
              </a:ext>
            </a:extLst>
          </p:cNvPr>
          <p:cNvSpPr>
            <a:spLocks noGrp="1"/>
          </p:cNvSpPr>
          <p:nvPr>
            <p:ph type="subTitle" idx="1"/>
          </p:nvPr>
        </p:nvSpPr>
        <p:spPr>
          <a:xfrm>
            <a:off x="1524000" y="4561840"/>
            <a:ext cx="9144000" cy="15849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PK" dirty="0"/>
          </a:p>
        </p:txBody>
      </p:sp>
      <p:sp>
        <p:nvSpPr>
          <p:cNvPr id="4" name="Date Placeholder 3">
            <a:extLst>
              <a:ext uri="{FF2B5EF4-FFF2-40B4-BE49-F238E27FC236}">
                <a16:creationId xmlns:a16="http://schemas.microsoft.com/office/drawing/2014/main" id="{D21EADBC-FC3A-F6AB-47B4-2E47609F86F4}"/>
              </a:ext>
            </a:extLst>
          </p:cNvPr>
          <p:cNvSpPr>
            <a:spLocks noGrp="1"/>
          </p:cNvSpPr>
          <p:nvPr>
            <p:ph type="dt" sz="half" idx="10"/>
          </p:nvPr>
        </p:nvSpPr>
        <p:spPr/>
        <p:txBody>
          <a:bodyPr/>
          <a:lstStyle/>
          <a:p>
            <a:fld id="{C3849243-4112-7B47-A574-2D273E35D5BF}" type="datetime1">
              <a:rPr lang="en-US" smtClean="0"/>
              <a:t>1/29/2026</a:t>
            </a:fld>
            <a:endParaRPr lang="en-US" dirty="0"/>
          </a:p>
        </p:txBody>
      </p:sp>
      <p:sp>
        <p:nvSpPr>
          <p:cNvPr id="5" name="Footer Placeholder 4">
            <a:extLst>
              <a:ext uri="{FF2B5EF4-FFF2-40B4-BE49-F238E27FC236}">
                <a16:creationId xmlns:a16="http://schemas.microsoft.com/office/drawing/2014/main" id="{A40CD5FA-CF77-D285-681E-29E6811E87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101942-960C-299C-A498-C3ED2A47A9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55410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BD9A-E09E-27C0-F440-9D83036CB997}"/>
              </a:ext>
            </a:extLst>
          </p:cNvPr>
          <p:cNvSpPr>
            <a:spLocks noGrp="1"/>
          </p:cNvSpPr>
          <p:nvPr>
            <p:ph type="title"/>
          </p:nvPr>
        </p:nvSpPr>
        <p:spPr>
          <a:xfrm>
            <a:off x="487680" y="101601"/>
            <a:ext cx="11186160" cy="985519"/>
          </a:xfrm>
        </p:spPr>
        <p:txBody>
          <a:bodyPr/>
          <a:lstStyle>
            <a:lvl1pPr>
              <a:defRPr>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5E8317A4-8BBD-54EB-8341-6A6B099145E6}"/>
              </a:ext>
            </a:extLst>
          </p:cNvPr>
          <p:cNvSpPr>
            <a:spLocks noGrp="1"/>
          </p:cNvSpPr>
          <p:nvPr>
            <p:ph idx="1"/>
          </p:nvPr>
        </p:nvSpPr>
        <p:spPr>
          <a:xfrm>
            <a:off x="487680" y="1097280"/>
            <a:ext cx="11186160" cy="5079683"/>
          </a:xfrm>
        </p:spPr>
        <p:txBody>
          <a:bodyPr>
            <a:normAutofit/>
          </a:bodyPr>
          <a:lstStyle>
            <a:lvl1pPr>
              <a:defRPr sz="3200"/>
            </a:lvl1pPr>
            <a:lvl2pPr marL="685800" indent="-228600">
              <a:buFont typeface="System Font Regular"/>
              <a:buChar char="−"/>
              <a:defRPr sz="2800"/>
            </a:lvl2pPr>
            <a:lvl3pPr marL="1143000" indent="-228600">
              <a:buFont typeface="Wingdings" pitchFamily="2" charset="2"/>
              <a:buChar char="§"/>
              <a:defRPr sz="2400"/>
            </a:lvl3pPr>
            <a:lvl4pPr>
              <a:defRPr sz="2000"/>
            </a:lvl4pPr>
            <a:lvl5pPr>
              <a:defRPr sz="2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K" dirty="0"/>
          </a:p>
        </p:txBody>
      </p:sp>
      <p:sp>
        <p:nvSpPr>
          <p:cNvPr id="10" name="Date Placeholder 9">
            <a:extLst>
              <a:ext uri="{FF2B5EF4-FFF2-40B4-BE49-F238E27FC236}">
                <a16:creationId xmlns:a16="http://schemas.microsoft.com/office/drawing/2014/main" id="{5348C2E2-1287-A287-C5A8-249139348A29}"/>
              </a:ext>
            </a:extLst>
          </p:cNvPr>
          <p:cNvSpPr>
            <a:spLocks noGrp="1"/>
          </p:cNvSpPr>
          <p:nvPr>
            <p:ph type="dt" sz="half" idx="10"/>
          </p:nvPr>
        </p:nvSpPr>
        <p:spPr/>
        <p:txBody>
          <a:bodyPr/>
          <a:lstStyle/>
          <a:p>
            <a:fld id="{817CC187-CAD7-6048-8C63-99BBB8908136}" type="datetime1">
              <a:rPr lang="en-US" smtClean="0"/>
              <a:t>1/29/2026</a:t>
            </a:fld>
            <a:endParaRPr lang="en-US" dirty="0"/>
          </a:p>
        </p:txBody>
      </p:sp>
      <p:sp>
        <p:nvSpPr>
          <p:cNvPr id="11" name="Footer Placeholder 10">
            <a:extLst>
              <a:ext uri="{FF2B5EF4-FFF2-40B4-BE49-F238E27FC236}">
                <a16:creationId xmlns:a16="http://schemas.microsoft.com/office/drawing/2014/main" id="{1DC7CB26-524D-696E-CC83-507688F1F030}"/>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C5E6A54D-DC81-738E-1BEE-B237D69CCA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2859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648-4538-750C-7EE1-223668DCD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5600F2E1-ECAA-4DD2-425F-64F40CAD30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E963A2-C90D-F927-6660-D043609CC6B9}"/>
              </a:ext>
            </a:extLst>
          </p:cNvPr>
          <p:cNvSpPr>
            <a:spLocks noGrp="1"/>
          </p:cNvSpPr>
          <p:nvPr>
            <p:ph type="dt" sz="half" idx="10"/>
          </p:nvPr>
        </p:nvSpPr>
        <p:spPr/>
        <p:txBody>
          <a:bodyPr/>
          <a:lstStyle/>
          <a:p>
            <a:fld id="{AB3EF2E6-6629-DA43-81BC-EC712F4B5466}" type="datetime1">
              <a:rPr lang="en-US" smtClean="0"/>
              <a:t>1/29/2026</a:t>
            </a:fld>
            <a:endParaRPr lang="en-US" dirty="0"/>
          </a:p>
        </p:txBody>
      </p:sp>
      <p:sp>
        <p:nvSpPr>
          <p:cNvPr id="5" name="Footer Placeholder 4">
            <a:extLst>
              <a:ext uri="{FF2B5EF4-FFF2-40B4-BE49-F238E27FC236}">
                <a16:creationId xmlns:a16="http://schemas.microsoft.com/office/drawing/2014/main" id="{38BFE049-0473-B4C2-1291-C73354AD41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731B0E-4E34-EAD8-A1D1-57CBD5CE222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647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983-ACF4-D2FF-550D-7521D9C10608}"/>
              </a:ext>
            </a:extLst>
          </p:cNvPr>
          <p:cNvSpPr>
            <a:spLocks noGrp="1"/>
          </p:cNvSpPr>
          <p:nvPr>
            <p:ph type="title"/>
          </p:nvPr>
        </p:nvSpPr>
        <p:spPr/>
        <p:txBody>
          <a:bodyPr/>
          <a:lstStyle>
            <a:lvl1pPr>
              <a:defRPr baseline="0">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867760F6-F485-781B-D79F-C026B432F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0C0A9B31-1608-966B-6FF9-D180F6BA70E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AE4E9F2A-B43F-F0D4-3F76-27FB4DE7B7DA}"/>
              </a:ext>
            </a:extLst>
          </p:cNvPr>
          <p:cNvSpPr>
            <a:spLocks noGrp="1"/>
          </p:cNvSpPr>
          <p:nvPr>
            <p:ph type="dt" sz="half" idx="10"/>
          </p:nvPr>
        </p:nvSpPr>
        <p:spPr/>
        <p:txBody>
          <a:bodyPr/>
          <a:lstStyle/>
          <a:p>
            <a:fld id="{36F14FDE-C188-ED4A-8904-90C7377CA55E}" type="datetime1">
              <a:rPr lang="en-US" smtClean="0"/>
              <a:t>1/29/2026</a:t>
            </a:fld>
            <a:endParaRPr lang="en-US" dirty="0"/>
          </a:p>
        </p:txBody>
      </p:sp>
      <p:sp>
        <p:nvSpPr>
          <p:cNvPr id="6" name="Footer Placeholder 5">
            <a:extLst>
              <a:ext uri="{FF2B5EF4-FFF2-40B4-BE49-F238E27FC236}">
                <a16:creationId xmlns:a16="http://schemas.microsoft.com/office/drawing/2014/main" id="{8C05907C-697C-ED08-3F75-E31B2EE3DB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AA1F3D-78B2-4FF0-F5DB-76EFAA2F79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5363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2D-0C64-FBAF-5593-D97CF801A3C1}"/>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451EA66-FAC3-3698-6220-1A94F8A42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CA302E-0245-F0D0-D052-B1D8D82B27C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5CA6952-B46D-38B4-F728-B77FC9960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D0A727-B6BA-1E0C-A4A4-CEAA10F30F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297075C-8C1E-2AE7-1628-AE106A293753}"/>
              </a:ext>
            </a:extLst>
          </p:cNvPr>
          <p:cNvSpPr>
            <a:spLocks noGrp="1"/>
          </p:cNvSpPr>
          <p:nvPr>
            <p:ph type="dt" sz="half" idx="10"/>
          </p:nvPr>
        </p:nvSpPr>
        <p:spPr/>
        <p:txBody>
          <a:bodyPr/>
          <a:lstStyle/>
          <a:p>
            <a:fld id="{731959A2-FD1F-D047-9B71-2099CD96FB05}" type="datetime1">
              <a:rPr lang="en-US" smtClean="0"/>
              <a:t>1/29/2026</a:t>
            </a:fld>
            <a:endParaRPr lang="en-US" dirty="0"/>
          </a:p>
        </p:txBody>
      </p:sp>
      <p:sp>
        <p:nvSpPr>
          <p:cNvPr id="8" name="Footer Placeholder 7">
            <a:extLst>
              <a:ext uri="{FF2B5EF4-FFF2-40B4-BE49-F238E27FC236}">
                <a16:creationId xmlns:a16="http://schemas.microsoft.com/office/drawing/2014/main" id="{B32270EF-DDC8-5339-C583-77D7407937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0C3B1F-1426-32FD-9474-94C0B22380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9064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2E3-B42B-8881-ECBD-DD87B0837FE7}"/>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en-PK" dirty="0"/>
          </a:p>
        </p:txBody>
      </p:sp>
      <p:sp>
        <p:nvSpPr>
          <p:cNvPr id="3" name="Date Placeholder 2">
            <a:extLst>
              <a:ext uri="{FF2B5EF4-FFF2-40B4-BE49-F238E27FC236}">
                <a16:creationId xmlns:a16="http://schemas.microsoft.com/office/drawing/2014/main" id="{02BCC8C1-CDF5-4584-D4F9-21C17A750A43}"/>
              </a:ext>
            </a:extLst>
          </p:cNvPr>
          <p:cNvSpPr>
            <a:spLocks noGrp="1"/>
          </p:cNvSpPr>
          <p:nvPr>
            <p:ph type="dt" sz="half" idx="10"/>
          </p:nvPr>
        </p:nvSpPr>
        <p:spPr/>
        <p:txBody>
          <a:bodyPr/>
          <a:lstStyle/>
          <a:p>
            <a:fld id="{1A5421AD-14B7-AB4F-B42E-6335F98BEAFF}" type="datetime1">
              <a:rPr lang="en-US" smtClean="0"/>
              <a:t>1/29/2026</a:t>
            </a:fld>
            <a:endParaRPr lang="en-US" dirty="0"/>
          </a:p>
        </p:txBody>
      </p:sp>
      <p:sp>
        <p:nvSpPr>
          <p:cNvPr id="4" name="Footer Placeholder 3">
            <a:extLst>
              <a:ext uri="{FF2B5EF4-FFF2-40B4-BE49-F238E27FC236}">
                <a16:creationId xmlns:a16="http://schemas.microsoft.com/office/drawing/2014/main" id="{5CC88A07-7922-BC79-0A35-EFFA19918C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F73C74-5D1C-ADB6-FF80-7000D00307D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3688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375D4-3AF6-A58E-051F-58D7D1235B76}"/>
              </a:ext>
            </a:extLst>
          </p:cNvPr>
          <p:cNvSpPr>
            <a:spLocks noGrp="1"/>
          </p:cNvSpPr>
          <p:nvPr>
            <p:ph type="dt" sz="half" idx="10"/>
          </p:nvPr>
        </p:nvSpPr>
        <p:spPr/>
        <p:txBody>
          <a:bodyPr/>
          <a:lstStyle/>
          <a:p>
            <a:fld id="{AF87A72A-0C74-6E44-A7EE-CA74955F1256}" type="datetime1">
              <a:rPr lang="en-US" smtClean="0"/>
              <a:t>1/29/2026</a:t>
            </a:fld>
            <a:endParaRPr lang="en-US" dirty="0"/>
          </a:p>
        </p:txBody>
      </p:sp>
      <p:sp>
        <p:nvSpPr>
          <p:cNvPr id="3" name="Footer Placeholder 2">
            <a:extLst>
              <a:ext uri="{FF2B5EF4-FFF2-40B4-BE49-F238E27FC236}">
                <a16:creationId xmlns:a16="http://schemas.microsoft.com/office/drawing/2014/main" id="{5F7B3ECF-6748-2655-F77F-E8CA401631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F60ABE-8C6A-9352-A215-6EBF86F837B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3892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5DAC-4002-01D9-6457-D37C5DF97F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DC7FBE91-7D8E-3944-5569-40E8D6B74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D0E325B0-27F2-9710-58F6-0C07626C2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7CBABE-1AE7-D70C-7708-85020C73E59E}"/>
              </a:ext>
            </a:extLst>
          </p:cNvPr>
          <p:cNvSpPr>
            <a:spLocks noGrp="1"/>
          </p:cNvSpPr>
          <p:nvPr>
            <p:ph type="dt" sz="half" idx="10"/>
          </p:nvPr>
        </p:nvSpPr>
        <p:spPr/>
        <p:txBody>
          <a:bodyPr/>
          <a:lstStyle/>
          <a:p>
            <a:fld id="{A09B1005-574F-D344-BCB1-9D2AB269A3EC}" type="datetime1">
              <a:rPr lang="en-US" smtClean="0"/>
              <a:t>1/29/2026</a:t>
            </a:fld>
            <a:endParaRPr lang="en-US" dirty="0"/>
          </a:p>
        </p:txBody>
      </p:sp>
      <p:sp>
        <p:nvSpPr>
          <p:cNvPr id="6" name="Footer Placeholder 5">
            <a:extLst>
              <a:ext uri="{FF2B5EF4-FFF2-40B4-BE49-F238E27FC236}">
                <a16:creationId xmlns:a16="http://schemas.microsoft.com/office/drawing/2014/main" id="{78A73628-77BC-4A24-08E2-D57F3D53AD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05F63F-7883-63AF-C6F9-B3BC8A2E159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6503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EB26-001F-167A-6BA0-DCD22D5914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67DCA67E-ABF8-043E-F669-25D35A32A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21ED5B5-8357-7928-0AFB-A855388E3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A618A2-5986-F9BA-EC13-3460B7AB14B2}"/>
              </a:ext>
            </a:extLst>
          </p:cNvPr>
          <p:cNvSpPr>
            <a:spLocks noGrp="1"/>
          </p:cNvSpPr>
          <p:nvPr>
            <p:ph type="dt" sz="half" idx="10"/>
          </p:nvPr>
        </p:nvSpPr>
        <p:spPr/>
        <p:txBody>
          <a:bodyPr/>
          <a:lstStyle/>
          <a:p>
            <a:fld id="{C818EC7F-129E-B04A-94CE-A0E8D5F704B5}" type="datetime1">
              <a:rPr lang="en-US" smtClean="0"/>
              <a:t>1/29/2026</a:t>
            </a:fld>
            <a:endParaRPr lang="en-US" dirty="0"/>
          </a:p>
        </p:txBody>
      </p:sp>
      <p:sp>
        <p:nvSpPr>
          <p:cNvPr id="6" name="Footer Placeholder 5">
            <a:extLst>
              <a:ext uri="{FF2B5EF4-FFF2-40B4-BE49-F238E27FC236}">
                <a16:creationId xmlns:a16="http://schemas.microsoft.com/office/drawing/2014/main" id="{C9607585-1E53-29E6-E14C-D4E5C685D0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9FB97-D9C9-FC78-3D39-E81B1517740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428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7194-44EF-7006-9E4C-D94DF8394AB2}"/>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A9D5E83A-839B-9260-0A21-8B997EE526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39D60F5-F487-9F40-578A-E36732D3A2B4}"/>
              </a:ext>
            </a:extLst>
          </p:cNvPr>
          <p:cNvSpPr>
            <a:spLocks noGrp="1"/>
          </p:cNvSpPr>
          <p:nvPr>
            <p:ph type="dt" sz="half" idx="10"/>
          </p:nvPr>
        </p:nvSpPr>
        <p:spPr/>
        <p:txBody>
          <a:bodyPr/>
          <a:lstStyle/>
          <a:p>
            <a:fld id="{BADEC171-6AFE-CA49-AAE9-DDDD51BDA4CC}" type="datetime1">
              <a:rPr lang="en-US" smtClean="0"/>
              <a:t>1/29/2026</a:t>
            </a:fld>
            <a:endParaRPr lang="en-US" dirty="0"/>
          </a:p>
        </p:txBody>
      </p:sp>
      <p:sp>
        <p:nvSpPr>
          <p:cNvPr id="5" name="Footer Placeholder 4">
            <a:extLst>
              <a:ext uri="{FF2B5EF4-FFF2-40B4-BE49-F238E27FC236}">
                <a16:creationId xmlns:a16="http://schemas.microsoft.com/office/drawing/2014/main" id="{D6694D0E-FEF0-3CE4-88E0-9B5CC1342B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3A42E7-F5E7-2271-1D3F-3BB0DA5FB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64636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7BDCBF-90E9-B6D4-B1BD-BB6439AE412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30AB2C1-4897-983B-2FB9-BD11C271D0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5B12C104-D518-1AB2-0F63-977F49D661E8}"/>
              </a:ext>
            </a:extLst>
          </p:cNvPr>
          <p:cNvSpPr>
            <a:spLocks noGrp="1"/>
          </p:cNvSpPr>
          <p:nvPr>
            <p:ph type="dt" sz="half" idx="10"/>
          </p:nvPr>
        </p:nvSpPr>
        <p:spPr/>
        <p:txBody>
          <a:bodyPr/>
          <a:lstStyle/>
          <a:p>
            <a:fld id="{7A7BC7AE-E3C9-5846-8CAD-0E757E344CB1}" type="datetime1">
              <a:rPr lang="en-US" smtClean="0"/>
              <a:t>1/29/2026</a:t>
            </a:fld>
            <a:endParaRPr lang="en-US" dirty="0"/>
          </a:p>
        </p:txBody>
      </p:sp>
      <p:sp>
        <p:nvSpPr>
          <p:cNvPr id="5" name="Footer Placeholder 4">
            <a:extLst>
              <a:ext uri="{FF2B5EF4-FFF2-40B4-BE49-F238E27FC236}">
                <a16:creationId xmlns:a16="http://schemas.microsoft.com/office/drawing/2014/main" id="{0C66A4A2-8093-06BB-B2C2-65BC1329E4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4C8E6A-87A5-42E0-E66E-73CA8E9847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909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F3F57-E6B6-8186-2E62-9C692D195B24}"/>
              </a:ext>
            </a:extLst>
          </p:cNvPr>
          <p:cNvSpPr>
            <a:spLocks noGrp="1"/>
          </p:cNvSpPr>
          <p:nvPr>
            <p:ph type="title"/>
          </p:nvPr>
        </p:nvSpPr>
        <p:spPr>
          <a:xfrm>
            <a:off x="518160" y="101601"/>
            <a:ext cx="11104880" cy="985519"/>
          </a:xfrm>
          <a:prstGeom prst="rect">
            <a:avLst/>
          </a:prstGeom>
        </p:spPr>
        <p:txBody>
          <a:bodyPr vert="horz" lIns="91440" tIns="45720" rIns="91440" bIns="45720" rtlCol="0" anchor="ctr">
            <a:normAutofit/>
          </a:bodyPr>
          <a:lstStyle/>
          <a:p>
            <a:r>
              <a:rPr lang="en-GB" dirty="0"/>
              <a:t>Click to edit Master title style</a:t>
            </a:r>
            <a:endParaRPr lang="en-PK" dirty="0"/>
          </a:p>
        </p:txBody>
      </p:sp>
      <p:sp>
        <p:nvSpPr>
          <p:cNvPr id="3" name="Text Placeholder 2">
            <a:extLst>
              <a:ext uri="{FF2B5EF4-FFF2-40B4-BE49-F238E27FC236}">
                <a16:creationId xmlns:a16="http://schemas.microsoft.com/office/drawing/2014/main" id="{A2111C77-CC50-A510-3609-2D8F9FCB7313}"/>
              </a:ext>
            </a:extLst>
          </p:cNvPr>
          <p:cNvSpPr>
            <a:spLocks noGrp="1"/>
          </p:cNvSpPr>
          <p:nvPr>
            <p:ph type="body" idx="1"/>
          </p:nvPr>
        </p:nvSpPr>
        <p:spPr>
          <a:xfrm>
            <a:off x="518160" y="1097280"/>
            <a:ext cx="11104880" cy="50796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FDA1BAA1-DC72-3CD1-7F89-2EE55E23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andara" panose="020E0502030303020204" pitchFamily="34" charset="0"/>
              </a:defRPr>
            </a:lvl1pPr>
          </a:lstStyle>
          <a:p>
            <a:fld id="{2A23580C-EA65-AC41-9F7C-B6439987B4B7}" type="datetime1">
              <a:rPr lang="en-US" smtClean="0"/>
              <a:t>1/29/2026</a:t>
            </a:fld>
            <a:endParaRPr lang="en-US" dirty="0"/>
          </a:p>
        </p:txBody>
      </p:sp>
      <p:sp>
        <p:nvSpPr>
          <p:cNvPr id="5" name="Footer Placeholder 4">
            <a:extLst>
              <a:ext uri="{FF2B5EF4-FFF2-40B4-BE49-F238E27FC236}">
                <a16:creationId xmlns:a16="http://schemas.microsoft.com/office/drawing/2014/main" id="{37D29EAC-E423-483D-525E-9C75A5695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andara" panose="020E0502030303020204" pitchFamily="34" charset="0"/>
              </a:defRPr>
            </a:lvl1pPr>
          </a:lstStyle>
          <a:p>
            <a:endParaRPr lang="en-US" dirty="0"/>
          </a:p>
        </p:txBody>
      </p:sp>
      <p:cxnSp>
        <p:nvCxnSpPr>
          <p:cNvPr id="8" name="Straight Connector 7">
            <a:extLst>
              <a:ext uri="{FF2B5EF4-FFF2-40B4-BE49-F238E27FC236}">
                <a16:creationId xmlns:a16="http://schemas.microsoft.com/office/drawing/2014/main" id="{37901939-8975-2548-1296-9C55C71BB2BA}"/>
              </a:ext>
            </a:extLst>
          </p:cNvPr>
          <p:cNvCxnSpPr>
            <a:cxnSpLocks/>
          </p:cNvCxnSpPr>
          <p:nvPr userDrawn="1"/>
        </p:nvCxnSpPr>
        <p:spPr>
          <a:xfrm>
            <a:off x="518160" y="924560"/>
            <a:ext cx="11104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endParaRPr lang="en-US" sz="1400" dirty="0">
              <a:solidFill>
                <a:schemeClr val="tx1"/>
              </a:solidFill>
              <a:latin typeface="+mn-lt"/>
            </a:endParaRPr>
          </a:p>
        </p:txBody>
      </p:sp>
      <p:sp>
        <p:nvSpPr>
          <p:cNvPr id="6" name="Slide Number Placeholder 5">
            <a:extLst>
              <a:ext uri="{FF2B5EF4-FFF2-40B4-BE49-F238E27FC236}">
                <a16:creationId xmlns:a16="http://schemas.microsoft.com/office/drawing/2014/main" id="{E65A1E25-5EFC-07B9-34A4-FC84A6B0A118}"/>
              </a:ext>
            </a:extLst>
          </p:cNvPr>
          <p:cNvSpPr>
            <a:spLocks noGrp="1"/>
          </p:cNvSpPr>
          <p:nvPr>
            <p:ph type="sldNum" sz="quarter" idx="4"/>
          </p:nvPr>
        </p:nvSpPr>
        <p:spPr>
          <a:xfrm>
            <a:off x="10620104" y="6578930"/>
            <a:ext cx="1060269" cy="279070"/>
          </a:xfrm>
          <a:prstGeom prst="rect">
            <a:avLst/>
          </a:prstGeom>
        </p:spPr>
        <p:txBody>
          <a:bodyPr vert="horz" lIns="91440" tIns="45720" rIns="91440" bIns="45720" rtlCol="0" anchor="ctr"/>
          <a:lstStyle>
            <a:lvl1pPr algn="r">
              <a:defRPr sz="1400" b="1" i="0" baseline="0">
                <a:solidFill>
                  <a:schemeClr val="tx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615355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ftr="0" dt="0"/>
  <p:txStyles>
    <p:titleStyle>
      <a:lvl1pPr algn="ctr" defTabSz="914400" rtl="0" eaLnBrk="1" latinLnBrk="0" hangingPunct="1">
        <a:lnSpc>
          <a:spcPct val="90000"/>
        </a:lnSpc>
        <a:spcBef>
          <a:spcPct val="0"/>
        </a:spcBef>
        <a:buNone/>
        <a:defRPr sz="4400" b="0" i="0" kern="1200">
          <a:solidFill>
            <a:srgbClr val="0432FF"/>
          </a:solidFill>
          <a:latin typeface="Candara" panose="020E05020303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2F2-2275-3F6B-82B8-1B0CA52FBDF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80EC572-1CE7-598F-9FA4-5062F84F9CA5}"/>
              </a:ext>
            </a:extLst>
          </p:cNvPr>
          <p:cNvSpPr/>
          <p:nvPr/>
        </p:nvSpPr>
        <p:spPr>
          <a:xfrm>
            <a:off x="384313" y="3016490"/>
            <a:ext cx="10846671" cy="14465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latin typeface="Candara" panose="020E0502030303020204" pitchFamily="34" charset="0"/>
            </a:endParaRPr>
          </a:p>
        </p:txBody>
      </p:sp>
      <p:sp>
        <p:nvSpPr>
          <p:cNvPr id="10" name="Rectangle 9">
            <a:extLst>
              <a:ext uri="{FF2B5EF4-FFF2-40B4-BE49-F238E27FC236}">
                <a16:creationId xmlns:a16="http://schemas.microsoft.com/office/drawing/2014/main" id="{B4170A78-22DF-BCD5-825B-B0A7F8375E55}"/>
              </a:ext>
            </a:extLst>
          </p:cNvPr>
          <p:cNvSpPr/>
          <p:nvPr/>
        </p:nvSpPr>
        <p:spPr>
          <a:xfrm>
            <a:off x="252663" y="637674"/>
            <a:ext cx="11555024" cy="43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6" name="Picture 2">
            <a:extLst>
              <a:ext uri="{FF2B5EF4-FFF2-40B4-BE49-F238E27FC236}">
                <a16:creationId xmlns:a16="http://schemas.microsoft.com/office/drawing/2014/main" id="{A92A327C-08C1-4A0B-3853-4BC7F0718664}"/>
              </a:ext>
            </a:extLst>
          </p:cNvPr>
          <p:cNvPicPr>
            <a:picLocks noChangeAspect="1" noChangeArrowheads="1"/>
          </p:cNvPicPr>
          <p:nvPr/>
        </p:nvPicPr>
        <p:blipFill>
          <a:blip r:embed="rId3"/>
          <a:srcRect/>
          <a:stretch/>
        </p:blipFill>
        <p:spPr bwMode="auto">
          <a:xfrm>
            <a:off x="5401750" y="440958"/>
            <a:ext cx="1256849" cy="1256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13B4093-EDEB-88AD-105E-DD4B298CCEEA}"/>
              </a:ext>
            </a:extLst>
          </p:cNvPr>
          <p:cNvSpPr>
            <a:spLocks noGrp="1"/>
          </p:cNvSpPr>
          <p:nvPr>
            <p:ph type="ctrTitle"/>
          </p:nvPr>
        </p:nvSpPr>
        <p:spPr/>
        <p:txBody>
          <a:bodyPr>
            <a:normAutofit/>
          </a:bodyPr>
          <a:lstStyle/>
          <a:p>
            <a:r>
              <a:rPr lang="en-GB" dirty="0">
                <a:latin typeface="+mn-lt"/>
              </a:rPr>
              <a:t>Introduction to Blockchain</a:t>
            </a:r>
            <a:br>
              <a:rPr lang="en-GB" dirty="0">
                <a:latin typeface="+mn-lt"/>
              </a:rPr>
            </a:br>
            <a:br>
              <a:rPr lang="en-GB" dirty="0">
                <a:latin typeface="+mn-lt"/>
              </a:rPr>
            </a:br>
            <a:r>
              <a:rPr lang="en-GB" sz="4000" dirty="0">
                <a:solidFill>
                  <a:srgbClr val="C00000"/>
                </a:solidFill>
                <a:latin typeface="+mn-lt"/>
              </a:rPr>
              <a:t>CSE-355</a:t>
            </a:r>
            <a:endParaRPr lang="en-PK" dirty="0">
              <a:solidFill>
                <a:srgbClr val="C00000"/>
              </a:solidFill>
              <a:latin typeface="+mn-lt"/>
            </a:endParaRPr>
          </a:p>
        </p:txBody>
      </p:sp>
      <p:sp>
        <p:nvSpPr>
          <p:cNvPr id="7" name="Subtitle 6">
            <a:extLst>
              <a:ext uri="{FF2B5EF4-FFF2-40B4-BE49-F238E27FC236}">
                <a16:creationId xmlns:a16="http://schemas.microsoft.com/office/drawing/2014/main" id="{B02CF6C0-F187-BF6B-6A7A-C82247549081}"/>
              </a:ext>
            </a:extLst>
          </p:cNvPr>
          <p:cNvSpPr>
            <a:spLocks noGrp="1"/>
          </p:cNvSpPr>
          <p:nvPr>
            <p:ph type="subTitle" idx="1"/>
          </p:nvPr>
        </p:nvSpPr>
        <p:spPr/>
        <p:txBody>
          <a:bodyPr>
            <a:normAutofit fontScale="92500" lnSpcReduction="10000"/>
          </a:bodyPr>
          <a:lstStyle/>
          <a:p>
            <a:r>
              <a:rPr lang="en-GB" dirty="0"/>
              <a:t>Ahmed Akhtar</a:t>
            </a:r>
          </a:p>
          <a:p>
            <a:r>
              <a:rPr lang="en-GB" dirty="0"/>
              <a:t>Department of Computer Science</a:t>
            </a:r>
          </a:p>
          <a:p>
            <a:r>
              <a:rPr lang="en-GB" dirty="0"/>
              <a:t>SMCS, IBA Karachi</a:t>
            </a:r>
          </a:p>
          <a:p>
            <a:r>
              <a:rPr lang="en-GB" dirty="0"/>
              <a:t>Spring 2026</a:t>
            </a:r>
          </a:p>
        </p:txBody>
      </p:sp>
    </p:spTree>
    <p:extLst>
      <p:ext uri="{BB962C8B-B14F-4D97-AF65-F5344CB8AC3E}">
        <p14:creationId xmlns:p14="http://schemas.microsoft.com/office/powerpoint/2010/main" val="3805082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805B8-C96D-76CF-9E45-29B990EF9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72AFA-7611-3D93-0C8E-E239117160C3}"/>
              </a:ext>
            </a:extLst>
          </p:cNvPr>
          <p:cNvSpPr>
            <a:spLocks noGrp="1"/>
          </p:cNvSpPr>
          <p:nvPr>
            <p:ph type="title"/>
          </p:nvPr>
        </p:nvSpPr>
        <p:spPr/>
        <p:txBody>
          <a:bodyPr/>
          <a:lstStyle/>
          <a:p>
            <a:r>
              <a:rPr lang="en-PK" dirty="0">
                <a:latin typeface="+mn-lt"/>
              </a:rPr>
              <a:t>Lecture 03</a:t>
            </a:r>
            <a:br>
              <a:rPr lang="en-PK" dirty="0">
                <a:latin typeface="+mn-lt"/>
              </a:rPr>
            </a:br>
            <a:r>
              <a:rPr lang="en-US" dirty="0">
                <a:latin typeface="+mn-lt"/>
              </a:rPr>
              <a:t>Tuesday</a:t>
            </a:r>
            <a:r>
              <a:rPr lang="en-PK" dirty="0">
                <a:latin typeface="+mn-lt"/>
              </a:rPr>
              <a:t>, </a:t>
            </a:r>
            <a:r>
              <a:rPr lang="en-US" dirty="0">
                <a:latin typeface="+mn-lt"/>
              </a:rPr>
              <a:t>Jan</a:t>
            </a:r>
            <a:r>
              <a:rPr lang="en-PK" dirty="0">
                <a:latin typeface="+mn-lt"/>
              </a:rPr>
              <a:t> </a:t>
            </a:r>
            <a:r>
              <a:rPr lang="en-US" dirty="0">
                <a:latin typeface="+mn-lt"/>
              </a:rPr>
              <a:t>27</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DA9D0047-6200-EBB9-0D1B-CF2C16BF53E7}"/>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1943967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771E-64FC-79BF-DFFA-66D5493362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7DF77F-EEDD-82B4-6470-F0EF7A9434BE}"/>
              </a:ext>
            </a:extLst>
          </p:cNvPr>
          <p:cNvSpPr>
            <a:spLocks noGrp="1"/>
          </p:cNvSpPr>
          <p:nvPr>
            <p:ph type="title"/>
          </p:nvPr>
        </p:nvSpPr>
        <p:spPr/>
        <p:txBody>
          <a:bodyPr/>
          <a:lstStyle/>
          <a:p>
            <a:r>
              <a:rPr lang="en-GB" dirty="0"/>
              <a:t>Building consensus: step by step</a:t>
            </a:r>
            <a:endParaRPr lang="en-PK" dirty="0"/>
          </a:p>
        </p:txBody>
      </p:sp>
      <p:sp>
        <p:nvSpPr>
          <p:cNvPr id="4" name="Slide Number Placeholder 3">
            <a:extLst>
              <a:ext uri="{FF2B5EF4-FFF2-40B4-BE49-F238E27FC236}">
                <a16:creationId xmlns:a16="http://schemas.microsoft.com/office/drawing/2014/main" id="{FC362B3C-543C-13EC-AC49-391A189106CE}"/>
              </a:ext>
            </a:extLst>
          </p:cNvPr>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6" name="Content Placeholder 5" descr="Timeline&#10;&#10;Description automatically generated">
            <a:extLst>
              <a:ext uri="{FF2B5EF4-FFF2-40B4-BE49-F238E27FC236}">
                <a16:creationId xmlns:a16="http://schemas.microsoft.com/office/drawing/2014/main" id="{79953F8D-EAA3-0E50-48B0-50F3DD907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750" y="2251588"/>
            <a:ext cx="7886700" cy="3801842"/>
          </a:xfrm>
          <a:prstGeom prst="rect">
            <a:avLst/>
          </a:prstGeom>
        </p:spPr>
      </p:pic>
      <p:sp>
        <p:nvSpPr>
          <p:cNvPr id="7" name="Rectangle 6">
            <a:extLst>
              <a:ext uri="{FF2B5EF4-FFF2-40B4-BE49-F238E27FC236}">
                <a16:creationId xmlns:a16="http://schemas.microsoft.com/office/drawing/2014/main" id="{CF11EDB1-C21D-9F11-8B82-F1B9F092F96B}"/>
              </a:ext>
            </a:extLst>
          </p:cNvPr>
          <p:cNvSpPr/>
          <p:nvPr/>
        </p:nvSpPr>
        <p:spPr>
          <a:xfrm>
            <a:off x="3691525" y="2163906"/>
            <a:ext cx="1665962" cy="3569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
        <p:nvSpPr>
          <p:cNvPr id="8" name="Rectangle 7">
            <a:extLst>
              <a:ext uri="{FF2B5EF4-FFF2-40B4-BE49-F238E27FC236}">
                <a16:creationId xmlns:a16="http://schemas.microsoft.com/office/drawing/2014/main" id="{2DEDC9F6-5FAF-2413-EFB7-4E8781DB509A}"/>
              </a:ext>
            </a:extLst>
          </p:cNvPr>
          <p:cNvSpPr/>
          <p:nvPr/>
        </p:nvSpPr>
        <p:spPr>
          <a:xfrm>
            <a:off x="5301119" y="2157643"/>
            <a:ext cx="1665962" cy="3569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
        <p:nvSpPr>
          <p:cNvPr id="9" name="Rectangle 8">
            <a:extLst>
              <a:ext uri="{FF2B5EF4-FFF2-40B4-BE49-F238E27FC236}">
                <a16:creationId xmlns:a16="http://schemas.microsoft.com/office/drawing/2014/main" id="{844EB213-8D67-08EF-5A04-113C187AF464}"/>
              </a:ext>
            </a:extLst>
          </p:cNvPr>
          <p:cNvSpPr/>
          <p:nvPr/>
        </p:nvSpPr>
        <p:spPr>
          <a:xfrm>
            <a:off x="6935485" y="2146019"/>
            <a:ext cx="1665962" cy="3569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
        <p:nvSpPr>
          <p:cNvPr id="10" name="Rectangle 9">
            <a:extLst>
              <a:ext uri="{FF2B5EF4-FFF2-40B4-BE49-F238E27FC236}">
                <a16:creationId xmlns:a16="http://schemas.microsoft.com/office/drawing/2014/main" id="{57A08DF9-05F0-DA4D-2ED5-CC537F59E1A6}"/>
              </a:ext>
            </a:extLst>
          </p:cNvPr>
          <p:cNvSpPr/>
          <p:nvPr/>
        </p:nvSpPr>
        <p:spPr>
          <a:xfrm>
            <a:off x="8463943" y="2146019"/>
            <a:ext cx="1665962" cy="3569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
        <p:nvSpPr>
          <p:cNvPr id="11" name="Rounded Rectangular Callout 10">
            <a:extLst>
              <a:ext uri="{FF2B5EF4-FFF2-40B4-BE49-F238E27FC236}">
                <a16:creationId xmlns:a16="http://schemas.microsoft.com/office/drawing/2014/main" id="{BABEBBD5-7ED0-80A5-45DA-E026F057D451}"/>
              </a:ext>
            </a:extLst>
          </p:cNvPr>
          <p:cNvSpPr/>
          <p:nvPr/>
        </p:nvSpPr>
        <p:spPr>
          <a:xfrm>
            <a:off x="2190750" y="1371600"/>
            <a:ext cx="7507432" cy="483422"/>
          </a:xfrm>
          <a:prstGeom prst="wedgeRoundRectCallout">
            <a:avLst>
              <a:gd name="adj1" fmla="val -40389"/>
              <a:gd name="adj2" fmla="val 1375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If Alia wants to pay Babar, typically Alia will launch the transaction</a:t>
            </a:r>
          </a:p>
        </p:txBody>
      </p:sp>
      <p:sp>
        <p:nvSpPr>
          <p:cNvPr id="12" name="Rounded Rectangular Callout 11">
            <a:extLst>
              <a:ext uri="{FF2B5EF4-FFF2-40B4-BE49-F238E27FC236}">
                <a16:creationId xmlns:a16="http://schemas.microsoft.com/office/drawing/2014/main" id="{B6DFFB5B-06AC-3903-8A81-2DBEA6CDD51F}"/>
              </a:ext>
            </a:extLst>
          </p:cNvPr>
          <p:cNvSpPr/>
          <p:nvPr/>
        </p:nvSpPr>
        <p:spPr>
          <a:xfrm>
            <a:off x="2190750" y="1371600"/>
            <a:ext cx="7507432" cy="483422"/>
          </a:xfrm>
          <a:prstGeom prst="wedgeRoundRectCallout">
            <a:avLst>
              <a:gd name="adj1" fmla="val -17445"/>
              <a:gd name="adj2" fmla="val 14639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Validators will put unconfirmed transactions in their LOG after vali</a:t>
            </a:r>
            <a:r>
              <a:rPr lang="en-US" dirty="0"/>
              <a:t>d</a:t>
            </a:r>
            <a:r>
              <a:rPr lang="en-PK" dirty="0" err="1"/>
              <a:t>ation</a:t>
            </a:r>
            <a:endParaRPr lang="en-PK" dirty="0"/>
          </a:p>
        </p:txBody>
      </p:sp>
      <p:sp>
        <p:nvSpPr>
          <p:cNvPr id="13" name="Rounded Rectangular Callout 12">
            <a:extLst>
              <a:ext uri="{FF2B5EF4-FFF2-40B4-BE49-F238E27FC236}">
                <a16:creationId xmlns:a16="http://schemas.microsoft.com/office/drawing/2014/main" id="{024AF613-5C5A-9CC5-AC3E-E16629EBD31C}"/>
              </a:ext>
            </a:extLst>
          </p:cNvPr>
          <p:cNvSpPr/>
          <p:nvPr/>
        </p:nvSpPr>
        <p:spPr>
          <a:xfrm>
            <a:off x="2190750" y="1371600"/>
            <a:ext cx="7507432" cy="483422"/>
          </a:xfrm>
          <a:prstGeom prst="wedgeRoundRectCallout">
            <a:avLst>
              <a:gd name="adj1" fmla="val -98"/>
              <a:gd name="adj2" fmla="val 13493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A miner or record producer will create the “potential” next block</a:t>
            </a:r>
          </a:p>
        </p:txBody>
      </p:sp>
      <p:sp>
        <p:nvSpPr>
          <p:cNvPr id="14" name="Rounded Rectangular Callout 13">
            <a:extLst>
              <a:ext uri="{FF2B5EF4-FFF2-40B4-BE49-F238E27FC236}">
                <a16:creationId xmlns:a16="http://schemas.microsoft.com/office/drawing/2014/main" id="{37B19941-0110-24D8-EACD-C421E9CB5274}"/>
              </a:ext>
            </a:extLst>
          </p:cNvPr>
          <p:cNvSpPr/>
          <p:nvPr/>
        </p:nvSpPr>
        <p:spPr>
          <a:xfrm>
            <a:off x="2190750" y="1371600"/>
            <a:ext cx="7507432" cy="483422"/>
          </a:xfrm>
          <a:prstGeom prst="wedgeRoundRectCallout">
            <a:avLst>
              <a:gd name="adj1" fmla="val 23524"/>
              <a:gd name="adj2" fmla="val 13779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p</a:t>
            </a:r>
            <a:r>
              <a:rPr lang="en-PK" dirty="0"/>
              <a:t>otential next block will be verified and made part of the journal</a:t>
            </a:r>
          </a:p>
        </p:txBody>
      </p:sp>
      <p:sp>
        <p:nvSpPr>
          <p:cNvPr id="15" name="Rounded Rectangular Callout 14">
            <a:extLst>
              <a:ext uri="{FF2B5EF4-FFF2-40B4-BE49-F238E27FC236}">
                <a16:creationId xmlns:a16="http://schemas.microsoft.com/office/drawing/2014/main" id="{29FA29FC-8972-F817-4D59-4CF11C95DE11}"/>
              </a:ext>
            </a:extLst>
          </p:cNvPr>
          <p:cNvSpPr/>
          <p:nvPr/>
        </p:nvSpPr>
        <p:spPr>
          <a:xfrm>
            <a:off x="2190750" y="1371600"/>
            <a:ext cx="7507432" cy="483422"/>
          </a:xfrm>
          <a:prstGeom prst="wedgeRoundRectCallout">
            <a:avLst>
              <a:gd name="adj1" fmla="val 45300"/>
              <a:gd name="adj2" fmla="val 13493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effort to synchronize all individual journals results in the LEDGER</a:t>
            </a:r>
            <a:endParaRPr lang="en-PK" dirty="0"/>
          </a:p>
        </p:txBody>
      </p:sp>
    </p:spTree>
    <p:extLst>
      <p:ext uri="{BB962C8B-B14F-4D97-AF65-F5344CB8AC3E}">
        <p14:creationId xmlns:p14="http://schemas.microsoft.com/office/powerpoint/2010/main" val="779133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dissolv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24A36-634A-ACF2-5658-48F7E4AD35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70D348-DBFA-8F51-72A5-EE4704A69FBE}"/>
              </a:ext>
            </a:extLst>
          </p:cNvPr>
          <p:cNvSpPr>
            <a:spLocks noGrp="1"/>
          </p:cNvSpPr>
          <p:nvPr>
            <p:ph type="title"/>
          </p:nvPr>
        </p:nvSpPr>
        <p:spPr/>
        <p:txBody>
          <a:bodyPr/>
          <a:lstStyle/>
          <a:p>
            <a:r>
              <a:rPr lang="en-PK" dirty="0"/>
              <a:t>How is a block added to the blockchain?</a:t>
            </a:r>
          </a:p>
        </p:txBody>
      </p:sp>
      <p:pic>
        <p:nvPicPr>
          <p:cNvPr id="2" name="Picture 1">
            <a:extLst>
              <a:ext uri="{FF2B5EF4-FFF2-40B4-BE49-F238E27FC236}">
                <a16:creationId xmlns:a16="http://schemas.microsoft.com/office/drawing/2014/main" id="{F0F04D6E-4037-7C5A-CB4F-C0585DF98815}"/>
              </a:ext>
            </a:extLst>
          </p:cNvPr>
          <p:cNvPicPr>
            <a:picLocks noChangeAspect="1"/>
          </p:cNvPicPr>
          <p:nvPr/>
        </p:nvPicPr>
        <p:blipFill>
          <a:blip r:embed="rId2"/>
          <a:stretch>
            <a:fillRect/>
          </a:stretch>
        </p:blipFill>
        <p:spPr>
          <a:xfrm>
            <a:off x="4021615" y="5058313"/>
            <a:ext cx="3371137" cy="1467815"/>
          </a:xfrm>
          <a:prstGeom prst="rect">
            <a:avLst/>
          </a:prstGeom>
        </p:spPr>
      </p:pic>
      <p:pic>
        <p:nvPicPr>
          <p:cNvPr id="3" name="Picture 2">
            <a:extLst>
              <a:ext uri="{FF2B5EF4-FFF2-40B4-BE49-F238E27FC236}">
                <a16:creationId xmlns:a16="http://schemas.microsoft.com/office/drawing/2014/main" id="{E0E8CE4F-4E45-FF2A-0F3A-3D88304E82F4}"/>
              </a:ext>
            </a:extLst>
          </p:cNvPr>
          <p:cNvPicPr>
            <a:picLocks noChangeAspect="1"/>
          </p:cNvPicPr>
          <p:nvPr/>
        </p:nvPicPr>
        <p:blipFill rotWithShape="1">
          <a:blip r:embed="rId3"/>
          <a:srcRect l="1" r="3672" b="28937"/>
          <a:stretch/>
        </p:blipFill>
        <p:spPr>
          <a:xfrm>
            <a:off x="2457451" y="1207433"/>
            <a:ext cx="715672" cy="758104"/>
          </a:xfrm>
          <a:prstGeom prst="rect">
            <a:avLst/>
          </a:prstGeom>
        </p:spPr>
      </p:pic>
      <p:pic>
        <p:nvPicPr>
          <p:cNvPr id="35" name="Picture 34">
            <a:extLst>
              <a:ext uri="{FF2B5EF4-FFF2-40B4-BE49-F238E27FC236}">
                <a16:creationId xmlns:a16="http://schemas.microsoft.com/office/drawing/2014/main" id="{6EF5B371-1E1B-F626-1C1E-E5DABEB18555}"/>
              </a:ext>
            </a:extLst>
          </p:cNvPr>
          <p:cNvPicPr>
            <a:picLocks noChangeAspect="1"/>
          </p:cNvPicPr>
          <p:nvPr/>
        </p:nvPicPr>
        <p:blipFill>
          <a:blip r:embed="rId4"/>
          <a:stretch>
            <a:fillRect/>
          </a:stretch>
        </p:blipFill>
        <p:spPr>
          <a:xfrm>
            <a:off x="3200400" y="1268357"/>
            <a:ext cx="1198062" cy="472476"/>
          </a:xfrm>
          <a:prstGeom prst="rect">
            <a:avLst/>
          </a:prstGeom>
        </p:spPr>
      </p:pic>
      <p:pic>
        <p:nvPicPr>
          <p:cNvPr id="36" name="Picture 35">
            <a:extLst>
              <a:ext uri="{FF2B5EF4-FFF2-40B4-BE49-F238E27FC236}">
                <a16:creationId xmlns:a16="http://schemas.microsoft.com/office/drawing/2014/main" id="{8D532281-6A1D-27D7-D634-7C733A89979F}"/>
              </a:ext>
            </a:extLst>
          </p:cNvPr>
          <p:cNvPicPr>
            <a:picLocks noChangeAspect="1"/>
          </p:cNvPicPr>
          <p:nvPr/>
        </p:nvPicPr>
        <p:blipFill rotWithShape="1">
          <a:blip r:embed="rId5"/>
          <a:srcRect l="2782"/>
          <a:stretch/>
        </p:blipFill>
        <p:spPr>
          <a:xfrm>
            <a:off x="4590628" y="1047831"/>
            <a:ext cx="1101568" cy="1226402"/>
          </a:xfrm>
          <a:prstGeom prst="rect">
            <a:avLst/>
          </a:prstGeom>
        </p:spPr>
      </p:pic>
      <p:cxnSp>
        <p:nvCxnSpPr>
          <p:cNvPr id="37" name="Straight Arrow Connector 36">
            <a:extLst>
              <a:ext uri="{FF2B5EF4-FFF2-40B4-BE49-F238E27FC236}">
                <a16:creationId xmlns:a16="http://schemas.microsoft.com/office/drawing/2014/main" id="{2ECCD6CE-9211-7E69-3D70-FDD861FD19F3}"/>
              </a:ext>
            </a:extLst>
          </p:cNvPr>
          <p:cNvCxnSpPr/>
          <p:nvPr/>
        </p:nvCxnSpPr>
        <p:spPr>
          <a:xfrm>
            <a:off x="3200400" y="1740833"/>
            <a:ext cx="13078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8" name="Picture 37">
            <a:extLst>
              <a:ext uri="{FF2B5EF4-FFF2-40B4-BE49-F238E27FC236}">
                <a16:creationId xmlns:a16="http://schemas.microsoft.com/office/drawing/2014/main" id="{FBD692FE-F8BF-B700-C22C-B71B8F15E945}"/>
              </a:ext>
            </a:extLst>
          </p:cNvPr>
          <p:cNvPicPr>
            <a:picLocks noChangeAspect="1"/>
          </p:cNvPicPr>
          <p:nvPr/>
        </p:nvPicPr>
        <p:blipFill>
          <a:blip r:embed="rId6"/>
          <a:stretch>
            <a:fillRect/>
          </a:stretch>
        </p:blipFill>
        <p:spPr>
          <a:xfrm>
            <a:off x="8568986" y="2954080"/>
            <a:ext cx="1886704" cy="1529891"/>
          </a:xfrm>
          <a:prstGeom prst="rect">
            <a:avLst/>
          </a:prstGeom>
        </p:spPr>
      </p:pic>
      <p:sp>
        <p:nvSpPr>
          <p:cNvPr id="39" name="TextBox 38">
            <a:extLst>
              <a:ext uri="{FF2B5EF4-FFF2-40B4-BE49-F238E27FC236}">
                <a16:creationId xmlns:a16="http://schemas.microsoft.com/office/drawing/2014/main" id="{E910C12F-6329-778E-08AA-A259607C4AB8}"/>
              </a:ext>
            </a:extLst>
          </p:cNvPr>
          <p:cNvSpPr txBox="1"/>
          <p:nvPr/>
        </p:nvSpPr>
        <p:spPr>
          <a:xfrm>
            <a:off x="7986243" y="2074757"/>
            <a:ext cx="3052190" cy="338554"/>
          </a:xfrm>
          <a:prstGeom prst="rect">
            <a:avLst/>
          </a:prstGeom>
          <a:noFill/>
        </p:spPr>
        <p:txBody>
          <a:bodyPr wrap="square">
            <a:spAutoFit/>
          </a:bodyPr>
          <a:lstStyle/>
          <a:p>
            <a:r>
              <a:rPr lang="en-US" sz="1600" b="1" dirty="0"/>
              <a:t>H(prev hash, </a:t>
            </a:r>
            <a:r>
              <a:rPr lang="en-US" sz="1600" b="1" dirty="0" err="1"/>
              <a:t>Tx</a:t>
            </a:r>
            <a:r>
              <a:rPr lang="en-US" sz="1600" b="1" dirty="0"/>
              <a:t>, nonce) &lt; Target</a:t>
            </a:r>
            <a:endParaRPr lang="en-US" sz="1600" dirty="0"/>
          </a:p>
        </p:txBody>
      </p:sp>
      <p:pic>
        <p:nvPicPr>
          <p:cNvPr id="40" name="Picture 39">
            <a:extLst>
              <a:ext uri="{FF2B5EF4-FFF2-40B4-BE49-F238E27FC236}">
                <a16:creationId xmlns:a16="http://schemas.microsoft.com/office/drawing/2014/main" id="{04E36EF0-E122-5A42-052B-063CAB1FE9BA}"/>
              </a:ext>
            </a:extLst>
          </p:cNvPr>
          <p:cNvPicPr>
            <a:picLocks noChangeAspect="1"/>
          </p:cNvPicPr>
          <p:nvPr/>
        </p:nvPicPr>
        <p:blipFill>
          <a:blip r:embed="rId7"/>
          <a:stretch>
            <a:fillRect/>
          </a:stretch>
        </p:blipFill>
        <p:spPr>
          <a:xfrm>
            <a:off x="8818056" y="1452162"/>
            <a:ext cx="1338223" cy="622595"/>
          </a:xfrm>
          <a:prstGeom prst="rect">
            <a:avLst/>
          </a:prstGeom>
        </p:spPr>
      </p:pic>
      <p:pic>
        <p:nvPicPr>
          <p:cNvPr id="41" name="Picture 6" descr="Bitcoin, blockchain, cryptocurrency, transaction icon - Download on  Iconfinder">
            <a:extLst>
              <a:ext uri="{FF2B5EF4-FFF2-40B4-BE49-F238E27FC236}">
                <a16:creationId xmlns:a16="http://schemas.microsoft.com/office/drawing/2014/main" id="{B6518CBE-8A95-EE44-A8F8-566CD0CACC6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75054" y="964979"/>
            <a:ext cx="797395" cy="797395"/>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Straight Arrow Connector 41">
            <a:extLst>
              <a:ext uri="{FF2B5EF4-FFF2-40B4-BE49-F238E27FC236}">
                <a16:creationId xmlns:a16="http://schemas.microsoft.com/office/drawing/2014/main" id="{2F4683FA-4BDE-CD76-DE52-EC2728BCDDF9}"/>
              </a:ext>
            </a:extLst>
          </p:cNvPr>
          <p:cNvCxnSpPr>
            <a:cxnSpLocks/>
          </p:cNvCxnSpPr>
          <p:nvPr/>
        </p:nvCxnSpPr>
        <p:spPr>
          <a:xfrm>
            <a:off x="5746872" y="1741117"/>
            <a:ext cx="16202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C5582EC-38F9-8F0F-081C-9F0D10AF3C0B}"/>
              </a:ext>
            </a:extLst>
          </p:cNvPr>
          <p:cNvCxnSpPr>
            <a:stCxn id="39" idx="2"/>
            <a:endCxn id="38" idx="0"/>
          </p:cNvCxnSpPr>
          <p:nvPr/>
        </p:nvCxnSpPr>
        <p:spPr>
          <a:xfrm>
            <a:off x="9512338" y="2413311"/>
            <a:ext cx="0" cy="540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4" name="Group 43">
            <a:extLst>
              <a:ext uri="{FF2B5EF4-FFF2-40B4-BE49-F238E27FC236}">
                <a16:creationId xmlns:a16="http://schemas.microsoft.com/office/drawing/2014/main" id="{47C54DB7-1555-5C39-7A54-52C6A1767CBB}"/>
              </a:ext>
            </a:extLst>
          </p:cNvPr>
          <p:cNvGrpSpPr/>
          <p:nvPr/>
        </p:nvGrpSpPr>
        <p:grpSpPr>
          <a:xfrm>
            <a:off x="7367165" y="1104461"/>
            <a:ext cx="964849" cy="1145186"/>
            <a:chOff x="5538365" y="1134312"/>
            <a:chExt cx="964849" cy="1145186"/>
          </a:xfrm>
        </p:grpSpPr>
        <p:pic>
          <p:nvPicPr>
            <p:cNvPr id="45" name="Picture 4" descr="Proof, work, bitcoin, bitcoin mining, miner, mining, proof of work icon -  Download on Iconfinder">
              <a:extLst>
                <a:ext uri="{FF2B5EF4-FFF2-40B4-BE49-F238E27FC236}">
                  <a16:creationId xmlns:a16="http://schemas.microsoft.com/office/drawing/2014/main" id="{6A80E0EC-5D70-B720-F412-3753F4143B6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538365" y="1134312"/>
              <a:ext cx="964849" cy="964849"/>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6385681A-5658-F280-CD78-866B2ABE0D43}"/>
                </a:ext>
              </a:extLst>
            </p:cNvPr>
            <p:cNvSpPr txBox="1"/>
            <p:nvPr/>
          </p:nvSpPr>
          <p:spPr>
            <a:xfrm>
              <a:off x="5593041" y="1910166"/>
              <a:ext cx="891806" cy="369332"/>
            </a:xfrm>
            <a:prstGeom prst="rect">
              <a:avLst/>
            </a:prstGeom>
            <a:noFill/>
          </p:spPr>
          <p:txBody>
            <a:bodyPr wrap="square" rtlCol="0">
              <a:spAutoFit/>
            </a:bodyPr>
            <a:lstStyle/>
            <a:p>
              <a:r>
                <a:rPr lang="en-US" sz="1800" dirty="0"/>
                <a:t>Miner</a:t>
              </a:r>
              <a:endParaRPr lang="en-US" dirty="0"/>
            </a:p>
          </p:txBody>
        </p:sp>
      </p:grpSp>
      <p:cxnSp>
        <p:nvCxnSpPr>
          <p:cNvPr id="47" name="Connector: Elbow 56">
            <a:extLst>
              <a:ext uri="{FF2B5EF4-FFF2-40B4-BE49-F238E27FC236}">
                <a16:creationId xmlns:a16="http://schemas.microsoft.com/office/drawing/2014/main" id="{47058F66-67F2-4D91-ABD2-E4073BD4760C}"/>
              </a:ext>
            </a:extLst>
          </p:cNvPr>
          <p:cNvCxnSpPr>
            <a:cxnSpLocks/>
            <a:stCxn id="38" idx="2"/>
          </p:cNvCxnSpPr>
          <p:nvPr/>
        </p:nvCxnSpPr>
        <p:spPr>
          <a:xfrm rot="5400000">
            <a:off x="7043458" y="3386691"/>
            <a:ext cx="1371600" cy="356616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653F3407-566B-6BDE-AFD4-3237393428B5}"/>
              </a:ext>
            </a:extLst>
          </p:cNvPr>
          <p:cNvSpPr txBox="1"/>
          <p:nvPr/>
        </p:nvSpPr>
        <p:spPr>
          <a:xfrm>
            <a:off x="5738260" y="1705996"/>
            <a:ext cx="1628905" cy="261610"/>
          </a:xfrm>
          <a:prstGeom prst="rect">
            <a:avLst/>
          </a:prstGeom>
          <a:noFill/>
        </p:spPr>
        <p:txBody>
          <a:bodyPr wrap="square">
            <a:spAutoFit/>
          </a:bodyPr>
          <a:lstStyle/>
          <a:p>
            <a:r>
              <a:rPr lang="en-US" altLang="ko-KR" sz="1100" dirty="0"/>
              <a:t>collects new transactions</a:t>
            </a:r>
            <a:endParaRPr lang="en-US" sz="1100" dirty="0"/>
          </a:p>
        </p:txBody>
      </p:sp>
      <p:sp>
        <p:nvSpPr>
          <p:cNvPr id="49" name="TextBox 48">
            <a:extLst>
              <a:ext uri="{FF2B5EF4-FFF2-40B4-BE49-F238E27FC236}">
                <a16:creationId xmlns:a16="http://schemas.microsoft.com/office/drawing/2014/main" id="{46A2C75E-D3DF-EB02-7BCD-4901E37AF937}"/>
              </a:ext>
            </a:extLst>
          </p:cNvPr>
          <p:cNvSpPr txBox="1"/>
          <p:nvPr/>
        </p:nvSpPr>
        <p:spPr>
          <a:xfrm>
            <a:off x="5707183" y="4893836"/>
            <a:ext cx="1742954" cy="600164"/>
          </a:xfrm>
          <a:prstGeom prst="rect">
            <a:avLst/>
          </a:prstGeom>
          <a:noFill/>
        </p:spPr>
        <p:txBody>
          <a:bodyPr wrap="square">
            <a:spAutoFit/>
          </a:bodyPr>
          <a:lstStyle/>
          <a:p>
            <a:r>
              <a:rPr lang="en-US" altLang="ko-KR" sz="1100" dirty="0"/>
              <a:t>new blocks  added to chain using the hash of previously accepted block</a:t>
            </a:r>
            <a:endParaRPr lang="en-US" sz="1100" dirty="0"/>
          </a:p>
        </p:txBody>
      </p:sp>
      <p:cxnSp>
        <p:nvCxnSpPr>
          <p:cNvPr id="50" name="Straight Arrow Connector 49">
            <a:extLst>
              <a:ext uri="{FF2B5EF4-FFF2-40B4-BE49-F238E27FC236}">
                <a16:creationId xmlns:a16="http://schemas.microsoft.com/office/drawing/2014/main" id="{B4118304-A0C6-3478-6683-B9D40B82D968}"/>
              </a:ext>
            </a:extLst>
          </p:cNvPr>
          <p:cNvCxnSpPr>
            <a:cxnSpLocks/>
          </p:cNvCxnSpPr>
          <p:nvPr/>
        </p:nvCxnSpPr>
        <p:spPr>
          <a:xfrm>
            <a:off x="8294323" y="1713512"/>
            <a:ext cx="909835" cy="31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F504C607-334D-5CD2-4EBC-890964A8E1CF}"/>
              </a:ext>
            </a:extLst>
          </p:cNvPr>
          <p:cNvSpPr txBox="1"/>
          <p:nvPr/>
        </p:nvSpPr>
        <p:spPr>
          <a:xfrm>
            <a:off x="3302718" y="1703912"/>
            <a:ext cx="1095744" cy="307777"/>
          </a:xfrm>
          <a:prstGeom prst="rect">
            <a:avLst/>
          </a:prstGeom>
          <a:noFill/>
        </p:spPr>
        <p:txBody>
          <a:bodyPr wrap="square" rtlCol="0">
            <a:spAutoFit/>
          </a:bodyPr>
          <a:lstStyle/>
          <a:p>
            <a:r>
              <a:rPr lang="en-US" sz="1400" dirty="0"/>
              <a:t>Transaction</a:t>
            </a:r>
          </a:p>
        </p:txBody>
      </p:sp>
      <p:pic>
        <p:nvPicPr>
          <p:cNvPr id="52" name="Picture 51">
            <a:extLst>
              <a:ext uri="{FF2B5EF4-FFF2-40B4-BE49-F238E27FC236}">
                <a16:creationId xmlns:a16="http://schemas.microsoft.com/office/drawing/2014/main" id="{E9327B4B-C57C-D4EF-077E-4D6F087DD7FB}"/>
              </a:ext>
            </a:extLst>
          </p:cNvPr>
          <p:cNvPicPr>
            <a:picLocks noChangeAspect="1"/>
          </p:cNvPicPr>
          <p:nvPr/>
        </p:nvPicPr>
        <p:blipFill rotWithShape="1">
          <a:blip r:embed="rId10"/>
          <a:srcRect r="19751"/>
          <a:stretch/>
        </p:blipFill>
        <p:spPr>
          <a:xfrm>
            <a:off x="2045223" y="3612185"/>
            <a:ext cx="3708168" cy="1109940"/>
          </a:xfrm>
          <a:prstGeom prst="rect">
            <a:avLst/>
          </a:prstGeom>
        </p:spPr>
      </p:pic>
      <p:sp>
        <p:nvSpPr>
          <p:cNvPr id="53" name="Cube 52">
            <a:extLst>
              <a:ext uri="{FF2B5EF4-FFF2-40B4-BE49-F238E27FC236}">
                <a16:creationId xmlns:a16="http://schemas.microsoft.com/office/drawing/2014/main" id="{491E9DEB-0E12-7C02-5191-F2FE9E8242E8}"/>
              </a:ext>
            </a:extLst>
          </p:cNvPr>
          <p:cNvSpPr/>
          <p:nvPr/>
        </p:nvSpPr>
        <p:spPr>
          <a:xfrm rot="8187170">
            <a:off x="6094653" y="3678880"/>
            <a:ext cx="562334" cy="601506"/>
          </a:xfrm>
          <a:prstGeom prst="cube">
            <a:avLst>
              <a:gd name="adj" fmla="val 41053"/>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54" name="Picture 53">
            <a:extLst>
              <a:ext uri="{FF2B5EF4-FFF2-40B4-BE49-F238E27FC236}">
                <a16:creationId xmlns:a16="http://schemas.microsoft.com/office/drawing/2014/main" id="{D08D89F3-230B-B83E-E08C-FE88A13FCBAF}"/>
              </a:ext>
            </a:extLst>
          </p:cNvPr>
          <p:cNvPicPr>
            <a:picLocks noChangeAspect="1"/>
          </p:cNvPicPr>
          <p:nvPr/>
        </p:nvPicPr>
        <p:blipFill>
          <a:blip r:embed="rId11"/>
          <a:stretch>
            <a:fillRect/>
          </a:stretch>
        </p:blipFill>
        <p:spPr>
          <a:xfrm>
            <a:off x="6666027" y="3800997"/>
            <a:ext cx="447675" cy="371475"/>
          </a:xfrm>
          <a:prstGeom prst="rect">
            <a:avLst/>
          </a:prstGeom>
        </p:spPr>
      </p:pic>
      <p:sp>
        <p:nvSpPr>
          <p:cNvPr id="55" name="TextBox 54">
            <a:extLst>
              <a:ext uri="{FF2B5EF4-FFF2-40B4-BE49-F238E27FC236}">
                <a16:creationId xmlns:a16="http://schemas.microsoft.com/office/drawing/2014/main" id="{52F0DE63-606D-F24F-F428-8C981A0CE0E7}"/>
              </a:ext>
            </a:extLst>
          </p:cNvPr>
          <p:cNvSpPr txBox="1"/>
          <p:nvPr/>
        </p:nvSpPr>
        <p:spPr>
          <a:xfrm rot="20328249">
            <a:off x="6617145" y="2796454"/>
            <a:ext cx="2210148" cy="338554"/>
          </a:xfrm>
          <a:prstGeom prst="rect">
            <a:avLst/>
          </a:prstGeom>
          <a:noFill/>
        </p:spPr>
        <p:txBody>
          <a:bodyPr wrap="square">
            <a:spAutoFit/>
          </a:bodyPr>
          <a:lstStyle/>
          <a:p>
            <a:pPr algn="ctr"/>
            <a:r>
              <a:rPr lang="en-US" altLang="ko-KR" sz="1600" dirty="0"/>
              <a:t>block is added to </a:t>
            </a:r>
            <a:r>
              <a:rPr lang="en-US" altLang="ko-KR" sz="1600" b="1" i="1" dirty="0">
                <a:solidFill>
                  <a:srgbClr val="C00000"/>
                </a:solidFill>
              </a:rPr>
              <a:t>chain</a:t>
            </a:r>
            <a:endParaRPr lang="en-US" sz="1600" b="1" i="1" dirty="0">
              <a:solidFill>
                <a:srgbClr val="C00000"/>
              </a:solidFill>
            </a:endParaRPr>
          </a:p>
        </p:txBody>
      </p:sp>
      <p:sp>
        <p:nvSpPr>
          <p:cNvPr id="56" name="Cube 55">
            <a:extLst>
              <a:ext uri="{FF2B5EF4-FFF2-40B4-BE49-F238E27FC236}">
                <a16:creationId xmlns:a16="http://schemas.microsoft.com/office/drawing/2014/main" id="{86AFD1A0-C856-A4AD-3F42-F2E7EF99C2E6}"/>
              </a:ext>
            </a:extLst>
          </p:cNvPr>
          <p:cNvSpPr/>
          <p:nvPr/>
        </p:nvSpPr>
        <p:spPr>
          <a:xfrm rot="8187170">
            <a:off x="7149181" y="3670390"/>
            <a:ext cx="562334" cy="601506"/>
          </a:xfrm>
          <a:prstGeom prst="cube">
            <a:avLst>
              <a:gd name="adj" fmla="val 41053"/>
            </a:avLst>
          </a:prstGeom>
          <a:solidFill>
            <a:srgbClr val="00B05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Connector: Elbow 1062">
            <a:extLst>
              <a:ext uri="{FF2B5EF4-FFF2-40B4-BE49-F238E27FC236}">
                <a16:creationId xmlns:a16="http://schemas.microsoft.com/office/drawing/2014/main" id="{5866B61B-300C-8AFE-F9C2-7F9F3F1CF4AC}"/>
              </a:ext>
            </a:extLst>
          </p:cNvPr>
          <p:cNvCxnSpPr>
            <a:cxnSpLocks/>
          </p:cNvCxnSpPr>
          <p:nvPr/>
        </p:nvCxnSpPr>
        <p:spPr>
          <a:xfrm rot="5400000" flipH="1" flipV="1">
            <a:off x="6049944" y="3997064"/>
            <a:ext cx="914400" cy="1828800"/>
          </a:xfrm>
          <a:prstGeom prst="bentConnector3">
            <a:avLst/>
          </a:prstGeom>
          <a:ln w="5715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0FBB17C1-707B-9E85-2453-B1519AC0BF04}"/>
              </a:ext>
            </a:extLst>
          </p:cNvPr>
          <p:cNvSpPr txBox="1"/>
          <p:nvPr/>
        </p:nvSpPr>
        <p:spPr>
          <a:xfrm>
            <a:off x="6059871" y="4558575"/>
            <a:ext cx="3052190" cy="276999"/>
          </a:xfrm>
          <a:prstGeom prst="rect">
            <a:avLst/>
          </a:prstGeom>
          <a:noFill/>
        </p:spPr>
        <p:txBody>
          <a:bodyPr wrap="square">
            <a:spAutoFit/>
          </a:bodyPr>
          <a:lstStyle/>
          <a:p>
            <a:r>
              <a:rPr lang="en-US" sz="1200" b="1" dirty="0"/>
              <a:t>H(prev hash, nonce,  Tx) &lt; Target</a:t>
            </a:r>
            <a:endParaRPr lang="en-US" sz="1200" dirty="0"/>
          </a:p>
        </p:txBody>
      </p:sp>
      <p:cxnSp>
        <p:nvCxnSpPr>
          <p:cNvPr id="59" name="Straight Connector 58">
            <a:extLst>
              <a:ext uri="{FF2B5EF4-FFF2-40B4-BE49-F238E27FC236}">
                <a16:creationId xmlns:a16="http://schemas.microsoft.com/office/drawing/2014/main" id="{9057C8E8-EB5C-9019-314C-9E7BC72CC19B}"/>
              </a:ext>
            </a:extLst>
          </p:cNvPr>
          <p:cNvCxnSpPr/>
          <p:nvPr/>
        </p:nvCxnSpPr>
        <p:spPr>
          <a:xfrm>
            <a:off x="6444060" y="4372376"/>
            <a:ext cx="131324" cy="242810"/>
          </a:xfrm>
          <a:prstGeom prst="line">
            <a:avLst/>
          </a:prstGeom>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7A8C6443-EDD5-5800-7E7E-B2FB21F7955D}"/>
              </a:ext>
            </a:extLst>
          </p:cNvPr>
          <p:cNvSpPr txBox="1"/>
          <p:nvPr/>
        </p:nvSpPr>
        <p:spPr>
          <a:xfrm>
            <a:off x="2477253" y="1870690"/>
            <a:ext cx="715672" cy="307777"/>
          </a:xfrm>
          <a:prstGeom prst="rect">
            <a:avLst/>
          </a:prstGeom>
          <a:noFill/>
        </p:spPr>
        <p:txBody>
          <a:bodyPr wrap="square" rtlCol="0">
            <a:spAutoFit/>
          </a:bodyPr>
          <a:lstStyle/>
          <a:p>
            <a:r>
              <a:rPr lang="en-US" sz="1400" dirty="0"/>
              <a:t>User A</a:t>
            </a:r>
          </a:p>
        </p:txBody>
      </p:sp>
      <p:pic>
        <p:nvPicPr>
          <p:cNvPr id="61" name="Picture 60">
            <a:extLst>
              <a:ext uri="{FF2B5EF4-FFF2-40B4-BE49-F238E27FC236}">
                <a16:creationId xmlns:a16="http://schemas.microsoft.com/office/drawing/2014/main" id="{83F7767A-49D2-957F-BCF7-A7DCC4CB41C9}"/>
              </a:ext>
            </a:extLst>
          </p:cNvPr>
          <p:cNvPicPr>
            <a:picLocks noChangeAspect="1"/>
          </p:cNvPicPr>
          <p:nvPr/>
        </p:nvPicPr>
        <p:blipFill>
          <a:blip r:embed="rId11"/>
          <a:stretch>
            <a:fillRect/>
          </a:stretch>
        </p:blipFill>
        <p:spPr>
          <a:xfrm>
            <a:off x="5684054" y="3785405"/>
            <a:ext cx="447675" cy="371475"/>
          </a:xfrm>
          <a:prstGeom prst="rect">
            <a:avLst/>
          </a:prstGeom>
        </p:spPr>
      </p:pic>
      <p:cxnSp>
        <p:nvCxnSpPr>
          <p:cNvPr id="62" name="Straight Arrow Connector 61">
            <a:extLst>
              <a:ext uri="{FF2B5EF4-FFF2-40B4-BE49-F238E27FC236}">
                <a16:creationId xmlns:a16="http://schemas.microsoft.com/office/drawing/2014/main" id="{C7ED25A2-5EF9-64E5-ABFC-66DEEFAA8FD4}"/>
              </a:ext>
            </a:extLst>
          </p:cNvPr>
          <p:cNvCxnSpPr>
            <a:stCxn id="39" idx="2"/>
          </p:cNvCxnSpPr>
          <p:nvPr/>
        </p:nvCxnSpPr>
        <p:spPr>
          <a:xfrm flipH="1">
            <a:off x="6507144" y="2413311"/>
            <a:ext cx="3005194" cy="11461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Slide Number Placeholder 5">
            <a:extLst>
              <a:ext uri="{FF2B5EF4-FFF2-40B4-BE49-F238E27FC236}">
                <a16:creationId xmlns:a16="http://schemas.microsoft.com/office/drawing/2014/main" id="{99E2C9E6-EF32-CC4D-5FDD-C5D070467035}"/>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7" name="TextBox 6">
            <a:extLst>
              <a:ext uri="{FF2B5EF4-FFF2-40B4-BE49-F238E27FC236}">
                <a16:creationId xmlns:a16="http://schemas.microsoft.com/office/drawing/2014/main" id="{7DE7E736-54A0-6CFA-850E-047FA50D84E9}"/>
              </a:ext>
            </a:extLst>
          </p:cNvPr>
          <p:cNvSpPr txBox="1"/>
          <p:nvPr/>
        </p:nvSpPr>
        <p:spPr>
          <a:xfrm>
            <a:off x="9802026" y="1510983"/>
            <a:ext cx="840295" cy="369332"/>
          </a:xfrm>
          <a:prstGeom prst="rect">
            <a:avLst/>
          </a:prstGeom>
          <a:noFill/>
        </p:spPr>
        <p:txBody>
          <a:bodyPr wrap="none" rtlCol="0">
            <a:spAutoFit/>
          </a:bodyPr>
          <a:lstStyle/>
          <a:p>
            <a:r>
              <a:rPr lang="en-PK" dirty="0">
                <a:solidFill>
                  <a:srgbClr val="C00000"/>
                </a:solidFill>
              </a:rPr>
              <a:t>Mining</a:t>
            </a:r>
          </a:p>
        </p:txBody>
      </p:sp>
      <p:sp>
        <p:nvSpPr>
          <p:cNvPr id="8" name="TextBox 7">
            <a:extLst>
              <a:ext uri="{FF2B5EF4-FFF2-40B4-BE49-F238E27FC236}">
                <a16:creationId xmlns:a16="http://schemas.microsoft.com/office/drawing/2014/main" id="{E0F281B0-6833-A74B-C379-66644B0D567D}"/>
              </a:ext>
            </a:extLst>
          </p:cNvPr>
          <p:cNvSpPr txBox="1"/>
          <p:nvPr/>
        </p:nvSpPr>
        <p:spPr>
          <a:xfrm>
            <a:off x="7512045" y="5911763"/>
            <a:ext cx="2470156" cy="646331"/>
          </a:xfrm>
          <a:prstGeom prst="rect">
            <a:avLst/>
          </a:prstGeom>
          <a:solidFill>
            <a:schemeClr val="accent4">
              <a:lumMod val="40000"/>
              <a:lumOff val="60000"/>
            </a:schemeClr>
          </a:solidFill>
        </p:spPr>
        <p:txBody>
          <a:bodyPr wrap="square" rtlCol="0">
            <a:spAutoFit/>
          </a:bodyPr>
          <a:lstStyle/>
          <a:p>
            <a:pPr algn="ctr"/>
            <a:r>
              <a:rPr lang="en-PK" dirty="0"/>
              <a:t>Adding a subsequent block is implicit consent</a:t>
            </a:r>
          </a:p>
        </p:txBody>
      </p:sp>
    </p:spTree>
    <p:extLst>
      <p:ext uri="{BB962C8B-B14F-4D97-AF65-F5344CB8AC3E}">
        <p14:creationId xmlns:p14="http://schemas.microsoft.com/office/powerpoint/2010/main" val="929291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3"/>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2"/>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5"/>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6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47"/>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5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8"/>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57"/>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59"/>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54"/>
                                        </p:tgtEl>
                                        <p:attrNameLst>
                                          <p:attrName>style.visibility</p:attrName>
                                        </p:attrNameLst>
                                      </p:cBhvr>
                                      <p:to>
                                        <p:strVal val="visible"/>
                                      </p:to>
                                    </p:set>
                                  </p:childTnLst>
                                </p:cTn>
                              </p:par>
                            </p:childTnLst>
                          </p:cTn>
                        </p:par>
                        <p:par>
                          <p:cTn id="76" fill="hold">
                            <p:stCondLst>
                              <p:cond delay="0"/>
                            </p:stCondLst>
                            <p:childTnLst>
                              <p:par>
                                <p:cTn id="77" presetID="9" presetClass="entr" presetSubtype="0" fill="hold" grpId="0" nodeType="after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dissolve">
                                      <p:cBhvr>
                                        <p:cTn id="7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8" grpId="0"/>
      <p:bldP spid="49" grpId="0"/>
      <p:bldP spid="51" grpId="0"/>
      <p:bldP spid="53" grpId="0" animBg="1"/>
      <p:bldP spid="55" grpId="0"/>
      <p:bldP spid="56" grpId="0" animBg="1"/>
      <p:bldP spid="58" grpId="0"/>
      <p:bldP spid="60" grpId="0"/>
      <p:bldP spid="7" grpId="0"/>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A4733-04D1-4CCA-5F62-4BA4EF245328}"/>
              </a:ext>
            </a:extLst>
          </p:cNvPr>
          <p:cNvSpPr>
            <a:spLocks noGrp="1"/>
          </p:cNvSpPr>
          <p:nvPr>
            <p:ph type="title"/>
          </p:nvPr>
        </p:nvSpPr>
        <p:spPr/>
        <p:txBody>
          <a:bodyPr/>
          <a:lstStyle/>
          <a:p>
            <a:r>
              <a:rPr lang="en-PK" dirty="0"/>
              <a:t>Data Lifecycle: Stages to Consensus</a:t>
            </a:r>
          </a:p>
        </p:txBody>
      </p:sp>
      <p:sp>
        <p:nvSpPr>
          <p:cNvPr id="3" name="Content Placeholder 2">
            <a:extLst>
              <a:ext uri="{FF2B5EF4-FFF2-40B4-BE49-F238E27FC236}">
                <a16:creationId xmlns:a16="http://schemas.microsoft.com/office/drawing/2014/main" id="{B682FC34-73E4-0DB5-A689-69BCAB50FE09}"/>
              </a:ext>
            </a:extLst>
          </p:cNvPr>
          <p:cNvSpPr>
            <a:spLocks noGrp="1"/>
          </p:cNvSpPr>
          <p:nvPr>
            <p:ph idx="1"/>
          </p:nvPr>
        </p:nvSpPr>
        <p:spPr/>
        <p:txBody>
          <a:bodyPr>
            <a:normAutofit fontScale="92500" lnSpcReduction="10000"/>
          </a:bodyPr>
          <a:lstStyle/>
          <a:p>
            <a:r>
              <a:rPr lang="en-US" dirty="0">
                <a:solidFill>
                  <a:srgbClr val="C00000"/>
                </a:solidFill>
              </a:rPr>
              <a:t>Transaction</a:t>
            </a:r>
            <a:r>
              <a:rPr lang="en-US" dirty="0"/>
              <a:t> – initiated and propagated by </a:t>
            </a:r>
            <a:r>
              <a:rPr lang="en-US" b="1" i="1" dirty="0"/>
              <a:t>end users</a:t>
            </a:r>
          </a:p>
          <a:p>
            <a:pPr lvl="1"/>
            <a:r>
              <a:rPr lang="en-US" dirty="0">
                <a:solidFill>
                  <a:srgbClr val="308D3E"/>
                </a:solidFill>
              </a:rPr>
              <a:t>Any proposed change to the ledger (broadcasted to the network)</a:t>
            </a:r>
          </a:p>
          <a:p>
            <a:r>
              <a:rPr lang="en-US" dirty="0">
                <a:solidFill>
                  <a:srgbClr val="C00000"/>
                </a:solidFill>
              </a:rPr>
              <a:t>LOG</a:t>
            </a:r>
            <a:r>
              <a:rPr lang="en-US" dirty="0"/>
              <a:t> – created by </a:t>
            </a:r>
            <a:r>
              <a:rPr lang="en-US" b="1" i="1" dirty="0"/>
              <a:t>auditors</a:t>
            </a:r>
            <a:r>
              <a:rPr lang="en-US" dirty="0"/>
              <a:t> (or </a:t>
            </a:r>
            <a:r>
              <a:rPr lang="en-US" b="1" i="1" dirty="0"/>
              <a:t>validating nodes</a:t>
            </a:r>
            <a:r>
              <a:rPr lang="en-US" dirty="0"/>
              <a:t>)</a:t>
            </a:r>
          </a:p>
          <a:p>
            <a:pPr lvl="1"/>
            <a:r>
              <a:rPr lang="en-US" dirty="0">
                <a:solidFill>
                  <a:srgbClr val="308D3E"/>
                </a:solidFill>
              </a:rPr>
              <a:t>Set of valid yet unconfirmed transactions put in LOG</a:t>
            </a:r>
          </a:p>
          <a:p>
            <a:pPr lvl="1"/>
            <a:r>
              <a:rPr lang="en-US" dirty="0">
                <a:solidFill>
                  <a:srgbClr val="308D3E"/>
                </a:solidFill>
              </a:rPr>
              <a:t>Each auditor has their own log/</a:t>
            </a:r>
            <a:r>
              <a:rPr lang="en-US" dirty="0" err="1">
                <a:solidFill>
                  <a:srgbClr val="308D3E"/>
                </a:solidFill>
              </a:rPr>
              <a:t>mempool</a:t>
            </a:r>
            <a:endParaRPr lang="en-US" dirty="0">
              <a:solidFill>
                <a:srgbClr val="308D3E"/>
              </a:solidFill>
            </a:endParaRPr>
          </a:p>
          <a:p>
            <a:r>
              <a:rPr lang="en-US" dirty="0">
                <a:solidFill>
                  <a:srgbClr val="C00000"/>
                </a:solidFill>
              </a:rPr>
              <a:t>Record</a:t>
            </a:r>
            <a:r>
              <a:rPr lang="en-US" dirty="0"/>
              <a:t> – created by special nodes (</a:t>
            </a:r>
            <a:r>
              <a:rPr lang="en-US" b="1" i="1" dirty="0"/>
              <a:t>miners</a:t>
            </a:r>
            <a:r>
              <a:rPr lang="en-US" dirty="0"/>
              <a:t> or </a:t>
            </a:r>
            <a:r>
              <a:rPr lang="en-US" b="1" i="1" dirty="0"/>
              <a:t>record producers</a:t>
            </a:r>
            <a:r>
              <a:rPr lang="en-US" dirty="0"/>
              <a:t>)</a:t>
            </a:r>
          </a:p>
          <a:p>
            <a:pPr lvl="1"/>
            <a:r>
              <a:rPr lang="en-US" dirty="0">
                <a:solidFill>
                  <a:srgbClr val="0432FF"/>
                </a:solidFill>
              </a:rPr>
              <a:t>Arbitrarily select a set of transactions from their log</a:t>
            </a:r>
          </a:p>
          <a:p>
            <a:pPr lvl="1"/>
            <a:r>
              <a:rPr lang="en-US" dirty="0">
                <a:solidFill>
                  <a:srgbClr val="308D3E"/>
                </a:solidFill>
              </a:rPr>
              <a:t>Put the selected transactions into a candidate record and broadcast that candidate record to all nodes they are connected to</a:t>
            </a:r>
          </a:p>
          <a:p>
            <a:r>
              <a:rPr lang="en-US" dirty="0">
                <a:solidFill>
                  <a:srgbClr val="C00000"/>
                </a:solidFill>
              </a:rPr>
              <a:t>Journal</a:t>
            </a:r>
            <a:r>
              <a:rPr lang="en-US" dirty="0"/>
              <a:t> – locally created by </a:t>
            </a:r>
            <a:r>
              <a:rPr lang="en-US" b="1" i="1" dirty="0"/>
              <a:t>each node </a:t>
            </a:r>
            <a:r>
              <a:rPr lang="en-US" dirty="0"/>
              <a:t>that receives the record</a:t>
            </a:r>
          </a:p>
          <a:p>
            <a:pPr lvl="1"/>
            <a:r>
              <a:rPr lang="en-US" dirty="0">
                <a:solidFill>
                  <a:srgbClr val="308D3E"/>
                </a:solidFill>
              </a:rPr>
              <a:t>If the candidate record complies with protocol rules</a:t>
            </a:r>
          </a:p>
          <a:p>
            <a:r>
              <a:rPr lang="en-US" dirty="0">
                <a:solidFill>
                  <a:srgbClr val="C00000"/>
                </a:solidFill>
              </a:rPr>
              <a:t>Ledger</a:t>
            </a:r>
            <a:r>
              <a:rPr lang="en-US" dirty="0"/>
              <a:t> emerges from the set of journals</a:t>
            </a:r>
          </a:p>
        </p:txBody>
      </p:sp>
      <p:sp>
        <p:nvSpPr>
          <p:cNvPr id="4" name="Slide Number Placeholder 3">
            <a:extLst>
              <a:ext uri="{FF2B5EF4-FFF2-40B4-BE49-F238E27FC236}">
                <a16:creationId xmlns:a16="http://schemas.microsoft.com/office/drawing/2014/main" id="{FD2741B0-A2A8-5D3A-860B-C88CEDE5E10A}"/>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109395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9" presetClass="entr" presetSubtype="0" fill="hold"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par>
                          <p:cTn id="15" fill="hold">
                            <p:stCondLst>
                              <p:cond delay="0"/>
                            </p:stCondLst>
                            <p:childTnLst>
                              <p:par>
                                <p:cTn id="16" presetID="9" presetClass="entr" presetSubtype="0" fill="hold" nodeType="after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par>
                          <p:cTn id="27" fill="hold">
                            <p:stCondLst>
                              <p:cond delay="0"/>
                            </p:stCondLst>
                            <p:childTnLst>
                              <p:par>
                                <p:cTn id="28" presetID="9" presetClass="entr" presetSubtype="0" fill="hold"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dissolve">
                                      <p:cBhvr>
                                        <p:cTn id="30" dur="500"/>
                                        <p:tgtEl>
                                          <p:spTgt spid="3">
                                            <p:txEl>
                                              <p:pRg st="6" end="6"/>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dissolv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par>
                          <p:cTn id="39" fill="hold">
                            <p:stCondLst>
                              <p:cond delay="0"/>
                            </p:stCondLst>
                            <p:childTnLst>
                              <p:par>
                                <p:cTn id="40" presetID="9" presetClass="entr" presetSubtype="0" fill="hold" nodeType="after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dissolv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821D-E5DD-3477-4857-2C7164918048}"/>
              </a:ext>
            </a:extLst>
          </p:cNvPr>
          <p:cNvSpPr>
            <a:spLocks noGrp="1"/>
          </p:cNvSpPr>
          <p:nvPr>
            <p:ph type="title"/>
          </p:nvPr>
        </p:nvSpPr>
        <p:spPr/>
        <p:txBody>
          <a:bodyPr/>
          <a:lstStyle/>
          <a:p>
            <a:r>
              <a:rPr lang="en-GB" dirty="0"/>
              <a:t>Recap: building consensus</a:t>
            </a:r>
            <a:endParaRPr lang="en-PK" dirty="0"/>
          </a:p>
        </p:txBody>
      </p:sp>
      <p:sp>
        <p:nvSpPr>
          <p:cNvPr id="3" name="Slide Number Placeholder 2">
            <a:extLst>
              <a:ext uri="{FF2B5EF4-FFF2-40B4-BE49-F238E27FC236}">
                <a16:creationId xmlns:a16="http://schemas.microsoft.com/office/drawing/2014/main" id="{6BFEA8A4-FAA8-6961-253A-8785E4787C5B}"/>
              </a:ext>
            </a:extLst>
          </p:cNvPr>
          <p:cNvSpPr>
            <a:spLocks noGrp="1"/>
          </p:cNvSpPr>
          <p:nvPr>
            <p:ph type="sldNum" sz="quarter" idx="12"/>
          </p:nvPr>
        </p:nvSpPr>
        <p:spPr/>
        <p:txBody>
          <a:bodyPr/>
          <a:lstStyle/>
          <a:p>
            <a:fld id="{D57F1E4F-1CFF-5643-939E-217C01CDF565}" type="slidenum">
              <a:rPr lang="en-US" smtClean="0"/>
              <a:pPr/>
              <a:t>6</a:t>
            </a:fld>
            <a:endParaRPr lang="en-US" dirty="0"/>
          </a:p>
        </p:txBody>
      </p:sp>
      <p:pic>
        <p:nvPicPr>
          <p:cNvPr id="4" name="Content Placeholder 5">
            <a:extLst>
              <a:ext uri="{FF2B5EF4-FFF2-40B4-BE49-F238E27FC236}">
                <a16:creationId xmlns:a16="http://schemas.microsoft.com/office/drawing/2014/main" id="{69D83282-C3C2-A3E2-13FA-C28C7729B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3404" y="1376260"/>
            <a:ext cx="7886700" cy="4659518"/>
          </a:xfrm>
          <a:prstGeom prst="rect">
            <a:avLst/>
          </a:prstGeom>
        </p:spPr>
      </p:pic>
      <p:sp>
        <p:nvSpPr>
          <p:cNvPr id="5" name="Rectangle 4">
            <a:extLst>
              <a:ext uri="{FF2B5EF4-FFF2-40B4-BE49-F238E27FC236}">
                <a16:creationId xmlns:a16="http://schemas.microsoft.com/office/drawing/2014/main" id="{34764251-3B06-AA9B-5B9E-1A15C5871039}"/>
              </a:ext>
            </a:extLst>
          </p:cNvPr>
          <p:cNvSpPr/>
          <p:nvPr/>
        </p:nvSpPr>
        <p:spPr>
          <a:xfrm>
            <a:off x="8092194" y="3468927"/>
            <a:ext cx="2079321" cy="732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
        <p:nvSpPr>
          <p:cNvPr id="6" name="Rectangle 5">
            <a:extLst>
              <a:ext uri="{FF2B5EF4-FFF2-40B4-BE49-F238E27FC236}">
                <a16:creationId xmlns:a16="http://schemas.microsoft.com/office/drawing/2014/main" id="{797A1810-9674-855B-6796-BFEF15B634CF}"/>
              </a:ext>
            </a:extLst>
          </p:cNvPr>
          <p:cNvSpPr/>
          <p:nvPr/>
        </p:nvSpPr>
        <p:spPr>
          <a:xfrm>
            <a:off x="7555663" y="2773733"/>
            <a:ext cx="2079321" cy="732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
        <p:nvSpPr>
          <p:cNvPr id="7" name="Rectangle 6">
            <a:extLst>
              <a:ext uri="{FF2B5EF4-FFF2-40B4-BE49-F238E27FC236}">
                <a16:creationId xmlns:a16="http://schemas.microsoft.com/office/drawing/2014/main" id="{AB8E6CF1-C39B-EA78-B425-B303FC16C961}"/>
              </a:ext>
            </a:extLst>
          </p:cNvPr>
          <p:cNvSpPr/>
          <p:nvPr/>
        </p:nvSpPr>
        <p:spPr>
          <a:xfrm>
            <a:off x="7052533" y="2066013"/>
            <a:ext cx="2079321" cy="732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
        <p:nvSpPr>
          <p:cNvPr id="8" name="Rectangle 7">
            <a:extLst>
              <a:ext uri="{FF2B5EF4-FFF2-40B4-BE49-F238E27FC236}">
                <a16:creationId xmlns:a16="http://schemas.microsoft.com/office/drawing/2014/main" id="{D879C239-A081-2811-D751-5AC5466914CF}"/>
              </a:ext>
            </a:extLst>
          </p:cNvPr>
          <p:cNvSpPr/>
          <p:nvPr/>
        </p:nvSpPr>
        <p:spPr>
          <a:xfrm>
            <a:off x="6516002" y="1361014"/>
            <a:ext cx="2079321" cy="732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accent2">
                  <a:lumMod val="75000"/>
                </a:schemeClr>
              </a:solidFill>
              <a:highlight>
                <a:srgbClr val="00FF00"/>
              </a:highlight>
            </a:endParaRPr>
          </a:p>
        </p:txBody>
      </p:sp>
    </p:spTree>
    <p:extLst>
      <p:ext uri="{BB962C8B-B14F-4D97-AF65-F5344CB8AC3E}">
        <p14:creationId xmlns:p14="http://schemas.microsoft.com/office/powerpoint/2010/main" val="108411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659A-3FE0-4CCF-EA13-A9B8A9900B9D}"/>
              </a:ext>
            </a:extLst>
          </p:cNvPr>
          <p:cNvSpPr>
            <a:spLocks noGrp="1"/>
          </p:cNvSpPr>
          <p:nvPr>
            <p:ph type="title"/>
          </p:nvPr>
        </p:nvSpPr>
        <p:spPr/>
        <p:txBody>
          <a:bodyPr/>
          <a:lstStyle/>
          <a:p>
            <a:r>
              <a:rPr lang="en-GB" dirty="0"/>
              <a:t>Characteristics of an ideal blockchain / DLT</a:t>
            </a:r>
            <a:endParaRPr lang="en-PK" dirty="0"/>
          </a:p>
        </p:txBody>
      </p:sp>
      <p:sp>
        <p:nvSpPr>
          <p:cNvPr id="3" name="Content Placeholder 2">
            <a:extLst>
              <a:ext uri="{FF2B5EF4-FFF2-40B4-BE49-F238E27FC236}">
                <a16:creationId xmlns:a16="http://schemas.microsoft.com/office/drawing/2014/main" id="{65C7391A-45CF-C003-E109-48C1892FF427}"/>
              </a:ext>
            </a:extLst>
          </p:cNvPr>
          <p:cNvSpPr>
            <a:spLocks noGrp="1"/>
          </p:cNvSpPr>
          <p:nvPr>
            <p:ph idx="1"/>
          </p:nvPr>
        </p:nvSpPr>
        <p:spPr/>
        <p:txBody>
          <a:bodyPr>
            <a:normAutofit fontScale="92500" lnSpcReduction="10000"/>
          </a:bodyPr>
          <a:lstStyle/>
          <a:p>
            <a:r>
              <a:rPr lang="en-US" dirty="0">
                <a:solidFill>
                  <a:srgbClr val="C00000"/>
                </a:solidFill>
              </a:rPr>
              <a:t>Shared recordkeeping</a:t>
            </a:r>
          </a:p>
          <a:p>
            <a:pPr lvl="1"/>
            <a:r>
              <a:rPr lang="en-US" dirty="0">
                <a:solidFill>
                  <a:srgbClr val="7030A0"/>
                </a:solidFill>
              </a:rPr>
              <a:t>Multiple entities writing data</a:t>
            </a:r>
          </a:p>
          <a:p>
            <a:r>
              <a:rPr lang="en-US" dirty="0">
                <a:solidFill>
                  <a:srgbClr val="C00000"/>
                </a:solidFill>
              </a:rPr>
              <a:t>Multi-party consensus</a:t>
            </a:r>
          </a:p>
          <a:p>
            <a:pPr lvl="1"/>
            <a:r>
              <a:rPr lang="en-US" dirty="0">
                <a:solidFill>
                  <a:srgbClr val="7030A0"/>
                </a:solidFill>
              </a:rPr>
              <a:t>All parties must come to an agreement</a:t>
            </a:r>
          </a:p>
          <a:p>
            <a:r>
              <a:rPr lang="en-US" dirty="0">
                <a:solidFill>
                  <a:srgbClr val="C00000"/>
                </a:solidFill>
              </a:rPr>
              <a:t>Independent validation</a:t>
            </a:r>
          </a:p>
          <a:p>
            <a:pPr lvl="1"/>
            <a:r>
              <a:rPr lang="en-US" dirty="0">
                <a:solidFill>
                  <a:srgbClr val="7030A0"/>
                </a:solidFill>
              </a:rPr>
              <a:t>Every auditor (fully validating node) should be able to recompute (and thus verify) the entire state of the system</a:t>
            </a:r>
          </a:p>
          <a:p>
            <a:r>
              <a:rPr lang="en-US" dirty="0">
                <a:solidFill>
                  <a:srgbClr val="C00000"/>
                </a:solidFill>
              </a:rPr>
              <a:t>Tamper evidence</a:t>
            </a:r>
          </a:p>
          <a:p>
            <a:pPr lvl="1"/>
            <a:r>
              <a:rPr lang="en-US" dirty="0">
                <a:solidFill>
                  <a:srgbClr val="7030A0"/>
                </a:solidFill>
              </a:rPr>
              <a:t>Participants can trivially detect non-consensual </a:t>
            </a:r>
            <a:r>
              <a:rPr lang="en-US" b="1" dirty="0">
                <a:solidFill>
                  <a:srgbClr val="7030A0"/>
                </a:solidFill>
              </a:rPr>
              <a:t>changes</a:t>
            </a:r>
            <a:r>
              <a:rPr lang="en-US" dirty="0">
                <a:solidFill>
                  <a:srgbClr val="7030A0"/>
                </a:solidFill>
              </a:rPr>
              <a:t> to records</a:t>
            </a:r>
          </a:p>
          <a:p>
            <a:pPr lvl="1"/>
            <a:r>
              <a:rPr lang="en-US" dirty="0">
                <a:solidFill>
                  <a:srgbClr val="7030A0"/>
                </a:solidFill>
              </a:rPr>
              <a:t>Example of such changes? How detected?</a:t>
            </a:r>
          </a:p>
          <a:p>
            <a:r>
              <a:rPr lang="en-US" dirty="0">
                <a:solidFill>
                  <a:srgbClr val="C00000"/>
                </a:solidFill>
              </a:rPr>
              <a:t>Tamper resistance</a:t>
            </a:r>
          </a:p>
          <a:p>
            <a:pPr lvl="1"/>
            <a:r>
              <a:rPr lang="en-US" dirty="0">
                <a:solidFill>
                  <a:srgbClr val="7030A0"/>
                </a:solidFill>
              </a:rPr>
              <a:t>Hard for a single entity to tamper past records (transaction history)</a:t>
            </a:r>
          </a:p>
        </p:txBody>
      </p:sp>
      <p:sp>
        <p:nvSpPr>
          <p:cNvPr id="4" name="Slide Number Placeholder 3">
            <a:extLst>
              <a:ext uri="{FF2B5EF4-FFF2-40B4-BE49-F238E27FC236}">
                <a16:creationId xmlns:a16="http://schemas.microsoft.com/office/drawing/2014/main" id="{DFF3E2E9-0DC9-76D5-6320-42DBEBC23D5D}"/>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64497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dissolve">
                                      <p:cBhvr>
                                        <p:cTn id="16" dur="500"/>
                                        <p:tgtEl>
                                          <p:spTgt spid="3">
                                            <p:txEl>
                                              <p:pRg st="2" end="2"/>
                                            </p:txEl>
                                          </p:spTgt>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dissolv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dissolve">
                                      <p:cBhvr>
                                        <p:cTn id="34" dur="500"/>
                                        <p:tgtEl>
                                          <p:spTgt spid="3">
                                            <p:txEl>
                                              <p:pRg st="6" end="6"/>
                                            </p:txEl>
                                          </p:spTgt>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dissolve">
                                      <p:cBhvr>
                                        <p:cTn id="38" dur="500"/>
                                        <p:tgtEl>
                                          <p:spTgt spid="3">
                                            <p:txEl>
                                              <p:pRg st="7" end="7"/>
                                            </p:txEl>
                                          </p:spTgt>
                                        </p:tgtEl>
                                      </p:cBhvr>
                                    </p:animEffect>
                                  </p:childTnLst>
                                </p:cTn>
                              </p:par>
                            </p:childTnLst>
                          </p:cTn>
                        </p:par>
                        <p:par>
                          <p:cTn id="39" fill="hold">
                            <p:stCondLst>
                              <p:cond delay="1000"/>
                            </p:stCondLst>
                            <p:childTnLst>
                              <p:par>
                                <p:cTn id="40" presetID="9" presetClass="entr" presetSubtype="0" fill="hold" nodeType="after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dissolv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dissolve">
                                      <p:cBhvr>
                                        <p:cTn id="47" dur="500"/>
                                        <p:tgtEl>
                                          <p:spTgt spid="3">
                                            <p:txEl>
                                              <p:pRg st="9" end="9"/>
                                            </p:txEl>
                                          </p:spTgt>
                                        </p:tgtEl>
                                      </p:cBhvr>
                                    </p:animEffect>
                                  </p:childTnLst>
                                </p:cTn>
                              </p:par>
                            </p:childTnLst>
                          </p:cTn>
                        </p:par>
                        <p:par>
                          <p:cTn id="48" fill="hold">
                            <p:stCondLst>
                              <p:cond delay="500"/>
                            </p:stCondLst>
                            <p:childTnLst>
                              <p:par>
                                <p:cTn id="49" presetID="9" presetClass="entr" presetSubtype="0" fill="hold" nodeType="after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dissolve">
                                      <p:cBhvr>
                                        <p:cTn id="5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00B8-C21D-E096-041E-46BE8DA52C59}"/>
              </a:ext>
            </a:extLst>
          </p:cNvPr>
          <p:cNvSpPr>
            <a:spLocks noGrp="1"/>
          </p:cNvSpPr>
          <p:nvPr>
            <p:ph type="title"/>
          </p:nvPr>
        </p:nvSpPr>
        <p:spPr/>
        <p:txBody>
          <a:bodyPr/>
          <a:lstStyle/>
          <a:p>
            <a:r>
              <a:rPr lang="en-GB" dirty="0"/>
              <a:t>History: Byzantine Generals Problem</a:t>
            </a:r>
            <a:endParaRPr lang="en-PK" dirty="0"/>
          </a:p>
        </p:txBody>
      </p:sp>
      <p:sp>
        <p:nvSpPr>
          <p:cNvPr id="3" name="Slide Number Placeholder 2">
            <a:extLst>
              <a:ext uri="{FF2B5EF4-FFF2-40B4-BE49-F238E27FC236}">
                <a16:creationId xmlns:a16="http://schemas.microsoft.com/office/drawing/2014/main" id="{2A5FB5F3-B667-ED94-5067-BEEC487EDF47}"/>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4" name="Picture 4">
            <a:extLst>
              <a:ext uri="{FF2B5EF4-FFF2-40B4-BE49-F238E27FC236}">
                <a16:creationId xmlns:a16="http://schemas.microsoft.com/office/drawing/2014/main" id="{EF8E5236-BFB0-9CED-B751-721A3FCAC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132650" y="2178719"/>
            <a:ext cx="3692500" cy="3206348"/>
          </a:xfrm>
          <a:prstGeom prst="rect">
            <a:avLst/>
          </a:prstGeom>
          <a:ln/>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33993215-B2AA-CB0D-14F4-2EF2F7E83B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059268" y="2509200"/>
            <a:ext cx="3653509" cy="3833736"/>
          </a:xfrm>
          <a:prstGeom prst="rect">
            <a:avLst/>
          </a:prstGeom>
          <a:ln/>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4278137-3F42-C3F7-7D41-F986905AE64B}"/>
              </a:ext>
            </a:extLst>
          </p:cNvPr>
          <p:cNvSpPr txBox="1">
            <a:spLocks/>
          </p:cNvSpPr>
          <p:nvPr/>
        </p:nvSpPr>
        <p:spPr>
          <a:xfrm>
            <a:off x="518160" y="1087120"/>
            <a:ext cx="4742443" cy="1422080"/>
          </a:xfrm>
          <a:prstGeom prst="roundRect">
            <a:avLst/>
          </a:prstGeom>
          <a:solidFill>
            <a:srgbClr val="FFD579"/>
          </a:solidFill>
          <a:ln>
            <a:noFill/>
          </a:ln>
        </p:spPr>
        <p:txBody>
          <a:bodyPr vert="horz" lIns="91440" tIns="0" rIns="91440" bIns="0" rtlCol="0" anchor="t" anchorCtr="1">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pPr algn="l">
              <a:lnSpc>
                <a:spcPct val="150000"/>
              </a:lnSpc>
            </a:pPr>
            <a:r>
              <a:rPr lang="en-US" sz="1800" b="1" dirty="0">
                <a:solidFill>
                  <a:schemeClr val="tx2"/>
                </a:solidFill>
              </a:rPr>
              <a:t>Several divisions of the Byzantine army</a:t>
            </a:r>
          </a:p>
          <a:p>
            <a:pPr algn="l">
              <a:lnSpc>
                <a:spcPct val="150000"/>
              </a:lnSpc>
            </a:pPr>
            <a:r>
              <a:rPr lang="en-US" sz="1800" b="1" dirty="0">
                <a:solidFill>
                  <a:schemeClr val="tx2"/>
                </a:solidFill>
              </a:rPr>
              <a:t>Camped outside an enemy city</a:t>
            </a:r>
          </a:p>
          <a:p>
            <a:pPr algn="l">
              <a:lnSpc>
                <a:spcPct val="150000"/>
              </a:lnSpc>
            </a:pPr>
            <a:r>
              <a:rPr lang="en-US" sz="1800" b="1" dirty="0">
                <a:solidFill>
                  <a:schemeClr val="tx2"/>
                </a:solidFill>
              </a:rPr>
              <a:t>Each division commanded by its own general</a:t>
            </a:r>
          </a:p>
        </p:txBody>
      </p:sp>
      <p:sp>
        <p:nvSpPr>
          <p:cNvPr id="7" name="Title 1">
            <a:extLst>
              <a:ext uri="{FF2B5EF4-FFF2-40B4-BE49-F238E27FC236}">
                <a16:creationId xmlns:a16="http://schemas.microsoft.com/office/drawing/2014/main" id="{42245CBC-BAD3-B7DA-95AA-2C4AAE8F7717}"/>
              </a:ext>
            </a:extLst>
          </p:cNvPr>
          <p:cNvSpPr txBox="1">
            <a:spLocks/>
          </p:cNvSpPr>
          <p:nvPr/>
        </p:nvSpPr>
        <p:spPr>
          <a:xfrm>
            <a:off x="7310084" y="1089719"/>
            <a:ext cx="3337631" cy="1089000"/>
          </a:xfrm>
          <a:prstGeom prst="roundRect">
            <a:avLst/>
          </a:prstGeom>
          <a:solidFill>
            <a:schemeClr val="accent6">
              <a:lumMod val="50000"/>
            </a:schemeClr>
          </a:solidFill>
          <a:ln>
            <a:noFill/>
          </a:ln>
        </p:spPr>
        <p:txBody>
          <a:bodyPr vert="horz" lIns="91440" tIns="0" rIns="91440" bIns="0" rtlCol="0" anchor="t" anchorCtr="1">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pPr algn="l">
              <a:lnSpc>
                <a:spcPct val="150000"/>
              </a:lnSpc>
            </a:pPr>
            <a:r>
              <a:rPr lang="en-US" sz="2000" b="1" dirty="0">
                <a:solidFill>
                  <a:schemeClr val="accent2">
                    <a:lumMod val="20000"/>
                    <a:lumOff val="80000"/>
                  </a:schemeClr>
                </a:solidFill>
              </a:rPr>
              <a:t>Generals must agree upon</a:t>
            </a:r>
          </a:p>
          <a:p>
            <a:pPr algn="l">
              <a:lnSpc>
                <a:spcPct val="150000"/>
              </a:lnSpc>
            </a:pPr>
            <a:r>
              <a:rPr lang="en-US" sz="2000" b="1" dirty="0">
                <a:solidFill>
                  <a:schemeClr val="accent2">
                    <a:lumMod val="20000"/>
                    <a:lumOff val="80000"/>
                  </a:schemeClr>
                </a:solidFill>
              </a:rPr>
              <a:t>A common battle plan</a:t>
            </a:r>
          </a:p>
        </p:txBody>
      </p:sp>
      <p:sp>
        <p:nvSpPr>
          <p:cNvPr id="8" name="Title 1">
            <a:extLst>
              <a:ext uri="{FF2B5EF4-FFF2-40B4-BE49-F238E27FC236}">
                <a16:creationId xmlns:a16="http://schemas.microsoft.com/office/drawing/2014/main" id="{593D90CB-E009-65D9-2D60-42820E048B5A}"/>
              </a:ext>
            </a:extLst>
          </p:cNvPr>
          <p:cNvSpPr txBox="1">
            <a:spLocks/>
          </p:cNvSpPr>
          <p:nvPr/>
        </p:nvSpPr>
        <p:spPr>
          <a:xfrm>
            <a:off x="6337005" y="5253936"/>
            <a:ext cx="5283790" cy="1089000"/>
          </a:xfrm>
          <a:prstGeom prst="roundRect">
            <a:avLst/>
          </a:prstGeom>
          <a:solidFill>
            <a:srgbClr val="C00000"/>
          </a:solidFill>
          <a:ln>
            <a:noFill/>
          </a:ln>
        </p:spPr>
        <p:txBody>
          <a:bodyPr vert="horz" lIns="91440" tIns="0" rIns="91440" bIns="0" rtlCol="0" anchor="t" anchorCtr="1">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pPr algn="l">
              <a:lnSpc>
                <a:spcPct val="150000"/>
              </a:lnSpc>
            </a:pPr>
            <a:r>
              <a:rPr lang="en-US" sz="2000" b="1" dirty="0">
                <a:solidFill>
                  <a:schemeClr val="accent2">
                    <a:lumMod val="20000"/>
                    <a:lumOff val="80000"/>
                  </a:schemeClr>
                </a:solidFill>
              </a:rPr>
              <a:t>Some of </a:t>
            </a:r>
            <a:r>
              <a:rPr lang="en-US" sz="1800" b="1" dirty="0">
                <a:solidFill>
                  <a:schemeClr val="accent2">
                    <a:lumMod val="20000"/>
                    <a:lumOff val="80000"/>
                  </a:schemeClr>
                </a:solidFill>
              </a:rPr>
              <a:t>them</a:t>
            </a:r>
            <a:r>
              <a:rPr lang="en-US" sz="2000" b="1" dirty="0">
                <a:solidFill>
                  <a:schemeClr val="accent2">
                    <a:lumMod val="20000"/>
                    <a:lumOff val="80000"/>
                  </a:schemeClr>
                </a:solidFill>
              </a:rPr>
              <a:t> may be traitors – will prevent loyal generals from reaching an agreement</a:t>
            </a:r>
          </a:p>
        </p:txBody>
      </p:sp>
    </p:spTree>
    <p:extLst>
      <p:ext uri="{BB962C8B-B14F-4D97-AF65-F5344CB8AC3E}">
        <p14:creationId xmlns:p14="http://schemas.microsoft.com/office/powerpoint/2010/main" val="21865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
                                            <p:bg/>
                                          </p:spTgt>
                                        </p:tgtEl>
                                        <p:attrNameLst>
                                          <p:attrName>style.visibility</p:attrName>
                                        </p:attrNameLst>
                                      </p:cBhvr>
                                      <p:to>
                                        <p:strVal val="visible"/>
                                      </p:to>
                                    </p:set>
                                  </p:childTnLst>
                                </p:cTn>
                              </p:par>
                              <p:par>
                                <p:cTn id="10" presetID="9" presetClass="entr" presetSubtype="0" fill="hold"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dissolve">
                                      <p:cBhvr>
                                        <p:cTn id="12" dur="500"/>
                                        <p:tgtEl>
                                          <p:spTgt spid="6">
                                            <p:txEl>
                                              <p:pRg st="0" end="0"/>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dissolve">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par>
                          <p:cTn id="25" fill="hold">
                            <p:stCondLst>
                              <p:cond delay="0"/>
                            </p:stCondLst>
                            <p:childTnLst>
                              <p:par>
                                <p:cTn id="26" presetID="9"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E980-0943-36A5-7A03-A2E86DC5256A}"/>
              </a:ext>
            </a:extLst>
          </p:cNvPr>
          <p:cNvSpPr>
            <a:spLocks noGrp="1"/>
          </p:cNvSpPr>
          <p:nvPr>
            <p:ph type="title"/>
          </p:nvPr>
        </p:nvSpPr>
        <p:spPr/>
        <p:txBody>
          <a:bodyPr/>
          <a:lstStyle/>
          <a:p>
            <a:r>
              <a:rPr lang="en-GB" dirty="0"/>
              <a:t>History: Byzantine Generals Problem</a:t>
            </a:r>
            <a:endParaRPr lang="en-PK" dirty="0"/>
          </a:p>
        </p:txBody>
      </p:sp>
      <p:sp>
        <p:nvSpPr>
          <p:cNvPr id="3" name="Content Placeholder 2">
            <a:extLst>
              <a:ext uri="{FF2B5EF4-FFF2-40B4-BE49-F238E27FC236}">
                <a16:creationId xmlns:a16="http://schemas.microsoft.com/office/drawing/2014/main" id="{74CA81F8-92E5-33DE-41FA-7D2BAFEC4E5E}"/>
              </a:ext>
            </a:extLst>
          </p:cNvPr>
          <p:cNvSpPr>
            <a:spLocks noGrp="1"/>
          </p:cNvSpPr>
          <p:nvPr>
            <p:ph idx="1"/>
          </p:nvPr>
        </p:nvSpPr>
        <p:spPr/>
        <p:txBody>
          <a:bodyPr>
            <a:normAutofit fontScale="92500" lnSpcReduction="10000"/>
          </a:bodyPr>
          <a:lstStyle/>
          <a:p>
            <a:r>
              <a:rPr lang="en-US" dirty="0">
                <a:solidFill>
                  <a:srgbClr val="7030A0"/>
                </a:solidFill>
              </a:rPr>
              <a:t>Battalions of Byzantine army, each led by their own General</a:t>
            </a:r>
          </a:p>
          <a:p>
            <a:r>
              <a:rPr lang="en-US" dirty="0">
                <a:solidFill>
                  <a:srgbClr val="7030A0"/>
                </a:solidFill>
              </a:rPr>
              <a:t>If Generals attack collectively: they will win, else will lose (likely)</a:t>
            </a:r>
          </a:p>
          <a:p>
            <a:r>
              <a:rPr lang="en-US" dirty="0">
                <a:solidFill>
                  <a:srgbClr val="C00000"/>
                </a:solidFill>
              </a:rPr>
              <a:t>Need: consensus between the Generals (multi-party consensus)</a:t>
            </a:r>
            <a:endParaRPr lang="en-US" dirty="0"/>
          </a:p>
          <a:p>
            <a:r>
              <a:rPr lang="en-US" dirty="0"/>
              <a:t>What may hinder this? (the challenges)</a:t>
            </a:r>
          </a:p>
          <a:p>
            <a:r>
              <a:rPr lang="en-US" dirty="0"/>
              <a:t>The Messengers sent among the Generals, may:</a:t>
            </a:r>
          </a:p>
          <a:p>
            <a:pPr lvl="1"/>
            <a:r>
              <a:rPr lang="en-US" dirty="0">
                <a:solidFill>
                  <a:srgbClr val="C00000"/>
                </a:solidFill>
              </a:rPr>
              <a:t>Be intercepted by the enemy</a:t>
            </a:r>
          </a:p>
          <a:p>
            <a:pPr lvl="1"/>
            <a:r>
              <a:rPr lang="en-US" dirty="0">
                <a:solidFill>
                  <a:srgbClr val="C00000"/>
                </a:solidFill>
              </a:rPr>
              <a:t>Only reach some generals but not all</a:t>
            </a:r>
          </a:p>
          <a:p>
            <a:pPr lvl="1"/>
            <a:r>
              <a:rPr lang="en-US" dirty="0">
                <a:solidFill>
                  <a:srgbClr val="C00000"/>
                </a:solidFill>
              </a:rPr>
              <a:t>Accidentally relay incorrect message</a:t>
            </a:r>
          </a:p>
          <a:p>
            <a:pPr lvl="1"/>
            <a:r>
              <a:rPr lang="en-US" dirty="0">
                <a:solidFill>
                  <a:srgbClr val="C00000"/>
                </a:solidFill>
              </a:rPr>
              <a:t>Forge a message maliciously</a:t>
            </a:r>
          </a:p>
          <a:p>
            <a:pPr lvl="1"/>
            <a:r>
              <a:rPr lang="en-US" dirty="0">
                <a:solidFill>
                  <a:srgbClr val="C00000"/>
                </a:solidFill>
              </a:rPr>
              <a:t>Be told a wrong message by a malicious General</a:t>
            </a:r>
          </a:p>
          <a:p>
            <a:r>
              <a:rPr lang="en-US" dirty="0">
                <a:solidFill>
                  <a:srgbClr val="7030A0"/>
                </a:solidFill>
              </a:rPr>
              <a:t>Consensus building is hard. What options do we have?</a:t>
            </a:r>
          </a:p>
        </p:txBody>
      </p:sp>
      <p:sp>
        <p:nvSpPr>
          <p:cNvPr id="4" name="Slide Number Placeholder 3">
            <a:extLst>
              <a:ext uri="{FF2B5EF4-FFF2-40B4-BE49-F238E27FC236}">
                <a16:creationId xmlns:a16="http://schemas.microsoft.com/office/drawing/2014/main" id="{B108FEFE-7596-B097-2C36-8545EB4FACF3}"/>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20294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976A5-8984-DD8F-19FC-7ED85C3324BF}"/>
              </a:ext>
            </a:extLst>
          </p:cNvPr>
          <p:cNvSpPr>
            <a:spLocks noGrp="1"/>
          </p:cNvSpPr>
          <p:nvPr>
            <p:ph type="title"/>
          </p:nvPr>
        </p:nvSpPr>
        <p:spPr/>
        <p:txBody>
          <a:bodyPr>
            <a:normAutofit fontScale="90000"/>
          </a:bodyPr>
          <a:lstStyle/>
          <a:p>
            <a:r>
              <a:rPr lang="en-GB" dirty="0"/>
              <a:t>How this situation relates to computing systems?</a:t>
            </a:r>
            <a:endParaRPr lang="en-PK" dirty="0"/>
          </a:p>
        </p:txBody>
      </p:sp>
      <p:sp>
        <p:nvSpPr>
          <p:cNvPr id="3" name="Content Placeholder 2">
            <a:extLst>
              <a:ext uri="{FF2B5EF4-FFF2-40B4-BE49-F238E27FC236}">
                <a16:creationId xmlns:a16="http://schemas.microsoft.com/office/drawing/2014/main" id="{42133EC4-0B5F-71BB-7B4F-1EF8E69EEA10}"/>
              </a:ext>
            </a:extLst>
          </p:cNvPr>
          <p:cNvSpPr>
            <a:spLocks noGrp="1"/>
          </p:cNvSpPr>
          <p:nvPr>
            <p:ph idx="1"/>
          </p:nvPr>
        </p:nvSpPr>
        <p:spPr/>
        <p:txBody>
          <a:bodyPr>
            <a:normAutofit fontScale="92500" lnSpcReduction="10000"/>
          </a:bodyPr>
          <a:lstStyle/>
          <a:p>
            <a:r>
              <a:rPr lang="en-US" dirty="0"/>
              <a:t>Decentralized computing systems may encounter </a:t>
            </a:r>
            <a:r>
              <a:rPr lang="en-US" b="1" i="1" dirty="0"/>
              <a:t>byzantine faults</a:t>
            </a:r>
          </a:p>
          <a:p>
            <a:pPr lvl="1"/>
            <a:r>
              <a:rPr lang="en-US" dirty="0">
                <a:solidFill>
                  <a:srgbClr val="C00000"/>
                </a:solidFill>
              </a:rPr>
              <a:t>Broken hardware</a:t>
            </a:r>
          </a:p>
          <a:p>
            <a:pPr lvl="1"/>
            <a:r>
              <a:rPr lang="en-US" dirty="0">
                <a:solidFill>
                  <a:srgbClr val="C00000"/>
                </a:solidFill>
              </a:rPr>
              <a:t>Congested network</a:t>
            </a:r>
          </a:p>
          <a:p>
            <a:pPr lvl="1"/>
            <a:r>
              <a:rPr lang="en-US" dirty="0">
                <a:solidFill>
                  <a:srgbClr val="C00000"/>
                </a:solidFill>
              </a:rPr>
              <a:t>Disconnected nodes</a:t>
            </a:r>
          </a:p>
          <a:p>
            <a:pPr lvl="1"/>
            <a:r>
              <a:rPr lang="en-US" dirty="0">
                <a:solidFill>
                  <a:srgbClr val="C00000"/>
                </a:solidFill>
              </a:rPr>
              <a:t>Incorrect processing of requests</a:t>
            </a:r>
          </a:p>
          <a:p>
            <a:pPr lvl="1"/>
            <a:r>
              <a:rPr lang="en-US" dirty="0">
                <a:solidFill>
                  <a:srgbClr val="C00000"/>
                </a:solidFill>
              </a:rPr>
              <a:t>Corrupted local states</a:t>
            </a:r>
          </a:p>
          <a:p>
            <a:pPr lvl="1"/>
            <a:r>
              <a:rPr lang="en-US" dirty="0">
                <a:solidFill>
                  <a:srgbClr val="C00000"/>
                </a:solidFill>
              </a:rPr>
              <a:t>Nodes producing inconsistent output</a:t>
            </a:r>
          </a:p>
          <a:p>
            <a:pPr lvl="1"/>
            <a:r>
              <a:rPr lang="en-US" dirty="0">
                <a:solidFill>
                  <a:srgbClr val="C00000"/>
                </a:solidFill>
              </a:rPr>
              <a:t>A set of nodes launching a malicious attack</a:t>
            </a:r>
          </a:p>
          <a:p>
            <a:r>
              <a:rPr lang="en-US" dirty="0"/>
              <a:t>Similar issues as faced by the Byzantine Generals Problem</a:t>
            </a:r>
          </a:p>
          <a:p>
            <a:r>
              <a:rPr lang="en-US" dirty="0">
                <a:solidFill>
                  <a:srgbClr val="7030A0"/>
                </a:solidFill>
              </a:rPr>
              <a:t>Byzantine fault tolerance</a:t>
            </a:r>
          </a:p>
          <a:p>
            <a:pPr lvl="1"/>
            <a:r>
              <a:rPr lang="en-US" dirty="0">
                <a:solidFill>
                  <a:srgbClr val="308D3E"/>
                </a:solidFill>
              </a:rPr>
              <a:t>A measure of the capability to prevent/tolerate byzantine failures</a:t>
            </a:r>
          </a:p>
          <a:p>
            <a:r>
              <a:rPr lang="en-US" dirty="0">
                <a:solidFill>
                  <a:srgbClr val="7030A0"/>
                </a:solidFill>
              </a:rPr>
              <a:t>Bitcoin blockchain: </a:t>
            </a:r>
            <a:r>
              <a:rPr lang="en-US" b="1" i="1" u="sng" dirty="0">
                <a:solidFill>
                  <a:srgbClr val="C00000"/>
                </a:solidFill>
              </a:rPr>
              <a:t>first</a:t>
            </a:r>
            <a:r>
              <a:rPr lang="en-US" dirty="0">
                <a:solidFill>
                  <a:srgbClr val="C00000"/>
                </a:solidFill>
              </a:rPr>
              <a:t> to solve for </a:t>
            </a:r>
            <a:r>
              <a:rPr lang="en-US" b="1" i="1" u="sng" dirty="0">
                <a:solidFill>
                  <a:srgbClr val="C00000"/>
                </a:solidFill>
              </a:rPr>
              <a:t>unknown</a:t>
            </a:r>
            <a:r>
              <a:rPr lang="en-US" dirty="0">
                <a:solidFill>
                  <a:srgbClr val="C00000"/>
                </a:solidFill>
              </a:rPr>
              <a:t> number of Generals</a:t>
            </a:r>
          </a:p>
        </p:txBody>
      </p:sp>
      <p:sp>
        <p:nvSpPr>
          <p:cNvPr id="4" name="Slide Number Placeholder 3">
            <a:extLst>
              <a:ext uri="{FF2B5EF4-FFF2-40B4-BE49-F238E27FC236}">
                <a16:creationId xmlns:a16="http://schemas.microsoft.com/office/drawing/2014/main" id="{49E7B2E9-5997-D7E5-D706-2B76C3ED8DF2}"/>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242095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FDFE-70B1-267A-0FC8-04A6895099D5}"/>
              </a:ext>
            </a:extLst>
          </p:cNvPr>
          <p:cNvSpPr>
            <a:spLocks noGrp="1"/>
          </p:cNvSpPr>
          <p:nvPr>
            <p:ph type="title"/>
          </p:nvPr>
        </p:nvSpPr>
        <p:spPr/>
        <p:txBody>
          <a:bodyPr/>
          <a:lstStyle/>
          <a:p>
            <a:r>
              <a:rPr lang="en-GB" dirty="0"/>
              <a:t>Techniques used in Bitcoin Blockchain</a:t>
            </a:r>
            <a:endParaRPr lang="en-PK" dirty="0"/>
          </a:p>
        </p:txBody>
      </p:sp>
      <p:sp>
        <p:nvSpPr>
          <p:cNvPr id="3" name="Content Placeholder 2">
            <a:extLst>
              <a:ext uri="{FF2B5EF4-FFF2-40B4-BE49-F238E27FC236}">
                <a16:creationId xmlns:a16="http://schemas.microsoft.com/office/drawing/2014/main" id="{4067EC99-AB2D-9C5A-E05B-8C155EA4738F}"/>
              </a:ext>
            </a:extLst>
          </p:cNvPr>
          <p:cNvSpPr>
            <a:spLocks noGrp="1"/>
          </p:cNvSpPr>
          <p:nvPr>
            <p:ph idx="1"/>
          </p:nvPr>
        </p:nvSpPr>
        <p:spPr/>
        <p:txBody>
          <a:bodyPr>
            <a:normAutofit fontScale="92500" lnSpcReduction="10000"/>
          </a:bodyPr>
          <a:lstStyle/>
          <a:p>
            <a:r>
              <a:rPr lang="en-US" dirty="0">
                <a:solidFill>
                  <a:srgbClr val="C00000"/>
                </a:solidFill>
              </a:rPr>
              <a:t>Public-key cryptography</a:t>
            </a:r>
          </a:p>
          <a:p>
            <a:pPr lvl="1"/>
            <a:r>
              <a:rPr lang="en-US" dirty="0"/>
              <a:t>Used for unforgeable digital signatures from authenticated sources</a:t>
            </a:r>
          </a:p>
          <a:p>
            <a:pPr lvl="1"/>
            <a:r>
              <a:rPr lang="en-US" b="1" i="1" dirty="0">
                <a:solidFill>
                  <a:srgbClr val="308D3E"/>
                </a:solidFill>
              </a:rPr>
              <a:t>Authenticates</a:t>
            </a:r>
            <a:r>
              <a:rPr lang="en-US" dirty="0"/>
              <a:t> Generals and </a:t>
            </a:r>
            <a:r>
              <a:rPr lang="en-US" b="1" i="1" dirty="0">
                <a:solidFill>
                  <a:srgbClr val="308D3E"/>
                </a:solidFill>
              </a:rPr>
              <a:t>Prevents</a:t>
            </a:r>
            <a:r>
              <a:rPr lang="en-US" dirty="0"/>
              <a:t> messengers from forging</a:t>
            </a:r>
          </a:p>
          <a:p>
            <a:pPr lvl="2"/>
            <a:endParaRPr lang="en-US" dirty="0"/>
          </a:p>
          <a:p>
            <a:r>
              <a:rPr lang="en-US" dirty="0">
                <a:solidFill>
                  <a:srgbClr val="C00000"/>
                </a:solidFill>
              </a:rPr>
              <a:t>Atomic broadcast of all transactions</a:t>
            </a:r>
          </a:p>
          <a:p>
            <a:pPr lvl="1"/>
            <a:r>
              <a:rPr lang="en-US" dirty="0"/>
              <a:t>No General missed from receiving the transaction</a:t>
            </a:r>
          </a:p>
          <a:p>
            <a:pPr lvl="2"/>
            <a:endParaRPr lang="en-US" dirty="0"/>
          </a:p>
          <a:p>
            <a:r>
              <a:rPr lang="en-US" dirty="0">
                <a:solidFill>
                  <a:srgbClr val="C00000"/>
                </a:solidFill>
              </a:rPr>
              <a:t>Proof of Work (PoW)</a:t>
            </a:r>
          </a:p>
          <a:p>
            <a:pPr lvl="1"/>
            <a:r>
              <a:rPr lang="en-US" dirty="0"/>
              <a:t>Malicious Generals will have to pay a hefty price for deceiving</a:t>
            </a:r>
          </a:p>
          <a:p>
            <a:pPr lvl="2"/>
            <a:endParaRPr lang="en-US" dirty="0"/>
          </a:p>
          <a:p>
            <a:r>
              <a:rPr lang="en-US" dirty="0">
                <a:solidFill>
                  <a:srgbClr val="C00000"/>
                </a:solidFill>
              </a:rPr>
              <a:t>Tampering of a block becomes harder and harder – </a:t>
            </a:r>
            <a:r>
              <a:rPr lang="en-US" b="1" dirty="0">
                <a:solidFill>
                  <a:srgbClr val="C00000"/>
                </a:solidFill>
              </a:rPr>
              <a:t>Chaining</a:t>
            </a:r>
          </a:p>
          <a:p>
            <a:pPr lvl="1"/>
            <a:r>
              <a:rPr lang="en-US" dirty="0"/>
              <a:t>Every new block further </a:t>
            </a:r>
            <a:r>
              <a:rPr lang="en-US" b="1" i="1" dirty="0">
                <a:solidFill>
                  <a:srgbClr val="308D3E"/>
                </a:solidFill>
              </a:rPr>
              <a:t>cements</a:t>
            </a:r>
            <a:r>
              <a:rPr lang="en-US" dirty="0"/>
              <a:t> the past transactions</a:t>
            </a:r>
          </a:p>
        </p:txBody>
      </p:sp>
      <p:sp>
        <p:nvSpPr>
          <p:cNvPr id="4" name="Slide Number Placeholder 3">
            <a:extLst>
              <a:ext uri="{FF2B5EF4-FFF2-40B4-BE49-F238E27FC236}">
                <a16:creationId xmlns:a16="http://schemas.microsoft.com/office/drawing/2014/main" id="{9DD4786B-CED9-07D4-88CC-E430BCD74869}"/>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184867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dissolve">
                                      <p:cBhvr>
                                        <p:cTn id="29" dur="500"/>
                                        <p:tgtEl>
                                          <p:spTgt spid="3">
                                            <p:txEl>
                                              <p:pRg st="7" end="7"/>
                                            </p:txEl>
                                          </p:spTgt>
                                        </p:tgtEl>
                                      </p:cBhvr>
                                    </p:animEffect>
                                  </p:childTnLst>
                                </p:cTn>
                              </p:par>
                            </p:childTnLst>
                          </p:cTn>
                        </p:par>
                        <p:par>
                          <p:cTn id="30" fill="hold">
                            <p:stCondLst>
                              <p:cond delay="500"/>
                            </p:stCondLst>
                            <p:childTnLst>
                              <p:par>
                                <p:cTn id="31" presetID="9" presetClass="entr" presetSubtype="0" fill="hold" nodeType="after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dissolve">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dissolve">
                                      <p:cBhvr>
                                        <p:cTn id="38" dur="500"/>
                                        <p:tgtEl>
                                          <p:spTgt spid="3">
                                            <p:txEl>
                                              <p:pRg st="10" end="10"/>
                                            </p:txEl>
                                          </p:spTgt>
                                        </p:tgtEl>
                                      </p:cBhvr>
                                    </p:animEffect>
                                  </p:childTnLst>
                                </p:cTn>
                              </p:par>
                            </p:childTnLst>
                          </p:cTn>
                        </p:par>
                        <p:par>
                          <p:cTn id="39" fill="hold">
                            <p:stCondLst>
                              <p:cond delay="500"/>
                            </p:stCondLst>
                            <p:childTnLst>
                              <p:par>
                                <p:cTn id="40" presetID="9" presetClass="entr" presetSubtype="0" fill="hold" nodeType="after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dissolve">
                                      <p:cBhvr>
                                        <p:cTn id="4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56E0F-5C88-8FD4-A625-C30C27090ECE}"/>
              </a:ext>
            </a:extLst>
          </p:cNvPr>
          <p:cNvSpPr>
            <a:spLocks noGrp="1"/>
          </p:cNvSpPr>
          <p:nvPr>
            <p:ph type="title"/>
          </p:nvPr>
        </p:nvSpPr>
        <p:spPr/>
        <p:txBody>
          <a:bodyPr/>
          <a:lstStyle/>
          <a:p>
            <a:r>
              <a:rPr lang="en-PK" dirty="0"/>
              <a:t>Blockchain: How </a:t>
            </a:r>
            <a:r>
              <a:rPr lang="en-GB" dirty="0"/>
              <a:t>does it get built up</a:t>
            </a:r>
            <a:r>
              <a:rPr lang="en-PK" dirty="0"/>
              <a:t>?</a:t>
            </a:r>
          </a:p>
        </p:txBody>
      </p:sp>
      <p:sp>
        <p:nvSpPr>
          <p:cNvPr id="3" name="Content Placeholder 2">
            <a:extLst>
              <a:ext uri="{FF2B5EF4-FFF2-40B4-BE49-F238E27FC236}">
                <a16:creationId xmlns:a16="http://schemas.microsoft.com/office/drawing/2014/main" id="{DEB567B5-5DFE-A1B6-FF28-2BB15AE099EB}"/>
              </a:ext>
            </a:extLst>
          </p:cNvPr>
          <p:cNvSpPr>
            <a:spLocks noGrp="1"/>
          </p:cNvSpPr>
          <p:nvPr>
            <p:ph idx="1"/>
          </p:nvPr>
        </p:nvSpPr>
        <p:spPr/>
        <p:txBody>
          <a:bodyPr>
            <a:normAutofit/>
          </a:bodyPr>
          <a:lstStyle/>
          <a:p>
            <a:r>
              <a:rPr lang="en-GB" dirty="0"/>
              <a:t>The l</a:t>
            </a:r>
            <a:r>
              <a:rPr lang="en-PK" dirty="0"/>
              <a:t>ongest chain is picked</a:t>
            </a:r>
          </a:p>
          <a:p>
            <a:pPr lvl="1"/>
            <a:r>
              <a:rPr lang="en-PK" dirty="0">
                <a:solidFill>
                  <a:srgbClr val="C00000"/>
                </a:solidFill>
              </a:rPr>
              <a:t>Is there a situation when one has to “pick” from a choice of chains?</a:t>
            </a:r>
          </a:p>
          <a:p>
            <a:pPr lvl="1"/>
            <a:endParaRPr lang="en-PK" dirty="0"/>
          </a:p>
          <a:p>
            <a:r>
              <a:rPr lang="en-PK" dirty="0"/>
              <a:t>Forks</a:t>
            </a:r>
          </a:p>
          <a:p>
            <a:pPr lvl="1"/>
            <a:r>
              <a:rPr lang="en-PK" dirty="0">
                <a:solidFill>
                  <a:srgbClr val="C00000"/>
                </a:solidFill>
              </a:rPr>
              <a:t>Temporarily different views of journals</a:t>
            </a:r>
          </a:p>
          <a:p>
            <a:pPr lvl="1"/>
            <a:endParaRPr lang="en-PK" dirty="0"/>
          </a:p>
          <a:p>
            <a:r>
              <a:rPr lang="en-PK" dirty="0"/>
              <a:t>Finality</a:t>
            </a:r>
          </a:p>
          <a:p>
            <a:pPr lvl="1"/>
            <a:r>
              <a:rPr lang="en-GB" dirty="0">
                <a:solidFill>
                  <a:srgbClr val="C00000"/>
                </a:solidFill>
              </a:rPr>
              <a:t>A transaction becomes “final” only after multiple confirmations</a:t>
            </a:r>
          </a:p>
          <a:p>
            <a:pPr lvl="1"/>
            <a:r>
              <a:rPr lang="en-GB" dirty="0"/>
              <a:t>Why?</a:t>
            </a:r>
          </a:p>
          <a:p>
            <a:pPr lvl="1"/>
            <a:r>
              <a:rPr lang="en-GB" dirty="0">
                <a:solidFill>
                  <a:srgbClr val="C00000"/>
                </a:solidFill>
              </a:rPr>
              <a:t>Since forks can temporarily reorder or exclude it</a:t>
            </a:r>
            <a:endParaRPr lang="en-PK" dirty="0">
              <a:solidFill>
                <a:srgbClr val="C00000"/>
              </a:solidFill>
            </a:endParaRPr>
          </a:p>
        </p:txBody>
      </p:sp>
      <p:sp>
        <p:nvSpPr>
          <p:cNvPr id="4" name="Slide Number Placeholder 3">
            <a:extLst>
              <a:ext uri="{FF2B5EF4-FFF2-40B4-BE49-F238E27FC236}">
                <a16:creationId xmlns:a16="http://schemas.microsoft.com/office/drawing/2014/main" id="{7821A335-F57C-4F7E-1F09-C9321BF92AC5}"/>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147654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dissolv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dissolve">
                                      <p:cBhvr>
                                        <p:cTn id="30" dur="500"/>
                                        <p:tgtEl>
                                          <p:spTgt spid="3">
                                            <p:txEl>
                                              <p:pRg st="7" end="7"/>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dissolv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dissolve">
                                      <p:cBhvr>
                                        <p:cTn id="3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34E01-1A3E-AEA2-FADA-355CF5705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414BE-5AAC-BE33-642A-BF55C594762E}"/>
              </a:ext>
            </a:extLst>
          </p:cNvPr>
          <p:cNvSpPr>
            <a:spLocks noGrp="1"/>
          </p:cNvSpPr>
          <p:nvPr>
            <p:ph type="title"/>
          </p:nvPr>
        </p:nvSpPr>
        <p:spPr/>
        <p:txBody>
          <a:bodyPr/>
          <a:lstStyle/>
          <a:p>
            <a:r>
              <a:rPr lang="en-PK" dirty="0"/>
              <a:t>Types of blockchain</a:t>
            </a:r>
          </a:p>
        </p:txBody>
      </p:sp>
      <p:sp>
        <p:nvSpPr>
          <p:cNvPr id="3" name="Content Placeholder 2">
            <a:extLst>
              <a:ext uri="{FF2B5EF4-FFF2-40B4-BE49-F238E27FC236}">
                <a16:creationId xmlns:a16="http://schemas.microsoft.com/office/drawing/2014/main" id="{DAE4B3CF-4763-1FCA-0D13-674AB7F9B140}"/>
              </a:ext>
            </a:extLst>
          </p:cNvPr>
          <p:cNvSpPr>
            <a:spLocks noGrp="1"/>
          </p:cNvSpPr>
          <p:nvPr>
            <p:ph idx="1"/>
          </p:nvPr>
        </p:nvSpPr>
        <p:spPr/>
        <p:txBody>
          <a:bodyPr>
            <a:normAutofit/>
          </a:bodyPr>
          <a:lstStyle/>
          <a:p>
            <a:r>
              <a:rPr lang="en-GB" dirty="0"/>
              <a:t>Permissionless (must be public)</a:t>
            </a:r>
          </a:p>
          <a:p>
            <a:pPr lvl="1"/>
            <a:r>
              <a:rPr lang="en-GB" dirty="0">
                <a:solidFill>
                  <a:srgbClr val="0432FF"/>
                </a:solidFill>
              </a:rPr>
              <a:t>Examples: Bitcoin and Ethereum</a:t>
            </a:r>
          </a:p>
          <a:p>
            <a:pPr lvl="1"/>
            <a:r>
              <a:rPr lang="en-GB" dirty="0">
                <a:solidFill>
                  <a:srgbClr val="308D3E"/>
                </a:solidFill>
              </a:rPr>
              <a:t>Anyone can join/leave at will at any time</a:t>
            </a:r>
          </a:p>
          <a:p>
            <a:pPr lvl="1"/>
            <a:r>
              <a:rPr lang="en-GB" dirty="0">
                <a:solidFill>
                  <a:srgbClr val="C00000"/>
                </a:solidFill>
              </a:rPr>
              <a:t>No central entity managing the membership</a:t>
            </a:r>
          </a:p>
          <a:p>
            <a:pPr lvl="1"/>
            <a:r>
              <a:rPr lang="en-GB" dirty="0">
                <a:solidFill>
                  <a:srgbClr val="7030A0"/>
                </a:solidFill>
              </a:rPr>
              <a:t>Globally readable (anyone can be a reader)</a:t>
            </a:r>
          </a:p>
          <a:p>
            <a:pPr lvl="1"/>
            <a:endParaRPr lang="en-GB" dirty="0"/>
          </a:p>
          <a:p>
            <a:r>
              <a:rPr lang="en-GB" dirty="0"/>
              <a:t>What about privacy and anonymity?</a:t>
            </a:r>
          </a:p>
          <a:p>
            <a:pPr lvl="1"/>
            <a:r>
              <a:rPr lang="en-GB" dirty="0">
                <a:solidFill>
                  <a:srgbClr val="C00000"/>
                </a:solidFill>
              </a:rPr>
              <a:t>Privacy? Compromised by design (need auditability)</a:t>
            </a:r>
          </a:p>
          <a:p>
            <a:pPr lvl="1"/>
            <a:r>
              <a:rPr lang="en-GB" dirty="0">
                <a:solidFill>
                  <a:srgbClr val="308D3E"/>
                </a:solidFill>
              </a:rPr>
              <a:t>Anonymity? Feasible with cryptographic procedures</a:t>
            </a:r>
          </a:p>
        </p:txBody>
      </p:sp>
      <p:sp>
        <p:nvSpPr>
          <p:cNvPr id="5" name="Slide Number Placeholder 4">
            <a:extLst>
              <a:ext uri="{FF2B5EF4-FFF2-40B4-BE49-F238E27FC236}">
                <a16:creationId xmlns:a16="http://schemas.microsoft.com/office/drawing/2014/main" id="{309F8A61-193F-8EB6-A4DA-2EEF992D1A6D}"/>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379405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683D9-AB64-512F-59CA-F76E27A11400}"/>
              </a:ext>
            </a:extLst>
          </p:cNvPr>
          <p:cNvSpPr>
            <a:spLocks noGrp="1"/>
          </p:cNvSpPr>
          <p:nvPr>
            <p:ph type="title"/>
          </p:nvPr>
        </p:nvSpPr>
        <p:spPr/>
        <p:txBody>
          <a:bodyPr/>
          <a:lstStyle/>
          <a:p>
            <a:r>
              <a:rPr lang="en-PK" dirty="0"/>
              <a:t>Permissionless vs. Permissioned</a:t>
            </a:r>
          </a:p>
        </p:txBody>
      </p:sp>
      <p:graphicFrame>
        <p:nvGraphicFramePr>
          <p:cNvPr id="3" name="Table 7">
            <a:extLst>
              <a:ext uri="{FF2B5EF4-FFF2-40B4-BE49-F238E27FC236}">
                <a16:creationId xmlns:a16="http://schemas.microsoft.com/office/drawing/2014/main" id="{A32BD88A-A305-B318-2AB0-151E56C4BDE9}"/>
              </a:ext>
            </a:extLst>
          </p:cNvPr>
          <p:cNvGraphicFramePr>
            <a:graphicFrameLocks noGrp="1"/>
          </p:cNvGraphicFramePr>
          <p:nvPr>
            <p:extLst>
              <p:ext uri="{D42A27DB-BD31-4B8C-83A1-F6EECF244321}">
                <p14:modId xmlns:p14="http://schemas.microsoft.com/office/powerpoint/2010/main" val="2389914776"/>
              </p:ext>
            </p:extLst>
          </p:nvPr>
        </p:nvGraphicFramePr>
        <p:xfrm>
          <a:off x="1062990" y="1776046"/>
          <a:ext cx="10066020" cy="3305908"/>
        </p:xfrm>
        <a:graphic>
          <a:graphicData uri="http://schemas.openxmlformats.org/drawingml/2006/table">
            <a:tbl>
              <a:tblPr firstRow="1" bandRow="1">
                <a:tableStyleId>{5940675A-B579-460E-94D1-54222C63F5DA}</a:tableStyleId>
              </a:tblPr>
              <a:tblGrid>
                <a:gridCol w="2414261">
                  <a:extLst>
                    <a:ext uri="{9D8B030D-6E8A-4147-A177-3AD203B41FA5}">
                      <a16:colId xmlns:a16="http://schemas.microsoft.com/office/drawing/2014/main" val="1844970425"/>
                    </a:ext>
                  </a:extLst>
                </a:gridCol>
                <a:gridCol w="3746515">
                  <a:extLst>
                    <a:ext uri="{9D8B030D-6E8A-4147-A177-3AD203B41FA5}">
                      <a16:colId xmlns:a16="http://schemas.microsoft.com/office/drawing/2014/main" val="3188853563"/>
                    </a:ext>
                  </a:extLst>
                </a:gridCol>
                <a:gridCol w="3905244">
                  <a:extLst>
                    <a:ext uri="{9D8B030D-6E8A-4147-A177-3AD203B41FA5}">
                      <a16:colId xmlns:a16="http://schemas.microsoft.com/office/drawing/2014/main" val="2211679471"/>
                    </a:ext>
                  </a:extLst>
                </a:gridCol>
              </a:tblGrid>
              <a:tr h="767406">
                <a:tc>
                  <a:txBody>
                    <a:bodyPr/>
                    <a:lstStyle/>
                    <a:p>
                      <a:pPr algn="ctr"/>
                      <a:endParaRPr lang="en-US" sz="2800" b="1" dirty="0"/>
                    </a:p>
                  </a:txBody>
                  <a:tcPr anchor="ctr">
                    <a:solidFill>
                      <a:schemeClr val="accent3">
                        <a:lumMod val="40000"/>
                        <a:lumOff val="60000"/>
                      </a:schemeClr>
                    </a:solidFill>
                  </a:tcPr>
                </a:tc>
                <a:tc>
                  <a:txBody>
                    <a:bodyPr/>
                    <a:lstStyle/>
                    <a:p>
                      <a:pPr algn="ctr"/>
                      <a:r>
                        <a:rPr lang="en-US" sz="2800" b="1" dirty="0"/>
                        <a:t>Public</a:t>
                      </a:r>
                    </a:p>
                  </a:txBody>
                  <a:tcPr anchor="ctr">
                    <a:solidFill>
                      <a:schemeClr val="accent3">
                        <a:lumMod val="40000"/>
                        <a:lumOff val="60000"/>
                      </a:schemeClr>
                    </a:solidFill>
                  </a:tcPr>
                </a:tc>
                <a:tc>
                  <a:txBody>
                    <a:bodyPr/>
                    <a:lstStyle/>
                    <a:p>
                      <a:pPr algn="ctr"/>
                      <a:r>
                        <a:rPr lang="en-US" sz="2800" b="1" dirty="0"/>
                        <a:t>Private</a:t>
                      </a:r>
                    </a:p>
                  </a:txBody>
                  <a:tcPr anchor="ctr">
                    <a:solidFill>
                      <a:schemeClr val="accent3">
                        <a:lumMod val="40000"/>
                        <a:lumOff val="60000"/>
                      </a:schemeClr>
                    </a:solidFill>
                  </a:tcPr>
                </a:tc>
                <a:extLst>
                  <a:ext uri="{0D108BD9-81ED-4DB2-BD59-A6C34878D82A}">
                    <a16:rowId xmlns:a16="http://schemas.microsoft.com/office/drawing/2014/main" val="1668029853"/>
                  </a:ext>
                </a:extLst>
              </a:tr>
              <a:tr h="1239654">
                <a:tc>
                  <a:txBody>
                    <a:bodyPr/>
                    <a:lstStyle/>
                    <a:p>
                      <a:pPr algn="ctr"/>
                      <a:r>
                        <a:rPr lang="en-US" sz="2800" b="1" dirty="0"/>
                        <a:t>Permissionless</a:t>
                      </a:r>
                    </a:p>
                  </a:txBody>
                  <a:tcPr anchor="ctr">
                    <a:solidFill>
                      <a:schemeClr val="accent3">
                        <a:lumMod val="40000"/>
                        <a:lumOff val="60000"/>
                      </a:schemeClr>
                    </a:solidFill>
                  </a:tcPr>
                </a:tc>
                <a:tc>
                  <a:txBody>
                    <a:bodyPr/>
                    <a:lstStyle/>
                    <a:p>
                      <a:pPr algn="ctr"/>
                      <a:r>
                        <a:rPr lang="en-US" sz="2400" dirty="0">
                          <a:solidFill>
                            <a:srgbClr val="C00000"/>
                          </a:solidFill>
                        </a:rPr>
                        <a:t>Anyone can read or write (i.e., update the ledger)</a:t>
                      </a:r>
                    </a:p>
                  </a:txBody>
                  <a:tcPr anchor="ctr">
                    <a:solidFill>
                      <a:schemeClr val="accent3">
                        <a:lumMod val="40000"/>
                        <a:lumOff val="60000"/>
                      </a:schemeClr>
                    </a:solidFill>
                  </a:tcPr>
                </a:tc>
                <a:tc>
                  <a:txBody>
                    <a:bodyPr/>
                    <a:lstStyle/>
                    <a:p>
                      <a:pPr algn="ctr"/>
                      <a:endParaRPr lang="en-US" sz="2400" dirty="0"/>
                    </a:p>
                  </a:txBody>
                  <a:tcPr anchor="ctr">
                    <a:solidFill>
                      <a:schemeClr val="accent3">
                        <a:lumMod val="40000"/>
                        <a:lumOff val="60000"/>
                      </a:schemeClr>
                    </a:solidFill>
                  </a:tcPr>
                </a:tc>
                <a:extLst>
                  <a:ext uri="{0D108BD9-81ED-4DB2-BD59-A6C34878D82A}">
                    <a16:rowId xmlns:a16="http://schemas.microsoft.com/office/drawing/2014/main" val="2899276095"/>
                  </a:ext>
                </a:extLst>
              </a:tr>
              <a:tr h="1298848">
                <a:tc>
                  <a:txBody>
                    <a:bodyPr/>
                    <a:lstStyle/>
                    <a:p>
                      <a:pPr algn="ctr"/>
                      <a:r>
                        <a:rPr lang="en-US" sz="2800" b="1" dirty="0"/>
                        <a:t>Permissioned</a:t>
                      </a:r>
                    </a:p>
                  </a:txBody>
                  <a:tcPr anchor="ctr">
                    <a:solidFill>
                      <a:schemeClr val="accent3">
                        <a:lumMod val="40000"/>
                        <a:lumOff val="60000"/>
                      </a:schemeClr>
                    </a:solidFill>
                  </a:tcPr>
                </a:tc>
                <a:tc>
                  <a:txBody>
                    <a:bodyPr/>
                    <a:lstStyle/>
                    <a:p>
                      <a:pPr algn="ctr"/>
                      <a:r>
                        <a:rPr lang="en-US" sz="2400" dirty="0">
                          <a:solidFill>
                            <a:srgbClr val="0432FF"/>
                          </a:solidFill>
                        </a:rPr>
                        <a:t>Anyone can read but only authorized nodes can write</a:t>
                      </a:r>
                    </a:p>
                  </a:txBody>
                  <a:tcPr anchor="ctr">
                    <a:solidFill>
                      <a:schemeClr val="accent3">
                        <a:lumMod val="40000"/>
                        <a:lumOff val="60000"/>
                      </a:schemeClr>
                    </a:solidFill>
                  </a:tcPr>
                </a:tc>
                <a:tc>
                  <a:txBody>
                    <a:bodyPr/>
                    <a:lstStyle/>
                    <a:p>
                      <a:pPr algn="ctr"/>
                      <a:r>
                        <a:rPr lang="en-US" sz="2400" dirty="0">
                          <a:solidFill>
                            <a:srgbClr val="308D3E"/>
                          </a:solidFill>
                        </a:rPr>
                        <a:t>Nodes can read or write based on their authorization</a:t>
                      </a:r>
                    </a:p>
                  </a:txBody>
                  <a:tcPr anchor="ctr">
                    <a:solidFill>
                      <a:schemeClr val="accent3">
                        <a:lumMod val="40000"/>
                        <a:lumOff val="60000"/>
                      </a:schemeClr>
                    </a:solidFill>
                  </a:tcPr>
                </a:tc>
                <a:extLst>
                  <a:ext uri="{0D108BD9-81ED-4DB2-BD59-A6C34878D82A}">
                    <a16:rowId xmlns:a16="http://schemas.microsoft.com/office/drawing/2014/main" val="2277882225"/>
                  </a:ext>
                </a:extLst>
              </a:tr>
            </a:tbl>
          </a:graphicData>
        </a:graphic>
      </p:graphicFrame>
      <p:sp>
        <p:nvSpPr>
          <p:cNvPr id="4" name="Rectangle 3">
            <a:extLst>
              <a:ext uri="{FF2B5EF4-FFF2-40B4-BE49-F238E27FC236}">
                <a16:creationId xmlns:a16="http://schemas.microsoft.com/office/drawing/2014/main" id="{E3F6F8AB-1388-40E9-8E66-A779ECBCAAFF}"/>
              </a:ext>
            </a:extLst>
          </p:cNvPr>
          <p:cNvSpPr/>
          <p:nvPr/>
        </p:nvSpPr>
        <p:spPr>
          <a:xfrm>
            <a:off x="7229642" y="2545347"/>
            <a:ext cx="3899368" cy="124059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5" name="Rectangle 4">
            <a:extLst>
              <a:ext uri="{FF2B5EF4-FFF2-40B4-BE49-F238E27FC236}">
                <a16:creationId xmlns:a16="http://schemas.microsoft.com/office/drawing/2014/main" id="{187D2733-3A29-F9B9-73BE-CCC757394654}"/>
              </a:ext>
            </a:extLst>
          </p:cNvPr>
          <p:cNvSpPr/>
          <p:nvPr/>
        </p:nvSpPr>
        <p:spPr>
          <a:xfrm>
            <a:off x="3593805" y="2700670"/>
            <a:ext cx="3466214" cy="923894"/>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859D3A32-3E24-D889-CF2D-7F683C94B1B9}"/>
              </a:ext>
            </a:extLst>
          </p:cNvPr>
          <p:cNvSpPr/>
          <p:nvPr/>
        </p:nvSpPr>
        <p:spPr>
          <a:xfrm>
            <a:off x="3593805" y="3891312"/>
            <a:ext cx="3466214" cy="923894"/>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3C6DAF66-6CF1-008F-6DBD-698200BE3536}"/>
              </a:ext>
            </a:extLst>
          </p:cNvPr>
          <p:cNvSpPr/>
          <p:nvPr/>
        </p:nvSpPr>
        <p:spPr>
          <a:xfrm>
            <a:off x="7318876" y="3891312"/>
            <a:ext cx="3767603" cy="923894"/>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Slide Number Placeholder 8">
            <a:extLst>
              <a:ext uri="{FF2B5EF4-FFF2-40B4-BE49-F238E27FC236}">
                <a16:creationId xmlns:a16="http://schemas.microsoft.com/office/drawing/2014/main" id="{953A6E79-4ABA-4B42-B545-98D552E6386B}"/>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59719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05521-4B8D-8A98-3124-CCFF8287A7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0840F45-278B-5158-7452-495E15F55B66}"/>
              </a:ext>
            </a:extLst>
          </p:cNvPr>
          <p:cNvSpPr txBox="1"/>
          <p:nvPr/>
        </p:nvSpPr>
        <p:spPr>
          <a:xfrm>
            <a:off x="-2812473" y="4613563"/>
            <a:ext cx="184731" cy="369332"/>
          </a:xfrm>
          <a:prstGeom prst="rect">
            <a:avLst/>
          </a:prstGeom>
          <a:noFill/>
        </p:spPr>
        <p:txBody>
          <a:bodyPr wrap="none" rtlCol="0">
            <a:spAutoFit/>
          </a:bodyPr>
          <a:lstStyle/>
          <a:p>
            <a:endParaRPr lang="en-PK" dirty="0"/>
          </a:p>
        </p:txBody>
      </p:sp>
      <p:sp>
        <p:nvSpPr>
          <p:cNvPr id="2" name="Title 1">
            <a:extLst>
              <a:ext uri="{FF2B5EF4-FFF2-40B4-BE49-F238E27FC236}">
                <a16:creationId xmlns:a16="http://schemas.microsoft.com/office/drawing/2014/main" id="{F11AECF9-A936-A59E-EAED-76F1E01B034B}"/>
              </a:ext>
            </a:extLst>
          </p:cNvPr>
          <p:cNvSpPr>
            <a:spLocks noGrp="1"/>
          </p:cNvSpPr>
          <p:nvPr>
            <p:ph type="title"/>
          </p:nvPr>
        </p:nvSpPr>
        <p:spPr/>
        <p:txBody>
          <a:bodyPr/>
          <a:lstStyle/>
          <a:p>
            <a:r>
              <a:rPr lang="en-PK" dirty="0"/>
              <a:t>When (not) to use a Blockchain?</a:t>
            </a:r>
          </a:p>
        </p:txBody>
      </p:sp>
      <p:sp>
        <p:nvSpPr>
          <p:cNvPr id="9" name="Rectangle 8">
            <a:extLst>
              <a:ext uri="{FF2B5EF4-FFF2-40B4-BE49-F238E27FC236}">
                <a16:creationId xmlns:a16="http://schemas.microsoft.com/office/drawing/2014/main" id="{130349E3-4422-BEB1-497C-56F2BDA9D792}"/>
              </a:ext>
            </a:extLst>
          </p:cNvPr>
          <p:cNvSpPr>
            <a:spLocks noChangeAspect="1"/>
          </p:cNvSpPr>
          <p:nvPr/>
        </p:nvSpPr>
        <p:spPr>
          <a:xfrm rot="2700000">
            <a:off x="252000" y="1224000"/>
            <a:ext cx="1152000" cy="115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700000"/>
              </a:camera>
              <a:lightRig rig="threePt" dir="t"/>
            </a:scene3d>
          </a:bodyPr>
          <a:lstStyle/>
          <a:p>
            <a:pPr algn="ctr"/>
            <a:r>
              <a:rPr lang="en-PK" sz="2000" dirty="0">
                <a:latin typeface="Candara" panose="020E0502030303020204" pitchFamily="34" charset="0"/>
              </a:rPr>
              <a:t>Need to store state?</a:t>
            </a:r>
          </a:p>
        </p:txBody>
      </p:sp>
      <p:sp>
        <p:nvSpPr>
          <p:cNvPr id="10" name="Rectangle 9">
            <a:extLst>
              <a:ext uri="{FF2B5EF4-FFF2-40B4-BE49-F238E27FC236}">
                <a16:creationId xmlns:a16="http://schemas.microsoft.com/office/drawing/2014/main" id="{5608A083-B068-ED4F-8C53-CDC144786F0C}"/>
              </a:ext>
            </a:extLst>
          </p:cNvPr>
          <p:cNvSpPr>
            <a:spLocks noChangeAspect="1"/>
          </p:cNvSpPr>
          <p:nvPr/>
        </p:nvSpPr>
        <p:spPr>
          <a:xfrm rot="2700000">
            <a:off x="2340000" y="1224000"/>
            <a:ext cx="1152000" cy="115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1">
            <a:scene3d>
              <a:camera prst="orthographicFront">
                <a:rot lat="0" lon="0" rev="2700000"/>
              </a:camera>
              <a:lightRig rig="threePt" dir="t"/>
            </a:scene3d>
          </a:bodyPr>
          <a:lstStyle/>
          <a:p>
            <a:pPr algn="ctr"/>
            <a:r>
              <a:rPr lang="en-PK" sz="2000" dirty="0">
                <a:latin typeface="Candara" panose="020E0502030303020204" pitchFamily="34" charset="0"/>
              </a:rPr>
              <a:t>Multiple writers?</a:t>
            </a:r>
          </a:p>
        </p:txBody>
      </p:sp>
      <p:sp>
        <p:nvSpPr>
          <p:cNvPr id="11" name="Rectangle 10">
            <a:extLst>
              <a:ext uri="{FF2B5EF4-FFF2-40B4-BE49-F238E27FC236}">
                <a16:creationId xmlns:a16="http://schemas.microsoft.com/office/drawing/2014/main" id="{9E880CD5-8CF8-3C43-E906-8E26F6158047}"/>
              </a:ext>
            </a:extLst>
          </p:cNvPr>
          <p:cNvSpPr>
            <a:spLocks noChangeAspect="1"/>
          </p:cNvSpPr>
          <p:nvPr/>
        </p:nvSpPr>
        <p:spPr>
          <a:xfrm rot="2700000">
            <a:off x="4428000" y="1224000"/>
            <a:ext cx="1152000" cy="115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1">
            <a:scene3d>
              <a:camera prst="orthographicFront">
                <a:rot lat="0" lon="0" rev="2700000"/>
              </a:camera>
              <a:lightRig rig="threePt" dir="t"/>
            </a:scene3d>
          </a:bodyPr>
          <a:lstStyle/>
          <a:p>
            <a:pPr algn="ctr"/>
            <a:r>
              <a:rPr lang="en-PK" sz="1600" dirty="0">
                <a:latin typeface="Candara" panose="020E0502030303020204" pitchFamily="34" charset="0"/>
              </a:rPr>
              <a:t>Online TTP </a:t>
            </a:r>
            <a:r>
              <a:rPr lang="en-GB" sz="1600" dirty="0">
                <a:latin typeface="Candara" panose="020E0502030303020204" pitchFamily="34" charset="0"/>
              </a:rPr>
              <a:t>A</a:t>
            </a:r>
            <a:r>
              <a:rPr lang="en-PK" sz="1600" dirty="0">
                <a:latin typeface="Candara" panose="020E0502030303020204" pitchFamily="34" charset="0"/>
              </a:rPr>
              <a:t>lways available?</a:t>
            </a:r>
          </a:p>
        </p:txBody>
      </p:sp>
      <p:sp>
        <p:nvSpPr>
          <p:cNvPr id="12" name="Rectangle 11">
            <a:extLst>
              <a:ext uri="{FF2B5EF4-FFF2-40B4-BE49-F238E27FC236}">
                <a16:creationId xmlns:a16="http://schemas.microsoft.com/office/drawing/2014/main" id="{FE4CB884-414F-C458-0267-B9E3CDD8217B}"/>
              </a:ext>
            </a:extLst>
          </p:cNvPr>
          <p:cNvSpPr>
            <a:spLocks noChangeAspect="1"/>
          </p:cNvSpPr>
          <p:nvPr/>
        </p:nvSpPr>
        <p:spPr>
          <a:xfrm rot="2700000">
            <a:off x="6516000" y="1224000"/>
            <a:ext cx="1152000" cy="115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700000"/>
              </a:camera>
              <a:lightRig rig="threePt" dir="t"/>
            </a:scene3d>
          </a:bodyPr>
          <a:lstStyle/>
          <a:p>
            <a:pPr algn="ctr"/>
            <a:r>
              <a:rPr lang="en-PK" dirty="0">
                <a:latin typeface="Candara" panose="020E0502030303020204" pitchFamily="34" charset="0"/>
              </a:rPr>
              <a:t>All writers known?</a:t>
            </a:r>
          </a:p>
          <a:p>
            <a:pPr algn="ctr"/>
            <a:endParaRPr lang="en-PK" dirty="0">
              <a:latin typeface="Candara" panose="020E0502030303020204" pitchFamily="34" charset="0"/>
            </a:endParaRPr>
          </a:p>
        </p:txBody>
      </p:sp>
      <p:sp>
        <p:nvSpPr>
          <p:cNvPr id="13" name="Rectangle 12">
            <a:extLst>
              <a:ext uri="{FF2B5EF4-FFF2-40B4-BE49-F238E27FC236}">
                <a16:creationId xmlns:a16="http://schemas.microsoft.com/office/drawing/2014/main" id="{0FCD9485-8E92-4173-9089-A6C19D8A7E7F}"/>
              </a:ext>
            </a:extLst>
          </p:cNvPr>
          <p:cNvSpPr>
            <a:spLocks noChangeAspect="1"/>
          </p:cNvSpPr>
          <p:nvPr/>
        </p:nvSpPr>
        <p:spPr>
          <a:xfrm rot="2700000">
            <a:off x="6516000" y="3276000"/>
            <a:ext cx="1152000" cy="115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1">
            <a:scene3d>
              <a:camera prst="orthographicFront">
                <a:rot lat="0" lon="0" rev="2700000"/>
              </a:camera>
              <a:lightRig rig="threePt" dir="t"/>
            </a:scene3d>
          </a:bodyPr>
          <a:lstStyle/>
          <a:p>
            <a:pPr algn="ctr"/>
            <a:r>
              <a:rPr lang="en-PK" dirty="0">
                <a:latin typeface="Candara" panose="020E0502030303020204" pitchFamily="34" charset="0"/>
              </a:rPr>
              <a:t>All writers trusted?</a:t>
            </a:r>
          </a:p>
          <a:p>
            <a:pPr algn="ctr"/>
            <a:endParaRPr lang="en-PK" dirty="0">
              <a:latin typeface="Candara" panose="020E0502030303020204" pitchFamily="34" charset="0"/>
            </a:endParaRPr>
          </a:p>
        </p:txBody>
      </p:sp>
      <p:sp>
        <p:nvSpPr>
          <p:cNvPr id="14" name="Rectangle 13">
            <a:extLst>
              <a:ext uri="{FF2B5EF4-FFF2-40B4-BE49-F238E27FC236}">
                <a16:creationId xmlns:a16="http://schemas.microsoft.com/office/drawing/2014/main" id="{2017FC54-5403-217C-4BA6-CED48C06FCAC}"/>
              </a:ext>
            </a:extLst>
          </p:cNvPr>
          <p:cNvSpPr>
            <a:spLocks noChangeAspect="1"/>
          </p:cNvSpPr>
          <p:nvPr/>
        </p:nvSpPr>
        <p:spPr>
          <a:xfrm rot="2700000">
            <a:off x="8604000" y="3276000"/>
            <a:ext cx="1152000" cy="115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700000"/>
              </a:camera>
              <a:lightRig rig="threePt" dir="t"/>
            </a:scene3d>
          </a:bodyPr>
          <a:lstStyle/>
          <a:p>
            <a:pPr algn="ctr"/>
            <a:r>
              <a:rPr lang="en-PK" sz="1600" dirty="0">
                <a:latin typeface="Candara" panose="020E0502030303020204" pitchFamily="34" charset="0"/>
              </a:rPr>
              <a:t>Public verifiability needed?</a:t>
            </a:r>
          </a:p>
          <a:p>
            <a:pPr algn="ctr"/>
            <a:endParaRPr lang="en-PK" sz="1600" dirty="0">
              <a:latin typeface="Candara" panose="020E0502030303020204" pitchFamily="34" charset="0"/>
            </a:endParaRPr>
          </a:p>
        </p:txBody>
      </p:sp>
      <p:sp>
        <p:nvSpPr>
          <p:cNvPr id="15" name="Rounded Rectangle 14">
            <a:extLst>
              <a:ext uri="{FF2B5EF4-FFF2-40B4-BE49-F238E27FC236}">
                <a16:creationId xmlns:a16="http://schemas.microsoft.com/office/drawing/2014/main" id="{86989E46-A265-3FBB-91F1-7236C0CB772D}"/>
              </a:ext>
            </a:extLst>
          </p:cNvPr>
          <p:cNvSpPr/>
          <p:nvPr/>
        </p:nvSpPr>
        <p:spPr>
          <a:xfrm>
            <a:off x="10549412" y="1440000"/>
            <a:ext cx="1620000" cy="648000"/>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1600" dirty="0">
                <a:latin typeface="Candara" panose="020E0502030303020204" pitchFamily="34" charset="0"/>
              </a:rPr>
              <a:t>Permissionless Blockchain</a:t>
            </a:r>
          </a:p>
        </p:txBody>
      </p:sp>
      <p:sp>
        <p:nvSpPr>
          <p:cNvPr id="16" name="Rounded Rectangle 15">
            <a:extLst>
              <a:ext uri="{FF2B5EF4-FFF2-40B4-BE49-F238E27FC236}">
                <a16:creationId xmlns:a16="http://schemas.microsoft.com/office/drawing/2014/main" id="{18C424BD-FA17-060E-2269-A924FFF5E333}"/>
              </a:ext>
            </a:extLst>
          </p:cNvPr>
          <p:cNvSpPr/>
          <p:nvPr/>
        </p:nvSpPr>
        <p:spPr>
          <a:xfrm>
            <a:off x="10549412" y="3528000"/>
            <a:ext cx="1620000" cy="64800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1600" dirty="0">
                <a:latin typeface="Candara" panose="020E0502030303020204" pitchFamily="34" charset="0"/>
              </a:rPr>
              <a:t>Public Permissioned</a:t>
            </a:r>
          </a:p>
        </p:txBody>
      </p:sp>
      <p:sp>
        <p:nvSpPr>
          <p:cNvPr id="17" name="Rounded Rectangle 16">
            <a:extLst>
              <a:ext uri="{FF2B5EF4-FFF2-40B4-BE49-F238E27FC236}">
                <a16:creationId xmlns:a16="http://schemas.microsoft.com/office/drawing/2014/main" id="{8EE16D79-17B8-289B-12E4-1E9C748AC390}"/>
              </a:ext>
            </a:extLst>
          </p:cNvPr>
          <p:cNvSpPr/>
          <p:nvPr/>
        </p:nvSpPr>
        <p:spPr>
          <a:xfrm>
            <a:off x="10548000" y="4680000"/>
            <a:ext cx="1620000" cy="648000"/>
          </a:xfrm>
          <a:prstGeom prst="round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1600" dirty="0">
                <a:latin typeface="Candara" panose="020E0502030303020204" pitchFamily="34" charset="0"/>
              </a:rPr>
              <a:t>Private Permissioned</a:t>
            </a:r>
          </a:p>
        </p:txBody>
      </p:sp>
      <p:sp>
        <p:nvSpPr>
          <p:cNvPr id="18" name="Rounded Rectangle 17">
            <a:extLst>
              <a:ext uri="{FF2B5EF4-FFF2-40B4-BE49-F238E27FC236}">
                <a16:creationId xmlns:a16="http://schemas.microsoft.com/office/drawing/2014/main" id="{C9FC57F9-F1B5-73C6-085A-3215A3ABFE94}"/>
              </a:ext>
            </a:extLst>
          </p:cNvPr>
          <p:cNvSpPr/>
          <p:nvPr/>
        </p:nvSpPr>
        <p:spPr>
          <a:xfrm>
            <a:off x="10548000" y="5760000"/>
            <a:ext cx="1620000" cy="64800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1600" dirty="0">
                <a:latin typeface="Candara" panose="020E0502030303020204" pitchFamily="34" charset="0"/>
              </a:rPr>
              <a:t>DO NOT USE Blockchain!</a:t>
            </a:r>
          </a:p>
        </p:txBody>
      </p:sp>
      <p:cxnSp>
        <p:nvCxnSpPr>
          <p:cNvPr id="21" name="Straight Arrow Connector 20">
            <a:extLst>
              <a:ext uri="{FF2B5EF4-FFF2-40B4-BE49-F238E27FC236}">
                <a16:creationId xmlns:a16="http://schemas.microsoft.com/office/drawing/2014/main" id="{9175A9B8-5DB6-ED21-649A-BA2B1EE4E8A4}"/>
              </a:ext>
            </a:extLst>
          </p:cNvPr>
          <p:cNvCxnSpPr>
            <a:cxnSpLocks/>
          </p:cNvCxnSpPr>
          <p:nvPr/>
        </p:nvCxnSpPr>
        <p:spPr>
          <a:xfrm>
            <a:off x="1620000" y="1800000"/>
            <a:ext cx="468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83C31D1-1142-2B00-62EF-2679A578C9D6}"/>
              </a:ext>
            </a:extLst>
          </p:cNvPr>
          <p:cNvCxnSpPr>
            <a:cxnSpLocks/>
          </p:cNvCxnSpPr>
          <p:nvPr/>
        </p:nvCxnSpPr>
        <p:spPr>
          <a:xfrm>
            <a:off x="3708000" y="1800000"/>
            <a:ext cx="468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5E8CDDA-40D3-642D-E05D-20CD31237D84}"/>
              </a:ext>
            </a:extLst>
          </p:cNvPr>
          <p:cNvCxnSpPr>
            <a:cxnSpLocks/>
          </p:cNvCxnSpPr>
          <p:nvPr/>
        </p:nvCxnSpPr>
        <p:spPr>
          <a:xfrm>
            <a:off x="5796000" y="1800000"/>
            <a:ext cx="468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7B281B1-5B79-51D7-C499-8C76CF8CF681}"/>
              </a:ext>
            </a:extLst>
          </p:cNvPr>
          <p:cNvCxnSpPr>
            <a:cxnSpLocks/>
          </p:cNvCxnSpPr>
          <p:nvPr/>
        </p:nvCxnSpPr>
        <p:spPr>
          <a:xfrm>
            <a:off x="7884000" y="3852000"/>
            <a:ext cx="468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904A7F7-BAF1-1350-45B0-E336A6A7CC65}"/>
              </a:ext>
            </a:extLst>
          </p:cNvPr>
          <p:cNvCxnSpPr>
            <a:cxnSpLocks/>
          </p:cNvCxnSpPr>
          <p:nvPr/>
        </p:nvCxnSpPr>
        <p:spPr>
          <a:xfrm>
            <a:off x="9972000" y="3852000"/>
            <a:ext cx="576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9953B12-89DF-FE93-F2EF-22683287648E}"/>
              </a:ext>
            </a:extLst>
          </p:cNvPr>
          <p:cNvCxnSpPr>
            <a:cxnSpLocks/>
          </p:cNvCxnSpPr>
          <p:nvPr/>
        </p:nvCxnSpPr>
        <p:spPr>
          <a:xfrm>
            <a:off x="7884000" y="1800000"/>
            <a:ext cx="2664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B3EFCF6-DB7E-3C53-8A03-CAA14CB5C6F7}"/>
              </a:ext>
            </a:extLst>
          </p:cNvPr>
          <p:cNvCxnSpPr>
            <a:cxnSpLocks/>
          </p:cNvCxnSpPr>
          <p:nvPr/>
        </p:nvCxnSpPr>
        <p:spPr>
          <a:xfrm rot="5400000">
            <a:off x="6875770" y="2808000"/>
            <a:ext cx="432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E2C422A-8F19-0B83-8DFB-CC590A4C5F16}"/>
              </a:ext>
            </a:extLst>
          </p:cNvPr>
          <p:cNvCxnSpPr>
            <a:cxnSpLocks/>
          </p:cNvCxnSpPr>
          <p:nvPr/>
        </p:nvCxnSpPr>
        <p:spPr>
          <a:xfrm>
            <a:off x="828000" y="6084000"/>
            <a:ext cx="9720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93706F-B5D0-D0A3-BCE0-9692366A76C6}"/>
              </a:ext>
            </a:extLst>
          </p:cNvPr>
          <p:cNvCxnSpPr/>
          <p:nvPr/>
        </p:nvCxnSpPr>
        <p:spPr>
          <a:xfrm>
            <a:off x="828000" y="2592000"/>
            <a:ext cx="0" cy="349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51D89DC-FADA-9EF5-3340-3615D1407127}"/>
              </a:ext>
            </a:extLst>
          </p:cNvPr>
          <p:cNvCxnSpPr/>
          <p:nvPr/>
        </p:nvCxnSpPr>
        <p:spPr>
          <a:xfrm>
            <a:off x="2916000" y="2592000"/>
            <a:ext cx="0" cy="349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41D4EA0-A8C1-F4EF-A5C1-2C3DCFD91192}"/>
              </a:ext>
            </a:extLst>
          </p:cNvPr>
          <p:cNvCxnSpPr/>
          <p:nvPr/>
        </p:nvCxnSpPr>
        <p:spPr>
          <a:xfrm>
            <a:off x="5004000" y="2592000"/>
            <a:ext cx="0" cy="349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CAB5E04-2E2B-1122-EC5A-5661ADB80271}"/>
              </a:ext>
            </a:extLst>
          </p:cNvPr>
          <p:cNvCxnSpPr>
            <a:cxnSpLocks/>
          </p:cNvCxnSpPr>
          <p:nvPr/>
        </p:nvCxnSpPr>
        <p:spPr>
          <a:xfrm>
            <a:off x="7091770" y="4644000"/>
            <a:ext cx="0" cy="14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FFDAABE-5CD8-7841-0210-289FE647B341}"/>
              </a:ext>
            </a:extLst>
          </p:cNvPr>
          <p:cNvCxnSpPr>
            <a:cxnSpLocks/>
          </p:cNvCxnSpPr>
          <p:nvPr/>
        </p:nvCxnSpPr>
        <p:spPr>
          <a:xfrm>
            <a:off x="9180000" y="4644000"/>
            <a:ext cx="0" cy="39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03103B2-38DE-6CFB-AAEE-ADC35928CBBA}"/>
              </a:ext>
            </a:extLst>
          </p:cNvPr>
          <p:cNvCxnSpPr>
            <a:cxnSpLocks/>
          </p:cNvCxnSpPr>
          <p:nvPr/>
        </p:nvCxnSpPr>
        <p:spPr>
          <a:xfrm>
            <a:off x="9180000" y="5040000"/>
            <a:ext cx="1368000" cy="0"/>
          </a:xfrm>
          <a:prstGeom prst="straightConnector1">
            <a:avLst/>
          </a:prstGeom>
          <a:ln w="3810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2935C231-2046-CEFB-F21C-48B6D63F37AC}"/>
              </a:ext>
            </a:extLst>
          </p:cNvPr>
          <p:cNvSpPr txBox="1"/>
          <p:nvPr/>
        </p:nvSpPr>
        <p:spPr>
          <a:xfrm>
            <a:off x="1440000" y="1800000"/>
            <a:ext cx="720000" cy="360000"/>
          </a:xfrm>
          <a:prstGeom prst="rect">
            <a:avLst/>
          </a:prstGeom>
          <a:noFill/>
        </p:spPr>
        <p:txBody>
          <a:bodyPr wrap="square" rtlCol="0">
            <a:spAutoFit/>
          </a:bodyPr>
          <a:lstStyle/>
          <a:p>
            <a:pPr algn="ctr"/>
            <a:r>
              <a:rPr lang="en-US" dirty="0"/>
              <a:t>YES</a:t>
            </a:r>
            <a:endParaRPr lang="en-PK" dirty="0"/>
          </a:p>
        </p:txBody>
      </p:sp>
      <p:sp>
        <p:nvSpPr>
          <p:cNvPr id="54" name="TextBox 53">
            <a:extLst>
              <a:ext uri="{FF2B5EF4-FFF2-40B4-BE49-F238E27FC236}">
                <a16:creationId xmlns:a16="http://schemas.microsoft.com/office/drawing/2014/main" id="{2792ED6E-B901-7684-50E3-17926246D437}"/>
              </a:ext>
            </a:extLst>
          </p:cNvPr>
          <p:cNvSpPr txBox="1"/>
          <p:nvPr/>
        </p:nvSpPr>
        <p:spPr>
          <a:xfrm>
            <a:off x="216000" y="2556000"/>
            <a:ext cx="720000" cy="360000"/>
          </a:xfrm>
          <a:prstGeom prst="rect">
            <a:avLst/>
          </a:prstGeom>
          <a:noFill/>
        </p:spPr>
        <p:txBody>
          <a:bodyPr wrap="square" rtlCol="0">
            <a:spAutoFit/>
          </a:bodyPr>
          <a:lstStyle/>
          <a:p>
            <a:pPr algn="ctr"/>
            <a:r>
              <a:rPr lang="en-PK" dirty="0"/>
              <a:t>NO</a:t>
            </a:r>
            <a:endParaRPr lang="en-US" dirty="0"/>
          </a:p>
        </p:txBody>
      </p:sp>
      <p:sp>
        <p:nvSpPr>
          <p:cNvPr id="57" name="TextBox 56">
            <a:extLst>
              <a:ext uri="{FF2B5EF4-FFF2-40B4-BE49-F238E27FC236}">
                <a16:creationId xmlns:a16="http://schemas.microsoft.com/office/drawing/2014/main" id="{EB023628-1ACA-3535-548F-F048C2196339}"/>
              </a:ext>
            </a:extLst>
          </p:cNvPr>
          <p:cNvSpPr txBox="1"/>
          <p:nvPr/>
        </p:nvSpPr>
        <p:spPr>
          <a:xfrm>
            <a:off x="2304000" y="2556000"/>
            <a:ext cx="720000" cy="360000"/>
          </a:xfrm>
          <a:prstGeom prst="rect">
            <a:avLst/>
          </a:prstGeom>
          <a:noFill/>
        </p:spPr>
        <p:txBody>
          <a:bodyPr wrap="square" rtlCol="0">
            <a:spAutoFit/>
          </a:bodyPr>
          <a:lstStyle/>
          <a:p>
            <a:pPr algn="ctr"/>
            <a:r>
              <a:rPr lang="en-PK" dirty="0"/>
              <a:t>NO</a:t>
            </a:r>
            <a:endParaRPr lang="en-US" dirty="0"/>
          </a:p>
        </p:txBody>
      </p:sp>
      <p:sp>
        <p:nvSpPr>
          <p:cNvPr id="58" name="TextBox 57">
            <a:extLst>
              <a:ext uri="{FF2B5EF4-FFF2-40B4-BE49-F238E27FC236}">
                <a16:creationId xmlns:a16="http://schemas.microsoft.com/office/drawing/2014/main" id="{CBECF51A-B356-3522-D2E6-23FBD12EC1EF}"/>
              </a:ext>
            </a:extLst>
          </p:cNvPr>
          <p:cNvSpPr txBox="1"/>
          <p:nvPr/>
        </p:nvSpPr>
        <p:spPr>
          <a:xfrm>
            <a:off x="4392000" y="2556000"/>
            <a:ext cx="720000" cy="369332"/>
          </a:xfrm>
          <a:prstGeom prst="rect">
            <a:avLst/>
          </a:prstGeom>
          <a:noFill/>
        </p:spPr>
        <p:txBody>
          <a:bodyPr wrap="square" rtlCol="0">
            <a:spAutoFit/>
          </a:bodyPr>
          <a:lstStyle/>
          <a:p>
            <a:pPr algn="ctr"/>
            <a:r>
              <a:rPr lang="en-PK" dirty="0"/>
              <a:t>YES</a:t>
            </a:r>
            <a:endParaRPr lang="en-US" dirty="0"/>
          </a:p>
        </p:txBody>
      </p:sp>
      <p:sp>
        <p:nvSpPr>
          <p:cNvPr id="59" name="TextBox 58">
            <a:extLst>
              <a:ext uri="{FF2B5EF4-FFF2-40B4-BE49-F238E27FC236}">
                <a16:creationId xmlns:a16="http://schemas.microsoft.com/office/drawing/2014/main" id="{9521F6FF-5F05-8EC2-190E-E422D7D964D9}"/>
              </a:ext>
            </a:extLst>
          </p:cNvPr>
          <p:cNvSpPr txBox="1"/>
          <p:nvPr/>
        </p:nvSpPr>
        <p:spPr>
          <a:xfrm>
            <a:off x="6480000" y="2556000"/>
            <a:ext cx="720000" cy="369332"/>
          </a:xfrm>
          <a:prstGeom prst="rect">
            <a:avLst/>
          </a:prstGeom>
          <a:noFill/>
        </p:spPr>
        <p:txBody>
          <a:bodyPr wrap="square" rtlCol="0">
            <a:spAutoFit/>
          </a:bodyPr>
          <a:lstStyle/>
          <a:p>
            <a:pPr algn="ctr"/>
            <a:r>
              <a:rPr lang="en-PK" dirty="0"/>
              <a:t>YES</a:t>
            </a:r>
            <a:endParaRPr lang="en-US" dirty="0"/>
          </a:p>
        </p:txBody>
      </p:sp>
      <p:sp>
        <p:nvSpPr>
          <p:cNvPr id="60" name="TextBox 59">
            <a:extLst>
              <a:ext uri="{FF2B5EF4-FFF2-40B4-BE49-F238E27FC236}">
                <a16:creationId xmlns:a16="http://schemas.microsoft.com/office/drawing/2014/main" id="{4E88D9C8-DF5F-DDBA-6EF8-F4D80571A88D}"/>
              </a:ext>
            </a:extLst>
          </p:cNvPr>
          <p:cNvSpPr txBox="1"/>
          <p:nvPr/>
        </p:nvSpPr>
        <p:spPr>
          <a:xfrm>
            <a:off x="6480000" y="4608000"/>
            <a:ext cx="720000" cy="369332"/>
          </a:xfrm>
          <a:prstGeom prst="rect">
            <a:avLst/>
          </a:prstGeom>
          <a:noFill/>
        </p:spPr>
        <p:txBody>
          <a:bodyPr wrap="square" rtlCol="0">
            <a:spAutoFit/>
          </a:bodyPr>
          <a:lstStyle/>
          <a:p>
            <a:pPr algn="ctr"/>
            <a:r>
              <a:rPr lang="en-PK" dirty="0"/>
              <a:t>YES</a:t>
            </a:r>
            <a:endParaRPr lang="en-US" dirty="0"/>
          </a:p>
        </p:txBody>
      </p:sp>
      <p:sp>
        <p:nvSpPr>
          <p:cNvPr id="61" name="TextBox 60">
            <a:extLst>
              <a:ext uri="{FF2B5EF4-FFF2-40B4-BE49-F238E27FC236}">
                <a16:creationId xmlns:a16="http://schemas.microsoft.com/office/drawing/2014/main" id="{8DE495D0-CE5F-318E-ECF0-61F589642E7E}"/>
              </a:ext>
            </a:extLst>
          </p:cNvPr>
          <p:cNvSpPr txBox="1"/>
          <p:nvPr/>
        </p:nvSpPr>
        <p:spPr>
          <a:xfrm>
            <a:off x="8568000" y="4608000"/>
            <a:ext cx="720000" cy="360000"/>
          </a:xfrm>
          <a:prstGeom prst="rect">
            <a:avLst/>
          </a:prstGeom>
          <a:noFill/>
        </p:spPr>
        <p:txBody>
          <a:bodyPr wrap="square" rtlCol="0">
            <a:spAutoFit/>
          </a:bodyPr>
          <a:lstStyle/>
          <a:p>
            <a:pPr algn="ctr"/>
            <a:r>
              <a:rPr lang="en-PK" dirty="0"/>
              <a:t>NO</a:t>
            </a:r>
            <a:endParaRPr lang="en-US" dirty="0"/>
          </a:p>
        </p:txBody>
      </p:sp>
      <p:sp>
        <p:nvSpPr>
          <p:cNvPr id="62" name="TextBox 61">
            <a:extLst>
              <a:ext uri="{FF2B5EF4-FFF2-40B4-BE49-F238E27FC236}">
                <a16:creationId xmlns:a16="http://schemas.microsoft.com/office/drawing/2014/main" id="{F73BBCD4-5ECC-8749-DD76-A1A8F57484D3}"/>
              </a:ext>
            </a:extLst>
          </p:cNvPr>
          <p:cNvSpPr txBox="1"/>
          <p:nvPr/>
        </p:nvSpPr>
        <p:spPr>
          <a:xfrm>
            <a:off x="3528000" y="1800000"/>
            <a:ext cx="720000" cy="360000"/>
          </a:xfrm>
          <a:prstGeom prst="rect">
            <a:avLst/>
          </a:prstGeom>
          <a:noFill/>
        </p:spPr>
        <p:txBody>
          <a:bodyPr wrap="square" rtlCol="0">
            <a:spAutoFit/>
          </a:bodyPr>
          <a:lstStyle/>
          <a:p>
            <a:pPr algn="ctr"/>
            <a:r>
              <a:rPr lang="en-US" dirty="0"/>
              <a:t>YES</a:t>
            </a:r>
            <a:endParaRPr lang="en-PK" dirty="0"/>
          </a:p>
        </p:txBody>
      </p:sp>
      <p:sp>
        <p:nvSpPr>
          <p:cNvPr id="63" name="TextBox 62">
            <a:extLst>
              <a:ext uri="{FF2B5EF4-FFF2-40B4-BE49-F238E27FC236}">
                <a16:creationId xmlns:a16="http://schemas.microsoft.com/office/drawing/2014/main" id="{AB0B1506-00B6-2AEA-230B-A0E292AC9FFE}"/>
              </a:ext>
            </a:extLst>
          </p:cNvPr>
          <p:cNvSpPr txBox="1"/>
          <p:nvPr/>
        </p:nvSpPr>
        <p:spPr>
          <a:xfrm>
            <a:off x="5616000" y="1800000"/>
            <a:ext cx="720000" cy="369332"/>
          </a:xfrm>
          <a:prstGeom prst="rect">
            <a:avLst/>
          </a:prstGeom>
          <a:noFill/>
        </p:spPr>
        <p:txBody>
          <a:bodyPr wrap="square" rtlCol="0">
            <a:spAutoFit/>
          </a:bodyPr>
          <a:lstStyle/>
          <a:p>
            <a:pPr algn="ctr"/>
            <a:r>
              <a:rPr lang="en-US" dirty="0"/>
              <a:t>NO</a:t>
            </a:r>
            <a:endParaRPr lang="en-PK" dirty="0"/>
          </a:p>
        </p:txBody>
      </p:sp>
      <p:sp>
        <p:nvSpPr>
          <p:cNvPr id="64" name="TextBox 63">
            <a:extLst>
              <a:ext uri="{FF2B5EF4-FFF2-40B4-BE49-F238E27FC236}">
                <a16:creationId xmlns:a16="http://schemas.microsoft.com/office/drawing/2014/main" id="{5B7CF216-AB02-0EED-A01E-EF2018D145A8}"/>
              </a:ext>
            </a:extLst>
          </p:cNvPr>
          <p:cNvSpPr txBox="1"/>
          <p:nvPr/>
        </p:nvSpPr>
        <p:spPr>
          <a:xfrm>
            <a:off x="7704000" y="1800000"/>
            <a:ext cx="720000" cy="369332"/>
          </a:xfrm>
          <a:prstGeom prst="rect">
            <a:avLst/>
          </a:prstGeom>
          <a:noFill/>
        </p:spPr>
        <p:txBody>
          <a:bodyPr wrap="square" rtlCol="0">
            <a:spAutoFit/>
          </a:bodyPr>
          <a:lstStyle/>
          <a:p>
            <a:pPr algn="ctr"/>
            <a:r>
              <a:rPr lang="en-US" dirty="0"/>
              <a:t>NO</a:t>
            </a:r>
            <a:endParaRPr lang="en-PK" dirty="0"/>
          </a:p>
        </p:txBody>
      </p:sp>
      <p:sp>
        <p:nvSpPr>
          <p:cNvPr id="65" name="TextBox 64">
            <a:extLst>
              <a:ext uri="{FF2B5EF4-FFF2-40B4-BE49-F238E27FC236}">
                <a16:creationId xmlns:a16="http://schemas.microsoft.com/office/drawing/2014/main" id="{18530C26-E43F-619C-33D6-FCD9771AD830}"/>
              </a:ext>
            </a:extLst>
          </p:cNvPr>
          <p:cNvSpPr txBox="1"/>
          <p:nvPr/>
        </p:nvSpPr>
        <p:spPr>
          <a:xfrm>
            <a:off x="7704000" y="3852000"/>
            <a:ext cx="720000" cy="369332"/>
          </a:xfrm>
          <a:prstGeom prst="rect">
            <a:avLst/>
          </a:prstGeom>
          <a:noFill/>
        </p:spPr>
        <p:txBody>
          <a:bodyPr wrap="square" rtlCol="0">
            <a:spAutoFit/>
          </a:bodyPr>
          <a:lstStyle/>
          <a:p>
            <a:pPr algn="ctr"/>
            <a:r>
              <a:rPr lang="en-US" dirty="0"/>
              <a:t>NO</a:t>
            </a:r>
            <a:endParaRPr lang="en-PK" dirty="0"/>
          </a:p>
        </p:txBody>
      </p:sp>
      <p:sp>
        <p:nvSpPr>
          <p:cNvPr id="66" name="TextBox 65">
            <a:extLst>
              <a:ext uri="{FF2B5EF4-FFF2-40B4-BE49-F238E27FC236}">
                <a16:creationId xmlns:a16="http://schemas.microsoft.com/office/drawing/2014/main" id="{A92FE5B8-0FB3-F983-8BA7-DDD8E8A2774A}"/>
              </a:ext>
            </a:extLst>
          </p:cNvPr>
          <p:cNvSpPr txBox="1"/>
          <p:nvPr/>
        </p:nvSpPr>
        <p:spPr>
          <a:xfrm>
            <a:off x="9791849" y="3464478"/>
            <a:ext cx="720000" cy="369332"/>
          </a:xfrm>
          <a:prstGeom prst="rect">
            <a:avLst/>
          </a:prstGeom>
          <a:noFill/>
        </p:spPr>
        <p:txBody>
          <a:bodyPr wrap="square" rtlCol="0">
            <a:spAutoFit/>
          </a:bodyPr>
          <a:lstStyle/>
          <a:p>
            <a:pPr algn="ctr"/>
            <a:r>
              <a:rPr lang="en-PK" dirty="0"/>
              <a:t>YES</a:t>
            </a:r>
            <a:endParaRPr lang="en-US" dirty="0"/>
          </a:p>
        </p:txBody>
      </p:sp>
      <p:sp>
        <p:nvSpPr>
          <p:cNvPr id="4" name="Slide Number Placeholder 3">
            <a:extLst>
              <a:ext uri="{FF2B5EF4-FFF2-40B4-BE49-F238E27FC236}">
                <a16:creationId xmlns:a16="http://schemas.microsoft.com/office/drawing/2014/main" id="{F2DA6160-F211-B3B7-3AA5-CD3736A7A886}"/>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87484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childTnLst>
                                </p:cTn>
                              </p:par>
                            </p:childTnLst>
                          </p:cTn>
                        </p:par>
                        <p:par>
                          <p:cTn id="12" fill="hold">
                            <p:stCondLst>
                              <p:cond delay="0"/>
                            </p:stCondLst>
                            <p:childTnLst>
                              <p:par>
                                <p:cTn id="13" presetID="9"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dissolve">
                                      <p:cBhvr>
                                        <p:cTn id="15" dur="500"/>
                                        <p:tgtEl>
                                          <p:spTgt spid="46"/>
                                        </p:tgtEl>
                                      </p:cBhvr>
                                    </p:animEffect>
                                  </p:childTnLst>
                                </p:cTn>
                              </p:par>
                              <p:par>
                                <p:cTn id="16" presetID="9" presetClass="entr" presetSubtype="0" fill="hold"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dissolve">
                                      <p:cBhvr>
                                        <p:cTn id="18" dur="500"/>
                                        <p:tgtEl>
                                          <p:spTgt spid="41"/>
                                        </p:tgtEl>
                                      </p:cBhvr>
                                    </p:animEffect>
                                  </p:childTnLst>
                                </p:cTn>
                              </p:par>
                            </p:childTnLst>
                          </p:cTn>
                        </p:par>
                        <p:par>
                          <p:cTn id="19" fill="hold">
                            <p:stCondLst>
                              <p:cond delay="500"/>
                            </p:stCondLst>
                            <p:childTnLst>
                              <p:par>
                                <p:cTn id="20" presetID="9" presetClass="entr" presetSubtype="0" fill="hold" grpId="0" nodeType="afterEffect">
                                  <p:stCondLst>
                                    <p:cond delay="0"/>
                                  </p:stCondLst>
                                  <p:iterate type="lt">
                                    <p:tmPct val="0"/>
                                  </p:iterate>
                                  <p:childTnLst>
                                    <p:set>
                                      <p:cBhvr>
                                        <p:cTn id="21" dur="1" fill="hold">
                                          <p:stCondLst>
                                            <p:cond delay="0"/>
                                          </p:stCondLst>
                                        </p:cTn>
                                        <p:tgtEl>
                                          <p:spTgt spid="18"/>
                                        </p:tgtEl>
                                        <p:attrNameLst>
                                          <p:attrName>style.visibility</p:attrName>
                                        </p:attrNameLst>
                                      </p:cBhvr>
                                      <p:to>
                                        <p:strVal val="visible"/>
                                      </p:to>
                                    </p:set>
                                    <p:animEffect transition="in" filter="dissolv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dissolve">
                                      <p:cBhvr>
                                        <p:cTn id="27" dur="500"/>
                                        <p:tgtEl>
                                          <p:spTgt spid="21"/>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dissolve">
                                      <p:cBhvr>
                                        <p:cTn id="30" dur="500"/>
                                        <p:tgtEl>
                                          <p:spTgt spid="53"/>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dissolve">
                                      <p:cBhvr>
                                        <p:cTn id="39" dur="500"/>
                                        <p:tgtEl>
                                          <p:spTgt spid="57"/>
                                        </p:tgtEl>
                                      </p:cBhvr>
                                    </p:animEffect>
                                  </p:childTnLst>
                                </p:cTn>
                              </p:par>
                              <p:par>
                                <p:cTn id="40" presetID="9" presetClass="entr" presetSubtype="0" fill="hold"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dissolve">
                                      <p:cBhvr>
                                        <p:cTn id="42" dur="500"/>
                                        <p:tgtEl>
                                          <p:spTgt spid="47"/>
                                        </p:tgtEl>
                                      </p:cBhvr>
                                    </p:animEffect>
                                  </p:childTnLst>
                                </p:cTn>
                              </p:par>
                            </p:childTnLst>
                          </p:cTn>
                        </p:par>
                        <p:par>
                          <p:cTn id="43" fill="hold">
                            <p:stCondLst>
                              <p:cond delay="500"/>
                            </p:stCondLst>
                            <p:childTnLst>
                              <p:par>
                                <p:cTn id="44" presetID="35" presetClass="emph" presetSubtype="0" fill="hold" grpId="1" nodeType="afterEffect">
                                  <p:stCondLst>
                                    <p:cond delay="0"/>
                                  </p:stCondLst>
                                  <p:iterate type="lt">
                                    <p:tmPct val="0"/>
                                  </p:iterate>
                                  <p:childTnLst>
                                    <p:anim calcmode="discrete" valueType="str">
                                      <p:cBhvr>
                                        <p:cTn id="45" dur="1000" fill="hold"/>
                                        <p:tgtEl>
                                          <p:spTgt spid="18"/>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dissolve">
                                      <p:cBhvr>
                                        <p:cTn id="50" dur="500"/>
                                        <p:tgtEl>
                                          <p:spTgt spid="27"/>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animEffect transition="in" filter="dissolve">
                                      <p:cBhvr>
                                        <p:cTn id="53" dur="500"/>
                                        <p:tgtEl>
                                          <p:spTgt spid="62"/>
                                        </p:tgtEl>
                                      </p:cBhvr>
                                    </p:animEffec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dissolve">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dissolve">
                                      <p:cBhvr>
                                        <p:cTn id="62" dur="500"/>
                                        <p:tgtEl>
                                          <p:spTgt spid="58"/>
                                        </p:tgtEl>
                                      </p:cBhvr>
                                    </p:animEffect>
                                  </p:childTnLst>
                                </p:cTn>
                              </p:par>
                              <p:par>
                                <p:cTn id="63" presetID="9" presetClass="entr" presetSubtype="0" fill="hold" nodeType="with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dissolve">
                                      <p:cBhvr>
                                        <p:cTn id="65" dur="500"/>
                                        <p:tgtEl>
                                          <p:spTgt spid="48"/>
                                        </p:tgtEl>
                                      </p:cBhvr>
                                    </p:animEffect>
                                  </p:childTnLst>
                                </p:cTn>
                              </p:par>
                            </p:childTnLst>
                          </p:cTn>
                        </p:par>
                        <p:par>
                          <p:cTn id="66" fill="hold">
                            <p:stCondLst>
                              <p:cond delay="500"/>
                            </p:stCondLst>
                            <p:childTnLst>
                              <p:par>
                                <p:cTn id="67" presetID="35" presetClass="emph" presetSubtype="0" repeatCount="2000" fill="hold" grpId="2" nodeType="afterEffect">
                                  <p:stCondLst>
                                    <p:cond delay="0"/>
                                  </p:stCondLst>
                                  <p:iterate type="lt">
                                    <p:tmPct val="0"/>
                                  </p:iterate>
                                  <p:childTnLst>
                                    <p:anim calcmode="discrete" valueType="str">
                                      <p:cBhvr>
                                        <p:cTn id="68" dur="1000" fill="hold"/>
                                        <p:tgtEl>
                                          <p:spTgt spid="18"/>
                                        </p:tgtEl>
                                        <p:attrNameLst>
                                          <p:attrName>style.visibility</p:attrName>
                                        </p:attrNameLst>
                                      </p:cBhvr>
                                      <p:tavLst>
                                        <p:tav tm="0">
                                          <p:val>
                                            <p:strVal val="hidden"/>
                                          </p:val>
                                        </p:tav>
                                        <p:tav tm="50000">
                                          <p:val>
                                            <p:strVal val="visible"/>
                                          </p:val>
                                        </p:tav>
                                      </p:tavLst>
                                    </p:anim>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dissolve">
                                      <p:cBhvr>
                                        <p:cTn id="73" dur="500"/>
                                        <p:tgtEl>
                                          <p:spTgt spid="28"/>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dissolve">
                                      <p:cBhvr>
                                        <p:cTn id="76" dur="500"/>
                                        <p:tgtEl>
                                          <p:spTgt spid="63"/>
                                        </p:tgtEl>
                                      </p:cBhvr>
                                    </p:animEffect>
                                  </p:childTnLst>
                                </p:cTn>
                              </p:par>
                            </p:childTnLst>
                          </p:cTn>
                        </p:par>
                        <p:par>
                          <p:cTn id="77" fill="hold">
                            <p:stCondLst>
                              <p:cond delay="500"/>
                            </p:stCondLst>
                            <p:childTnLst>
                              <p:par>
                                <p:cTn id="78" presetID="9" presetClass="entr" presetSubtype="0" fill="hold" grpId="0" nodeType="after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dissolve">
                                      <p:cBhvr>
                                        <p:cTn id="80" dur="500"/>
                                        <p:tgtEl>
                                          <p:spTgt spid="12"/>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dissolve">
                                      <p:cBhvr>
                                        <p:cTn id="85" dur="500"/>
                                        <p:tgtEl>
                                          <p:spTgt spid="64"/>
                                        </p:tgtEl>
                                      </p:cBhvr>
                                    </p:animEffect>
                                  </p:childTnLst>
                                </p:cTn>
                              </p:par>
                              <p:par>
                                <p:cTn id="86" presetID="9" presetClass="entr" presetSubtype="0" fill="hold"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dissolve">
                                      <p:cBhvr>
                                        <p:cTn id="88" dur="500"/>
                                        <p:tgtEl>
                                          <p:spTgt spid="31"/>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dissolve">
                                      <p:cBhvr>
                                        <p:cTn id="93" dur="500"/>
                                        <p:tgtEl>
                                          <p:spTgt spid="15"/>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nodeType="click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dissolve">
                                      <p:cBhvr>
                                        <p:cTn id="98" dur="500"/>
                                        <p:tgtEl>
                                          <p:spTgt spid="32"/>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dissolve">
                                      <p:cBhvr>
                                        <p:cTn id="101" dur="500"/>
                                        <p:tgtEl>
                                          <p:spTgt spid="59"/>
                                        </p:tgtEl>
                                      </p:cBhvr>
                                    </p:animEffect>
                                  </p:childTnLst>
                                </p:cTn>
                              </p:par>
                            </p:childTnLst>
                          </p:cTn>
                        </p:par>
                        <p:par>
                          <p:cTn id="102" fill="hold">
                            <p:stCondLst>
                              <p:cond delay="500"/>
                            </p:stCondLst>
                            <p:childTnLst>
                              <p:par>
                                <p:cTn id="103" presetID="9" presetClass="entr" presetSubtype="0" fill="hold" grpId="0" nodeType="afterEffect">
                                  <p:stCondLst>
                                    <p:cond delay="0"/>
                                  </p:stCondLst>
                                  <p:childTnLst>
                                    <p:set>
                                      <p:cBhvr>
                                        <p:cTn id="104" dur="1" fill="hold">
                                          <p:stCondLst>
                                            <p:cond delay="0"/>
                                          </p:stCondLst>
                                        </p:cTn>
                                        <p:tgtEl>
                                          <p:spTgt spid="13"/>
                                        </p:tgtEl>
                                        <p:attrNameLst>
                                          <p:attrName>style.visibility</p:attrName>
                                        </p:attrNameLst>
                                      </p:cBhvr>
                                      <p:to>
                                        <p:strVal val="visible"/>
                                      </p:to>
                                    </p:set>
                                    <p:animEffect transition="in" filter="dissolve">
                                      <p:cBhvr>
                                        <p:cTn id="105" dur="500"/>
                                        <p:tgtEl>
                                          <p:spTgt spid="13"/>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60"/>
                                        </p:tgtEl>
                                        <p:attrNameLst>
                                          <p:attrName>style.visibility</p:attrName>
                                        </p:attrNameLst>
                                      </p:cBhvr>
                                      <p:to>
                                        <p:strVal val="visible"/>
                                      </p:to>
                                    </p:set>
                                    <p:animEffect transition="in" filter="dissolve">
                                      <p:cBhvr>
                                        <p:cTn id="110" dur="500"/>
                                        <p:tgtEl>
                                          <p:spTgt spid="60"/>
                                        </p:tgtEl>
                                      </p:cBhvr>
                                    </p:animEffect>
                                  </p:childTnLst>
                                </p:cTn>
                              </p:par>
                              <p:par>
                                <p:cTn id="111" presetID="9" presetClass="entr" presetSubtype="0" fill="hold"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dissolve">
                                      <p:cBhvr>
                                        <p:cTn id="113" dur="500"/>
                                        <p:tgtEl>
                                          <p:spTgt spid="49"/>
                                        </p:tgtEl>
                                      </p:cBhvr>
                                    </p:animEffect>
                                  </p:childTnLst>
                                </p:cTn>
                              </p:par>
                            </p:childTnLst>
                          </p:cTn>
                        </p:par>
                        <p:par>
                          <p:cTn id="114" fill="hold">
                            <p:stCondLst>
                              <p:cond delay="500"/>
                            </p:stCondLst>
                            <p:childTnLst>
                              <p:par>
                                <p:cTn id="115" presetID="35" presetClass="emph" presetSubtype="0" repeatCount="2000" fill="hold" grpId="3" nodeType="afterEffect">
                                  <p:stCondLst>
                                    <p:cond delay="0"/>
                                  </p:stCondLst>
                                  <p:iterate type="lt">
                                    <p:tmPct val="0"/>
                                  </p:iterate>
                                  <p:childTnLst>
                                    <p:anim calcmode="discrete" valueType="str">
                                      <p:cBhvr>
                                        <p:cTn id="116" dur="1000" fill="hold"/>
                                        <p:tgtEl>
                                          <p:spTgt spid="18"/>
                                        </p:tgtEl>
                                        <p:attrNameLst>
                                          <p:attrName>style.visibility</p:attrName>
                                        </p:attrNameLst>
                                      </p:cBhvr>
                                      <p:tavLst>
                                        <p:tav tm="0">
                                          <p:val>
                                            <p:strVal val="hidden"/>
                                          </p:val>
                                        </p:tav>
                                        <p:tav tm="50000">
                                          <p:val>
                                            <p:strVal val="visible"/>
                                          </p:val>
                                        </p:tav>
                                      </p:tavLst>
                                    </p:anim>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nodeType="clickEffect">
                                  <p:stCondLst>
                                    <p:cond delay="0"/>
                                  </p:stCondLst>
                                  <p:childTnLst>
                                    <p:set>
                                      <p:cBhvr>
                                        <p:cTn id="120" dur="1" fill="hold">
                                          <p:stCondLst>
                                            <p:cond delay="0"/>
                                          </p:stCondLst>
                                        </p:cTn>
                                        <p:tgtEl>
                                          <p:spTgt spid="29"/>
                                        </p:tgtEl>
                                        <p:attrNameLst>
                                          <p:attrName>style.visibility</p:attrName>
                                        </p:attrNameLst>
                                      </p:cBhvr>
                                      <p:to>
                                        <p:strVal val="visible"/>
                                      </p:to>
                                    </p:set>
                                    <p:animEffect transition="in" filter="dissolve">
                                      <p:cBhvr>
                                        <p:cTn id="121" dur="500"/>
                                        <p:tgtEl>
                                          <p:spTgt spid="29"/>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65"/>
                                        </p:tgtEl>
                                        <p:attrNameLst>
                                          <p:attrName>style.visibility</p:attrName>
                                        </p:attrNameLst>
                                      </p:cBhvr>
                                      <p:to>
                                        <p:strVal val="visible"/>
                                      </p:to>
                                    </p:set>
                                    <p:animEffect transition="in" filter="dissolve">
                                      <p:cBhvr>
                                        <p:cTn id="124" dur="500"/>
                                        <p:tgtEl>
                                          <p:spTgt spid="65"/>
                                        </p:tgtEl>
                                      </p:cBhvr>
                                    </p:animEffect>
                                  </p:childTnLst>
                                </p:cTn>
                              </p:par>
                            </p:childTnLst>
                          </p:cTn>
                        </p:par>
                        <p:par>
                          <p:cTn id="125" fill="hold">
                            <p:stCondLst>
                              <p:cond delay="500"/>
                            </p:stCondLst>
                            <p:childTnLst>
                              <p:par>
                                <p:cTn id="126" presetID="9" presetClass="entr" presetSubtype="0" fill="hold" grpId="0" nodeType="afterEffect">
                                  <p:stCondLst>
                                    <p:cond delay="0"/>
                                  </p:stCondLst>
                                  <p:childTnLst>
                                    <p:set>
                                      <p:cBhvr>
                                        <p:cTn id="127" dur="1" fill="hold">
                                          <p:stCondLst>
                                            <p:cond delay="0"/>
                                          </p:stCondLst>
                                        </p:cTn>
                                        <p:tgtEl>
                                          <p:spTgt spid="14"/>
                                        </p:tgtEl>
                                        <p:attrNameLst>
                                          <p:attrName>style.visibility</p:attrName>
                                        </p:attrNameLst>
                                      </p:cBhvr>
                                      <p:to>
                                        <p:strVal val="visible"/>
                                      </p:to>
                                    </p:set>
                                    <p:animEffect transition="in" filter="dissolve">
                                      <p:cBhvr>
                                        <p:cTn id="128" dur="500"/>
                                        <p:tgtEl>
                                          <p:spTgt spid="14"/>
                                        </p:tgtEl>
                                      </p:cBhvr>
                                    </p:animEffect>
                                  </p:childTnLst>
                                </p:cTn>
                              </p:par>
                            </p:childTnLst>
                          </p:cTn>
                        </p:par>
                      </p:childTnLst>
                    </p:cTn>
                  </p:par>
                  <p:par>
                    <p:cTn id="129" fill="hold">
                      <p:stCondLst>
                        <p:cond delay="indefinite"/>
                      </p:stCondLst>
                      <p:childTnLst>
                        <p:par>
                          <p:cTn id="130" fill="hold">
                            <p:stCondLst>
                              <p:cond delay="0"/>
                            </p:stCondLst>
                            <p:childTnLst>
                              <p:par>
                                <p:cTn id="131" presetID="9" presetClass="entr" presetSubtype="0" fill="hold" grpId="0" nodeType="clickEffect">
                                  <p:stCondLst>
                                    <p:cond delay="0"/>
                                  </p:stCondLst>
                                  <p:childTnLst>
                                    <p:set>
                                      <p:cBhvr>
                                        <p:cTn id="132" dur="1" fill="hold">
                                          <p:stCondLst>
                                            <p:cond delay="0"/>
                                          </p:stCondLst>
                                        </p:cTn>
                                        <p:tgtEl>
                                          <p:spTgt spid="16"/>
                                        </p:tgtEl>
                                        <p:attrNameLst>
                                          <p:attrName>style.visibility</p:attrName>
                                        </p:attrNameLst>
                                      </p:cBhvr>
                                      <p:to>
                                        <p:strVal val="visible"/>
                                      </p:to>
                                    </p:set>
                                    <p:animEffect transition="in" filter="dissolve">
                                      <p:cBhvr>
                                        <p:cTn id="133" dur="500"/>
                                        <p:tgtEl>
                                          <p:spTgt spid="16"/>
                                        </p:tgtEl>
                                      </p:cBhvr>
                                    </p:animEffect>
                                  </p:childTnLst>
                                </p:cTn>
                              </p:par>
                              <p:par>
                                <p:cTn id="134" presetID="9" presetClass="entr" presetSubtype="0" fill="hold" nodeType="withEffect">
                                  <p:stCondLst>
                                    <p:cond delay="0"/>
                                  </p:stCondLst>
                                  <p:childTnLst>
                                    <p:set>
                                      <p:cBhvr>
                                        <p:cTn id="135" dur="1" fill="hold">
                                          <p:stCondLst>
                                            <p:cond delay="0"/>
                                          </p:stCondLst>
                                        </p:cTn>
                                        <p:tgtEl>
                                          <p:spTgt spid="30"/>
                                        </p:tgtEl>
                                        <p:attrNameLst>
                                          <p:attrName>style.visibility</p:attrName>
                                        </p:attrNameLst>
                                      </p:cBhvr>
                                      <p:to>
                                        <p:strVal val="visible"/>
                                      </p:to>
                                    </p:set>
                                    <p:animEffect transition="in" filter="dissolve">
                                      <p:cBhvr>
                                        <p:cTn id="136" dur="500"/>
                                        <p:tgtEl>
                                          <p:spTgt spid="30"/>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66"/>
                                        </p:tgtEl>
                                        <p:attrNameLst>
                                          <p:attrName>style.visibility</p:attrName>
                                        </p:attrNameLst>
                                      </p:cBhvr>
                                      <p:to>
                                        <p:strVal val="visible"/>
                                      </p:to>
                                    </p:set>
                                    <p:animEffect transition="in" filter="dissolve">
                                      <p:cBhvr>
                                        <p:cTn id="139" dur="500"/>
                                        <p:tgtEl>
                                          <p:spTgt spid="66"/>
                                        </p:tgtEl>
                                      </p:cBhvr>
                                    </p:animEffect>
                                  </p:childTnLst>
                                </p:cTn>
                              </p:par>
                            </p:childTnLst>
                          </p:cTn>
                        </p:par>
                      </p:childTnLst>
                    </p:cTn>
                  </p:par>
                  <p:par>
                    <p:cTn id="140" fill="hold">
                      <p:stCondLst>
                        <p:cond delay="indefinite"/>
                      </p:stCondLst>
                      <p:childTnLst>
                        <p:par>
                          <p:cTn id="141" fill="hold">
                            <p:stCondLst>
                              <p:cond delay="0"/>
                            </p:stCondLst>
                            <p:childTnLst>
                              <p:par>
                                <p:cTn id="142" presetID="9" presetClass="entr" presetSubtype="0" fill="hold" grpId="0" nodeType="clickEffect">
                                  <p:stCondLst>
                                    <p:cond delay="0"/>
                                  </p:stCondLst>
                                  <p:childTnLst>
                                    <p:set>
                                      <p:cBhvr>
                                        <p:cTn id="143" dur="1" fill="hold">
                                          <p:stCondLst>
                                            <p:cond delay="0"/>
                                          </p:stCondLst>
                                        </p:cTn>
                                        <p:tgtEl>
                                          <p:spTgt spid="17"/>
                                        </p:tgtEl>
                                        <p:attrNameLst>
                                          <p:attrName>style.visibility</p:attrName>
                                        </p:attrNameLst>
                                      </p:cBhvr>
                                      <p:to>
                                        <p:strVal val="visible"/>
                                      </p:to>
                                    </p:set>
                                    <p:animEffect transition="in" filter="dissolve">
                                      <p:cBhvr>
                                        <p:cTn id="144" dur="500"/>
                                        <p:tgtEl>
                                          <p:spTgt spid="17"/>
                                        </p:tgtEl>
                                      </p:cBhvr>
                                    </p:animEffect>
                                  </p:childTnLst>
                                </p:cTn>
                              </p:par>
                              <p:par>
                                <p:cTn id="145" presetID="9" presetClass="entr" presetSubtype="0" fill="hold" nodeType="withEffect">
                                  <p:stCondLst>
                                    <p:cond delay="0"/>
                                  </p:stCondLst>
                                  <p:childTnLst>
                                    <p:set>
                                      <p:cBhvr>
                                        <p:cTn id="146" dur="1" fill="hold">
                                          <p:stCondLst>
                                            <p:cond delay="0"/>
                                          </p:stCondLst>
                                        </p:cTn>
                                        <p:tgtEl>
                                          <p:spTgt spid="51"/>
                                        </p:tgtEl>
                                        <p:attrNameLst>
                                          <p:attrName>style.visibility</p:attrName>
                                        </p:attrNameLst>
                                      </p:cBhvr>
                                      <p:to>
                                        <p:strVal val="visible"/>
                                      </p:to>
                                    </p:set>
                                    <p:animEffect transition="in" filter="dissolve">
                                      <p:cBhvr>
                                        <p:cTn id="147" dur="500"/>
                                        <p:tgtEl>
                                          <p:spTgt spid="51"/>
                                        </p:tgtEl>
                                      </p:cBhvr>
                                    </p:animEffect>
                                  </p:childTnLst>
                                </p:cTn>
                              </p:par>
                              <p:par>
                                <p:cTn id="148" presetID="9" presetClass="entr" presetSubtype="0" fill="hold"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dissolve">
                                      <p:cBhvr>
                                        <p:cTn id="150" dur="500"/>
                                        <p:tgtEl>
                                          <p:spTgt spid="52"/>
                                        </p:tgtEl>
                                      </p:cBhvr>
                                    </p:animEffect>
                                  </p:childTnLst>
                                </p:cTn>
                              </p:par>
                              <p:par>
                                <p:cTn id="151" presetID="9"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animEffect transition="in" filter="dissolve">
                                      <p:cBhvr>
                                        <p:cTn id="15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8" grpId="1" animBg="1"/>
      <p:bldP spid="18" grpId="2" animBg="1"/>
      <p:bldP spid="18" grpId="3" animBg="1"/>
      <p:bldP spid="53" grpId="0"/>
      <p:bldP spid="54" grpId="0"/>
      <p:bldP spid="57" grpId="0"/>
      <p:bldP spid="58" grpId="0"/>
      <p:bldP spid="59" grpId="0"/>
      <p:bldP spid="60" grpId="0"/>
      <p:bldP spid="61" grpId="0"/>
      <p:bldP spid="62" grpId="0"/>
      <p:bldP spid="63" grpId="0"/>
      <p:bldP spid="64" grpId="0"/>
      <p:bldP spid="65" grpId="0"/>
      <p:bldP spid="6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940B-EBE5-C5D6-6298-C63C42326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0F4BC-69DD-0553-D2D6-1DB8D9A0EBDA}"/>
              </a:ext>
            </a:extLst>
          </p:cNvPr>
          <p:cNvSpPr>
            <a:spLocks noGrp="1"/>
          </p:cNvSpPr>
          <p:nvPr>
            <p:ph type="title"/>
          </p:nvPr>
        </p:nvSpPr>
        <p:spPr/>
        <p:txBody>
          <a:bodyPr/>
          <a:lstStyle/>
          <a:p>
            <a:r>
              <a:rPr lang="en-PK" dirty="0"/>
              <a:t>Cryptocurrencies: A blockchain use case</a:t>
            </a:r>
          </a:p>
        </p:txBody>
      </p:sp>
      <p:sp>
        <p:nvSpPr>
          <p:cNvPr id="3" name="Content Placeholder 2">
            <a:extLst>
              <a:ext uri="{FF2B5EF4-FFF2-40B4-BE49-F238E27FC236}">
                <a16:creationId xmlns:a16="http://schemas.microsoft.com/office/drawing/2014/main" id="{D05434C1-9161-166B-CFFF-47CFF0288563}"/>
              </a:ext>
            </a:extLst>
          </p:cNvPr>
          <p:cNvSpPr>
            <a:spLocks noGrp="1"/>
          </p:cNvSpPr>
          <p:nvPr>
            <p:ph idx="1"/>
          </p:nvPr>
        </p:nvSpPr>
        <p:spPr/>
        <p:txBody>
          <a:bodyPr/>
          <a:lstStyle/>
          <a:p>
            <a:r>
              <a:rPr lang="en-GB" dirty="0"/>
              <a:t>The r</a:t>
            </a:r>
            <a:r>
              <a:rPr lang="en-PK" dirty="0"/>
              <a:t>elation between Bitcoin and Blockchain?</a:t>
            </a:r>
          </a:p>
          <a:p>
            <a:r>
              <a:rPr lang="en-PK" dirty="0">
                <a:solidFill>
                  <a:srgbClr val="0432FF"/>
                </a:solidFill>
              </a:rPr>
              <a:t>What do miners “mine”? – (</a:t>
            </a:r>
            <a:r>
              <a:rPr lang="en-GB" dirty="0">
                <a:solidFill>
                  <a:srgbClr val="0432FF"/>
                </a:solidFill>
              </a:rPr>
              <a:t>I</a:t>
            </a:r>
            <a:r>
              <a:rPr lang="en-PK" dirty="0">
                <a:solidFill>
                  <a:srgbClr val="0432FF"/>
                </a:solidFill>
              </a:rPr>
              <a:t>s it like GOLD mining?)</a:t>
            </a:r>
          </a:p>
          <a:p>
            <a:pPr lvl="1"/>
            <a:r>
              <a:rPr lang="en-PK" dirty="0">
                <a:solidFill>
                  <a:srgbClr val="308D3E"/>
                </a:solidFill>
              </a:rPr>
              <a:t>Miners mine (i.e.,  </a:t>
            </a:r>
            <a:r>
              <a:rPr lang="en-PK" b="1" u="sng" dirty="0">
                <a:solidFill>
                  <a:srgbClr val="308D3E"/>
                </a:solidFill>
              </a:rPr>
              <a:t>create</a:t>
            </a:r>
            <a:r>
              <a:rPr lang="en-PK" dirty="0">
                <a:solidFill>
                  <a:srgbClr val="308D3E"/>
                </a:solidFill>
              </a:rPr>
              <a:t> and </a:t>
            </a:r>
            <a:r>
              <a:rPr lang="en-PK" b="1" u="sng" dirty="0">
                <a:solidFill>
                  <a:srgbClr val="308D3E"/>
                </a:solidFill>
              </a:rPr>
              <a:t>add</a:t>
            </a:r>
            <a:r>
              <a:rPr lang="en-PK" dirty="0">
                <a:solidFill>
                  <a:srgbClr val="308D3E"/>
                </a:solidFill>
              </a:rPr>
              <a:t>) blocks in a blockchain</a:t>
            </a:r>
          </a:p>
          <a:p>
            <a:r>
              <a:rPr lang="en-PK" dirty="0">
                <a:solidFill>
                  <a:srgbClr val="0432FF"/>
                </a:solidFill>
              </a:rPr>
              <a:t>What is a bitcoin (BTC), then?</a:t>
            </a:r>
          </a:p>
          <a:p>
            <a:pPr lvl="1"/>
            <a:r>
              <a:rPr lang="en-PK" dirty="0">
                <a:solidFill>
                  <a:srgbClr val="308D3E"/>
                </a:solidFill>
              </a:rPr>
              <a:t>It is a digital (crypto)currency – tradeable on it</a:t>
            </a:r>
            <a:r>
              <a:rPr lang="en-GB" dirty="0">
                <a:solidFill>
                  <a:srgbClr val="308D3E"/>
                </a:solidFill>
              </a:rPr>
              <a:t>s</a:t>
            </a:r>
            <a:r>
              <a:rPr lang="en-PK" dirty="0">
                <a:solidFill>
                  <a:srgbClr val="308D3E"/>
                </a:solidFill>
              </a:rPr>
              <a:t> own blockchain</a:t>
            </a:r>
          </a:p>
          <a:p>
            <a:pPr lvl="1"/>
            <a:r>
              <a:rPr lang="en-GB" dirty="0">
                <a:solidFill>
                  <a:srgbClr val="308D3E"/>
                </a:solidFill>
              </a:rPr>
              <a:t>V</a:t>
            </a:r>
            <a:r>
              <a:rPr lang="en-PK" dirty="0">
                <a:solidFill>
                  <a:srgbClr val="308D3E"/>
                </a:solidFill>
              </a:rPr>
              <a:t>ia transactions recorded on that blockchain</a:t>
            </a:r>
          </a:p>
          <a:p>
            <a:r>
              <a:rPr lang="en-PK" dirty="0">
                <a:solidFill>
                  <a:srgbClr val="7030A0"/>
                </a:solidFill>
              </a:rPr>
              <a:t>The Bitcoin blockchain </a:t>
            </a:r>
            <a:r>
              <a:rPr lang="en-PK" b="1" i="1" dirty="0">
                <a:solidFill>
                  <a:srgbClr val="7030A0"/>
                </a:solidFill>
              </a:rPr>
              <a:t>rewards</a:t>
            </a:r>
            <a:r>
              <a:rPr lang="en-PK" dirty="0">
                <a:solidFill>
                  <a:srgbClr val="7030A0"/>
                </a:solidFill>
              </a:rPr>
              <a:t> miners with Bitcoins</a:t>
            </a:r>
          </a:p>
          <a:p>
            <a:pPr lvl="1"/>
            <a:r>
              <a:rPr lang="en-PK" dirty="0">
                <a:solidFill>
                  <a:srgbClr val="C00000"/>
                </a:solidFill>
              </a:rPr>
              <a:t>When they create a new block that is accepted via consensus</a:t>
            </a:r>
          </a:p>
          <a:p>
            <a:r>
              <a:rPr lang="en-PK" dirty="0">
                <a:solidFill>
                  <a:srgbClr val="7030A0"/>
                </a:solidFill>
              </a:rPr>
              <a:t>Where do those new Bitcoins come from? – the protocol</a:t>
            </a:r>
          </a:p>
          <a:p>
            <a:pPr lvl="1"/>
            <a:r>
              <a:rPr lang="en-PK" dirty="0">
                <a:solidFill>
                  <a:srgbClr val="C00000"/>
                </a:solidFill>
              </a:rPr>
              <a:t>T</a:t>
            </a:r>
            <a:r>
              <a:rPr lang="en-GB" dirty="0">
                <a:solidFill>
                  <a:srgbClr val="C00000"/>
                </a:solidFill>
              </a:rPr>
              <a:t>he</a:t>
            </a:r>
            <a:r>
              <a:rPr lang="en-PK" dirty="0">
                <a:solidFill>
                  <a:srgbClr val="C00000"/>
                </a:solidFill>
              </a:rPr>
              <a:t> system simply writes a transaction on </a:t>
            </a:r>
            <a:r>
              <a:rPr lang="en-GB" dirty="0">
                <a:solidFill>
                  <a:srgbClr val="C00000"/>
                </a:solidFill>
              </a:rPr>
              <a:t>the </a:t>
            </a:r>
            <a:r>
              <a:rPr lang="en-PK" dirty="0">
                <a:solidFill>
                  <a:srgbClr val="C00000"/>
                </a:solidFill>
              </a:rPr>
              <a:t>blockchain</a:t>
            </a:r>
          </a:p>
        </p:txBody>
      </p:sp>
      <p:sp>
        <p:nvSpPr>
          <p:cNvPr id="5" name="Slide Number Placeholder 4">
            <a:extLst>
              <a:ext uri="{FF2B5EF4-FFF2-40B4-BE49-F238E27FC236}">
                <a16:creationId xmlns:a16="http://schemas.microsoft.com/office/drawing/2014/main" id="{8B0A78B9-53F5-E29B-501D-E28664E50D5F}"/>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85084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7E309-C84D-FAA0-AA7D-AE073347C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7455E-1823-3672-87E6-93685323EB2B}"/>
              </a:ext>
            </a:extLst>
          </p:cNvPr>
          <p:cNvSpPr>
            <a:spLocks noGrp="1"/>
          </p:cNvSpPr>
          <p:nvPr>
            <p:ph type="title"/>
          </p:nvPr>
        </p:nvSpPr>
        <p:spPr/>
        <p:txBody>
          <a:bodyPr/>
          <a:lstStyle/>
          <a:p>
            <a:r>
              <a:rPr lang="en-PK" dirty="0">
                <a:latin typeface="+mn-lt"/>
              </a:rPr>
              <a:t>Lecture 04</a:t>
            </a:r>
            <a:br>
              <a:rPr lang="en-PK" dirty="0">
                <a:latin typeface="+mn-lt"/>
              </a:rPr>
            </a:br>
            <a:r>
              <a:rPr lang="en-US" dirty="0">
                <a:latin typeface="+mn-lt"/>
              </a:rPr>
              <a:t>Thursday</a:t>
            </a:r>
            <a:r>
              <a:rPr lang="en-PK" dirty="0">
                <a:latin typeface="+mn-lt"/>
              </a:rPr>
              <a:t>, </a:t>
            </a:r>
            <a:r>
              <a:rPr lang="en-US" dirty="0">
                <a:latin typeface="+mn-lt"/>
              </a:rPr>
              <a:t>Jan</a:t>
            </a:r>
            <a:r>
              <a:rPr lang="en-PK" dirty="0">
                <a:latin typeface="+mn-lt"/>
              </a:rPr>
              <a:t> </a:t>
            </a:r>
            <a:r>
              <a:rPr lang="en-US" dirty="0">
                <a:latin typeface="+mn-lt"/>
              </a:rPr>
              <a:t>29</a:t>
            </a:r>
            <a:r>
              <a:rPr lang="en-PK" dirty="0">
                <a:latin typeface="+mn-lt"/>
              </a:rPr>
              <a:t>, 202</a:t>
            </a:r>
            <a:r>
              <a:rPr lang="en-US" dirty="0">
                <a:latin typeface="+mn-lt"/>
              </a:rPr>
              <a:t>6</a:t>
            </a:r>
            <a:endParaRPr lang="en-PK" dirty="0">
              <a:latin typeface="+mn-lt"/>
            </a:endParaRPr>
          </a:p>
        </p:txBody>
      </p:sp>
      <p:sp>
        <p:nvSpPr>
          <p:cNvPr id="3" name="Text Placeholder 2">
            <a:extLst>
              <a:ext uri="{FF2B5EF4-FFF2-40B4-BE49-F238E27FC236}">
                <a16:creationId xmlns:a16="http://schemas.microsoft.com/office/drawing/2014/main" id="{371702F2-489B-72A4-6F75-07B8036598F5}"/>
              </a:ext>
            </a:extLst>
          </p:cNvPr>
          <p:cNvSpPr>
            <a:spLocks noGrp="1"/>
          </p:cNvSpPr>
          <p:nvPr>
            <p:ph type="body" idx="1"/>
          </p:nvPr>
        </p:nvSpPr>
        <p:spPr/>
        <p:txBody>
          <a:bodyPr/>
          <a:lstStyle/>
          <a:p>
            <a:endParaRPr lang="en-PK"/>
          </a:p>
        </p:txBody>
      </p:sp>
      <p:sp>
        <p:nvSpPr>
          <p:cNvPr id="4" name="Slide Number Placeholder 3">
            <a:extLst>
              <a:ext uri="{FF2B5EF4-FFF2-40B4-BE49-F238E27FC236}">
                <a16:creationId xmlns:a16="http://schemas.microsoft.com/office/drawing/2014/main" id="{2984C83B-34F4-8203-7DFB-6D2CDA4D733E}"/>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2518043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146B6-15E7-81DC-3A2D-3E6ABE2A30E9}"/>
              </a:ext>
            </a:extLst>
          </p:cNvPr>
          <p:cNvSpPr>
            <a:spLocks noGrp="1"/>
          </p:cNvSpPr>
          <p:nvPr>
            <p:ph type="title"/>
          </p:nvPr>
        </p:nvSpPr>
        <p:spPr/>
        <p:txBody>
          <a:bodyPr/>
          <a:lstStyle/>
          <a:p>
            <a:r>
              <a:rPr lang="en-PK" dirty="0"/>
              <a:t>Bitcoin Transaction: Step by Step</a:t>
            </a:r>
          </a:p>
        </p:txBody>
      </p:sp>
      <p:sp>
        <p:nvSpPr>
          <p:cNvPr id="3" name="Content Placeholder 2">
            <a:extLst>
              <a:ext uri="{FF2B5EF4-FFF2-40B4-BE49-F238E27FC236}">
                <a16:creationId xmlns:a16="http://schemas.microsoft.com/office/drawing/2014/main" id="{3EC7C873-1C63-78EA-1CDB-E0C5981E58C3}"/>
              </a:ext>
            </a:extLst>
          </p:cNvPr>
          <p:cNvSpPr>
            <a:spLocks noGrp="1"/>
          </p:cNvSpPr>
          <p:nvPr>
            <p:ph idx="1"/>
          </p:nvPr>
        </p:nvSpPr>
        <p:spPr/>
        <p:txBody>
          <a:bodyPr>
            <a:normAutofit fontScale="92500" lnSpcReduction="10000"/>
          </a:bodyPr>
          <a:lstStyle/>
          <a:p>
            <a:r>
              <a:rPr lang="en-US" dirty="0">
                <a:solidFill>
                  <a:srgbClr val="C00000"/>
                </a:solidFill>
              </a:rPr>
              <a:t>User initiates the transaction</a:t>
            </a:r>
          </a:p>
          <a:p>
            <a:pPr lvl="1"/>
            <a:r>
              <a:rPr lang="en-US" dirty="0"/>
              <a:t>Typically, from their wallet or crypto exchange application</a:t>
            </a:r>
          </a:p>
          <a:p>
            <a:pPr lvl="1"/>
            <a:endParaRPr lang="en-US" dirty="0"/>
          </a:p>
          <a:p>
            <a:r>
              <a:rPr lang="en-US" dirty="0">
                <a:solidFill>
                  <a:srgbClr val="C00000"/>
                </a:solidFill>
              </a:rPr>
              <a:t>Transaction broadcast for “execution”</a:t>
            </a:r>
          </a:p>
          <a:p>
            <a:pPr lvl="1"/>
            <a:endParaRPr lang="en-US" dirty="0"/>
          </a:p>
          <a:p>
            <a:r>
              <a:rPr lang="en-US" dirty="0"/>
              <a:t>Placed in a </a:t>
            </a:r>
            <a:r>
              <a:rPr lang="en-US" dirty="0">
                <a:solidFill>
                  <a:srgbClr val="C00000"/>
                </a:solidFill>
              </a:rPr>
              <a:t>pool</a:t>
            </a:r>
            <a:r>
              <a:rPr lang="en-US" dirty="0"/>
              <a:t> of “unconfirmed transactions”</a:t>
            </a:r>
          </a:p>
          <a:p>
            <a:pPr lvl="1"/>
            <a:r>
              <a:rPr lang="en-US" dirty="0">
                <a:solidFill>
                  <a:srgbClr val="308D3E"/>
                </a:solidFill>
              </a:rPr>
              <a:t>Multiple local pools rather than one giant pool</a:t>
            </a:r>
          </a:p>
          <a:p>
            <a:r>
              <a:rPr lang="en-US" dirty="0">
                <a:solidFill>
                  <a:srgbClr val="7030A0"/>
                </a:solidFill>
              </a:rPr>
              <a:t>Waiting to be picked up by “Miners” / nodes</a:t>
            </a:r>
          </a:p>
          <a:p>
            <a:pPr lvl="1"/>
            <a:endParaRPr lang="en-US" dirty="0"/>
          </a:p>
          <a:p>
            <a:r>
              <a:rPr lang="en-US" dirty="0">
                <a:solidFill>
                  <a:srgbClr val="24469D"/>
                </a:solidFill>
              </a:rPr>
              <a:t>Why will miners pick up? Incentive?</a:t>
            </a:r>
          </a:p>
          <a:p>
            <a:r>
              <a:rPr lang="en-US" dirty="0">
                <a:solidFill>
                  <a:srgbClr val="308D3E"/>
                </a:solidFill>
              </a:rPr>
              <a:t>Reward for mining (Subsidy rewards + Transaction fees)</a:t>
            </a:r>
          </a:p>
        </p:txBody>
      </p:sp>
      <p:sp>
        <p:nvSpPr>
          <p:cNvPr id="4" name="Slide Number Placeholder 3">
            <a:extLst>
              <a:ext uri="{FF2B5EF4-FFF2-40B4-BE49-F238E27FC236}">
                <a16:creationId xmlns:a16="http://schemas.microsoft.com/office/drawing/2014/main" id="{0D75DFAD-70EC-4673-8C9A-D5103DE810F3}"/>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4008859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dissolve">
                                      <p:cBhvr>
                                        <p:cTn id="21" dur="500"/>
                                        <p:tgtEl>
                                          <p:spTgt spid="3">
                                            <p:txEl>
                                              <p:pRg st="5" end="5"/>
                                            </p:txEl>
                                          </p:spTgt>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dissolv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dissolv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dissolve">
                                      <p:cBhvr>
                                        <p:cTn id="35" dur="500"/>
                                        <p:tgtEl>
                                          <p:spTgt spid="3">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dissolve">
                                      <p:cBhvr>
                                        <p:cTn id="4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0C245-20E8-CDB9-A0EF-5C39814E4178}"/>
              </a:ext>
            </a:extLst>
          </p:cNvPr>
          <p:cNvSpPr>
            <a:spLocks noGrp="1"/>
          </p:cNvSpPr>
          <p:nvPr>
            <p:ph type="title"/>
          </p:nvPr>
        </p:nvSpPr>
        <p:spPr/>
        <p:txBody>
          <a:bodyPr/>
          <a:lstStyle/>
          <a:p>
            <a:r>
              <a:rPr lang="en-PK" dirty="0"/>
              <a:t>Bitcoin Transaction: Step by Step</a:t>
            </a:r>
          </a:p>
        </p:txBody>
      </p:sp>
      <p:sp>
        <p:nvSpPr>
          <p:cNvPr id="3" name="Content Placeholder 2">
            <a:extLst>
              <a:ext uri="{FF2B5EF4-FFF2-40B4-BE49-F238E27FC236}">
                <a16:creationId xmlns:a16="http://schemas.microsoft.com/office/drawing/2014/main" id="{6B3F0014-74D4-3BCF-CF8C-562561171F88}"/>
              </a:ext>
            </a:extLst>
          </p:cNvPr>
          <p:cNvSpPr>
            <a:spLocks noGrp="1"/>
          </p:cNvSpPr>
          <p:nvPr>
            <p:ph idx="1"/>
          </p:nvPr>
        </p:nvSpPr>
        <p:spPr/>
        <p:txBody>
          <a:bodyPr/>
          <a:lstStyle/>
          <a:p>
            <a:r>
              <a:rPr lang="en-US" dirty="0">
                <a:solidFill>
                  <a:srgbClr val="C00000"/>
                </a:solidFill>
              </a:rPr>
              <a:t>Miner(s) pick up unconfirmed transaction(s)</a:t>
            </a:r>
          </a:p>
          <a:p>
            <a:pPr lvl="1"/>
            <a:r>
              <a:rPr lang="en-US" dirty="0">
                <a:solidFill>
                  <a:srgbClr val="7030A0"/>
                </a:solidFill>
              </a:rPr>
              <a:t>Many-to-many paradigm</a:t>
            </a:r>
          </a:p>
          <a:p>
            <a:pPr lvl="2"/>
            <a:r>
              <a:rPr lang="en-US" dirty="0">
                <a:solidFill>
                  <a:srgbClr val="308D3E"/>
                </a:solidFill>
              </a:rPr>
              <a:t>One transaction may be picked by multiple miners</a:t>
            </a:r>
          </a:p>
          <a:p>
            <a:pPr lvl="2"/>
            <a:r>
              <a:rPr lang="en-US" dirty="0">
                <a:solidFill>
                  <a:srgbClr val="308D3E"/>
                </a:solidFill>
              </a:rPr>
              <a:t>A miner may pick multiple transactions to put those in one “block”</a:t>
            </a:r>
            <a:br>
              <a:rPr lang="en-US" dirty="0">
                <a:solidFill>
                  <a:srgbClr val="308D3E"/>
                </a:solidFill>
              </a:rPr>
            </a:br>
            <a:r>
              <a:rPr lang="en-US" dirty="0">
                <a:solidFill>
                  <a:srgbClr val="308D3E"/>
                </a:solidFill>
              </a:rPr>
              <a:t>(max ~1MB on the Bitcoin blockchain)</a:t>
            </a:r>
          </a:p>
          <a:p>
            <a:pPr lvl="1"/>
            <a:r>
              <a:rPr lang="en-US" dirty="0">
                <a:solidFill>
                  <a:srgbClr val="7030A0"/>
                </a:solidFill>
              </a:rPr>
              <a:t>Blocks are created and stored by the miners/nodes</a:t>
            </a:r>
          </a:p>
          <a:p>
            <a:pPr lvl="3"/>
            <a:endParaRPr lang="en-US" dirty="0"/>
          </a:p>
          <a:p>
            <a:r>
              <a:rPr lang="en-US" dirty="0">
                <a:solidFill>
                  <a:srgbClr val="C00000"/>
                </a:solidFill>
              </a:rPr>
              <a:t>Miners solve the block for an eligible hash (</a:t>
            </a:r>
            <a:r>
              <a:rPr lang="en-US" dirty="0"/>
              <a:t>candidate record</a:t>
            </a:r>
            <a:r>
              <a:rPr lang="en-US" dirty="0">
                <a:solidFill>
                  <a:srgbClr val="C00000"/>
                </a:solidFill>
              </a:rPr>
              <a:t>)</a:t>
            </a:r>
          </a:p>
          <a:p>
            <a:pPr lvl="1"/>
            <a:r>
              <a:rPr lang="en-US" dirty="0">
                <a:solidFill>
                  <a:srgbClr val="24469D"/>
                </a:solidFill>
              </a:rPr>
              <a:t>Search over the nonce space</a:t>
            </a:r>
          </a:p>
          <a:p>
            <a:pPr lvl="1"/>
            <a:r>
              <a:rPr lang="en-US" dirty="0">
                <a:solidFill>
                  <a:srgbClr val="24469D"/>
                </a:solidFill>
              </a:rPr>
              <a:t>An eligible hash (</a:t>
            </a:r>
            <a:r>
              <a:rPr lang="en-US" dirty="0">
                <a:solidFill>
                  <a:srgbClr val="C00000"/>
                </a:solidFill>
              </a:rPr>
              <a:t>hard to find,</a:t>
            </a:r>
            <a:r>
              <a:rPr lang="en-US" dirty="0">
                <a:solidFill>
                  <a:srgbClr val="24469D"/>
                </a:solidFill>
              </a:rPr>
              <a:t> </a:t>
            </a:r>
            <a:r>
              <a:rPr lang="en-US" dirty="0">
                <a:solidFill>
                  <a:srgbClr val="308D3E"/>
                </a:solidFill>
              </a:rPr>
              <a:t>easy to verify</a:t>
            </a:r>
            <a:r>
              <a:rPr lang="en-US" dirty="0">
                <a:solidFill>
                  <a:srgbClr val="24469D"/>
                </a:solidFill>
              </a:rPr>
              <a:t>)</a:t>
            </a:r>
          </a:p>
          <a:p>
            <a:pPr lvl="1"/>
            <a:r>
              <a:rPr lang="en-US" dirty="0">
                <a:solidFill>
                  <a:srgbClr val="24469D"/>
                </a:solidFill>
              </a:rPr>
              <a:t>A correct hash is the Proof of work</a:t>
            </a:r>
          </a:p>
        </p:txBody>
      </p:sp>
      <p:sp>
        <p:nvSpPr>
          <p:cNvPr id="4" name="Slide Number Placeholder 3">
            <a:extLst>
              <a:ext uri="{FF2B5EF4-FFF2-40B4-BE49-F238E27FC236}">
                <a16:creationId xmlns:a16="http://schemas.microsoft.com/office/drawing/2014/main" id="{C1B3A792-66E4-45D7-0E7E-DA51B3A8C776}"/>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137539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dissolv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dissolv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dissolve">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dissolve">
                                      <p:cBhvr>
                                        <p:cTn id="4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D6838-765E-4207-B9A2-E7D1DC440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D8013-6EB8-8FE4-32F6-55187028CCD3}"/>
              </a:ext>
            </a:extLst>
          </p:cNvPr>
          <p:cNvSpPr>
            <a:spLocks noGrp="1"/>
          </p:cNvSpPr>
          <p:nvPr>
            <p:ph type="title"/>
          </p:nvPr>
        </p:nvSpPr>
        <p:spPr/>
        <p:txBody>
          <a:bodyPr/>
          <a:lstStyle/>
          <a:p>
            <a:r>
              <a:rPr lang="en-PK" dirty="0"/>
              <a:t>Bitcoin Transaction: Step by Step</a:t>
            </a:r>
          </a:p>
        </p:txBody>
      </p:sp>
      <p:sp>
        <p:nvSpPr>
          <p:cNvPr id="3" name="Content Placeholder 2">
            <a:extLst>
              <a:ext uri="{FF2B5EF4-FFF2-40B4-BE49-F238E27FC236}">
                <a16:creationId xmlns:a16="http://schemas.microsoft.com/office/drawing/2014/main" id="{9869F409-CDE8-8726-85FB-A647C76A7297}"/>
              </a:ext>
            </a:extLst>
          </p:cNvPr>
          <p:cNvSpPr>
            <a:spLocks noGrp="1"/>
          </p:cNvSpPr>
          <p:nvPr>
            <p:ph idx="1"/>
          </p:nvPr>
        </p:nvSpPr>
        <p:spPr/>
        <p:txBody>
          <a:bodyPr>
            <a:normAutofit fontScale="92500"/>
          </a:bodyPr>
          <a:lstStyle/>
          <a:p>
            <a:r>
              <a:rPr lang="en-US" dirty="0">
                <a:solidFill>
                  <a:srgbClr val="C00000"/>
                </a:solidFill>
              </a:rPr>
              <a:t>Broadcasting the solution</a:t>
            </a:r>
          </a:p>
          <a:p>
            <a:pPr lvl="1"/>
            <a:r>
              <a:rPr lang="en-US" dirty="0"/>
              <a:t>A successful miner broadcasts the solution (</a:t>
            </a:r>
            <a:r>
              <a:rPr lang="en-US" dirty="0" err="1"/>
              <a:t>block+hash</a:t>
            </a:r>
            <a:r>
              <a:rPr lang="en-US" dirty="0"/>
              <a:t>)</a:t>
            </a:r>
          </a:p>
          <a:p>
            <a:r>
              <a:rPr lang="en-US" dirty="0">
                <a:solidFill>
                  <a:srgbClr val="C00000"/>
                </a:solidFill>
              </a:rPr>
              <a:t>Signature verification</a:t>
            </a:r>
          </a:p>
          <a:p>
            <a:pPr lvl="1"/>
            <a:r>
              <a:rPr lang="en-US" dirty="0">
                <a:solidFill>
                  <a:srgbClr val="308D3E"/>
                </a:solidFill>
              </a:rPr>
              <a:t>Other miners verify the hash (easy!)</a:t>
            </a:r>
          </a:p>
          <a:p>
            <a:pPr lvl="1"/>
            <a:r>
              <a:rPr lang="en-US" dirty="0">
                <a:solidFill>
                  <a:srgbClr val="7030A0"/>
                </a:solidFill>
              </a:rPr>
              <a:t>Consensus algorithm to agree</a:t>
            </a:r>
          </a:p>
          <a:p>
            <a:pPr lvl="1"/>
            <a:r>
              <a:rPr lang="en-US" dirty="0"/>
              <a:t>Block added to the blockchain (to their own journal, in fact)</a:t>
            </a:r>
          </a:p>
          <a:p>
            <a:r>
              <a:rPr lang="en-US" dirty="0">
                <a:solidFill>
                  <a:srgbClr val="C00000"/>
                </a:solidFill>
              </a:rPr>
              <a:t>Confirmation</a:t>
            </a:r>
          </a:p>
          <a:p>
            <a:pPr lvl="1"/>
            <a:r>
              <a:rPr lang="en-US" dirty="0">
                <a:solidFill>
                  <a:srgbClr val="7030A0"/>
                </a:solidFill>
              </a:rPr>
              <a:t>Additional blocks added after this one</a:t>
            </a:r>
          </a:p>
          <a:p>
            <a:pPr lvl="1"/>
            <a:r>
              <a:rPr lang="en-US" dirty="0">
                <a:solidFill>
                  <a:srgbClr val="308D3E"/>
                </a:solidFill>
              </a:rPr>
              <a:t>Subsidy rewards </a:t>
            </a:r>
            <a:r>
              <a:rPr lang="en-US" dirty="0"/>
              <a:t>– available to spend after 100 confirmations</a:t>
            </a:r>
          </a:p>
          <a:p>
            <a:r>
              <a:rPr lang="en-US" dirty="0">
                <a:solidFill>
                  <a:srgbClr val="C00000"/>
                </a:solidFill>
              </a:rPr>
              <a:t>On receiving a block, </a:t>
            </a:r>
            <a:r>
              <a:rPr lang="en-US" dirty="0"/>
              <a:t>Miners must </a:t>
            </a:r>
            <a:r>
              <a:rPr lang="en-US" b="1" i="1" dirty="0">
                <a:solidFill>
                  <a:srgbClr val="7030A0"/>
                </a:solidFill>
              </a:rPr>
              <a:t>start afresh </a:t>
            </a:r>
            <a:r>
              <a:rPr lang="en-US" dirty="0"/>
              <a:t>on a </a:t>
            </a:r>
            <a:r>
              <a:rPr lang="en-US" b="1" i="1" dirty="0">
                <a:solidFill>
                  <a:srgbClr val="308D3E"/>
                </a:solidFill>
              </a:rPr>
              <a:t>new block </a:t>
            </a:r>
            <a:r>
              <a:rPr lang="en-US" dirty="0"/>
              <a:t>using the hash of the latest-found block as part of the data. Why?</a:t>
            </a:r>
          </a:p>
        </p:txBody>
      </p:sp>
      <p:sp>
        <p:nvSpPr>
          <p:cNvPr id="4" name="Slide Number Placeholder 3">
            <a:extLst>
              <a:ext uri="{FF2B5EF4-FFF2-40B4-BE49-F238E27FC236}">
                <a16:creationId xmlns:a16="http://schemas.microsoft.com/office/drawing/2014/main" id="{E6E002B1-0530-ECC6-1B6A-78A46C07382B}"/>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382486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dissolv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dissolv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dissolv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dissolv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dissolv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290D-C8B3-A22B-0793-75735E25755C}"/>
              </a:ext>
            </a:extLst>
          </p:cNvPr>
          <p:cNvSpPr>
            <a:spLocks noGrp="1"/>
          </p:cNvSpPr>
          <p:nvPr>
            <p:ph type="title"/>
          </p:nvPr>
        </p:nvSpPr>
        <p:spPr/>
        <p:txBody>
          <a:bodyPr/>
          <a:lstStyle/>
          <a:p>
            <a:r>
              <a:rPr lang="en-PK" dirty="0"/>
              <a:t>Bitcoin: Ownership and Transactions</a:t>
            </a:r>
          </a:p>
        </p:txBody>
      </p:sp>
      <p:sp>
        <p:nvSpPr>
          <p:cNvPr id="3" name="Content Placeholder 2">
            <a:extLst>
              <a:ext uri="{FF2B5EF4-FFF2-40B4-BE49-F238E27FC236}">
                <a16:creationId xmlns:a16="http://schemas.microsoft.com/office/drawing/2014/main" id="{67382ED9-F123-CEBC-BCEF-53F65842C277}"/>
              </a:ext>
            </a:extLst>
          </p:cNvPr>
          <p:cNvSpPr>
            <a:spLocks noGrp="1"/>
          </p:cNvSpPr>
          <p:nvPr>
            <p:ph idx="1"/>
          </p:nvPr>
        </p:nvSpPr>
        <p:spPr/>
        <p:txBody>
          <a:bodyPr>
            <a:normAutofit/>
          </a:bodyPr>
          <a:lstStyle/>
          <a:p>
            <a:r>
              <a:rPr lang="en-GB" dirty="0"/>
              <a:t>The cryptocurrency (BTC) is always </a:t>
            </a:r>
            <a:r>
              <a:rPr lang="en-GB" b="1" i="1" dirty="0"/>
              <a:t>locked</a:t>
            </a:r>
          </a:p>
          <a:p>
            <a:pPr lvl="1"/>
            <a:r>
              <a:rPr lang="en-GB" b="1" dirty="0">
                <a:solidFill>
                  <a:srgbClr val="308D3E"/>
                </a:solidFill>
              </a:rPr>
              <a:t>To the owner</a:t>
            </a:r>
          </a:p>
          <a:p>
            <a:pPr lvl="1"/>
            <a:endParaRPr lang="en-GB" b="1" dirty="0">
              <a:solidFill>
                <a:srgbClr val="C00000"/>
              </a:solidFill>
            </a:endParaRPr>
          </a:p>
          <a:p>
            <a:r>
              <a:rPr lang="en-GB" b="1" dirty="0">
                <a:solidFill>
                  <a:srgbClr val="C00000"/>
                </a:solidFill>
              </a:rPr>
              <a:t>Transaction</a:t>
            </a:r>
            <a:endParaRPr lang="en-GB" dirty="0">
              <a:solidFill>
                <a:srgbClr val="7030A0"/>
              </a:solidFill>
            </a:endParaRPr>
          </a:p>
          <a:p>
            <a:pPr lvl="1"/>
            <a:r>
              <a:rPr lang="en-GB" dirty="0">
                <a:solidFill>
                  <a:srgbClr val="7030A0"/>
                </a:solidFill>
              </a:rPr>
              <a:t>payer </a:t>
            </a:r>
            <a:r>
              <a:rPr lang="en-GB" b="1" i="1" u="sng" dirty="0">
                <a:solidFill>
                  <a:srgbClr val="7030A0"/>
                </a:solidFill>
              </a:rPr>
              <a:t>unlocks</a:t>
            </a:r>
            <a:r>
              <a:rPr lang="en-GB" dirty="0">
                <a:solidFill>
                  <a:srgbClr val="7030A0"/>
                </a:solidFill>
              </a:rPr>
              <a:t> (only they can!) and</a:t>
            </a:r>
          </a:p>
          <a:p>
            <a:pPr lvl="1"/>
            <a:r>
              <a:rPr lang="en-GB" dirty="0">
                <a:solidFill>
                  <a:srgbClr val="7030A0"/>
                </a:solidFill>
              </a:rPr>
              <a:t>then </a:t>
            </a:r>
            <a:r>
              <a:rPr lang="en-GB" b="1" i="1" u="sng" dirty="0">
                <a:solidFill>
                  <a:srgbClr val="7030A0"/>
                </a:solidFill>
              </a:rPr>
              <a:t>locks</a:t>
            </a:r>
            <a:r>
              <a:rPr lang="en-GB" dirty="0">
                <a:solidFill>
                  <a:srgbClr val="7030A0"/>
                </a:solidFill>
              </a:rPr>
              <a:t> again for the payee (only they will be able to unlock!)</a:t>
            </a:r>
          </a:p>
          <a:p>
            <a:pPr lvl="1"/>
            <a:endParaRPr lang="en-GB" dirty="0">
              <a:solidFill>
                <a:srgbClr val="7030A0"/>
              </a:solidFill>
            </a:endParaRPr>
          </a:p>
          <a:p>
            <a:r>
              <a:rPr lang="en-GB" dirty="0">
                <a:solidFill>
                  <a:srgbClr val="C00000"/>
                </a:solidFill>
              </a:rPr>
              <a:t>Minting of new BTC</a:t>
            </a:r>
          </a:p>
          <a:p>
            <a:pPr lvl="1"/>
            <a:r>
              <a:rPr lang="en-GB" dirty="0">
                <a:solidFill>
                  <a:srgbClr val="308D3E"/>
                </a:solidFill>
              </a:rPr>
              <a:t>Happens only at block creation (and at no other times)</a:t>
            </a:r>
          </a:p>
          <a:p>
            <a:pPr lvl="1"/>
            <a:r>
              <a:rPr lang="en-GB" dirty="0">
                <a:solidFill>
                  <a:srgbClr val="308D3E"/>
                </a:solidFill>
              </a:rPr>
              <a:t>Gets locked to the creator of the block</a:t>
            </a:r>
          </a:p>
        </p:txBody>
      </p:sp>
      <p:sp>
        <p:nvSpPr>
          <p:cNvPr id="5" name="Slide Number Placeholder 4">
            <a:extLst>
              <a:ext uri="{FF2B5EF4-FFF2-40B4-BE49-F238E27FC236}">
                <a16:creationId xmlns:a16="http://schemas.microsoft.com/office/drawing/2014/main" id="{48701D37-C2C6-B36B-B29F-E3EB3196B266}"/>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62986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D6B6-FA1E-7814-4B49-D9881A0D18A5}"/>
              </a:ext>
            </a:extLst>
          </p:cNvPr>
          <p:cNvSpPr>
            <a:spLocks noGrp="1"/>
          </p:cNvSpPr>
          <p:nvPr>
            <p:ph type="title"/>
          </p:nvPr>
        </p:nvSpPr>
        <p:spPr/>
        <p:txBody>
          <a:bodyPr/>
          <a:lstStyle/>
          <a:p>
            <a:r>
              <a:rPr lang="en-PK" dirty="0"/>
              <a:t>BTC and Fiat</a:t>
            </a:r>
          </a:p>
        </p:txBody>
      </p:sp>
      <p:sp>
        <p:nvSpPr>
          <p:cNvPr id="3" name="Content Placeholder 2">
            <a:extLst>
              <a:ext uri="{FF2B5EF4-FFF2-40B4-BE49-F238E27FC236}">
                <a16:creationId xmlns:a16="http://schemas.microsoft.com/office/drawing/2014/main" id="{A9AAC98D-6C1E-5E87-9310-1E1B9DAC9E2E}"/>
              </a:ext>
            </a:extLst>
          </p:cNvPr>
          <p:cNvSpPr>
            <a:spLocks noGrp="1"/>
          </p:cNvSpPr>
          <p:nvPr>
            <p:ph idx="1"/>
          </p:nvPr>
        </p:nvSpPr>
        <p:spPr/>
        <p:txBody>
          <a:bodyPr/>
          <a:lstStyle/>
          <a:p>
            <a:r>
              <a:rPr lang="en-PK" dirty="0"/>
              <a:t>How did BTC g</a:t>
            </a:r>
            <a:r>
              <a:rPr lang="en-GB" dirty="0"/>
              <a:t>e</a:t>
            </a:r>
            <a:r>
              <a:rPr lang="en-PK" dirty="0"/>
              <a:t>t related to Fiat currency?</a:t>
            </a:r>
          </a:p>
          <a:p>
            <a:pPr lvl="1"/>
            <a:endParaRPr lang="en-PK" dirty="0"/>
          </a:p>
          <a:p>
            <a:r>
              <a:rPr lang="en-GB" dirty="0"/>
              <a:t>Historical Fact: </a:t>
            </a:r>
            <a:r>
              <a:rPr lang="en-GB" dirty="0">
                <a:solidFill>
                  <a:srgbClr val="308D3E"/>
                </a:solidFill>
              </a:rPr>
              <a:t>The New Liberty Standard Exchange recorded the first exchange of BTC for fiat (dollars) in late 2009</a:t>
            </a:r>
          </a:p>
          <a:p>
            <a:pPr lvl="1"/>
            <a:endParaRPr lang="en-GB" dirty="0"/>
          </a:p>
          <a:p>
            <a:r>
              <a:rPr lang="en-GB" dirty="0">
                <a:solidFill>
                  <a:srgbClr val="0432FF"/>
                </a:solidFill>
              </a:rPr>
              <a:t>What was the transaction?</a:t>
            </a:r>
          </a:p>
          <a:p>
            <a:pPr lvl="1"/>
            <a:r>
              <a:rPr lang="en-GB" dirty="0">
                <a:solidFill>
                  <a:srgbClr val="7030A0"/>
                </a:solidFill>
              </a:rPr>
              <a:t>Users (on the </a:t>
            </a:r>
            <a:r>
              <a:rPr lang="en-GB" dirty="0" err="1">
                <a:solidFill>
                  <a:srgbClr val="7030A0"/>
                </a:solidFill>
              </a:rPr>
              <a:t>BitcoinTalk</a:t>
            </a:r>
            <a:r>
              <a:rPr lang="en-GB" dirty="0">
                <a:solidFill>
                  <a:srgbClr val="7030A0"/>
                </a:solidFill>
              </a:rPr>
              <a:t> forum) traded 5,050 bitcoins</a:t>
            </a:r>
          </a:p>
          <a:p>
            <a:r>
              <a:rPr lang="en-GB" dirty="0">
                <a:solidFill>
                  <a:srgbClr val="308D3E"/>
                </a:solidFill>
              </a:rPr>
              <a:t>For how much?</a:t>
            </a:r>
          </a:p>
          <a:p>
            <a:pPr lvl="1"/>
            <a:r>
              <a:rPr lang="en-GB" dirty="0">
                <a:solidFill>
                  <a:srgbClr val="7030A0"/>
                </a:solidFill>
              </a:rPr>
              <a:t>Total value: $5.02 (sent via PayPal) </a:t>
            </a:r>
            <a:r>
              <a:rPr lang="en-GB" dirty="0">
                <a:solidFill>
                  <a:srgbClr val="C00000"/>
                </a:solidFill>
              </a:rPr>
              <a:t>@ $0.00099 per BTC</a:t>
            </a:r>
          </a:p>
          <a:p>
            <a:pPr lvl="1"/>
            <a:r>
              <a:rPr lang="en-GB" dirty="0">
                <a:solidFill>
                  <a:srgbClr val="7030A0"/>
                </a:solidFill>
              </a:rPr>
              <a:t>The average per BTC price last month ~ $115,000 (Aug 2025)</a:t>
            </a:r>
            <a:endParaRPr lang="en-PK" dirty="0"/>
          </a:p>
        </p:txBody>
      </p:sp>
      <p:sp>
        <p:nvSpPr>
          <p:cNvPr id="4" name="Slide Number Placeholder 3">
            <a:extLst>
              <a:ext uri="{FF2B5EF4-FFF2-40B4-BE49-F238E27FC236}">
                <a16:creationId xmlns:a16="http://schemas.microsoft.com/office/drawing/2014/main" id="{112DEF93-59CB-1BE5-71CB-27411818E3EE}"/>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72482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dissolv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dissolv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dissolv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dissolv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8C0C2-1BBB-BEE6-B1A4-12F2F39A9577}"/>
              </a:ext>
            </a:extLst>
          </p:cNvPr>
          <p:cNvSpPr>
            <a:spLocks noGrp="1"/>
          </p:cNvSpPr>
          <p:nvPr>
            <p:ph type="title"/>
          </p:nvPr>
        </p:nvSpPr>
        <p:spPr/>
        <p:txBody>
          <a:bodyPr/>
          <a:lstStyle/>
          <a:p>
            <a:r>
              <a:rPr lang="en-PK" dirty="0"/>
              <a:t>Understanding Blockchains</a:t>
            </a:r>
          </a:p>
        </p:txBody>
      </p:sp>
      <p:sp>
        <p:nvSpPr>
          <p:cNvPr id="3" name="Text Placeholder 2">
            <a:extLst>
              <a:ext uri="{FF2B5EF4-FFF2-40B4-BE49-F238E27FC236}">
                <a16:creationId xmlns:a16="http://schemas.microsoft.com/office/drawing/2014/main" id="{B4E9A24C-B41A-5778-D45B-6AD19855B080}"/>
              </a:ext>
            </a:extLst>
          </p:cNvPr>
          <p:cNvSpPr>
            <a:spLocks noGrp="1"/>
          </p:cNvSpPr>
          <p:nvPr>
            <p:ph type="body" idx="1"/>
          </p:nvPr>
        </p:nvSpPr>
        <p:spPr/>
        <p:txBody>
          <a:bodyPr/>
          <a:lstStyle/>
          <a:p>
            <a:r>
              <a:rPr lang="en-PK" dirty="0"/>
              <a:t>Cryptographic Hashing</a:t>
            </a:r>
          </a:p>
          <a:p>
            <a:r>
              <a:rPr lang="en-PK" dirty="0"/>
              <a:t>Digital Signatures</a:t>
            </a:r>
          </a:p>
          <a:p>
            <a:r>
              <a:rPr lang="en-PK" dirty="0"/>
              <a:t>Consensus</a:t>
            </a:r>
          </a:p>
        </p:txBody>
      </p:sp>
      <p:sp>
        <p:nvSpPr>
          <p:cNvPr id="4" name="Slide Number Placeholder 3">
            <a:extLst>
              <a:ext uri="{FF2B5EF4-FFF2-40B4-BE49-F238E27FC236}">
                <a16:creationId xmlns:a16="http://schemas.microsoft.com/office/drawing/2014/main" id="{B8CE8656-4026-F049-CCE3-1A2BE9B252D1}"/>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1051548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85575-5DA1-0E65-C346-BB1F13C93DE2}"/>
              </a:ext>
            </a:extLst>
          </p:cNvPr>
          <p:cNvSpPr>
            <a:spLocks noGrp="1"/>
          </p:cNvSpPr>
          <p:nvPr>
            <p:ph type="title"/>
          </p:nvPr>
        </p:nvSpPr>
        <p:spPr/>
        <p:txBody>
          <a:bodyPr/>
          <a:lstStyle/>
          <a:p>
            <a:r>
              <a:rPr lang="en-PK" dirty="0"/>
              <a:t>Hash Function: Properties</a:t>
            </a:r>
          </a:p>
        </p:txBody>
      </p:sp>
      <p:sp>
        <p:nvSpPr>
          <p:cNvPr id="3" name="Content Placeholder 2">
            <a:extLst>
              <a:ext uri="{FF2B5EF4-FFF2-40B4-BE49-F238E27FC236}">
                <a16:creationId xmlns:a16="http://schemas.microsoft.com/office/drawing/2014/main" id="{1BFC476A-6CE6-0321-E1FC-92DB89DC2BDD}"/>
              </a:ext>
            </a:extLst>
          </p:cNvPr>
          <p:cNvSpPr>
            <a:spLocks noGrp="1"/>
          </p:cNvSpPr>
          <p:nvPr>
            <p:ph idx="1"/>
          </p:nvPr>
        </p:nvSpPr>
        <p:spPr/>
        <p:txBody>
          <a:bodyPr>
            <a:normAutofit fontScale="85000" lnSpcReduction="20000"/>
          </a:bodyPr>
          <a:lstStyle/>
          <a:p>
            <a:r>
              <a:rPr lang="en-US" dirty="0"/>
              <a:t>Input: </a:t>
            </a:r>
            <a:r>
              <a:rPr lang="en-US" b="1" dirty="0">
                <a:solidFill>
                  <a:srgbClr val="C00000"/>
                </a:solidFill>
              </a:rPr>
              <a:t>arbitrary size</a:t>
            </a:r>
            <a:r>
              <a:rPr lang="en-US" dirty="0"/>
              <a:t> plain text</a:t>
            </a:r>
          </a:p>
          <a:p>
            <a:r>
              <a:rPr lang="en-US" dirty="0"/>
              <a:t>Output: </a:t>
            </a:r>
            <a:r>
              <a:rPr lang="en-US" b="1" dirty="0">
                <a:solidFill>
                  <a:srgbClr val="C00000"/>
                </a:solidFill>
              </a:rPr>
              <a:t>fixed size</a:t>
            </a:r>
            <a:r>
              <a:rPr lang="en-US" b="1" dirty="0"/>
              <a:t> </a:t>
            </a:r>
            <a:r>
              <a:rPr lang="en-US" dirty="0"/>
              <a:t>message digest</a:t>
            </a:r>
          </a:p>
          <a:p>
            <a:r>
              <a:rPr lang="en-US" dirty="0"/>
              <a:t>Output is “</a:t>
            </a:r>
            <a:r>
              <a:rPr lang="en-US" b="1" dirty="0">
                <a:solidFill>
                  <a:srgbClr val="C00000"/>
                </a:solidFill>
              </a:rPr>
              <a:t>random</a:t>
            </a:r>
            <a:r>
              <a:rPr lang="en-US" dirty="0"/>
              <a:t>” looking</a:t>
            </a:r>
          </a:p>
          <a:p>
            <a:pPr lvl="1"/>
            <a:r>
              <a:rPr lang="en-US" dirty="0"/>
              <a:t>Not random (actually, deterministic)</a:t>
            </a:r>
          </a:p>
          <a:p>
            <a:pPr lvl="1"/>
            <a:r>
              <a:rPr lang="en-US" dirty="0"/>
              <a:t>About half ones and half zeros</a:t>
            </a:r>
          </a:p>
          <a:p>
            <a:r>
              <a:rPr lang="en-US" b="1" dirty="0">
                <a:solidFill>
                  <a:srgbClr val="C00000"/>
                </a:solidFill>
              </a:rPr>
              <a:t>Avalanche</a:t>
            </a:r>
            <a:r>
              <a:rPr lang="en-US" dirty="0"/>
              <a:t> effect</a:t>
            </a:r>
          </a:p>
          <a:p>
            <a:pPr lvl="1"/>
            <a:r>
              <a:rPr lang="en-US" dirty="0"/>
              <a:t>Change one bit in the input; about half the output bits change</a:t>
            </a:r>
          </a:p>
          <a:p>
            <a:r>
              <a:rPr lang="en-US" b="1" dirty="0">
                <a:solidFill>
                  <a:srgbClr val="C00000"/>
                </a:solidFill>
              </a:rPr>
              <a:t>Preimage</a:t>
            </a:r>
            <a:r>
              <a:rPr lang="en-US" dirty="0"/>
              <a:t> resistance</a:t>
            </a:r>
          </a:p>
          <a:p>
            <a:pPr lvl="1"/>
            <a:r>
              <a:rPr lang="en-US" dirty="0"/>
              <a:t>Given Y, can’t find X such that Hash(X) = Y</a:t>
            </a:r>
          </a:p>
          <a:p>
            <a:r>
              <a:rPr lang="en-US" b="1" dirty="0">
                <a:solidFill>
                  <a:srgbClr val="C00000"/>
                </a:solidFill>
              </a:rPr>
              <a:t>Collision</a:t>
            </a:r>
            <a:r>
              <a:rPr lang="en-US" dirty="0"/>
              <a:t> resistance</a:t>
            </a:r>
          </a:p>
          <a:p>
            <a:pPr lvl="1"/>
            <a:r>
              <a:rPr lang="en-US" dirty="0"/>
              <a:t>Can’t find X, Z such that X ≠ Z and Hash(X) = Hash(Z)</a:t>
            </a:r>
          </a:p>
          <a:p>
            <a:pPr lvl="1"/>
            <a:endParaRPr lang="en-US" dirty="0"/>
          </a:p>
          <a:p>
            <a:r>
              <a:rPr lang="en-US" dirty="0"/>
              <a:t>Online tools or your OS can </a:t>
            </a:r>
            <a:r>
              <a:rPr lang="en-US" b="1" dirty="0">
                <a:solidFill>
                  <a:srgbClr val="C00000"/>
                </a:solidFill>
              </a:rPr>
              <a:t>quickly compute</a:t>
            </a:r>
            <a:r>
              <a:rPr lang="en-US" b="1" dirty="0"/>
              <a:t> </a:t>
            </a:r>
            <a:r>
              <a:rPr lang="en-US" dirty="0"/>
              <a:t>Hash functions</a:t>
            </a:r>
          </a:p>
        </p:txBody>
      </p:sp>
      <p:sp>
        <p:nvSpPr>
          <p:cNvPr id="4" name="Slide Number Placeholder 3">
            <a:extLst>
              <a:ext uri="{FF2B5EF4-FFF2-40B4-BE49-F238E27FC236}">
                <a16:creationId xmlns:a16="http://schemas.microsoft.com/office/drawing/2014/main" id="{D754D94C-9EEE-F40E-17F5-84352A913EBB}"/>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5" name="Rounded Rectangle 4">
            <a:extLst>
              <a:ext uri="{FF2B5EF4-FFF2-40B4-BE49-F238E27FC236}">
                <a16:creationId xmlns:a16="http://schemas.microsoft.com/office/drawing/2014/main" id="{7B1DE7CA-63AB-2A56-C718-1D95E090F5BA}"/>
              </a:ext>
            </a:extLst>
          </p:cNvPr>
          <p:cNvSpPr/>
          <p:nvPr/>
        </p:nvSpPr>
        <p:spPr>
          <a:xfrm>
            <a:off x="8502657" y="1468730"/>
            <a:ext cx="1602000" cy="7596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Cryptographic Hash Function</a:t>
            </a:r>
          </a:p>
        </p:txBody>
      </p:sp>
      <p:cxnSp>
        <p:nvCxnSpPr>
          <p:cNvPr id="6" name="Straight Arrow Connector 5">
            <a:extLst>
              <a:ext uri="{FF2B5EF4-FFF2-40B4-BE49-F238E27FC236}">
                <a16:creationId xmlns:a16="http://schemas.microsoft.com/office/drawing/2014/main" id="{3C3F6836-6986-15CA-EEBE-BACA8709297E}"/>
              </a:ext>
            </a:extLst>
          </p:cNvPr>
          <p:cNvCxnSpPr>
            <a:cxnSpLocks/>
          </p:cNvCxnSpPr>
          <p:nvPr/>
        </p:nvCxnSpPr>
        <p:spPr>
          <a:xfrm>
            <a:off x="7899054" y="1848558"/>
            <a:ext cx="612000"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C253C9C-9368-394B-79C7-3B75080A8593}"/>
              </a:ext>
            </a:extLst>
          </p:cNvPr>
          <p:cNvCxnSpPr>
            <a:cxnSpLocks/>
          </p:cNvCxnSpPr>
          <p:nvPr/>
        </p:nvCxnSpPr>
        <p:spPr>
          <a:xfrm>
            <a:off x="10106374" y="1848558"/>
            <a:ext cx="540000"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D06581B-BB54-BC1B-6748-E75CE146CACB}"/>
              </a:ext>
            </a:extLst>
          </p:cNvPr>
          <p:cNvSpPr/>
          <p:nvPr/>
        </p:nvSpPr>
        <p:spPr>
          <a:xfrm>
            <a:off x="6489519" y="1391853"/>
            <a:ext cx="1404000" cy="985519"/>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tx1"/>
                </a:solidFill>
              </a:rPr>
              <a:t>This could be some text of any length</a:t>
            </a:r>
          </a:p>
        </p:txBody>
      </p:sp>
      <p:sp>
        <p:nvSpPr>
          <p:cNvPr id="9" name="Rectangle 8">
            <a:extLst>
              <a:ext uri="{FF2B5EF4-FFF2-40B4-BE49-F238E27FC236}">
                <a16:creationId xmlns:a16="http://schemas.microsoft.com/office/drawing/2014/main" id="{98C62C29-D9FA-68B8-F57F-77FD30DBD982}"/>
              </a:ext>
            </a:extLst>
          </p:cNvPr>
          <p:cNvSpPr/>
          <p:nvPr/>
        </p:nvSpPr>
        <p:spPr>
          <a:xfrm>
            <a:off x="10646374" y="1455839"/>
            <a:ext cx="1296000" cy="841324"/>
          </a:xfrm>
          <a:prstGeom prst="rect">
            <a:avLst/>
          </a:prstGeom>
          <a:solidFill>
            <a:srgbClr val="FF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A94D539C1</a:t>
            </a:r>
          </a:p>
        </p:txBody>
      </p:sp>
      <p:sp>
        <p:nvSpPr>
          <p:cNvPr id="10" name="TextBox 9">
            <a:extLst>
              <a:ext uri="{FF2B5EF4-FFF2-40B4-BE49-F238E27FC236}">
                <a16:creationId xmlns:a16="http://schemas.microsoft.com/office/drawing/2014/main" id="{428A3F18-3CF1-F0C7-BA3F-EC76C6B30493}"/>
              </a:ext>
            </a:extLst>
          </p:cNvPr>
          <p:cNvSpPr txBox="1"/>
          <p:nvPr/>
        </p:nvSpPr>
        <p:spPr>
          <a:xfrm>
            <a:off x="10603652" y="2330440"/>
            <a:ext cx="1397977" cy="646331"/>
          </a:xfrm>
          <a:prstGeom prst="rect">
            <a:avLst/>
          </a:prstGeom>
          <a:noFill/>
        </p:spPr>
        <p:txBody>
          <a:bodyPr wrap="square" rtlCol="0">
            <a:spAutoFit/>
          </a:bodyPr>
          <a:lstStyle/>
          <a:p>
            <a:pPr algn="ctr"/>
            <a:r>
              <a:rPr lang="en-PK" dirty="0"/>
              <a:t>Fixed-length hash output</a:t>
            </a:r>
          </a:p>
        </p:txBody>
      </p:sp>
      <p:sp>
        <p:nvSpPr>
          <p:cNvPr id="11" name="TextBox 10">
            <a:extLst>
              <a:ext uri="{FF2B5EF4-FFF2-40B4-BE49-F238E27FC236}">
                <a16:creationId xmlns:a16="http://schemas.microsoft.com/office/drawing/2014/main" id="{B57A3C05-847C-E979-9DE3-70835D95D4C8}"/>
              </a:ext>
            </a:extLst>
          </p:cNvPr>
          <p:cNvSpPr txBox="1"/>
          <p:nvPr/>
        </p:nvSpPr>
        <p:spPr>
          <a:xfrm>
            <a:off x="7544397" y="2114090"/>
            <a:ext cx="1397977" cy="646331"/>
          </a:xfrm>
          <a:prstGeom prst="rect">
            <a:avLst/>
          </a:prstGeom>
          <a:noFill/>
        </p:spPr>
        <p:txBody>
          <a:bodyPr wrap="square" rtlCol="0">
            <a:spAutoFit/>
          </a:bodyPr>
          <a:lstStyle/>
          <a:p>
            <a:pPr algn="ctr"/>
            <a:r>
              <a:rPr lang="en-GB" dirty="0"/>
              <a:t>i</a:t>
            </a:r>
            <a:r>
              <a:rPr lang="en-PK" dirty="0"/>
              <a:t>nput</a:t>
            </a:r>
          </a:p>
          <a:p>
            <a:pPr algn="ctr"/>
            <a:r>
              <a:rPr lang="en-PK" dirty="0"/>
              <a:t>text</a:t>
            </a:r>
          </a:p>
        </p:txBody>
      </p:sp>
    </p:spTree>
    <p:extLst>
      <p:ext uri="{BB962C8B-B14F-4D97-AF65-F5344CB8AC3E}">
        <p14:creationId xmlns:p14="http://schemas.microsoft.com/office/powerpoint/2010/main" val="241408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dissolve">
                                      <p:cBhvr>
                                        <p:cTn id="11" dur="500"/>
                                        <p:tgtEl>
                                          <p:spTgt spid="3">
                                            <p:txEl>
                                              <p:pRg st="0" end="0"/>
                                            </p:txEl>
                                          </p:spTgt>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dissolve">
                                      <p:cBhvr>
                                        <p:cTn id="25" dur="500"/>
                                        <p:tgtEl>
                                          <p:spTgt spid="3">
                                            <p:txEl>
                                              <p:pRg st="1" end="1"/>
                                            </p:txEl>
                                          </p:spTgt>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dissolve">
                                      <p:cBhvr>
                                        <p:cTn id="39" dur="500"/>
                                        <p:tgtEl>
                                          <p:spTgt spid="3">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dissolve">
                                      <p:cBhvr>
                                        <p:cTn id="44" dur="500"/>
                                        <p:tgtEl>
                                          <p:spTgt spid="3">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dissolve">
                                      <p:cBhvr>
                                        <p:cTn id="49" dur="500"/>
                                        <p:tgtEl>
                                          <p:spTgt spid="3">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3">
                                            <p:txEl>
                                              <p:pRg st="5" end="5"/>
                                            </p:txEl>
                                          </p:spTgt>
                                        </p:tgtEl>
                                        <p:attrNameLst>
                                          <p:attrName>style.visibility</p:attrName>
                                        </p:attrNameLst>
                                      </p:cBhvr>
                                      <p:to>
                                        <p:strVal val="visible"/>
                                      </p:to>
                                    </p:set>
                                    <p:animEffect transition="in" filter="dissolve">
                                      <p:cBhvr>
                                        <p:cTn id="54" dur="500"/>
                                        <p:tgtEl>
                                          <p:spTgt spid="3">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Effect transition="in" filter="dissolve">
                                      <p:cBhvr>
                                        <p:cTn id="59" dur="500"/>
                                        <p:tgtEl>
                                          <p:spTgt spid="3">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3">
                                            <p:txEl>
                                              <p:pRg st="7" end="7"/>
                                            </p:txEl>
                                          </p:spTgt>
                                        </p:tgtEl>
                                        <p:attrNameLst>
                                          <p:attrName>style.visibility</p:attrName>
                                        </p:attrNameLst>
                                      </p:cBhvr>
                                      <p:to>
                                        <p:strVal val="visible"/>
                                      </p:to>
                                    </p:set>
                                    <p:animEffect transition="in" filter="dissolve">
                                      <p:cBhvr>
                                        <p:cTn id="64" dur="500"/>
                                        <p:tgtEl>
                                          <p:spTgt spid="3">
                                            <p:txEl>
                                              <p:pRg st="7" end="7"/>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dissolve">
                                      <p:cBhvr>
                                        <p:cTn id="69" dur="500"/>
                                        <p:tgtEl>
                                          <p:spTgt spid="3">
                                            <p:txEl>
                                              <p:pRg st="8" end="8"/>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3">
                                            <p:txEl>
                                              <p:pRg st="9" end="9"/>
                                            </p:txEl>
                                          </p:spTgt>
                                        </p:tgtEl>
                                        <p:attrNameLst>
                                          <p:attrName>style.visibility</p:attrName>
                                        </p:attrNameLst>
                                      </p:cBhvr>
                                      <p:to>
                                        <p:strVal val="visible"/>
                                      </p:to>
                                    </p:set>
                                    <p:animEffect transition="in" filter="dissolve">
                                      <p:cBhvr>
                                        <p:cTn id="74" dur="500"/>
                                        <p:tgtEl>
                                          <p:spTgt spid="3">
                                            <p:txEl>
                                              <p:pRg st="9" end="9"/>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nodeType="clickEffect">
                                  <p:stCondLst>
                                    <p:cond delay="0"/>
                                  </p:stCondLst>
                                  <p:childTnLst>
                                    <p:set>
                                      <p:cBhvr>
                                        <p:cTn id="78" dur="1" fill="hold">
                                          <p:stCondLst>
                                            <p:cond delay="0"/>
                                          </p:stCondLst>
                                        </p:cTn>
                                        <p:tgtEl>
                                          <p:spTgt spid="3">
                                            <p:txEl>
                                              <p:pRg st="10" end="10"/>
                                            </p:txEl>
                                          </p:spTgt>
                                        </p:tgtEl>
                                        <p:attrNameLst>
                                          <p:attrName>style.visibility</p:attrName>
                                        </p:attrNameLst>
                                      </p:cBhvr>
                                      <p:to>
                                        <p:strVal val="visible"/>
                                      </p:to>
                                    </p:set>
                                    <p:animEffect transition="in" filter="dissolve">
                                      <p:cBhvr>
                                        <p:cTn id="79" dur="500"/>
                                        <p:tgtEl>
                                          <p:spTgt spid="3">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nodeType="clickEffect">
                                  <p:stCondLst>
                                    <p:cond delay="0"/>
                                  </p:stCondLst>
                                  <p:childTnLst>
                                    <p:set>
                                      <p:cBhvr>
                                        <p:cTn id="83" dur="1" fill="hold">
                                          <p:stCondLst>
                                            <p:cond delay="0"/>
                                          </p:stCondLst>
                                        </p:cTn>
                                        <p:tgtEl>
                                          <p:spTgt spid="3">
                                            <p:txEl>
                                              <p:pRg st="12" end="12"/>
                                            </p:txEl>
                                          </p:spTgt>
                                        </p:tgtEl>
                                        <p:attrNameLst>
                                          <p:attrName>style.visibility</p:attrName>
                                        </p:attrNameLst>
                                      </p:cBhvr>
                                      <p:to>
                                        <p:strVal val="visible"/>
                                      </p:to>
                                    </p:set>
                                    <p:animEffect transition="in" filter="dissolve">
                                      <p:cBhvr>
                                        <p:cTn id="84"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9883669-4BD5-5364-516C-042270ED1829}"/>
              </a:ext>
            </a:extLst>
          </p:cNvPr>
          <p:cNvSpPr>
            <a:spLocks noGrp="1"/>
          </p:cNvSpPr>
          <p:nvPr>
            <p:ph type="title"/>
          </p:nvPr>
        </p:nvSpPr>
        <p:spPr/>
        <p:txBody>
          <a:bodyPr/>
          <a:lstStyle/>
          <a:p>
            <a:r>
              <a:rPr lang="en-PK" dirty="0"/>
              <a:t>What is needed for a transaction?</a:t>
            </a:r>
          </a:p>
        </p:txBody>
      </p:sp>
      <p:sp>
        <p:nvSpPr>
          <p:cNvPr id="11" name="Content Placeholder 10">
            <a:extLst>
              <a:ext uri="{FF2B5EF4-FFF2-40B4-BE49-F238E27FC236}">
                <a16:creationId xmlns:a16="http://schemas.microsoft.com/office/drawing/2014/main" id="{79460701-1837-21B2-AF0E-49DBA7C5B743}"/>
              </a:ext>
            </a:extLst>
          </p:cNvPr>
          <p:cNvSpPr>
            <a:spLocks noGrp="1"/>
          </p:cNvSpPr>
          <p:nvPr>
            <p:ph sz="half" idx="1"/>
          </p:nvPr>
        </p:nvSpPr>
        <p:spPr>
          <a:xfrm>
            <a:off x="654124" y="1189603"/>
            <a:ext cx="5817781" cy="4998546"/>
          </a:xfrm>
        </p:spPr>
        <p:txBody>
          <a:bodyPr>
            <a:normAutofit/>
          </a:bodyPr>
          <a:lstStyle/>
          <a:p>
            <a:pPr marL="0" indent="0">
              <a:buNone/>
            </a:pPr>
            <a:r>
              <a:rPr lang="en-PK" b="1" dirty="0"/>
              <a:t>Compare with a check</a:t>
            </a:r>
          </a:p>
          <a:p>
            <a:endParaRPr lang="en-PK" dirty="0"/>
          </a:p>
          <a:p>
            <a:r>
              <a:rPr lang="en-PK" b="1" dirty="0">
                <a:solidFill>
                  <a:srgbClr val="7030A0"/>
                </a:solidFill>
              </a:rPr>
              <a:t>Payer</a:t>
            </a:r>
          </a:p>
          <a:p>
            <a:r>
              <a:rPr lang="en-PK" b="1" dirty="0">
                <a:solidFill>
                  <a:srgbClr val="7030A0"/>
                </a:solidFill>
              </a:rPr>
              <a:t>Payee</a:t>
            </a:r>
          </a:p>
          <a:p>
            <a:r>
              <a:rPr lang="en-PK" b="1" dirty="0">
                <a:solidFill>
                  <a:srgbClr val="7030A0"/>
                </a:solidFill>
              </a:rPr>
              <a:t>Amount</a:t>
            </a:r>
          </a:p>
          <a:p>
            <a:r>
              <a:rPr lang="en-PK" b="1" dirty="0">
                <a:solidFill>
                  <a:srgbClr val="7030A0"/>
                </a:solidFill>
              </a:rPr>
              <a:t>Authorization</a:t>
            </a:r>
          </a:p>
          <a:p>
            <a:pPr lvl="2"/>
            <a:endParaRPr lang="en-PK" dirty="0"/>
          </a:p>
          <a:p>
            <a:r>
              <a:rPr lang="en-US" dirty="0">
                <a:solidFill>
                  <a:srgbClr val="308D3E"/>
                </a:solidFill>
              </a:rPr>
              <a:t>Can this check be honored?</a:t>
            </a:r>
          </a:p>
          <a:p>
            <a:r>
              <a:rPr lang="en-US" dirty="0">
                <a:solidFill>
                  <a:srgbClr val="C00000"/>
                </a:solidFill>
              </a:rPr>
              <a:t>Does the account have this much?</a:t>
            </a:r>
          </a:p>
          <a:p>
            <a:r>
              <a:rPr lang="en-PK" dirty="0">
                <a:solidFill>
                  <a:srgbClr val="C00000"/>
                </a:solidFill>
              </a:rPr>
              <a:t>Account balance is checked offline</a:t>
            </a:r>
          </a:p>
        </p:txBody>
      </p:sp>
      <p:pic>
        <p:nvPicPr>
          <p:cNvPr id="13" name="Picture 2">
            <a:extLst>
              <a:ext uri="{FF2B5EF4-FFF2-40B4-BE49-F238E27FC236}">
                <a16:creationId xmlns:a16="http://schemas.microsoft.com/office/drawing/2014/main" id="{744AE451-ADED-100E-EBB2-0476A19800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93"/>
          <a:stretch>
            <a:fillRect/>
          </a:stretch>
        </p:blipFill>
        <p:spPr bwMode="auto">
          <a:xfrm>
            <a:off x="5162376" y="1229995"/>
            <a:ext cx="6522021" cy="29735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rgbClr val="000000"/>
                </a:solidFill>
                <a:miter lim="800000"/>
                <a:headEnd/>
                <a:tailEnd/>
              </a14:hiddenLine>
            </a:ext>
          </a:extLst>
        </p:spPr>
      </p:pic>
      <p:pic>
        <p:nvPicPr>
          <p:cNvPr id="14" name="Picture 3">
            <a:extLst>
              <a:ext uri="{FF2B5EF4-FFF2-40B4-BE49-F238E27FC236}">
                <a16:creationId xmlns:a16="http://schemas.microsoft.com/office/drawing/2014/main" id="{F7EDEA8A-D961-22B5-2873-4A0D2BC5486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525" y="1087120"/>
            <a:ext cx="6831211" cy="32771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rgbClr val="000000"/>
                </a:solidFill>
                <a:miter lim="800000"/>
                <a:headEnd/>
                <a:tailEnd/>
              </a14:hiddenLine>
            </a:ext>
          </a:extLst>
        </p:spPr>
      </p:pic>
      <p:sp>
        <p:nvSpPr>
          <p:cNvPr id="15" name="Rectangle 5">
            <a:extLst>
              <a:ext uri="{FF2B5EF4-FFF2-40B4-BE49-F238E27FC236}">
                <a16:creationId xmlns:a16="http://schemas.microsoft.com/office/drawing/2014/main" id="{89EE0223-D7F6-08D3-E86D-33DFDD24C969}"/>
              </a:ext>
            </a:extLst>
          </p:cNvPr>
          <p:cNvSpPr>
            <a:spLocks/>
          </p:cNvSpPr>
          <p:nvPr/>
        </p:nvSpPr>
        <p:spPr bwMode="auto">
          <a:xfrm>
            <a:off x="6083250" y="2067153"/>
            <a:ext cx="4179094" cy="410766"/>
          </a:xfrm>
          <a:prstGeom prst="rect">
            <a:avLst/>
          </a:prstGeom>
          <a:solidFill>
            <a:schemeClr val="accent1"/>
          </a:solidFill>
          <a:ln>
            <a:noFill/>
          </a:ln>
          <a:extLst>
            <a:ext uri="{91240B29-F687-4f45-9708-019B960494DF}">
              <a14:hiddenLine xmlns:a14="http://schemas.microsoft.com/office/drawing/2010/main" xmlns="" w="12700" cap="flat">
                <a:solidFill>
                  <a:srgbClr val="000000"/>
                </a:solidFill>
                <a:miter lim="800000"/>
                <a:headEnd type="none" w="med" len="med"/>
                <a:tailEnd type="none" w="med" len="med"/>
              </a14:hiddenLine>
            </a:ext>
          </a:extLst>
        </p:spPr>
        <p:txBody>
          <a:bodyPr lIns="0" tIns="0" rIns="0" bIns="0" anchor="ctr"/>
          <a:lstStyle/>
          <a:p>
            <a:r>
              <a:rPr lang="en-US" sz="2300" dirty="0">
                <a:solidFill>
                  <a:schemeClr val="bg1"/>
                </a:solidFill>
                <a:latin typeface="Gill Sans Light" charset="0"/>
                <a:ea typeface="ＭＳ Ｐゴシック" charset="0"/>
                <a:cs typeface="Gill Sans Light" charset="0"/>
                <a:sym typeface="Gill Sans Light" charset="0"/>
              </a:rPr>
              <a:t>Public key 0xa8fc93875a972ea</a:t>
            </a:r>
          </a:p>
        </p:txBody>
      </p:sp>
      <p:sp>
        <p:nvSpPr>
          <p:cNvPr id="16" name="Rectangle 6">
            <a:extLst>
              <a:ext uri="{FF2B5EF4-FFF2-40B4-BE49-F238E27FC236}">
                <a16:creationId xmlns:a16="http://schemas.microsoft.com/office/drawing/2014/main" id="{067CB01E-939D-7F83-AA62-CFDECDD367D8}"/>
              </a:ext>
            </a:extLst>
          </p:cNvPr>
          <p:cNvSpPr>
            <a:spLocks/>
          </p:cNvSpPr>
          <p:nvPr/>
        </p:nvSpPr>
        <p:spPr bwMode="auto">
          <a:xfrm>
            <a:off x="7420470" y="3353028"/>
            <a:ext cx="4032000" cy="410766"/>
          </a:xfrm>
          <a:prstGeom prst="rect">
            <a:avLst/>
          </a:prstGeom>
          <a:solidFill>
            <a:schemeClr val="accent1"/>
          </a:solidFill>
          <a:ln>
            <a:noFill/>
          </a:ln>
          <a:extLst>
            <a:ext uri="{91240B29-F687-4f45-9708-019B960494DF}">
              <a14:hiddenLine xmlns:a14="http://schemas.microsoft.com/office/drawing/2010/main" xmlns="" w="12700" cap="flat">
                <a:solidFill>
                  <a:srgbClr val="000000"/>
                </a:solidFill>
                <a:miter lim="800000"/>
                <a:headEnd type="none" w="med" len="med"/>
                <a:tailEnd type="none" w="med" len="med"/>
              </a14:hiddenLine>
            </a:ext>
          </a:extLst>
        </p:spPr>
        <p:txBody>
          <a:bodyPr lIns="0" tIns="0" rIns="0" bIns="0" anchor="ctr"/>
          <a:lstStyle/>
          <a:p>
            <a:r>
              <a:rPr lang="en-US" sz="2300" dirty="0">
                <a:solidFill>
                  <a:schemeClr val="bg1"/>
                </a:solidFill>
                <a:latin typeface="Gill Sans Light" charset="0"/>
                <a:ea typeface="ＭＳ Ｐゴシック" charset="0"/>
                <a:cs typeface="Gill Sans Light" charset="0"/>
                <a:sym typeface="Gill Sans Light" charset="0"/>
              </a:rPr>
              <a:t>Signature 0xa87g14632d452cd</a:t>
            </a:r>
          </a:p>
        </p:txBody>
      </p:sp>
      <p:sp>
        <p:nvSpPr>
          <p:cNvPr id="17" name="Rectangle 7">
            <a:extLst>
              <a:ext uri="{FF2B5EF4-FFF2-40B4-BE49-F238E27FC236}">
                <a16:creationId xmlns:a16="http://schemas.microsoft.com/office/drawing/2014/main" id="{1EFC6867-5B9B-92B1-5EE6-1E1F0A636B90}"/>
              </a:ext>
            </a:extLst>
          </p:cNvPr>
          <p:cNvSpPr>
            <a:spLocks/>
          </p:cNvSpPr>
          <p:nvPr/>
        </p:nvSpPr>
        <p:spPr bwMode="auto">
          <a:xfrm>
            <a:off x="5804197" y="1317059"/>
            <a:ext cx="2880000" cy="410766"/>
          </a:xfrm>
          <a:prstGeom prst="rect">
            <a:avLst/>
          </a:prstGeom>
          <a:solidFill>
            <a:schemeClr val="accent1"/>
          </a:solidFill>
          <a:ln>
            <a:noFill/>
          </a:ln>
          <a:extLst>
            <a:ext uri="{91240B29-F687-4f45-9708-019B960494DF}">
              <a14:hiddenLine xmlns:a14="http://schemas.microsoft.com/office/drawing/2010/main" xmlns="" w="12700" cap="flat">
                <a:solidFill>
                  <a:srgbClr val="000000"/>
                </a:solidFill>
                <a:miter lim="800000"/>
                <a:headEnd type="none" w="med" len="med"/>
                <a:tailEnd type="none" w="med" len="med"/>
              </a14:hiddenLine>
            </a:ext>
          </a:extLst>
        </p:spPr>
        <p:txBody>
          <a:bodyPr lIns="0" tIns="0" rIns="0" bIns="0" anchor="ctr"/>
          <a:lstStyle/>
          <a:p>
            <a:r>
              <a:rPr lang="en-US" sz="2300" dirty="0">
                <a:solidFill>
                  <a:schemeClr val="bg1"/>
                </a:solidFill>
                <a:latin typeface="Gill Sans Light" charset="0"/>
                <a:ea typeface="ＭＳ Ｐゴシック" charset="0"/>
                <a:cs typeface="Gill Sans Light" charset="0"/>
                <a:sym typeface="Gill Sans Light" charset="0"/>
              </a:rPr>
              <a:t>Public key 0xc7b2f68...</a:t>
            </a:r>
          </a:p>
        </p:txBody>
      </p:sp>
      <p:sp>
        <p:nvSpPr>
          <p:cNvPr id="18" name="Title 1">
            <a:extLst>
              <a:ext uri="{FF2B5EF4-FFF2-40B4-BE49-F238E27FC236}">
                <a16:creationId xmlns:a16="http://schemas.microsoft.com/office/drawing/2014/main" id="{78694AE7-F8C2-A820-81D6-FF65E9AC9F7D}"/>
              </a:ext>
            </a:extLst>
          </p:cNvPr>
          <p:cNvSpPr txBox="1">
            <a:spLocks/>
          </p:cNvSpPr>
          <p:nvPr/>
        </p:nvSpPr>
        <p:spPr>
          <a:xfrm>
            <a:off x="7203599" y="4896502"/>
            <a:ext cx="4476774" cy="1081907"/>
          </a:xfrm>
          <a:prstGeom prst="roundRect">
            <a:avLst/>
          </a:prstGeom>
          <a:solidFill>
            <a:schemeClr val="accent1"/>
          </a:solidFill>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800" dirty="0">
                <a:solidFill>
                  <a:schemeClr val="bg1"/>
                </a:solidFill>
              </a:rPr>
              <a:t>What is needed for a blockchain transaction?</a:t>
            </a:r>
            <a:endParaRPr lang="en-PK" sz="2800" b="1" dirty="0">
              <a:solidFill>
                <a:schemeClr val="bg1"/>
              </a:solidFill>
            </a:endParaRPr>
          </a:p>
        </p:txBody>
      </p:sp>
      <p:sp>
        <p:nvSpPr>
          <p:cNvPr id="3" name="Slide Number Placeholder 2">
            <a:extLst>
              <a:ext uri="{FF2B5EF4-FFF2-40B4-BE49-F238E27FC236}">
                <a16:creationId xmlns:a16="http://schemas.microsoft.com/office/drawing/2014/main" id="{B8DF4268-E7C5-9182-F6D3-E025D5CBA6BA}"/>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350255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dissolve">
                                      <p:cBhvr>
                                        <p:cTn id="9" dur="500"/>
                                        <p:tgtEl>
                                          <p:spTgt spid="13"/>
                                        </p:tgtEl>
                                      </p:cBhvr>
                                    </p:animEffect>
                                  </p:childTnLst>
                                </p:cTn>
                              </p:par>
                              <p:par>
                                <p:cTn id="10" presetID="9"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7" end="7"/>
                                            </p:txEl>
                                          </p:spTgt>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500"/>
                                  </p:stCondLst>
                                  <p:childTnLst>
                                    <p:set>
                                      <p:cBhvr>
                                        <p:cTn id="35"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dissolv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dissolv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dissolve">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331F-D84F-C923-571F-B1DCF345E850}"/>
              </a:ext>
            </a:extLst>
          </p:cNvPr>
          <p:cNvSpPr>
            <a:spLocks noGrp="1"/>
          </p:cNvSpPr>
          <p:nvPr>
            <p:ph type="title"/>
          </p:nvPr>
        </p:nvSpPr>
        <p:spPr/>
        <p:txBody>
          <a:bodyPr/>
          <a:lstStyle/>
          <a:p>
            <a:r>
              <a:rPr lang="en-GB" dirty="0"/>
              <a:t>Digital Signatures</a:t>
            </a:r>
            <a:endParaRPr lang="en-PK" dirty="0"/>
          </a:p>
        </p:txBody>
      </p:sp>
      <p:sp>
        <p:nvSpPr>
          <p:cNvPr id="3" name="Content Placeholder 2">
            <a:extLst>
              <a:ext uri="{FF2B5EF4-FFF2-40B4-BE49-F238E27FC236}">
                <a16:creationId xmlns:a16="http://schemas.microsoft.com/office/drawing/2014/main" id="{5FA89E00-1FA8-C3E1-F0FC-8CCD651A2C27}"/>
              </a:ext>
            </a:extLst>
          </p:cNvPr>
          <p:cNvSpPr>
            <a:spLocks noGrp="1"/>
          </p:cNvSpPr>
          <p:nvPr>
            <p:ph idx="1"/>
          </p:nvPr>
        </p:nvSpPr>
        <p:spPr/>
        <p:txBody>
          <a:bodyPr>
            <a:normAutofit/>
          </a:bodyPr>
          <a:lstStyle/>
          <a:p>
            <a:r>
              <a:rPr lang="en-GB" dirty="0"/>
              <a:t>What are they?</a:t>
            </a:r>
          </a:p>
          <a:p>
            <a:pPr lvl="1"/>
            <a:r>
              <a:rPr lang="en-GB" dirty="0">
                <a:solidFill>
                  <a:srgbClr val="0432FF"/>
                </a:solidFill>
              </a:rPr>
              <a:t>Like manual signatures, but different for each occurrence</a:t>
            </a:r>
          </a:p>
          <a:p>
            <a:r>
              <a:rPr lang="en-GB" dirty="0"/>
              <a:t>Why are they needed [in blockchains]?</a:t>
            </a:r>
          </a:p>
          <a:p>
            <a:pPr lvl="1"/>
            <a:r>
              <a:rPr lang="en-GB" i="1" dirty="0">
                <a:solidFill>
                  <a:srgbClr val="308D3E"/>
                </a:solidFill>
              </a:rPr>
              <a:t>Authenticate</a:t>
            </a:r>
            <a:r>
              <a:rPr lang="en-GB" dirty="0"/>
              <a:t> the </a:t>
            </a:r>
            <a:r>
              <a:rPr lang="en-GB" b="1" dirty="0">
                <a:solidFill>
                  <a:srgbClr val="C00000"/>
                </a:solidFill>
              </a:rPr>
              <a:t>sender</a:t>
            </a:r>
            <a:r>
              <a:rPr lang="en-GB" dirty="0"/>
              <a:t> (end user who broadcasts transactions)</a:t>
            </a:r>
          </a:p>
          <a:p>
            <a:pPr lvl="1"/>
            <a:r>
              <a:rPr lang="en-GB" i="1" dirty="0">
                <a:solidFill>
                  <a:srgbClr val="308D3E"/>
                </a:solidFill>
              </a:rPr>
              <a:t>Avoid forgery </a:t>
            </a:r>
            <a:r>
              <a:rPr lang="en-GB" dirty="0"/>
              <a:t>in the </a:t>
            </a:r>
            <a:r>
              <a:rPr lang="en-GB" b="1" dirty="0">
                <a:solidFill>
                  <a:srgbClr val="C00000"/>
                </a:solidFill>
              </a:rPr>
              <a:t>message</a:t>
            </a:r>
            <a:r>
              <a:rPr lang="en-GB" dirty="0"/>
              <a:t> sent to the receiver (</a:t>
            </a:r>
            <a:r>
              <a:rPr lang="en-GB" b="1" dirty="0">
                <a:solidFill>
                  <a:srgbClr val="C00000"/>
                </a:solidFill>
              </a:rPr>
              <a:t>transactions</a:t>
            </a:r>
            <a:r>
              <a:rPr lang="en-GB" dirty="0"/>
              <a:t>)</a:t>
            </a:r>
          </a:p>
          <a:p>
            <a:r>
              <a:rPr lang="en-GB" dirty="0"/>
              <a:t>In a transaction, we also need to:</a:t>
            </a:r>
          </a:p>
          <a:p>
            <a:pPr lvl="1"/>
            <a:r>
              <a:rPr lang="en-GB" i="1" dirty="0">
                <a:solidFill>
                  <a:srgbClr val="308D3E"/>
                </a:solidFill>
              </a:rPr>
              <a:t>Identify</a:t>
            </a:r>
            <a:r>
              <a:rPr lang="en-GB" dirty="0"/>
              <a:t> the </a:t>
            </a:r>
            <a:r>
              <a:rPr lang="en-GB" b="1" dirty="0">
                <a:solidFill>
                  <a:srgbClr val="C00000"/>
                </a:solidFill>
              </a:rPr>
              <a:t>receiver</a:t>
            </a:r>
            <a:r>
              <a:rPr lang="en-GB" dirty="0"/>
              <a:t> (or at least the address of the receiver)</a:t>
            </a:r>
          </a:p>
          <a:p>
            <a:pPr lvl="1"/>
            <a:endParaRPr lang="en-GB" dirty="0"/>
          </a:p>
          <a:p>
            <a:r>
              <a:rPr lang="en-GB" dirty="0"/>
              <a:t>How do digital signatures work?</a:t>
            </a:r>
          </a:p>
          <a:p>
            <a:pPr lvl="1"/>
            <a:r>
              <a:rPr lang="en-GB" dirty="0"/>
              <a:t>Using </a:t>
            </a:r>
            <a:r>
              <a:rPr lang="en-GB" dirty="0">
                <a:solidFill>
                  <a:srgbClr val="C00000"/>
                </a:solidFill>
              </a:rPr>
              <a:t>public key cryptography</a:t>
            </a:r>
            <a:r>
              <a:rPr lang="en-GB" dirty="0"/>
              <a:t> infrastructure</a:t>
            </a:r>
          </a:p>
        </p:txBody>
      </p:sp>
      <p:sp>
        <p:nvSpPr>
          <p:cNvPr id="5" name="Slide Number Placeholder 4">
            <a:extLst>
              <a:ext uri="{FF2B5EF4-FFF2-40B4-BE49-F238E27FC236}">
                <a16:creationId xmlns:a16="http://schemas.microsoft.com/office/drawing/2014/main" id="{1CDAE148-17A1-650D-4B81-6846BDDCE1FF}"/>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3452013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AF41C-893B-C2D4-09BF-347768105723}"/>
              </a:ext>
            </a:extLst>
          </p:cNvPr>
          <p:cNvSpPr>
            <a:spLocks noGrp="1"/>
          </p:cNvSpPr>
          <p:nvPr>
            <p:ph type="title"/>
          </p:nvPr>
        </p:nvSpPr>
        <p:spPr/>
        <p:txBody>
          <a:bodyPr/>
          <a:lstStyle/>
          <a:p>
            <a:r>
              <a:rPr lang="en-PK" dirty="0"/>
              <a:t>What is Cryptography?</a:t>
            </a:r>
          </a:p>
        </p:txBody>
      </p:sp>
      <p:sp>
        <p:nvSpPr>
          <p:cNvPr id="3" name="Slide Number Placeholder 2">
            <a:extLst>
              <a:ext uri="{FF2B5EF4-FFF2-40B4-BE49-F238E27FC236}">
                <a16:creationId xmlns:a16="http://schemas.microsoft.com/office/drawing/2014/main" id="{D8B61F1B-47A7-362A-EA8E-D96699096D39}"/>
              </a:ext>
            </a:extLst>
          </p:cNvPr>
          <p:cNvSpPr>
            <a:spLocks noGrp="1"/>
          </p:cNvSpPr>
          <p:nvPr>
            <p:ph type="sldNum" sz="quarter" idx="12"/>
          </p:nvPr>
        </p:nvSpPr>
        <p:spPr/>
        <p:txBody>
          <a:bodyPr/>
          <a:lstStyle/>
          <a:p>
            <a:fld id="{D57F1E4F-1CFF-5643-939E-217C01CDF565}" type="slidenum">
              <a:rPr lang="en-US" smtClean="0"/>
              <a:pPr/>
              <a:t>27</a:t>
            </a:fld>
            <a:endParaRPr lang="en-US" dirty="0"/>
          </a:p>
        </p:txBody>
      </p:sp>
      <p:pic>
        <p:nvPicPr>
          <p:cNvPr id="5" name="Picture 4" descr="Timeline&#10;&#10;Description automatically generated">
            <a:extLst>
              <a:ext uri="{FF2B5EF4-FFF2-40B4-BE49-F238E27FC236}">
                <a16:creationId xmlns:a16="http://schemas.microsoft.com/office/drawing/2014/main" id="{D990B3F8-9B9B-BEAF-7707-50A1CCF43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898" y="1616455"/>
            <a:ext cx="7173252" cy="4407661"/>
          </a:xfrm>
          <a:prstGeom prst="rect">
            <a:avLst/>
          </a:prstGeom>
        </p:spPr>
      </p:pic>
      <p:sp>
        <p:nvSpPr>
          <p:cNvPr id="6" name="TextBox 5">
            <a:extLst>
              <a:ext uri="{FF2B5EF4-FFF2-40B4-BE49-F238E27FC236}">
                <a16:creationId xmlns:a16="http://schemas.microsoft.com/office/drawing/2014/main" id="{96998C67-ABC5-C985-8FBE-D95333045559}"/>
              </a:ext>
            </a:extLst>
          </p:cNvPr>
          <p:cNvSpPr txBox="1"/>
          <p:nvPr/>
        </p:nvSpPr>
        <p:spPr>
          <a:xfrm>
            <a:off x="1093968" y="6060220"/>
            <a:ext cx="6725111" cy="400110"/>
          </a:xfrm>
          <a:prstGeom prst="rect">
            <a:avLst/>
          </a:prstGeom>
          <a:solidFill>
            <a:schemeClr val="accent4">
              <a:lumMod val="40000"/>
              <a:lumOff val="60000"/>
            </a:schemeClr>
          </a:solidFill>
        </p:spPr>
        <p:txBody>
          <a:bodyPr wrap="none" rtlCol="0">
            <a:spAutoFit/>
          </a:bodyPr>
          <a:lstStyle/>
          <a:p>
            <a:r>
              <a:rPr lang="en-PK" sz="2000" b="1" dirty="0">
                <a:solidFill>
                  <a:srgbClr val="C00000"/>
                </a:solidFill>
              </a:rPr>
              <a:t>Symmetric:</a:t>
            </a:r>
            <a:r>
              <a:rPr lang="en-PK" sz="2000" dirty="0">
                <a:solidFill>
                  <a:srgbClr val="C00000"/>
                </a:solidFill>
              </a:rPr>
              <a:t> </a:t>
            </a:r>
            <a:r>
              <a:rPr lang="en-PK" sz="2000" dirty="0"/>
              <a:t>same </a:t>
            </a:r>
            <a:r>
              <a:rPr lang="en-PK" sz="2000" b="1" u="sng" dirty="0"/>
              <a:t>shared</a:t>
            </a:r>
            <a:r>
              <a:rPr lang="en-PK" sz="2000" dirty="0"/>
              <a:t> key for encryption and for decryption</a:t>
            </a:r>
          </a:p>
        </p:txBody>
      </p:sp>
      <p:sp>
        <p:nvSpPr>
          <p:cNvPr id="7" name="TextBox 6">
            <a:extLst>
              <a:ext uri="{FF2B5EF4-FFF2-40B4-BE49-F238E27FC236}">
                <a16:creationId xmlns:a16="http://schemas.microsoft.com/office/drawing/2014/main" id="{0E621453-39CC-20B0-E50B-BE313B173F33}"/>
              </a:ext>
            </a:extLst>
          </p:cNvPr>
          <p:cNvSpPr txBox="1"/>
          <p:nvPr/>
        </p:nvSpPr>
        <p:spPr>
          <a:xfrm>
            <a:off x="1071291" y="2052238"/>
            <a:ext cx="1058302" cy="707886"/>
          </a:xfrm>
          <a:prstGeom prst="rect">
            <a:avLst/>
          </a:prstGeom>
          <a:noFill/>
        </p:spPr>
        <p:txBody>
          <a:bodyPr wrap="none" rtlCol="0">
            <a:spAutoFit/>
          </a:bodyPr>
          <a:lstStyle/>
          <a:p>
            <a:pPr algn="ctr"/>
            <a:r>
              <a:rPr lang="en-PK" sz="2000" b="1" dirty="0"/>
              <a:t>Alice</a:t>
            </a:r>
          </a:p>
          <a:p>
            <a:pPr algn="ctr"/>
            <a:r>
              <a:rPr lang="en-PK" sz="2000" dirty="0"/>
              <a:t>(sender)</a:t>
            </a:r>
          </a:p>
        </p:txBody>
      </p:sp>
      <p:sp>
        <p:nvSpPr>
          <p:cNvPr id="8" name="TextBox 7">
            <a:extLst>
              <a:ext uri="{FF2B5EF4-FFF2-40B4-BE49-F238E27FC236}">
                <a16:creationId xmlns:a16="http://schemas.microsoft.com/office/drawing/2014/main" id="{F7A2B352-31EB-E577-4F24-F2DF5C316D76}"/>
              </a:ext>
            </a:extLst>
          </p:cNvPr>
          <p:cNvSpPr txBox="1"/>
          <p:nvPr/>
        </p:nvSpPr>
        <p:spPr>
          <a:xfrm>
            <a:off x="6651859" y="2052238"/>
            <a:ext cx="1183850" cy="707886"/>
          </a:xfrm>
          <a:prstGeom prst="rect">
            <a:avLst/>
          </a:prstGeom>
          <a:noFill/>
        </p:spPr>
        <p:txBody>
          <a:bodyPr wrap="none" rtlCol="0">
            <a:spAutoFit/>
          </a:bodyPr>
          <a:lstStyle/>
          <a:p>
            <a:pPr algn="ctr"/>
            <a:r>
              <a:rPr lang="en-PK" sz="2000" b="1" dirty="0"/>
              <a:t>Bob</a:t>
            </a:r>
          </a:p>
          <a:p>
            <a:pPr algn="ctr"/>
            <a:r>
              <a:rPr lang="en-PK" sz="2000" dirty="0"/>
              <a:t>(receiver)</a:t>
            </a:r>
          </a:p>
        </p:txBody>
      </p:sp>
      <p:sp>
        <p:nvSpPr>
          <p:cNvPr id="9" name="TextBox 8">
            <a:extLst>
              <a:ext uri="{FF2B5EF4-FFF2-40B4-BE49-F238E27FC236}">
                <a16:creationId xmlns:a16="http://schemas.microsoft.com/office/drawing/2014/main" id="{ACF6BD1A-E7A4-4CCA-C666-BAA30D01D108}"/>
              </a:ext>
            </a:extLst>
          </p:cNvPr>
          <p:cNvSpPr txBox="1"/>
          <p:nvPr/>
        </p:nvSpPr>
        <p:spPr>
          <a:xfrm>
            <a:off x="3933389" y="2760124"/>
            <a:ext cx="914673" cy="584775"/>
          </a:xfrm>
          <a:custGeom>
            <a:avLst/>
            <a:gdLst>
              <a:gd name="csX0" fmla="*/ 0 w 914673"/>
              <a:gd name="csY0" fmla="*/ 0 h 584775"/>
              <a:gd name="csX1" fmla="*/ 448190 w 914673"/>
              <a:gd name="csY1" fmla="*/ 0 h 584775"/>
              <a:gd name="csX2" fmla="*/ 914673 w 914673"/>
              <a:gd name="csY2" fmla="*/ 0 h 584775"/>
              <a:gd name="csX3" fmla="*/ 914673 w 914673"/>
              <a:gd name="csY3" fmla="*/ 584775 h 584775"/>
              <a:gd name="csX4" fmla="*/ 457337 w 914673"/>
              <a:gd name="csY4" fmla="*/ 584775 h 584775"/>
              <a:gd name="csX5" fmla="*/ 0 w 914673"/>
              <a:gd name="csY5" fmla="*/ 584775 h 584775"/>
              <a:gd name="csX6" fmla="*/ 0 w 914673"/>
              <a:gd name="csY6" fmla="*/ 0 h 5847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14673" h="584775" extrusionOk="0">
                <a:moveTo>
                  <a:pt x="0" y="0"/>
                </a:moveTo>
                <a:cubicBezTo>
                  <a:pt x="202501" y="-50247"/>
                  <a:pt x="233619" y="53369"/>
                  <a:pt x="448190" y="0"/>
                </a:cubicBezTo>
                <a:cubicBezTo>
                  <a:pt x="662761" y="-53369"/>
                  <a:pt x="702350" y="25234"/>
                  <a:pt x="914673" y="0"/>
                </a:cubicBezTo>
                <a:cubicBezTo>
                  <a:pt x="923992" y="175068"/>
                  <a:pt x="901079" y="355742"/>
                  <a:pt x="914673" y="584775"/>
                </a:cubicBezTo>
                <a:cubicBezTo>
                  <a:pt x="814275" y="584891"/>
                  <a:pt x="658981" y="582862"/>
                  <a:pt x="457337" y="584775"/>
                </a:cubicBezTo>
                <a:cubicBezTo>
                  <a:pt x="255693" y="586688"/>
                  <a:pt x="154685" y="570590"/>
                  <a:pt x="0" y="584775"/>
                </a:cubicBezTo>
                <a:cubicBezTo>
                  <a:pt x="-39583" y="384123"/>
                  <a:pt x="16368" y="220445"/>
                  <a:pt x="0" y="0"/>
                </a:cubicBezTo>
                <a:close/>
              </a:path>
            </a:pathLst>
          </a:custGeom>
          <a:noFill/>
          <a:ln>
            <a:solidFill>
              <a:srgbClr val="A5002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none" rtlCol="0">
            <a:spAutoFit/>
          </a:bodyPr>
          <a:lstStyle/>
          <a:p>
            <a:pPr algn="ctr"/>
            <a:r>
              <a:rPr lang="en-PK" sz="1600" b="1" dirty="0">
                <a:solidFill>
                  <a:srgbClr val="C00000"/>
                </a:solidFill>
                <a:cs typeface="Abadi" panose="020F0502020204030204" pitchFamily="34" charset="0"/>
              </a:rPr>
              <a:t>Garbage</a:t>
            </a:r>
          </a:p>
          <a:p>
            <a:pPr algn="ctr"/>
            <a:r>
              <a:rPr lang="en-PK" sz="1600" b="1" dirty="0">
                <a:solidFill>
                  <a:srgbClr val="C00000"/>
                </a:solidFill>
                <a:cs typeface="Abadi" panose="020F0502020204030204" pitchFamily="34" charset="0"/>
              </a:rPr>
              <a:t>for a spy</a:t>
            </a:r>
          </a:p>
        </p:txBody>
      </p:sp>
      <p:cxnSp>
        <p:nvCxnSpPr>
          <p:cNvPr id="10" name="Straight Arrow Connector 9">
            <a:extLst>
              <a:ext uri="{FF2B5EF4-FFF2-40B4-BE49-F238E27FC236}">
                <a16:creationId xmlns:a16="http://schemas.microsoft.com/office/drawing/2014/main" id="{DFBCF2D0-BF48-AB25-ACC7-EEC5E14E1237}"/>
              </a:ext>
            </a:extLst>
          </p:cNvPr>
          <p:cNvCxnSpPr>
            <a:cxnSpLocks/>
          </p:cNvCxnSpPr>
          <p:nvPr/>
        </p:nvCxnSpPr>
        <p:spPr>
          <a:xfrm>
            <a:off x="2129593" y="2612002"/>
            <a:ext cx="4522266" cy="0"/>
          </a:xfrm>
          <a:prstGeom prst="straightConnector1">
            <a:avLst/>
          </a:prstGeom>
          <a:ln w="50800">
            <a:solidFill>
              <a:srgbClr val="24469D"/>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F51AEF0-0691-C889-E648-4E91A0FD4F89}"/>
              </a:ext>
            </a:extLst>
          </p:cNvPr>
          <p:cNvSpPr txBox="1"/>
          <p:nvPr/>
        </p:nvSpPr>
        <p:spPr>
          <a:xfrm>
            <a:off x="2789130" y="2715217"/>
            <a:ext cx="922432" cy="384721"/>
          </a:xfrm>
          <a:prstGeom prst="rect">
            <a:avLst/>
          </a:prstGeom>
          <a:noFill/>
        </p:spPr>
        <p:txBody>
          <a:bodyPr wrap="none" rtlCol="0">
            <a:spAutoFit/>
          </a:bodyPr>
          <a:lstStyle/>
          <a:p>
            <a:r>
              <a:rPr lang="en-PK" b="1" dirty="0">
                <a:solidFill>
                  <a:srgbClr val="C00000"/>
                </a:solidFill>
              </a:rPr>
              <a:t>Encode</a:t>
            </a:r>
          </a:p>
        </p:txBody>
      </p:sp>
      <p:sp>
        <p:nvSpPr>
          <p:cNvPr id="12" name="TextBox 11">
            <a:extLst>
              <a:ext uri="{FF2B5EF4-FFF2-40B4-BE49-F238E27FC236}">
                <a16:creationId xmlns:a16="http://schemas.microsoft.com/office/drawing/2014/main" id="{2EB27B97-1555-C343-F8F1-82297B907FA7}"/>
              </a:ext>
            </a:extLst>
          </p:cNvPr>
          <p:cNvSpPr txBox="1"/>
          <p:nvPr/>
        </p:nvSpPr>
        <p:spPr>
          <a:xfrm>
            <a:off x="5193084" y="2715217"/>
            <a:ext cx="949684" cy="384721"/>
          </a:xfrm>
          <a:prstGeom prst="rect">
            <a:avLst/>
          </a:prstGeom>
          <a:noFill/>
        </p:spPr>
        <p:txBody>
          <a:bodyPr wrap="none" rtlCol="0">
            <a:spAutoFit/>
          </a:bodyPr>
          <a:lstStyle/>
          <a:p>
            <a:r>
              <a:rPr lang="en-PK" b="1" dirty="0">
                <a:solidFill>
                  <a:srgbClr val="C00000"/>
                </a:solidFill>
              </a:rPr>
              <a:t>Decode</a:t>
            </a:r>
          </a:p>
        </p:txBody>
      </p:sp>
      <p:sp>
        <p:nvSpPr>
          <p:cNvPr id="14" name="Rounded Rectangle 13">
            <a:extLst>
              <a:ext uri="{FF2B5EF4-FFF2-40B4-BE49-F238E27FC236}">
                <a16:creationId xmlns:a16="http://schemas.microsoft.com/office/drawing/2014/main" id="{002C1D0C-A1B9-A9C3-A730-248E7E2877EF}"/>
              </a:ext>
            </a:extLst>
          </p:cNvPr>
          <p:cNvSpPr/>
          <p:nvPr/>
        </p:nvSpPr>
        <p:spPr>
          <a:xfrm>
            <a:off x="487493" y="1049762"/>
            <a:ext cx="7857133" cy="5107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r>
              <a:rPr lang="en-PK" sz="2400" b="1" dirty="0"/>
              <a:t>GOAL:</a:t>
            </a:r>
            <a:r>
              <a:rPr lang="en-PK" sz="2400" dirty="0"/>
              <a:t> Send message that a spy is unable to make sense of!</a:t>
            </a:r>
          </a:p>
        </p:txBody>
      </p:sp>
      <p:sp>
        <p:nvSpPr>
          <p:cNvPr id="4" name="TextBox 3">
            <a:extLst>
              <a:ext uri="{FF2B5EF4-FFF2-40B4-BE49-F238E27FC236}">
                <a16:creationId xmlns:a16="http://schemas.microsoft.com/office/drawing/2014/main" id="{8E99D9A0-A1A1-ADF6-20A4-988C8F85A3D9}"/>
              </a:ext>
            </a:extLst>
          </p:cNvPr>
          <p:cNvSpPr txBox="1"/>
          <p:nvPr/>
        </p:nvSpPr>
        <p:spPr>
          <a:xfrm>
            <a:off x="8037635" y="1803095"/>
            <a:ext cx="3868687" cy="1354217"/>
          </a:xfrm>
          <a:prstGeom prst="rect">
            <a:avLst/>
          </a:prstGeom>
          <a:solidFill>
            <a:schemeClr val="bg2">
              <a:lumMod val="90000"/>
            </a:schemeClr>
          </a:solidFill>
        </p:spPr>
        <p:txBody>
          <a:bodyPr wrap="none" rtlCol="0">
            <a:spAutoFit/>
          </a:bodyPr>
          <a:lstStyle/>
          <a:p>
            <a:pPr algn="ctr"/>
            <a:r>
              <a:rPr lang="en-PK" sz="2400" b="1" dirty="0">
                <a:solidFill>
                  <a:srgbClr val="C00000"/>
                </a:solidFill>
              </a:rPr>
              <a:t>Symmetric Key Cryptography</a:t>
            </a:r>
          </a:p>
          <a:p>
            <a:pPr algn="ctr"/>
            <a:r>
              <a:rPr lang="en-PK" sz="2400" b="1" dirty="0">
                <a:solidFill>
                  <a:srgbClr val="C00000"/>
                </a:solidFill>
              </a:rPr>
              <a:t>Big Challenge: </a:t>
            </a:r>
          </a:p>
          <a:p>
            <a:pPr algn="ctr"/>
            <a:endParaRPr lang="en-PK" sz="1000" b="1" dirty="0"/>
          </a:p>
          <a:p>
            <a:pPr algn="ctr"/>
            <a:r>
              <a:rPr lang="en-PK" sz="2400" b="1" dirty="0"/>
              <a:t>key sharing</a:t>
            </a:r>
          </a:p>
        </p:txBody>
      </p:sp>
      <p:sp>
        <p:nvSpPr>
          <p:cNvPr id="13" name="Oval 12">
            <a:extLst>
              <a:ext uri="{FF2B5EF4-FFF2-40B4-BE49-F238E27FC236}">
                <a16:creationId xmlns:a16="http://schemas.microsoft.com/office/drawing/2014/main" id="{068EFED1-BDD4-4E8F-47CA-794AA42A1A77}"/>
              </a:ext>
            </a:extLst>
          </p:cNvPr>
          <p:cNvSpPr/>
          <p:nvPr/>
        </p:nvSpPr>
        <p:spPr>
          <a:xfrm>
            <a:off x="2735428" y="2457320"/>
            <a:ext cx="914400" cy="1480131"/>
          </a:xfrm>
          <a:prstGeom prst="ellipse">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5" name="Oval 14">
            <a:extLst>
              <a:ext uri="{FF2B5EF4-FFF2-40B4-BE49-F238E27FC236}">
                <a16:creationId xmlns:a16="http://schemas.microsoft.com/office/drawing/2014/main" id="{2AB2CAF0-20B9-A611-AD02-26952FF31974}"/>
              </a:ext>
            </a:extLst>
          </p:cNvPr>
          <p:cNvSpPr/>
          <p:nvPr/>
        </p:nvSpPr>
        <p:spPr>
          <a:xfrm>
            <a:off x="5168170" y="2457320"/>
            <a:ext cx="914400" cy="1480131"/>
          </a:xfrm>
          <a:prstGeom prst="ellipse">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6" name="TextBox 15">
            <a:extLst>
              <a:ext uri="{FF2B5EF4-FFF2-40B4-BE49-F238E27FC236}">
                <a16:creationId xmlns:a16="http://schemas.microsoft.com/office/drawing/2014/main" id="{DADFC2D9-B428-ECD3-97A2-56E6EF888576}"/>
              </a:ext>
            </a:extLst>
          </p:cNvPr>
          <p:cNvSpPr txBox="1"/>
          <p:nvPr/>
        </p:nvSpPr>
        <p:spPr>
          <a:xfrm>
            <a:off x="8043149" y="4607909"/>
            <a:ext cx="3857658" cy="1292662"/>
          </a:xfrm>
          <a:prstGeom prst="rect">
            <a:avLst/>
          </a:prstGeom>
          <a:solidFill>
            <a:schemeClr val="accent6">
              <a:lumMod val="20000"/>
              <a:lumOff val="80000"/>
            </a:schemeClr>
          </a:solidFill>
        </p:spPr>
        <p:txBody>
          <a:bodyPr wrap="none" rtlCol="0">
            <a:spAutoFit/>
          </a:bodyPr>
          <a:lstStyle/>
          <a:p>
            <a:pPr algn="ctr"/>
            <a:r>
              <a:rPr lang="en-PK" sz="2400" b="1" dirty="0">
                <a:solidFill>
                  <a:srgbClr val="0432FF"/>
                </a:solidFill>
              </a:rPr>
              <a:t>Thought Question: </a:t>
            </a:r>
          </a:p>
          <a:p>
            <a:pPr algn="ctr"/>
            <a:r>
              <a:rPr lang="en-PK" sz="2400" b="1" dirty="0">
                <a:solidFill>
                  <a:srgbClr val="7030A0"/>
                </a:solidFill>
              </a:rPr>
              <a:t>If Bob receives some data</a:t>
            </a:r>
          </a:p>
          <a:p>
            <a:pPr algn="ctr"/>
            <a:endParaRPr lang="en-PK" sz="1000" b="1" dirty="0"/>
          </a:p>
          <a:p>
            <a:pPr algn="ctr"/>
            <a:r>
              <a:rPr lang="en-PK" sz="2000" b="1" dirty="0">
                <a:solidFill>
                  <a:srgbClr val="C00000"/>
                </a:solidFill>
              </a:rPr>
              <a:t>Can he be sure it came from Alice?</a:t>
            </a:r>
          </a:p>
        </p:txBody>
      </p:sp>
    </p:spTree>
    <p:extLst>
      <p:ext uri="{BB962C8B-B14F-4D97-AF65-F5344CB8AC3E}">
        <p14:creationId xmlns:p14="http://schemas.microsoft.com/office/powerpoint/2010/main" val="403704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42" presetClass="path" presetSubtype="0" accel="50000" decel="50000" fill="hold" grpId="1" nodeType="withEffect">
                                  <p:stCondLst>
                                    <p:cond delay="0"/>
                                  </p:stCondLst>
                                  <p:childTnLst>
                                    <p:animMotion origin="layout" path="M 3.75E-6 1.11111E-6 L -0.00248 0.27106 " pathEditMode="relative" rAng="0" ptsTypes="AA">
                                      <p:cBhvr>
                                        <p:cTn id="20" dur="500" fill="hold"/>
                                        <p:tgtEl>
                                          <p:spTgt spid="9"/>
                                        </p:tgtEl>
                                        <p:attrNameLst>
                                          <p:attrName>ppt_x</p:attrName>
                                          <p:attrName>ppt_y</p:attrName>
                                        </p:attrNameLst>
                                      </p:cBhvr>
                                      <p:rCtr x="-130" y="13542"/>
                                    </p:animMotion>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9" grpId="1" animBg="1"/>
      <p:bldP spid="11" grpId="0"/>
      <p:bldP spid="12" grpId="0"/>
      <p:bldP spid="4" grpId="0" animBg="1"/>
      <p:bldP spid="13" grpId="0" animBg="1"/>
      <p:bldP spid="15"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F7DC-8DA0-7D01-5F70-2381E34C7159}"/>
              </a:ext>
            </a:extLst>
          </p:cNvPr>
          <p:cNvSpPr>
            <a:spLocks noGrp="1"/>
          </p:cNvSpPr>
          <p:nvPr>
            <p:ph type="title"/>
          </p:nvPr>
        </p:nvSpPr>
        <p:spPr/>
        <p:txBody>
          <a:bodyPr>
            <a:normAutofit fontScale="90000"/>
          </a:bodyPr>
          <a:lstStyle/>
          <a:p>
            <a:r>
              <a:rPr lang="en-PK" dirty="0"/>
              <a:t>Public Key Infrastructure and Digital Signatures</a:t>
            </a:r>
          </a:p>
        </p:txBody>
      </p:sp>
      <p:sp>
        <p:nvSpPr>
          <p:cNvPr id="3" name="Content Placeholder 2">
            <a:extLst>
              <a:ext uri="{FF2B5EF4-FFF2-40B4-BE49-F238E27FC236}">
                <a16:creationId xmlns:a16="http://schemas.microsoft.com/office/drawing/2014/main" id="{F1A613BE-8A19-1E58-C4B8-2996B2E29E9C}"/>
              </a:ext>
            </a:extLst>
          </p:cNvPr>
          <p:cNvSpPr>
            <a:spLocks noGrp="1"/>
          </p:cNvSpPr>
          <p:nvPr>
            <p:ph idx="1"/>
          </p:nvPr>
        </p:nvSpPr>
        <p:spPr/>
        <p:txBody>
          <a:bodyPr>
            <a:normAutofit lnSpcReduction="10000"/>
          </a:bodyPr>
          <a:lstStyle/>
          <a:p>
            <a:r>
              <a:rPr lang="en-PK" dirty="0">
                <a:solidFill>
                  <a:srgbClr val="0432FF"/>
                </a:solidFill>
              </a:rPr>
              <a:t>Governed by </a:t>
            </a:r>
            <a:r>
              <a:rPr lang="en-PK" b="1" i="1" dirty="0">
                <a:solidFill>
                  <a:srgbClr val="0432FF"/>
                </a:solidFill>
              </a:rPr>
              <a:t>three</a:t>
            </a:r>
            <a:r>
              <a:rPr lang="en-PK" dirty="0">
                <a:solidFill>
                  <a:srgbClr val="0432FF"/>
                </a:solidFill>
              </a:rPr>
              <a:t> functions</a:t>
            </a:r>
          </a:p>
          <a:p>
            <a:pPr lvl="1"/>
            <a:endParaRPr lang="en-PK" dirty="0"/>
          </a:p>
          <a:p>
            <a:r>
              <a:rPr lang="en-GB" b="1" dirty="0"/>
              <a:t>Generate Keys() </a:t>
            </a:r>
            <a:r>
              <a:rPr lang="en-GB" dirty="0"/>
              <a:t>– </a:t>
            </a:r>
            <a:r>
              <a:rPr lang="en-GB" dirty="0">
                <a:solidFill>
                  <a:srgbClr val="C00000"/>
                </a:solidFill>
              </a:rPr>
              <a:t>a </a:t>
            </a:r>
            <a:r>
              <a:rPr lang="en-GB" dirty="0" err="1">
                <a:solidFill>
                  <a:srgbClr val="C00000"/>
                </a:solidFill>
              </a:rPr>
              <a:t>publicKey</a:t>
            </a:r>
            <a:r>
              <a:rPr lang="en-GB" dirty="0">
                <a:solidFill>
                  <a:srgbClr val="C00000"/>
                </a:solidFill>
              </a:rPr>
              <a:t>, </a:t>
            </a:r>
            <a:r>
              <a:rPr lang="en-GB" dirty="0" err="1">
                <a:solidFill>
                  <a:srgbClr val="C00000"/>
                </a:solidFill>
              </a:rPr>
              <a:t>privateKey</a:t>
            </a:r>
            <a:r>
              <a:rPr lang="en-GB" dirty="0">
                <a:solidFill>
                  <a:srgbClr val="C00000"/>
                </a:solidFill>
              </a:rPr>
              <a:t> pair is generated</a:t>
            </a:r>
          </a:p>
          <a:p>
            <a:pPr lvl="1"/>
            <a:r>
              <a:rPr lang="en-GB" dirty="0">
                <a:solidFill>
                  <a:srgbClr val="7030A0"/>
                </a:solidFill>
              </a:rPr>
              <a:t>A key is nothing more than a sequence of bits</a:t>
            </a:r>
          </a:p>
          <a:p>
            <a:pPr lvl="1"/>
            <a:endParaRPr lang="en-GB" dirty="0"/>
          </a:p>
          <a:p>
            <a:r>
              <a:rPr lang="en-GB" b="1" dirty="0"/>
              <a:t>Sign(message, </a:t>
            </a:r>
            <a:r>
              <a:rPr lang="en-GB" b="1" dirty="0" err="1"/>
              <a:t>privateKey</a:t>
            </a:r>
            <a:r>
              <a:rPr lang="en-GB" b="1" dirty="0"/>
              <a:t>)</a:t>
            </a:r>
            <a:r>
              <a:rPr lang="en-GB" dirty="0"/>
              <a:t> – </a:t>
            </a:r>
            <a:r>
              <a:rPr lang="en-GB" dirty="0">
                <a:solidFill>
                  <a:srgbClr val="C00000"/>
                </a:solidFill>
              </a:rPr>
              <a:t>sender will do it</a:t>
            </a:r>
          </a:p>
          <a:p>
            <a:pPr lvl="1"/>
            <a:r>
              <a:rPr lang="en-GB" dirty="0">
                <a:solidFill>
                  <a:srgbClr val="7030A0"/>
                </a:solidFill>
              </a:rPr>
              <a:t>Function output is the signature</a:t>
            </a:r>
          </a:p>
          <a:p>
            <a:pPr lvl="1"/>
            <a:r>
              <a:rPr lang="en-GB" dirty="0">
                <a:solidFill>
                  <a:srgbClr val="7030A0"/>
                </a:solidFill>
              </a:rPr>
              <a:t>Signature </a:t>
            </a:r>
            <a:r>
              <a:rPr lang="en-GB" b="1" i="1" dirty="0">
                <a:solidFill>
                  <a:srgbClr val="308D3E"/>
                </a:solidFill>
              </a:rPr>
              <a:t>along with message</a:t>
            </a:r>
            <a:r>
              <a:rPr lang="en-GB" dirty="0">
                <a:solidFill>
                  <a:srgbClr val="7030A0"/>
                </a:solidFill>
              </a:rPr>
              <a:t> is sent (</a:t>
            </a:r>
            <a:r>
              <a:rPr lang="en-GB" dirty="0">
                <a:solidFill>
                  <a:srgbClr val="308D3E"/>
                </a:solidFill>
              </a:rPr>
              <a:t>sent where?</a:t>
            </a:r>
            <a:r>
              <a:rPr lang="en-GB" dirty="0">
                <a:solidFill>
                  <a:srgbClr val="7030A0"/>
                </a:solidFill>
              </a:rPr>
              <a:t>)</a:t>
            </a:r>
          </a:p>
          <a:p>
            <a:pPr lvl="1"/>
            <a:endParaRPr lang="en-GB" dirty="0"/>
          </a:p>
          <a:p>
            <a:r>
              <a:rPr lang="en-GB" b="1" dirty="0"/>
              <a:t>Verify(message, signature, </a:t>
            </a:r>
            <a:r>
              <a:rPr lang="en-GB" b="1" dirty="0" err="1"/>
              <a:t>publicKey</a:t>
            </a:r>
            <a:r>
              <a:rPr lang="en-GB" b="1" dirty="0"/>
              <a:t>)</a:t>
            </a:r>
            <a:r>
              <a:rPr lang="en-GB" dirty="0"/>
              <a:t> – </a:t>
            </a:r>
            <a:r>
              <a:rPr lang="en-GB" dirty="0">
                <a:solidFill>
                  <a:srgbClr val="C00000"/>
                </a:solidFill>
              </a:rPr>
              <a:t>receiver will do it</a:t>
            </a:r>
          </a:p>
          <a:p>
            <a:pPr lvl="1"/>
            <a:r>
              <a:rPr lang="en-GB" dirty="0">
                <a:solidFill>
                  <a:srgbClr val="7030A0"/>
                </a:solidFill>
              </a:rPr>
              <a:t>Function output is Boolean (Verified or Not)</a:t>
            </a:r>
          </a:p>
          <a:p>
            <a:endParaRPr lang="en-GB" dirty="0"/>
          </a:p>
          <a:p>
            <a:endParaRPr lang="en-PK" dirty="0"/>
          </a:p>
        </p:txBody>
      </p:sp>
      <p:sp>
        <p:nvSpPr>
          <p:cNvPr id="5" name="Slide Number Placeholder 4">
            <a:extLst>
              <a:ext uri="{FF2B5EF4-FFF2-40B4-BE49-F238E27FC236}">
                <a16:creationId xmlns:a16="http://schemas.microsoft.com/office/drawing/2014/main" id="{681A17D0-34B3-C32D-5ADE-FACA19049C60}"/>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266570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dissolv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dissolv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58021</TotalTime>
  <Words>2064</Words>
  <Application>Microsoft Office PowerPoint</Application>
  <PresentationFormat>Widescreen</PresentationFormat>
  <Paragraphs>342</Paragraphs>
  <Slides>28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Abadi</vt:lpstr>
      <vt:lpstr>Arial</vt:lpstr>
      <vt:lpstr>Calibri</vt:lpstr>
      <vt:lpstr>Candara</vt:lpstr>
      <vt:lpstr>Gill Sans Light</vt:lpstr>
      <vt:lpstr>System Font Regular</vt:lpstr>
      <vt:lpstr>Wingdings</vt:lpstr>
      <vt:lpstr>Office Theme</vt:lpstr>
      <vt:lpstr>Introduction to Blockchain  CSE-355</vt:lpstr>
      <vt:lpstr>Lecture 03 Tuesday, Jan 27, 2026</vt:lpstr>
      <vt:lpstr>Building consensus: step by step</vt:lpstr>
      <vt:lpstr>How is a block added to the blockchain?</vt:lpstr>
      <vt:lpstr>Data Lifecycle: Stages to Consensus</vt:lpstr>
      <vt:lpstr>Recap: building consensus</vt:lpstr>
      <vt:lpstr>Characteristics of an ideal blockchain / DLT</vt:lpstr>
      <vt:lpstr>History: Byzantine Generals Problem</vt:lpstr>
      <vt:lpstr>History: Byzantine Generals Problem</vt:lpstr>
      <vt:lpstr>How this situation relates to computing systems?</vt:lpstr>
      <vt:lpstr>Techniques used in Bitcoin Blockchain</vt:lpstr>
      <vt:lpstr>Blockchain: How does it get built up?</vt:lpstr>
      <vt:lpstr>Types of blockchain</vt:lpstr>
      <vt:lpstr>Permissionless vs. Permissioned</vt:lpstr>
      <vt:lpstr>When (not) to use a Blockchain?</vt:lpstr>
      <vt:lpstr>Cryptocurrencies: A blockchain use case</vt:lpstr>
      <vt:lpstr>Lecture 04 Thursday, Jan 29, 2026</vt:lpstr>
      <vt:lpstr>Bitcoin Transaction: Step by Step</vt:lpstr>
      <vt:lpstr>Bitcoin Transaction: Step by Step</vt:lpstr>
      <vt:lpstr>Bitcoin Transaction: Step by Step</vt:lpstr>
      <vt:lpstr>Bitcoin: Ownership and Transactions</vt:lpstr>
      <vt:lpstr>BTC and Fiat</vt:lpstr>
      <vt:lpstr>Understanding Blockchains</vt:lpstr>
      <vt:lpstr>Hash Function: Properties</vt:lpstr>
      <vt:lpstr>What is needed for a transaction?</vt:lpstr>
      <vt:lpstr>Digital Signatures</vt:lpstr>
      <vt:lpstr>What is Cryptography?</vt:lpstr>
      <vt:lpstr>Public Key Infrastructure and Digital Signatures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dc:title>
  <dc:creator>Ihsan Ayyub Qazi</dc:creator>
  <cp:lastModifiedBy>Ahmed Akhtar</cp:lastModifiedBy>
  <cp:revision>959</cp:revision>
  <dcterms:created xsi:type="dcterms:W3CDTF">2022-06-22T11:04:43Z</dcterms:created>
  <dcterms:modified xsi:type="dcterms:W3CDTF">2026-01-29T06:08:56Z</dcterms:modified>
</cp:coreProperties>
</file>