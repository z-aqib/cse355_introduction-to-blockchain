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41"/>
  </p:notesMasterIdLst>
  <p:handoutMasterIdLst>
    <p:handoutMasterId r:id="rId42"/>
  </p:handoutMasterIdLst>
  <p:sldIdLst>
    <p:sldId id="1585" r:id="rId3"/>
    <p:sldId id="1876" r:id="rId4"/>
    <p:sldId id="256" r:id="rId5"/>
    <p:sldId id="403" r:id="rId6"/>
    <p:sldId id="404" r:id="rId7"/>
    <p:sldId id="405" r:id="rId8"/>
    <p:sldId id="407" r:id="rId9"/>
    <p:sldId id="406" r:id="rId10"/>
    <p:sldId id="408" r:id="rId11"/>
    <p:sldId id="452" r:id="rId12"/>
    <p:sldId id="411" r:id="rId13"/>
    <p:sldId id="464" r:id="rId14"/>
    <p:sldId id="413" r:id="rId15"/>
    <p:sldId id="455" r:id="rId16"/>
    <p:sldId id="414" r:id="rId17"/>
    <p:sldId id="1878" r:id="rId18"/>
    <p:sldId id="415" r:id="rId19"/>
    <p:sldId id="456" r:id="rId20"/>
    <p:sldId id="416" r:id="rId21"/>
    <p:sldId id="461" r:id="rId22"/>
    <p:sldId id="417" r:id="rId23"/>
    <p:sldId id="418" r:id="rId24"/>
    <p:sldId id="420" r:id="rId25"/>
    <p:sldId id="421" r:id="rId26"/>
    <p:sldId id="422" r:id="rId27"/>
    <p:sldId id="423" r:id="rId28"/>
    <p:sldId id="424" r:id="rId29"/>
    <p:sldId id="429" r:id="rId30"/>
    <p:sldId id="430" r:id="rId31"/>
    <p:sldId id="431" r:id="rId32"/>
    <p:sldId id="463" r:id="rId33"/>
    <p:sldId id="432" r:id="rId34"/>
    <p:sldId id="433" r:id="rId35"/>
    <p:sldId id="434" r:id="rId36"/>
    <p:sldId id="437" r:id="rId37"/>
    <p:sldId id="436" r:id="rId38"/>
    <p:sldId id="438" r:id="rId39"/>
    <p:sldId id="458" r:id="rId40"/>
  </p:sldIdLst>
  <p:sldSz cx="12192000" cy="6858000"/>
  <p:notesSz cx="7315200" cy="9601200"/>
  <p:defaultTextStyle>
    <a:defPPr>
      <a:defRPr lang="en-US"/>
    </a:defPPr>
    <a:lvl1pPr marL="0" algn="l" defTabSz="914377" rtl="0" eaLnBrk="1" latinLnBrk="0" hangingPunct="1">
      <a:defRPr sz="1900" kern="1200">
        <a:solidFill>
          <a:schemeClr val="tx1"/>
        </a:solidFill>
        <a:latin typeface="+mn-lt"/>
        <a:ea typeface="+mn-ea"/>
        <a:cs typeface="+mn-cs"/>
      </a:defRPr>
    </a:lvl1pPr>
    <a:lvl2pPr marL="457189" algn="l" defTabSz="914377" rtl="0" eaLnBrk="1" latinLnBrk="0" hangingPunct="1">
      <a:defRPr sz="1900" kern="1200">
        <a:solidFill>
          <a:schemeClr val="tx1"/>
        </a:solidFill>
        <a:latin typeface="+mn-lt"/>
        <a:ea typeface="+mn-ea"/>
        <a:cs typeface="+mn-cs"/>
      </a:defRPr>
    </a:lvl2pPr>
    <a:lvl3pPr marL="914377" algn="l" defTabSz="914377" rtl="0" eaLnBrk="1" latinLnBrk="0" hangingPunct="1">
      <a:defRPr sz="1900" kern="1200">
        <a:solidFill>
          <a:schemeClr val="tx1"/>
        </a:solidFill>
        <a:latin typeface="+mn-lt"/>
        <a:ea typeface="+mn-ea"/>
        <a:cs typeface="+mn-cs"/>
      </a:defRPr>
    </a:lvl3pPr>
    <a:lvl4pPr marL="1371566" algn="l" defTabSz="914377" rtl="0" eaLnBrk="1" latinLnBrk="0" hangingPunct="1">
      <a:defRPr sz="1900" kern="1200">
        <a:solidFill>
          <a:schemeClr val="tx1"/>
        </a:solidFill>
        <a:latin typeface="+mn-lt"/>
        <a:ea typeface="+mn-ea"/>
        <a:cs typeface="+mn-cs"/>
      </a:defRPr>
    </a:lvl4pPr>
    <a:lvl5pPr marL="1828754" algn="l" defTabSz="914377" rtl="0" eaLnBrk="1" latinLnBrk="0" hangingPunct="1">
      <a:defRPr sz="1900" kern="1200">
        <a:solidFill>
          <a:schemeClr val="tx1"/>
        </a:solidFill>
        <a:latin typeface="+mn-lt"/>
        <a:ea typeface="+mn-ea"/>
        <a:cs typeface="+mn-cs"/>
      </a:defRPr>
    </a:lvl5pPr>
    <a:lvl6pPr marL="2285943" algn="l" defTabSz="914377" rtl="0" eaLnBrk="1" latinLnBrk="0" hangingPunct="1">
      <a:defRPr sz="1900" kern="1200">
        <a:solidFill>
          <a:schemeClr val="tx1"/>
        </a:solidFill>
        <a:latin typeface="+mn-lt"/>
        <a:ea typeface="+mn-ea"/>
        <a:cs typeface="+mn-cs"/>
      </a:defRPr>
    </a:lvl6pPr>
    <a:lvl7pPr marL="2743131" algn="l" defTabSz="914377" rtl="0" eaLnBrk="1" latinLnBrk="0" hangingPunct="1">
      <a:defRPr sz="1900" kern="1200">
        <a:solidFill>
          <a:schemeClr val="tx1"/>
        </a:solidFill>
        <a:latin typeface="+mn-lt"/>
        <a:ea typeface="+mn-ea"/>
        <a:cs typeface="+mn-cs"/>
      </a:defRPr>
    </a:lvl7pPr>
    <a:lvl8pPr marL="3200320" algn="l" defTabSz="914377" rtl="0" eaLnBrk="1" latinLnBrk="0" hangingPunct="1">
      <a:defRPr sz="1900" kern="1200">
        <a:solidFill>
          <a:schemeClr val="tx1"/>
        </a:solidFill>
        <a:latin typeface="+mn-lt"/>
        <a:ea typeface="+mn-ea"/>
        <a:cs typeface="+mn-cs"/>
      </a:defRPr>
    </a:lvl8pPr>
    <a:lvl9pPr marL="3657509" algn="l" defTabSz="914377"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accent1"/>
    </p:penClr>
    <p:extLst>
      <p:ext uri="{EC167BDD-8182-4AB7-AECC-EB403E3ABB37}">
        <p14:laserClr xmlns:p14="http://schemas.microsoft.com/office/powerpoint/2010/main">
          <a:srgbClr val="0000FF"/>
        </p14:laserClr>
      </p:ext>
      <p:ext uri="{2FDB2607-1784-4EEB-B798-7EB5836EED8A}">
        <p14:showMediaCtrls xmlns:p14="http://schemas.microsoft.com/office/powerpoint/2010/main" val="1"/>
      </p:ext>
    </p:extLst>
  </p:showPr>
  <p:clrMru>
    <a:srgbClr val="FFFA00"/>
    <a:srgbClr val="FFFF00"/>
    <a:srgbClr val="FF9900"/>
    <a:srgbClr val="ED7D31"/>
    <a:srgbClr val="5A2781"/>
    <a:srgbClr val="5D5D5D"/>
    <a:srgbClr val="FFFFFF"/>
    <a:srgbClr val="5F93C2"/>
    <a:srgbClr val="476B9F"/>
    <a:srgbClr val="9FC5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8D4FF6-4A37-4FD9-90E0-86DB78B2D7BE}" v="48" dt="2026-05-05T09:02:22.2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840" y="43"/>
      </p:cViewPr>
      <p:guideLst/>
    </p:cSldViewPr>
  </p:slideViewPr>
  <p:notesTextViewPr>
    <p:cViewPr>
      <p:scale>
        <a:sx n="1" d="1"/>
        <a:sy n="1" d="1"/>
      </p:scale>
      <p:origin x="0" y="0"/>
    </p:cViewPr>
  </p:notesTextViewPr>
  <p:notesViewPr>
    <p:cSldViewPr snapToGrid="0">
      <p:cViewPr>
        <p:scale>
          <a:sx n="1" d="2"/>
          <a:sy n="1" d="2"/>
        </p:scale>
        <p:origin x="4638" y="105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Akhtar" userId="24df8cbf-c4bb-4b0f-990a-c34b46f32809" providerId="ADAL" clId="{7B603757-AF4F-447D-9CF3-5B3B3781D1BD}"/>
    <pc:docChg chg="undo redo custSel addSld delSld modSld sldOrd modMainMaster modNotesMaster modHandout">
      <pc:chgData name="Ahmed Akhtar" userId="24df8cbf-c4bb-4b0f-990a-c34b46f32809" providerId="ADAL" clId="{7B603757-AF4F-447D-9CF3-5B3B3781D1BD}" dt="2026-05-05T09:26:02.033" v="172" actId="166"/>
      <pc:docMkLst>
        <pc:docMk/>
      </pc:docMkLst>
      <pc:sldChg chg="modSp mod">
        <pc:chgData name="Ahmed Akhtar" userId="24df8cbf-c4bb-4b0f-990a-c34b46f32809" providerId="ADAL" clId="{7B603757-AF4F-447D-9CF3-5B3B3781D1BD}" dt="2026-04-30T09:21:00.672" v="50" actId="1076"/>
        <pc:sldMkLst>
          <pc:docMk/>
          <pc:sldMk cId="1022280430" sldId="408"/>
        </pc:sldMkLst>
        <pc:spChg chg="mod">
          <ac:chgData name="Ahmed Akhtar" userId="24df8cbf-c4bb-4b0f-990a-c34b46f32809" providerId="ADAL" clId="{7B603757-AF4F-447D-9CF3-5B3B3781D1BD}" dt="2026-04-30T09:21:00.672" v="50" actId="1076"/>
          <ac:spMkLst>
            <pc:docMk/>
            <pc:sldMk cId="1022280430" sldId="408"/>
            <ac:spMk id="9" creationId="{00000000-0000-0000-0000-000000000000}"/>
          </ac:spMkLst>
        </pc:spChg>
      </pc:sldChg>
      <pc:sldChg chg="addSp delSp modSp mod addAnim delAnim modAnim">
        <pc:chgData name="Ahmed Akhtar" userId="24df8cbf-c4bb-4b0f-990a-c34b46f32809" providerId="ADAL" clId="{7B603757-AF4F-447D-9CF3-5B3B3781D1BD}" dt="2026-04-30T09:31:51.769" v="169"/>
        <pc:sldMkLst>
          <pc:docMk/>
          <pc:sldMk cId="3179764137" sldId="411"/>
        </pc:sldMkLst>
        <pc:spChg chg="add mod">
          <ac:chgData name="Ahmed Akhtar" userId="24df8cbf-c4bb-4b0f-990a-c34b46f32809" providerId="ADAL" clId="{7B603757-AF4F-447D-9CF3-5B3B3781D1BD}" dt="2026-04-30T09:29:13.376" v="100" actId="20577"/>
          <ac:spMkLst>
            <pc:docMk/>
            <pc:sldMk cId="3179764137" sldId="411"/>
            <ac:spMk id="9" creationId="{62A51BD8-E9E6-F9A7-2324-8589C57BAEDD}"/>
          </ac:spMkLst>
        </pc:spChg>
        <pc:spChg chg="add mod">
          <ac:chgData name="Ahmed Akhtar" userId="24df8cbf-c4bb-4b0f-990a-c34b46f32809" providerId="ADAL" clId="{7B603757-AF4F-447D-9CF3-5B3B3781D1BD}" dt="2026-04-30T09:29:28.916" v="102"/>
          <ac:spMkLst>
            <pc:docMk/>
            <pc:sldMk cId="3179764137" sldId="411"/>
            <ac:spMk id="11" creationId="{132F0865-7F84-4FB2-94ED-27FD88BB6F39}"/>
          </ac:spMkLst>
        </pc:spChg>
        <pc:spChg chg="add mod">
          <ac:chgData name="Ahmed Akhtar" userId="24df8cbf-c4bb-4b0f-990a-c34b46f32809" providerId="ADAL" clId="{7B603757-AF4F-447D-9CF3-5B3B3781D1BD}" dt="2026-04-30T09:29:28.916" v="102"/>
          <ac:spMkLst>
            <pc:docMk/>
            <pc:sldMk cId="3179764137" sldId="411"/>
            <ac:spMk id="13" creationId="{275AB92C-7F98-A28B-FEDE-A57BBFC952F6}"/>
          </ac:spMkLst>
        </pc:spChg>
        <pc:spChg chg="add mod">
          <ac:chgData name="Ahmed Akhtar" userId="24df8cbf-c4bb-4b0f-990a-c34b46f32809" providerId="ADAL" clId="{7B603757-AF4F-447D-9CF3-5B3B3781D1BD}" dt="2026-04-30T09:29:28.916" v="102"/>
          <ac:spMkLst>
            <pc:docMk/>
            <pc:sldMk cId="3179764137" sldId="411"/>
            <ac:spMk id="15" creationId="{D053B05A-74D9-8496-15A9-5411B57D1327}"/>
          </ac:spMkLst>
        </pc:spChg>
        <pc:spChg chg="add mod">
          <ac:chgData name="Ahmed Akhtar" userId="24df8cbf-c4bb-4b0f-990a-c34b46f32809" providerId="ADAL" clId="{7B603757-AF4F-447D-9CF3-5B3B3781D1BD}" dt="2026-04-30T09:31:03.197" v="137"/>
          <ac:spMkLst>
            <pc:docMk/>
            <pc:sldMk cId="3179764137" sldId="411"/>
            <ac:spMk id="16" creationId="{ECAB904B-808C-B28E-CE52-4FD4D09D7C94}"/>
          </ac:spMkLst>
        </pc:spChg>
        <pc:picChg chg="add mod">
          <ac:chgData name="Ahmed Akhtar" userId="24df8cbf-c4bb-4b0f-990a-c34b46f32809" providerId="ADAL" clId="{7B603757-AF4F-447D-9CF3-5B3B3781D1BD}" dt="2026-04-30T09:29:28.916" v="102"/>
          <ac:picMkLst>
            <pc:docMk/>
            <pc:sldMk cId="3179764137" sldId="411"/>
            <ac:picMk id="10" creationId="{B2520A0F-2052-6144-61CB-A131407C58C1}"/>
          </ac:picMkLst>
        </pc:picChg>
        <pc:picChg chg="add mod">
          <ac:chgData name="Ahmed Akhtar" userId="24df8cbf-c4bb-4b0f-990a-c34b46f32809" providerId="ADAL" clId="{7B603757-AF4F-447D-9CF3-5B3B3781D1BD}" dt="2026-04-30T09:29:28.916" v="102"/>
          <ac:picMkLst>
            <pc:docMk/>
            <pc:sldMk cId="3179764137" sldId="411"/>
            <ac:picMk id="12" creationId="{6D32A6C5-2501-756B-00F0-B5A1D5A030F0}"/>
          </ac:picMkLst>
        </pc:picChg>
        <pc:picChg chg="add mod">
          <ac:chgData name="Ahmed Akhtar" userId="24df8cbf-c4bb-4b0f-990a-c34b46f32809" providerId="ADAL" clId="{7B603757-AF4F-447D-9CF3-5B3B3781D1BD}" dt="2026-04-30T09:29:28.916" v="102"/>
          <ac:picMkLst>
            <pc:docMk/>
            <pc:sldMk cId="3179764137" sldId="411"/>
            <ac:picMk id="14" creationId="{A6F2BA3D-ECA9-F8D0-B467-940819FCBFAC}"/>
          </ac:picMkLst>
        </pc:picChg>
        <pc:picChg chg="add mod">
          <ac:chgData name="Ahmed Akhtar" userId="24df8cbf-c4bb-4b0f-990a-c34b46f32809" providerId="ADAL" clId="{7B603757-AF4F-447D-9CF3-5B3B3781D1BD}" dt="2026-04-30T09:31:16.589" v="165" actId="1036"/>
          <ac:picMkLst>
            <pc:docMk/>
            <pc:sldMk cId="3179764137" sldId="411"/>
            <ac:picMk id="17" creationId="{91486270-6E00-4B57-81B7-D76F7099849F}"/>
          </ac:picMkLst>
        </pc:picChg>
      </pc:sldChg>
      <pc:sldChg chg="addSp modSp addAnim delAnim modAnim">
        <pc:chgData name="Ahmed Akhtar" userId="24df8cbf-c4bb-4b0f-990a-c34b46f32809" providerId="ADAL" clId="{7B603757-AF4F-447D-9CF3-5B3B3781D1BD}" dt="2026-04-30T09:27:16.262" v="94"/>
        <pc:sldMkLst>
          <pc:docMk/>
          <pc:sldMk cId="3580169259" sldId="452"/>
        </pc:sldMkLst>
        <pc:spChg chg="add mod">
          <ac:chgData name="Ahmed Akhtar" userId="24df8cbf-c4bb-4b0f-990a-c34b46f32809" providerId="ADAL" clId="{7B603757-AF4F-447D-9CF3-5B3B3781D1BD}" dt="2026-04-30T09:23:04.297" v="51"/>
          <ac:spMkLst>
            <pc:docMk/>
            <pc:sldMk cId="3580169259" sldId="452"/>
            <ac:spMk id="5" creationId="{AE9F5622-82DD-7E12-66BC-6E5FE87C4C98}"/>
          </ac:spMkLst>
        </pc:spChg>
      </pc:sldChg>
      <pc:sldChg chg="modSp mod">
        <pc:chgData name="Ahmed Akhtar" userId="24df8cbf-c4bb-4b0f-990a-c34b46f32809" providerId="ADAL" clId="{7B603757-AF4F-447D-9CF3-5B3B3781D1BD}" dt="2026-05-05T09:26:02.033" v="172" actId="166"/>
        <pc:sldMkLst>
          <pc:docMk/>
          <pc:sldMk cId="2879443467" sldId="463"/>
        </pc:sldMkLst>
        <pc:spChg chg="ord">
          <ac:chgData name="Ahmed Akhtar" userId="24df8cbf-c4bb-4b0f-990a-c34b46f32809" providerId="ADAL" clId="{7B603757-AF4F-447D-9CF3-5B3B3781D1BD}" dt="2026-05-05T09:26:02.033" v="172" actId="166"/>
          <ac:spMkLst>
            <pc:docMk/>
            <pc:sldMk cId="2879443467" sldId="463"/>
            <ac:spMk id="32" creationId="{00000000-0000-0000-0000-000000000000}"/>
          </ac:spMkLst>
        </pc:spChg>
        <pc:spChg chg="ord">
          <ac:chgData name="Ahmed Akhtar" userId="24df8cbf-c4bb-4b0f-990a-c34b46f32809" providerId="ADAL" clId="{7B603757-AF4F-447D-9CF3-5B3B3781D1BD}" dt="2026-05-05T09:25:56.987" v="171" actId="167"/>
          <ac:spMkLst>
            <pc:docMk/>
            <pc:sldMk cId="2879443467" sldId="463"/>
            <ac:spMk id="34" creationId="{00000000-0000-0000-0000-000000000000}"/>
          </ac:spMkLst>
        </pc:spChg>
      </pc:sldChg>
      <pc:sldChg chg="modSp add mod ord">
        <pc:chgData name="Ahmed Akhtar" userId="24df8cbf-c4bb-4b0f-990a-c34b46f32809" providerId="ADAL" clId="{7B603757-AF4F-447D-9CF3-5B3B3781D1BD}" dt="2026-04-23T06:42:12.992" v="47" actId="20577"/>
        <pc:sldMkLst>
          <pc:docMk/>
          <pc:sldMk cId="3491477194" sldId="1878"/>
        </pc:sldMkLst>
        <pc:spChg chg="mod">
          <ac:chgData name="Ahmed Akhtar" userId="24df8cbf-c4bb-4b0f-990a-c34b46f32809" providerId="ADAL" clId="{7B603757-AF4F-447D-9CF3-5B3B3781D1BD}" dt="2026-04-23T06:42:12.992" v="47" actId="20577"/>
          <ac:spMkLst>
            <pc:docMk/>
            <pc:sldMk cId="3491477194" sldId="1878"/>
            <ac:spMk id="2" creationId="{436F2F1B-0A31-3B99-D381-91F321BA46D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B2F39BC-A736-4615-99A3-17F414793985}"/>
              </a:ext>
            </a:extLst>
          </p:cNvPr>
          <p:cNvSpPr>
            <a:spLocks noGrp="1"/>
          </p:cNvSpPr>
          <p:nvPr>
            <p:ph type="hdr" sz="quarter"/>
          </p:nvPr>
        </p:nvSpPr>
        <p:spPr>
          <a:xfrm>
            <a:off x="0" y="0"/>
            <a:ext cx="3170717" cy="480911"/>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BDAF0EA-5F10-4F4A-805D-086AA49C17F8}"/>
              </a:ext>
            </a:extLst>
          </p:cNvPr>
          <p:cNvSpPr>
            <a:spLocks noGrp="1"/>
          </p:cNvSpPr>
          <p:nvPr>
            <p:ph type="dt" sz="quarter" idx="1"/>
          </p:nvPr>
        </p:nvSpPr>
        <p:spPr>
          <a:xfrm>
            <a:off x="4142775" y="0"/>
            <a:ext cx="3170717" cy="480911"/>
          </a:xfrm>
          <a:prstGeom prst="rect">
            <a:avLst/>
          </a:prstGeom>
        </p:spPr>
        <p:txBody>
          <a:bodyPr vert="horz" lIns="91440" tIns="45720" rIns="91440" bIns="45720" rtlCol="0"/>
          <a:lstStyle>
            <a:lvl1pPr algn="r">
              <a:defRPr sz="1200"/>
            </a:lvl1pPr>
          </a:lstStyle>
          <a:p>
            <a:fld id="{95D916F6-075E-4719-999D-FE0E3DAE50EF}" type="datetimeFigureOut">
              <a:rPr lang="en-US" smtClean="0"/>
              <a:t>5/5/2026</a:t>
            </a:fld>
            <a:endParaRPr lang="en-US"/>
          </a:p>
        </p:txBody>
      </p:sp>
      <p:sp>
        <p:nvSpPr>
          <p:cNvPr id="4" name="Footer Placeholder 3">
            <a:extLst>
              <a:ext uri="{FF2B5EF4-FFF2-40B4-BE49-F238E27FC236}">
                <a16:creationId xmlns:a16="http://schemas.microsoft.com/office/drawing/2014/main" id="{B8364E48-EFD1-4EF3-B14B-9375B3E98E99}"/>
              </a:ext>
            </a:extLst>
          </p:cNvPr>
          <p:cNvSpPr>
            <a:spLocks noGrp="1"/>
          </p:cNvSpPr>
          <p:nvPr>
            <p:ph type="ftr" sz="quarter" idx="2"/>
          </p:nvPr>
        </p:nvSpPr>
        <p:spPr>
          <a:xfrm>
            <a:off x="0" y="9120290"/>
            <a:ext cx="3170717" cy="480911"/>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0A1AFA8-F243-4334-97EA-A5A459F8498B}"/>
              </a:ext>
            </a:extLst>
          </p:cNvPr>
          <p:cNvSpPr>
            <a:spLocks noGrp="1"/>
          </p:cNvSpPr>
          <p:nvPr>
            <p:ph type="sldNum" sz="quarter" idx="3"/>
          </p:nvPr>
        </p:nvSpPr>
        <p:spPr>
          <a:xfrm>
            <a:off x="4142775" y="9120290"/>
            <a:ext cx="3170717" cy="480911"/>
          </a:xfrm>
          <a:prstGeom prst="rect">
            <a:avLst/>
          </a:prstGeom>
        </p:spPr>
        <p:txBody>
          <a:bodyPr vert="horz" lIns="91440" tIns="45720" rIns="91440" bIns="45720" rtlCol="0" anchor="b"/>
          <a:lstStyle>
            <a:lvl1pPr algn="r">
              <a:defRPr sz="1200"/>
            </a:lvl1pPr>
          </a:lstStyle>
          <a:p>
            <a:fld id="{34836A51-0896-4593-B542-D09F2327236F}" type="slidenum">
              <a:rPr lang="en-US" smtClean="0"/>
              <a:t>‹#›</a:t>
            </a:fld>
            <a:endParaRPr lang="en-US"/>
          </a:p>
        </p:txBody>
      </p:sp>
    </p:spTree>
    <p:extLst>
      <p:ext uri="{BB962C8B-B14F-4D97-AF65-F5344CB8AC3E}">
        <p14:creationId xmlns:p14="http://schemas.microsoft.com/office/powerpoint/2010/main" val="639762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8"/>
          </a:xfrm>
          <a:prstGeom prst="rect">
            <a:avLst/>
          </a:prstGeom>
        </p:spPr>
        <p:txBody>
          <a:bodyPr vert="horz" lIns="92757" tIns="46378" rIns="92757" bIns="46378" rtlCol="0"/>
          <a:lstStyle>
            <a:lvl1pPr algn="l">
              <a:defRPr sz="1200"/>
            </a:lvl1pPr>
          </a:lstStyle>
          <a:p>
            <a:endParaRPr lang="en-US"/>
          </a:p>
        </p:txBody>
      </p:sp>
      <p:sp>
        <p:nvSpPr>
          <p:cNvPr id="3" name="Date Placeholder 2"/>
          <p:cNvSpPr>
            <a:spLocks noGrp="1"/>
          </p:cNvSpPr>
          <p:nvPr>
            <p:ph type="dt" idx="1"/>
          </p:nvPr>
        </p:nvSpPr>
        <p:spPr>
          <a:xfrm>
            <a:off x="4143588" y="0"/>
            <a:ext cx="3169920" cy="481728"/>
          </a:xfrm>
          <a:prstGeom prst="rect">
            <a:avLst/>
          </a:prstGeom>
        </p:spPr>
        <p:txBody>
          <a:bodyPr vert="horz" lIns="92757" tIns="46378" rIns="92757" bIns="46378" rtlCol="0"/>
          <a:lstStyle>
            <a:lvl1pPr algn="r">
              <a:defRPr sz="1200"/>
            </a:lvl1pPr>
          </a:lstStyle>
          <a:p>
            <a:fld id="{7D1664D1-8CFB-4748-8652-F6CDCD1A39DD}" type="datetimeFigureOut">
              <a:rPr lang="en-US" smtClean="0"/>
              <a:t>5/5/2026</a:t>
            </a:fld>
            <a:endParaRPr lang="en-US"/>
          </a:p>
        </p:txBody>
      </p:sp>
      <p:sp>
        <p:nvSpPr>
          <p:cNvPr id="4" name="Slide Image Placeholder 3"/>
          <p:cNvSpPr>
            <a:spLocks noGrp="1" noRot="1" noChangeAspect="1"/>
          </p:cNvSpPr>
          <p:nvPr>
            <p:ph type="sldImg" idx="2"/>
          </p:nvPr>
        </p:nvSpPr>
        <p:spPr>
          <a:xfrm>
            <a:off x="776288" y="1200150"/>
            <a:ext cx="5762625" cy="3241675"/>
          </a:xfrm>
          <a:prstGeom prst="rect">
            <a:avLst/>
          </a:prstGeom>
          <a:noFill/>
          <a:ln w="12700">
            <a:solidFill>
              <a:prstClr val="black"/>
            </a:solidFill>
          </a:ln>
        </p:spPr>
        <p:txBody>
          <a:bodyPr vert="horz" lIns="92757" tIns="46378" rIns="92757" bIns="46378" rtlCol="0" anchor="ctr"/>
          <a:lstStyle/>
          <a:p>
            <a:endParaRPr lang="en-US"/>
          </a:p>
        </p:txBody>
      </p:sp>
      <p:sp>
        <p:nvSpPr>
          <p:cNvPr id="5" name="Notes Placeholder 4"/>
          <p:cNvSpPr>
            <a:spLocks noGrp="1"/>
          </p:cNvSpPr>
          <p:nvPr>
            <p:ph type="body" sz="quarter" idx="3"/>
          </p:nvPr>
        </p:nvSpPr>
        <p:spPr>
          <a:xfrm>
            <a:off x="731521" y="4620577"/>
            <a:ext cx="5852160" cy="3780472"/>
          </a:xfrm>
          <a:prstGeom prst="rect">
            <a:avLst/>
          </a:prstGeom>
        </p:spPr>
        <p:txBody>
          <a:bodyPr vert="horz" lIns="92757" tIns="46378" rIns="92757" bIns="4637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7"/>
          </a:xfrm>
          <a:prstGeom prst="rect">
            <a:avLst/>
          </a:prstGeom>
        </p:spPr>
        <p:txBody>
          <a:bodyPr vert="horz" lIns="92757" tIns="46378" rIns="92757" bIns="46378" rtlCol="0" anchor="b"/>
          <a:lstStyle>
            <a:lvl1pPr algn="l">
              <a:defRPr sz="1200"/>
            </a:lvl1pPr>
          </a:lstStyle>
          <a:p>
            <a:endParaRPr lang="en-US"/>
          </a:p>
        </p:txBody>
      </p:sp>
      <p:sp>
        <p:nvSpPr>
          <p:cNvPr id="7" name="Slide Number Placeholder 6"/>
          <p:cNvSpPr>
            <a:spLocks noGrp="1"/>
          </p:cNvSpPr>
          <p:nvPr>
            <p:ph type="sldNum" sz="quarter" idx="5"/>
          </p:nvPr>
        </p:nvSpPr>
        <p:spPr>
          <a:xfrm>
            <a:off x="4143588" y="9119474"/>
            <a:ext cx="3169920" cy="481727"/>
          </a:xfrm>
          <a:prstGeom prst="rect">
            <a:avLst/>
          </a:prstGeom>
        </p:spPr>
        <p:txBody>
          <a:bodyPr vert="horz" lIns="92757" tIns="46378" rIns="92757" bIns="46378" rtlCol="0" anchor="b"/>
          <a:lstStyle>
            <a:lvl1pPr algn="r">
              <a:defRPr sz="1200"/>
            </a:lvl1pPr>
          </a:lstStyle>
          <a:p>
            <a:fld id="{85412D0C-2374-4405-A38C-518845727A51}" type="slidenum">
              <a:rPr lang="en-US" smtClean="0"/>
              <a:t>‹#›</a:t>
            </a:fld>
            <a:endParaRPr lang="en-US"/>
          </a:p>
        </p:txBody>
      </p:sp>
    </p:spTree>
    <p:extLst>
      <p:ext uri="{BB962C8B-B14F-4D97-AF65-F5344CB8AC3E}">
        <p14:creationId xmlns:p14="http://schemas.microsoft.com/office/powerpoint/2010/main" val="1992114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B9441-6582-E7F9-4722-23CA10EF9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AECBD-37BA-320F-0498-2FBDDF25A4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40E71-C87A-0B56-00D5-27F7BEAA3768}"/>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BF5946C2-ED0D-D3F0-737B-0299160800D4}"/>
              </a:ext>
            </a:extLst>
          </p:cNvPr>
          <p:cNvSpPr>
            <a:spLocks noGrp="1"/>
          </p:cNvSpPr>
          <p:nvPr>
            <p:ph type="sldNum" sz="quarter" idx="5"/>
          </p:nvPr>
        </p:nvSpPr>
        <p:spPr/>
        <p:txBody>
          <a:bodyPr/>
          <a:lstStyle/>
          <a:p>
            <a:fld id="{8007DBF7-D854-5948-86B6-07B87F1D8E96}" type="slidenum">
              <a:rPr lang="en-PK" smtClean="0"/>
              <a:t>1</a:t>
            </a:fld>
            <a:endParaRPr lang="en-PK"/>
          </a:p>
        </p:txBody>
      </p:sp>
    </p:spTree>
    <p:extLst>
      <p:ext uri="{BB962C8B-B14F-4D97-AF65-F5344CB8AC3E}">
        <p14:creationId xmlns:p14="http://schemas.microsoft.com/office/powerpoint/2010/main" val="3163232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412D0C-2374-4405-A38C-518845727A51}" type="slidenum">
              <a:rPr lang="en-US" smtClean="0"/>
              <a:t>3</a:t>
            </a:fld>
            <a:endParaRPr lang="en-US"/>
          </a:p>
        </p:txBody>
      </p:sp>
    </p:spTree>
    <p:extLst>
      <p:ext uri="{BB962C8B-B14F-4D97-AF65-F5344CB8AC3E}">
        <p14:creationId xmlns:p14="http://schemas.microsoft.com/office/powerpoint/2010/main" val="3032550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5412D0C-2374-4405-A38C-518845727A51}" type="slidenum">
              <a:rPr lang="en-US" smtClean="0"/>
              <a:t>7</a:t>
            </a:fld>
            <a:endParaRPr lang="en-US"/>
          </a:p>
        </p:txBody>
      </p:sp>
    </p:spTree>
    <p:extLst>
      <p:ext uri="{BB962C8B-B14F-4D97-AF65-F5344CB8AC3E}">
        <p14:creationId xmlns:p14="http://schemas.microsoft.com/office/powerpoint/2010/main" val="2834357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a:br>
            <a:endParaRPr lang="en-US"/>
          </a:p>
        </p:txBody>
      </p:sp>
      <p:sp>
        <p:nvSpPr>
          <p:cNvPr id="4" name="Slide Number Placeholder 3"/>
          <p:cNvSpPr>
            <a:spLocks noGrp="1"/>
          </p:cNvSpPr>
          <p:nvPr>
            <p:ph type="sldNum" sz="quarter" idx="10"/>
          </p:nvPr>
        </p:nvSpPr>
        <p:spPr/>
        <p:txBody>
          <a:bodyPr/>
          <a:lstStyle/>
          <a:p>
            <a:fld id="{85412D0C-2374-4405-A38C-518845727A51}" type="slidenum">
              <a:rPr lang="en-US" smtClean="0"/>
              <a:t>10</a:t>
            </a:fld>
            <a:endParaRPr lang="en-US"/>
          </a:p>
        </p:txBody>
      </p:sp>
    </p:spTree>
    <p:extLst>
      <p:ext uri="{BB962C8B-B14F-4D97-AF65-F5344CB8AC3E}">
        <p14:creationId xmlns:p14="http://schemas.microsoft.com/office/powerpoint/2010/main" val="203882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Stablecoin Price Stability via Arbitrage:</a:t>
            </a:r>
            <a:br>
              <a:rPr lang="en-US"/>
            </a:br>
            <a:r>
              <a:rPr lang="en-US"/>
              <a:t>Fiat currency-backed stablecoins maintain their price peg without needing on-chain price feeds (oracles). Instead, they rely on market arbitrage, which means investors profit from price discrepancies:</a:t>
            </a:r>
          </a:p>
          <a:p>
            <a:pPr lvl="1"/>
            <a:r>
              <a:rPr lang="en-US" b="1"/>
              <a:t>When the stablecoin price falls below its peg (e.g., below $1):</a:t>
            </a:r>
            <a:br>
              <a:rPr lang="en-US"/>
            </a:br>
            <a:r>
              <a:rPr lang="en-US"/>
              <a:t>Investors buy the stablecoin cheaply on external markets and immediately redeem it with the issuer at the guaranteed peg value (e.g., $1), earning a profit. This buying activity drives demand, raising the market price back toward the peg.</a:t>
            </a:r>
          </a:p>
          <a:p>
            <a:pPr lvl="1"/>
            <a:r>
              <a:rPr lang="en-US" b="1"/>
              <a:t>When the stablecoin price rises above its peg (e.g., above $1):</a:t>
            </a:r>
            <a:br>
              <a:rPr lang="en-US"/>
            </a:br>
            <a:r>
              <a:rPr lang="en-US"/>
              <a:t>Investors mint new stablecoins at the guaranteed peg value from the issuer and sell them on the market at the higher market price, again profiting from the difference. This selling activity increases supply, bringing the market price back down to the peg.</a:t>
            </a:r>
          </a:p>
          <a:p>
            <a:r>
              <a:rPr lang="en-US"/>
              <a:t>This </a:t>
            </a:r>
            <a:r>
              <a:rPr lang="en-US" b="1"/>
              <a:t>self-regulating mechanism</a:t>
            </a:r>
            <a:r>
              <a:rPr lang="en-US"/>
              <a:t> eliminates the need for on-chain price oracles because the peg stability is enforced through market incentives rather than externally supplied price data.</a:t>
            </a:r>
          </a:p>
          <a:p>
            <a:endParaRPr lang="en-US"/>
          </a:p>
        </p:txBody>
      </p:sp>
      <p:sp>
        <p:nvSpPr>
          <p:cNvPr id="4" name="Slide Number Placeholder 3"/>
          <p:cNvSpPr>
            <a:spLocks noGrp="1"/>
          </p:cNvSpPr>
          <p:nvPr>
            <p:ph type="sldNum" sz="quarter" idx="10"/>
          </p:nvPr>
        </p:nvSpPr>
        <p:spPr/>
        <p:txBody>
          <a:bodyPr/>
          <a:lstStyle/>
          <a:p>
            <a:fld id="{85412D0C-2374-4405-A38C-518845727A51}" type="slidenum">
              <a:rPr lang="en-US" smtClean="0"/>
              <a:t>11</a:t>
            </a:fld>
            <a:endParaRPr lang="en-US"/>
          </a:p>
        </p:txBody>
      </p:sp>
    </p:spTree>
    <p:extLst>
      <p:ext uri="{BB962C8B-B14F-4D97-AF65-F5344CB8AC3E}">
        <p14:creationId xmlns:p14="http://schemas.microsoft.com/office/powerpoint/2010/main" val="2431994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a:br>
            <a:endParaRPr lang="en-US"/>
          </a:p>
        </p:txBody>
      </p:sp>
      <p:sp>
        <p:nvSpPr>
          <p:cNvPr id="4" name="Slide Number Placeholder 3"/>
          <p:cNvSpPr>
            <a:spLocks noGrp="1"/>
          </p:cNvSpPr>
          <p:nvPr>
            <p:ph type="sldNum" sz="quarter" idx="10"/>
          </p:nvPr>
        </p:nvSpPr>
        <p:spPr/>
        <p:txBody>
          <a:bodyPr/>
          <a:lstStyle/>
          <a:p>
            <a:fld id="{85412D0C-2374-4405-A38C-518845727A51}" type="slidenum">
              <a:rPr lang="en-US" smtClean="0"/>
              <a:t>13</a:t>
            </a:fld>
            <a:endParaRPr lang="en-US"/>
          </a:p>
        </p:txBody>
      </p:sp>
    </p:spTree>
    <p:extLst>
      <p:ext uri="{BB962C8B-B14F-4D97-AF65-F5344CB8AC3E}">
        <p14:creationId xmlns:p14="http://schemas.microsoft.com/office/powerpoint/2010/main" val="1139212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21EF9-A1EF-E65D-5B43-C105E1275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73FDBD-3CA2-5707-6BC8-BA9D97C797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710A71-E3E5-F25B-B5FD-C83A26DA6CE7}"/>
              </a:ext>
            </a:extLst>
          </p:cNvPr>
          <p:cNvSpPr>
            <a:spLocks noGrp="1"/>
          </p:cNvSpPr>
          <p:nvPr>
            <p:ph type="body" idx="1"/>
          </p:nvPr>
        </p:nvSpPr>
        <p:spPr/>
        <p:txBody>
          <a:bodyPr/>
          <a:lstStyle/>
          <a:p>
            <a:br>
              <a:rPr lang="en-US"/>
            </a:br>
            <a:endParaRPr lang="en-US"/>
          </a:p>
        </p:txBody>
      </p:sp>
      <p:sp>
        <p:nvSpPr>
          <p:cNvPr id="4" name="Slide Number Placeholder 3">
            <a:extLst>
              <a:ext uri="{FF2B5EF4-FFF2-40B4-BE49-F238E27FC236}">
                <a16:creationId xmlns:a16="http://schemas.microsoft.com/office/drawing/2014/main" id="{24BB3C08-D221-1BCE-E006-2DB7FC7FBF5B}"/>
              </a:ext>
            </a:extLst>
          </p:cNvPr>
          <p:cNvSpPr>
            <a:spLocks noGrp="1"/>
          </p:cNvSpPr>
          <p:nvPr>
            <p:ph type="sldNum" sz="quarter" idx="10"/>
          </p:nvPr>
        </p:nvSpPr>
        <p:spPr/>
        <p:txBody>
          <a:bodyPr/>
          <a:lstStyle/>
          <a:p>
            <a:fld id="{85412D0C-2374-4405-A38C-518845727A51}" type="slidenum">
              <a:rPr lang="en-US" smtClean="0"/>
              <a:t>14</a:t>
            </a:fld>
            <a:endParaRPr lang="en-US"/>
          </a:p>
        </p:txBody>
      </p:sp>
    </p:spTree>
    <p:extLst>
      <p:ext uri="{BB962C8B-B14F-4D97-AF65-F5344CB8AC3E}">
        <p14:creationId xmlns:p14="http://schemas.microsoft.com/office/powerpoint/2010/main" val="3841967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Redemption:</a:t>
            </a:r>
            <a:r>
              <a:rPr lang="en-US"/>
              <a:t> Upon on-chain redemption, the user receives the equivalent amount of gold (the underlying asset), not fiat currency.</a:t>
            </a:r>
            <a:br>
              <a:rPr lang="en-US"/>
            </a:br>
            <a:br>
              <a:rPr lang="en-US"/>
            </a:br>
            <a:r>
              <a:rPr lang="en-US"/>
              <a:t>For example:</a:t>
            </a:r>
          </a:p>
          <a:p>
            <a:r>
              <a:rPr lang="en-US" b="1"/>
              <a:t>PAXG:</a:t>
            </a:r>
            <a:r>
              <a:rPr lang="en-US"/>
              <a:t> Each token represents 1 troy ounce of London Good Delivery gold; upon redemption, the holder can claim allocated gold or sell the token for fiat on exchanges.</a:t>
            </a:r>
          </a:p>
          <a:p>
            <a:r>
              <a:rPr lang="en-US" b="1"/>
              <a:t>XAUT:</a:t>
            </a:r>
            <a:r>
              <a:rPr lang="en-US"/>
              <a:t> Each token equals 1 troy ounce of gold held in Swiss vaults; the holder can request physical delivery or transfer ownership.</a:t>
            </a:r>
          </a:p>
          <a:p>
            <a:r>
              <a:rPr lang="en-US" b="1"/>
              <a:t>DGX:</a:t>
            </a:r>
            <a:r>
              <a:rPr lang="en-US"/>
              <a:t> Each token equals 1 gram of gold, redeemable for physical gold bars at designated vault locations.</a:t>
            </a:r>
          </a:p>
          <a:p>
            <a:br>
              <a:rPr lang="en-US"/>
            </a:br>
            <a:r>
              <a:rPr lang="en-US"/>
              <a:t>However, if a user </a:t>
            </a:r>
            <a:r>
              <a:rPr lang="en-US" b="1"/>
              <a:t>sells their stablecoins on an exchange</a:t>
            </a:r>
            <a:r>
              <a:rPr lang="en-US"/>
              <a:t>, they will receive </a:t>
            </a:r>
            <a:r>
              <a:rPr lang="en-US" b="1"/>
              <a:t>fiat currency (e.g., USD) or crypto equivalent</a:t>
            </a:r>
            <a:r>
              <a:rPr lang="en-US"/>
              <a:t> at the market rate — but this is a trade, not redemption.</a:t>
            </a:r>
            <a:br>
              <a:rPr lang="en-US"/>
            </a:br>
            <a:endParaRPr lang="en-US"/>
          </a:p>
        </p:txBody>
      </p:sp>
      <p:sp>
        <p:nvSpPr>
          <p:cNvPr id="4" name="Slide Number Placeholder 3"/>
          <p:cNvSpPr>
            <a:spLocks noGrp="1"/>
          </p:cNvSpPr>
          <p:nvPr>
            <p:ph type="sldNum" sz="quarter" idx="10"/>
          </p:nvPr>
        </p:nvSpPr>
        <p:spPr/>
        <p:txBody>
          <a:bodyPr/>
          <a:lstStyle/>
          <a:p>
            <a:fld id="{85412D0C-2374-4405-A38C-518845727A51}" type="slidenum">
              <a:rPr lang="en-US" smtClean="0"/>
              <a:t>15</a:t>
            </a:fld>
            <a:endParaRPr lang="en-US"/>
          </a:p>
        </p:txBody>
      </p:sp>
    </p:spTree>
    <p:extLst>
      <p:ext uri="{BB962C8B-B14F-4D97-AF65-F5344CB8AC3E}">
        <p14:creationId xmlns:p14="http://schemas.microsoft.com/office/powerpoint/2010/main" val="18537993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5412D0C-2374-4405-A38C-518845727A51}" type="slidenum">
              <a:rPr lang="en-US" smtClean="0"/>
              <a:t>21</a:t>
            </a:fld>
            <a:endParaRPr lang="en-US"/>
          </a:p>
        </p:txBody>
      </p:sp>
    </p:spTree>
    <p:extLst>
      <p:ext uri="{BB962C8B-B14F-4D97-AF65-F5344CB8AC3E}">
        <p14:creationId xmlns:p14="http://schemas.microsoft.com/office/powerpoint/2010/main" val="31208668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5412D0C-2374-4405-A38C-518845727A51}" type="slidenum">
              <a:rPr lang="en-US" smtClean="0"/>
              <a:t>22</a:t>
            </a:fld>
            <a:endParaRPr lang="en-US" dirty="0"/>
          </a:p>
        </p:txBody>
      </p:sp>
    </p:spTree>
    <p:extLst>
      <p:ext uri="{BB962C8B-B14F-4D97-AF65-F5344CB8AC3E}">
        <p14:creationId xmlns:p14="http://schemas.microsoft.com/office/powerpoint/2010/main" val="35329460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5412D0C-2374-4405-A38C-518845727A51}" type="slidenum">
              <a:rPr lang="en-US" smtClean="0"/>
              <a:t>23</a:t>
            </a:fld>
            <a:endParaRPr lang="en-US" dirty="0"/>
          </a:p>
        </p:txBody>
      </p:sp>
    </p:spTree>
    <p:extLst>
      <p:ext uri="{BB962C8B-B14F-4D97-AF65-F5344CB8AC3E}">
        <p14:creationId xmlns:p14="http://schemas.microsoft.com/office/powerpoint/2010/main" val="18960170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5412D0C-2374-4405-A38C-518845727A51}" type="slidenum">
              <a:rPr lang="en-US" smtClean="0"/>
              <a:t>25</a:t>
            </a:fld>
            <a:endParaRPr lang="en-US" dirty="0"/>
          </a:p>
        </p:txBody>
      </p:sp>
    </p:spTree>
    <p:extLst>
      <p:ext uri="{BB962C8B-B14F-4D97-AF65-F5344CB8AC3E}">
        <p14:creationId xmlns:p14="http://schemas.microsoft.com/office/powerpoint/2010/main" val="7356509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5412D0C-2374-4405-A38C-518845727A51}" type="slidenum">
              <a:rPr lang="en-US" smtClean="0"/>
              <a:t>34</a:t>
            </a:fld>
            <a:endParaRPr lang="en-US"/>
          </a:p>
        </p:txBody>
      </p:sp>
    </p:spTree>
    <p:extLst>
      <p:ext uri="{BB962C8B-B14F-4D97-AF65-F5344CB8AC3E}">
        <p14:creationId xmlns:p14="http://schemas.microsoft.com/office/powerpoint/2010/main" val="2087955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C7858-D394-1DF3-8548-66CE55288883}"/>
              </a:ext>
            </a:extLst>
          </p:cNvPr>
          <p:cNvSpPr>
            <a:spLocks noGrp="1"/>
          </p:cNvSpPr>
          <p:nvPr>
            <p:ph type="ctrTitle"/>
          </p:nvPr>
        </p:nvSpPr>
        <p:spPr>
          <a:xfrm>
            <a:off x="1524000" y="1894523"/>
            <a:ext cx="9144000" cy="2387600"/>
          </a:xfrm>
        </p:spPr>
        <p:txBody>
          <a:bodyPr anchor="b">
            <a:normAutofit/>
          </a:bodyPr>
          <a:lstStyle>
            <a:lvl1pPr algn="ctr">
              <a:defRPr sz="5400">
                <a:solidFill>
                  <a:srgbClr val="0432FF"/>
                </a:solidFill>
              </a:defRPr>
            </a:lvl1pPr>
          </a:lstStyle>
          <a:p>
            <a:r>
              <a:rPr lang="en-GB" dirty="0"/>
              <a:t>Click to edit Master title style</a:t>
            </a:r>
            <a:endParaRPr lang="en-PK" dirty="0"/>
          </a:p>
        </p:txBody>
      </p:sp>
      <p:sp>
        <p:nvSpPr>
          <p:cNvPr id="3" name="Subtitle 2">
            <a:extLst>
              <a:ext uri="{FF2B5EF4-FFF2-40B4-BE49-F238E27FC236}">
                <a16:creationId xmlns:a16="http://schemas.microsoft.com/office/drawing/2014/main" id="{0676C1A2-C823-594D-0305-E762FC21A848}"/>
              </a:ext>
            </a:extLst>
          </p:cNvPr>
          <p:cNvSpPr>
            <a:spLocks noGrp="1"/>
          </p:cNvSpPr>
          <p:nvPr>
            <p:ph type="subTitle" idx="1"/>
          </p:nvPr>
        </p:nvSpPr>
        <p:spPr>
          <a:xfrm>
            <a:off x="1524000" y="4561840"/>
            <a:ext cx="9144000" cy="158496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PK" dirty="0"/>
          </a:p>
        </p:txBody>
      </p:sp>
      <p:sp>
        <p:nvSpPr>
          <p:cNvPr id="4" name="Date Placeholder 3">
            <a:extLst>
              <a:ext uri="{FF2B5EF4-FFF2-40B4-BE49-F238E27FC236}">
                <a16:creationId xmlns:a16="http://schemas.microsoft.com/office/drawing/2014/main" id="{D21EADBC-FC3A-F6AB-47B4-2E47609F86F4}"/>
              </a:ext>
            </a:extLst>
          </p:cNvPr>
          <p:cNvSpPr>
            <a:spLocks noGrp="1"/>
          </p:cNvSpPr>
          <p:nvPr>
            <p:ph type="dt" sz="half" idx="10"/>
          </p:nvPr>
        </p:nvSpPr>
        <p:spPr/>
        <p:txBody>
          <a:bodyPr/>
          <a:lstStyle/>
          <a:p>
            <a:fld id="{C3849243-4112-7B47-A574-2D273E35D5BF}" type="datetime1">
              <a:rPr lang="en-US" smtClean="0"/>
              <a:t>5/5/2026</a:t>
            </a:fld>
            <a:endParaRPr lang="en-US" dirty="0"/>
          </a:p>
        </p:txBody>
      </p:sp>
      <p:sp>
        <p:nvSpPr>
          <p:cNvPr id="5" name="Footer Placeholder 4">
            <a:extLst>
              <a:ext uri="{FF2B5EF4-FFF2-40B4-BE49-F238E27FC236}">
                <a16:creationId xmlns:a16="http://schemas.microsoft.com/office/drawing/2014/main" id="{A40CD5FA-CF77-D285-681E-29E6811E87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A101942-960C-299C-A498-C3ED2A47A96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37801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2BD9A-E09E-27C0-F440-9D83036CB997}"/>
              </a:ext>
            </a:extLst>
          </p:cNvPr>
          <p:cNvSpPr>
            <a:spLocks noGrp="1"/>
          </p:cNvSpPr>
          <p:nvPr>
            <p:ph type="title"/>
          </p:nvPr>
        </p:nvSpPr>
        <p:spPr>
          <a:xfrm>
            <a:off x="487680" y="101601"/>
            <a:ext cx="11186160" cy="985519"/>
          </a:xfrm>
        </p:spPr>
        <p:txBody>
          <a:bodyPr/>
          <a:lstStyle>
            <a:lvl1pPr>
              <a:defRPr>
                <a:solidFill>
                  <a:schemeClr val="tx1"/>
                </a:solidFill>
              </a:defRPr>
            </a:lvl1pPr>
          </a:lstStyle>
          <a:p>
            <a:r>
              <a:rPr lang="en-GB" dirty="0"/>
              <a:t>Click to edit Master title style</a:t>
            </a:r>
            <a:endParaRPr lang="en-PK" dirty="0"/>
          </a:p>
        </p:txBody>
      </p:sp>
      <p:sp>
        <p:nvSpPr>
          <p:cNvPr id="3" name="Content Placeholder 2">
            <a:extLst>
              <a:ext uri="{FF2B5EF4-FFF2-40B4-BE49-F238E27FC236}">
                <a16:creationId xmlns:a16="http://schemas.microsoft.com/office/drawing/2014/main" id="{5E8317A4-8BBD-54EB-8341-6A6B099145E6}"/>
              </a:ext>
            </a:extLst>
          </p:cNvPr>
          <p:cNvSpPr>
            <a:spLocks noGrp="1"/>
          </p:cNvSpPr>
          <p:nvPr>
            <p:ph idx="1"/>
          </p:nvPr>
        </p:nvSpPr>
        <p:spPr>
          <a:xfrm>
            <a:off x="487680" y="1097280"/>
            <a:ext cx="11186160" cy="5079683"/>
          </a:xfrm>
        </p:spPr>
        <p:txBody>
          <a:bodyPr>
            <a:normAutofit/>
          </a:bodyPr>
          <a:lstStyle>
            <a:lvl1pPr>
              <a:defRPr sz="3200"/>
            </a:lvl1pPr>
            <a:lvl2pPr marL="685800" indent="-228600">
              <a:buFont typeface="System Font Regular"/>
              <a:buChar char="−"/>
              <a:defRPr sz="2800"/>
            </a:lvl2pPr>
            <a:lvl3pPr marL="1143000" indent="-228600">
              <a:buFont typeface="Wingdings" pitchFamily="2" charset="2"/>
              <a:buChar char="§"/>
              <a:defRPr sz="2400"/>
            </a:lvl3pPr>
            <a:lvl4pPr>
              <a:defRPr sz="2000"/>
            </a:lvl4pPr>
            <a:lvl5pPr>
              <a:defRPr sz="20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K" dirty="0"/>
          </a:p>
        </p:txBody>
      </p:sp>
      <p:sp>
        <p:nvSpPr>
          <p:cNvPr id="10" name="Date Placeholder 9">
            <a:extLst>
              <a:ext uri="{FF2B5EF4-FFF2-40B4-BE49-F238E27FC236}">
                <a16:creationId xmlns:a16="http://schemas.microsoft.com/office/drawing/2014/main" id="{5348C2E2-1287-A287-C5A8-249139348A29}"/>
              </a:ext>
            </a:extLst>
          </p:cNvPr>
          <p:cNvSpPr>
            <a:spLocks noGrp="1"/>
          </p:cNvSpPr>
          <p:nvPr>
            <p:ph type="dt" sz="half" idx="10"/>
          </p:nvPr>
        </p:nvSpPr>
        <p:spPr/>
        <p:txBody>
          <a:bodyPr/>
          <a:lstStyle/>
          <a:p>
            <a:fld id="{817CC187-CAD7-6048-8C63-99BBB8908136}" type="datetime1">
              <a:rPr lang="en-US" smtClean="0"/>
              <a:t>5/5/2026</a:t>
            </a:fld>
            <a:endParaRPr lang="en-US" dirty="0"/>
          </a:p>
        </p:txBody>
      </p:sp>
      <p:sp>
        <p:nvSpPr>
          <p:cNvPr id="11" name="Footer Placeholder 10">
            <a:extLst>
              <a:ext uri="{FF2B5EF4-FFF2-40B4-BE49-F238E27FC236}">
                <a16:creationId xmlns:a16="http://schemas.microsoft.com/office/drawing/2014/main" id="{1DC7CB26-524D-696E-CC83-507688F1F030}"/>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C5E6A54D-DC81-738E-1BEE-B237D69CCA8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01807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04648-4538-750C-7EE1-223668DCD0E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PK"/>
          </a:p>
        </p:txBody>
      </p:sp>
      <p:sp>
        <p:nvSpPr>
          <p:cNvPr id="3" name="Text Placeholder 2">
            <a:extLst>
              <a:ext uri="{FF2B5EF4-FFF2-40B4-BE49-F238E27FC236}">
                <a16:creationId xmlns:a16="http://schemas.microsoft.com/office/drawing/2014/main" id="{5600F2E1-ECAA-4DD2-425F-64F40CAD30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BE963A2-C90D-F927-6660-D043609CC6B9}"/>
              </a:ext>
            </a:extLst>
          </p:cNvPr>
          <p:cNvSpPr>
            <a:spLocks noGrp="1"/>
          </p:cNvSpPr>
          <p:nvPr>
            <p:ph type="dt" sz="half" idx="10"/>
          </p:nvPr>
        </p:nvSpPr>
        <p:spPr/>
        <p:txBody>
          <a:bodyPr/>
          <a:lstStyle/>
          <a:p>
            <a:fld id="{AB3EF2E6-6629-DA43-81BC-EC712F4B5466}" type="datetime1">
              <a:rPr lang="en-US" smtClean="0"/>
              <a:t>5/5/2026</a:t>
            </a:fld>
            <a:endParaRPr lang="en-US" dirty="0"/>
          </a:p>
        </p:txBody>
      </p:sp>
      <p:sp>
        <p:nvSpPr>
          <p:cNvPr id="5" name="Footer Placeholder 4">
            <a:extLst>
              <a:ext uri="{FF2B5EF4-FFF2-40B4-BE49-F238E27FC236}">
                <a16:creationId xmlns:a16="http://schemas.microsoft.com/office/drawing/2014/main" id="{38BFE049-0473-B4C2-1291-C73354AD41D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731B0E-4E34-EAD8-A1D1-57CBD5CE222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25623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C6983-ACF4-D2FF-550D-7521D9C10608}"/>
              </a:ext>
            </a:extLst>
          </p:cNvPr>
          <p:cNvSpPr>
            <a:spLocks noGrp="1"/>
          </p:cNvSpPr>
          <p:nvPr>
            <p:ph type="title"/>
          </p:nvPr>
        </p:nvSpPr>
        <p:spPr/>
        <p:txBody>
          <a:bodyPr/>
          <a:lstStyle>
            <a:lvl1pPr>
              <a:defRPr baseline="0">
                <a:solidFill>
                  <a:schemeClr val="tx1"/>
                </a:solidFill>
              </a:defRPr>
            </a:lvl1pPr>
          </a:lstStyle>
          <a:p>
            <a:r>
              <a:rPr lang="en-GB" dirty="0"/>
              <a:t>Click to edit Master title style</a:t>
            </a:r>
            <a:endParaRPr lang="en-PK" dirty="0"/>
          </a:p>
        </p:txBody>
      </p:sp>
      <p:sp>
        <p:nvSpPr>
          <p:cNvPr id="3" name="Content Placeholder 2">
            <a:extLst>
              <a:ext uri="{FF2B5EF4-FFF2-40B4-BE49-F238E27FC236}">
                <a16:creationId xmlns:a16="http://schemas.microsoft.com/office/drawing/2014/main" id="{867760F6-F485-781B-D79F-C026B432F21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Content Placeholder 3">
            <a:extLst>
              <a:ext uri="{FF2B5EF4-FFF2-40B4-BE49-F238E27FC236}">
                <a16:creationId xmlns:a16="http://schemas.microsoft.com/office/drawing/2014/main" id="{0C0A9B31-1608-966B-6FF9-D180F6BA70E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Date Placeholder 4">
            <a:extLst>
              <a:ext uri="{FF2B5EF4-FFF2-40B4-BE49-F238E27FC236}">
                <a16:creationId xmlns:a16="http://schemas.microsoft.com/office/drawing/2014/main" id="{AE4E9F2A-B43F-F0D4-3F76-27FB4DE7B7DA}"/>
              </a:ext>
            </a:extLst>
          </p:cNvPr>
          <p:cNvSpPr>
            <a:spLocks noGrp="1"/>
          </p:cNvSpPr>
          <p:nvPr>
            <p:ph type="dt" sz="half" idx="10"/>
          </p:nvPr>
        </p:nvSpPr>
        <p:spPr/>
        <p:txBody>
          <a:bodyPr/>
          <a:lstStyle/>
          <a:p>
            <a:fld id="{36F14FDE-C188-ED4A-8904-90C7377CA55E}" type="datetime1">
              <a:rPr lang="en-US" smtClean="0"/>
              <a:t>5/5/2026</a:t>
            </a:fld>
            <a:endParaRPr lang="en-US" dirty="0"/>
          </a:p>
        </p:txBody>
      </p:sp>
      <p:sp>
        <p:nvSpPr>
          <p:cNvPr id="6" name="Footer Placeholder 5">
            <a:extLst>
              <a:ext uri="{FF2B5EF4-FFF2-40B4-BE49-F238E27FC236}">
                <a16:creationId xmlns:a16="http://schemas.microsoft.com/office/drawing/2014/main" id="{8C05907C-697C-ED08-3F75-E31B2EE3DBD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CAA1F3D-78B2-4FF0-F5DB-76EFAA2F794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497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5B2D-0C64-FBAF-5593-D97CF801A3C1}"/>
              </a:ext>
            </a:extLst>
          </p:cNvPr>
          <p:cNvSpPr>
            <a:spLocks noGrp="1"/>
          </p:cNvSpPr>
          <p:nvPr>
            <p:ph type="title"/>
          </p:nvPr>
        </p:nvSpPr>
        <p:spPr>
          <a:xfrm>
            <a:off x="839788" y="365125"/>
            <a:ext cx="10515600" cy="1325563"/>
          </a:xfrm>
        </p:spPr>
        <p:txBody>
          <a:bodyPr/>
          <a:lstStyle/>
          <a:p>
            <a:r>
              <a:rPr lang="en-GB"/>
              <a:t>Click to edit Master title style</a:t>
            </a:r>
            <a:endParaRPr lang="en-PK"/>
          </a:p>
        </p:txBody>
      </p:sp>
      <p:sp>
        <p:nvSpPr>
          <p:cNvPr id="3" name="Text Placeholder 2">
            <a:extLst>
              <a:ext uri="{FF2B5EF4-FFF2-40B4-BE49-F238E27FC236}">
                <a16:creationId xmlns:a16="http://schemas.microsoft.com/office/drawing/2014/main" id="{F451EA66-FAC3-3698-6220-1A94F8A428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BCA302E-0245-F0D0-D052-B1D8D82B27C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Text Placeholder 4">
            <a:extLst>
              <a:ext uri="{FF2B5EF4-FFF2-40B4-BE49-F238E27FC236}">
                <a16:creationId xmlns:a16="http://schemas.microsoft.com/office/drawing/2014/main" id="{15CA6952-B46D-38B4-F728-B77FC99602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0D0A727-B6BA-1E0C-A4A4-CEAA10F30FC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7" name="Date Placeholder 6">
            <a:extLst>
              <a:ext uri="{FF2B5EF4-FFF2-40B4-BE49-F238E27FC236}">
                <a16:creationId xmlns:a16="http://schemas.microsoft.com/office/drawing/2014/main" id="{6297075C-8C1E-2AE7-1628-AE106A293753}"/>
              </a:ext>
            </a:extLst>
          </p:cNvPr>
          <p:cNvSpPr>
            <a:spLocks noGrp="1"/>
          </p:cNvSpPr>
          <p:nvPr>
            <p:ph type="dt" sz="half" idx="10"/>
          </p:nvPr>
        </p:nvSpPr>
        <p:spPr/>
        <p:txBody>
          <a:bodyPr/>
          <a:lstStyle/>
          <a:p>
            <a:fld id="{731959A2-FD1F-D047-9B71-2099CD96FB05}" type="datetime1">
              <a:rPr lang="en-US" smtClean="0"/>
              <a:t>5/5/2026</a:t>
            </a:fld>
            <a:endParaRPr lang="en-US" dirty="0"/>
          </a:p>
        </p:txBody>
      </p:sp>
      <p:sp>
        <p:nvSpPr>
          <p:cNvPr id="8" name="Footer Placeholder 7">
            <a:extLst>
              <a:ext uri="{FF2B5EF4-FFF2-40B4-BE49-F238E27FC236}">
                <a16:creationId xmlns:a16="http://schemas.microsoft.com/office/drawing/2014/main" id="{B32270EF-DDC8-5339-C583-77D74079374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80C3B1F-1426-32FD-9474-94C0B22380C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87006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D32E3-B42B-8881-ECBD-DD87B0837FE7}"/>
              </a:ext>
            </a:extLst>
          </p:cNvPr>
          <p:cNvSpPr>
            <a:spLocks noGrp="1"/>
          </p:cNvSpPr>
          <p:nvPr>
            <p:ph type="title"/>
          </p:nvPr>
        </p:nvSpPr>
        <p:spPr/>
        <p:txBody>
          <a:bodyPr/>
          <a:lstStyle>
            <a:lvl1pPr>
              <a:defRPr>
                <a:solidFill>
                  <a:schemeClr val="tx1"/>
                </a:solidFill>
              </a:defRPr>
            </a:lvl1pPr>
          </a:lstStyle>
          <a:p>
            <a:r>
              <a:rPr lang="en-GB" dirty="0"/>
              <a:t>Click to edit Master title style</a:t>
            </a:r>
            <a:endParaRPr lang="en-PK" dirty="0"/>
          </a:p>
        </p:txBody>
      </p:sp>
      <p:sp>
        <p:nvSpPr>
          <p:cNvPr id="3" name="Date Placeholder 2">
            <a:extLst>
              <a:ext uri="{FF2B5EF4-FFF2-40B4-BE49-F238E27FC236}">
                <a16:creationId xmlns:a16="http://schemas.microsoft.com/office/drawing/2014/main" id="{02BCC8C1-CDF5-4584-D4F9-21C17A750A43}"/>
              </a:ext>
            </a:extLst>
          </p:cNvPr>
          <p:cNvSpPr>
            <a:spLocks noGrp="1"/>
          </p:cNvSpPr>
          <p:nvPr>
            <p:ph type="dt" sz="half" idx="10"/>
          </p:nvPr>
        </p:nvSpPr>
        <p:spPr/>
        <p:txBody>
          <a:bodyPr/>
          <a:lstStyle/>
          <a:p>
            <a:fld id="{1A5421AD-14B7-AB4F-B42E-6335F98BEAFF}" type="datetime1">
              <a:rPr lang="en-US" smtClean="0"/>
              <a:t>5/5/2026</a:t>
            </a:fld>
            <a:endParaRPr lang="en-US" dirty="0"/>
          </a:p>
        </p:txBody>
      </p:sp>
      <p:sp>
        <p:nvSpPr>
          <p:cNvPr id="4" name="Footer Placeholder 3">
            <a:extLst>
              <a:ext uri="{FF2B5EF4-FFF2-40B4-BE49-F238E27FC236}">
                <a16:creationId xmlns:a16="http://schemas.microsoft.com/office/drawing/2014/main" id="{5CC88A07-7922-BC79-0A35-EFFA19918CE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CF73C74-5D1C-ADB6-FF80-7000D00307D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18168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5375D4-3AF6-A58E-051F-58D7D1235B76}"/>
              </a:ext>
            </a:extLst>
          </p:cNvPr>
          <p:cNvSpPr>
            <a:spLocks noGrp="1"/>
          </p:cNvSpPr>
          <p:nvPr>
            <p:ph type="dt" sz="half" idx="10"/>
          </p:nvPr>
        </p:nvSpPr>
        <p:spPr/>
        <p:txBody>
          <a:bodyPr/>
          <a:lstStyle/>
          <a:p>
            <a:fld id="{AF87A72A-0C74-6E44-A7EE-CA74955F1256}" type="datetime1">
              <a:rPr lang="en-US" smtClean="0"/>
              <a:t>5/5/2026</a:t>
            </a:fld>
            <a:endParaRPr lang="en-US" dirty="0"/>
          </a:p>
        </p:txBody>
      </p:sp>
      <p:sp>
        <p:nvSpPr>
          <p:cNvPr id="3" name="Footer Placeholder 2">
            <a:extLst>
              <a:ext uri="{FF2B5EF4-FFF2-40B4-BE49-F238E27FC236}">
                <a16:creationId xmlns:a16="http://schemas.microsoft.com/office/drawing/2014/main" id="{5F7B3ECF-6748-2655-F77F-E8CA4016310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5F60ABE-8C6A-9352-A215-6EBF86F837B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07662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A5DAC-4002-01D9-6457-D37C5DF97F8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Content Placeholder 2">
            <a:extLst>
              <a:ext uri="{FF2B5EF4-FFF2-40B4-BE49-F238E27FC236}">
                <a16:creationId xmlns:a16="http://schemas.microsoft.com/office/drawing/2014/main" id="{DC7FBE91-7D8E-3944-5569-40E8D6B74D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Text Placeholder 3">
            <a:extLst>
              <a:ext uri="{FF2B5EF4-FFF2-40B4-BE49-F238E27FC236}">
                <a16:creationId xmlns:a16="http://schemas.microsoft.com/office/drawing/2014/main" id="{D0E325B0-27F2-9710-58F6-0C07626C2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F7CBABE-1AE7-D70C-7708-85020C73E59E}"/>
              </a:ext>
            </a:extLst>
          </p:cNvPr>
          <p:cNvSpPr>
            <a:spLocks noGrp="1"/>
          </p:cNvSpPr>
          <p:nvPr>
            <p:ph type="dt" sz="half" idx="10"/>
          </p:nvPr>
        </p:nvSpPr>
        <p:spPr/>
        <p:txBody>
          <a:bodyPr/>
          <a:lstStyle/>
          <a:p>
            <a:fld id="{A09B1005-574F-D344-BCB1-9D2AB269A3EC}" type="datetime1">
              <a:rPr lang="en-US" smtClean="0"/>
              <a:t>5/5/2026</a:t>
            </a:fld>
            <a:endParaRPr lang="en-US" dirty="0"/>
          </a:p>
        </p:txBody>
      </p:sp>
      <p:sp>
        <p:nvSpPr>
          <p:cNvPr id="6" name="Footer Placeholder 5">
            <a:extLst>
              <a:ext uri="{FF2B5EF4-FFF2-40B4-BE49-F238E27FC236}">
                <a16:creationId xmlns:a16="http://schemas.microsoft.com/office/drawing/2014/main" id="{78A73628-77BC-4A24-08E2-D57F3D53AD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605F63F-7883-63AF-C6F9-B3BC8A2E159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53594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0EB26-001F-167A-6BA0-DCD22D59140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Picture Placeholder 2">
            <a:extLst>
              <a:ext uri="{FF2B5EF4-FFF2-40B4-BE49-F238E27FC236}">
                <a16:creationId xmlns:a16="http://schemas.microsoft.com/office/drawing/2014/main" id="{67DCA67E-ABF8-043E-F669-25D35A32AA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B21ED5B5-8357-7928-0AFB-A855388E38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1A618A2-5986-F9BA-EC13-3460B7AB14B2}"/>
              </a:ext>
            </a:extLst>
          </p:cNvPr>
          <p:cNvSpPr>
            <a:spLocks noGrp="1"/>
          </p:cNvSpPr>
          <p:nvPr>
            <p:ph type="dt" sz="half" idx="10"/>
          </p:nvPr>
        </p:nvSpPr>
        <p:spPr/>
        <p:txBody>
          <a:bodyPr/>
          <a:lstStyle/>
          <a:p>
            <a:fld id="{C818EC7F-129E-B04A-94CE-A0E8D5F704B5}" type="datetime1">
              <a:rPr lang="en-US" smtClean="0"/>
              <a:t>5/5/2026</a:t>
            </a:fld>
            <a:endParaRPr lang="en-US" dirty="0"/>
          </a:p>
        </p:txBody>
      </p:sp>
      <p:sp>
        <p:nvSpPr>
          <p:cNvPr id="6" name="Footer Placeholder 5">
            <a:extLst>
              <a:ext uri="{FF2B5EF4-FFF2-40B4-BE49-F238E27FC236}">
                <a16:creationId xmlns:a16="http://schemas.microsoft.com/office/drawing/2014/main" id="{C9607585-1E53-29E6-E14C-D4E5C685D00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BF9FB97-D9C9-FC78-3D39-E81B1517740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8163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B7194-44EF-7006-9E4C-D94DF8394AB2}"/>
              </a:ext>
            </a:extLst>
          </p:cNvPr>
          <p:cNvSpPr>
            <a:spLocks noGrp="1"/>
          </p:cNvSpPr>
          <p:nvPr>
            <p:ph type="title"/>
          </p:nvPr>
        </p:nvSpPr>
        <p:spPr/>
        <p:txBody>
          <a:bodyPr/>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A9D5E83A-839B-9260-0A21-8B997EE526D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039D60F5-F487-9F40-578A-E36732D3A2B4}"/>
              </a:ext>
            </a:extLst>
          </p:cNvPr>
          <p:cNvSpPr>
            <a:spLocks noGrp="1"/>
          </p:cNvSpPr>
          <p:nvPr>
            <p:ph type="dt" sz="half" idx="10"/>
          </p:nvPr>
        </p:nvSpPr>
        <p:spPr/>
        <p:txBody>
          <a:bodyPr/>
          <a:lstStyle/>
          <a:p>
            <a:fld id="{BADEC171-6AFE-CA49-AAE9-DDDD51BDA4CC}" type="datetime1">
              <a:rPr lang="en-US" smtClean="0"/>
              <a:t>5/5/2026</a:t>
            </a:fld>
            <a:endParaRPr lang="en-US" dirty="0"/>
          </a:p>
        </p:txBody>
      </p:sp>
      <p:sp>
        <p:nvSpPr>
          <p:cNvPr id="5" name="Footer Placeholder 4">
            <a:extLst>
              <a:ext uri="{FF2B5EF4-FFF2-40B4-BE49-F238E27FC236}">
                <a16:creationId xmlns:a16="http://schemas.microsoft.com/office/drawing/2014/main" id="{D6694D0E-FEF0-3CE4-88E0-9B5CC1342B3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43A42E7-F5E7-2271-1D3F-3BB0DA5FBCC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162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7BDCBF-90E9-B6D4-B1BD-BB6439AE412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F30AB2C1-4897-983B-2FB9-BD11C271D06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5B12C104-D518-1AB2-0F63-977F49D661E8}"/>
              </a:ext>
            </a:extLst>
          </p:cNvPr>
          <p:cNvSpPr>
            <a:spLocks noGrp="1"/>
          </p:cNvSpPr>
          <p:nvPr>
            <p:ph type="dt" sz="half" idx="10"/>
          </p:nvPr>
        </p:nvSpPr>
        <p:spPr/>
        <p:txBody>
          <a:bodyPr/>
          <a:lstStyle/>
          <a:p>
            <a:fld id="{7A7BC7AE-E3C9-5846-8CAD-0E757E344CB1}" type="datetime1">
              <a:rPr lang="en-US" smtClean="0"/>
              <a:t>5/5/2026</a:t>
            </a:fld>
            <a:endParaRPr lang="en-US" dirty="0"/>
          </a:p>
        </p:txBody>
      </p:sp>
      <p:sp>
        <p:nvSpPr>
          <p:cNvPr id="5" name="Footer Placeholder 4">
            <a:extLst>
              <a:ext uri="{FF2B5EF4-FFF2-40B4-BE49-F238E27FC236}">
                <a16:creationId xmlns:a16="http://schemas.microsoft.com/office/drawing/2014/main" id="{0C66A4A2-8093-06BB-B2C2-65BC1329E46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64C8E6A-87A5-42E0-E66E-73CA8E9847B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02087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xfrm>
            <a:off x="484879" y="143137"/>
            <a:ext cx="11272129" cy="942352"/>
          </a:xfrm>
          <a:prstGeom prst="rect">
            <a:avLst/>
          </a:prstGeom>
        </p:spPr>
        <p:txBody>
          <a:bodyPr/>
          <a:lstStyle/>
          <a:p>
            <a:r>
              <a:rPr dirty="0"/>
              <a:t>Title Text</a:t>
            </a:r>
          </a:p>
        </p:txBody>
      </p:sp>
      <p:sp>
        <p:nvSpPr>
          <p:cNvPr id="57" name="Body Level One…"/>
          <p:cNvSpPr txBox="1">
            <a:spLocks noGrp="1"/>
          </p:cNvSpPr>
          <p:nvPr>
            <p:ph type="body" idx="1"/>
          </p:nvPr>
        </p:nvSpPr>
        <p:spPr>
          <a:xfrm>
            <a:off x="468168" y="1161288"/>
            <a:ext cx="11198603" cy="5343989"/>
          </a:xfrm>
          <a:prstGeom prst="rect">
            <a:avLst/>
          </a:prstGeom>
        </p:spPr>
        <p:txBody>
          <a:bodyPr>
            <a:normAutofit/>
          </a:bodyPr>
          <a:lstStyle>
            <a:lvl1pPr>
              <a:defRPr sz="3200"/>
            </a:lvl1pPr>
            <a:lvl2pPr marL="685800" indent="-228600">
              <a:buFont typeface="System Font Regular"/>
              <a:buChar char="−"/>
              <a:defRPr sz="2800"/>
            </a:lvl2pPr>
            <a:lvl3pPr>
              <a:defRPr sz="2400"/>
            </a:lvl3pPr>
            <a:lvl4pPr>
              <a:defRPr sz="2000"/>
            </a:lvl4pPr>
            <a:lvl5pPr>
              <a:defRPr sz="2000"/>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 name="Date Placeholder 3">
            <a:extLst>
              <a:ext uri="{FF2B5EF4-FFF2-40B4-BE49-F238E27FC236}">
                <a16:creationId xmlns:a16="http://schemas.microsoft.com/office/drawing/2014/main" id="{BA413C1A-A16E-3242-A2B3-521C11C1A208}"/>
              </a:ext>
            </a:extLst>
          </p:cNvPr>
          <p:cNvSpPr>
            <a:spLocks noGrp="1"/>
          </p:cNvSpPr>
          <p:nvPr>
            <p:ph type="dt" sz="half" idx="10"/>
          </p:nvPr>
        </p:nvSpPr>
        <p:spPr>
          <a:xfrm>
            <a:off x="838200" y="6485446"/>
            <a:ext cx="2743200" cy="365125"/>
          </a:xfrm>
        </p:spPr>
        <p:txBody>
          <a:bodyPr/>
          <a:lstStyle>
            <a:lvl1pPr>
              <a:defRPr>
                <a:solidFill>
                  <a:schemeClr val="tx1"/>
                </a:solidFill>
              </a:defRPr>
            </a:lvl1pPr>
          </a:lstStyle>
          <a:p>
            <a:fld id="{F26B42B1-ACC7-BB4A-9D3D-E79A92B76714}" type="datetime1">
              <a:rPr lang="en-US" smtClean="0"/>
              <a:t>5/5/2026</a:t>
            </a:fld>
            <a:endParaRPr lang="en-US" dirty="0"/>
          </a:p>
        </p:txBody>
      </p:sp>
      <p:sp>
        <p:nvSpPr>
          <p:cNvPr id="6" name="Footer Placeholder 4">
            <a:extLst>
              <a:ext uri="{FF2B5EF4-FFF2-40B4-BE49-F238E27FC236}">
                <a16:creationId xmlns:a16="http://schemas.microsoft.com/office/drawing/2014/main" id="{DFAA7152-9480-AC46-B8CB-94D0C226C147}"/>
              </a:ext>
            </a:extLst>
          </p:cNvPr>
          <p:cNvSpPr>
            <a:spLocks noGrp="1"/>
          </p:cNvSpPr>
          <p:nvPr>
            <p:ph type="ftr" sz="quarter" idx="11"/>
          </p:nvPr>
        </p:nvSpPr>
        <p:spPr>
          <a:xfrm>
            <a:off x="4038600" y="6485446"/>
            <a:ext cx="4114800" cy="365125"/>
          </a:xfrm>
        </p:spPr>
        <p:txBody>
          <a:bodyPr/>
          <a:lstStyle>
            <a:lvl1pPr>
              <a:defRPr>
                <a:solidFill>
                  <a:schemeClr val="tx1"/>
                </a:solidFill>
              </a:defRPr>
            </a:lvl1pPr>
          </a:lstStyle>
          <a:p>
            <a:endParaRPr lang="en-US" dirty="0"/>
          </a:p>
        </p:txBody>
      </p:sp>
    </p:spTree>
    <p:extLst>
      <p:ext uri="{BB962C8B-B14F-4D97-AF65-F5344CB8AC3E}">
        <p14:creationId xmlns:p14="http://schemas.microsoft.com/office/powerpoint/2010/main" val="155953383"/>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9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Rectangle 3">
            <a:extLst>
              <a:ext uri="{FF2B5EF4-FFF2-40B4-BE49-F238E27FC236}">
                <a16:creationId xmlns:a16="http://schemas.microsoft.com/office/drawing/2014/main" id="{CB69E88A-7B5E-60E0-B736-7FCE9C47388C}"/>
              </a:ext>
            </a:extLst>
          </p:cNvPr>
          <p:cNvSpPr/>
          <p:nvPr userDrawn="1"/>
        </p:nvSpPr>
        <p:spPr>
          <a:xfrm>
            <a:off x="0" y="6581940"/>
            <a:ext cx="12192000" cy="279070"/>
          </a:xfrm>
          <a:prstGeom prst="rect">
            <a:avLst/>
          </a:prstGeom>
          <a:solidFill>
            <a:srgbClr val="C5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400" dirty="0">
                <a:solidFill>
                  <a:schemeClr val="tx1"/>
                </a:solidFill>
                <a:latin typeface="+mn-lt"/>
              </a:rPr>
              <a:t>Spring</a:t>
            </a:r>
            <a:r>
              <a:rPr lang="en-PK" sz="1400" dirty="0">
                <a:solidFill>
                  <a:schemeClr val="tx1"/>
                </a:solidFill>
                <a:latin typeface="+mn-lt"/>
              </a:rPr>
              <a:t> 2026 | CS</a:t>
            </a:r>
            <a:r>
              <a:rPr lang="en-US" sz="1400" dirty="0">
                <a:solidFill>
                  <a:schemeClr val="tx1"/>
                </a:solidFill>
                <a:latin typeface="+mn-lt"/>
              </a:rPr>
              <a:t>E-355</a:t>
            </a:r>
            <a:r>
              <a:rPr lang="en-PK" sz="1400" dirty="0">
                <a:solidFill>
                  <a:schemeClr val="tx1"/>
                </a:solidFill>
                <a:latin typeface="+mn-lt"/>
              </a:rPr>
              <a:t> | Introduction to Blockchain</a:t>
            </a:r>
          </a:p>
        </p:txBody>
      </p:sp>
    </p:spTree>
    <p:extLst>
      <p:ext uri="{BB962C8B-B14F-4D97-AF65-F5344CB8AC3E}">
        <p14:creationId xmlns:p14="http://schemas.microsoft.com/office/powerpoint/2010/main" val="34919119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55472" y="115753"/>
            <a:ext cx="10515600" cy="914067"/>
          </a:xfrm>
        </p:spPr>
        <p:txBody>
          <a:bodyPr>
            <a:normAutofit/>
          </a:bodyPr>
          <a:lstStyle>
            <a:lvl1pPr algn="ctr">
              <a:defRPr sz="3200" b="1"/>
            </a:lvl1pPr>
          </a:lstStyle>
          <a:p>
            <a:r>
              <a:rPr lang="en-US"/>
              <a:t>Click to edit Master title style</a:t>
            </a:r>
          </a:p>
        </p:txBody>
      </p:sp>
      <p:sp>
        <p:nvSpPr>
          <p:cNvPr id="3" name="Content Placeholder 2"/>
          <p:cNvSpPr>
            <a:spLocks noGrp="1"/>
          </p:cNvSpPr>
          <p:nvPr>
            <p:ph idx="1"/>
          </p:nvPr>
        </p:nvSpPr>
        <p:spPr>
          <a:xfrm>
            <a:off x="838200" y="1348967"/>
            <a:ext cx="10515600" cy="4827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10601579" y="6302674"/>
            <a:ext cx="1313507" cy="365125"/>
          </a:xfrm>
        </p:spPr>
        <p:txBody>
          <a:bodyPr/>
          <a:lstStyle/>
          <a:p>
            <a:fld id="{123BC241-7286-4066-AAE4-0801D26EA29E}" type="slidenum">
              <a:rPr lang="aa-ET" smtClean="0"/>
              <a:t>‹#›</a:t>
            </a:fld>
            <a:endParaRPr lang="aa-ET"/>
          </a:p>
        </p:txBody>
      </p:sp>
      <p:sp>
        <p:nvSpPr>
          <p:cNvPr id="5" name="Rectangle 4">
            <a:extLst>
              <a:ext uri="{FF2B5EF4-FFF2-40B4-BE49-F238E27FC236}">
                <a16:creationId xmlns:a16="http://schemas.microsoft.com/office/drawing/2014/main" id="{CB69E88A-7B5E-60E0-B736-7FCE9C47388C}"/>
              </a:ext>
            </a:extLst>
          </p:cNvPr>
          <p:cNvSpPr/>
          <p:nvPr userDrawn="1"/>
        </p:nvSpPr>
        <p:spPr>
          <a:xfrm>
            <a:off x="0" y="6581940"/>
            <a:ext cx="12192000" cy="279070"/>
          </a:xfrm>
          <a:prstGeom prst="rect">
            <a:avLst/>
          </a:prstGeom>
          <a:solidFill>
            <a:srgbClr val="C5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400" dirty="0">
                <a:solidFill>
                  <a:schemeClr val="tx1"/>
                </a:solidFill>
                <a:latin typeface="+mn-lt"/>
              </a:rPr>
              <a:t>Spring</a:t>
            </a:r>
            <a:r>
              <a:rPr lang="en-PK" sz="1400" dirty="0">
                <a:solidFill>
                  <a:schemeClr val="tx1"/>
                </a:solidFill>
                <a:latin typeface="+mn-lt"/>
              </a:rPr>
              <a:t> 2026 | CS</a:t>
            </a:r>
            <a:r>
              <a:rPr lang="en-US" sz="1400" dirty="0">
                <a:solidFill>
                  <a:schemeClr val="tx1"/>
                </a:solidFill>
                <a:latin typeface="+mn-lt"/>
              </a:rPr>
              <a:t>E-355</a:t>
            </a:r>
            <a:r>
              <a:rPr lang="en-PK" sz="1400" dirty="0">
                <a:solidFill>
                  <a:schemeClr val="tx1"/>
                </a:solidFill>
                <a:latin typeface="+mn-lt"/>
              </a:rPr>
              <a:t> | Introduction to Blockchain</a:t>
            </a:r>
          </a:p>
        </p:txBody>
      </p:sp>
    </p:spTree>
    <p:extLst>
      <p:ext uri="{BB962C8B-B14F-4D97-AF65-F5344CB8AC3E}">
        <p14:creationId xmlns:p14="http://schemas.microsoft.com/office/powerpoint/2010/main" val="2580184298"/>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1604963"/>
          </a:xfrm>
        </p:spPr>
        <p:txBody>
          <a:bodyPr anchor="b">
            <a:normAutofit/>
          </a:bodyPr>
          <a:lstStyle>
            <a:lvl1pPr>
              <a:defRPr sz="4400"/>
            </a:lvl1pPr>
          </a:lstStyle>
          <a:p>
            <a:r>
              <a:rPr lang="en-US"/>
              <a:t>Click to edit Master title style</a:t>
            </a:r>
          </a:p>
        </p:txBody>
      </p:sp>
      <p:sp>
        <p:nvSpPr>
          <p:cNvPr id="3" name="Text Placeholder 2"/>
          <p:cNvSpPr>
            <a:spLocks noGrp="1"/>
          </p:cNvSpPr>
          <p:nvPr>
            <p:ph type="body" idx="1"/>
          </p:nvPr>
        </p:nvSpPr>
        <p:spPr>
          <a:xfrm>
            <a:off x="831851" y="3314702"/>
            <a:ext cx="10515600" cy="2774949"/>
          </a:xfrm>
        </p:spPr>
        <p:txBody>
          <a:bodyPr/>
          <a:lstStyle>
            <a:lvl1pPr marL="0" indent="0" algn="ctr">
              <a:buNone/>
              <a:defRPr sz="2400">
                <a:solidFill>
                  <a:schemeClr val="accent5"/>
                </a:solidFill>
              </a:defRPr>
            </a:lvl1pPr>
            <a:lvl2pPr marL="457189" indent="0">
              <a:buNone/>
              <a:defRPr sz="2000">
                <a:solidFill>
                  <a:schemeClr val="tx1">
                    <a:tint val="75000"/>
                  </a:schemeClr>
                </a:solidFill>
              </a:defRPr>
            </a:lvl2pPr>
            <a:lvl3pPr marL="914377" indent="0">
              <a:buNone/>
              <a:defRPr sz="19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a:xfrm>
            <a:off x="9415605" y="6375921"/>
            <a:ext cx="2444436" cy="266348"/>
          </a:xfrm>
        </p:spPr>
        <p:txBody>
          <a:bodyPr/>
          <a:lstStyle/>
          <a:p>
            <a:fld id="{123BC241-7286-4066-AAE4-0801D26EA29E}" type="slidenum">
              <a:rPr lang="aa-ET" smtClean="0"/>
              <a:t>‹#›</a:t>
            </a:fld>
            <a:endParaRPr lang="aa-ET"/>
          </a:p>
        </p:txBody>
      </p:sp>
      <p:sp>
        <p:nvSpPr>
          <p:cNvPr id="5" name="Rectangle 4">
            <a:extLst>
              <a:ext uri="{FF2B5EF4-FFF2-40B4-BE49-F238E27FC236}">
                <a16:creationId xmlns:a16="http://schemas.microsoft.com/office/drawing/2014/main" id="{CB69E88A-7B5E-60E0-B736-7FCE9C47388C}"/>
              </a:ext>
            </a:extLst>
          </p:cNvPr>
          <p:cNvSpPr/>
          <p:nvPr userDrawn="1"/>
        </p:nvSpPr>
        <p:spPr>
          <a:xfrm>
            <a:off x="0" y="6581940"/>
            <a:ext cx="12192000" cy="279070"/>
          </a:xfrm>
          <a:prstGeom prst="rect">
            <a:avLst/>
          </a:prstGeom>
          <a:solidFill>
            <a:srgbClr val="C5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400" dirty="0">
                <a:solidFill>
                  <a:schemeClr val="tx1"/>
                </a:solidFill>
                <a:latin typeface="+mn-lt"/>
              </a:rPr>
              <a:t>Spring</a:t>
            </a:r>
            <a:r>
              <a:rPr lang="en-PK" sz="1400" dirty="0">
                <a:solidFill>
                  <a:schemeClr val="tx1"/>
                </a:solidFill>
                <a:latin typeface="+mn-lt"/>
              </a:rPr>
              <a:t> 2026 | CS</a:t>
            </a:r>
            <a:r>
              <a:rPr lang="en-US" sz="1400" dirty="0">
                <a:solidFill>
                  <a:schemeClr val="tx1"/>
                </a:solidFill>
                <a:latin typeface="+mn-lt"/>
              </a:rPr>
              <a:t>E-355</a:t>
            </a:r>
            <a:r>
              <a:rPr lang="en-PK" sz="1400" dirty="0">
                <a:solidFill>
                  <a:schemeClr val="tx1"/>
                </a:solidFill>
                <a:latin typeface="+mn-lt"/>
              </a:rPr>
              <a:t> | Introduction to Blockchain</a:t>
            </a:r>
          </a:p>
        </p:txBody>
      </p:sp>
    </p:spTree>
    <p:extLst>
      <p:ext uri="{BB962C8B-B14F-4D97-AF65-F5344CB8AC3E}">
        <p14:creationId xmlns:p14="http://schemas.microsoft.com/office/powerpoint/2010/main" val="1501477461"/>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a:xfrm>
            <a:off x="9415605" y="6334737"/>
            <a:ext cx="2444436" cy="266348"/>
          </a:xfrm>
        </p:spPr>
        <p:txBody>
          <a:bodyPr/>
          <a:lstStyle/>
          <a:p>
            <a:fld id="{123BC241-7286-4066-AAE4-0801D26EA29E}" type="slidenum">
              <a:rPr lang="aa-ET" smtClean="0"/>
              <a:t>‹#›</a:t>
            </a:fld>
            <a:endParaRPr lang="aa-ET"/>
          </a:p>
        </p:txBody>
      </p:sp>
      <p:sp>
        <p:nvSpPr>
          <p:cNvPr id="8" name="Title 1"/>
          <p:cNvSpPr>
            <a:spLocks noGrp="1"/>
          </p:cNvSpPr>
          <p:nvPr>
            <p:ph type="title"/>
          </p:nvPr>
        </p:nvSpPr>
        <p:spPr>
          <a:xfrm>
            <a:off x="1055472" y="115753"/>
            <a:ext cx="10515600" cy="914067"/>
          </a:xfrm>
        </p:spPr>
        <p:txBody>
          <a:bodyPr>
            <a:normAutofit/>
          </a:bodyPr>
          <a:lstStyle>
            <a:lvl1pPr algn="ctr">
              <a:defRPr sz="3200" b="1"/>
            </a:lvl1pPr>
          </a:lstStyle>
          <a:p>
            <a:r>
              <a:rPr lang="en-US"/>
              <a:t>Click to edit Master title style</a:t>
            </a:r>
          </a:p>
        </p:txBody>
      </p:sp>
      <p:sp>
        <p:nvSpPr>
          <p:cNvPr id="6" name="Rectangle 5">
            <a:extLst>
              <a:ext uri="{FF2B5EF4-FFF2-40B4-BE49-F238E27FC236}">
                <a16:creationId xmlns:a16="http://schemas.microsoft.com/office/drawing/2014/main" id="{CB69E88A-7B5E-60E0-B736-7FCE9C47388C}"/>
              </a:ext>
            </a:extLst>
          </p:cNvPr>
          <p:cNvSpPr/>
          <p:nvPr userDrawn="1"/>
        </p:nvSpPr>
        <p:spPr>
          <a:xfrm>
            <a:off x="0" y="6581940"/>
            <a:ext cx="12192000" cy="279070"/>
          </a:xfrm>
          <a:prstGeom prst="rect">
            <a:avLst/>
          </a:prstGeom>
          <a:solidFill>
            <a:srgbClr val="C5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400" dirty="0">
                <a:solidFill>
                  <a:schemeClr val="tx1"/>
                </a:solidFill>
                <a:latin typeface="+mn-lt"/>
              </a:rPr>
              <a:t>Spring</a:t>
            </a:r>
            <a:r>
              <a:rPr lang="en-PK" sz="1400" dirty="0">
                <a:solidFill>
                  <a:schemeClr val="tx1"/>
                </a:solidFill>
                <a:latin typeface="+mn-lt"/>
              </a:rPr>
              <a:t> 2026 | CS</a:t>
            </a:r>
            <a:r>
              <a:rPr lang="en-US" sz="1400" dirty="0">
                <a:solidFill>
                  <a:schemeClr val="tx1"/>
                </a:solidFill>
                <a:latin typeface="+mn-lt"/>
              </a:rPr>
              <a:t>E-355</a:t>
            </a:r>
            <a:r>
              <a:rPr lang="en-PK" sz="1400" dirty="0">
                <a:solidFill>
                  <a:schemeClr val="tx1"/>
                </a:solidFill>
                <a:latin typeface="+mn-lt"/>
              </a:rPr>
              <a:t> | Introduction to Blockchain</a:t>
            </a:r>
          </a:p>
        </p:txBody>
      </p:sp>
    </p:spTree>
    <p:extLst>
      <p:ext uri="{BB962C8B-B14F-4D97-AF65-F5344CB8AC3E}">
        <p14:creationId xmlns:p14="http://schemas.microsoft.com/office/powerpoint/2010/main" val="423752433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9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9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1"/>
            <a:ext cx="2743200" cy="365125"/>
          </a:xfrm>
          <a:prstGeom prst="rect">
            <a:avLst/>
          </a:prstGeom>
        </p:spPr>
        <p:txBody>
          <a:bodyPr lIns="91438" tIns="45719" rIns="91438" bIns="45719"/>
          <a:lstStyle/>
          <a:p>
            <a:endParaRPr lang="aa-ET"/>
          </a:p>
        </p:txBody>
      </p:sp>
      <p:sp>
        <p:nvSpPr>
          <p:cNvPr id="9" name="Slide Number Placeholder 8"/>
          <p:cNvSpPr>
            <a:spLocks noGrp="1"/>
          </p:cNvSpPr>
          <p:nvPr>
            <p:ph type="sldNum" sz="quarter" idx="12"/>
          </p:nvPr>
        </p:nvSpPr>
        <p:spPr>
          <a:xfrm>
            <a:off x="9415605" y="6359446"/>
            <a:ext cx="2444436" cy="266348"/>
          </a:xfrm>
        </p:spPr>
        <p:txBody>
          <a:bodyPr/>
          <a:lstStyle/>
          <a:p>
            <a:fld id="{123BC241-7286-4066-AAE4-0801D26EA29E}" type="slidenum">
              <a:rPr lang="aa-ET" smtClean="0"/>
              <a:t>‹#›</a:t>
            </a:fld>
            <a:endParaRPr lang="aa-ET"/>
          </a:p>
        </p:txBody>
      </p:sp>
      <p:sp>
        <p:nvSpPr>
          <p:cNvPr id="10" name="Title 1"/>
          <p:cNvSpPr>
            <a:spLocks noGrp="1"/>
          </p:cNvSpPr>
          <p:nvPr>
            <p:ph type="title"/>
          </p:nvPr>
        </p:nvSpPr>
        <p:spPr>
          <a:xfrm>
            <a:off x="1055472" y="115753"/>
            <a:ext cx="10515600" cy="914067"/>
          </a:xfrm>
        </p:spPr>
        <p:txBody>
          <a:bodyPr>
            <a:normAutofit/>
          </a:bodyPr>
          <a:lstStyle>
            <a:lvl1pPr algn="ctr">
              <a:defRPr sz="3200" b="1"/>
            </a:lvl1pPr>
          </a:lstStyle>
          <a:p>
            <a:r>
              <a:rPr lang="en-US"/>
              <a:t>Click to edit Master title style</a:t>
            </a:r>
          </a:p>
        </p:txBody>
      </p:sp>
      <p:sp>
        <p:nvSpPr>
          <p:cNvPr id="11" name="Rectangle 10">
            <a:extLst>
              <a:ext uri="{FF2B5EF4-FFF2-40B4-BE49-F238E27FC236}">
                <a16:creationId xmlns:a16="http://schemas.microsoft.com/office/drawing/2014/main" id="{CB69E88A-7B5E-60E0-B736-7FCE9C47388C}"/>
              </a:ext>
            </a:extLst>
          </p:cNvPr>
          <p:cNvSpPr/>
          <p:nvPr userDrawn="1"/>
        </p:nvSpPr>
        <p:spPr>
          <a:xfrm>
            <a:off x="0" y="6581940"/>
            <a:ext cx="12192000" cy="279070"/>
          </a:xfrm>
          <a:prstGeom prst="rect">
            <a:avLst/>
          </a:prstGeom>
          <a:solidFill>
            <a:srgbClr val="C5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400" dirty="0">
                <a:solidFill>
                  <a:schemeClr val="tx1"/>
                </a:solidFill>
                <a:latin typeface="+mn-lt"/>
              </a:rPr>
              <a:t>Spring</a:t>
            </a:r>
            <a:r>
              <a:rPr lang="en-PK" sz="1400" dirty="0">
                <a:solidFill>
                  <a:schemeClr val="tx1"/>
                </a:solidFill>
                <a:latin typeface="+mn-lt"/>
              </a:rPr>
              <a:t> 2026 | CS</a:t>
            </a:r>
            <a:r>
              <a:rPr lang="en-US" sz="1400" dirty="0">
                <a:solidFill>
                  <a:schemeClr val="tx1"/>
                </a:solidFill>
                <a:latin typeface="+mn-lt"/>
              </a:rPr>
              <a:t>E-355</a:t>
            </a:r>
            <a:r>
              <a:rPr lang="en-PK" sz="1400" dirty="0">
                <a:solidFill>
                  <a:schemeClr val="tx1"/>
                </a:solidFill>
                <a:latin typeface="+mn-lt"/>
              </a:rPr>
              <a:t> | Introduction to Blockchain</a:t>
            </a:r>
          </a:p>
        </p:txBody>
      </p:sp>
    </p:spTree>
    <p:extLst>
      <p:ext uri="{BB962C8B-B14F-4D97-AF65-F5344CB8AC3E}">
        <p14:creationId xmlns:p14="http://schemas.microsoft.com/office/powerpoint/2010/main" val="3161117935"/>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9415605" y="6351208"/>
            <a:ext cx="2444436" cy="266348"/>
          </a:xfrm>
        </p:spPr>
        <p:txBody>
          <a:bodyPr/>
          <a:lstStyle/>
          <a:p>
            <a:fld id="{123BC241-7286-4066-AAE4-0801D26EA29E}" type="slidenum">
              <a:rPr lang="aa-ET" smtClean="0"/>
              <a:t>‹#›</a:t>
            </a:fld>
            <a:endParaRPr lang="aa-ET"/>
          </a:p>
        </p:txBody>
      </p:sp>
      <p:sp>
        <p:nvSpPr>
          <p:cNvPr id="6" name="Title 1"/>
          <p:cNvSpPr>
            <a:spLocks noGrp="1"/>
          </p:cNvSpPr>
          <p:nvPr>
            <p:ph type="title"/>
          </p:nvPr>
        </p:nvSpPr>
        <p:spPr>
          <a:xfrm>
            <a:off x="1055472" y="115753"/>
            <a:ext cx="10515600" cy="914067"/>
          </a:xfrm>
        </p:spPr>
        <p:txBody>
          <a:bodyPr>
            <a:normAutofit/>
          </a:bodyPr>
          <a:lstStyle>
            <a:lvl1pPr algn="ctr">
              <a:defRPr sz="3200" b="1"/>
            </a:lvl1pPr>
          </a:lstStyle>
          <a:p>
            <a:r>
              <a:rPr lang="en-US"/>
              <a:t>Click to edit Master title style</a:t>
            </a:r>
          </a:p>
        </p:txBody>
      </p:sp>
      <p:sp>
        <p:nvSpPr>
          <p:cNvPr id="4" name="Rectangle 3">
            <a:extLst>
              <a:ext uri="{FF2B5EF4-FFF2-40B4-BE49-F238E27FC236}">
                <a16:creationId xmlns:a16="http://schemas.microsoft.com/office/drawing/2014/main" id="{CB69E88A-7B5E-60E0-B736-7FCE9C47388C}"/>
              </a:ext>
            </a:extLst>
          </p:cNvPr>
          <p:cNvSpPr/>
          <p:nvPr userDrawn="1"/>
        </p:nvSpPr>
        <p:spPr>
          <a:xfrm>
            <a:off x="0" y="6581940"/>
            <a:ext cx="12192000" cy="279070"/>
          </a:xfrm>
          <a:prstGeom prst="rect">
            <a:avLst/>
          </a:prstGeom>
          <a:solidFill>
            <a:srgbClr val="C5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400" dirty="0">
                <a:solidFill>
                  <a:schemeClr val="tx1"/>
                </a:solidFill>
                <a:latin typeface="+mn-lt"/>
              </a:rPr>
              <a:t>Spring</a:t>
            </a:r>
            <a:r>
              <a:rPr lang="en-PK" sz="1400" dirty="0">
                <a:solidFill>
                  <a:schemeClr val="tx1"/>
                </a:solidFill>
                <a:latin typeface="+mn-lt"/>
              </a:rPr>
              <a:t> 2026 | CS</a:t>
            </a:r>
            <a:r>
              <a:rPr lang="en-US" sz="1400" dirty="0">
                <a:solidFill>
                  <a:schemeClr val="tx1"/>
                </a:solidFill>
                <a:latin typeface="+mn-lt"/>
              </a:rPr>
              <a:t>E-355</a:t>
            </a:r>
            <a:r>
              <a:rPr lang="en-PK" sz="1400" dirty="0">
                <a:solidFill>
                  <a:schemeClr val="tx1"/>
                </a:solidFill>
                <a:latin typeface="+mn-lt"/>
              </a:rPr>
              <a:t> | Introduction to Blockchain</a:t>
            </a:r>
          </a:p>
        </p:txBody>
      </p:sp>
    </p:spTree>
    <p:extLst>
      <p:ext uri="{BB962C8B-B14F-4D97-AF65-F5344CB8AC3E}">
        <p14:creationId xmlns:p14="http://schemas.microsoft.com/office/powerpoint/2010/main" val="3370012141"/>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p:cNvSpPr txBox="1">
            <a:spLocks/>
          </p:cNvSpPr>
          <p:nvPr/>
        </p:nvSpPr>
        <p:spPr>
          <a:xfrm>
            <a:off x="9235257" y="6609029"/>
            <a:ext cx="2743200" cy="266347"/>
          </a:xfrm>
          <a:prstGeom prst="rect">
            <a:avLst/>
          </a:prstGeom>
        </p:spPr>
        <p:txBody>
          <a:bodyPr vert="horz" lIns="91438" tIns="45719" rIns="91438" bIns="45719"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FE8B7B-3258-47CD-BBC0-34D05FC906E5}" type="slidenum">
              <a:rPr lang="en-US" smtClean="0">
                <a:solidFill>
                  <a:schemeClr val="tx1">
                    <a:lumMod val="75000"/>
                    <a:lumOff val="25000"/>
                  </a:schemeClr>
                </a:solidFill>
              </a:rPr>
              <a:pPr/>
              <a:t>‹#›</a:t>
            </a:fld>
            <a:endParaRPr lang="en-US">
              <a:solidFill>
                <a:schemeClr val="tx1">
                  <a:lumMod val="75000"/>
                  <a:lumOff val="25000"/>
                </a:schemeClr>
              </a:solidFill>
            </a:endParaRPr>
          </a:p>
        </p:txBody>
      </p:sp>
      <p:sp>
        <p:nvSpPr>
          <p:cNvPr id="4" name="Footer Placeholder 4"/>
          <p:cNvSpPr>
            <a:spLocks noGrp="1"/>
          </p:cNvSpPr>
          <p:nvPr>
            <p:ph type="ftr" sz="quarter" idx="3"/>
          </p:nvPr>
        </p:nvSpPr>
        <p:spPr>
          <a:xfrm>
            <a:off x="262550" y="6581870"/>
            <a:ext cx="8872397" cy="266348"/>
          </a:xfrm>
          <a:prstGeom prst="rect">
            <a:avLst/>
          </a:prstGeom>
        </p:spPr>
        <p:txBody>
          <a:bodyPr vert="horz" lIns="91438" tIns="45719" rIns="91438" bIns="45719" rtlCol="0" anchor="ctr"/>
          <a:lstStyle>
            <a:lvl1pPr algn="l">
              <a:defRPr sz="1200">
                <a:solidFill>
                  <a:schemeClr val="accent5">
                    <a:lumMod val="60000"/>
                    <a:lumOff val="40000"/>
                  </a:schemeClr>
                </a:solidFill>
              </a:defRPr>
            </a:lvl1pPr>
          </a:lstStyle>
          <a:p>
            <a:endParaRPr lang="aa-ET"/>
          </a:p>
        </p:txBody>
      </p:sp>
      <p:sp>
        <p:nvSpPr>
          <p:cNvPr id="5" name="Rectangle 4">
            <a:extLst>
              <a:ext uri="{FF2B5EF4-FFF2-40B4-BE49-F238E27FC236}">
                <a16:creationId xmlns:a16="http://schemas.microsoft.com/office/drawing/2014/main" id="{CB69E88A-7B5E-60E0-B736-7FCE9C47388C}"/>
              </a:ext>
            </a:extLst>
          </p:cNvPr>
          <p:cNvSpPr/>
          <p:nvPr userDrawn="1"/>
        </p:nvSpPr>
        <p:spPr>
          <a:xfrm>
            <a:off x="0" y="6581940"/>
            <a:ext cx="12192000" cy="279070"/>
          </a:xfrm>
          <a:prstGeom prst="rect">
            <a:avLst/>
          </a:prstGeom>
          <a:solidFill>
            <a:srgbClr val="C5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400" dirty="0">
                <a:solidFill>
                  <a:schemeClr val="tx1"/>
                </a:solidFill>
                <a:latin typeface="+mn-lt"/>
              </a:rPr>
              <a:t>Spring</a:t>
            </a:r>
            <a:r>
              <a:rPr lang="en-PK" sz="1400" dirty="0">
                <a:solidFill>
                  <a:schemeClr val="tx1"/>
                </a:solidFill>
                <a:latin typeface="+mn-lt"/>
              </a:rPr>
              <a:t> 2026 | CS</a:t>
            </a:r>
            <a:r>
              <a:rPr lang="en-US" sz="1400" dirty="0">
                <a:solidFill>
                  <a:schemeClr val="tx1"/>
                </a:solidFill>
                <a:latin typeface="+mn-lt"/>
              </a:rPr>
              <a:t>E-355</a:t>
            </a:r>
            <a:r>
              <a:rPr lang="en-PK" sz="1400" dirty="0">
                <a:solidFill>
                  <a:schemeClr val="tx1"/>
                </a:solidFill>
                <a:latin typeface="+mn-lt"/>
              </a:rPr>
              <a:t> | Introduction to Blockchain</a:t>
            </a:r>
          </a:p>
        </p:txBody>
      </p:sp>
    </p:spTree>
    <p:extLst>
      <p:ext uri="{BB962C8B-B14F-4D97-AF65-F5344CB8AC3E}">
        <p14:creationId xmlns:p14="http://schemas.microsoft.com/office/powerpoint/2010/main" val="1198746065"/>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500"/>
            </a:lvl2pPr>
            <a:lvl3pPr marL="914377" indent="0">
              <a:buNone/>
              <a:defRPr sz="1200"/>
            </a:lvl3pPr>
            <a:lvl4pPr marL="1371566" indent="0">
              <a:buNone/>
              <a:defRPr sz="1100"/>
            </a:lvl4pPr>
            <a:lvl5pPr marL="1828754" indent="0">
              <a:buNone/>
              <a:defRPr sz="1100"/>
            </a:lvl5pPr>
            <a:lvl6pPr marL="2285943" indent="0">
              <a:buNone/>
              <a:defRPr sz="1100"/>
            </a:lvl6pPr>
            <a:lvl7pPr marL="2743131" indent="0">
              <a:buNone/>
              <a:defRPr sz="1100"/>
            </a:lvl7pPr>
            <a:lvl8pPr marL="3200320" indent="0">
              <a:buNone/>
              <a:defRPr sz="1100"/>
            </a:lvl8pPr>
            <a:lvl9pPr marL="3657509" indent="0">
              <a:buNone/>
              <a:defRPr sz="1100"/>
            </a:lvl9pPr>
          </a:lstStyle>
          <a:p>
            <a:pPr lvl="0"/>
            <a:r>
              <a:rPr lang="en-US"/>
              <a:t>Click to edit Master text styles</a:t>
            </a:r>
          </a:p>
        </p:txBody>
      </p:sp>
      <p:sp>
        <p:nvSpPr>
          <p:cNvPr id="5" name="Date Placeholder 4"/>
          <p:cNvSpPr>
            <a:spLocks noGrp="1"/>
          </p:cNvSpPr>
          <p:nvPr>
            <p:ph type="dt" sz="half" idx="10"/>
          </p:nvPr>
        </p:nvSpPr>
        <p:spPr>
          <a:xfrm>
            <a:off x="838200" y="6356351"/>
            <a:ext cx="2743200" cy="365125"/>
          </a:xfrm>
          <a:prstGeom prst="rect">
            <a:avLst/>
          </a:prstGeom>
        </p:spPr>
        <p:txBody>
          <a:bodyPr lIns="91438" tIns="45719" rIns="91438" bIns="45719"/>
          <a:lstStyle/>
          <a:p>
            <a:endParaRPr lang="aa-ET"/>
          </a:p>
        </p:txBody>
      </p:sp>
      <p:sp>
        <p:nvSpPr>
          <p:cNvPr id="9" name="Slide Number Placeholder 5"/>
          <p:cNvSpPr>
            <a:spLocks noGrp="1"/>
          </p:cNvSpPr>
          <p:nvPr>
            <p:ph type="sldNum" sz="quarter" idx="4"/>
          </p:nvPr>
        </p:nvSpPr>
        <p:spPr>
          <a:xfrm>
            <a:off x="9415605" y="6367682"/>
            <a:ext cx="2444436" cy="266348"/>
          </a:xfrm>
          <a:prstGeom prst="rect">
            <a:avLst/>
          </a:prstGeom>
        </p:spPr>
        <p:txBody>
          <a:bodyPr vert="horz" lIns="91438" tIns="45719" rIns="91438" bIns="45719" rtlCol="0" anchor="ctr"/>
          <a:lstStyle>
            <a:lvl1pPr algn="r">
              <a:defRPr lang="en-US" sz="1200" smtClean="0">
                <a:solidFill>
                  <a:srgbClr val="000000"/>
                </a:solidFill>
              </a:defRPr>
            </a:lvl1pPr>
          </a:lstStyle>
          <a:p>
            <a:fld id="{123BC241-7286-4066-AAE4-0801D26EA29E}" type="slidenum">
              <a:rPr lang="aa-ET" smtClean="0"/>
              <a:t>‹#›</a:t>
            </a:fld>
            <a:endParaRPr lang="aa-ET"/>
          </a:p>
        </p:txBody>
      </p:sp>
      <p:sp>
        <p:nvSpPr>
          <p:cNvPr id="7" name="Rectangle 6">
            <a:extLst>
              <a:ext uri="{FF2B5EF4-FFF2-40B4-BE49-F238E27FC236}">
                <a16:creationId xmlns:a16="http://schemas.microsoft.com/office/drawing/2014/main" id="{CB69E88A-7B5E-60E0-B736-7FCE9C47388C}"/>
              </a:ext>
            </a:extLst>
          </p:cNvPr>
          <p:cNvSpPr/>
          <p:nvPr userDrawn="1"/>
        </p:nvSpPr>
        <p:spPr>
          <a:xfrm>
            <a:off x="0" y="6581940"/>
            <a:ext cx="12192000" cy="279070"/>
          </a:xfrm>
          <a:prstGeom prst="rect">
            <a:avLst/>
          </a:prstGeom>
          <a:solidFill>
            <a:srgbClr val="C5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400" dirty="0">
                <a:solidFill>
                  <a:schemeClr val="tx1"/>
                </a:solidFill>
                <a:latin typeface="+mn-lt"/>
              </a:rPr>
              <a:t>Spring</a:t>
            </a:r>
            <a:r>
              <a:rPr lang="en-PK" sz="1400" dirty="0">
                <a:solidFill>
                  <a:schemeClr val="tx1"/>
                </a:solidFill>
                <a:latin typeface="+mn-lt"/>
              </a:rPr>
              <a:t> 2026 | CS</a:t>
            </a:r>
            <a:r>
              <a:rPr lang="en-US" sz="1400" dirty="0">
                <a:solidFill>
                  <a:schemeClr val="tx1"/>
                </a:solidFill>
                <a:latin typeface="+mn-lt"/>
              </a:rPr>
              <a:t>E-355</a:t>
            </a:r>
            <a:r>
              <a:rPr lang="en-PK" sz="1400" dirty="0">
                <a:solidFill>
                  <a:schemeClr val="tx1"/>
                </a:solidFill>
                <a:latin typeface="+mn-lt"/>
              </a:rPr>
              <a:t> | Introduction to Blockchain</a:t>
            </a:r>
          </a:p>
        </p:txBody>
      </p:sp>
    </p:spTree>
    <p:extLst>
      <p:ext uri="{BB962C8B-B14F-4D97-AF65-F5344CB8AC3E}">
        <p14:creationId xmlns:p14="http://schemas.microsoft.com/office/powerpoint/2010/main" val="3414853014"/>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500"/>
            </a:lvl2pPr>
            <a:lvl3pPr marL="914377" indent="0">
              <a:buNone/>
              <a:defRPr sz="1200"/>
            </a:lvl3pPr>
            <a:lvl4pPr marL="1371566" indent="0">
              <a:buNone/>
              <a:defRPr sz="1100"/>
            </a:lvl4pPr>
            <a:lvl5pPr marL="1828754" indent="0">
              <a:buNone/>
              <a:defRPr sz="1100"/>
            </a:lvl5pPr>
            <a:lvl6pPr marL="2285943" indent="0">
              <a:buNone/>
              <a:defRPr sz="1100"/>
            </a:lvl6pPr>
            <a:lvl7pPr marL="2743131" indent="0">
              <a:buNone/>
              <a:defRPr sz="1100"/>
            </a:lvl7pPr>
            <a:lvl8pPr marL="3200320" indent="0">
              <a:buNone/>
              <a:defRPr sz="1100"/>
            </a:lvl8pPr>
            <a:lvl9pPr marL="3657509" indent="0">
              <a:buNone/>
              <a:defRPr sz="1100"/>
            </a:lvl9pPr>
          </a:lstStyle>
          <a:p>
            <a:pPr lvl="0"/>
            <a:r>
              <a:rPr lang="en-US"/>
              <a:t>Click to edit Master text styles</a:t>
            </a:r>
          </a:p>
        </p:txBody>
      </p:sp>
      <p:sp>
        <p:nvSpPr>
          <p:cNvPr id="5" name="Date Placeholder 4"/>
          <p:cNvSpPr>
            <a:spLocks noGrp="1"/>
          </p:cNvSpPr>
          <p:nvPr>
            <p:ph type="dt" sz="half" idx="10"/>
          </p:nvPr>
        </p:nvSpPr>
        <p:spPr>
          <a:xfrm>
            <a:off x="838200" y="6356351"/>
            <a:ext cx="2743200" cy="365125"/>
          </a:xfrm>
          <a:prstGeom prst="rect">
            <a:avLst/>
          </a:prstGeom>
        </p:spPr>
        <p:txBody>
          <a:bodyPr lIns="91438" tIns="45719" rIns="91438" bIns="45719"/>
          <a:lstStyle/>
          <a:p>
            <a:endParaRPr lang="aa-ET"/>
          </a:p>
        </p:txBody>
      </p:sp>
      <p:sp>
        <p:nvSpPr>
          <p:cNvPr id="9" name="Slide Number Placeholder 5"/>
          <p:cNvSpPr>
            <a:spLocks noGrp="1"/>
          </p:cNvSpPr>
          <p:nvPr>
            <p:ph type="sldNum" sz="quarter" idx="4"/>
          </p:nvPr>
        </p:nvSpPr>
        <p:spPr>
          <a:xfrm>
            <a:off x="9415605" y="6581870"/>
            <a:ext cx="2444436" cy="266348"/>
          </a:xfrm>
          <a:prstGeom prst="rect">
            <a:avLst/>
          </a:prstGeom>
        </p:spPr>
        <p:txBody>
          <a:bodyPr vert="horz" lIns="91438" tIns="45719" rIns="91438" bIns="45719" rtlCol="0" anchor="ctr"/>
          <a:lstStyle>
            <a:lvl1pPr algn="r">
              <a:defRPr lang="en-US" sz="1200" smtClean="0">
                <a:solidFill>
                  <a:srgbClr val="000000"/>
                </a:solidFill>
              </a:defRPr>
            </a:lvl1pPr>
          </a:lstStyle>
          <a:p>
            <a:fld id="{123BC241-7286-4066-AAE4-0801D26EA29E}" type="slidenum">
              <a:rPr lang="aa-ET" smtClean="0"/>
              <a:t>‹#›</a:t>
            </a:fld>
            <a:endParaRPr lang="aa-ET"/>
          </a:p>
        </p:txBody>
      </p:sp>
      <p:sp>
        <p:nvSpPr>
          <p:cNvPr id="7" name="Rectangle 6">
            <a:extLst>
              <a:ext uri="{FF2B5EF4-FFF2-40B4-BE49-F238E27FC236}">
                <a16:creationId xmlns:a16="http://schemas.microsoft.com/office/drawing/2014/main" id="{CB69E88A-7B5E-60E0-B736-7FCE9C47388C}"/>
              </a:ext>
            </a:extLst>
          </p:cNvPr>
          <p:cNvSpPr/>
          <p:nvPr userDrawn="1"/>
        </p:nvSpPr>
        <p:spPr>
          <a:xfrm>
            <a:off x="0" y="6581940"/>
            <a:ext cx="12192000" cy="279070"/>
          </a:xfrm>
          <a:prstGeom prst="rect">
            <a:avLst/>
          </a:prstGeom>
          <a:solidFill>
            <a:srgbClr val="C5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400" dirty="0">
                <a:solidFill>
                  <a:schemeClr val="tx1"/>
                </a:solidFill>
                <a:latin typeface="+mn-lt"/>
              </a:rPr>
              <a:t>Spring</a:t>
            </a:r>
            <a:r>
              <a:rPr lang="en-PK" sz="1400" dirty="0">
                <a:solidFill>
                  <a:schemeClr val="tx1"/>
                </a:solidFill>
                <a:latin typeface="+mn-lt"/>
              </a:rPr>
              <a:t> 2026 | CS</a:t>
            </a:r>
            <a:r>
              <a:rPr lang="en-US" sz="1400" dirty="0">
                <a:solidFill>
                  <a:schemeClr val="tx1"/>
                </a:solidFill>
                <a:latin typeface="+mn-lt"/>
              </a:rPr>
              <a:t>E-355</a:t>
            </a:r>
            <a:r>
              <a:rPr lang="en-PK" sz="1400" dirty="0">
                <a:solidFill>
                  <a:schemeClr val="tx1"/>
                </a:solidFill>
                <a:latin typeface="+mn-lt"/>
              </a:rPr>
              <a:t> | Introduction to Blockchain</a:t>
            </a:r>
          </a:p>
        </p:txBody>
      </p:sp>
    </p:spTree>
    <p:extLst>
      <p:ext uri="{BB962C8B-B14F-4D97-AF65-F5344CB8AC3E}">
        <p14:creationId xmlns:p14="http://schemas.microsoft.com/office/powerpoint/2010/main" val="314770397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1"/>
            <a:ext cx="2743200" cy="365125"/>
          </a:xfrm>
          <a:prstGeom prst="rect">
            <a:avLst/>
          </a:prstGeom>
        </p:spPr>
        <p:txBody>
          <a:bodyPr lIns="91438" tIns="45719" rIns="91438" bIns="45719"/>
          <a:lstStyle/>
          <a:p>
            <a:endParaRPr lang="aa-ET"/>
          </a:p>
        </p:txBody>
      </p:sp>
      <p:sp>
        <p:nvSpPr>
          <p:cNvPr id="8" name="Slide Number Placeholder 5"/>
          <p:cNvSpPr>
            <a:spLocks noGrp="1"/>
          </p:cNvSpPr>
          <p:nvPr>
            <p:ph type="sldNum" sz="quarter" idx="4"/>
          </p:nvPr>
        </p:nvSpPr>
        <p:spPr>
          <a:xfrm>
            <a:off x="9415605" y="6581870"/>
            <a:ext cx="2444436" cy="266348"/>
          </a:xfrm>
          <a:prstGeom prst="rect">
            <a:avLst/>
          </a:prstGeom>
        </p:spPr>
        <p:txBody>
          <a:bodyPr vert="horz" lIns="91438" tIns="45719" rIns="91438" bIns="45719" rtlCol="0" anchor="ctr"/>
          <a:lstStyle>
            <a:lvl1pPr algn="r">
              <a:defRPr lang="en-US" sz="1200" smtClean="0">
                <a:solidFill>
                  <a:srgbClr val="000000"/>
                </a:solidFill>
              </a:defRPr>
            </a:lvl1pPr>
          </a:lstStyle>
          <a:p>
            <a:fld id="{123BC241-7286-4066-AAE4-0801D26EA29E}" type="slidenum">
              <a:rPr lang="aa-ET" smtClean="0"/>
              <a:t>‹#›</a:t>
            </a:fld>
            <a:endParaRPr lang="aa-ET"/>
          </a:p>
        </p:txBody>
      </p:sp>
      <p:sp>
        <p:nvSpPr>
          <p:cNvPr id="6" name="Rectangle 5">
            <a:extLst>
              <a:ext uri="{FF2B5EF4-FFF2-40B4-BE49-F238E27FC236}">
                <a16:creationId xmlns:a16="http://schemas.microsoft.com/office/drawing/2014/main" id="{CB69E88A-7B5E-60E0-B736-7FCE9C47388C}"/>
              </a:ext>
            </a:extLst>
          </p:cNvPr>
          <p:cNvSpPr/>
          <p:nvPr userDrawn="1"/>
        </p:nvSpPr>
        <p:spPr>
          <a:xfrm>
            <a:off x="0" y="6581940"/>
            <a:ext cx="12192000" cy="279070"/>
          </a:xfrm>
          <a:prstGeom prst="rect">
            <a:avLst/>
          </a:prstGeom>
          <a:solidFill>
            <a:srgbClr val="C5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400" dirty="0">
                <a:solidFill>
                  <a:schemeClr val="tx1"/>
                </a:solidFill>
                <a:latin typeface="+mn-lt"/>
              </a:rPr>
              <a:t>Spring</a:t>
            </a:r>
            <a:r>
              <a:rPr lang="en-PK" sz="1400" dirty="0">
                <a:solidFill>
                  <a:schemeClr val="tx1"/>
                </a:solidFill>
                <a:latin typeface="+mn-lt"/>
              </a:rPr>
              <a:t> 2026 | CS</a:t>
            </a:r>
            <a:r>
              <a:rPr lang="en-US" sz="1400" dirty="0">
                <a:solidFill>
                  <a:schemeClr val="tx1"/>
                </a:solidFill>
                <a:latin typeface="+mn-lt"/>
              </a:rPr>
              <a:t>E-355</a:t>
            </a:r>
            <a:r>
              <a:rPr lang="en-PK" sz="1400" dirty="0">
                <a:solidFill>
                  <a:schemeClr val="tx1"/>
                </a:solidFill>
                <a:latin typeface="+mn-lt"/>
              </a:rPr>
              <a:t> | Introduction to Blockchain</a:t>
            </a:r>
          </a:p>
        </p:txBody>
      </p:sp>
    </p:spTree>
    <p:extLst>
      <p:ext uri="{BB962C8B-B14F-4D97-AF65-F5344CB8AC3E}">
        <p14:creationId xmlns:p14="http://schemas.microsoft.com/office/powerpoint/2010/main" val="402159051"/>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1"/>
            <a:ext cx="2743200" cy="365125"/>
          </a:xfrm>
          <a:prstGeom prst="rect">
            <a:avLst/>
          </a:prstGeom>
        </p:spPr>
        <p:txBody>
          <a:bodyPr lIns="91438" tIns="45719" rIns="91438" bIns="45719"/>
          <a:lstStyle/>
          <a:p>
            <a:endParaRPr lang="aa-ET"/>
          </a:p>
        </p:txBody>
      </p:sp>
      <p:sp>
        <p:nvSpPr>
          <p:cNvPr id="8" name="Slide Number Placeholder 5"/>
          <p:cNvSpPr>
            <a:spLocks noGrp="1"/>
          </p:cNvSpPr>
          <p:nvPr>
            <p:ph type="sldNum" sz="quarter" idx="4"/>
          </p:nvPr>
        </p:nvSpPr>
        <p:spPr>
          <a:xfrm>
            <a:off x="9415605" y="6581870"/>
            <a:ext cx="2444436" cy="266348"/>
          </a:xfrm>
          <a:prstGeom prst="rect">
            <a:avLst/>
          </a:prstGeom>
        </p:spPr>
        <p:txBody>
          <a:bodyPr vert="horz" lIns="91438" tIns="45719" rIns="91438" bIns="45719" rtlCol="0" anchor="ctr"/>
          <a:lstStyle>
            <a:lvl1pPr algn="r">
              <a:defRPr lang="en-US" sz="1200" smtClean="0">
                <a:solidFill>
                  <a:srgbClr val="000000"/>
                </a:solidFill>
              </a:defRPr>
            </a:lvl1pPr>
          </a:lstStyle>
          <a:p>
            <a:fld id="{123BC241-7286-4066-AAE4-0801D26EA29E}" type="slidenum">
              <a:rPr lang="aa-ET" smtClean="0"/>
              <a:t>‹#›</a:t>
            </a:fld>
            <a:endParaRPr lang="aa-ET"/>
          </a:p>
        </p:txBody>
      </p:sp>
    </p:spTree>
    <p:extLst>
      <p:ext uri="{BB962C8B-B14F-4D97-AF65-F5344CB8AC3E}">
        <p14:creationId xmlns:p14="http://schemas.microsoft.com/office/powerpoint/2010/main" val="3180337743"/>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0F3F57-E6B6-8186-2E62-9C692D195B24}"/>
              </a:ext>
            </a:extLst>
          </p:cNvPr>
          <p:cNvSpPr>
            <a:spLocks noGrp="1"/>
          </p:cNvSpPr>
          <p:nvPr>
            <p:ph type="title"/>
          </p:nvPr>
        </p:nvSpPr>
        <p:spPr>
          <a:xfrm>
            <a:off x="518160" y="101601"/>
            <a:ext cx="11104880" cy="985519"/>
          </a:xfrm>
          <a:prstGeom prst="rect">
            <a:avLst/>
          </a:prstGeom>
        </p:spPr>
        <p:txBody>
          <a:bodyPr vert="horz" lIns="91440" tIns="45720" rIns="91440" bIns="45720" rtlCol="0" anchor="ctr">
            <a:normAutofit/>
          </a:bodyPr>
          <a:lstStyle/>
          <a:p>
            <a:r>
              <a:rPr lang="en-GB" dirty="0"/>
              <a:t>Click to edit Master title style</a:t>
            </a:r>
            <a:endParaRPr lang="en-PK" dirty="0"/>
          </a:p>
        </p:txBody>
      </p:sp>
      <p:sp>
        <p:nvSpPr>
          <p:cNvPr id="3" name="Text Placeholder 2">
            <a:extLst>
              <a:ext uri="{FF2B5EF4-FFF2-40B4-BE49-F238E27FC236}">
                <a16:creationId xmlns:a16="http://schemas.microsoft.com/office/drawing/2014/main" id="{A2111C77-CC50-A510-3609-2D8F9FCB7313}"/>
              </a:ext>
            </a:extLst>
          </p:cNvPr>
          <p:cNvSpPr>
            <a:spLocks noGrp="1"/>
          </p:cNvSpPr>
          <p:nvPr>
            <p:ph type="body" idx="1"/>
          </p:nvPr>
        </p:nvSpPr>
        <p:spPr>
          <a:xfrm>
            <a:off x="518160" y="1097280"/>
            <a:ext cx="11104880" cy="50796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FDA1BAA1-DC72-3CD1-7F89-2EE55E2377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Candara" panose="020E0502030303020204" pitchFamily="34" charset="0"/>
              </a:defRPr>
            </a:lvl1pPr>
          </a:lstStyle>
          <a:p>
            <a:fld id="{2A23580C-EA65-AC41-9F7C-B6439987B4B7}" type="datetime1">
              <a:rPr lang="en-US" smtClean="0"/>
              <a:t>5/5/2026</a:t>
            </a:fld>
            <a:endParaRPr lang="en-US" dirty="0"/>
          </a:p>
        </p:txBody>
      </p:sp>
      <p:sp>
        <p:nvSpPr>
          <p:cNvPr id="5" name="Footer Placeholder 4">
            <a:extLst>
              <a:ext uri="{FF2B5EF4-FFF2-40B4-BE49-F238E27FC236}">
                <a16:creationId xmlns:a16="http://schemas.microsoft.com/office/drawing/2014/main" id="{37D29EAC-E423-483D-525E-9C75A56954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Candara" panose="020E0502030303020204" pitchFamily="34" charset="0"/>
              </a:defRPr>
            </a:lvl1pPr>
          </a:lstStyle>
          <a:p>
            <a:endParaRPr lang="en-US" dirty="0"/>
          </a:p>
        </p:txBody>
      </p:sp>
      <p:cxnSp>
        <p:nvCxnSpPr>
          <p:cNvPr id="8" name="Straight Connector 7">
            <a:extLst>
              <a:ext uri="{FF2B5EF4-FFF2-40B4-BE49-F238E27FC236}">
                <a16:creationId xmlns:a16="http://schemas.microsoft.com/office/drawing/2014/main" id="{37901939-8975-2548-1296-9C55C71BB2BA}"/>
              </a:ext>
            </a:extLst>
          </p:cNvPr>
          <p:cNvCxnSpPr>
            <a:cxnSpLocks/>
          </p:cNvCxnSpPr>
          <p:nvPr userDrawn="1"/>
        </p:nvCxnSpPr>
        <p:spPr>
          <a:xfrm>
            <a:off x="518160" y="924560"/>
            <a:ext cx="1110488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CB69E88A-7B5E-60E0-B736-7FCE9C47388C}"/>
              </a:ext>
            </a:extLst>
          </p:cNvPr>
          <p:cNvSpPr/>
          <p:nvPr userDrawn="1"/>
        </p:nvSpPr>
        <p:spPr>
          <a:xfrm>
            <a:off x="0" y="6581940"/>
            <a:ext cx="12192000" cy="279070"/>
          </a:xfrm>
          <a:prstGeom prst="rect">
            <a:avLst/>
          </a:prstGeom>
          <a:solidFill>
            <a:srgbClr val="C5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400" dirty="0">
                <a:solidFill>
                  <a:schemeClr val="tx1"/>
                </a:solidFill>
                <a:latin typeface="+mn-lt"/>
              </a:rPr>
              <a:t>Spring</a:t>
            </a:r>
            <a:r>
              <a:rPr lang="en-PK" sz="1400" dirty="0">
                <a:solidFill>
                  <a:schemeClr val="tx1"/>
                </a:solidFill>
                <a:latin typeface="+mn-lt"/>
              </a:rPr>
              <a:t> 2026 | CS</a:t>
            </a:r>
            <a:r>
              <a:rPr lang="en-US" sz="1400" dirty="0">
                <a:solidFill>
                  <a:schemeClr val="tx1"/>
                </a:solidFill>
                <a:latin typeface="+mn-lt"/>
              </a:rPr>
              <a:t>E-355</a:t>
            </a:r>
            <a:r>
              <a:rPr lang="en-PK" sz="1400" dirty="0">
                <a:solidFill>
                  <a:schemeClr val="tx1"/>
                </a:solidFill>
                <a:latin typeface="+mn-lt"/>
              </a:rPr>
              <a:t> | Introduction to Blockchain</a:t>
            </a:r>
          </a:p>
        </p:txBody>
      </p:sp>
      <p:sp>
        <p:nvSpPr>
          <p:cNvPr id="6" name="Slide Number Placeholder 5">
            <a:extLst>
              <a:ext uri="{FF2B5EF4-FFF2-40B4-BE49-F238E27FC236}">
                <a16:creationId xmlns:a16="http://schemas.microsoft.com/office/drawing/2014/main" id="{E65A1E25-5EFC-07B9-34A4-FC84A6B0A118}"/>
              </a:ext>
            </a:extLst>
          </p:cNvPr>
          <p:cNvSpPr>
            <a:spLocks noGrp="1"/>
          </p:cNvSpPr>
          <p:nvPr>
            <p:ph type="sldNum" sz="quarter" idx="4"/>
          </p:nvPr>
        </p:nvSpPr>
        <p:spPr>
          <a:xfrm>
            <a:off x="10620104" y="6578930"/>
            <a:ext cx="1060269" cy="279070"/>
          </a:xfrm>
          <a:prstGeom prst="rect">
            <a:avLst/>
          </a:prstGeom>
        </p:spPr>
        <p:txBody>
          <a:bodyPr vert="horz" lIns="91440" tIns="45720" rIns="91440" bIns="45720" rtlCol="0" anchor="ctr"/>
          <a:lstStyle>
            <a:lvl1pPr algn="r">
              <a:defRPr sz="1400" b="1" i="0" baseline="0">
                <a:solidFill>
                  <a:schemeClr val="tx1"/>
                </a:solidFill>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964963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ctr" defTabSz="914400" rtl="0" eaLnBrk="1" latinLnBrk="0" hangingPunct="1">
        <a:lnSpc>
          <a:spcPct val="90000"/>
        </a:lnSpc>
        <a:spcBef>
          <a:spcPct val="0"/>
        </a:spcBef>
        <a:buNone/>
        <a:defRPr sz="4400" b="0" i="0" kern="1200">
          <a:solidFill>
            <a:srgbClr val="0432FF"/>
          </a:solidFill>
          <a:latin typeface="Candara" panose="020E0502030303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andara" panose="020E05020303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andara" panose="020E05020303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andara" panose="020E05020303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andara" panose="020E05020303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andara" panose="020E05020303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32332"/>
            <a:ext cx="10515600" cy="914067"/>
          </a:xfrm>
          <a:prstGeom prst="rect">
            <a:avLst/>
          </a:prstGeom>
        </p:spPr>
        <p:txBody>
          <a:bodyPr vert="horz" lIns="91438" tIns="45719" rIns="91438" bIns="45719" rtlCol="0" anchor="ctr">
            <a:normAutofit/>
          </a:bodyPr>
          <a:lstStyle/>
          <a:p>
            <a:r>
              <a:rPr lang="en-US"/>
              <a:t>Click to edit Master title style</a:t>
            </a:r>
          </a:p>
        </p:txBody>
      </p:sp>
      <p:sp>
        <p:nvSpPr>
          <p:cNvPr id="3" name="Text Placeholder 2"/>
          <p:cNvSpPr>
            <a:spLocks noGrp="1"/>
          </p:cNvSpPr>
          <p:nvPr>
            <p:ph type="body" idx="1"/>
          </p:nvPr>
        </p:nvSpPr>
        <p:spPr>
          <a:xfrm>
            <a:off x="838200" y="1273392"/>
            <a:ext cx="10515600" cy="5127408"/>
          </a:xfrm>
          <a:prstGeom prst="rect">
            <a:avLst/>
          </a:prstGeom>
        </p:spPr>
        <p:txBody>
          <a:bodyPr vert="horz" lIns="91438" tIns="45719" rIns="91438" bIns="4571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9415605" y="6581870"/>
            <a:ext cx="2444436" cy="266348"/>
          </a:xfrm>
          <a:prstGeom prst="rect">
            <a:avLst/>
          </a:prstGeom>
        </p:spPr>
        <p:txBody>
          <a:bodyPr vert="horz" lIns="91438" tIns="45719" rIns="91438" bIns="45719" rtlCol="0" anchor="ctr"/>
          <a:lstStyle>
            <a:lvl1pPr algn="r">
              <a:defRPr lang="en-US" sz="1200" smtClean="0">
                <a:solidFill>
                  <a:srgbClr val="000000"/>
                </a:solidFill>
              </a:defRPr>
            </a:lvl1pPr>
          </a:lstStyle>
          <a:p>
            <a:fld id="{123BC241-7286-4066-AAE4-0801D26EA29E}" type="slidenum">
              <a:rPr lang="aa-ET" smtClean="0"/>
              <a:t>‹#›</a:t>
            </a:fld>
            <a:endParaRPr lang="aa-ET"/>
          </a:p>
        </p:txBody>
      </p:sp>
      <p:sp>
        <p:nvSpPr>
          <p:cNvPr id="9" name="Rectangle 8"/>
          <p:cNvSpPr/>
          <p:nvPr/>
        </p:nvSpPr>
        <p:spPr>
          <a:xfrm>
            <a:off x="0" y="993895"/>
            <a:ext cx="12192000" cy="45720"/>
          </a:xfrm>
          <a:prstGeom prst="rect">
            <a:avLst/>
          </a:prstGeom>
          <a:solidFill>
            <a:srgbClr val="24469D"/>
          </a:solidFill>
        </p:spPr>
        <p:style>
          <a:lnRef idx="1">
            <a:schemeClr val="accent5"/>
          </a:lnRef>
          <a:fillRef idx="3">
            <a:schemeClr val="accent5"/>
          </a:fillRef>
          <a:effectRef idx="2">
            <a:schemeClr val="accent5"/>
          </a:effectRef>
          <a:fontRef idx="minor">
            <a:schemeClr val="lt1"/>
          </a:fontRef>
        </p:style>
        <p:txBody>
          <a:bodyPr lIns="91438" tIns="45719" rIns="91438" bIns="45719" rtlCol="0" anchor="ctr"/>
          <a:lstStyle/>
          <a:p>
            <a:pPr algn="ctr"/>
            <a:endParaRPr lang="en-US"/>
          </a:p>
        </p:txBody>
      </p:sp>
      <p:pic>
        <p:nvPicPr>
          <p:cNvPr id="4" name="Picture 3">
            <a:extLst>
              <a:ext uri="{FF2B5EF4-FFF2-40B4-BE49-F238E27FC236}">
                <a16:creationId xmlns:a16="http://schemas.microsoft.com/office/drawing/2014/main" id="{A3E5479F-3156-B3F9-F797-272DE4DBA602}"/>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p:blipFill>
        <p:spPr bwMode="auto">
          <a:xfrm>
            <a:off x="185092" y="117689"/>
            <a:ext cx="727986" cy="731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80886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0500"/>
    </mc:Choice>
    <mc:Fallback xmlns="">
      <p:transition spd="slow"/>
    </mc:Fallback>
  </mc:AlternateContent>
  <p:hf hdr="0" ftr="0" dt="0"/>
  <p:txStyles>
    <p:titleStyle>
      <a:lvl1pPr algn="ctr" defTabSz="914377"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en-US"/>
      </a:defPPr>
      <a:lvl1pPr marL="0" algn="l" defTabSz="914377" rtl="0" eaLnBrk="1" latinLnBrk="0" hangingPunct="1">
        <a:defRPr sz="1900" kern="1200">
          <a:solidFill>
            <a:schemeClr val="tx1"/>
          </a:solidFill>
          <a:latin typeface="+mn-lt"/>
          <a:ea typeface="+mn-ea"/>
          <a:cs typeface="+mn-cs"/>
        </a:defRPr>
      </a:lvl1pPr>
      <a:lvl2pPr marL="457189" algn="l" defTabSz="914377" rtl="0" eaLnBrk="1" latinLnBrk="0" hangingPunct="1">
        <a:defRPr sz="1900" kern="1200">
          <a:solidFill>
            <a:schemeClr val="tx1"/>
          </a:solidFill>
          <a:latin typeface="+mn-lt"/>
          <a:ea typeface="+mn-ea"/>
          <a:cs typeface="+mn-cs"/>
        </a:defRPr>
      </a:lvl2pPr>
      <a:lvl3pPr marL="914377" algn="l" defTabSz="914377" rtl="0" eaLnBrk="1" latinLnBrk="0" hangingPunct="1">
        <a:defRPr sz="1900" kern="1200">
          <a:solidFill>
            <a:schemeClr val="tx1"/>
          </a:solidFill>
          <a:latin typeface="+mn-lt"/>
          <a:ea typeface="+mn-ea"/>
          <a:cs typeface="+mn-cs"/>
        </a:defRPr>
      </a:lvl3pPr>
      <a:lvl4pPr marL="1371566" algn="l" defTabSz="914377" rtl="0" eaLnBrk="1" latinLnBrk="0" hangingPunct="1">
        <a:defRPr sz="1900" kern="1200">
          <a:solidFill>
            <a:schemeClr val="tx1"/>
          </a:solidFill>
          <a:latin typeface="+mn-lt"/>
          <a:ea typeface="+mn-ea"/>
          <a:cs typeface="+mn-cs"/>
        </a:defRPr>
      </a:lvl4pPr>
      <a:lvl5pPr marL="1828754" algn="l" defTabSz="914377" rtl="0" eaLnBrk="1" latinLnBrk="0" hangingPunct="1">
        <a:defRPr sz="1900" kern="1200">
          <a:solidFill>
            <a:schemeClr val="tx1"/>
          </a:solidFill>
          <a:latin typeface="+mn-lt"/>
          <a:ea typeface="+mn-ea"/>
          <a:cs typeface="+mn-cs"/>
        </a:defRPr>
      </a:lvl5pPr>
      <a:lvl6pPr marL="2285943" algn="l" defTabSz="914377" rtl="0" eaLnBrk="1" latinLnBrk="0" hangingPunct="1">
        <a:defRPr sz="1900" kern="1200">
          <a:solidFill>
            <a:schemeClr val="tx1"/>
          </a:solidFill>
          <a:latin typeface="+mn-lt"/>
          <a:ea typeface="+mn-ea"/>
          <a:cs typeface="+mn-cs"/>
        </a:defRPr>
      </a:lvl6pPr>
      <a:lvl7pPr marL="2743131" algn="l" defTabSz="914377" rtl="0" eaLnBrk="1" latinLnBrk="0" hangingPunct="1">
        <a:defRPr sz="1900" kern="1200">
          <a:solidFill>
            <a:schemeClr val="tx1"/>
          </a:solidFill>
          <a:latin typeface="+mn-lt"/>
          <a:ea typeface="+mn-ea"/>
          <a:cs typeface="+mn-cs"/>
        </a:defRPr>
      </a:lvl7pPr>
      <a:lvl8pPr marL="3200320" algn="l" defTabSz="914377" rtl="0" eaLnBrk="1" latinLnBrk="0" hangingPunct="1">
        <a:defRPr sz="1900" kern="1200">
          <a:solidFill>
            <a:schemeClr val="tx1"/>
          </a:solidFill>
          <a:latin typeface="+mn-lt"/>
          <a:ea typeface="+mn-ea"/>
          <a:cs typeface="+mn-cs"/>
        </a:defRPr>
      </a:lvl8pPr>
      <a:lvl9pPr marL="3657509" algn="l" defTabSz="914377"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15.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svg"/><Relationship Id="rId2" Type="http://schemas.openxmlformats.org/officeDocument/2006/relationships/image" Target="../media/image22.png"/><Relationship Id="rId1" Type="http://schemas.openxmlformats.org/officeDocument/2006/relationships/slideLayout" Target="../slideLayouts/slideLayout14.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30.png"/><Relationship Id="rId7" Type="http://schemas.openxmlformats.org/officeDocument/2006/relationships/image" Target="../media/image33.svg"/><Relationship Id="rId2" Type="http://schemas.openxmlformats.org/officeDocument/2006/relationships/image" Target="../media/image29.png"/><Relationship Id="rId1" Type="http://schemas.openxmlformats.org/officeDocument/2006/relationships/slideLayout" Target="../slideLayouts/slideLayout14.xml"/><Relationship Id="rId6" Type="http://schemas.openxmlformats.org/officeDocument/2006/relationships/image" Target="../media/image14.png"/><Relationship Id="rId5" Type="http://schemas.openxmlformats.org/officeDocument/2006/relationships/image" Target="../media/image32.svg"/><Relationship Id="rId4" Type="http://schemas.openxmlformats.org/officeDocument/2006/relationships/image" Target="../media/image31.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hyperlink" Target="https://github.com/OpenZeppelin/openzeppelin-contracts/blob/master/contracts/token/ERC20/ERC20.sol" TargetMode="Externa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532F2-2275-3F6B-82B8-1B0CA52FBDFC}"/>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980EC572-1CE7-598F-9FA4-5062F84F9CA5}"/>
              </a:ext>
            </a:extLst>
          </p:cNvPr>
          <p:cNvSpPr/>
          <p:nvPr/>
        </p:nvSpPr>
        <p:spPr>
          <a:xfrm>
            <a:off x="384313" y="3016490"/>
            <a:ext cx="10846671" cy="14465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latin typeface="Candara" panose="020E0502030303020204" pitchFamily="34" charset="0"/>
            </a:endParaRPr>
          </a:p>
        </p:txBody>
      </p:sp>
      <p:sp>
        <p:nvSpPr>
          <p:cNvPr id="10" name="Rectangle 9">
            <a:extLst>
              <a:ext uri="{FF2B5EF4-FFF2-40B4-BE49-F238E27FC236}">
                <a16:creationId xmlns:a16="http://schemas.microsoft.com/office/drawing/2014/main" id="{B4170A78-22DF-BCD5-825B-B0A7F8375E55}"/>
              </a:ext>
            </a:extLst>
          </p:cNvPr>
          <p:cNvSpPr/>
          <p:nvPr/>
        </p:nvSpPr>
        <p:spPr>
          <a:xfrm>
            <a:off x="252663" y="637674"/>
            <a:ext cx="11555024" cy="4317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6" name="Picture 2">
            <a:extLst>
              <a:ext uri="{FF2B5EF4-FFF2-40B4-BE49-F238E27FC236}">
                <a16:creationId xmlns:a16="http://schemas.microsoft.com/office/drawing/2014/main" id="{A92A327C-08C1-4A0B-3853-4BC7F0718664}"/>
              </a:ext>
            </a:extLst>
          </p:cNvPr>
          <p:cNvPicPr>
            <a:picLocks noChangeAspect="1" noChangeArrowheads="1"/>
          </p:cNvPicPr>
          <p:nvPr/>
        </p:nvPicPr>
        <p:blipFill>
          <a:blip r:embed="rId3"/>
          <a:srcRect/>
          <a:stretch/>
        </p:blipFill>
        <p:spPr bwMode="auto">
          <a:xfrm>
            <a:off x="5401750" y="440958"/>
            <a:ext cx="1256849" cy="125684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F13B4093-EDEB-88AD-105E-DD4B298CCEEA}"/>
              </a:ext>
            </a:extLst>
          </p:cNvPr>
          <p:cNvSpPr>
            <a:spLocks noGrp="1"/>
          </p:cNvSpPr>
          <p:nvPr>
            <p:ph type="ctrTitle"/>
          </p:nvPr>
        </p:nvSpPr>
        <p:spPr/>
        <p:txBody>
          <a:bodyPr>
            <a:normAutofit/>
          </a:bodyPr>
          <a:lstStyle/>
          <a:p>
            <a:r>
              <a:rPr lang="en-GB" dirty="0">
                <a:latin typeface="+mn-lt"/>
              </a:rPr>
              <a:t>Introduction to Blockchain</a:t>
            </a:r>
            <a:br>
              <a:rPr lang="en-GB" dirty="0">
                <a:latin typeface="+mn-lt"/>
              </a:rPr>
            </a:br>
            <a:br>
              <a:rPr lang="en-GB" dirty="0">
                <a:latin typeface="+mn-lt"/>
              </a:rPr>
            </a:br>
            <a:r>
              <a:rPr lang="en-GB" sz="4000" dirty="0">
                <a:solidFill>
                  <a:srgbClr val="C00000"/>
                </a:solidFill>
                <a:latin typeface="+mn-lt"/>
              </a:rPr>
              <a:t>CSE-355</a:t>
            </a:r>
            <a:endParaRPr lang="en-PK" dirty="0">
              <a:solidFill>
                <a:srgbClr val="C00000"/>
              </a:solidFill>
              <a:latin typeface="+mn-lt"/>
            </a:endParaRPr>
          </a:p>
        </p:txBody>
      </p:sp>
      <p:sp>
        <p:nvSpPr>
          <p:cNvPr id="7" name="Subtitle 6">
            <a:extLst>
              <a:ext uri="{FF2B5EF4-FFF2-40B4-BE49-F238E27FC236}">
                <a16:creationId xmlns:a16="http://schemas.microsoft.com/office/drawing/2014/main" id="{B02CF6C0-F187-BF6B-6A7A-C82247549081}"/>
              </a:ext>
            </a:extLst>
          </p:cNvPr>
          <p:cNvSpPr>
            <a:spLocks noGrp="1"/>
          </p:cNvSpPr>
          <p:nvPr>
            <p:ph type="subTitle" idx="1"/>
          </p:nvPr>
        </p:nvSpPr>
        <p:spPr/>
        <p:txBody>
          <a:bodyPr>
            <a:normAutofit fontScale="92500" lnSpcReduction="10000"/>
          </a:bodyPr>
          <a:lstStyle/>
          <a:p>
            <a:r>
              <a:rPr lang="en-GB" dirty="0"/>
              <a:t>Ahmed Akhtar</a:t>
            </a:r>
          </a:p>
          <a:p>
            <a:r>
              <a:rPr lang="en-GB" dirty="0"/>
              <a:t>Department of Computer Science</a:t>
            </a:r>
          </a:p>
          <a:p>
            <a:r>
              <a:rPr lang="en-GB" dirty="0"/>
              <a:t>SMCS, IBA Karachi</a:t>
            </a:r>
          </a:p>
          <a:p>
            <a:r>
              <a:rPr lang="en-GB" dirty="0"/>
              <a:t>Spring 2026</a:t>
            </a:r>
          </a:p>
        </p:txBody>
      </p:sp>
    </p:spTree>
    <p:extLst>
      <p:ext uri="{BB962C8B-B14F-4D97-AF65-F5344CB8AC3E}">
        <p14:creationId xmlns:p14="http://schemas.microsoft.com/office/powerpoint/2010/main" val="2183615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D1340-394C-8092-5D0A-E3BCC7B6D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C9F2F-9E03-4A62-A198-A3062FB80C16}"/>
              </a:ext>
            </a:extLst>
          </p:cNvPr>
          <p:cNvSpPr>
            <a:spLocks noGrp="1"/>
          </p:cNvSpPr>
          <p:nvPr>
            <p:ph type="ctrTitle"/>
          </p:nvPr>
        </p:nvSpPr>
        <p:spPr/>
        <p:txBody>
          <a:bodyPr/>
          <a:lstStyle/>
          <a:p>
            <a:r>
              <a:rPr lang="en-PK" dirty="0">
                <a:latin typeface="+mn-lt"/>
              </a:rPr>
              <a:t>Lecture </a:t>
            </a:r>
            <a:r>
              <a:rPr lang="en-US" dirty="0">
                <a:latin typeface="+mn-lt"/>
              </a:rPr>
              <a:t>25</a:t>
            </a:r>
            <a:br>
              <a:rPr lang="en-PK" dirty="0">
                <a:latin typeface="+mn-lt"/>
              </a:rPr>
            </a:br>
            <a:r>
              <a:rPr lang="en-US" dirty="0">
                <a:latin typeface="+mn-lt"/>
              </a:rPr>
              <a:t>Tuesday</a:t>
            </a:r>
            <a:r>
              <a:rPr lang="en-PK" dirty="0">
                <a:latin typeface="+mn-lt"/>
              </a:rPr>
              <a:t>, </a:t>
            </a:r>
            <a:r>
              <a:rPr lang="en-US" dirty="0">
                <a:latin typeface="+mn-lt"/>
              </a:rPr>
              <a:t>Apr</a:t>
            </a:r>
            <a:r>
              <a:rPr lang="en-PK" dirty="0">
                <a:latin typeface="+mn-lt"/>
              </a:rPr>
              <a:t> </a:t>
            </a:r>
            <a:r>
              <a:rPr lang="en-US">
                <a:latin typeface="+mn-lt"/>
              </a:rPr>
              <a:t>28</a:t>
            </a:r>
            <a:r>
              <a:rPr lang="en-PK">
                <a:latin typeface="+mn-lt"/>
              </a:rPr>
              <a:t>, </a:t>
            </a:r>
            <a:r>
              <a:rPr lang="en-PK" dirty="0">
                <a:latin typeface="+mn-lt"/>
              </a:rPr>
              <a:t>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F33F174B-0761-8199-54BA-09C4CA09D63D}"/>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2785611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E0E39-5EEF-4182-93C4-E64C28F88A1F}"/>
              </a:ext>
            </a:extLst>
          </p:cNvPr>
          <p:cNvSpPr>
            <a:spLocks noGrp="1"/>
          </p:cNvSpPr>
          <p:nvPr>
            <p:ph type="ctrTitle"/>
          </p:nvPr>
        </p:nvSpPr>
        <p:spPr>
          <a:xfrm>
            <a:off x="673330" y="1417484"/>
            <a:ext cx="10889673" cy="1488164"/>
          </a:xfrm>
        </p:spPr>
        <p:txBody>
          <a:bodyPr>
            <a:normAutofit/>
          </a:bodyPr>
          <a:lstStyle/>
          <a:p>
            <a:r>
              <a:rPr lang="en-US" sz="4900">
                <a:latin typeface="Calibri Light" panose="020F0302020204030204" pitchFamily="34" charset="0"/>
              </a:rPr>
              <a:t>Stablecoins &amp; Digital Assets: </a:t>
            </a:r>
            <a:br>
              <a:rPr lang="en-US" sz="4900">
                <a:latin typeface="Calibri Light" panose="020F0302020204030204" pitchFamily="34" charset="0"/>
              </a:rPr>
            </a:br>
            <a:r>
              <a:rPr lang="en-US" sz="4900">
                <a:latin typeface="Calibri Light" panose="020F0302020204030204" pitchFamily="34" charset="0"/>
              </a:rPr>
              <a:t>Use Cases and Opportunities</a:t>
            </a:r>
            <a:endParaRPr lang="aa-ET"/>
          </a:p>
        </p:txBody>
      </p:sp>
    </p:spTree>
    <p:extLst>
      <p:ext uri="{BB962C8B-B14F-4D97-AF65-F5344CB8AC3E}">
        <p14:creationId xmlns:p14="http://schemas.microsoft.com/office/powerpoint/2010/main" val="2568833378"/>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Outline</a:t>
            </a:r>
          </a:p>
        </p:txBody>
      </p:sp>
      <p:sp>
        <p:nvSpPr>
          <p:cNvPr id="3" name="Content Placeholder 2"/>
          <p:cNvSpPr>
            <a:spLocks noGrp="1"/>
          </p:cNvSpPr>
          <p:nvPr>
            <p:ph idx="1"/>
          </p:nvPr>
        </p:nvSpPr>
        <p:spPr/>
        <p:txBody>
          <a:bodyPr/>
          <a:lstStyle/>
          <a:p>
            <a:r>
              <a:rPr lang="en-US"/>
              <a:t>Definition and properties</a:t>
            </a:r>
          </a:p>
          <a:p>
            <a:r>
              <a:rPr lang="en-US"/>
              <a:t>Types of stablecoins</a:t>
            </a:r>
          </a:p>
          <a:p>
            <a:r>
              <a:rPr lang="en-US"/>
              <a:t>ERC-20 Token Standard</a:t>
            </a:r>
          </a:p>
          <a:p>
            <a:r>
              <a:rPr lang="en-US"/>
              <a:t>Simulation exercise</a:t>
            </a:r>
          </a:p>
          <a:p>
            <a:r>
              <a:rPr lang="en-US"/>
              <a:t>Smart contract code walkthrough</a:t>
            </a:r>
          </a:p>
          <a:p>
            <a:r>
              <a:rPr lang="en-US"/>
              <a:t>Issues</a:t>
            </a:r>
          </a:p>
          <a:p>
            <a:endParaRPr lang="en-US"/>
          </a:p>
        </p:txBody>
      </p:sp>
      <p:sp>
        <p:nvSpPr>
          <p:cNvPr id="4" name="Slide Number Placeholder 3"/>
          <p:cNvSpPr>
            <a:spLocks noGrp="1"/>
          </p:cNvSpPr>
          <p:nvPr>
            <p:ph type="sldNum" sz="quarter" idx="12"/>
          </p:nvPr>
        </p:nvSpPr>
        <p:spPr/>
        <p:txBody>
          <a:bodyPr/>
          <a:lstStyle/>
          <a:p>
            <a:fld id="{123BC241-7286-4066-AAE4-0801D26EA29E}" type="slidenum">
              <a:rPr lang="aa-ET" smtClean="0"/>
              <a:t>4</a:t>
            </a:fld>
            <a:endParaRPr lang="aa-ET"/>
          </a:p>
        </p:txBody>
      </p:sp>
    </p:spTree>
    <p:extLst>
      <p:ext uri="{BB962C8B-B14F-4D97-AF65-F5344CB8AC3E}">
        <p14:creationId xmlns:p14="http://schemas.microsoft.com/office/powerpoint/2010/main" val="104337015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Stablecoin - Definition</a:t>
            </a:r>
          </a:p>
        </p:txBody>
      </p:sp>
      <p:sp>
        <p:nvSpPr>
          <p:cNvPr id="3" name="Content Placeholder 2"/>
          <p:cNvSpPr>
            <a:spLocks noGrp="1"/>
          </p:cNvSpPr>
          <p:nvPr>
            <p:ph idx="1"/>
          </p:nvPr>
        </p:nvSpPr>
        <p:spPr/>
        <p:txBody>
          <a:bodyPr/>
          <a:lstStyle/>
          <a:p>
            <a:pPr marL="457189" lvl="1" indent="0">
              <a:buNone/>
            </a:pPr>
            <a:r>
              <a:rPr lang="en-US" sz="2800"/>
              <a:t>“</a:t>
            </a:r>
            <a:r>
              <a:rPr lang="en-US" sz="2800" i="1"/>
              <a:t>A stablecoin is a cryptocurrency token that is a </a:t>
            </a:r>
            <a:r>
              <a:rPr lang="en-US" sz="2800" b="1" i="1"/>
              <a:t>fungible</a:t>
            </a:r>
            <a:r>
              <a:rPr lang="en-US" sz="2800" i="1"/>
              <a:t> unit of financial value </a:t>
            </a:r>
            <a:r>
              <a:rPr lang="en-US" sz="2800" b="1" i="1"/>
              <a:t>pegged</a:t>
            </a:r>
            <a:r>
              <a:rPr lang="en-US" sz="2800" i="1"/>
              <a:t> to a </a:t>
            </a:r>
            <a:r>
              <a:rPr lang="en-US" sz="2800" b="1" i="1"/>
              <a:t>currency</a:t>
            </a:r>
            <a:r>
              <a:rPr lang="en-US" sz="2800" i="1"/>
              <a:t>, some other </a:t>
            </a:r>
            <a:r>
              <a:rPr lang="en-US" sz="2800" b="1" i="1"/>
              <a:t>asset</a:t>
            </a:r>
            <a:r>
              <a:rPr lang="en-US" sz="2800" i="1"/>
              <a:t>, or </a:t>
            </a:r>
            <a:r>
              <a:rPr lang="en-US" sz="2800" b="1" i="1"/>
              <a:t>index</a:t>
            </a:r>
            <a:r>
              <a:rPr lang="en-US" sz="2800" i="1"/>
              <a:t>. It can be </a:t>
            </a:r>
            <a:r>
              <a:rPr lang="en-US" sz="2800" b="1" i="1"/>
              <a:t>traded</a:t>
            </a:r>
            <a:r>
              <a:rPr lang="en-US" sz="2800" i="1"/>
              <a:t> directly between </a:t>
            </a:r>
            <a:r>
              <a:rPr lang="en-US" sz="2800" b="1" i="1"/>
              <a:t>parties</a:t>
            </a:r>
            <a:r>
              <a:rPr lang="en-US" sz="2800" i="1"/>
              <a:t> and converted to other currencies or the pegged asset.</a:t>
            </a:r>
            <a:r>
              <a:rPr lang="en-US" sz="2800"/>
              <a:t>”</a:t>
            </a:r>
            <a:r>
              <a:rPr lang="en-US" sz="2800" baseline="30000"/>
              <a:t>1</a:t>
            </a:r>
          </a:p>
        </p:txBody>
      </p:sp>
      <p:sp>
        <p:nvSpPr>
          <p:cNvPr id="4" name="Slide Number Placeholder 3"/>
          <p:cNvSpPr>
            <a:spLocks noGrp="1"/>
          </p:cNvSpPr>
          <p:nvPr>
            <p:ph type="sldNum" sz="quarter" idx="12"/>
          </p:nvPr>
        </p:nvSpPr>
        <p:spPr/>
        <p:txBody>
          <a:bodyPr/>
          <a:lstStyle/>
          <a:p>
            <a:fld id="{123BC241-7286-4066-AAE4-0801D26EA29E}" type="slidenum">
              <a:rPr lang="aa-ET" smtClean="0"/>
              <a:t>5</a:t>
            </a:fld>
            <a:endParaRPr lang="aa-ET"/>
          </a:p>
        </p:txBody>
      </p:sp>
      <p:sp>
        <p:nvSpPr>
          <p:cNvPr id="5" name="Rectangle 4"/>
          <p:cNvSpPr/>
          <p:nvPr/>
        </p:nvSpPr>
        <p:spPr>
          <a:xfrm>
            <a:off x="944879" y="5416566"/>
            <a:ext cx="10867261" cy="584775"/>
          </a:xfrm>
          <a:prstGeom prst="rect">
            <a:avLst/>
          </a:prstGeom>
        </p:spPr>
        <p:txBody>
          <a:bodyPr wrap="square">
            <a:spAutoFit/>
          </a:bodyPr>
          <a:lstStyle/>
          <a:p>
            <a:r>
              <a:rPr lang="en-US" sz="1600" baseline="30000">
                <a:solidFill>
                  <a:srgbClr val="222222"/>
                </a:solidFill>
                <a:latin typeface="Arial" panose="020B0604020202020204" pitchFamily="34" charset="0"/>
              </a:rPr>
              <a:t>1</a:t>
            </a:r>
            <a:r>
              <a:rPr lang="en-US" sz="1600">
                <a:solidFill>
                  <a:srgbClr val="222222"/>
                </a:solidFill>
                <a:latin typeface="Arial" panose="020B0604020202020204" pitchFamily="34" charset="0"/>
              </a:rPr>
              <a:t> Mell, P. and </a:t>
            </a:r>
            <a:r>
              <a:rPr lang="en-US" sz="1600" err="1">
                <a:solidFill>
                  <a:srgbClr val="222222"/>
                </a:solidFill>
                <a:latin typeface="Arial" panose="020B0604020202020204" pitchFamily="34" charset="0"/>
              </a:rPr>
              <a:t>Yaga</a:t>
            </a:r>
            <a:r>
              <a:rPr lang="en-US" sz="1600">
                <a:solidFill>
                  <a:srgbClr val="222222"/>
                </a:solidFill>
                <a:latin typeface="Arial" panose="020B0604020202020204" pitchFamily="34" charset="0"/>
              </a:rPr>
              <a:t>, D., 2023. </a:t>
            </a:r>
            <a:r>
              <a:rPr lang="en-US" sz="1600" i="1">
                <a:solidFill>
                  <a:srgbClr val="222222"/>
                </a:solidFill>
                <a:latin typeface="Arial" panose="020B0604020202020204" pitchFamily="34" charset="0"/>
              </a:rPr>
              <a:t>Understanding stablecoin technology and related security considerations</a:t>
            </a:r>
            <a:r>
              <a:rPr lang="en-US" sz="1600">
                <a:solidFill>
                  <a:srgbClr val="222222"/>
                </a:solidFill>
                <a:latin typeface="Arial" panose="020B0604020202020204" pitchFamily="34" charset="0"/>
              </a:rPr>
              <a:t>. US Department of Commerce, National Institute of Standards and Technology.</a:t>
            </a:r>
            <a:endParaRPr lang="en-US" sz="1600"/>
          </a:p>
        </p:txBody>
      </p:sp>
      <p:pic>
        <p:nvPicPr>
          <p:cNvPr id="14" name="Picture 13"/>
          <p:cNvPicPr>
            <a:picLocks noChangeAspect="1"/>
          </p:cNvPicPr>
          <p:nvPr/>
        </p:nvPicPr>
        <p:blipFill>
          <a:blip r:embed="rId2"/>
          <a:stretch>
            <a:fillRect/>
          </a:stretch>
        </p:blipFill>
        <p:spPr>
          <a:xfrm>
            <a:off x="2400165" y="2756038"/>
            <a:ext cx="6757392" cy="2589805"/>
          </a:xfrm>
          <a:prstGeom prst="rect">
            <a:avLst/>
          </a:prstGeom>
        </p:spPr>
      </p:pic>
    </p:spTree>
    <p:extLst>
      <p:ext uri="{BB962C8B-B14F-4D97-AF65-F5344CB8AC3E}">
        <p14:creationId xmlns:p14="http://schemas.microsoft.com/office/powerpoint/2010/main" val="419155560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Stablecoin - Properties</a:t>
            </a:r>
          </a:p>
        </p:txBody>
      </p:sp>
      <p:sp>
        <p:nvSpPr>
          <p:cNvPr id="3" name="Content Placeholder 2"/>
          <p:cNvSpPr>
            <a:spLocks noGrp="1"/>
          </p:cNvSpPr>
          <p:nvPr>
            <p:ph idx="1"/>
          </p:nvPr>
        </p:nvSpPr>
        <p:spPr>
          <a:xfrm>
            <a:off x="838200" y="1348967"/>
            <a:ext cx="5582055" cy="4827997"/>
          </a:xfrm>
        </p:spPr>
        <p:txBody>
          <a:bodyPr>
            <a:normAutofit fontScale="92500" lnSpcReduction="10000"/>
          </a:bodyPr>
          <a:lstStyle/>
          <a:p>
            <a:pPr marL="514350" indent="-514350">
              <a:buAutoNum type="arabicPeriod"/>
            </a:pPr>
            <a:r>
              <a:rPr lang="en-US" b="1"/>
              <a:t>Tokenized</a:t>
            </a:r>
            <a:r>
              <a:rPr lang="en-US"/>
              <a:t> — Represented as a cryptocurrency token, typically managed by a smart contract</a:t>
            </a:r>
          </a:p>
          <a:p>
            <a:pPr marL="514350" indent="-514350">
              <a:buAutoNum type="arabicPeriod"/>
            </a:pPr>
            <a:r>
              <a:rPr lang="en-US" b="1"/>
              <a:t>Fungible</a:t>
            </a:r>
            <a:r>
              <a:rPr lang="en-US"/>
              <a:t> — Each unit has equal financial value, with minimal price volatility relative to its pegged asset or index</a:t>
            </a:r>
          </a:p>
          <a:p>
            <a:pPr marL="514350" indent="-514350">
              <a:buAutoNum type="arabicPeriod"/>
            </a:pPr>
            <a:r>
              <a:rPr lang="en-US" b="1"/>
              <a:t>Tradable</a:t>
            </a:r>
            <a:r>
              <a:rPr lang="en-US"/>
              <a:t> — Can be exchanged directly between parties without intermediaries</a:t>
            </a:r>
          </a:p>
          <a:p>
            <a:pPr marL="514350" indent="-514350">
              <a:buAutoNum type="arabicPeriod"/>
            </a:pPr>
            <a:r>
              <a:rPr lang="en-US" b="1"/>
              <a:t>Convertible</a:t>
            </a:r>
            <a:r>
              <a:rPr lang="en-US"/>
              <a:t> — Can be redeemed for other currencies or the underlying pegged asset</a:t>
            </a:r>
          </a:p>
        </p:txBody>
      </p:sp>
      <p:sp>
        <p:nvSpPr>
          <p:cNvPr id="4" name="Slide Number Placeholder 3"/>
          <p:cNvSpPr>
            <a:spLocks noGrp="1"/>
          </p:cNvSpPr>
          <p:nvPr>
            <p:ph type="sldNum" sz="quarter" idx="12"/>
          </p:nvPr>
        </p:nvSpPr>
        <p:spPr/>
        <p:txBody>
          <a:bodyPr/>
          <a:lstStyle/>
          <a:p>
            <a:fld id="{123BC241-7286-4066-AAE4-0801D26EA29E}" type="slidenum">
              <a:rPr lang="aa-ET" smtClean="0"/>
              <a:t>6</a:t>
            </a:fld>
            <a:endParaRPr lang="aa-ET"/>
          </a:p>
        </p:txBody>
      </p:sp>
      <p:pic>
        <p:nvPicPr>
          <p:cNvPr id="43" name="Picture 42"/>
          <p:cNvPicPr>
            <a:picLocks noChangeAspect="1"/>
          </p:cNvPicPr>
          <p:nvPr/>
        </p:nvPicPr>
        <p:blipFill>
          <a:blip r:embed="rId2"/>
          <a:stretch>
            <a:fillRect/>
          </a:stretch>
        </p:blipFill>
        <p:spPr>
          <a:xfrm>
            <a:off x="6420255" y="1459148"/>
            <a:ext cx="5222456" cy="4236799"/>
          </a:xfrm>
          <a:prstGeom prst="rect">
            <a:avLst/>
          </a:prstGeom>
        </p:spPr>
      </p:pic>
    </p:spTree>
    <p:extLst>
      <p:ext uri="{BB962C8B-B14F-4D97-AF65-F5344CB8AC3E}">
        <p14:creationId xmlns:p14="http://schemas.microsoft.com/office/powerpoint/2010/main" val="62210310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Stablecoins - Types</a:t>
            </a:r>
          </a:p>
        </p:txBody>
      </p:sp>
      <p:sp>
        <p:nvSpPr>
          <p:cNvPr id="3" name="Content Placeholder 2"/>
          <p:cNvSpPr>
            <a:spLocks noGrp="1"/>
          </p:cNvSpPr>
          <p:nvPr>
            <p:ph idx="1"/>
          </p:nvPr>
        </p:nvSpPr>
        <p:spPr>
          <a:xfrm>
            <a:off x="838200" y="1348967"/>
            <a:ext cx="6214353" cy="4827997"/>
          </a:xfrm>
        </p:spPr>
        <p:txBody>
          <a:bodyPr>
            <a:normAutofit lnSpcReduction="10000"/>
          </a:bodyPr>
          <a:lstStyle/>
          <a:p>
            <a:pPr marL="514350" indent="-514350">
              <a:buAutoNum type="arabicPeriod"/>
            </a:pPr>
            <a:r>
              <a:rPr lang="en-US" b="1"/>
              <a:t>Fiat Currency-backed</a:t>
            </a:r>
            <a:br>
              <a:rPr lang="en-US"/>
            </a:br>
            <a:r>
              <a:rPr lang="en-US"/>
              <a:t>Backed by cash-equivalent reserves of a specific fiat currency (e.g., USD) or a basket of fiat currencies</a:t>
            </a:r>
          </a:p>
          <a:p>
            <a:pPr marL="514350" indent="-514350">
              <a:buAutoNum type="arabicPeriod"/>
            </a:pPr>
            <a:r>
              <a:rPr lang="en-US" b="1" err="1"/>
              <a:t>Noncurrency</a:t>
            </a:r>
            <a:r>
              <a:rPr lang="en-US" b="1"/>
              <a:t> Asset-backed</a:t>
            </a:r>
            <a:br>
              <a:rPr lang="en-US"/>
            </a:br>
            <a:r>
              <a:rPr lang="en-US"/>
              <a:t>Backed by reserves of non-currency assets (e.g., commodities, securities) or financial instruments tied to such assets</a:t>
            </a:r>
          </a:p>
          <a:p>
            <a:pPr marL="514350" indent="-514350">
              <a:buFont typeface="Arial" panose="020B0604020202020204" pitchFamily="34" charset="0"/>
              <a:buAutoNum type="arabicPeriod"/>
            </a:pPr>
            <a:r>
              <a:rPr lang="en-US" b="1"/>
              <a:t>Cryptocurrency-backed</a:t>
            </a:r>
            <a:br>
              <a:rPr lang="en-US"/>
            </a:br>
            <a:r>
              <a:rPr lang="en-US"/>
              <a:t>Collateralized by reserves of volatile cryptocurrencies (excluding other stablecoins)</a:t>
            </a:r>
          </a:p>
        </p:txBody>
      </p:sp>
      <p:sp>
        <p:nvSpPr>
          <p:cNvPr id="4" name="Slide Number Placeholder 3"/>
          <p:cNvSpPr>
            <a:spLocks noGrp="1"/>
          </p:cNvSpPr>
          <p:nvPr>
            <p:ph type="sldNum" sz="quarter" idx="12"/>
          </p:nvPr>
        </p:nvSpPr>
        <p:spPr/>
        <p:txBody>
          <a:bodyPr/>
          <a:lstStyle/>
          <a:p>
            <a:fld id="{123BC241-7286-4066-AAE4-0801D26EA29E}" type="slidenum">
              <a:rPr lang="aa-ET" smtClean="0"/>
              <a:t>7</a:t>
            </a:fld>
            <a:endParaRPr lang="aa-ET"/>
          </a:p>
        </p:txBody>
      </p:sp>
      <p:pic>
        <p:nvPicPr>
          <p:cNvPr id="8" name="Picture 7"/>
          <p:cNvPicPr>
            <a:picLocks noChangeAspect="1"/>
          </p:cNvPicPr>
          <p:nvPr/>
        </p:nvPicPr>
        <p:blipFill>
          <a:blip r:embed="rId3"/>
          <a:stretch>
            <a:fillRect/>
          </a:stretch>
        </p:blipFill>
        <p:spPr>
          <a:xfrm>
            <a:off x="7594388" y="1520692"/>
            <a:ext cx="4155394" cy="1199797"/>
          </a:xfrm>
          <a:prstGeom prst="rect">
            <a:avLst/>
          </a:prstGeom>
        </p:spPr>
      </p:pic>
      <p:pic>
        <p:nvPicPr>
          <p:cNvPr id="9" name="Picture 8"/>
          <p:cNvPicPr>
            <a:picLocks noChangeAspect="1"/>
          </p:cNvPicPr>
          <p:nvPr/>
        </p:nvPicPr>
        <p:blipFill>
          <a:blip r:embed="rId4"/>
          <a:stretch>
            <a:fillRect/>
          </a:stretch>
        </p:blipFill>
        <p:spPr>
          <a:xfrm>
            <a:off x="7594388" y="3054615"/>
            <a:ext cx="4155394" cy="1202235"/>
          </a:xfrm>
          <a:prstGeom prst="rect">
            <a:avLst/>
          </a:prstGeom>
        </p:spPr>
      </p:pic>
      <p:pic>
        <p:nvPicPr>
          <p:cNvPr id="5" name="Picture 4"/>
          <p:cNvPicPr>
            <a:picLocks noChangeAspect="1"/>
          </p:cNvPicPr>
          <p:nvPr/>
        </p:nvPicPr>
        <p:blipFill>
          <a:blip r:embed="rId5"/>
          <a:stretch>
            <a:fillRect/>
          </a:stretch>
        </p:blipFill>
        <p:spPr>
          <a:xfrm>
            <a:off x="7763710" y="4801477"/>
            <a:ext cx="4151376" cy="1223902"/>
          </a:xfrm>
          <a:prstGeom prst="rect">
            <a:avLst/>
          </a:prstGeom>
        </p:spPr>
      </p:pic>
    </p:spTree>
    <p:extLst>
      <p:ext uri="{BB962C8B-B14F-4D97-AF65-F5344CB8AC3E}">
        <p14:creationId xmlns:p14="http://schemas.microsoft.com/office/powerpoint/2010/main" val="100334234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Stablecoin</a:t>
            </a:r>
            <a:r>
              <a:rPr lang="en-US"/>
              <a:t> - Types</a:t>
            </a:r>
          </a:p>
        </p:txBody>
      </p:sp>
      <p:sp>
        <p:nvSpPr>
          <p:cNvPr id="3" name="Content Placeholder 2"/>
          <p:cNvSpPr>
            <a:spLocks noGrp="1"/>
          </p:cNvSpPr>
          <p:nvPr>
            <p:ph idx="1"/>
          </p:nvPr>
        </p:nvSpPr>
        <p:spPr>
          <a:xfrm>
            <a:off x="838199" y="1348967"/>
            <a:ext cx="6217920" cy="4827997"/>
          </a:xfrm>
        </p:spPr>
        <p:txBody>
          <a:bodyPr>
            <a:normAutofit fontScale="92500" lnSpcReduction="10000"/>
          </a:bodyPr>
          <a:lstStyle/>
          <a:p>
            <a:pPr marL="514350" indent="-514350">
              <a:buFont typeface="+mj-lt"/>
              <a:buAutoNum type="arabicPeriod" startAt="4"/>
            </a:pPr>
            <a:r>
              <a:rPr lang="en-US" b="1" dirty="0"/>
              <a:t>Algorithmic Non-collateralized</a:t>
            </a:r>
            <a:br>
              <a:rPr lang="en-US" b="1" dirty="0"/>
            </a:br>
            <a:r>
              <a:rPr lang="en-US" dirty="0"/>
              <a:t>Price stabilized through algorithms that automatically expand or contract the coin supply without using collateral</a:t>
            </a:r>
          </a:p>
          <a:p>
            <a:pPr marL="514350" indent="-514350">
              <a:buFont typeface="+mj-lt"/>
              <a:buAutoNum type="arabicPeriod" startAt="4"/>
            </a:pPr>
            <a:r>
              <a:rPr lang="en-US" b="1" dirty="0"/>
              <a:t>Hybrid</a:t>
            </a:r>
            <a:br>
              <a:rPr lang="en-US" dirty="0"/>
            </a:br>
            <a:r>
              <a:rPr lang="en-US" dirty="0"/>
              <a:t>Combines multiple stabilization methods, such as partial cryptocurrency collateral with algorithmic supply control</a:t>
            </a:r>
          </a:p>
          <a:p>
            <a:pPr marL="514350" indent="-514350">
              <a:buFont typeface="+mj-lt"/>
              <a:buAutoNum type="arabicPeriod" startAt="4"/>
            </a:pPr>
            <a:r>
              <a:rPr lang="en-US" b="1" dirty="0"/>
              <a:t>Private Institutional</a:t>
            </a:r>
            <a:br>
              <a:rPr lang="en-US" dirty="0"/>
            </a:br>
            <a:r>
              <a:rPr lang="en-US" dirty="0"/>
              <a:t>Issued for use within a private blockchain ecosystem, typically for internal transactions among the issuer’s customers</a:t>
            </a:r>
          </a:p>
          <a:p>
            <a:pPr marL="0" indent="0">
              <a:buNone/>
            </a:pPr>
            <a:endParaRPr lang="en-US" dirty="0"/>
          </a:p>
        </p:txBody>
      </p:sp>
      <p:sp>
        <p:nvSpPr>
          <p:cNvPr id="4" name="Slide Number Placeholder 3"/>
          <p:cNvSpPr>
            <a:spLocks noGrp="1"/>
          </p:cNvSpPr>
          <p:nvPr>
            <p:ph type="sldNum" sz="quarter" idx="12"/>
          </p:nvPr>
        </p:nvSpPr>
        <p:spPr/>
        <p:txBody>
          <a:bodyPr/>
          <a:lstStyle/>
          <a:p>
            <a:fld id="{123BC241-7286-4066-AAE4-0801D26EA29E}" type="slidenum">
              <a:rPr lang="aa-ET" smtClean="0"/>
              <a:t>8</a:t>
            </a:fld>
            <a:endParaRPr lang="aa-ET"/>
          </a:p>
        </p:txBody>
      </p:sp>
      <p:pic>
        <p:nvPicPr>
          <p:cNvPr id="9" name="Picture 8"/>
          <p:cNvPicPr>
            <a:picLocks noChangeAspect="1"/>
          </p:cNvPicPr>
          <p:nvPr/>
        </p:nvPicPr>
        <p:blipFill>
          <a:blip r:embed="rId2"/>
          <a:stretch>
            <a:fillRect/>
          </a:stretch>
        </p:blipFill>
        <p:spPr>
          <a:xfrm>
            <a:off x="8403316" y="1241963"/>
            <a:ext cx="3167756" cy="1049822"/>
          </a:xfrm>
          <a:prstGeom prst="rect">
            <a:avLst/>
          </a:prstGeom>
        </p:spPr>
      </p:pic>
      <p:pic>
        <p:nvPicPr>
          <p:cNvPr id="5" name="Picture 4"/>
          <p:cNvPicPr>
            <a:picLocks noChangeAspect="1"/>
          </p:cNvPicPr>
          <p:nvPr/>
        </p:nvPicPr>
        <p:blipFill>
          <a:blip r:embed="rId3"/>
          <a:stretch>
            <a:fillRect/>
          </a:stretch>
        </p:blipFill>
        <p:spPr>
          <a:xfrm>
            <a:off x="8212959" y="2377468"/>
            <a:ext cx="2388620" cy="2555055"/>
          </a:xfrm>
          <a:prstGeom prst="rect">
            <a:avLst/>
          </a:prstGeom>
        </p:spPr>
      </p:pic>
      <p:pic>
        <p:nvPicPr>
          <p:cNvPr id="25" name="Picture 24"/>
          <p:cNvPicPr>
            <a:picLocks noChangeAspect="1"/>
          </p:cNvPicPr>
          <p:nvPr/>
        </p:nvPicPr>
        <p:blipFill>
          <a:blip r:embed="rId4"/>
          <a:stretch>
            <a:fillRect/>
          </a:stretch>
        </p:blipFill>
        <p:spPr>
          <a:xfrm>
            <a:off x="7204305" y="4456949"/>
            <a:ext cx="2017308" cy="1923167"/>
          </a:xfrm>
          <a:prstGeom prst="rect">
            <a:avLst/>
          </a:prstGeom>
        </p:spPr>
      </p:pic>
    </p:spTree>
    <p:extLst>
      <p:ext uri="{BB962C8B-B14F-4D97-AF65-F5344CB8AC3E}">
        <p14:creationId xmlns:p14="http://schemas.microsoft.com/office/powerpoint/2010/main" val="259738832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Stablecoin</a:t>
            </a:r>
            <a:r>
              <a:rPr lang="en-US"/>
              <a:t> - Types</a:t>
            </a:r>
          </a:p>
        </p:txBody>
      </p:sp>
      <p:sp>
        <p:nvSpPr>
          <p:cNvPr id="4" name="Slide Number Placeholder 3"/>
          <p:cNvSpPr>
            <a:spLocks noGrp="1"/>
          </p:cNvSpPr>
          <p:nvPr>
            <p:ph type="sldNum" sz="quarter" idx="12"/>
          </p:nvPr>
        </p:nvSpPr>
        <p:spPr/>
        <p:txBody>
          <a:bodyPr/>
          <a:lstStyle/>
          <a:p>
            <a:fld id="{123BC241-7286-4066-AAE4-0801D26EA29E}" type="slidenum">
              <a:rPr lang="aa-ET" smtClean="0"/>
              <a:t>9</a:t>
            </a:fld>
            <a:endParaRPr lang="aa-ET"/>
          </a:p>
        </p:txBody>
      </p:sp>
      <p:sp>
        <p:nvSpPr>
          <p:cNvPr id="6" name="Rectangle 5"/>
          <p:cNvSpPr/>
          <p:nvPr/>
        </p:nvSpPr>
        <p:spPr>
          <a:xfrm>
            <a:off x="2430350" y="5344615"/>
            <a:ext cx="7431480" cy="461665"/>
          </a:xfrm>
          <a:prstGeom prst="rect">
            <a:avLst/>
          </a:prstGeom>
        </p:spPr>
        <p:txBody>
          <a:bodyPr wrap="square">
            <a:spAutoFit/>
          </a:bodyPr>
          <a:lstStyle/>
          <a:p>
            <a:pPr algn="ctr"/>
            <a:r>
              <a:rPr lang="en-US" sz="2400">
                <a:solidFill>
                  <a:srgbClr val="000000"/>
                </a:solidFill>
              </a:rPr>
              <a:t>Stablecoin types on top 20 list by market capitalization </a:t>
            </a:r>
            <a:endParaRPr lang="en-US" sz="2000"/>
          </a:p>
        </p:txBody>
      </p:sp>
      <p:pic>
        <p:nvPicPr>
          <p:cNvPr id="3" name="Picture 2"/>
          <p:cNvPicPr>
            <a:picLocks noChangeAspect="1"/>
          </p:cNvPicPr>
          <p:nvPr/>
        </p:nvPicPr>
        <p:blipFill rotWithShape="1">
          <a:blip r:embed="rId2"/>
          <a:srcRect l="6434" r="7081" b="5751"/>
          <a:stretch/>
        </p:blipFill>
        <p:spPr>
          <a:xfrm>
            <a:off x="2859932" y="1127233"/>
            <a:ext cx="6157608" cy="4033355"/>
          </a:xfrm>
          <a:prstGeom prst="rect">
            <a:avLst/>
          </a:prstGeom>
        </p:spPr>
      </p:pic>
      <p:sp>
        <p:nvSpPr>
          <p:cNvPr id="9" name="Rectangle 8"/>
          <p:cNvSpPr/>
          <p:nvPr/>
        </p:nvSpPr>
        <p:spPr>
          <a:xfrm>
            <a:off x="276914" y="5990307"/>
            <a:ext cx="11465169" cy="369332"/>
          </a:xfrm>
          <a:prstGeom prst="rect">
            <a:avLst/>
          </a:prstGeom>
        </p:spPr>
        <p:txBody>
          <a:bodyPr wrap="square">
            <a:spAutoFit/>
          </a:bodyPr>
          <a:lstStyle/>
          <a:p>
            <a:r>
              <a:rPr lang="en-US" baseline="30000" dirty="0"/>
              <a:t>*</a:t>
            </a:r>
            <a:r>
              <a:rPr lang="en-US" sz="1800" dirty="0"/>
              <a:t>All caps reflect the latest available figures (July 2025), sourced from </a:t>
            </a:r>
            <a:r>
              <a:rPr lang="en-US" sz="1800" dirty="0" err="1"/>
              <a:t>CoinMarketCap</a:t>
            </a:r>
            <a:r>
              <a:rPr lang="en-US" sz="1800" dirty="0"/>
              <a:t>, </a:t>
            </a:r>
            <a:r>
              <a:rPr lang="en-US" sz="1800" dirty="0" err="1"/>
              <a:t>CoinGecko</a:t>
            </a:r>
            <a:r>
              <a:rPr lang="en-US" sz="1800" dirty="0"/>
              <a:t>, Binance, and </a:t>
            </a:r>
            <a:r>
              <a:rPr lang="en-US" sz="1800" dirty="0" err="1"/>
              <a:t>CoinCodex</a:t>
            </a:r>
            <a:endParaRPr lang="en-US" sz="1800" dirty="0"/>
          </a:p>
        </p:txBody>
      </p:sp>
    </p:spTree>
    <p:extLst>
      <p:ext uri="{BB962C8B-B14F-4D97-AF65-F5344CB8AC3E}">
        <p14:creationId xmlns:p14="http://schemas.microsoft.com/office/powerpoint/2010/main" val="1022280430"/>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Stablecoin – Fiat Currency-backed</a:t>
            </a:r>
          </a:p>
        </p:txBody>
      </p:sp>
      <p:sp>
        <p:nvSpPr>
          <p:cNvPr id="3" name="Content Placeholder 2"/>
          <p:cNvSpPr>
            <a:spLocks noGrp="1"/>
          </p:cNvSpPr>
          <p:nvPr>
            <p:ph idx="1"/>
          </p:nvPr>
        </p:nvSpPr>
        <p:spPr>
          <a:xfrm>
            <a:off x="838200" y="1495196"/>
            <a:ext cx="5620966" cy="4675617"/>
          </a:xfrm>
        </p:spPr>
        <p:txBody>
          <a:bodyPr>
            <a:normAutofit fontScale="85000" lnSpcReduction="20000"/>
          </a:bodyPr>
          <a:lstStyle/>
          <a:p>
            <a:r>
              <a:rPr lang="en-US" b="1" dirty="0"/>
              <a:t>Centralized Finance (</a:t>
            </a:r>
            <a:r>
              <a:rPr lang="en-US" b="1" dirty="0" err="1"/>
              <a:t>CeFi</a:t>
            </a:r>
            <a:r>
              <a:rPr lang="en-US" b="1" dirty="0"/>
              <a:t>): </a:t>
            </a:r>
            <a:r>
              <a:rPr lang="en-US" dirty="0"/>
              <a:t>Managed by an off-chain, centralized entity responsible for holding and managing collateral externally</a:t>
            </a:r>
          </a:p>
          <a:p>
            <a:r>
              <a:rPr lang="en-US" b="1" dirty="0"/>
              <a:t>Collateralization: </a:t>
            </a:r>
            <a:r>
              <a:rPr lang="en-US" dirty="0"/>
              <a:t>Typically fully collateralized by cash-equivalent reserves, such as bank deposits, treasury bills, or commercial paper.</a:t>
            </a:r>
          </a:p>
          <a:p>
            <a:r>
              <a:rPr lang="en-US" b="1" dirty="0"/>
              <a:t>Blockchain Transactions:</a:t>
            </a:r>
            <a:r>
              <a:rPr lang="en-US" dirty="0"/>
              <a:t> Smart contracts primarily serve as an interface for:</a:t>
            </a:r>
          </a:p>
          <a:p>
            <a:pPr lvl="1"/>
            <a:r>
              <a:rPr lang="en-US" dirty="0"/>
              <a:t>Minting stablecoins upon deposit of equivalent collateral</a:t>
            </a:r>
          </a:p>
          <a:p>
            <a:pPr lvl="1"/>
            <a:r>
              <a:rPr lang="en-US" dirty="0"/>
              <a:t>Burning stablecoins upon redemption</a:t>
            </a:r>
          </a:p>
          <a:p>
            <a:pPr lvl="1"/>
            <a:r>
              <a:rPr lang="en-US" dirty="0"/>
              <a:t>Direct transfers between addresses</a:t>
            </a:r>
          </a:p>
          <a:p>
            <a:pPr lvl="1"/>
            <a:r>
              <a:rPr lang="en-US" dirty="0"/>
              <a:t>Delegated spending on behalf of stablecoin holders</a:t>
            </a:r>
            <a:r>
              <a:rPr lang="en-US" b="1" dirty="0"/>
              <a:t> </a:t>
            </a:r>
          </a:p>
        </p:txBody>
      </p:sp>
      <p:sp>
        <p:nvSpPr>
          <p:cNvPr id="4" name="Slide Number Placeholder 3"/>
          <p:cNvSpPr>
            <a:spLocks noGrp="1"/>
          </p:cNvSpPr>
          <p:nvPr>
            <p:ph type="sldNum" sz="quarter" idx="12"/>
          </p:nvPr>
        </p:nvSpPr>
        <p:spPr/>
        <p:txBody>
          <a:bodyPr/>
          <a:lstStyle/>
          <a:p>
            <a:fld id="{123BC241-7286-4066-AAE4-0801D26EA29E}" type="slidenum">
              <a:rPr lang="aa-ET" smtClean="0"/>
              <a:t>10</a:t>
            </a:fld>
            <a:endParaRPr lang="aa-ET"/>
          </a:p>
        </p:txBody>
      </p:sp>
      <p:pic>
        <p:nvPicPr>
          <p:cNvPr id="6" name="Picture 5"/>
          <p:cNvPicPr>
            <a:picLocks noChangeAspect="1"/>
          </p:cNvPicPr>
          <p:nvPr/>
        </p:nvPicPr>
        <p:blipFill>
          <a:blip r:embed="rId3"/>
          <a:stretch>
            <a:fillRect/>
          </a:stretch>
        </p:blipFill>
        <p:spPr>
          <a:xfrm>
            <a:off x="6775431" y="3253990"/>
            <a:ext cx="1017751" cy="1273187"/>
          </a:xfrm>
          <a:prstGeom prst="rect">
            <a:avLst/>
          </a:prstGeom>
        </p:spPr>
      </p:pic>
      <p:sp>
        <p:nvSpPr>
          <p:cNvPr id="7" name="AutoShape 9"/>
          <p:cNvSpPr/>
          <p:nvPr/>
        </p:nvSpPr>
        <p:spPr>
          <a:xfrm>
            <a:off x="7793182" y="3770845"/>
            <a:ext cx="2379518" cy="11445"/>
          </a:xfrm>
          <a:prstGeom prst="line">
            <a:avLst/>
          </a:prstGeom>
          <a:ln w="38100" cap="flat">
            <a:solidFill>
              <a:srgbClr val="000000"/>
            </a:solidFill>
            <a:prstDash val="solid"/>
            <a:headEnd type="none" w="sm" len="sm"/>
            <a:tailEnd type="triangle" w="lg" len="med"/>
          </a:ln>
        </p:spPr>
        <p:txBody>
          <a:bodyPr/>
          <a:lstStyle/>
          <a:p>
            <a:endParaRPr lang="en-US"/>
          </a:p>
        </p:txBody>
      </p:sp>
      <p:pic>
        <p:nvPicPr>
          <p:cNvPr id="8" name="Picture 7"/>
          <p:cNvPicPr>
            <a:picLocks noChangeAspect="1"/>
          </p:cNvPicPr>
          <p:nvPr/>
        </p:nvPicPr>
        <p:blipFill>
          <a:blip r:embed="rId4"/>
          <a:stretch>
            <a:fillRect/>
          </a:stretch>
        </p:blipFill>
        <p:spPr>
          <a:xfrm>
            <a:off x="9978551" y="2876986"/>
            <a:ext cx="1707028" cy="1767993"/>
          </a:xfrm>
          <a:prstGeom prst="rect">
            <a:avLst/>
          </a:prstGeom>
        </p:spPr>
      </p:pic>
      <p:sp>
        <p:nvSpPr>
          <p:cNvPr id="9" name="Freeform 15"/>
          <p:cNvSpPr/>
          <p:nvPr/>
        </p:nvSpPr>
        <p:spPr>
          <a:xfrm>
            <a:off x="10551548" y="3553427"/>
            <a:ext cx="561034" cy="415109"/>
          </a:xfrm>
          <a:custGeom>
            <a:avLst/>
            <a:gdLst/>
            <a:ahLst/>
            <a:cxnLst/>
            <a:rect l="l" t="t" r="r" b="b"/>
            <a:pathLst>
              <a:path w="1343178" h="1141701">
                <a:moveTo>
                  <a:pt x="0" y="0"/>
                </a:moveTo>
                <a:lnTo>
                  <a:pt x="1343178" y="0"/>
                </a:lnTo>
                <a:lnTo>
                  <a:pt x="1343178" y="1141702"/>
                </a:lnTo>
                <a:lnTo>
                  <a:pt x="0" y="1141702"/>
                </a:lnTo>
                <a:lnTo>
                  <a:pt x="0" y="0"/>
                </a:lnTo>
                <a:close/>
              </a:path>
            </a:pathLst>
          </a:custGeom>
          <a:blipFill>
            <a:blip r:embed="rId5"/>
            <a:stretch>
              <a:fillRect/>
            </a:stretch>
          </a:blipFill>
        </p:spPr>
        <p:txBody>
          <a:bodyPr/>
          <a:lstStyle/>
          <a:p>
            <a:endParaRPr lang="en-US"/>
          </a:p>
        </p:txBody>
      </p:sp>
      <p:sp>
        <p:nvSpPr>
          <p:cNvPr id="10" name="AutoShape 9"/>
          <p:cNvSpPr/>
          <p:nvPr/>
        </p:nvSpPr>
        <p:spPr>
          <a:xfrm flipV="1">
            <a:off x="9736281" y="4173683"/>
            <a:ext cx="432953" cy="3462"/>
          </a:xfrm>
          <a:prstGeom prst="line">
            <a:avLst/>
          </a:prstGeom>
          <a:ln w="38100" cap="flat">
            <a:solidFill>
              <a:srgbClr val="000000"/>
            </a:solidFill>
            <a:prstDash val="solid"/>
            <a:headEnd type="triangle" w="lg" len="med"/>
            <a:tailEnd type="none" w="lg" len="lg"/>
          </a:ln>
        </p:spPr>
        <p:txBody>
          <a:bodyPr/>
          <a:lstStyle/>
          <a:p>
            <a:endParaRPr lang="en-US"/>
          </a:p>
        </p:txBody>
      </p:sp>
      <p:pic>
        <p:nvPicPr>
          <p:cNvPr id="22" name="Picture 21"/>
          <p:cNvPicPr>
            <a:picLocks noChangeAspect="1"/>
          </p:cNvPicPr>
          <p:nvPr/>
        </p:nvPicPr>
        <p:blipFill>
          <a:blip r:embed="rId6"/>
          <a:stretch>
            <a:fillRect/>
          </a:stretch>
        </p:blipFill>
        <p:spPr>
          <a:xfrm>
            <a:off x="8214621" y="3849765"/>
            <a:ext cx="1521661" cy="647836"/>
          </a:xfrm>
          <a:prstGeom prst="rect">
            <a:avLst/>
          </a:prstGeom>
        </p:spPr>
      </p:pic>
      <p:sp>
        <p:nvSpPr>
          <p:cNvPr id="23" name="AutoShape 9"/>
          <p:cNvSpPr/>
          <p:nvPr/>
        </p:nvSpPr>
        <p:spPr>
          <a:xfrm flipV="1">
            <a:off x="7793183" y="4170217"/>
            <a:ext cx="1239982" cy="3465"/>
          </a:xfrm>
          <a:prstGeom prst="line">
            <a:avLst/>
          </a:prstGeom>
          <a:ln w="38100" cap="flat">
            <a:solidFill>
              <a:srgbClr val="000000"/>
            </a:solidFill>
            <a:prstDash val="solid"/>
            <a:headEnd type="triangle" w="lg" len="med"/>
            <a:tailEnd type="none" w="lg" len="lg"/>
          </a:ln>
        </p:spPr>
        <p:txBody>
          <a:bodyPr/>
          <a:lstStyle/>
          <a:p>
            <a:endParaRPr lang="en-US"/>
          </a:p>
        </p:txBody>
      </p:sp>
      <p:sp>
        <p:nvSpPr>
          <p:cNvPr id="5" name="Freeform 15">
            <a:extLst>
              <a:ext uri="{FF2B5EF4-FFF2-40B4-BE49-F238E27FC236}">
                <a16:creationId xmlns:a16="http://schemas.microsoft.com/office/drawing/2014/main" id="{AE9F5622-82DD-7E12-66BC-6E5FE87C4C98}"/>
              </a:ext>
            </a:extLst>
          </p:cNvPr>
          <p:cNvSpPr/>
          <p:nvPr/>
        </p:nvSpPr>
        <p:spPr>
          <a:xfrm>
            <a:off x="8531011" y="3345872"/>
            <a:ext cx="561034" cy="415109"/>
          </a:xfrm>
          <a:custGeom>
            <a:avLst/>
            <a:gdLst/>
            <a:ahLst/>
            <a:cxnLst/>
            <a:rect l="l" t="t" r="r" b="b"/>
            <a:pathLst>
              <a:path w="1343178" h="1141701">
                <a:moveTo>
                  <a:pt x="0" y="0"/>
                </a:moveTo>
                <a:lnTo>
                  <a:pt x="1343178" y="0"/>
                </a:lnTo>
                <a:lnTo>
                  <a:pt x="1343178" y="1141702"/>
                </a:lnTo>
                <a:lnTo>
                  <a:pt x="0" y="1141702"/>
                </a:lnTo>
                <a:lnTo>
                  <a:pt x="0" y="0"/>
                </a:lnTo>
                <a:close/>
              </a:path>
            </a:pathLst>
          </a:custGeom>
          <a:blipFill>
            <a:blip r:embed="rId5"/>
            <a:stretch>
              <a:fillRect/>
            </a:stretch>
          </a:blipFill>
        </p:spPr>
        <p:txBody>
          <a:bodyPr/>
          <a:lstStyle/>
          <a:p>
            <a:endParaRPr lang="en-US"/>
          </a:p>
        </p:txBody>
      </p:sp>
    </p:spTree>
    <p:extLst>
      <p:ext uri="{BB962C8B-B14F-4D97-AF65-F5344CB8AC3E}">
        <p14:creationId xmlns:p14="http://schemas.microsoft.com/office/powerpoint/2010/main" val="358016925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23" grpId="0" animBg="1"/>
      <p:bldP spid="5" grpId="0" animBg="1"/>
      <p:bldP spid="5"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Stablecoin – Fiat Currency-backed</a:t>
            </a:r>
          </a:p>
        </p:txBody>
      </p:sp>
      <p:sp>
        <p:nvSpPr>
          <p:cNvPr id="3" name="Content Placeholder 2"/>
          <p:cNvSpPr>
            <a:spLocks noGrp="1"/>
          </p:cNvSpPr>
          <p:nvPr>
            <p:ph idx="1"/>
          </p:nvPr>
        </p:nvSpPr>
        <p:spPr>
          <a:xfrm>
            <a:off x="838200" y="1348967"/>
            <a:ext cx="5519057" cy="4827997"/>
          </a:xfrm>
        </p:spPr>
        <p:txBody>
          <a:bodyPr>
            <a:normAutofit/>
          </a:bodyPr>
          <a:lstStyle/>
          <a:p>
            <a:r>
              <a:rPr lang="en-US" b="1" dirty="0"/>
              <a:t>No Oracle Dependence</a:t>
            </a:r>
            <a:r>
              <a:rPr lang="en-US" dirty="0"/>
              <a:t>: Does not rely on external entities for price feeds or market data</a:t>
            </a:r>
          </a:p>
        </p:txBody>
      </p:sp>
      <p:sp>
        <p:nvSpPr>
          <p:cNvPr id="4" name="Slide Number Placeholder 3"/>
          <p:cNvSpPr>
            <a:spLocks noGrp="1"/>
          </p:cNvSpPr>
          <p:nvPr>
            <p:ph type="sldNum" sz="quarter" idx="12"/>
          </p:nvPr>
        </p:nvSpPr>
        <p:spPr/>
        <p:txBody>
          <a:bodyPr/>
          <a:lstStyle/>
          <a:p>
            <a:fld id="{123BC241-7286-4066-AAE4-0801D26EA29E}" type="slidenum">
              <a:rPr lang="aa-ET" smtClean="0"/>
              <a:t>11</a:t>
            </a:fld>
            <a:endParaRPr lang="aa-ET"/>
          </a:p>
        </p:txBody>
      </p:sp>
      <p:pic>
        <p:nvPicPr>
          <p:cNvPr id="6" name="Picture 5">
            <a:extLst>
              <a:ext uri="{FF2B5EF4-FFF2-40B4-BE49-F238E27FC236}">
                <a16:creationId xmlns:a16="http://schemas.microsoft.com/office/drawing/2014/main" id="{9BCB3F4B-7DCC-722B-5DC0-D04049E604C3}"/>
              </a:ext>
            </a:extLst>
          </p:cNvPr>
          <p:cNvPicPr>
            <a:picLocks noChangeAspect="1"/>
          </p:cNvPicPr>
          <p:nvPr/>
        </p:nvPicPr>
        <p:blipFill>
          <a:blip r:embed="rId3"/>
          <a:stretch>
            <a:fillRect/>
          </a:stretch>
        </p:blipFill>
        <p:spPr>
          <a:xfrm>
            <a:off x="7977391" y="1110414"/>
            <a:ext cx="3376409" cy="1767046"/>
          </a:xfrm>
          <a:prstGeom prst="rect">
            <a:avLst/>
          </a:prstGeom>
        </p:spPr>
      </p:pic>
      <p:sp>
        <p:nvSpPr>
          <p:cNvPr id="7" name="Multiplication Sign 6">
            <a:extLst>
              <a:ext uri="{FF2B5EF4-FFF2-40B4-BE49-F238E27FC236}">
                <a16:creationId xmlns:a16="http://schemas.microsoft.com/office/drawing/2014/main" id="{C2DB786B-4D68-346F-C15E-DD8438993356}"/>
              </a:ext>
            </a:extLst>
          </p:cNvPr>
          <p:cNvSpPr/>
          <p:nvPr/>
        </p:nvSpPr>
        <p:spPr>
          <a:xfrm>
            <a:off x="9002486" y="1110414"/>
            <a:ext cx="1447799" cy="1739153"/>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 name="Content Placeholder 2">
            <a:extLst>
              <a:ext uri="{FF2B5EF4-FFF2-40B4-BE49-F238E27FC236}">
                <a16:creationId xmlns:a16="http://schemas.microsoft.com/office/drawing/2014/main" id="{62A51BD8-E9E6-F9A7-2324-8589C57BAEDD}"/>
              </a:ext>
            </a:extLst>
          </p:cNvPr>
          <p:cNvSpPr txBox="1">
            <a:spLocks/>
          </p:cNvSpPr>
          <p:nvPr/>
        </p:nvSpPr>
        <p:spPr>
          <a:xfrm>
            <a:off x="990600" y="1501367"/>
            <a:ext cx="5519057" cy="4827997"/>
          </a:xfrm>
          <a:prstGeom prst="rect">
            <a:avLst/>
          </a:prstGeom>
        </p:spPr>
        <p:txBody>
          <a:bodyPr vert="horz" lIns="91438" tIns="45719" rIns="91438" bIns="45719"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endParaRPr lang="en-US" b="1" dirty="0"/>
          </a:p>
          <a:p>
            <a:endParaRPr lang="en-US" b="1" dirty="0"/>
          </a:p>
          <a:p>
            <a:r>
              <a:rPr lang="en-US" b="1" dirty="0"/>
              <a:t>Stability Mechanism</a:t>
            </a:r>
            <a:r>
              <a:rPr lang="en-US" dirty="0"/>
              <a:t>: Price stability is maintained by full collateralization along with a smart contract-based purchase and redemption mechanism</a:t>
            </a:r>
          </a:p>
        </p:txBody>
      </p:sp>
      <p:pic>
        <p:nvPicPr>
          <p:cNvPr id="10" name="Picture 9">
            <a:extLst>
              <a:ext uri="{FF2B5EF4-FFF2-40B4-BE49-F238E27FC236}">
                <a16:creationId xmlns:a16="http://schemas.microsoft.com/office/drawing/2014/main" id="{B2520A0F-2052-6144-61CB-A131407C58C1}"/>
              </a:ext>
            </a:extLst>
          </p:cNvPr>
          <p:cNvPicPr>
            <a:picLocks noChangeAspect="1"/>
          </p:cNvPicPr>
          <p:nvPr/>
        </p:nvPicPr>
        <p:blipFill>
          <a:blip r:embed="rId4"/>
          <a:stretch>
            <a:fillRect/>
          </a:stretch>
        </p:blipFill>
        <p:spPr>
          <a:xfrm>
            <a:off x="6775431" y="3253990"/>
            <a:ext cx="1017751" cy="1273187"/>
          </a:xfrm>
          <a:prstGeom prst="rect">
            <a:avLst/>
          </a:prstGeom>
        </p:spPr>
      </p:pic>
      <p:sp>
        <p:nvSpPr>
          <p:cNvPr id="11" name="AutoShape 9">
            <a:extLst>
              <a:ext uri="{FF2B5EF4-FFF2-40B4-BE49-F238E27FC236}">
                <a16:creationId xmlns:a16="http://schemas.microsoft.com/office/drawing/2014/main" id="{132F0865-7F84-4FB2-94ED-27FD88BB6F39}"/>
              </a:ext>
            </a:extLst>
          </p:cNvPr>
          <p:cNvSpPr/>
          <p:nvPr/>
        </p:nvSpPr>
        <p:spPr>
          <a:xfrm>
            <a:off x="7793182" y="3770845"/>
            <a:ext cx="2379518" cy="11445"/>
          </a:xfrm>
          <a:prstGeom prst="line">
            <a:avLst/>
          </a:prstGeom>
          <a:ln w="38100" cap="flat">
            <a:solidFill>
              <a:srgbClr val="000000"/>
            </a:solidFill>
            <a:prstDash val="solid"/>
            <a:headEnd type="none" w="sm" len="sm"/>
            <a:tailEnd type="triangle" w="lg" len="med"/>
          </a:ln>
        </p:spPr>
        <p:txBody>
          <a:bodyPr/>
          <a:lstStyle/>
          <a:p>
            <a:endParaRPr lang="en-US"/>
          </a:p>
        </p:txBody>
      </p:sp>
      <p:pic>
        <p:nvPicPr>
          <p:cNvPr id="12" name="Picture 11">
            <a:extLst>
              <a:ext uri="{FF2B5EF4-FFF2-40B4-BE49-F238E27FC236}">
                <a16:creationId xmlns:a16="http://schemas.microsoft.com/office/drawing/2014/main" id="{6D32A6C5-2501-756B-00F0-B5A1D5A030F0}"/>
              </a:ext>
            </a:extLst>
          </p:cNvPr>
          <p:cNvPicPr>
            <a:picLocks noChangeAspect="1"/>
          </p:cNvPicPr>
          <p:nvPr/>
        </p:nvPicPr>
        <p:blipFill>
          <a:blip r:embed="rId5"/>
          <a:stretch>
            <a:fillRect/>
          </a:stretch>
        </p:blipFill>
        <p:spPr>
          <a:xfrm>
            <a:off x="9978551" y="2876986"/>
            <a:ext cx="1707028" cy="1767993"/>
          </a:xfrm>
          <a:prstGeom prst="rect">
            <a:avLst/>
          </a:prstGeom>
        </p:spPr>
      </p:pic>
      <p:sp>
        <p:nvSpPr>
          <p:cNvPr id="13" name="AutoShape 9">
            <a:extLst>
              <a:ext uri="{FF2B5EF4-FFF2-40B4-BE49-F238E27FC236}">
                <a16:creationId xmlns:a16="http://schemas.microsoft.com/office/drawing/2014/main" id="{275AB92C-7F98-A28B-FEDE-A57BBFC952F6}"/>
              </a:ext>
            </a:extLst>
          </p:cNvPr>
          <p:cNvSpPr/>
          <p:nvPr/>
        </p:nvSpPr>
        <p:spPr>
          <a:xfrm flipV="1">
            <a:off x="9736281" y="4173683"/>
            <a:ext cx="432953" cy="3462"/>
          </a:xfrm>
          <a:prstGeom prst="line">
            <a:avLst/>
          </a:prstGeom>
          <a:ln w="38100" cap="flat">
            <a:solidFill>
              <a:srgbClr val="000000"/>
            </a:solidFill>
            <a:prstDash val="solid"/>
            <a:headEnd type="triangle" w="lg" len="med"/>
            <a:tailEnd type="none" w="lg" len="lg"/>
          </a:ln>
        </p:spPr>
        <p:txBody>
          <a:bodyPr/>
          <a:lstStyle/>
          <a:p>
            <a:endParaRPr lang="en-US"/>
          </a:p>
        </p:txBody>
      </p:sp>
      <p:pic>
        <p:nvPicPr>
          <p:cNvPr id="14" name="Picture 13">
            <a:extLst>
              <a:ext uri="{FF2B5EF4-FFF2-40B4-BE49-F238E27FC236}">
                <a16:creationId xmlns:a16="http://schemas.microsoft.com/office/drawing/2014/main" id="{A6F2BA3D-ECA9-F8D0-B467-940819FCBFAC}"/>
              </a:ext>
            </a:extLst>
          </p:cNvPr>
          <p:cNvPicPr>
            <a:picLocks noChangeAspect="1"/>
          </p:cNvPicPr>
          <p:nvPr/>
        </p:nvPicPr>
        <p:blipFill>
          <a:blip r:embed="rId6"/>
          <a:stretch>
            <a:fillRect/>
          </a:stretch>
        </p:blipFill>
        <p:spPr>
          <a:xfrm>
            <a:off x="8214621" y="3849765"/>
            <a:ext cx="1521661" cy="647836"/>
          </a:xfrm>
          <a:prstGeom prst="rect">
            <a:avLst/>
          </a:prstGeom>
        </p:spPr>
      </p:pic>
      <p:sp>
        <p:nvSpPr>
          <p:cNvPr id="15" name="AutoShape 9">
            <a:extLst>
              <a:ext uri="{FF2B5EF4-FFF2-40B4-BE49-F238E27FC236}">
                <a16:creationId xmlns:a16="http://schemas.microsoft.com/office/drawing/2014/main" id="{D053B05A-74D9-8496-15A9-5411B57D1327}"/>
              </a:ext>
            </a:extLst>
          </p:cNvPr>
          <p:cNvSpPr/>
          <p:nvPr/>
        </p:nvSpPr>
        <p:spPr>
          <a:xfrm flipV="1">
            <a:off x="7793183" y="4170217"/>
            <a:ext cx="1239982" cy="3465"/>
          </a:xfrm>
          <a:prstGeom prst="line">
            <a:avLst/>
          </a:prstGeom>
          <a:ln w="38100" cap="flat">
            <a:solidFill>
              <a:srgbClr val="000000"/>
            </a:solidFill>
            <a:prstDash val="solid"/>
            <a:headEnd type="triangle" w="lg" len="med"/>
            <a:tailEnd type="none" w="lg" len="lg"/>
          </a:ln>
        </p:spPr>
        <p:txBody>
          <a:bodyPr/>
          <a:lstStyle/>
          <a:p>
            <a:endParaRPr lang="en-US"/>
          </a:p>
        </p:txBody>
      </p:sp>
      <p:sp>
        <p:nvSpPr>
          <p:cNvPr id="16" name="Content Placeholder 2">
            <a:extLst>
              <a:ext uri="{FF2B5EF4-FFF2-40B4-BE49-F238E27FC236}">
                <a16:creationId xmlns:a16="http://schemas.microsoft.com/office/drawing/2014/main" id="{ECAB904B-808C-B28E-CE52-4FD4D09D7C94}"/>
              </a:ext>
            </a:extLst>
          </p:cNvPr>
          <p:cNvSpPr txBox="1">
            <a:spLocks/>
          </p:cNvSpPr>
          <p:nvPr/>
        </p:nvSpPr>
        <p:spPr>
          <a:xfrm>
            <a:off x="910216" y="1501367"/>
            <a:ext cx="5519057" cy="4827997"/>
          </a:xfrm>
          <a:prstGeom prst="rect">
            <a:avLst/>
          </a:prstGeom>
        </p:spPr>
        <p:txBody>
          <a:bodyPr vert="horz" lIns="91438" tIns="45719" rIns="91438" bIns="45719" rtlCol="0">
            <a:normAutofit fontScale="92500"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endParaRPr lang="en-US" b="1" dirty="0"/>
          </a:p>
          <a:p>
            <a:endParaRPr lang="en-US" b="1" dirty="0"/>
          </a:p>
          <a:p>
            <a:endParaRPr lang="en-US" b="1" dirty="0"/>
          </a:p>
          <a:p>
            <a:endParaRPr lang="en-US" b="1" dirty="0"/>
          </a:p>
          <a:p>
            <a:endParaRPr lang="en-US" b="1" dirty="0"/>
          </a:p>
          <a:p>
            <a:endParaRPr lang="en-US" b="1" dirty="0"/>
          </a:p>
          <a:p>
            <a:endParaRPr lang="en-US" b="1" dirty="0"/>
          </a:p>
          <a:p>
            <a:r>
              <a:rPr lang="en-US" b="1" dirty="0"/>
              <a:t>Regulatory Compliance:</a:t>
            </a:r>
            <a:r>
              <a:rPr lang="en-US" dirty="0"/>
              <a:t> Managed by entities typically registered within specific jurisdictions, making them subject to local financial regulations</a:t>
            </a:r>
          </a:p>
        </p:txBody>
      </p:sp>
      <p:pic>
        <p:nvPicPr>
          <p:cNvPr id="17" name="Picture 16">
            <a:extLst>
              <a:ext uri="{FF2B5EF4-FFF2-40B4-BE49-F238E27FC236}">
                <a16:creationId xmlns:a16="http://schemas.microsoft.com/office/drawing/2014/main" id="{91486270-6E00-4B57-81B7-D76F7099849F}"/>
              </a:ext>
            </a:extLst>
          </p:cNvPr>
          <p:cNvPicPr>
            <a:picLocks noChangeAspect="1"/>
          </p:cNvPicPr>
          <p:nvPr/>
        </p:nvPicPr>
        <p:blipFill>
          <a:blip r:embed="rId7"/>
          <a:stretch>
            <a:fillRect/>
          </a:stretch>
        </p:blipFill>
        <p:spPr>
          <a:xfrm>
            <a:off x="7969728" y="4721167"/>
            <a:ext cx="3218582" cy="1828330"/>
          </a:xfrm>
          <a:prstGeom prst="rect">
            <a:avLst/>
          </a:prstGeom>
        </p:spPr>
      </p:pic>
    </p:spTree>
    <p:extLst>
      <p:ext uri="{BB962C8B-B14F-4D97-AF65-F5344CB8AC3E}">
        <p14:creationId xmlns:p14="http://schemas.microsoft.com/office/powerpoint/2010/main" val="317976413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3" grpId="0" animBg="1"/>
      <p:bldP spid="15" grpId="0" animBg="1"/>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Fiat Currency-backed Stablecoins by Market Capitalization </a:t>
            </a:r>
          </a:p>
        </p:txBody>
      </p:sp>
      <p:sp>
        <p:nvSpPr>
          <p:cNvPr id="4" name="Slide Number Placeholder 3"/>
          <p:cNvSpPr>
            <a:spLocks noGrp="1"/>
          </p:cNvSpPr>
          <p:nvPr>
            <p:ph type="sldNum" sz="quarter" idx="12"/>
          </p:nvPr>
        </p:nvSpPr>
        <p:spPr/>
        <p:txBody>
          <a:bodyPr/>
          <a:lstStyle/>
          <a:p>
            <a:fld id="{123BC241-7286-4066-AAE4-0801D26EA29E}" type="slidenum">
              <a:rPr lang="aa-ET" smtClean="0"/>
              <a:t>12</a:t>
            </a:fld>
            <a:endParaRPr lang="aa-ET"/>
          </a:p>
        </p:txBody>
      </p:sp>
      <p:graphicFrame>
        <p:nvGraphicFramePr>
          <p:cNvPr id="14" name="Table 13"/>
          <p:cNvGraphicFramePr>
            <a:graphicFrameLocks noGrp="1"/>
          </p:cNvGraphicFramePr>
          <p:nvPr>
            <p:extLst>
              <p:ext uri="{D42A27DB-BD31-4B8C-83A1-F6EECF244321}">
                <p14:modId xmlns:p14="http://schemas.microsoft.com/office/powerpoint/2010/main" val="3896800050"/>
              </p:ext>
            </p:extLst>
          </p:nvPr>
        </p:nvGraphicFramePr>
        <p:xfrm>
          <a:off x="953311" y="1163627"/>
          <a:ext cx="10087583" cy="5043500"/>
        </p:xfrm>
        <a:graphic>
          <a:graphicData uri="http://schemas.openxmlformats.org/drawingml/2006/table">
            <a:tbl>
              <a:tblPr/>
              <a:tblGrid>
                <a:gridCol w="2694562">
                  <a:extLst>
                    <a:ext uri="{9D8B030D-6E8A-4147-A177-3AD203B41FA5}">
                      <a16:colId xmlns:a16="http://schemas.microsoft.com/office/drawing/2014/main" val="901886082"/>
                    </a:ext>
                  </a:extLst>
                </a:gridCol>
                <a:gridCol w="2869659">
                  <a:extLst>
                    <a:ext uri="{9D8B030D-6E8A-4147-A177-3AD203B41FA5}">
                      <a16:colId xmlns:a16="http://schemas.microsoft.com/office/drawing/2014/main" val="2236064440"/>
                    </a:ext>
                  </a:extLst>
                </a:gridCol>
                <a:gridCol w="3365770">
                  <a:extLst>
                    <a:ext uri="{9D8B030D-6E8A-4147-A177-3AD203B41FA5}">
                      <a16:colId xmlns:a16="http://schemas.microsoft.com/office/drawing/2014/main" val="1516822979"/>
                    </a:ext>
                  </a:extLst>
                </a:gridCol>
                <a:gridCol w="1157592">
                  <a:extLst>
                    <a:ext uri="{9D8B030D-6E8A-4147-A177-3AD203B41FA5}">
                      <a16:colId xmlns:a16="http://schemas.microsoft.com/office/drawing/2014/main" val="3001487321"/>
                    </a:ext>
                  </a:extLst>
                </a:gridCol>
              </a:tblGrid>
              <a:tr h="291342">
                <a:tc>
                  <a:txBody>
                    <a:bodyPr/>
                    <a:lstStyle/>
                    <a:p>
                      <a:r>
                        <a:rPr lang="en-US" sz="1600" b="1"/>
                        <a:t>Stablecoin</a:t>
                      </a:r>
                      <a:endParaRPr lang="en-US" sz="160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t>Issuing/Managing Entity</a:t>
                      </a:r>
                      <a:endParaRPr lang="en-US" sz="160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t>Underlying Blockchains</a:t>
                      </a:r>
                      <a:endParaRPr lang="en-US" sz="160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t>Market Cap</a:t>
                      </a:r>
                      <a:r>
                        <a:rPr lang="en-US" sz="1600" b="1" baseline="30000"/>
                        <a:t>*</a:t>
                      </a:r>
                      <a:r>
                        <a:rPr lang="en-US" sz="1600" b="1"/>
                        <a:t> (Approx.)</a:t>
                      </a:r>
                      <a:endParaRPr lang="en-US" sz="160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5974205"/>
                  </a:ext>
                </a:extLst>
              </a:tr>
              <a:tr h="0">
                <a:tc>
                  <a:txBody>
                    <a:bodyPr/>
                    <a:lstStyle/>
                    <a:p>
                      <a:r>
                        <a:rPr lang="en-US" sz="1600" b="1"/>
                        <a:t>Tether (USDT)</a:t>
                      </a:r>
                      <a:endParaRPr lang="en-US" sz="160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Tether Limited</a:t>
                      </a:r>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err="1"/>
                        <a:t>Ethereum</a:t>
                      </a:r>
                      <a:r>
                        <a:rPr lang="en-US" sz="1600"/>
                        <a:t>, Tron, Omni, Solana, </a:t>
                      </a:r>
                      <a:r>
                        <a:rPr lang="en-US" sz="1600" err="1"/>
                        <a:t>Algorand</a:t>
                      </a:r>
                      <a:r>
                        <a:rPr lang="en-US" sz="1600"/>
                        <a:t>, Avalanche, etc.</a:t>
                      </a:r>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600" b="1"/>
                        <a:t>$161 B</a:t>
                      </a:r>
                      <a:endParaRPr lang="en-US" sz="160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2277434"/>
                  </a:ext>
                </a:extLst>
              </a:tr>
              <a:tr h="251682">
                <a:tc>
                  <a:txBody>
                    <a:bodyPr/>
                    <a:lstStyle/>
                    <a:p>
                      <a:r>
                        <a:rPr lang="en-US" sz="1600" b="1" dirty="0"/>
                        <a:t>USD Coin (USDC)</a:t>
                      </a:r>
                      <a:endParaRPr lang="en-US" sz="1600" dirty="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Circle (Centre consortium with </a:t>
                      </a:r>
                      <a:r>
                        <a:rPr lang="en-US" sz="1600" err="1"/>
                        <a:t>Coinbase</a:t>
                      </a:r>
                      <a:r>
                        <a:rPr lang="en-US" sz="1600"/>
                        <a:t>)</a:t>
                      </a:r>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Ethereum</a:t>
                      </a:r>
                      <a:r>
                        <a:rPr lang="en-US" sz="1600" dirty="0"/>
                        <a:t>, Solana, Avalanche, </a:t>
                      </a:r>
                      <a:r>
                        <a:rPr lang="en-US" sz="1600" dirty="0" err="1"/>
                        <a:t>Algorand</a:t>
                      </a:r>
                      <a:r>
                        <a:rPr lang="en-US" sz="1600" dirty="0"/>
                        <a:t>, Stellar, Tron</a:t>
                      </a:r>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600" b="1" dirty="0"/>
                        <a:t>$64.6 B</a:t>
                      </a:r>
                      <a:endParaRPr lang="en-US" sz="1600" dirty="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3580860"/>
                  </a:ext>
                </a:extLst>
              </a:tr>
              <a:tr h="512762">
                <a:tc>
                  <a:txBody>
                    <a:bodyPr/>
                    <a:lstStyle/>
                    <a:p>
                      <a:r>
                        <a:rPr lang="en-US" sz="1600" b="1" dirty="0"/>
                        <a:t>HUSD (HUSD)</a:t>
                      </a:r>
                      <a:endParaRPr lang="en-US" sz="1600" dirty="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Stable Universal Limited</a:t>
                      </a:r>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Ethereum</a:t>
                      </a:r>
                      <a:r>
                        <a:rPr lang="en-US" sz="1600" dirty="0"/>
                        <a:t>, HECO Chain</a:t>
                      </a:r>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600" b="1" dirty="0"/>
                        <a:t>~$993 M</a:t>
                      </a:r>
                      <a:endParaRPr lang="en-US" sz="1600" dirty="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1722397"/>
                  </a:ext>
                </a:extLst>
              </a:tr>
              <a:tr h="403668">
                <a:tc>
                  <a:txBody>
                    <a:bodyPr/>
                    <a:lstStyle/>
                    <a:p>
                      <a:r>
                        <a:rPr lang="en-US" sz="1600" b="1"/>
                        <a:t>TrueUSD (TUSD)</a:t>
                      </a:r>
                      <a:endParaRPr lang="en-US" sz="160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Archblock</a:t>
                      </a:r>
                      <a:r>
                        <a:rPr lang="en-US" sz="1600" dirty="0"/>
                        <a:t> (formerly </a:t>
                      </a:r>
                      <a:r>
                        <a:rPr lang="en-US" sz="1600" dirty="0" err="1"/>
                        <a:t>TrustToken</a:t>
                      </a:r>
                      <a:r>
                        <a:rPr lang="en-US" sz="1600" dirty="0"/>
                        <a:t>)</a:t>
                      </a:r>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Ethereum</a:t>
                      </a:r>
                      <a:r>
                        <a:rPr lang="en-US" sz="1600" dirty="0"/>
                        <a:t>, Tron, Avalanche, </a:t>
                      </a:r>
                      <a:r>
                        <a:rPr lang="en-US" sz="1600" dirty="0" err="1"/>
                        <a:t>Binance</a:t>
                      </a:r>
                      <a:r>
                        <a:rPr lang="en-US" sz="1600" dirty="0"/>
                        <a:t> Smart Chain</a:t>
                      </a:r>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600" b="1" dirty="0"/>
                        <a:t>$493 M</a:t>
                      </a:r>
                      <a:endParaRPr lang="en-US" sz="1600" dirty="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1295626"/>
                  </a:ext>
                </a:extLst>
              </a:tr>
              <a:tr h="291342">
                <a:tc>
                  <a:txBody>
                    <a:bodyPr/>
                    <a:lstStyle/>
                    <a:p>
                      <a:r>
                        <a:rPr lang="en-US" sz="1600" b="1"/>
                        <a:t>STASIS EURO (EURS)</a:t>
                      </a:r>
                      <a:endParaRPr lang="en-US" sz="160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STASIS</a:t>
                      </a:r>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err="1"/>
                        <a:t>Ethereum</a:t>
                      </a:r>
                      <a:r>
                        <a:rPr lang="en-US" sz="1600"/>
                        <a:t>, </a:t>
                      </a:r>
                      <a:r>
                        <a:rPr lang="en-US" sz="1600" err="1"/>
                        <a:t>Algorand</a:t>
                      </a:r>
                      <a:r>
                        <a:rPr lang="en-US" sz="1600"/>
                        <a:t>, Polygon</a:t>
                      </a:r>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600" b="1" dirty="0"/>
                        <a:t>$144 M</a:t>
                      </a:r>
                      <a:endParaRPr lang="en-US" sz="1600" dirty="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46170"/>
                  </a:ext>
                </a:extLst>
              </a:tr>
              <a:tr h="291342">
                <a:tc>
                  <a:txBody>
                    <a:bodyPr/>
                    <a:lstStyle/>
                    <a:p>
                      <a:r>
                        <a:rPr lang="en-US" sz="1600" b="1" dirty="0" err="1"/>
                        <a:t>Pax</a:t>
                      </a:r>
                      <a:r>
                        <a:rPr lang="en-US" sz="1600" b="1" dirty="0"/>
                        <a:t> Dollar (USDP)</a:t>
                      </a:r>
                      <a:endParaRPr lang="en-US" sz="1600" dirty="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Paxos</a:t>
                      </a:r>
                      <a:r>
                        <a:rPr lang="en-US" sz="1600" dirty="0"/>
                        <a:t> Trust Company</a:t>
                      </a:r>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Ethereum</a:t>
                      </a:r>
                      <a:endParaRPr lang="en-US" sz="1600" dirty="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600" b="1" dirty="0"/>
                        <a:t>$70 M</a:t>
                      </a:r>
                      <a:endParaRPr lang="en-US" sz="1600" dirty="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7104635"/>
                  </a:ext>
                </a:extLst>
              </a:tr>
              <a:tr h="135536">
                <a:tc>
                  <a:txBody>
                    <a:bodyPr/>
                    <a:lstStyle/>
                    <a:p>
                      <a:r>
                        <a:rPr lang="en-US" sz="1600" b="1" dirty="0" err="1"/>
                        <a:t>Binance</a:t>
                      </a:r>
                      <a:r>
                        <a:rPr lang="en-US" sz="1600" b="1" dirty="0"/>
                        <a:t> USD (BUSD)</a:t>
                      </a:r>
                      <a:endParaRPr lang="en-US" sz="1600" dirty="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Binance</a:t>
                      </a:r>
                      <a:r>
                        <a:rPr lang="en-US" sz="1600" dirty="0"/>
                        <a:t> (with </a:t>
                      </a:r>
                      <a:r>
                        <a:rPr lang="en-US" sz="1600" dirty="0" err="1"/>
                        <a:t>Paxos</a:t>
                      </a:r>
                      <a:r>
                        <a:rPr lang="en-US" sz="1600" dirty="0"/>
                        <a:t> Trust Company)</a:t>
                      </a:r>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Ethereum</a:t>
                      </a:r>
                      <a:r>
                        <a:rPr lang="en-US" sz="1600" dirty="0"/>
                        <a:t>, </a:t>
                      </a:r>
                      <a:r>
                        <a:rPr lang="en-US" sz="1600" dirty="0" err="1"/>
                        <a:t>Binance</a:t>
                      </a:r>
                      <a:r>
                        <a:rPr lang="en-US" sz="1600" dirty="0"/>
                        <a:t> Smart Chain</a:t>
                      </a:r>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600" b="1" dirty="0"/>
                        <a:t>$55 M</a:t>
                      </a:r>
                      <a:endParaRPr lang="en-US" sz="1600" dirty="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8777062"/>
                  </a:ext>
                </a:extLst>
              </a:tr>
              <a:tr h="235848">
                <a:tc>
                  <a:txBody>
                    <a:bodyPr/>
                    <a:lstStyle/>
                    <a:p>
                      <a:r>
                        <a:rPr lang="en-US" sz="1600" b="1" dirty="0"/>
                        <a:t>Gemini Dollar (GUSD)</a:t>
                      </a:r>
                      <a:endParaRPr lang="en-US" sz="1600" dirty="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Gemini Trust Company, LLC</a:t>
                      </a:r>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Ethereum</a:t>
                      </a:r>
                      <a:endParaRPr lang="en-US" sz="1600" dirty="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600" b="1" dirty="0"/>
                        <a:t>$50 M</a:t>
                      </a:r>
                      <a:endParaRPr lang="en-US" sz="1600" dirty="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8075718"/>
                  </a:ext>
                </a:extLst>
              </a:tr>
              <a:tr h="287522">
                <a:tc>
                  <a:txBody>
                    <a:bodyPr/>
                    <a:lstStyle/>
                    <a:p>
                      <a:r>
                        <a:rPr lang="en-US" sz="1600" b="1" dirty="0" err="1"/>
                        <a:t>StraitsX</a:t>
                      </a:r>
                      <a:r>
                        <a:rPr lang="en-US" sz="1600" b="1" dirty="0"/>
                        <a:t> Singapore Dollar (XSGD)</a:t>
                      </a:r>
                      <a:endParaRPr lang="en-US" sz="1600" dirty="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StraitsX</a:t>
                      </a:r>
                      <a:r>
                        <a:rPr lang="en-US" sz="1600" dirty="0"/>
                        <a:t> (</a:t>
                      </a:r>
                      <a:r>
                        <a:rPr lang="en-US" sz="1600" dirty="0" err="1"/>
                        <a:t>Xfers</a:t>
                      </a:r>
                      <a:r>
                        <a:rPr lang="en-US" sz="1600" dirty="0"/>
                        <a:t> </a:t>
                      </a:r>
                      <a:r>
                        <a:rPr lang="en-US" sz="1600" dirty="0" err="1"/>
                        <a:t>Pte</a:t>
                      </a:r>
                      <a:r>
                        <a:rPr lang="en-US" sz="1600" dirty="0"/>
                        <a:t> Ltd, Singapore)</a:t>
                      </a:r>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Ethereum</a:t>
                      </a:r>
                      <a:r>
                        <a:rPr lang="en-US" sz="1600" dirty="0"/>
                        <a:t>, </a:t>
                      </a:r>
                      <a:r>
                        <a:rPr lang="en-US" sz="1600" dirty="0" err="1"/>
                        <a:t>Zilliqa</a:t>
                      </a:r>
                      <a:endParaRPr lang="en-US" sz="1600" dirty="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600" b="1" dirty="0"/>
                        <a:t>$11 M</a:t>
                      </a:r>
                      <a:endParaRPr lang="en-US" sz="1600" dirty="0"/>
                    </a:p>
                  </a:txBody>
                  <a:tcPr marL="69922" marR="69922" marT="34961" marB="34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5321195"/>
                  </a:ext>
                </a:extLst>
              </a:tr>
            </a:tbl>
          </a:graphicData>
        </a:graphic>
      </p:graphicFrame>
      <p:sp>
        <p:nvSpPr>
          <p:cNvPr id="15" name="Rectangle 14"/>
          <p:cNvSpPr/>
          <p:nvPr/>
        </p:nvSpPr>
        <p:spPr>
          <a:xfrm>
            <a:off x="571500" y="6141934"/>
            <a:ext cx="11620500" cy="369332"/>
          </a:xfrm>
          <a:prstGeom prst="rect">
            <a:avLst/>
          </a:prstGeom>
        </p:spPr>
        <p:txBody>
          <a:bodyPr wrap="square">
            <a:spAutoFit/>
          </a:bodyPr>
          <a:lstStyle/>
          <a:p>
            <a:r>
              <a:rPr lang="en-US" baseline="30000" dirty="0"/>
              <a:t>*</a:t>
            </a:r>
            <a:r>
              <a:rPr lang="en-US" sz="1800" dirty="0"/>
              <a:t>All caps reflect the latest available figures (July 2025), sourced from </a:t>
            </a:r>
            <a:r>
              <a:rPr lang="en-US" sz="1800" dirty="0" err="1"/>
              <a:t>CoinMarketCap</a:t>
            </a:r>
            <a:r>
              <a:rPr lang="en-US" sz="1800" dirty="0"/>
              <a:t>, </a:t>
            </a:r>
            <a:r>
              <a:rPr lang="en-US" sz="1800" dirty="0" err="1"/>
              <a:t>CoinGecko</a:t>
            </a:r>
            <a:r>
              <a:rPr lang="en-US" sz="1800" dirty="0"/>
              <a:t>, </a:t>
            </a:r>
            <a:r>
              <a:rPr lang="en-US" sz="1800" dirty="0" err="1"/>
              <a:t>Binance</a:t>
            </a:r>
            <a:r>
              <a:rPr lang="en-US" sz="1800" dirty="0"/>
              <a:t>, and </a:t>
            </a:r>
            <a:r>
              <a:rPr lang="en-US" sz="1800" dirty="0" err="1"/>
              <a:t>CoinCodex</a:t>
            </a:r>
            <a:endParaRPr lang="en-US" sz="1800" dirty="0"/>
          </a:p>
        </p:txBody>
      </p:sp>
    </p:spTree>
    <p:extLst>
      <p:ext uri="{BB962C8B-B14F-4D97-AF65-F5344CB8AC3E}">
        <p14:creationId xmlns:p14="http://schemas.microsoft.com/office/powerpoint/2010/main" val="2852547264"/>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Stablecoin – Non-Currency Asset-Backed</a:t>
            </a:r>
          </a:p>
        </p:txBody>
      </p:sp>
      <p:sp>
        <p:nvSpPr>
          <p:cNvPr id="3" name="Content Placeholder 2"/>
          <p:cNvSpPr>
            <a:spLocks noGrp="1"/>
          </p:cNvSpPr>
          <p:nvPr>
            <p:ph idx="1"/>
          </p:nvPr>
        </p:nvSpPr>
        <p:spPr>
          <a:xfrm>
            <a:off x="838200" y="1348967"/>
            <a:ext cx="5619600" cy="4827997"/>
          </a:xfrm>
        </p:spPr>
        <p:txBody>
          <a:bodyPr>
            <a:normAutofit fontScale="92500" lnSpcReduction="10000"/>
          </a:bodyPr>
          <a:lstStyle/>
          <a:p>
            <a:r>
              <a:rPr lang="en-US" b="1"/>
              <a:t>Centralized Finance (CeFi): </a:t>
            </a:r>
            <a:r>
              <a:rPr lang="en-US"/>
              <a:t>Managed by an off-chain centralized entity holding reserves of non-currency assets, such as gold, real estate, commodities, or securities</a:t>
            </a:r>
          </a:p>
          <a:p>
            <a:r>
              <a:rPr lang="en-US" b="1"/>
              <a:t>Collateralization: </a:t>
            </a:r>
            <a:r>
              <a:rPr lang="en-US"/>
              <a:t>Typically fully collateralized, with reserves matching the total value of issued stablecoins</a:t>
            </a:r>
          </a:p>
          <a:p>
            <a:r>
              <a:rPr lang="en-US" b="1"/>
              <a:t>Blockchain Transactions:</a:t>
            </a:r>
            <a:r>
              <a:rPr lang="en-US"/>
              <a:t> Smart contracts serve as a simple interface to the off-chain reserves, enabling minting, burning, and transferring of stablecoins, while actual collateral management remains off-chain</a:t>
            </a:r>
          </a:p>
        </p:txBody>
      </p:sp>
      <p:sp>
        <p:nvSpPr>
          <p:cNvPr id="4" name="Slide Number Placeholder 3"/>
          <p:cNvSpPr>
            <a:spLocks noGrp="1"/>
          </p:cNvSpPr>
          <p:nvPr>
            <p:ph type="sldNum" sz="quarter" idx="12"/>
          </p:nvPr>
        </p:nvSpPr>
        <p:spPr/>
        <p:txBody>
          <a:bodyPr/>
          <a:lstStyle/>
          <a:p>
            <a:fld id="{123BC241-7286-4066-AAE4-0801D26EA29E}" type="slidenum">
              <a:rPr lang="aa-ET" smtClean="0"/>
              <a:t>13</a:t>
            </a:fld>
            <a:endParaRPr lang="aa-ET"/>
          </a:p>
        </p:txBody>
      </p:sp>
      <p:pic>
        <p:nvPicPr>
          <p:cNvPr id="21" name="Picture 20">
            <a:extLst>
              <a:ext uri="{FF2B5EF4-FFF2-40B4-BE49-F238E27FC236}">
                <a16:creationId xmlns:a16="http://schemas.microsoft.com/office/drawing/2014/main" id="{794090DD-B87E-C801-C78F-1AC9111EC03E}"/>
              </a:ext>
            </a:extLst>
          </p:cNvPr>
          <p:cNvPicPr>
            <a:picLocks noChangeAspect="1"/>
          </p:cNvPicPr>
          <p:nvPr/>
        </p:nvPicPr>
        <p:blipFill>
          <a:blip r:embed="rId3"/>
          <a:srcRect t="19210" r="11669" b="12569"/>
          <a:stretch>
            <a:fillRect/>
          </a:stretch>
        </p:blipFill>
        <p:spPr>
          <a:xfrm>
            <a:off x="6457800" y="2786748"/>
            <a:ext cx="5457286" cy="2013857"/>
          </a:xfrm>
          <a:prstGeom prst="rect">
            <a:avLst/>
          </a:prstGeom>
        </p:spPr>
      </p:pic>
    </p:spTree>
    <p:extLst>
      <p:ext uri="{BB962C8B-B14F-4D97-AF65-F5344CB8AC3E}">
        <p14:creationId xmlns:p14="http://schemas.microsoft.com/office/powerpoint/2010/main" val="2426013508"/>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B11A3-FE14-0AD9-F85E-D33EBAAAC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3B9973-BD75-E049-1F57-F2A4061197BE}"/>
              </a:ext>
            </a:extLst>
          </p:cNvPr>
          <p:cNvSpPr>
            <a:spLocks noGrp="1"/>
          </p:cNvSpPr>
          <p:nvPr>
            <p:ph type="title"/>
          </p:nvPr>
        </p:nvSpPr>
        <p:spPr/>
        <p:txBody>
          <a:bodyPr/>
          <a:lstStyle/>
          <a:p>
            <a:r>
              <a:rPr lang="en-US"/>
              <a:t>Stablecoin – Non-Currency Asset-Backed</a:t>
            </a:r>
          </a:p>
        </p:txBody>
      </p:sp>
      <p:sp>
        <p:nvSpPr>
          <p:cNvPr id="3" name="Content Placeholder 2">
            <a:extLst>
              <a:ext uri="{FF2B5EF4-FFF2-40B4-BE49-F238E27FC236}">
                <a16:creationId xmlns:a16="http://schemas.microsoft.com/office/drawing/2014/main" id="{9C84E6F5-E528-8701-0BA4-34BB4C59900D}"/>
              </a:ext>
            </a:extLst>
          </p:cNvPr>
          <p:cNvSpPr>
            <a:spLocks noGrp="1"/>
          </p:cNvSpPr>
          <p:nvPr>
            <p:ph idx="1"/>
          </p:nvPr>
        </p:nvSpPr>
        <p:spPr>
          <a:xfrm>
            <a:off x="838200" y="1348968"/>
            <a:ext cx="6313714" cy="4703490"/>
          </a:xfrm>
        </p:spPr>
        <p:txBody>
          <a:bodyPr>
            <a:normAutofit/>
          </a:bodyPr>
          <a:lstStyle/>
          <a:p>
            <a:r>
              <a:rPr lang="en-US" b="1" dirty="0"/>
              <a:t>Stability Mechanism</a:t>
            </a:r>
            <a:r>
              <a:rPr lang="en-US" dirty="0"/>
              <a:t>: Stability achieved by allowing redemption at pegged value, with arbitrage in open markets correcting deviations</a:t>
            </a:r>
          </a:p>
          <a:p>
            <a:r>
              <a:rPr lang="en-US" b="1" dirty="0"/>
              <a:t>Regulatory Compliance:</a:t>
            </a:r>
            <a:r>
              <a:rPr lang="en-US" dirty="0"/>
              <a:t> Typically managed by entities registered in specific jurisdictions, making them subject to local financial regulations</a:t>
            </a:r>
            <a:endParaRPr lang="en-US" b="1" dirty="0"/>
          </a:p>
        </p:txBody>
      </p:sp>
      <p:sp>
        <p:nvSpPr>
          <p:cNvPr id="4" name="Slide Number Placeholder 3">
            <a:extLst>
              <a:ext uri="{FF2B5EF4-FFF2-40B4-BE49-F238E27FC236}">
                <a16:creationId xmlns:a16="http://schemas.microsoft.com/office/drawing/2014/main" id="{DD6FE75F-E052-8213-E5D2-03529891FC69}"/>
              </a:ext>
            </a:extLst>
          </p:cNvPr>
          <p:cNvSpPr>
            <a:spLocks noGrp="1"/>
          </p:cNvSpPr>
          <p:nvPr>
            <p:ph type="sldNum" sz="quarter" idx="12"/>
          </p:nvPr>
        </p:nvSpPr>
        <p:spPr/>
        <p:txBody>
          <a:bodyPr/>
          <a:lstStyle/>
          <a:p>
            <a:fld id="{123BC241-7286-4066-AAE4-0801D26EA29E}" type="slidenum">
              <a:rPr lang="aa-ET" smtClean="0"/>
              <a:t>14</a:t>
            </a:fld>
            <a:endParaRPr lang="aa-ET"/>
          </a:p>
        </p:txBody>
      </p:sp>
      <p:pic>
        <p:nvPicPr>
          <p:cNvPr id="7" name="Picture 6">
            <a:extLst>
              <a:ext uri="{FF2B5EF4-FFF2-40B4-BE49-F238E27FC236}">
                <a16:creationId xmlns:a16="http://schemas.microsoft.com/office/drawing/2014/main" id="{A331A1CE-785E-5626-5FC1-699D899951DB}"/>
              </a:ext>
            </a:extLst>
          </p:cNvPr>
          <p:cNvPicPr>
            <a:picLocks noChangeAspect="1"/>
          </p:cNvPicPr>
          <p:nvPr/>
        </p:nvPicPr>
        <p:blipFill>
          <a:blip r:embed="rId3"/>
          <a:stretch>
            <a:fillRect/>
          </a:stretch>
        </p:blipFill>
        <p:spPr>
          <a:xfrm>
            <a:off x="7281676" y="3706032"/>
            <a:ext cx="4889417" cy="2786114"/>
          </a:xfrm>
          <a:prstGeom prst="rect">
            <a:avLst/>
          </a:prstGeom>
        </p:spPr>
      </p:pic>
    </p:spTree>
    <p:extLst>
      <p:ext uri="{BB962C8B-B14F-4D97-AF65-F5344CB8AC3E}">
        <p14:creationId xmlns:p14="http://schemas.microsoft.com/office/powerpoint/2010/main" val="2106852418"/>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Non-Currency Asset-Backed Stablecoins by Market Capitalization </a:t>
            </a:r>
          </a:p>
        </p:txBody>
      </p:sp>
      <p:sp>
        <p:nvSpPr>
          <p:cNvPr id="4" name="Slide Number Placeholder 3"/>
          <p:cNvSpPr>
            <a:spLocks noGrp="1"/>
          </p:cNvSpPr>
          <p:nvPr>
            <p:ph type="sldNum" sz="quarter" idx="12"/>
          </p:nvPr>
        </p:nvSpPr>
        <p:spPr/>
        <p:txBody>
          <a:bodyPr/>
          <a:lstStyle/>
          <a:p>
            <a:fld id="{123BC241-7286-4066-AAE4-0801D26EA29E}" type="slidenum">
              <a:rPr lang="aa-ET" smtClean="0"/>
              <a:t>15</a:t>
            </a:fld>
            <a:endParaRPr lang="aa-ET"/>
          </a:p>
        </p:txBody>
      </p:sp>
      <p:graphicFrame>
        <p:nvGraphicFramePr>
          <p:cNvPr id="5" name="Table 4"/>
          <p:cNvGraphicFramePr>
            <a:graphicFrameLocks noGrp="1"/>
          </p:cNvGraphicFramePr>
          <p:nvPr>
            <p:extLst>
              <p:ext uri="{D42A27DB-BD31-4B8C-83A1-F6EECF244321}">
                <p14:modId xmlns:p14="http://schemas.microsoft.com/office/powerpoint/2010/main" val="1829901406"/>
              </p:ext>
            </p:extLst>
          </p:nvPr>
        </p:nvGraphicFramePr>
        <p:xfrm>
          <a:off x="935476" y="1651344"/>
          <a:ext cx="10515600" cy="2484120"/>
        </p:xfrm>
        <a:graphic>
          <a:graphicData uri="http://schemas.openxmlformats.org/drawingml/2006/table">
            <a:tbl>
              <a:tblPr/>
              <a:tblGrid>
                <a:gridCol w="2628900">
                  <a:extLst>
                    <a:ext uri="{9D8B030D-6E8A-4147-A177-3AD203B41FA5}">
                      <a16:colId xmlns:a16="http://schemas.microsoft.com/office/drawing/2014/main" val="2638052094"/>
                    </a:ext>
                  </a:extLst>
                </a:gridCol>
                <a:gridCol w="2628900">
                  <a:extLst>
                    <a:ext uri="{9D8B030D-6E8A-4147-A177-3AD203B41FA5}">
                      <a16:colId xmlns:a16="http://schemas.microsoft.com/office/drawing/2014/main" val="170864916"/>
                    </a:ext>
                  </a:extLst>
                </a:gridCol>
                <a:gridCol w="2628900">
                  <a:extLst>
                    <a:ext uri="{9D8B030D-6E8A-4147-A177-3AD203B41FA5}">
                      <a16:colId xmlns:a16="http://schemas.microsoft.com/office/drawing/2014/main" val="362320719"/>
                    </a:ext>
                  </a:extLst>
                </a:gridCol>
                <a:gridCol w="2628900">
                  <a:extLst>
                    <a:ext uri="{9D8B030D-6E8A-4147-A177-3AD203B41FA5}">
                      <a16:colId xmlns:a16="http://schemas.microsoft.com/office/drawing/2014/main" val="1284766277"/>
                    </a:ext>
                  </a:extLst>
                </a:gridCol>
              </a:tblGrid>
              <a:tr h="0">
                <a:tc>
                  <a:txBody>
                    <a:bodyPr/>
                    <a:lstStyle/>
                    <a:p>
                      <a:r>
                        <a:rPr lang="en-US" b="1"/>
                        <a:t>Stablecoin</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Issuer / Manager</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Blockchains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Market Cap</a:t>
                      </a:r>
                      <a:r>
                        <a:rPr lang="en-US" b="1" baseline="30000"/>
                        <a:t>*</a:t>
                      </a:r>
                      <a:r>
                        <a:rPr lang="en-US" b="1"/>
                        <a:t> (Approx.)</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1773571"/>
                  </a:ext>
                </a:extLst>
              </a:tr>
              <a:tr h="0">
                <a:tc>
                  <a:txBody>
                    <a:bodyPr/>
                    <a:lstStyle/>
                    <a:p>
                      <a:r>
                        <a:rPr lang="en-US" b="1"/>
                        <a:t>Paxos Gold (PAXG)</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Paxos Trust Company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Ethereum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$946 M</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6944322"/>
                  </a:ext>
                </a:extLst>
              </a:tr>
              <a:tr h="0">
                <a:tc>
                  <a:txBody>
                    <a:bodyPr/>
                    <a:lstStyle/>
                    <a:p>
                      <a:r>
                        <a:rPr lang="en-US" b="1"/>
                        <a:t>Tether Gold (XAUT)</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Tether (TG Commodities Ltd.)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Ethereum, TRON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$826 M</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5651562"/>
                  </a:ext>
                </a:extLst>
              </a:tr>
              <a:tr h="0">
                <a:tc>
                  <a:txBody>
                    <a:bodyPr/>
                    <a:lstStyle/>
                    <a:p>
                      <a:r>
                        <a:rPr lang="en-US" b="1"/>
                        <a:t>Gold Coin (GLC)</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GoldCoin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Ethereum (ERC‑20)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$10 M</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670899"/>
                  </a:ext>
                </a:extLst>
              </a:tr>
              <a:tr h="0">
                <a:tc>
                  <a:txBody>
                    <a:bodyPr/>
                    <a:lstStyle/>
                    <a:p>
                      <a:r>
                        <a:rPr lang="en-US" b="1"/>
                        <a:t>Digix Gold (DGX)</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Digix (DigixDAO, Singapore)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Ethereum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$280 K – $2.3 M</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8374072"/>
                  </a:ext>
                </a:extLst>
              </a:tr>
            </a:tbl>
          </a:graphicData>
        </a:graphic>
      </p:graphicFrame>
      <p:sp>
        <p:nvSpPr>
          <p:cNvPr id="6" name="Rectangle 5"/>
          <p:cNvSpPr/>
          <p:nvPr/>
        </p:nvSpPr>
        <p:spPr>
          <a:xfrm>
            <a:off x="935476" y="5074331"/>
            <a:ext cx="10348608" cy="677108"/>
          </a:xfrm>
          <a:prstGeom prst="rect">
            <a:avLst/>
          </a:prstGeom>
        </p:spPr>
        <p:txBody>
          <a:bodyPr wrap="square">
            <a:spAutoFit/>
          </a:bodyPr>
          <a:lstStyle/>
          <a:p>
            <a:r>
              <a:rPr lang="en-US" baseline="30000"/>
              <a:t>*</a:t>
            </a:r>
            <a:r>
              <a:rPr lang="en-US"/>
              <a:t>All market cap figures reflect the latest available data (July 2025), sourced from </a:t>
            </a:r>
            <a:r>
              <a:rPr lang="en-US" err="1"/>
              <a:t>CoinMarketCap</a:t>
            </a:r>
            <a:r>
              <a:rPr lang="en-US"/>
              <a:t>, </a:t>
            </a:r>
            <a:r>
              <a:rPr lang="en-US" err="1"/>
              <a:t>CoinGecko</a:t>
            </a:r>
            <a:r>
              <a:rPr lang="en-US"/>
              <a:t>, and related industry trackers</a:t>
            </a:r>
          </a:p>
        </p:txBody>
      </p:sp>
    </p:spTree>
    <p:extLst>
      <p:ext uri="{BB962C8B-B14F-4D97-AF65-F5344CB8AC3E}">
        <p14:creationId xmlns:p14="http://schemas.microsoft.com/office/powerpoint/2010/main" val="2408751164"/>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85796-BD16-2143-9426-8CE283B38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6F2F1B-0A31-3B99-D381-91F321BA46D7}"/>
              </a:ext>
            </a:extLst>
          </p:cNvPr>
          <p:cNvSpPr>
            <a:spLocks noGrp="1"/>
          </p:cNvSpPr>
          <p:nvPr>
            <p:ph type="ctrTitle"/>
          </p:nvPr>
        </p:nvSpPr>
        <p:spPr/>
        <p:txBody>
          <a:bodyPr/>
          <a:lstStyle/>
          <a:p>
            <a:r>
              <a:rPr lang="en-PK" dirty="0">
                <a:latin typeface="+mn-lt"/>
              </a:rPr>
              <a:t>Lecture </a:t>
            </a:r>
            <a:r>
              <a:rPr lang="en-US" dirty="0">
                <a:latin typeface="+mn-lt"/>
              </a:rPr>
              <a:t>26</a:t>
            </a:r>
            <a:br>
              <a:rPr lang="en-PK" dirty="0">
                <a:latin typeface="+mn-lt"/>
              </a:rPr>
            </a:br>
            <a:r>
              <a:rPr lang="en-US" dirty="0">
                <a:latin typeface="+mn-lt"/>
              </a:rPr>
              <a:t>Thursday</a:t>
            </a:r>
            <a:r>
              <a:rPr lang="en-PK" dirty="0">
                <a:latin typeface="+mn-lt"/>
              </a:rPr>
              <a:t>, </a:t>
            </a:r>
            <a:r>
              <a:rPr lang="en-US">
                <a:latin typeface="+mn-lt"/>
              </a:rPr>
              <a:t>Apr 30</a:t>
            </a:r>
            <a:r>
              <a:rPr lang="en-PK">
                <a:latin typeface="+mn-lt"/>
              </a:rPr>
              <a:t>, </a:t>
            </a:r>
            <a:r>
              <a:rPr lang="en-PK" dirty="0">
                <a:latin typeface="+mn-lt"/>
              </a:rPr>
              <a:t>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894F240F-F916-C256-EBD0-6431B774BC02}"/>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Tree>
    <p:extLst>
      <p:ext uri="{BB962C8B-B14F-4D97-AF65-F5344CB8AC3E}">
        <p14:creationId xmlns:p14="http://schemas.microsoft.com/office/powerpoint/2010/main" val="3491477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Stablecoin</a:t>
            </a:r>
            <a:r>
              <a:rPr lang="en-US"/>
              <a:t> - Cryptocurrency-Backed</a:t>
            </a:r>
          </a:p>
        </p:txBody>
      </p:sp>
      <p:sp>
        <p:nvSpPr>
          <p:cNvPr id="3" name="Content Placeholder 2"/>
          <p:cNvSpPr>
            <a:spLocks noGrp="1"/>
          </p:cNvSpPr>
          <p:nvPr>
            <p:ph idx="1"/>
          </p:nvPr>
        </p:nvSpPr>
        <p:spPr>
          <a:xfrm>
            <a:off x="566057" y="1436055"/>
            <a:ext cx="5619600" cy="4827997"/>
          </a:xfrm>
        </p:spPr>
        <p:txBody>
          <a:bodyPr>
            <a:normAutofit fontScale="92500" lnSpcReduction="20000"/>
          </a:bodyPr>
          <a:lstStyle/>
          <a:p>
            <a:r>
              <a:rPr lang="en-US" b="1"/>
              <a:t>Multiple-Coin Ecosystem: </a:t>
            </a:r>
            <a:r>
              <a:rPr lang="en-US"/>
              <a:t>Typically involves two or more coins—a stablecoin backed by reserves of volatile cryptocurrencies, and additional volatile companion coin(s)</a:t>
            </a:r>
          </a:p>
          <a:p>
            <a:r>
              <a:rPr lang="en-US" b="1"/>
              <a:t>Decentralized Finance (</a:t>
            </a:r>
            <a:r>
              <a:rPr lang="en-US" b="1" err="1"/>
              <a:t>DeFi</a:t>
            </a:r>
            <a:r>
              <a:rPr lang="en-US" b="1"/>
              <a:t>): </a:t>
            </a:r>
            <a:r>
              <a:rPr lang="en-US"/>
              <a:t>Fully on-chain, with collateral management handled entirely by smart contracts, eliminating the need for centralized custodians</a:t>
            </a:r>
          </a:p>
          <a:p>
            <a:r>
              <a:rPr lang="en-US" b="1"/>
              <a:t>High Level of Automation: </a:t>
            </a:r>
            <a:r>
              <a:rPr lang="en-US"/>
              <a:t>Smart contracts automatically manage collateral deposits, stable coin issuance on-chain, transfers, loans, and liquidations</a:t>
            </a:r>
          </a:p>
          <a:p>
            <a:pPr marL="0" indent="0">
              <a:buNone/>
            </a:pPr>
            <a:endParaRPr lang="en-US"/>
          </a:p>
        </p:txBody>
      </p:sp>
      <p:sp>
        <p:nvSpPr>
          <p:cNvPr id="4" name="Slide Number Placeholder 3"/>
          <p:cNvSpPr>
            <a:spLocks noGrp="1"/>
          </p:cNvSpPr>
          <p:nvPr>
            <p:ph type="sldNum" sz="quarter" idx="12"/>
          </p:nvPr>
        </p:nvSpPr>
        <p:spPr/>
        <p:txBody>
          <a:bodyPr/>
          <a:lstStyle/>
          <a:p>
            <a:fld id="{123BC241-7286-4066-AAE4-0801D26EA29E}" type="slidenum">
              <a:rPr lang="aa-ET" smtClean="0"/>
              <a:t>17</a:t>
            </a:fld>
            <a:endParaRPr lang="aa-ET"/>
          </a:p>
        </p:txBody>
      </p:sp>
      <p:pic>
        <p:nvPicPr>
          <p:cNvPr id="7" name="Picture 6">
            <a:extLst>
              <a:ext uri="{FF2B5EF4-FFF2-40B4-BE49-F238E27FC236}">
                <a16:creationId xmlns:a16="http://schemas.microsoft.com/office/drawing/2014/main" id="{A86D4913-CAA6-9137-57B9-3BE43EBDF3E2}"/>
              </a:ext>
            </a:extLst>
          </p:cNvPr>
          <p:cNvPicPr>
            <a:picLocks noChangeAspect="1"/>
          </p:cNvPicPr>
          <p:nvPr/>
        </p:nvPicPr>
        <p:blipFill>
          <a:blip r:embed="rId2"/>
          <a:stretch>
            <a:fillRect/>
          </a:stretch>
        </p:blipFill>
        <p:spPr>
          <a:xfrm>
            <a:off x="6111548" y="2935234"/>
            <a:ext cx="5854496" cy="1791465"/>
          </a:xfrm>
          <a:prstGeom prst="rect">
            <a:avLst/>
          </a:prstGeom>
        </p:spPr>
      </p:pic>
    </p:spTree>
    <p:extLst>
      <p:ext uri="{BB962C8B-B14F-4D97-AF65-F5344CB8AC3E}">
        <p14:creationId xmlns:p14="http://schemas.microsoft.com/office/powerpoint/2010/main" val="100797520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B2018-CE8A-7486-F066-489E2A944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CC5A0D-6990-2A2C-38F2-87B655634711}"/>
              </a:ext>
            </a:extLst>
          </p:cNvPr>
          <p:cNvSpPr>
            <a:spLocks noGrp="1"/>
          </p:cNvSpPr>
          <p:nvPr>
            <p:ph type="title"/>
          </p:nvPr>
        </p:nvSpPr>
        <p:spPr/>
        <p:txBody>
          <a:bodyPr/>
          <a:lstStyle/>
          <a:p>
            <a:r>
              <a:rPr lang="en-US" err="1"/>
              <a:t>Stablecoin</a:t>
            </a:r>
            <a:r>
              <a:rPr lang="en-US"/>
              <a:t> - Cryptocurrency-Backed</a:t>
            </a:r>
          </a:p>
        </p:txBody>
      </p:sp>
      <p:sp>
        <p:nvSpPr>
          <p:cNvPr id="3" name="Content Placeholder 2">
            <a:extLst>
              <a:ext uri="{FF2B5EF4-FFF2-40B4-BE49-F238E27FC236}">
                <a16:creationId xmlns:a16="http://schemas.microsoft.com/office/drawing/2014/main" id="{1792904C-BFE4-14FA-9FB4-8AFEAC83722A}"/>
              </a:ext>
            </a:extLst>
          </p:cNvPr>
          <p:cNvSpPr>
            <a:spLocks noGrp="1"/>
          </p:cNvSpPr>
          <p:nvPr>
            <p:ph idx="1"/>
          </p:nvPr>
        </p:nvSpPr>
        <p:spPr>
          <a:xfrm>
            <a:off x="838200" y="1348967"/>
            <a:ext cx="5619600" cy="4827997"/>
          </a:xfrm>
        </p:spPr>
        <p:txBody>
          <a:bodyPr>
            <a:normAutofit/>
          </a:bodyPr>
          <a:lstStyle/>
          <a:p>
            <a:r>
              <a:rPr lang="en-US" b="1"/>
              <a:t>Collateralization:</a:t>
            </a:r>
            <a:r>
              <a:rPr lang="en-US"/>
              <a:t> Reserves are over-collateralized to mitigate price volatility in the underlying cryptocurrencies</a:t>
            </a:r>
          </a:p>
          <a:p>
            <a:endParaRPr lang="en-US"/>
          </a:p>
          <a:p>
            <a:pPr marL="0" indent="0">
              <a:buNone/>
            </a:pPr>
            <a:endParaRPr lang="en-US"/>
          </a:p>
          <a:p>
            <a:r>
              <a:rPr lang="en-US" b="1"/>
              <a:t>Oracle Dependence: </a:t>
            </a:r>
            <a:r>
              <a:rPr lang="en-US"/>
              <a:t>Heavily reliant on </a:t>
            </a:r>
            <a:r>
              <a:rPr lang="en-US" err="1"/>
              <a:t>blockchain</a:t>
            </a:r>
            <a:r>
              <a:rPr lang="en-US"/>
              <a:t> oracles to provide real-time price feeds for accurate collateral valuation and liquidation</a:t>
            </a:r>
          </a:p>
          <a:p>
            <a:endParaRPr lang="en-US"/>
          </a:p>
        </p:txBody>
      </p:sp>
      <p:sp>
        <p:nvSpPr>
          <p:cNvPr id="4" name="Slide Number Placeholder 3">
            <a:extLst>
              <a:ext uri="{FF2B5EF4-FFF2-40B4-BE49-F238E27FC236}">
                <a16:creationId xmlns:a16="http://schemas.microsoft.com/office/drawing/2014/main" id="{CFDF5BCF-D885-C4B1-EDE3-0207765FAFC1}"/>
              </a:ext>
            </a:extLst>
          </p:cNvPr>
          <p:cNvSpPr>
            <a:spLocks noGrp="1"/>
          </p:cNvSpPr>
          <p:nvPr>
            <p:ph type="sldNum" sz="quarter" idx="12"/>
          </p:nvPr>
        </p:nvSpPr>
        <p:spPr/>
        <p:txBody>
          <a:bodyPr/>
          <a:lstStyle/>
          <a:p>
            <a:fld id="{123BC241-7286-4066-AAE4-0801D26EA29E}" type="slidenum">
              <a:rPr lang="aa-ET" smtClean="0"/>
              <a:t>18</a:t>
            </a:fld>
            <a:endParaRPr lang="aa-ET"/>
          </a:p>
        </p:txBody>
      </p:sp>
      <p:pic>
        <p:nvPicPr>
          <p:cNvPr id="6" name="Picture 5">
            <a:extLst>
              <a:ext uri="{FF2B5EF4-FFF2-40B4-BE49-F238E27FC236}">
                <a16:creationId xmlns:a16="http://schemas.microsoft.com/office/drawing/2014/main" id="{73390C95-B060-0C7D-4B4C-ED1614C8166F}"/>
              </a:ext>
            </a:extLst>
          </p:cNvPr>
          <p:cNvPicPr>
            <a:picLocks noChangeAspect="1"/>
          </p:cNvPicPr>
          <p:nvPr/>
        </p:nvPicPr>
        <p:blipFill>
          <a:blip r:embed="rId2"/>
          <a:stretch>
            <a:fillRect/>
          </a:stretch>
        </p:blipFill>
        <p:spPr>
          <a:xfrm>
            <a:off x="7162800" y="3686215"/>
            <a:ext cx="4408272" cy="2353992"/>
          </a:xfrm>
          <a:prstGeom prst="rect">
            <a:avLst/>
          </a:prstGeom>
        </p:spPr>
      </p:pic>
      <p:pic>
        <p:nvPicPr>
          <p:cNvPr id="7" name="Picture 6">
            <a:extLst>
              <a:ext uri="{FF2B5EF4-FFF2-40B4-BE49-F238E27FC236}">
                <a16:creationId xmlns:a16="http://schemas.microsoft.com/office/drawing/2014/main" id="{113C935C-085A-CF7C-FD71-3A49E7D7DA1D}"/>
              </a:ext>
            </a:extLst>
          </p:cNvPr>
          <p:cNvPicPr>
            <a:picLocks noChangeAspect="1"/>
          </p:cNvPicPr>
          <p:nvPr/>
        </p:nvPicPr>
        <p:blipFill>
          <a:blip r:embed="rId3"/>
          <a:stretch>
            <a:fillRect/>
          </a:stretch>
        </p:blipFill>
        <p:spPr>
          <a:xfrm>
            <a:off x="6400869" y="1345921"/>
            <a:ext cx="5619601" cy="1719588"/>
          </a:xfrm>
          <a:prstGeom prst="rect">
            <a:avLst/>
          </a:prstGeom>
        </p:spPr>
      </p:pic>
    </p:spTree>
    <p:extLst>
      <p:ext uri="{BB962C8B-B14F-4D97-AF65-F5344CB8AC3E}">
        <p14:creationId xmlns:p14="http://schemas.microsoft.com/office/powerpoint/2010/main" val="1615976555"/>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Stablecoin</a:t>
            </a:r>
            <a:r>
              <a:rPr lang="en-US"/>
              <a:t> - Cryptocurrency-Backed</a:t>
            </a:r>
          </a:p>
        </p:txBody>
      </p:sp>
      <p:sp>
        <p:nvSpPr>
          <p:cNvPr id="3" name="Content Placeholder 2"/>
          <p:cNvSpPr>
            <a:spLocks noGrp="1"/>
          </p:cNvSpPr>
          <p:nvPr>
            <p:ph idx="1"/>
          </p:nvPr>
        </p:nvSpPr>
        <p:spPr/>
        <p:txBody>
          <a:bodyPr>
            <a:normAutofit/>
          </a:bodyPr>
          <a:lstStyle/>
          <a:p>
            <a:pPr marL="0" indent="0">
              <a:buNone/>
            </a:pPr>
            <a:r>
              <a:rPr lang="en-US" b="1"/>
              <a:t>Stability Mechanism</a:t>
            </a:r>
          </a:p>
          <a:p>
            <a:r>
              <a:rPr lang="en-US"/>
              <a:t>Stability is maintained through over-collateralization, where collateral is worth more than the issued stablecoin</a:t>
            </a:r>
          </a:p>
          <a:p>
            <a:r>
              <a:rPr lang="en-US"/>
              <a:t>If the collateral value falls below a required threshold, the system automatically liquidates part of the collateral to repay the debt and protect the peg</a:t>
            </a:r>
          </a:p>
        </p:txBody>
      </p:sp>
      <p:sp>
        <p:nvSpPr>
          <p:cNvPr id="4" name="Slide Number Placeholder 3"/>
          <p:cNvSpPr>
            <a:spLocks noGrp="1"/>
          </p:cNvSpPr>
          <p:nvPr>
            <p:ph type="sldNum" sz="quarter" idx="12"/>
          </p:nvPr>
        </p:nvSpPr>
        <p:spPr/>
        <p:txBody>
          <a:bodyPr/>
          <a:lstStyle/>
          <a:p>
            <a:fld id="{123BC241-7286-4066-AAE4-0801D26EA29E}" type="slidenum">
              <a:rPr lang="aa-ET" smtClean="0"/>
              <a:t>19</a:t>
            </a:fld>
            <a:endParaRPr lang="aa-ET"/>
          </a:p>
        </p:txBody>
      </p:sp>
    </p:spTree>
    <p:extLst>
      <p:ext uri="{BB962C8B-B14F-4D97-AF65-F5344CB8AC3E}">
        <p14:creationId xmlns:p14="http://schemas.microsoft.com/office/powerpoint/2010/main" val="392811366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3399C-8FEB-3CD0-1707-329ADD139B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F1261-EB31-8A6D-0178-5B2CD5463D9A}"/>
              </a:ext>
            </a:extLst>
          </p:cNvPr>
          <p:cNvSpPr>
            <a:spLocks noGrp="1"/>
          </p:cNvSpPr>
          <p:nvPr>
            <p:ph type="title"/>
          </p:nvPr>
        </p:nvSpPr>
        <p:spPr/>
        <p:txBody>
          <a:bodyPr/>
          <a:lstStyle/>
          <a:p>
            <a:r>
              <a:rPr lang="en-US" err="1"/>
              <a:t>Stablecoin</a:t>
            </a:r>
            <a:r>
              <a:rPr lang="en-US"/>
              <a:t> - Cryptocurrency-Backed</a:t>
            </a:r>
          </a:p>
        </p:txBody>
      </p:sp>
      <p:sp>
        <p:nvSpPr>
          <p:cNvPr id="3" name="Content Placeholder 2">
            <a:extLst>
              <a:ext uri="{FF2B5EF4-FFF2-40B4-BE49-F238E27FC236}">
                <a16:creationId xmlns:a16="http://schemas.microsoft.com/office/drawing/2014/main" id="{F795725E-C10F-21A7-4819-696E0F3D7219}"/>
              </a:ext>
            </a:extLst>
          </p:cNvPr>
          <p:cNvSpPr>
            <a:spLocks noGrp="1"/>
          </p:cNvSpPr>
          <p:nvPr>
            <p:ph idx="1"/>
          </p:nvPr>
        </p:nvSpPr>
        <p:spPr>
          <a:xfrm>
            <a:off x="419911" y="1203052"/>
            <a:ext cx="10515600" cy="664659"/>
          </a:xfrm>
        </p:spPr>
        <p:txBody>
          <a:bodyPr>
            <a:normAutofit/>
          </a:bodyPr>
          <a:lstStyle/>
          <a:p>
            <a:pPr marL="0" indent="0">
              <a:buNone/>
            </a:pPr>
            <a:r>
              <a:rPr lang="en-US" sz="3200"/>
              <a:t>Example - Automatic liquidation</a:t>
            </a:r>
          </a:p>
        </p:txBody>
      </p:sp>
      <p:sp>
        <p:nvSpPr>
          <p:cNvPr id="4" name="Slide Number Placeholder 3">
            <a:extLst>
              <a:ext uri="{FF2B5EF4-FFF2-40B4-BE49-F238E27FC236}">
                <a16:creationId xmlns:a16="http://schemas.microsoft.com/office/drawing/2014/main" id="{0A1850A9-4425-406A-C1E4-E492CFB4AF3F}"/>
              </a:ext>
            </a:extLst>
          </p:cNvPr>
          <p:cNvSpPr>
            <a:spLocks noGrp="1"/>
          </p:cNvSpPr>
          <p:nvPr>
            <p:ph type="sldNum" sz="quarter" idx="12"/>
          </p:nvPr>
        </p:nvSpPr>
        <p:spPr/>
        <p:txBody>
          <a:bodyPr/>
          <a:lstStyle/>
          <a:p>
            <a:fld id="{123BC241-7286-4066-AAE4-0801D26EA29E}" type="slidenum">
              <a:rPr lang="aa-ET" smtClean="0"/>
              <a:t>20</a:t>
            </a:fld>
            <a:endParaRPr lang="aa-ET"/>
          </a:p>
        </p:txBody>
      </p:sp>
      <p:pic>
        <p:nvPicPr>
          <p:cNvPr id="5" name="Picture 4">
            <a:extLst>
              <a:ext uri="{FF2B5EF4-FFF2-40B4-BE49-F238E27FC236}">
                <a16:creationId xmlns:a16="http://schemas.microsoft.com/office/drawing/2014/main" id="{B6F095E5-5140-60B9-FC6C-5AB303E3352F}"/>
              </a:ext>
            </a:extLst>
          </p:cNvPr>
          <p:cNvPicPr>
            <a:picLocks noChangeAspect="1"/>
          </p:cNvPicPr>
          <p:nvPr/>
        </p:nvPicPr>
        <p:blipFill>
          <a:blip r:embed="rId2"/>
          <a:stretch>
            <a:fillRect/>
          </a:stretch>
        </p:blipFill>
        <p:spPr>
          <a:xfrm>
            <a:off x="1488686" y="3570084"/>
            <a:ext cx="1257409" cy="1463167"/>
          </a:xfrm>
          <a:prstGeom prst="rect">
            <a:avLst/>
          </a:prstGeom>
        </p:spPr>
      </p:pic>
      <p:grpSp>
        <p:nvGrpSpPr>
          <p:cNvPr id="6" name="Group 5"/>
          <p:cNvGrpSpPr/>
          <p:nvPr/>
        </p:nvGrpSpPr>
        <p:grpSpPr>
          <a:xfrm>
            <a:off x="3166059" y="3115533"/>
            <a:ext cx="2310609" cy="915893"/>
            <a:chOff x="4749088" y="3987497"/>
            <a:chExt cx="3465914" cy="1373840"/>
          </a:xfrm>
        </p:grpSpPr>
        <p:sp>
          <p:nvSpPr>
            <p:cNvPr id="7" name="AutoShape 5"/>
            <p:cNvSpPr/>
            <p:nvPr/>
          </p:nvSpPr>
          <p:spPr>
            <a:xfrm flipV="1">
              <a:off x="4749088" y="5361337"/>
              <a:ext cx="3278321" cy="0"/>
            </a:xfrm>
            <a:prstGeom prst="line">
              <a:avLst/>
            </a:prstGeom>
            <a:ln w="38100" cap="flat">
              <a:solidFill>
                <a:srgbClr val="000000"/>
              </a:solidFill>
              <a:prstDash val="solid"/>
              <a:headEnd type="none" w="sm" len="sm"/>
              <a:tailEnd type="triangle" w="lg" len="med"/>
            </a:ln>
          </p:spPr>
          <p:txBody>
            <a:bodyPr/>
            <a:lstStyle/>
            <a:p>
              <a:endParaRPr lang="en-US" sz="1267"/>
            </a:p>
          </p:txBody>
        </p:sp>
        <p:pic>
          <p:nvPicPr>
            <p:cNvPr id="8" name="Picture 7" descr="A gold coin with a logo on it&#10;&#10;AI-generated content may be incorrect.">
              <a:extLst>
                <a:ext uri="{FF2B5EF4-FFF2-40B4-BE49-F238E27FC236}">
                  <a16:creationId xmlns:a16="http://schemas.microsoft.com/office/drawing/2014/main" id="{27C1E7BC-AE77-3517-2A72-BCFA9464307E}"/>
                </a:ext>
              </a:extLst>
            </p:cNvPr>
            <p:cNvPicPr>
              <a:picLocks noChangeAspect="1"/>
            </p:cNvPicPr>
            <p:nvPr/>
          </p:nvPicPr>
          <p:blipFill>
            <a:blip r:embed="rId3"/>
            <a:srcRect l="11718" t="12500" r="11718" b="11718"/>
            <a:stretch>
              <a:fillRect/>
            </a:stretch>
          </p:blipFill>
          <p:spPr>
            <a:xfrm>
              <a:off x="5251261" y="4471551"/>
              <a:ext cx="746775" cy="739147"/>
            </a:xfrm>
            <a:prstGeom prst="rect">
              <a:avLst/>
            </a:prstGeom>
          </p:spPr>
        </p:pic>
        <p:pic>
          <p:nvPicPr>
            <p:cNvPr id="9" name="Picture 8" descr="A gold coin with a logo on it&#10;&#10;AI-generated content may be incorrect.">
              <a:extLst>
                <a:ext uri="{FF2B5EF4-FFF2-40B4-BE49-F238E27FC236}">
                  <a16:creationId xmlns:a16="http://schemas.microsoft.com/office/drawing/2014/main" id="{6FB0E643-5739-9CDE-278C-50D05B862635}"/>
                </a:ext>
              </a:extLst>
            </p:cNvPr>
            <p:cNvPicPr>
              <a:picLocks noChangeAspect="1"/>
            </p:cNvPicPr>
            <p:nvPr/>
          </p:nvPicPr>
          <p:blipFill>
            <a:blip r:embed="rId3"/>
            <a:srcRect l="11718" t="12500" r="11718" b="11718"/>
            <a:stretch>
              <a:fillRect/>
            </a:stretch>
          </p:blipFill>
          <p:spPr>
            <a:xfrm>
              <a:off x="6100343" y="4471550"/>
              <a:ext cx="746775" cy="739147"/>
            </a:xfrm>
            <a:prstGeom prst="rect">
              <a:avLst/>
            </a:prstGeom>
          </p:spPr>
        </p:pic>
        <p:pic>
          <p:nvPicPr>
            <p:cNvPr id="10" name="Picture 9" descr="A gold coin with a logo on it&#10;&#10;AI-generated content may be incorrect.">
              <a:extLst>
                <a:ext uri="{FF2B5EF4-FFF2-40B4-BE49-F238E27FC236}">
                  <a16:creationId xmlns:a16="http://schemas.microsoft.com/office/drawing/2014/main" id="{4940743C-8114-8B28-5897-DE0263DD5DB4}"/>
                </a:ext>
              </a:extLst>
            </p:cNvPr>
            <p:cNvPicPr>
              <a:picLocks noChangeAspect="1"/>
            </p:cNvPicPr>
            <p:nvPr/>
          </p:nvPicPr>
          <p:blipFill>
            <a:blip r:embed="rId3"/>
            <a:srcRect l="11718" t="12500" r="11718" b="11718"/>
            <a:stretch>
              <a:fillRect/>
            </a:stretch>
          </p:blipFill>
          <p:spPr>
            <a:xfrm>
              <a:off x="6949425" y="4471551"/>
              <a:ext cx="746775" cy="739147"/>
            </a:xfrm>
            <a:prstGeom prst="rect">
              <a:avLst/>
            </a:prstGeom>
          </p:spPr>
        </p:pic>
        <p:sp>
          <p:nvSpPr>
            <p:cNvPr id="11" name="TextBox 10"/>
            <p:cNvSpPr txBox="1"/>
            <p:nvPr/>
          </p:nvSpPr>
          <p:spPr>
            <a:xfrm>
              <a:off x="5021725" y="3987497"/>
              <a:ext cx="3193277" cy="507831"/>
            </a:xfrm>
            <a:prstGeom prst="rect">
              <a:avLst/>
            </a:prstGeom>
            <a:noFill/>
          </p:spPr>
          <p:txBody>
            <a:bodyPr wrap="square" rtlCol="0">
              <a:spAutoFit/>
            </a:bodyPr>
            <a:lstStyle/>
            <a:p>
              <a:pPr algn="ctr"/>
              <a:r>
                <a:rPr lang="en-US" sz="1600" b="1"/>
                <a:t>$150 worth of ETH</a:t>
              </a:r>
            </a:p>
          </p:txBody>
        </p:sp>
      </p:grpSp>
      <p:grpSp>
        <p:nvGrpSpPr>
          <p:cNvPr id="12" name="Group 11"/>
          <p:cNvGrpSpPr/>
          <p:nvPr/>
        </p:nvGrpSpPr>
        <p:grpSpPr>
          <a:xfrm>
            <a:off x="3122046" y="4489801"/>
            <a:ext cx="2229561" cy="1156850"/>
            <a:chOff x="4683068" y="6048898"/>
            <a:chExt cx="3344341" cy="1735275"/>
          </a:xfrm>
        </p:grpSpPr>
        <p:grpSp>
          <p:nvGrpSpPr>
            <p:cNvPr id="13" name="Group 12"/>
            <p:cNvGrpSpPr/>
            <p:nvPr/>
          </p:nvGrpSpPr>
          <p:grpSpPr>
            <a:xfrm>
              <a:off x="4683068" y="6048898"/>
              <a:ext cx="3344341" cy="1227445"/>
              <a:chOff x="4683068" y="6048898"/>
              <a:chExt cx="3344341" cy="1227445"/>
            </a:xfrm>
          </p:grpSpPr>
          <p:sp>
            <p:nvSpPr>
              <p:cNvPr id="15" name="AutoShape 7"/>
              <p:cNvSpPr/>
              <p:nvPr/>
            </p:nvSpPr>
            <p:spPr>
              <a:xfrm flipH="1" flipV="1">
                <a:off x="4683068" y="6048898"/>
                <a:ext cx="3344341" cy="5158"/>
              </a:xfrm>
              <a:prstGeom prst="line">
                <a:avLst/>
              </a:prstGeom>
              <a:ln w="38100" cap="flat">
                <a:solidFill>
                  <a:srgbClr val="000000"/>
                </a:solidFill>
                <a:prstDash val="solid"/>
                <a:headEnd type="none" w="sm" len="sm"/>
                <a:tailEnd type="triangle" w="lg" len="med"/>
              </a:ln>
            </p:spPr>
            <p:txBody>
              <a:bodyPr/>
              <a:lstStyle/>
              <a:p>
                <a:endParaRPr lang="en-US" sz="1267"/>
              </a:p>
            </p:txBody>
          </p:sp>
          <p:sp>
            <p:nvSpPr>
              <p:cNvPr id="16" name="Freeform 8"/>
              <p:cNvSpPr>
                <a:spLocks noChangeAspect="1"/>
              </p:cNvSpPr>
              <p:nvPr/>
            </p:nvSpPr>
            <p:spPr>
              <a:xfrm>
                <a:off x="5820511" y="6206889"/>
                <a:ext cx="1069454" cy="1069454"/>
              </a:xfrm>
              <a:custGeom>
                <a:avLst/>
                <a:gdLst/>
                <a:ahLst/>
                <a:cxnLst/>
                <a:rect l="l" t="t" r="r" b="b"/>
                <a:pathLst>
                  <a:path w="1246196" h="1246196">
                    <a:moveTo>
                      <a:pt x="0" y="0"/>
                    </a:moveTo>
                    <a:lnTo>
                      <a:pt x="1246196" y="0"/>
                    </a:lnTo>
                    <a:lnTo>
                      <a:pt x="1246196" y="1246196"/>
                    </a:lnTo>
                    <a:lnTo>
                      <a:pt x="0" y="1246196"/>
                    </a:lnTo>
                    <a:lnTo>
                      <a:pt x="0" y="0"/>
                    </a:lnTo>
                    <a:close/>
                  </a:path>
                </a:pathLst>
              </a:custGeom>
              <a:blipFill>
                <a:blip r:embed="rId4"/>
                <a:stretch>
                  <a:fillRect/>
                </a:stretch>
              </a:blipFill>
            </p:spPr>
            <p:txBody>
              <a:bodyPr/>
              <a:lstStyle/>
              <a:p>
                <a:endParaRPr lang="en-US" sz="1267"/>
              </a:p>
            </p:txBody>
          </p:sp>
        </p:grpSp>
        <p:sp>
          <p:nvSpPr>
            <p:cNvPr id="14" name="TextBox 13"/>
            <p:cNvSpPr txBox="1"/>
            <p:nvPr/>
          </p:nvSpPr>
          <p:spPr>
            <a:xfrm>
              <a:off x="5834900" y="7276342"/>
              <a:ext cx="1019145" cy="507831"/>
            </a:xfrm>
            <a:prstGeom prst="rect">
              <a:avLst/>
            </a:prstGeom>
            <a:noFill/>
          </p:spPr>
          <p:txBody>
            <a:bodyPr wrap="square" rtlCol="0">
              <a:spAutoFit/>
            </a:bodyPr>
            <a:lstStyle/>
            <a:p>
              <a:pPr algn="ctr"/>
              <a:r>
                <a:rPr lang="en-US" sz="1600" b="1"/>
                <a:t>$100</a:t>
              </a:r>
            </a:p>
          </p:txBody>
        </p:sp>
      </p:grpSp>
      <p:pic>
        <p:nvPicPr>
          <p:cNvPr id="17" name="Picture 16"/>
          <p:cNvPicPr>
            <a:picLocks noChangeAspect="1"/>
          </p:cNvPicPr>
          <p:nvPr/>
        </p:nvPicPr>
        <p:blipFill>
          <a:blip r:embed="rId5"/>
          <a:stretch>
            <a:fillRect/>
          </a:stretch>
        </p:blipFill>
        <p:spPr>
          <a:xfrm>
            <a:off x="5477153" y="3526189"/>
            <a:ext cx="1543641" cy="1507062"/>
          </a:xfrm>
          <a:prstGeom prst="rect">
            <a:avLst/>
          </a:prstGeom>
        </p:spPr>
      </p:pic>
      <p:sp>
        <p:nvSpPr>
          <p:cNvPr id="18" name="Rectangle 17">
            <a:extLst>
              <a:ext uri="{FF2B5EF4-FFF2-40B4-BE49-F238E27FC236}">
                <a16:creationId xmlns:a16="http://schemas.microsoft.com/office/drawing/2014/main" id="{797EA25D-A23A-EDEA-2747-2423BD42B928}"/>
              </a:ext>
            </a:extLst>
          </p:cNvPr>
          <p:cNvSpPr/>
          <p:nvPr/>
        </p:nvSpPr>
        <p:spPr>
          <a:xfrm>
            <a:off x="4632950" y="5308097"/>
            <a:ext cx="2962793" cy="91490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a:t>ETH price falls below collateralization threshold of $120</a:t>
            </a:r>
          </a:p>
        </p:txBody>
      </p:sp>
      <p:grpSp>
        <p:nvGrpSpPr>
          <p:cNvPr id="19" name="Group 18"/>
          <p:cNvGrpSpPr/>
          <p:nvPr/>
        </p:nvGrpSpPr>
        <p:grpSpPr>
          <a:xfrm>
            <a:off x="7259934" y="3104537"/>
            <a:ext cx="2185547" cy="820039"/>
            <a:chOff x="10820400" y="4065842"/>
            <a:chExt cx="3278321" cy="1230058"/>
          </a:xfrm>
        </p:grpSpPr>
        <p:sp>
          <p:nvSpPr>
            <p:cNvPr id="20" name="AutoShape 5"/>
            <p:cNvSpPr/>
            <p:nvPr/>
          </p:nvSpPr>
          <p:spPr>
            <a:xfrm flipV="1">
              <a:off x="10820400" y="5295900"/>
              <a:ext cx="3278321" cy="0"/>
            </a:xfrm>
            <a:prstGeom prst="line">
              <a:avLst/>
            </a:prstGeom>
            <a:ln w="38100" cap="flat">
              <a:solidFill>
                <a:srgbClr val="000000"/>
              </a:solidFill>
              <a:prstDash val="solid"/>
              <a:headEnd type="none" w="sm" len="sm"/>
              <a:tailEnd type="triangle" w="lg" len="med"/>
            </a:ln>
          </p:spPr>
          <p:txBody>
            <a:bodyPr/>
            <a:lstStyle/>
            <a:p>
              <a:endParaRPr lang="en-US" sz="1267"/>
            </a:p>
          </p:txBody>
        </p:sp>
        <p:pic>
          <p:nvPicPr>
            <p:cNvPr id="21" name="Picture 20" descr="A gold coin with a logo on it&#10;&#10;AI-generated content may be incorrect.">
              <a:extLst>
                <a:ext uri="{FF2B5EF4-FFF2-40B4-BE49-F238E27FC236}">
                  <a16:creationId xmlns:a16="http://schemas.microsoft.com/office/drawing/2014/main" id="{27C1E7BC-AE77-3517-2A72-BCFA9464307E}"/>
                </a:ext>
              </a:extLst>
            </p:cNvPr>
            <p:cNvPicPr>
              <a:picLocks noChangeAspect="1"/>
            </p:cNvPicPr>
            <p:nvPr/>
          </p:nvPicPr>
          <p:blipFill>
            <a:blip r:embed="rId3"/>
            <a:srcRect l="11718" t="12500" r="11718" b="11718"/>
            <a:stretch>
              <a:fillRect/>
            </a:stretch>
          </p:blipFill>
          <p:spPr>
            <a:xfrm>
              <a:off x="11375805" y="4549897"/>
              <a:ext cx="522742" cy="517403"/>
            </a:xfrm>
            <a:prstGeom prst="rect">
              <a:avLst/>
            </a:prstGeom>
          </p:spPr>
        </p:pic>
        <p:pic>
          <p:nvPicPr>
            <p:cNvPr id="22" name="Picture 21" descr="A gold coin with a logo on it&#10;&#10;AI-generated content may be incorrect.">
              <a:extLst>
                <a:ext uri="{FF2B5EF4-FFF2-40B4-BE49-F238E27FC236}">
                  <a16:creationId xmlns:a16="http://schemas.microsoft.com/office/drawing/2014/main" id="{6FB0E643-5739-9CDE-278C-50D05B862635}"/>
                </a:ext>
              </a:extLst>
            </p:cNvPr>
            <p:cNvPicPr>
              <a:picLocks noChangeAspect="1"/>
            </p:cNvPicPr>
            <p:nvPr/>
          </p:nvPicPr>
          <p:blipFill>
            <a:blip r:embed="rId3"/>
            <a:srcRect l="11718" t="12500" r="11718" b="11718"/>
            <a:stretch>
              <a:fillRect/>
            </a:stretch>
          </p:blipFill>
          <p:spPr>
            <a:xfrm>
              <a:off x="12224887" y="4549896"/>
              <a:ext cx="522742" cy="517403"/>
            </a:xfrm>
            <a:prstGeom prst="rect">
              <a:avLst/>
            </a:prstGeom>
          </p:spPr>
        </p:pic>
        <p:pic>
          <p:nvPicPr>
            <p:cNvPr id="23" name="Picture 22" descr="A gold coin with a logo on it&#10;&#10;AI-generated content may be incorrect.">
              <a:extLst>
                <a:ext uri="{FF2B5EF4-FFF2-40B4-BE49-F238E27FC236}">
                  <a16:creationId xmlns:a16="http://schemas.microsoft.com/office/drawing/2014/main" id="{4940743C-8114-8B28-5897-DE0263DD5DB4}"/>
                </a:ext>
              </a:extLst>
            </p:cNvPr>
            <p:cNvPicPr>
              <a:picLocks noChangeAspect="1"/>
            </p:cNvPicPr>
            <p:nvPr/>
          </p:nvPicPr>
          <p:blipFill>
            <a:blip r:embed="rId3"/>
            <a:srcRect l="11718" t="12500" r="11718" b="11718"/>
            <a:stretch>
              <a:fillRect/>
            </a:stretch>
          </p:blipFill>
          <p:spPr>
            <a:xfrm>
              <a:off x="13073969" y="4549897"/>
              <a:ext cx="522742" cy="517403"/>
            </a:xfrm>
            <a:prstGeom prst="rect">
              <a:avLst/>
            </a:prstGeom>
          </p:spPr>
        </p:pic>
        <p:sp>
          <p:nvSpPr>
            <p:cNvPr id="24" name="TextBox 23"/>
            <p:cNvSpPr txBox="1"/>
            <p:nvPr/>
          </p:nvSpPr>
          <p:spPr>
            <a:xfrm>
              <a:off x="11277599" y="4065842"/>
              <a:ext cx="2777609" cy="507831"/>
            </a:xfrm>
            <a:prstGeom prst="rect">
              <a:avLst/>
            </a:prstGeom>
            <a:noFill/>
          </p:spPr>
          <p:txBody>
            <a:bodyPr wrap="square" rtlCol="0">
              <a:spAutoFit/>
            </a:bodyPr>
            <a:lstStyle/>
            <a:p>
              <a:pPr algn="ctr"/>
              <a:r>
                <a:rPr lang="en-US" sz="1600" b="1"/>
                <a:t>$100 worth of ETH</a:t>
              </a:r>
            </a:p>
          </p:txBody>
        </p:sp>
      </p:grpSp>
      <p:grpSp>
        <p:nvGrpSpPr>
          <p:cNvPr id="25" name="Group 24"/>
          <p:cNvGrpSpPr/>
          <p:nvPr/>
        </p:nvGrpSpPr>
        <p:grpSpPr>
          <a:xfrm>
            <a:off x="9416473" y="3537734"/>
            <a:ext cx="1687284" cy="2165520"/>
            <a:chOff x="14124709" y="4620799"/>
            <a:chExt cx="2530926" cy="3248280"/>
          </a:xfrm>
        </p:grpSpPr>
        <p:sp>
          <p:nvSpPr>
            <p:cNvPr id="26" name="Freeform 14">
              <a:extLst>
                <a:ext uri="{FF2B5EF4-FFF2-40B4-BE49-F238E27FC236}">
                  <a16:creationId xmlns:a16="http://schemas.microsoft.com/office/drawing/2014/main" id="{B26BCE00-AA0B-7247-5DF6-6431B5EA5FC5}"/>
                </a:ext>
              </a:extLst>
            </p:cNvPr>
            <p:cNvSpPr/>
            <p:nvPr/>
          </p:nvSpPr>
          <p:spPr>
            <a:xfrm>
              <a:off x="14200652" y="4620799"/>
              <a:ext cx="2127875" cy="2185314"/>
            </a:xfrm>
            <a:custGeom>
              <a:avLst/>
              <a:gdLst/>
              <a:ahLst/>
              <a:cxnLst/>
              <a:rect l="l" t="t" r="r" b="b"/>
              <a:pathLst>
                <a:path w="3875579" h="3875579">
                  <a:moveTo>
                    <a:pt x="0" y="0"/>
                  </a:moveTo>
                  <a:lnTo>
                    <a:pt x="3875579" y="0"/>
                  </a:lnTo>
                  <a:lnTo>
                    <a:pt x="3875579" y="3875579"/>
                  </a:lnTo>
                  <a:lnTo>
                    <a:pt x="0" y="387557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PK" sz="1800"/>
            </a:p>
          </p:txBody>
        </p:sp>
        <p:sp>
          <p:nvSpPr>
            <p:cNvPr id="27" name="Rectangle 26">
              <a:extLst>
                <a:ext uri="{FF2B5EF4-FFF2-40B4-BE49-F238E27FC236}">
                  <a16:creationId xmlns:a16="http://schemas.microsoft.com/office/drawing/2014/main" id="{CFCC6ABA-BB89-5853-6620-7B7032657352}"/>
                </a:ext>
              </a:extLst>
            </p:cNvPr>
            <p:cNvSpPr/>
            <p:nvPr/>
          </p:nvSpPr>
          <p:spPr>
            <a:xfrm>
              <a:off x="14124709" y="7003664"/>
              <a:ext cx="2530926" cy="86541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a:t>ETH sold to cover debt</a:t>
              </a:r>
            </a:p>
          </p:txBody>
        </p:sp>
      </p:grpSp>
      <p:grpSp>
        <p:nvGrpSpPr>
          <p:cNvPr id="28" name="Group 27"/>
          <p:cNvGrpSpPr/>
          <p:nvPr/>
        </p:nvGrpSpPr>
        <p:grpSpPr>
          <a:xfrm>
            <a:off x="2117391" y="1902025"/>
            <a:ext cx="4131583" cy="1668058"/>
            <a:chOff x="3176087" y="2167235"/>
            <a:chExt cx="6197375" cy="2502091"/>
          </a:xfrm>
        </p:grpSpPr>
        <p:cxnSp>
          <p:nvCxnSpPr>
            <p:cNvPr id="29" name="Elbow Connector 28"/>
            <p:cNvCxnSpPr>
              <a:stCxn id="17" idx="0"/>
              <a:endCxn id="5" idx="0"/>
            </p:cNvCxnSpPr>
            <p:nvPr/>
          </p:nvCxnSpPr>
          <p:spPr>
            <a:xfrm rot="16200000" flipH="1" flipV="1">
              <a:off x="6241853" y="1537717"/>
              <a:ext cx="65843" cy="6197375"/>
            </a:xfrm>
            <a:prstGeom prst="bentConnector3">
              <a:avLst>
                <a:gd name="adj1" fmla="val -2116396"/>
              </a:avLst>
            </a:prstGeom>
            <a:ln w="38100" cap="flat">
              <a:solidFill>
                <a:srgbClr val="000000"/>
              </a:solidFill>
              <a:prstDash val="solid"/>
              <a:headEnd type="none" w="sm" len="sm"/>
              <a:tailEnd type="triangle" w="lg" len="med"/>
            </a:ln>
          </p:spPr>
        </p:cxnSp>
        <p:pic>
          <p:nvPicPr>
            <p:cNvPr id="30" name="Picture 29" descr="A gold coin with a logo on it&#10;&#10;AI-generated content may be incorrect.">
              <a:extLst>
                <a:ext uri="{FF2B5EF4-FFF2-40B4-BE49-F238E27FC236}">
                  <a16:creationId xmlns:a16="http://schemas.microsoft.com/office/drawing/2014/main" id="{6FB0E643-5739-9CDE-278C-50D05B862635}"/>
                </a:ext>
              </a:extLst>
            </p:cNvPr>
            <p:cNvPicPr>
              <a:picLocks noChangeAspect="1"/>
            </p:cNvPicPr>
            <p:nvPr/>
          </p:nvPicPr>
          <p:blipFill>
            <a:blip r:embed="rId3"/>
            <a:srcRect l="11718" t="12500" r="11718" b="11718"/>
            <a:stretch>
              <a:fillRect/>
            </a:stretch>
          </p:blipFill>
          <p:spPr>
            <a:xfrm>
              <a:off x="6257563" y="2635859"/>
              <a:ext cx="261370" cy="258701"/>
            </a:xfrm>
            <a:prstGeom prst="rect">
              <a:avLst/>
            </a:prstGeom>
          </p:spPr>
        </p:pic>
        <p:sp>
          <p:nvSpPr>
            <p:cNvPr id="31" name="TextBox 30"/>
            <p:cNvSpPr txBox="1"/>
            <p:nvPr/>
          </p:nvSpPr>
          <p:spPr>
            <a:xfrm>
              <a:off x="5181600" y="2167235"/>
              <a:ext cx="2590800" cy="507831"/>
            </a:xfrm>
            <a:prstGeom prst="rect">
              <a:avLst/>
            </a:prstGeom>
            <a:noFill/>
          </p:spPr>
          <p:txBody>
            <a:bodyPr wrap="square" rtlCol="0">
              <a:spAutoFit/>
            </a:bodyPr>
            <a:lstStyle/>
            <a:p>
              <a:pPr algn="ctr"/>
              <a:r>
                <a:rPr lang="en-US" sz="1600" b="1"/>
                <a:t>$20 worth of ETH</a:t>
              </a:r>
            </a:p>
          </p:txBody>
        </p:sp>
      </p:grpSp>
      <p:grpSp>
        <p:nvGrpSpPr>
          <p:cNvPr id="33" name="Group 32"/>
          <p:cNvGrpSpPr/>
          <p:nvPr/>
        </p:nvGrpSpPr>
        <p:grpSpPr>
          <a:xfrm>
            <a:off x="7168440" y="4343403"/>
            <a:ext cx="2229561" cy="1104850"/>
            <a:chOff x="10752659" y="5829300"/>
            <a:chExt cx="3344341" cy="1657275"/>
          </a:xfrm>
        </p:grpSpPr>
        <p:sp>
          <p:nvSpPr>
            <p:cNvPr id="34" name="AutoShape 7"/>
            <p:cNvSpPr/>
            <p:nvPr/>
          </p:nvSpPr>
          <p:spPr>
            <a:xfrm flipH="1" flipV="1">
              <a:off x="10752659" y="5829300"/>
              <a:ext cx="3344341" cy="5158"/>
            </a:xfrm>
            <a:prstGeom prst="line">
              <a:avLst/>
            </a:prstGeom>
            <a:ln w="38100" cap="flat">
              <a:solidFill>
                <a:srgbClr val="000000"/>
              </a:solidFill>
              <a:prstDash val="solid"/>
              <a:headEnd type="none" w="sm" len="sm"/>
              <a:tailEnd type="triangle" w="lg" len="med"/>
            </a:ln>
          </p:spPr>
          <p:txBody>
            <a:bodyPr/>
            <a:lstStyle/>
            <a:p>
              <a:endParaRPr lang="en-US" sz="1267"/>
            </a:p>
          </p:txBody>
        </p:sp>
        <p:sp>
          <p:nvSpPr>
            <p:cNvPr id="35" name="Freeform 8"/>
            <p:cNvSpPr>
              <a:spLocks noChangeAspect="1"/>
            </p:cNvSpPr>
            <p:nvPr/>
          </p:nvSpPr>
          <p:spPr>
            <a:xfrm>
              <a:off x="11890102" y="5987291"/>
              <a:ext cx="1069454" cy="1069454"/>
            </a:xfrm>
            <a:custGeom>
              <a:avLst/>
              <a:gdLst/>
              <a:ahLst/>
              <a:cxnLst/>
              <a:rect l="l" t="t" r="r" b="b"/>
              <a:pathLst>
                <a:path w="1246196" h="1246196">
                  <a:moveTo>
                    <a:pt x="0" y="0"/>
                  </a:moveTo>
                  <a:lnTo>
                    <a:pt x="1246196" y="0"/>
                  </a:lnTo>
                  <a:lnTo>
                    <a:pt x="1246196" y="1246196"/>
                  </a:lnTo>
                  <a:lnTo>
                    <a:pt x="0" y="1246196"/>
                  </a:lnTo>
                  <a:lnTo>
                    <a:pt x="0" y="0"/>
                  </a:lnTo>
                  <a:close/>
                </a:path>
              </a:pathLst>
            </a:custGeom>
            <a:blipFill>
              <a:blip r:embed="rId4"/>
              <a:stretch>
                <a:fillRect/>
              </a:stretch>
            </a:blipFill>
          </p:spPr>
          <p:txBody>
            <a:bodyPr/>
            <a:lstStyle/>
            <a:p>
              <a:endParaRPr lang="en-US" sz="1267"/>
            </a:p>
          </p:txBody>
        </p:sp>
        <p:sp>
          <p:nvSpPr>
            <p:cNvPr id="36" name="TextBox 35"/>
            <p:cNvSpPr txBox="1"/>
            <p:nvPr/>
          </p:nvSpPr>
          <p:spPr>
            <a:xfrm>
              <a:off x="12002360" y="6978744"/>
              <a:ext cx="914400" cy="507831"/>
            </a:xfrm>
            <a:prstGeom prst="rect">
              <a:avLst/>
            </a:prstGeom>
            <a:noFill/>
          </p:spPr>
          <p:txBody>
            <a:bodyPr wrap="square" rtlCol="0">
              <a:spAutoFit/>
            </a:bodyPr>
            <a:lstStyle/>
            <a:p>
              <a:r>
                <a:rPr lang="en-US" sz="1600" b="1"/>
                <a:t>$100</a:t>
              </a:r>
              <a:endParaRPr lang="en-US" sz="1267" b="1"/>
            </a:p>
          </p:txBody>
        </p:sp>
      </p:grpSp>
      <p:pic>
        <p:nvPicPr>
          <p:cNvPr id="37" name="Graphic 51" descr="Bonfire with solid fill">
            <a:extLst>
              <a:ext uri="{FF2B5EF4-FFF2-40B4-BE49-F238E27FC236}">
                <a16:creationId xmlns:a16="http://schemas.microsoft.com/office/drawing/2014/main" id="{88DC9FF1-9D3B-76C5-8419-03EF237B308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625695" y="4420199"/>
            <a:ext cx="1193202" cy="1193202"/>
          </a:xfrm>
          <a:prstGeom prst="rect">
            <a:avLst/>
          </a:prstGeom>
        </p:spPr>
      </p:pic>
    </p:spTree>
    <p:extLst>
      <p:ext uri="{BB962C8B-B14F-4D97-AF65-F5344CB8AC3E}">
        <p14:creationId xmlns:p14="http://schemas.microsoft.com/office/powerpoint/2010/main" val="19934921"/>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Cryptocurrency-Backed Stablecoin by Market Capitalization </a:t>
            </a:r>
          </a:p>
        </p:txBody>
      </p:sp>
      <p:sp>
        <p:nvSpPr>
          <p:cNvPr id="4" name="Slide Number Placeholder 3"/>
          <p:cNvSpPr>
            <a:spLocks noGrp="1"/>
          </p:cNvSpPr>
          <p:nvPr>
            <p:ph type="sldNum" sz="quarter" idx="12"/>
          </p:nvPr>
        </p:nvSpPr>
        <p:spPr/>
        <p:txBody>
          <a:bodyPr/>
          <a:lstStyle/>
          <a:p>
            <a:fld id="{123BC241-7286-4066-AAE4-0801D26EA29E}" type="slidenum">
              <a:rPr lang="aa-ET" smtClean="0"/>
              <a:t>21</a:t>
            </a:fld>
            <a:endParaRPr lang="aa-ET"/>
          </a:p>
        </p:txBody>
      </p:sp>
      <p:sp>
        <p:nvSpPr>
          <p:cNvPr id="6" name="Rectangle 5"/>
          <p:cNvSpPr/>
          <p:nvPr/>
        </p:nvSpPr>
        <p:spPr>
          <a:xfrm>
            <a:off x="935476" y="5074331"/>
            <a:ext cx="10348608" cy="969496"/>
          </a:xfrm>
          <a:prstGeom prst="rect">
            <a:avLst/>
          </a:prstGeom>
        </p:spPr>
        <p:txBody>
          <a:bodyPr wrap="square">
            <a:spAutoFit/>
          </a:bodyPr>
          <a:lstStyle/>
          <a:p>
            <a:r>
              <a:rPr lang="en-US" baseline="30000"/>
              <a:t>*</a:t>
            </a:r>
            <a:r>
              <a:rPr lang="en-US"/>
              <a:t>All market capitalization figures for cryptocurrency-backed stablecoins reflect the latest available data (July 2025), compiled from leading market trackers including </a:t>
            </a:r>
            <a:r>
              <a:rPr lang="en-US" err="1"/>
              <a:t>CoinMarketCap</a:t>
            </a:r>
            <a:r>
              <a:rPr lang="en-US"/>
              <a:t>, </a:t>
            </a:r>
            <a:r>
              <a:rPr lang="en-US" err="1"/>
              <a:t>CoinGecko</a:t>
            </a:r>
            <a:r>
              <a:rPr lang="en-US"/>
              <a:t>, and </a:t>
            </a:r>
            <a:r>
              <a:rPr lang="en-US" err="1"/>
              <a:t>CryptoCompare</a:t>
            </a:r>
            <a:endParaRPr lang="en-US"/>
          </a:p>
        </p:txBody>
      </p:sp>
      <p:graphicFrame>
        <p:nvGraphicFramePr>
          <p:cNvPr id="8" name="Table 7"/>
          <p:cNvGraphicFramePr>
            <a:graphicFrameLocks noGrp="1"/>
          </p:cNvGraphicFramePr>
          <p:nvPr>
            <p:extLst>
              <p:ext uri="{D42A27DB-BD31-4B8C-83A1-F6EECF244321}">
                <p14:modId xmlns:p14="http://schemas.microsoft.com/office/powerpoint/2010/main" val="889701573"/>
              </p:ext>
            </p:extLst>
          </p:nvPr>
        </p:nvGraphicFramePr>
        <p:xfrm>
          <a:off x="935476" y="1101627"/>
          <a:ext cx="10515600" cy="3444240"/>
        </p:xfrm>
        <a:graphic>
          <a:graphicData uri="http://schemas.openxmlformats.org/drawingml/2006/table">
            <a:tbl>
              <a:tblPr/>
              <a:tblGrid>
                <a:gridCol w="2103120">
                  <a:extLst>
                    <a:ext uri="{9D8B030D-6E8A-4147-A177-3AD203B41FA5}">
                      <a16:colId xmlns:a16="http://schemas.microsoft.com/office/drawing/2014/main" val="1938112098"/>
                    </a:ext>
                  </a:extLst>
                </a:gridCol>
                <a:gridCol w="2103120">
                  <a:extLst>
                    <a:ext uri="{9D8B030D-6E8A-4147-A177-3AD203B41FA5}">
                      <a16:colId xmlns:a16="http://schemas.microsoft.com/office/drawing/2014/main" val="476669865"/>
                    </a:ext>
                  </a:extLst>
                </a:gridCol>
                <a:gridCol w="2103120">
                  <a:extLst>
                    <a:ext uri="{9D8B030D-6E8A-4147-A177-3AD203B41FA5}">
                      <a16:colId xmlns:a16="http://schemas.microsoft.com/office/drawing/2014/main" val="2284960144"/>
                    </a:ext>
                  </a:extLst>
                </a:gridCol>
                <a:gridCol w="2103120">
                  <a:extLst>
                    <a:ext uri="{9D8B030D-6E8A-4147-A177-3AD203B41FA5}">
                      <a16:colId xmlns:a16="http://schemas.microsoft.com/office/drawing/2014/main" val="3188566944"/>
                    </a:ext>
                  </a:extLst>
                </a:gridCol>
                <a:gridCol w="2103120">
                  <a:extLst>
                    <a:ext uri="{9D8B030D-6E8A-4147-A177-3AD203B41FA5}">
                      <a16:colId xmlns:a16="http://schemas.microsoft.com/office/drawing/2014/main" val="1013577779"/>
                    </a:ext>
                  </a:extLst>
                </a:gridCol>
              </a:tblGrid>
              <a:tr h="0">
                <a:tc>
                  <a:txBody>
                    <a:bodyPr/>
                    <a:lstStyle/>
                    <a:p>
                      <a:r>
                        <a:rPr lang="en-US" b="1"/>
                        <a:t>Stablecoin</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Issuer / Manager</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Blockchain(s)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Market Cap (Approx.)</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Typical Collateralization Ratio</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6588199"/>
                  </a:ext>
                </a:extLst>
              </a:tr>
              <a:tr h="0">
                <a:tc>
                  <a:txBody>
                    <a:bodyPr/>
                    <a:lstStyle/>
                    <a:p>
                      <a:r>
                        <a:rPr lang="en-US" b="1"/>
                        <a:t>Dai (DAI)</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MakerDAO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Ethereum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t>~$5.37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t>≥ 150%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017627"/>
                  </a:ext>
                </a:extLst>
              </a:tr>
              <a:tr h="0">
                <a:tc>
                  <a:txBody>
                    <a:bodyPr/>
                    <a:lstStyle/>
                    <a:p>
                      <a:r>
                        <a:rPr lang="en-US" b="1"/>
                        <a:t>Falcon USD (USDF)</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Falcon Digital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Ethereum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t>~$655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t>≥ 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6101073"/>
                  </a:ext>
                </a:extLst>
              </a:tr>
              <a:tr h="0">
                <a:tc>
                  <a:txBody>
                    <a:bodyPr/>
                    <a:lstStyle/>
                    <a:p>
                      <a:r>
                        <a:rPr lang="en-US" b="1"/>
                        <a:t>USDX Stablecoin (USDX)</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Kava Labs (Kava)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Kava, others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t>~$79.7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t>≥ 150%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7044958"/>
                  </a:ext>
                </a:extLst>
              </a:tr>
              <a:tr h="0">
                <a:tc>
                  <a:txBody>
                    <a:bodyPr/>
                    <a:lstStyle/>
                    <a:p>
                      <a:r>
                        <a:rPr lang="en-US" b="1"/>
                        <a:t>Liquity USD (LUSD)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Liquity Protocol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Ethereum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t>~$40.7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t>≥ 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7370153"/>
                  </a:ext>
                </a:extLst>
              </a:tr>
              <a:tr h="0">
                <a:tc>
                  <a:txBody>
                    <a:bodyPr/>
                    <a:lstStyle/>
                    <a:p>
                      <a:r>
                        <a:rPr lang="en-US" b="1"/>
                        <a:t>sUSD (SUSD)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Synthetix (SNX-backed)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Ethereum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t>~$34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t>≥ 500% (variable, very 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3071032"/>
                  </a:ext>
                </a:extLst>
              </a:tr>
            </a:tbl>
          </a:graphicData>
        </a:graphic>
      </p:graphicFrame>
    </p:spTree>
    <p:extLst>
      <p:ext uri="{BB962C8B-B14F-4D97-AF65-F5344CB8AC3E}">
        <p14:creationId xmlns:p14="http://schemas.microsoft.com/office/powerpoint/2010/main" val="418204639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Stablecoin</a:t>
            </a:r>
            <a:r>
              <a:rPr lang="en-US" dirty="0"/>
              <a:t> - Algorithmic Non-collateralized</a:t>
            </a:r>
          </a:p>
        </p:txBody>
      </p:sp>
      <p:sp>
        <p:nvSpPr>
          <p:cNvPr id="3" name="Content Placeholder 2"/>
          <p:cNvSpPr>
            <a:spLocks noGrp="1"/>
          </p:cNvSpPr>
          <p:nvPr>
            <p:ph idx="1"/>
          </p:nvPr>
        </p:nvSpPr>
        <p:spPr/>
        <p:txBody>
          <a:bodyPr>
            <a:normAutofit fontScale="92500" lnSpcReduction="10000"/>
          </a:bodyPr>
          <a:lstStyle/>
          <a:p>
            <a:r>
              <a:rPr lang="en-US" b="1" dirty="0"/>
              <a:t>Multiple‑Coin Ecosystem</a:t>
            </a:r>
            <a:r>
              <a:rPr lang="en-US" dirty="0"/>
              <a:t>: Involves two or more tokens — a </a:t>
            </a:r>
            <a:r>
              <a:rPr lang="en-US" dirty="0" err="1"/>
              <a:t>stablecoin</a:t>
            </a:r>
            <a:r>
              <a:rPr lang="en-US" dirty="0"/>
              <a:t> and at least one companion token, which:</a:t>
            </a:r>
          </a:p>
          <a:p>
            <a:pPr lvl="1"/>
            <a:r>
              <a:rPr lang="en-US" dirty="0"/>
              <a:t>Absorbs volatility and supports the peg mechanism</a:t>
            </a:r>
          </a:p>
          <a:p>
            <a:pPr lvl="1"/>
            <a:r>
              <a:rPr lang="en-US" dirty="0"/>
              <a:t>Is minted when </a:t>
            </a:r>
            <a:r>
              <a:rPr lang="en-US" dirty="0" err="1"/>
              <a:t>stablecoins</a:t>
            </a:r>
            <a:r>
              <a:rPr lang="en-US" dirty="0"/>
              <a:t> are burned</a:t>
            </a:r>
          </a:p>
          <a:p>
            <a:pPr lvl="1"/>
            <a:r>
              <a:rPr lang="en-US" dirty="0"/>
              <a:t>Is burned when </a:t>
            </a:r>
            <a:r>
              <a:rPr lang="en-US" dirty="0" err="1"/>
              <a:t>stablecoins</a:t>
            </a:r>
            <a:r>
              <a:rPr lang="en-US" dirty="0"/>
              <a:t> are minted</a:t>
            </a:r>
          </a:p>
          <a:p>
            <a:r>
              <a:rPr lang="en-US" b="1" dirty="0"/>
              <a:t>Decentralized Finance (</a:t>
            </a:r>
            <a:r>
              <a:rPr lang="en-US" b="1" dirty="0" err="1"/>
              <a:t>DeFi</a:t>
            </a:r>
            <a:r>
              <a:rPr lang="en-US" b="1" dirty="0"/>
              <a:t>): </a:t>
            </a:r>
            <a:r>
              <a:rPr lang="en-US" dirty="0"/>
              <a:t>Fully on‑chain, with stabilization managed entirely by smart contracts</a:t>
            </a:r>
          </a:p>
          <a:p>
            <a:r>
              <a:rPr lang="en-US" b="1" dirty="0"/>
              <a:t>No Collateral: </a:t>
            </a:r>
            <a:r>
              <a:rPr lang="en-US" dirty="0"/>
              <a:t>Does not hold reserves; relies on algorithmic control of supply and user incentives to maintain the peg</a:t>
            </a:r>
          </a:p>
          <a:p>
            <a:r>
              <a:rPr lang="en-US" b="1" dirty="0"/>
              <a:t>High Automation: </a:t>
            </a:r>
            <a:r>
              <a:rPr lang="en-US" dirty="0"/>
              <a:t>Smart contracts automatically adjust supply by incentivizing users to mint or burn tokens</a:t>
            </a:r>
          </a:p>
          <a:p>
            <a:r>
              <a:rPr lang="en-US" b="1" dirty="0"/>
              <a:t>Oracle Dependence: </a:t>
            </a:r>
            <a:r>
              <a:rPr lang="en-US" dirty="0"/>
              <a:t>Requires reliable price oracles to measure the </a:t>
            </a:r>
            <a:r>
              <a:rPr lang="en-US" dirty="0" err="1"/>
              <a:t>stablecoin’s</a:t>
            </a:r>
            <a:r>
              <a:rPr lang="en-US" dirty="0"/>
              <a:t> market price and trigger supply adjustments</a:t>
            </a:r>
          </a:p>
          <a:p>
            <a:endParaRPr lang="en-US" dirty="0"/>
          </a:p>
        </p:txBody>
      </p:sp>
      <p:sp>
        <p:nvSpPr>
          <p:cNvPr id="4" name="Slide Number Placeholder 3"/>
          <p:cNvSpPr>
            <a:spLocks noGrp="1"/>
          </p:cNvSpPr>
          <p:nvPr>
            <p:ph type="sldNum" sz="quarter" idx="12"/>
          </p:nvPr>
        </p:nvSpPr>
        <p:spPr/>
        <p:txBody>
          <a:bodyPr/>
          <a:lstStyle/>
          <a:p>
            <a:fld id="{123BC241-7286-4066-AAE4-0801D26EA29E}" type="slidenum">
              <a:rPr lang="aa-ET" smtClean="0"/>
              <a:t>22</a:t>
            </a:fld>
            <a:endParaRPr lang="aa-ET"/>
          </a:p>
        </p:txBody>
      </p:sp>
    </p:spTree>
    <p:extLst>
      <p:ext uri="{BB962C8B-B14F-4D97-AF65-F5344CB8AC3E}">
        <p14:creationId xmlns:p14="http://schemas.microsoft.com/office/powerpoint/2010/main" val="2326100035"/>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Stablecoin</a:t>
            </a:r>
            <a:r>
              <a:rPr lang="en-US" dirty="0"/>
              <a:t> - Algorithmic Non-collateralized</a:t>
            </a:r>
          </a:p>
        </p:txBody>
      </p:sp>
      <p:sp>
        <p:nvSpPr>
          <p:cNvPr id="3" name="Content Placeholder 2"/>
          <p:cNvSpPr>
            <a:spLocks noGrp="1"/>
          </p:cNvSpPr>
          <p:nvPr>
            <p:ph idx="1"/>
          </p:nvPr>
        </p:nvSpPr>
        <p:spPr/>
        <p:txBody>
          <a:bodyPr>
            <a:normAutofit/>
          </a:bodyPr>
          <a:lstStyle/>
          <a:p>
            <a:pPr marL="0" indent="0">
              <a:buNone/>
            </a:pPr>
            <a:r>
              <a:rPr lang="en-US" b="1" dirty="0"/>
              <a:t>Stability Mechanism</a:t>
            </a:r>
          </a:p>
          <a:p>
            <a:r>
              <a:rPr lang="en-US" dirty="0"/>
              <a:t>When the </a:t>
            </a:r>
            <a:r>
              <a:rPr lang="en-US" b="1" i="1" dirty="0" err="1"/>
              <a:t>stablecoin</a:t>
            </a:r>
            <a:r>
              <a:rPr lang="en-US" b="1" i="1" dirty="0"/>
              <a:t> price rises above peg</a:t>
            </a:r>
            <a:r>
              <a:rPr lang="en-US" dirty="0"/>
              <a:t>, the protocol increases supply by minting more </a:t>
            </a:r>
            <a:r>
              <a:rPr lang="en-US" dirty="0" err="1"/>
              <a:t>stablecoins</a:t>
            </a:r>
            <a:r>
              <a:rPr lang="en-US" dirty="0"/>
              <a:t> and rewarding companion token holders</a:t>
            </a:r>
          </a:p>
          <a:p>
            <a:r>
              <a:rPr lang="en-US" dirty="0"/>
              <a:t>When the </a:t>
            </a:r>
            <a:r>
              <a:rPr lang="en-US" b="1" i="1" dirty="0" err="1"/>
              <a:t>stablecoin</a:t>
            </a:r>
            <a:r>
              <a:rPr lang="en-US" b="1" i="1" dirty="0"/>
              <a:t> price falls below peg</a:t>
            </a:r>
            <a:r>
              <a:rPr lang="en-US" dirty="0"/>
              <a:t>, the protocol contracts supply by offering incentives (e.g., discounted companion tokens) to burn </a:t>
            </a:r>
            <a:r>
              <a:rPr lang="en-US" dirty="0" err="1"/>
              <a:t>stablecoins</a:t>
            </a:r>
            <a:endParaRPr lang="en-US" dirty="0"/>
          </a:p>
        </p:txBody>
      </p:sp>
      <p:sp>
        <p:nvSpPr>
          <p:cNvPr id="4" name="Slide Number Placeholder 3"/>
          <p:cNvSpPr>
            <a:spLocks noGrp="1"/>
          </p:cNvSpPr>
          <p:nvPr>
            <p:ph type="sldNum" sz="quarter" idx="12"/>
          </p:nvPr>
        </p:nvSpPr>
        <p:spPr/>
        <p:txBody>
          <a:bodyPr/>
          <a:lstStyle/>
          <a:p>
            <a:fld id="{123BC241-7286-4066-AAE4-0801D26EA29E}" type="slidenum">
              <a:rPr lang="aa-ET" smtClean="0"/>
              <a:t>23</a:t>
            </a:fld>
            <a:endParaRPr lang="aa-ET"/>
          </a:p>
        </p:txBody>
      </p:sp>
    </p:spTree>
    <p:extLst>
      <p:ext uri="{BB962C8B-B14F-4D97-AF65-F5344CB8AC3E}">
        <p14:creationId xmlns:p14="http://schemas.microsoft.com/office/powerpoint/2010/main" val="2288045604"/>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Stability Mechanism: Algorithmic Non-collateralized </a:t>
            </a:r>
            <a:r>
              <a:rPr lang="en-US" dirty="0" err="1"/>
              <a:t>Stablecoin</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b="1" dirty="0"/>
              <a:t>Example: </a:t>
            </a:r>
            <a:r>
              <a:rPr lang="en-US" b="1" dirty="0" err="1"/>
              <a:t>TerraUSD</a:t>
            </a:r>
            <a:r>
              <a:rPr lang="en-US" b="1" dirty="0"/>
              <a:t> (UST) &amp; LUNA</a:t>
            </a:r>
          </a:p>
          <a:p>
            <a:r>
              <a:rPr lang="en-US" dirty="0"/>
              <a:t>The protocol allows users to always exchange $1 worth of LUNA for 1 UST, and vice versa, regardless of UST’s market price</a:t>
            </a:r>
          </a:p>
          <a:p>
            <a:r>
              <a:rPr lang="en-US" b="1" dirty="0"/>
              <a:t>When UST &gt; $1 (e.g., $1.02)</a:t>
            </a:r>
          </a:p>
          <a:p>
            <a:pPr lvl="1"/>
            <a:r>
              <a:rPr lang="en-US" dirty="0"/>
              <a:t>Users burn $1 worth of LUNA to mint 1 UST via the protocol</a:t>
            </a:r>
          </a:p>
          <a:p>
            <a:pPr lvl="1"/>
            <a:r>
              <a:rPr lang="en-US" dirty="0"/>
              <a:t>They sell 1 UST on the open market for $1.02, earning $0.02 profit</a:t>
            </a:r>
          </a:p>
          <a:p>
            <a:pPr lvl="1"/>
            <a:r>
              <a:rPr lang="en-US" dirty="0"/>
              <a:t>This increases UST supply, pushing the market price back down toward $1</a:t>
            </a:r>
          </a:p>
          <a:p>
            <a:r>
              <a:rPr lang="en-US" b="1" dirty="0"/>
              <a:t>When UST &lt; $1 (e.g., $0.98)</a:t>
            </a:r>
          </a:p>
          <a:p>
            <a:pPr lvl="1"/>
            <a:r>
              <a:rPr lang="en-US" dirty="0"/>
              <a:t>Users buy 1 UST on the market for $0.98</a:t>
            </a:r>
          </a:p>
          <a:p>
            <a:pPr lvl="1"/>
            <a:r>
              <a:rPr lang="en-US" dirty="0"/>
              <a:t>Burn 1 UST via the protocol to mint $1 worth of LUNA</a:t>
            </a:r>
          </a:p>
          <a:p>
            <a:pPr lvl="1"/>
            <a:r>
              <a:rPr lang="en-US" dirty="0"/>
              <a:t>Sell LUNA for $1, earning $0.02 profit</a:t>
            </a:r>
          </a:p>
          <a:p>
            <a:pPr lvl="1"/>
            <a:r>
              <a:rPr lang="en-US" dirty="0"/>
              <a:t>This decreases UST supply, pushing the market price back up toward $1</a:t>
            </a:r>
          </a:p>
          <a:p>
            <a:r>
              <a:rPr lang="en-US" dirty="0"/>
              <a:t>The </a:t>
            </a:r>
            <a:r>
              <a:rPr lang="en-US" b="1" dirty="0"/>
              <a:t>LUNA token </a:t>
            </a:r>
            <a:r>
              <a:rPr lang="en-US" dirty="0"/>
              <a:t>serves as the volatile companion token, absorbing supply and demand fluctuations to maintain UST’s peg to $1</a:t>
            </a:r>
          </a:p>
          <a:p>
            <a:endParaRPr lang="en-US" dirty="0"/>
          </a:p>
        </p:txBody>
      </p:sp>
      <p:sp>
        <p:nvSpPr>
          <p:cNvPr id="4" name="Slide Number Placeholder 3"/>
          <p:cNvSpPr>
            <a:spLocks noGrp="1"/>
          </p:cNvSpPr>
          <p:nvPr>
            <p:ph type="sldNum" sz="quarter" idx="12"/>
          </p:nvPr>
        </p:nvSpPr>
        <p:spPr/>
        <p:txBody>
          <a:bodyPr/>
          <a:lstStyle/>
          <a:p>
            <a:fld id="{123BC241-7286-4066-AAE4-0801D26EA29E}" type="slidenum">
              <a:rPr lang="aa-ET" smtClean="0"/>
              <a:t>24</a:t>
            </a:fld>
            <a:endParaRPr lang="aa-ET"/>
          </a:p>
        </p:txBody>
      </p:sp>
    </p:spTree>
    <p:extLst>
      <p:ext uri="{BB962C8B-B14F-4D97-AF65-F5344CB8AC3E}">
        <p14:creationId xmlns:p14="http://schemas.microsoft.com/office/powerpoint/2010/main" val="421001265"/>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Algorithmic Non-collateralized </a:t>
            </a:r>
            <a:r>
              <a:rPr lang="en-US" dirty="0" err="1"/>
              <a:t>Stablecoin</a:t>
            </a:r>
            <a:r>
              <a:rPr lang="en-US" dirty="0"/>
              <a:t> by Market Capitalization </a:t>
            </a:r>
          </a:p>
        </p:txBody>
      </p:sp>
      <p:sp>
        <p:nvSpPr>
          <p:cNvPr id="4" name="Slide Number Placeholder 3"/>
          <p:cNvSpPr>
            <a:spLocks noGrp="1"/>
          </p:cNvSpPr>
          <p:nvPr>
            <p:ph type="sldNum" sz="quarter" idx="12"/>
          </p:nvPr>
        </p:nvSpPr>
        <p:spPr/>
        <p:txBody>
          <a:bodyPr/>
          <a:lstStyle/>
          <a:p>
            <a:fld id="{123BC241-7286-4066-AAE4-0801D26EA29E}" type="slidenum">
              <a:rPr lang="aa-ET" smtClean="0"/>
              <a:t>25</a:t>
            </a:fld>
            <a:endParaRPr lang="aa-ET"/>
          </a:p>
        </p:txBody>
      </p:sp>
      <p:sp>
        <p:nvSpPr>
          <p:cNvPr id="6" name="Rectangle 5"/>
          <p:cNvSpPr/>
          <p:nvPr/>
        </p:nvSpPr>
        <p:spPr>
          <a:xfrm>
            <a:off x="935476" y="5074331"/>
            <a:ext cx="10348608" cy="969496"/>
          </a:xfrm>
          <a:prstGeom prst="rect">
            <a:avLst/>
          </a:prstGeom>
        </p:spPr>
        <p:txBody>
          <a:bodyPr wrap="square">
            <a:spAutoFit/>
          </a:bodyPr>
          <a:lstStyle/>
          <a:p>
            <a:r>
              <a:rPr lang="en-US" baseline="30000" dirty="0"/>
              <a:t>*</a:t>
            </a:r>
            <a:r>
              <a:rPr lang="en-US" dirty="0"/>
              <a:t>All market capitalization figures for Algorithmic Non-collateralized </a:t>
            </a:r>
            <a:r>
              <a:rPr lang="en-US" dirty="0" err="1"/>
              <a:t>Stablecoin</a:t>
            </a:r>
            <a:r>
              <a:rPr lang="en-US" dirty="0"/>
              <a:t> reflect the latest available data (July 2025), compiled from leading market trackers including </a:t>
            </a:r>
            <a:r>
              <a:rPr lang="en-US" dirty="0" err="1"/>
              <a:t>CoinMarketCap</a:t>
            </a:r>
            <a:r>
              <a:rPr lang="en-US" dirty="0"/>
              <a:t>, </a:t>
            </a:r>
            <a:r>
              <a:rPr lang="en-US" dirty="0" err="1"/>
              <a:t>CoinGecko</a:t>
            </a:r>
            <a:r>
              <a:rPr lang="en-US" dirty="0"/>
              <a:t>, and </a:t>
            </a:r>
            <a:r>
              <a:rPr lang="en-US" dirty="0" err="1"/>
              <a:t>Messari</a:t>
            </a:r>
            <a:endParaRPr lang="en-US" dirty="0"/>
          </a:p>
        </p:txBody>
      </p:sp>
      <p:graphicFrame>
        <p:nvGraphicFramePr>
          <p:cNvPr id="5" name="Table 4"/>
          <p:cNvGraphicFramePr>
            <a:graphicFrameLocks noGrp="1"/>
          </p:cNvGraphicFramePr>
          <p:nvPr/>
        </p:nvGraphicFramePr>
        <p:xfrm>
          <a:off x="935476" y="1285751"/>
          <a:ext cx="10515600" cy="3352800"/>
        </p:xfrm>
        <a:graphic>
          <a:graphicData uri="http://schemas.openxmlformats.org/drawingml/2006/table">
            <a:tbl>
              <a:tblPr/>
              <a:tblGrid>
                <a:gridCol w="2103120">
                  <a:extLst>
                    <a:ext uri="{9D8B030D-6E8A-4147-A177-3AD203B41FA5}">
                      <a16:colId xmlns:a16="http://schemas.microsoft.com/office/drawing/2014/main" val="3008530342"/>
                    </a:ext>
                  </a:extLst>
                </a:gridCol>
                <a:gridCol w="2103120">
                  <a:extLst>
                    <a:ext uri="{9D8B030D-6E8A-4147-A177-3AD203B41FA5}">
                      <a16:colId xmlns:a16="http://schemas.microsoft.com/office/drawing/2014/main" val="1202563772"/>
                    </a:ext>
                  </a:extLst>
                </a:gridCol>
                <a:gridCol w="2103120">
                  <a:extLst>
                    <a:ext uri="{9D8B030D-6E8A-4147-A177-3AD203B41FA5}">
                      <a16:colId xmlns:a16="http://schemas.microsoft.com/office/drawing/2014/main" val="532146910"/>
                    </a:ext>
                  </a:extLst>
                </a:gridCol>
                <a:gridCol w="2103120">
                  <a:extLst>
                    <a:ext uri="{9D8B030D-6E8A-4147-A177-3AD203B41FA5}">
                      <a16:colId xmlns:a16="http://schemas.microsoft.com/office/drawing/2014/main" val="652981527"/>
                    </a:ext>
                  </a:extLst>
                </a:gridCol>
                <a:gridCol w="2103120">
                  <a:extLst>
                    <a:ext uri="{9D8B030D-6E8A-4147-A177-3AD203B41FA5}">
                      <a16:colId xmlns:a16="http://schemas.microsoft.com/office/drawing/2014/main" val="3690995626"/>
                    </a:ext>
                  </a:extLst>
                </a:gridCol>
              </a:tblGrid>
              <a:tr h="0">
                <a:tc>
                  <a:txBody>
                    <a:bodyPr/>
                    <a:lstStyle/>
                    <a:p>
                      <a:r>
                        <a:rPr lang="en-US" b="1"/>
                        <a:t>Stablecoin</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Issuer / Manager</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Blockchain(s)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Market Cap</a:t>
                      </a:r>
                      <a:r>
                        <a:rPr lang="en-US" b="1" baseline="30000" dirty="0"/>
                        <a:t>*</a:t>
                      </a:r>
                      <a:r>
                        <a:rPr lang="en-US" b="1" dirty="0"/>
                        <a:t> (Approx.)</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Companion Token(s)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8360875"/>
                  </a:ext>
                </a:extLst>
              </a:tr>
              <a:tr h="0">
                <a:tc>
                  <a:txBody>
                    <a:bodyPr/>
                    <a:lstStyle/>
                    <a:p>
                      <a:r>
                        <a:rPr lang="en-US" b="1" dirty="0" err="1"/>
                        <a:t>TerraUSD</a:t>
                      </a:r>
                      <a:r>
                        <a:rPr lang="en-US" b="1" dirty="0"/>
                        <a:t> (UST)</a:t>
                      </a:r>
                    </a:p>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Terraform Labs (community‑run)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Terra (LUNA Classic)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~$89 M </a:t>
                      </a:r>
                      <a:r>
                        <a:rPr lang="en-US" i="1" dirty="0"/>
                        <a:t>(pre-collapse, 2022)</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LUNA</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6774843"/>
                  </a:ext>
                </a:extLst>
              </a:tr>
              <a:tr h="0">
                <a:tc>
                  <a:txBody>
                    <a:bodyPr/>
                    <a:lstStyle/>
                    <a:p>
                      <a:r>
                        <a:rPr lang="en-US" b="1"/>
                        <a:t>Empty Set Dollar (ESD)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Empty Set community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Ethereum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&lt;$1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ESD Shares (ESHARE)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7503413"/>
                  </a:ext>
                </a:extLst>
              </a:tr>
              <a:tr h="0">
                <a:tc>
                  <a:txBody>
                    <a:bodyPr/>
                    <a:lstStyle/>
                    <a:p>
                      <a:r>
                        <a:rPr lang="en-US" b="1"/>
                        <a:t>Dynamic Set Dollar (DSD)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Community‑run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Ethereum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&lt;$1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DSD Shares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9490095"/>
                  </a:ext>
                </a:extLst>
              </a:tr>
              <a:tr h="0">
                <a:tc>
                  <a:txBody>
                    <a:bodyPr/>
                    <a:lstStyle/>
                    <a:p>
                      <a:r>
                        <a:rPr lang="en-US" b="1"/>
                        <a:t>Basis Cash (BAC)</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Anonymous devs (Basis clone)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Ethereum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&lt;$1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Basis Shares (BAS)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3760147"/>
                  </a:ext>
                </a:extLst>
              </a:tr>
            </a:tbl>
          </a:graphicData>
        </a:graphic>
      </p:graphicFrame>
    </p:spTree>
    <p:extLst>
      <p:ext uri="{BB962C8B-B14F-4D97-AF65-F5344CB8AC3E}">
        <p14:creationId xmlns:p14="http://schemas.microsoft.com/office/powerpoint/2010/main" val="2238454068"/>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Stablecoin</a:t>
            </a:r>
            <a:r>
              <a:rPr lang="en-US" dirty="0"/>
              <a:t> - Hybrid</a:t>
            </a:r>
          </a:p>
        </p:txBody>
      </p:sp>
      <p:sp>
        <p:nvSpPr>
          <p:cNvPr id="3" name="Content Placeholder 2"/>
          <p:cNvSpPr>
            <a:spLocks noGrp="1"/>
          </p:cNvSpPr>
          <p:nvPr>
            <p:ph idx="1"/>
          </p:nvPr>
        </p:nvSpPr>
        <p:spPr/>
        <p:txBody>
          <a:bodyPr/>
          <a:lstStyle/>
          <a:p>
            <a:r>
              <a:rPr lang="en-US" b="1" dirty="0"/>
              <a:t>Combines Multiple Mechanisms: </a:t>
            </a:r>
            <a:r>
              <a:rPr lang="en-US" dirty="0"/>
              <a:t>Uses</a:t>
            </a:r>
            <a:r>
              <a:rPr lang="en-US" b="1" dirty="0"/>
              <a:t> </a:t>
            </a:r>
            <a:r>
              <a:rPr lang="en-US" dirty="0"/>
              <a:t>a mix of fiat-backed, crypto-backed, non-currency asset-backed, and/or algorithmic methods for stabilization</a:t>
            </a:r>
          </a:p>
          <a:p>
            <a:r>
              <a:rPr lang="en-US" b="1" dirty="0"/>
              <a:t>Decentralized and Centralized Components: </a:t>
            </a:r>
            <a:r>
              <a:rPr lang="en-US" dirty="0"/>
              <a:t>Often combines centralized custodianship of reserves with decentralized smart contracts for automation</a:t>
            </a:r>
          </a:p>
          <a:p>
            <a:r>
              <a:rPr lang="en-US" b="1" dirty="0"/>
              <a:t>Collateralization: </a:t>
            </a:r>
            <a:r>
              <a:rPr lang="en-US" dirty="0"/>
              <a:t>May be partially collateralized (e.g., less than 100%) and rely on algorithmic supply adjustments to maintain the peg</a:t>
            </a:r>
          </a:p>
          <a:p>
            <a:r>
              <a:rPr lang="en-US" b="1" dirty="0"/>
              <a:t>Oracle Dependence: </a:t>
            </a:r>
            <a:r>
              <a:rPr lang="en-US" dirty="0"/>
              <a:t>Relies on </a:t>
            </a:r>
            <a:r>
              <a:rPr lang="en-US" dirty="0" err="1"/>
              <a:t>blockchain</a:t>
            </a:r>
            <a:r>
              <a:rPr lang="en-US" dirty="0"/>
              <a:t> oracles for price feeds to monitor peg deviations and trigger supply adjustments</a:t>
            </a:r>
          </a:p>
        </p:txBody>
      </p:sp>
      <p:sp>
        <p:nvSpPr>
          <p:cNvPr id="4" name="Slide Number Placeholder 3"/>
          <p:cNvSpPr>
            <a:spLocks noGrp="1"/>
          </p:cNvSpPr>
          <p:nvPr>
            <p:ph type="sldNum" sz="quarter" idx="12"/>
          </p:nvPr>
        </p:nvSpPr>
        <p:spPr/>
        <p:txBody>
          <a:bodyPr/>
          <a:lstStyle/>
          <a:p>
            <a:fld id="{123BC241-7286-4066-AAE4-0801D26EA29E}" type="slidenum">
              <a:rPr lang="aa-ET" smtClean="0"/>
              <a:t>26</a:t>
            </a:fld>
            <a:endParaRPr lang="aa-ET"/>
          </a:p>
        </p:txBody>
      </p:sp>
    </p:spTree>
    <p:extLst>
      <p:ext uri="{BB962C8B-B14F-4D97-AF65-F5344CB8AC3E}">
        <p14:creationId xmlns:p14="http://schemas.microsoft.com/office/powerpoint/2010/main" val="150622653"/>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Stablecoin</a:t>
            </a:r>
            <a:r>
              <a:rPr lang="en-US" dirty="0"/>
              <a:t> - Hybrid</a:t>
            </a:r>
          </a:p>
        </p:txBody>
      </p:sp>
      <p:sp>
        <p:nvSpPr>
          <p:cNvPr id="3" name="Content Placeholder 2"/>
          <p:cNvSpPr>
            <a:spLocks noGrp="1"/>
          </p:cNvSpPr>
          <p:nvPr>
            <p:ph idx="1"/>
          </p:nvPr>
        </p:nvSpPr>
        <p:spPr/>
        <p:txBody>
          <a:bodyPr/>
          <a:lstStyle/>
          <a:p>
            <a:pPr marL="0" indent="0">
              <a:buNone/>
            </a:pPr>
            <a:r>
              <a:rPr lang="en-US" b="1" dirty="0"/>
              <a:t>Stability Mechanism</a:t>
            </a:r>
          </a:p>
          <a:p>
            <a:r>
              <a:rPr lang="en-US" dirty="0"/>
              <a:t>Stability is maintained through:</a:t>
            </a:r>
          </a:p>
          <a:p>
            <a:pPr lvl="1"/>
            <a:r>
              <a:rPr lang="en-US" dirty="0"/>
              <a:t>Partial collateral backing</a:t>
            </a:r>
          </a:p>
          <a:p>
            <a:pPr lvl="1"/>
            <a:r>
              <a:rPr lang="en-US" dirty="0"/>
              <a:t>Algorithmic expansion and contraction of supply</a:t>
            </a:r>
          </a:p>
          <a:p>
            <a:pPr lvl="1"/>
            <a:r>
              <a:rPr lang="en-US" dirty="0"/>
              <a:t>Incentives for arbitrage when price deviates from peg</a:t>
            </a:r>
          </a:p>
        </p:txBody>
      </p:sp>
      <p:sp>
        <p:nvSpPr>
          <p:cNvPr id="4" name="Slide Number Placeholder 3"/>
          <p:cNvSpPr>
            <a:spLocks noGrp="1"/>
          </p:cNvSpPr>
          <p:nvPr>
            <p:ph type="sldNum" sz="quarter" idx="12"/>
          </p:nvPr>
        </p:nvSpPr>
        <p:spPr/>
        <p:txBody>
          <a:bodyPr/>
          <a:lstStyle/>
          <a:p>
            <a:fld id="{123BC241-7286-4066-AAE4-0801D26EA29E}" type="slidenum">
              <a:rPr lang="aa-ET" smtClean="0"/>
              <a:t>27</a:t>
            </a:fld>
            <a:endParaRPr lang="aa-ET"/>
          </a:p>
        </p:txBody>
      </p:sp>
    </p:spTree>
    <p:extLst>
      <p:ext uri="{BB962C8B-B14F-4D97-AF65-F5344CB8AC3E}">
        <p14:creationId xmlns:p14="http://schemas.microsoft.com/office/powerpoint/2010/main" val="3537369098"/>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Stablecoin</a:t>
            </a:r>
            <a:r>
              <a:rPr lang="en-US"/>
              <a:t> – Private Institutional</a:t>
            </a:r>
          </a:p>
        </p:txBody>
      </p:sp>
      <p:sp>
        <p:nvSpPr>
          <p:cNvPr id="3" name="Content Placeholder 2"/>
          <p:cNvSpPr>
            <a:spLocks noGrp="1"/>
          </p:cNvSpPr>
          <p:nvPr>
            <p:ph idx="1"/>
          </p:nvPr>
        </p:nvSpPr>
        <p:spPr/>
        <p:txBody>
          <a:bodyPr vert="horz" lIns="91438" tIns="45719" rIns="91438" bIns="45719" rtlCol="0" anchor="t">
            <a:normAutofit/>
          </a:bodyPr>
          <a:lstStyle/>
          <a:p>
            <a:pPr marL="227965" indent="-227965"/>
            <a:r>
              <a:rPr lang="en-US" b="1" dirty="0"/>
              <a:t>Closed Ecosystem: </a:t>
            </a:r>
            <a:r>
              <a:rPr lang="en-US" dirty="0"/>
              <a:t>Issued and used exclusively within a private blockchain network managed by a single institution</a:t>
            </a:r>
          </a:p>
          <a:p>
            <a:r>
              <a:rPr lang="en-US" b="1" dirty="0"/>
              <a:t>Customer Transactions Only: </a:t>
            </a:r>
            <a:r>
              <a:rPr lang="en-US" dirty="0"/>
              <a:t>Accessible only to the institution’s customers for internal account transfers and payments</a:t>
            </a:r>
          </a:p>
          <a:p>
            <a:r>
              <a:rPr lang="en-US" b="1" dirty="0"/>
              <a:t>Not Publicly Traded: </a:t>
            </a:r>
            <a:r>
              <a:rPr lang="en-US" dirty="0"/>
              <a:t>Cannot be traded on public cryptocurrency markets or between external parties</a:t>
            </a:r>
          </a:p>
          <a:p>
            <a:pPr marL="227965" indent="-227965"/>
            <a:r>
              <a:rPr lang="en-US" b="1" dirty="0"/>
              <a:t>Management &amp; Control: </a:t>
            </a:r>
            <a:endParaRPr lang="en-US" b="1" dirty="0">
              <a:ea typeface="Calibri"/>
              <a:cs typeface="Calibri"/>
            </a:endParaRPr>
          </a:p>
          <a:p>
            <a:pPr lvl="1"/>
            <a:r>
              <a:rPr lang="en-US" dirty="0"/>
              <a:t>Centralized management by the issuing institution</a:t>
            </a:r>
          </a:p>
          <a:p>
            <a:pPr lvl="1"/>
            <a:r>
              <a:rPr lang="en-US" dirty="0"/>
              <a:t>Full control over supply, redemption, and user access</a:t>
            </a:r>
          </a:p>
          <a:p>
            <a:pPr marL="0" indent="0">
              <a:buNone/>
            </a:pPr>
            <a:endParaRPr lang="en-US" dirty="0"/>
          </a:p>
        </p:txBody>
      </p:sp>
      <p:sp>
        <p:nvSpPr>
          <p:cNvPr id="4" name="Slide Number Placeholder 3"/>
          <p:cNvSpPr>
            <a:spLocks noGrp="1"/>
          </p:cNvSpPr>
          <p:nvPr>
            <p:ph type="sldNum" sz="quarter" idx="12"/>
          </p:nvPr>
        </p:nvSpPr>
        <p:spPr/>
        <p:txBody>
          <a:bodyPr/>
          <a:lstStyle/>
          <a:p>
            <a:fld id="{123BC241-7286-4066-AAE4-0801D26EA29E}" type="slidenum">
              <a:rPr lang="aa-ET" smtClean="0"/>
              <a:t>28</a:t>
            </a:fld>
            <a:endParaRPr lang="aa-ET"/>
          </a:p>
        </p:txBody>
      </p:sp>
      <p:pic>
        <p:nvPicPr>
          <p:cNvPr id="5" name="Picture 4" descr="A bank vault with a safe and people&#10;&#10;AI-generated content may be incorrect.">
            <a:extLst>
              <a:ext uri="{FF2B5EF4-FFF2-40B4-BE49-F238E27FC236}">
                <a16:creationId xmlns:a16="http://schemas.microsoft.com/office/drawing/2014/main" id="{AC2166AE-57F1-91B5-EBAA-2B0D6C1127F8}"/>
              </a:ext>
            </a:extLst>
          </p:cNvPr>
          <p:cNvPicPr>
            <a:picLocks noChangeAspect="1"/>
          </p:cNvPicPr>
          <p:nvPr/>
        </p:nvPicPr>
        <p:blipFill>
          <a:blip r:embed="rId2"/>
          <a:stretch>
            <a:fillRect/>
          </a:stretch>
        </p:blipFill>
        <p:spPr>
          <a:xfrm>
            <a:off x="9026141" y="3648075"/>
            <a:ext cx="2550293" cy="2847975"/>
          </a:xfrm>
          <a:prstGeom prst="rect">
            <a:avLst/>
          </a:prstGeom>
        </p:spPr>
      </p:pic>
    </p:spTree>
    <p:extLst>
      <p:ext uri="{BB962C8B-B14F-4D97-AF65-F5344CB8AC3E}">
        <p14:creationId xmlns:p14="http://schemas.microsoft.com/office/powerpoint/2010/main" val="3007236504"/>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Stablecoin</a:t>
            </a:r>
            <a:r>
              <a:rPr lang="en-US"/>
              <a:t> – Private Institutional</a:t>
            </a:r>
          </a:p>
        </p:txBody>
      </p:sp>
      <p:sp>
        <p:nvSpPr>
          <p:cNvPr id="3" name="Content Placeholder 2"/>
          <p:cNvSpPr>
            <a:spLocks noGrp="1"/>
          </p:cNvSpPr>
          <p:nvPr>
            <p:ph idx="1"/>
          </p:nvPr>
        </p:nvSpPr>
        <p:spPr/>
        <p:txBody>
          <a:bodyPr>
            <a:normAutofit/>
          </a:bodyPr>
          <a:lstStyle/>
          <a:p>
            <a:pPr marL="0" indent="0">
              <a:buNone/>
            </a:pPr>
            <a:r>
              <a:rPr lang="en-US" b="1" dirty="0"/>
              <a:t>Stability Mechanism</a:t>
            </a:r>
          </a:p>
          <a:p>
            <a:r>
              <a:rPr lang="en-US" dirty="0"/>
              <a:t>Pegged to a fiat currency or other reserve asset</a:t>
            </a:r>
          </a:p>
          <a:p>
            <a:r>
              <a:rPr lang="en-US" dirty="0"/>
              <a:t>Fully backed by institutional reserves held off-chain</a:t>
            </a:r>
          </a:p>
          <a:p>
            <a:pPr marL="0" indent="0">
              <a:buNone/>
            </a:pPr>
            <a:r>
              <a:rPr lang="en-US" b="1" dirty="0"/>
              <a:t>Examples</a:t>
            </a:r>
          </a:p>
          <a:p>
            <a:r>
              <a:rPr lang="en-US" dirty="0"/>
              <a:t>JPM Coin (issued by JPMorgan Chase)</a:t>
            </a:r>
          </a:p>
          <a:p>
            <a:r>
              <a:rPr lang="en-US" dirty="0"/>
              <a:t>Wells Fargo Digital Cash (pilot project)</a:t>
            </a:r>
          </a:p>
          <a:p>
            <a:pPr marL="0" indent="0">
              <a:buNone/>
            </a:pPr>
            <a:r>
              <a:rPr lang="en-US" b="1" dirty="0"/>
              <a:t>Primary Use Case</a:t>
            </a:r>
            <a:r>
              <a:rPr lang="en-US" dirty="0"/>
              <a:t> </a:t>
            </a:r>
          </a:p>
          <a:p>
            <a:r>
              <a:rPr lang="en-US" dirty="0"/>
              <a:t>Improved settlement efficiency, transparency, and cost savings for institutional clients</a:t>
            </a:r>
          </a:p>
          <a:p>
            <a:endParaRPr lang="en-US" dirty="0"/>
          </a:p>
          <a:p>
            <a:endParaRPr lang="en-US" dirty="0"/>
          </a:p>
        </p:txBody>
      </p:sp>
      <p:sp>
        <p:nvSpPr>
          <p:cNvPr id="4" name="Slide Number Placeholder 3"/>
          <p:cNvSpPr>
            <a:spLocks noGrp="1"/>
          </p:cNvSpPr>
          <p:nvPr>
            <p:ph type="sldNum" sz="quarter" idx="12"/>
          </p:nvPr>
        </p:nvSpPr>
        <p:spPr/>
        <p:txBody>
          <a:bodyPr/>
          <a:lstStyle/>
          <a:p>
            <a:fld id="{123BC241-7286-4066-AAE4-0801D26EA29E}" type="slidenum">
              <a:rPr lang="aa-ET" smtClean="0"/>
              <a:t>29</a:t>
            </a:fld>
            <a:endParaRPr lang="aa-ET"/>
          </a:p>
        </p:txBody>
      </p:sp>
    </p:spTree>
    <p:extLst>
      <p:ext uri="{BB962C8B-B14F-4D97-AF65-F5344CB8AC3E}">
        <p14:creationId xmlns:p14="http://schemas.microsoft.com/office/powerpoint/2010/main" val="388407840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Institutional Settlement Example: JPM Coin</a:t>
            </a:r>
          </a:p>
        </p:txBody>
      </p:sp>
      <p:sp>
        <p:nvSpPr>
          <p:cNvPr id="3" name="Content Placeholder 2"/>
          <p:cNvSpPr>
            <a:spLocks noGrp="1"/>
          </p:cNvSpPr>
          <p:nvPr>
            <p:ph idx="1"/>
          </p:nvPr>
        </p:nvSpPr>
        <p:spPr/>
        <p:txBody>
          <a:bodyPr>
            <a:normAutofit lnSpcReduction="10000"/>
          </a:bodyPr>
          <a:lstStyle/>
          <a:p>
            <a:r>
              <a:rPr lang="en-US" b="1" dirty="0"/>
              <a:t>Scenario</a:t>
            </a:r>
          </a:p>
          <a:p>
            <a:pPr lvl="1"/>
            <a:r>
              <a:rPr lang="en-US" dirty="0"/>
              <a:t>Company A needs to pay Company B $3M for goods.</a:t>
            </a:r>
          </a:p>
          <a:p>
            <a:pPr lvl="1"/>
            <a:r>
              <a:rPr lang="en-US" dirty="0"/>
              <a:t>Both have accounts with JPMorgan Chase</a:t>
            </a:r>
          </a:p>
          <a:p>
            <a:r>
              <a:rPr lang="en-US" b="1" dirty="0"/>
              <a:t>Traditional Settlement</a:t>
            </a:r>
          </a:p>
          <a:p>
            <a:pPr lvl="1"/>
            <a:r>
              <a:rPr lang="en-US" dirty="0"/>
              <a:t>Uses SWIFT/</a:t>
            </a:r>
            <a:r>
              <a:rPr lang="en-US" dirty="0" err="1"/>
              <a:t>Fedwire</a:t>
            </a:r>
            <a:endParaRPr lang="en-US" dirty="0"/>
          </a:p>
          <a:p>
            <a:pPr lvl="1"/>
            <a:r>
              <a:rPr lang="en-US" dirty="0"/>
              <a:t>Takes hours or even a full business day</a:t>
            </a:r>
          </a:p>
          <a:p>
            <a:pPr lvl="1"/>
            <a:r>
              <a:rPr lang="en-US" dirty="0"/>
              <a:t>Involves intermediaries, higher fees, and manual reconciliation</a:t>
            </a:r>
          </a:p>
          <a:p>
            <a:r>
              <a:rPr lang="en-US" b="1" dirty="0"/>
              <a:t>With JPM Coin </a:t>
            </a:r>
            <a:r>
              <a:rPr lang="en-US" dirty="0"/>
              <a:t>- Instant settlement on JPMorgan’s private </a:t>
            </a:r>
            <a:r>
              <a:rPr lang="en-US" dirty="0" err="1"/>
              <a:t>blockchain</a:t>
            </a:r>
            <a:r>
              <a:rPr lang="en-US" dirty="0"/>
              <a:t>:</a:t>
            </a:r>
          </a:p>
          <a:p>
            <a:pPr marL="914389" lvl="1" indent="-457200">
              <a:buFont typeface="+mj-lt"/>
              <a:buAutoNum type="arabicPeriod"/>
            </a:pPr>
            <a:r>
              <a:rPr lang="en-US" dirty="0"/>
              <a:t>Company A converts $5M into JPM Coin</a:t>
            </a:r>
          </a:p>
          <a:p>
            <a:pPr marL="914389" lvl="1" indent="-457200">
              <a:buFont typeface="+mj-lt"/>
              <a:buAutoNum type="arabicPeriod"/>
            </a:pPr>
            <a:r>
              <a:rPr lang="en-US" dirty="0"/>
              <a:t>Transfers JPM Coin to Company B instantly</a:t>
            </a:r>
          </a:p>
          <a:p>
            <a:pPr marL="914389" lvl="1" indent="-457200">
              <a:buFont typeface="+mj-lt"/>
              <a:buAutoNum type="arabicPeriod"/>
            </a:pPr>
            <a:r>
              <a:rPr lang="en-US" dirty="0"/>
              <a:t>Company B redeems JPM Coin for USD</a:t>
            </a:r>
          </a:p>
          <a:p>
            <a:pPr marL="914389" lvl="1" indent="-457200">
              <a:buFont typeface="+mj-lt"/>
              <a:buAutoNum type="arabicPeriod"/>
            </a:pPr>
            <a:r>
              <a:rPr lang="en-US" dirty="0"/>
              <a:t>Settlement completed in seconds, 24/7</a:t>
            </a:r>
            <a:endParaRPr lang="en-US" b="1" dirty="0"/>
          </a:p>
          <a:p>
            <a:pPr marL="457189" lvl="1" indent="0">
              <a:buNone/>
            </a:pPr>
            <a:endParaRPr lang="en-US" b="1" dirty="0"/>
          </a:p>
        </p:txBody>
      </p:sp>
      <p:sp>
        <p:nvSpPr>
          <p:cNvPr id="4" name="Slide Number Placeholder 3"/>
          <p:cNvSpPr>
            <a:spLocks noGrp="1"/>
          </p:cNvSpPr>
          <p:nvPr>
            <p:ph type="sldNum" sz="quarter" idx="12"/>
          </p:nvPr>
        </p:nvSpPr>
        <p:spPr/>
        <p:txBody>
          <a:bodyPr/>
          <a:lstStyle/>
          <a:p>
            <a:fld id="{123BC241-7286-4066-AAE4-0801D26EA29E}" type="slidenum">
              <a:rPr lang="aa-ET" smtClean="0"/>
              <a:t>30</a:t>
            </a:fld>
            <a:endParaRPr lang="aa-ET"/>
          </a:p>
        </p:txBody>
      </p:sp>
    </p:spTree>
    <p:extLst>
      <p:ext uri="{BB962C8B-B14F-4D97-AF65-F5344CB8AC3E}">
        <p14:creationId xmlns:p14="http://schemas.microsoft.com/office/powerpoint/2010/main" val="229385671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3C80D-C227-E37A-F09A-B84EC705748A}"/>
            </a:ext>
          </a:extLst>
        </p:cNvPr>
        <p:cNvGrpSpPr/>
        <p:nvPr/>
      </p:nvGrpSpPr>
      <p:grpSpPr>
        <a:xfrm>
          <a:off x="0" y="0"/>
          <a:ext cx="0" cy="0"/>
          <a:chOff x="0" y="0"/>
          <a:chExt cx="0" cy="0"/>
        </a:xfrm>
      </p:grpSpPr>
      <p:sp>
        <p:nvSpPr>
          <p:cNvPr id="34" name="Freeform 31"/>
          <p:cNvSpPr/>
          <p:nvPr/>
        </p:nvSpPr>
        <p:spPr>
          <a:xfrm>
            <a:off x="10141397" y="1928231"/>
            <a:ext cx="1792942" cy="2197331"/>
          </a:xfrm>
          <a:custGeom>
            <a:avLst/>
            <a:gdLst/>
            <a:ahLst/>
            <a:cxnLst/>
            <a:rect l="l" t="t" r="r" b="b"/>
            <a:pathLst>
              <a:path w="2689413" h="3295997">
                <a:moveTo>
                  <a:pt x="0" y="0"/>
                </a:moveTo>
                <a:lnTo>
                  <a:pt x="2689413" y="0"/>
                </a:lnTo>
                <a:lnTo>
                  <a:pt x="2689413" y="3295997"/>
                </a:lnTo>
                <a:lnTo>
                  <a:pt x="0" y="3295997"/>
                </a:lnTo>
                <a:lnTo>
                  <a:pt x="0" y="0"/>
                </a:lnTo>
                <a:close/>
              </a:path>
            </a:pathLst>
          </a:custGeom>
          <a:blipFill>
            <a:blip r:embed="rId2"/>
            <a:stretch>
              <a:fillRect t="-957" b="-957"/>
            </a:stretch>
          </a:blipFill>
        </p:spPr>
        <p:txBody>
          <a:bodyPr/>
          <a:lstStyle/>
          <a:p>
            <a:endParaRPr lang="en-PK"/>
          </a:p>
        </p:txBody>
      </p:sp>
      <p:sp>
        <p:nvSpPr>
          <p:cNvPr id="2" name="Title 1">
            <a:extLst>
              <a:ext uri="{FF2B5EF4-FFF2-40B4-BE49-F238E27FC236}">
                <a16:creationId xmlns:a16="http://schemas.microsoft.com/office/drawing/2014/main" id="{C60D6360-FEE4-88A5-5A84-91C8AF4321CB}"/>
              </a:ext>
            </a:extLst>
          </p:cNvPr>
          <p:cNvSpPr>
            <a:spLocks noGrp="1"/>
          </p:cNvSpPr>
          <p:nvPr>
            <p:ph type="title"/>
          </p:nvPr>
        </p:nvSpPr>
        <p:spPr/>
        <p:txBody>
          <a:bodyPr/>
          <a:lstStyle/>
          <a:p>
            <a:r>
              <a:rPr lang="en-US"/>
              <a:t>Institutional Settlement Example: JPM Coin</a:t>
            </a:r>
          </a:p>
        </p:txBody>
      </p:sp>
      <p:sp>
        <p:nvSpPr>
          <p:cNvPr id="4" name="Freeform 2"/>
          <p:cNvSpPr/>
          <p:nvPr/>
        </p:nvSpPr>
        <p:spPr>
          <a:xfrm>
            <a:off x="4978969" y="1679629"/>
            <a:ext cx="2636803" cy="2907096"/>
          </a:xfrm>
          <a:custGeom>
            <a:avLst/>
            <a:gdLst/>
            <a:ahLst/>
            <a:cxnLst/>
            <a:rect l="l" t="t" r="r" b="b"/>
            <a:pathLst>
              <a:path w="3955204" h="4360644">
                <a:moveTo>
                  <a:pt x="0" y="0"/>
                </a:moveTo>
                <a:lnTo>
                  <a:pt x="3955205" y="0"/>
                </a:lnTo>
                <a:lnTo>
                  <a:pt x="3955205" y="4360645"/>
                </a:lnTo>
                <a:lnTo>
                  <a:pt x="0" y="4360645"/>
                </a:lnTo>
                <a:lnTo>
                  <a:pt x="0" y="0"/>
                </a:lnTo>
                <a:close/>
              </a:path>
            </a:pathLst>
          </a:custGeom>
          <a:blipFill>
            <a:blip r:embed="rId3"/>
            <a:stretch>
              <a:fillRect l="-42498" t="-36298" r="-42075" b="-31113"/>
            </a:stretch>
          </a:blipFill>
        </p:spPr>
        <p:txBody>
          <a:bodyPr/>
          <a:lstStyle/>
          <a:p>
            <a:endParaRPr lang="en-PK"/>
          </a:p>
        </p:txBody>
      </p:sp>
      <p:grpSp>
        <p:nvGrpSpPr>
          <p:cNvPr id="5" name="Group 3"/>
          <p:cNvGrpSpPr/>
          <p:nvPr/>
        </p:nvGrpSpPr>
        <p:grpSpPr>
          <a:xfrm>
            <a:off x="5632739" y="2636142"/>
            <a:ext cx="1424660" cy="1345613"/>
            <a:chOff x="0" y="0"/>
            <a:chExt cx="1457466" cy="1376599"/>
          </a:xfrm>
        </p:grpSpPr>
        <p:sp>
          <p:nvSpPr>
            <p:cNvPr id="7" name="Freeform 4"/>
            <p:cNvSpPr/>
            <p:nvPr/>
          </p:nvSpPr>
          <p:spPr>
            <a:xfrm>
              <a:off x="0" y="0"/>
              <a:ext cx="1457466" cy="1376599"/>
            </a:xfrm>
            <a:custGeom>
              <a:avLst/>
              <a:gdLst/>
              <a:ahLst/>
              <a:cxnLst/>
              <a:rect l="l" t="t" r="r" b="b"/>
              <a:pathLst>
                <a:path w="1457466" h="1376599">
                  <a:moveTo>
                    <a:pt x="0" y="0"/>
                  </a:moveTo>
                  <a:lnTo>
                    <a:pt x="1457466" y="0"/>
                  </a:lnTo>
                  <a:lnTo>
                    <a:pt x="1457466" y="1376599"/>
                  </a:lnTo>
                  <a:lnTo>
                    <a:pt x="0" y="1376599"/>
                  </a:lnTo>
                  <a:close/>
                </a:path>
              </a:pathLst>
            </a:custGeom>
            <a:solidFill>
              <a:srgbClr val="FFFFFF"/>
            </a:solidFill>
            <a:ln cap="sq">
              <a:noFill/>
              <a:prstDash val="sysDot"/>
              <a:miter/>
            </a:ln>
          </p:spPr>
          <p:txBody>
            <a:bodyPr/>
            <a:lstStyle/>
            <a:p>
              <a:endParaRPr lang="en-PK"/>
            </a:p>
          </p:txBody>
        </p:sp>
        <p:sp>
          <p:nvSpPr>
            <p:cNvPr id="8" name="TextBox 5"/>
            <p:cNvSpPr txBox="1"/>
            <p:nvPr/>
          </p:nvSpPr>
          <p:spPr>
            <a:xfrm>
              <a:off x="0" y="-38100"/>
              <a:ext cx="1457466" cy="1414699"/>
            </a:xfrm>
            <a:prstGeom prst="rect">
              <a:avLst/>
            </a:prstGeom>
          </p:spPr>
          <p:txBody>
            <a:bodyPr lIns="26824" tIns="26824" rIns="26824" bIns="26824" rtlCol="0" anchor="ctr"/>
            <a:lstStyle/>
            <a:p>
              <a:pPr algn="ctr">
                <a:lnSpc>
                  <a:spcPts val="1773"/>
                </a:lnSpc>
                <a:spcBef>
                  <a:spcPct val="0"/>
                </a:spcBef>
              </a:pPr>
              <a:endParaRPr sz="1267"/>
            </a:p>
          </p:txBody>
        </p:sp>
      </p:grpSp>
      <p:sp>
        <p:nvSpPr>
          <p:cNvPr id="9" name="Freeform 6"/>
          <p:cNvSpPr/>
          <p:nvPr/>
        </p:nvSpPr>
        <p:spPr>
          <a:xfrm>
            <a:off x="6145982" y="2669040"/>
            <a:ext cx="398175" cy="388763"/>
          </a:xfrm>
          <a:custGeom>
            <a:avLst/>
            <a:gdLst/>
            <a:ahLst/>
            <a:cxnLst/>
            <a:rect l="l" t="t" r="r" b="b"/>
            <a:pathLst>
              <a:path w="597262" h="583145">
                <a:moveTo>
                  <a:pt x="0" y="0"/>
                </a:moveTo>
                <a:lnTo>
                  <a:pt x="597262" y="0"/>
                </a:lnTo>
                <a:lnTo>
                  <a:pt x="597262" y="583145"/>
                </a:lnTo>
                <a:lnTo>
                  <a:pt x="0" y="58314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PK"/>
          </a:p>
        </p:txBody>
      </p:sp>
      <p:sp>
        <p:nvSpPr>
          <p:cNvPr id="10" name="Freeform 7"/>
          <p:cNvSpPr/>
          <p:nvPr/>
        </p:nvSpPr>
        <p:spPr>
          <a:xfrm>
            <a:off x="6166337" y="2691590"/>
            <a:ext cx="92770" cy="92770"/>
          </a:xfrm>
          <a:custGeom>
            <a:avLst/>
            <a:gdLst/>
            <a:ahLst/>
            <a:cxnLst/>
            <a:rect l="l" t="t" r="r" b="b"/>
            <a:pathLst>
              <a:path w="139155" h="139155">
                <a:moveTo>
                  <a:pt x="0" y="0"/>
                </a:moveTo>
                <a:lnTo>
                  <a:pt x="139155" y="0"/>
                </a:lnTo>
                <a:lnTo>
                  <a:pt x="139155" y="139154"/>
                </a:lnTo>
                <a:lnTo>
                  <a:pt x="0" y="13915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sp>
        <p:nvSpPr>
          <p:cNvPr id="11" name="Freeform 8"/>
          <p:cNvSpPr/>
          <p:nvPr/>
        </p:nvSpPr>
        <p:spPr>
          <a:xfrm>
            <a:off x="6259107" y="2691590"/>
            <a:ext cx="87197" cy="87197"/>
          </a:xfrm>
          <a:custGeom>
            <a:avLst/>
            <a:gdLst/>
            <a:ahLst/>
            <a:cxnLst/>
            <a:rect l="l" t="t" r="r" b="b"/>
            <a:pathLst>
              <a:path w="130796" h="130796">
                <a:moveTo>
                  <a:pt x="0" y="0"/>
                </a:moveTo>
                <a:lnTo>
                  <a:pt x="130796" y="0"/>
                </a:lnTo>
                <a:lnTo>
                  <a:pt x="130796" y="130796"/>
                </a:lnTo>
                <a:lnTo>
                  <a:pt x="0" y="13079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sp>
        <p:nvSpPr>
          <p:cNvPr id="12" name="Freeform 9"/>
          <p:cNvSpPr/>
          <p:nvPr/>
        </p:nvSpPr>
        <p:spPr>
          <a:xfrm>
            <a:off x="6035399" y="3182560"/>
            <a:ext cx="619341" cy="526440"/>
          </a:xfrm>
          <a:custGeom>
            <a:avLst/>
            <a:gdLst/>
            <a:ahLst/>
            <a:cxnLst/>
            <a:rect l="l" t="t" r="r" b="b"/>
            <a:pathLst>
              <a:path w="929012" h="789660">
                <a:moveTo>
                  <a:pt x="0" y="0"/>
                </a:moveTo>
                <a:lnTo>
                  <a:pt x="929012" y="0"/>
                </a:lnTo>
                <a:lnTo>
                  <a:pt x="929012" y="789660"/>
                </a:lnTo>
                <a:lnTo>
                  <a:pt x="0" y="789660"/>
                </a:lnTo>
                <a:lnTo>
                  <a:pt x="0" y="0"/>
                </a:lnTo>
                <a:close/>
              </a:path>
            </a:pathLst>
          </a:custGeom>
          <a:blipFill>
            <a:blip r:embed="rId6"/>
            <a:stretch>
              <a:fillRect/>
            </a:stretch>
          </a:blipFill>
        </p:spPr>
        <p:txBody>
          <a:bodyPr/>
          <a:lstStyle/>
          <a:p>
            <a:endParaRPr lang="en-PK"/>
          </a:p>
        </p:txBody>
      </p:sp>
      <p:sp>
        <p:nvSpPr>
          <p:cNvPr id="16" name="Freeform 13"/>
          <p:cNvSpPr/>
          <p:nvPr/>
        </p:nvSpPr>
        <p:spPr>
          <a:xfrm>
            <a:off x="395015" y="2247680"/>
            <a:ext cx="1759245" cy="2197331"/>
          </a:xfrm>
          <a:custGeom>
            <a:avLst/>
            <a:gdLst/>
            <a:ahLst/>
            <a:cxnLst/>
            <a:rect l="l" t="t" r="r" b="b"/>
            <a:pathLst>
              <a:path w="2638867" h="3295997">
                <a:moveTo>
                  <a:pt x="0" y="0"/>
                </a:moveTo>
                <a:lnTo>
                  <a:pt x="2638867" y="0"/>
                </a:lnTo>
                <a:lnTo>
                  <a:pt x="2638867" y="3295997"/>
                </a:lnTo>
                <a:lnTo>
                  <a:pt x="0" y="3295997"/>
                </a:lnTo>
                <a:lnTo>
                  <a:pt x="0" y="0"/>
                </a:lnTo>
                <a:close/>
              </a:path>
            </a:pathLst>
          </a:custGeom>
          <a:blipFill>
            <a:blip r:embed="rId2"/>
            <a:stretch>
              <a:fillRect/>
            </a:stretch>
          </a:blipFill>
        </p:spPr>
        <p:txBody>
          <a:bodyPr/>
          <a:lstStyle/>
          <a:p>
            <a:endParaRPr lang="en-PK"/>
          </a:p>
        </p:txBody>
      </p:sp>
      <p:grpSp>
        <p:nvGrpSpPr>
          <p:cNvPr id="17" name="Group 14"/>
          <p:cNvGrpSpPr/>
          <p:nvPr/>
        </p:nvGrpSpPr>
        <p:grpSpPr>
          <a:xfrm>
            <a:off x="171236" y="4019152"/>
            <a:ext cx="2148614" cy="567573"/>
            <a:chOff x="0" y="0"/>
            <a:chExt cx="848835" cy="224227"/>
          </a:xfrm>
        </p:grpSpPr>
        <p:sp>
          <p:nvSpPr>
            <p:cNvPr id="18" name="Freeform 15"/>
            <p:cNvSpPr/>
            <p:nvPr/>
          </p:nvSpPr>
          <p:spPr>
            <a:xfrm>
              <a:off x="0" y="0"/>
              <a:ext cx="848835" cy="224227"/>
            </a:xfrm>
            <a:custGeom>
              <a:avLst/>
              <a:gdLst/>
              <a:ahLst/>
              <a:cxnLst/>
              <a:rect l="l" t="t" r="r" b="b"/>
              <a:pathLst>
                <a:path w="848835" h="224227">
                  <a:moveTo>
                    <a:pt x="0" y="0"/>
                  </a:moveTo>
                  <a:lnTo>
                    <a:pt x="848835" y="0"/>
                  </a:lnTo>
                  <a:lnTo>
                    <a:pt x="848835" y="224227"/>
                  </a:lnTo>
                  <a:lnTo>
                    <a:pt x="0" y="224227"/>
                  </a:lnTo>
                  <a:close/>
                </a:path>
              </a:pathLst>
            </a:custGeom>
            <a:solidFill>
              <a:srgbClr val="FFFFFF"/>
            </a:solidFill>
          </p:spPr>
          <p:txBody>
            <a:bodyPr/>
            <a:lstStyle/>
            <a:p>
              <a:endParaRPr lang="en-PK"/>
            </a:p>
          </p:txBody>
        </p:sp>
        <p:sp>
          <p:nvSpPr>
            <p:cNvPr id="19" name="TextBox 16"/>
            <p:cNvSpPr txBox="1"/>
            <p:nvPr/>
          </p:nvSpPr>
          <p:spPr>
            <a:xfrm>
              <a:off x="0" y="-38100"/>
              <a:ext cx="848835" cy="262327"/>
            </a:xfrm>
            <a:prstGeom prst="rect">
              <a:avLst/>
            </a:prstGeom>
          </p:spPr>
          <p:txBody>
            <a:bodyPr lIns="33867" tIns="33867" rIns="33867" bIns="33867" rtlCol="0" anchor="ctr"/>
            <a:lstStyle/>
            <a:p>
              <a:pPr algn="ctr">
                <a:lnSpc>
                  <a:spcPts val="1773"/>
                </a:lnSpc>
              </a:pPr>
              <a:endParaRPr sz="1267"/>
            </a:p>
          </p:txBody>
        </p:sp>
      </p:grpSp>
      <p:sp>
        <p:nvSpPr>
          <p:cNvPr id="20" name="AutoShape 17"/>
          <p:cNvSpPr/>
          <p:nvPr/>
        </p:nvSpPr>
        <p:spPr>
          <a:xfrm>
            <a:off x="2319850" y="2957729"/>
            <a:ext cx="2659121" cy="0"/>
          </a:xfrm>
          <a:prstGeom prst="line">
            <a:avLst/>
          </a:prstGeom>
          <a:ln w="38100" cap="flat">
            <a:solidFill>
              <a:srgbClr val="000000"/>
            </a:solidFill>
            <a:prstDash val="solid"/>
            <a:headEnd type="none" w="sm" len="sm"/>
            <a:tailEnd type="triangle" w="lg" len="med"/>
          </a:ln>
        </p:spPr>
        <p:txBody>
          <a:bodyPr/>
          <a:lstStyle/>
          <a:p>
            <a:endParaRPr lang="en-PK"/>
          </a:p>
        </p:txBody>
      </p:sp>
      <p:grpSp>
        <p:nvGrpSpPr>
          <p:cNvPr id="53" name="Group 52"/>
          <p:cNvGrpSpPr/>
          <p:nvPr/>
        </p:nvGrpSpPr>
        <p:grpSpPr>
          <a:xfrm>
            <a:off x="2319850" y="3417203"/>
            <a:ext cx="2659121" cy="850073"/>
            <a:chOff x="2319850" y="3417203"/>
            <a:chExt cx="2659121" cy="850073"/>
          </a:xfrm>
        </p:grpSpPr>
        <p:sp>
          <p:nvSpPr>
            <p:cNvPr id="22" name="AutoShape 19"/>
            <p:cNvSpPr/>
            <p:nvPr/>
          </p:nvSpPr>
          <p:spPr>
            <a:xfrm flipH="1">
              <a:off x="2319850" y="3417203"/>
              <a:ext cx="2659121" cy="0"/>
            </a:xfrm>
            <a:prstGeom prst="line">
              <a:avLst/>
            </a:prstGeom>
            <a:ln w="38100" cap="flat">
              <a:solidFill>
                <a:srgbClr val="000000"/>
              </a:solidFill>
              <a:prstDash val="solid"/>
              <a:headEnd type="none" w="sm" len="sm"/>
              <a:tailEnd type="triangle" w="lg" len="med"/>
            </a:ln>
          </p:spPr>
          <p:txBody>
            <a:bodyPr/>
            <a:lstStyle/>
            <a:p>
              <a:endParaRPr lang="en-PK"/>
            </a:p>
          </p:txBody>
        </p:sp>
        <p:sp>
          <p:nvSpPr>
            <p:cNvPr id="25" name="Freeform 22"/>
            <p:cNvSpPr/>
            <p:nvPr/>
          </p:nvSpPr>
          <p:spPr>
            <a:xfrm>
              <a:off x="2663371" y="3609917"/>
              <a:ext cx="657359" cy="657359"/>
            </a:xfrm>
            <a:custGeom>
              <a:avLst/>
              <a:gdLst/>
              <a:ahLst/>
              <a:cxnLst/>
              <a:rect l="l" t="t" r="r" b="b"/>
              <a:pathLst>
                <a:path w="986038" h="986038">
                  <a:moveTo>
                    <a:pt x="0" y="0"/>
                  </a:moveTo>
                  <a:lnTo>
                    <a:pt x="986038" y="0"/>
                  </a:lnTo>
                  <a:lnTo>
                    <a:pt x="986038" y="986038"/>
                  </a:lnTo>
                  <a:lnTo>
                    <a:pt x="0" y="98603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sp>
          <p:nvSpPr>
            <p:cNvPr id="26" name="Freeform 23"/>
            <p:cNvSpPr/>
            <p:nvPr/>
          </p:nvSpPr>
          <p:spPr>
            <a:xfrm>
              <a:off x="3320730" y="3598119"/>
              <a:ext cx="657359" cy="657359"/>
            </a:xfrm>
            <a:custGeom>
              <a:avLst/>
              <a:gdLst/>
              <a:ahLst/>
              <a:cxnLst/>
              <a:rect l="l" t="t" r="r" b="b"/>
              <a:pathLst>
                <a:path w="986038" h="986038">
                  <a:moveTo>
                    <a:pt x="0" y="0"/>
                  </a:moveTo>
                  <a:lnTo>
                    <a:pt x="986038" y="0"/>
                  </a:lnTo>
                  <a:lnTo>
                    <a:pt x="986038" y="986038"/>
                  </a:lnTo>
                  <a:lnTo>
                    <a:pt x="0" y="98603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sp>
          <p:nvSpPr>
            <p:cNvPr id="27" name="Freeform 24"/>
            <p:cNvSpPr/>
            <p:nvPr/>
          </p:nvSpPr>
          <p:spPr>
            <a:xfrm>
              <a:off x="4023903" y="3598119"/>
              <a:ext cx="657359" cy="657359"/>
            </a:xfrm>
            <a:custGeom>
              <a:avLst/>
              <a:gdLst/>
              <a:ahLst/>
              <a:cxnLst/>
              <a:rect l="l" t="t" r="r" b="b"/>
              <a:pathLst>
                <a:path w="986038" h="986038">
                  <a:moveTo>
                    <a:pt x="0" y="0"/>
                  </a:moveTo>
                  <a:lnTo>
                    <a:pt x="986038" y="0"/>
                  </a:lnTo>
                  <a:lnTo>
                    <a:pt x="986038" y="986038"/>
                  </a:lnTo>
                  <a:lnTo>
                    <a:pt x="0" y="98603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grpSp>
      <p:sp>
        <p:nvSpPr>
          <p:cNvPr id="28" name="Freeform 25"/>
          <p:cNvSpPr/>
          <p:nvPr/>
        </p:nvSpPr>
        <p:spPr>
          <a:xfrm rot="-2559804" flipV="1">
            <a:off x="1670402" y="2861629"/>
            <a:ext cx="3449722" cy="3333294"/>
          </a:xfrm>
          <a:custGeom>
            <a:avLst/>
            <a:gdLst/>
            <a:ahLst/>
            <a:cxnLst/>
            <a:rect l="l" t="t" r="r" b="b"/>
            <a:pathLst>
              <a:path w="5174583" h="4999941">
                <a:moveTo>
                  <a:pt x="0" y="4999941"/>
                </a:moveTo>
                <a:lnTo>
                  <a:pt x="5174584" y="4999941"/>
                </a:lnTo>
                <a:lnTo>
                  <a:pt x="5174584" y="0"/>
                </a:lnTo>
                <a:lnTo>
                  <a:pt x="0" y="0"/>
                </a:lnTo>
                <a:lnTo>
                  <a:pt x="0" y="4999941"/>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PK"/>
          </a:p>
        </p:txBody>
      </p:sp>
      <p:sp>
        <p:nvSpPr>
          <p:cNvPr id="29" name="Freeform 26"/>
          <p:cNvSpPr/>
          <p:nvPr/>
        </p:nvSpPr>
        <p:spPr>
          <a:xfrm>
            <a:off x="2617557" y="5514841"/>
            <a:ext cx="657359" cy="657359"/>
          </a:xfrm>
          <a:custGeom>
            <a:avLst/>
            <a:gdLst/>
            <a:ahLst/>
            <a:cxnLst/>
            <a:rect l="l" t="t" r="r" b="b"/>
            <a:pathLst>
              <a:path w="986038" h="986038">
                <a:moveTo>
                  <a:pt x="0" y="0"/>
                </a:moveTo>
                <a:lnTo>
                  <a:pt x="986038" y="0"/>
                </a:lnTo>
                <a:lnTo>
                  <a:pt x="986038" y="986038"/>
                </a:lnTo>
                <a:lnTo>
                  <a:pt x="0" y="98603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sp>
        <p:nvSpPr>
          <p:cNvPr id="30" name="Freeform 27"/>
          <p:cNvSpPr/>
          <p:nvPr/>
        </p:nvSpPr>
        <p:spPr>
          <a:xfrm>
            <a:off x="3274915" y="5503043"/>
            <a:ext cx="657359" cy="657359"/>
          </a:xfrm>
          <a:custGeom>
            <a:avLst/>
            <a:gdLst/>
            <a:ahLst/>
            <a:cxnLst/>
            <a:rect l="l" t="t" r="r" b="b"/>
            <a:pathLst>
              <a:path w="986038" h="986038">
                <a:moveTo>
                  <a:pt x="0" y="0"/>
                </a:moveTo>
                <a:lnTo>
                  <a:pt x="986038" y="0"/>
                </a:lnTo>
                <a:lnTo>
                  <a:pt x="986038" y="986039"/>
                </a:lnTo>
                <a:lnTo>
                  <a:pt x="0" y="98603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sp>
        <p:nvSpPr>
          <p:cNvPr id="31" name="Freeform 28"/>
          <p:cNvSpPr/>
          <p:nvPr/>
        </p:nvSpPr>
        <p:spPr>
          <a:xfrm>
            <a:off x="3978089" y="5503043"/>
            <a:ext cx="657359" cy="657359"/>
          </a:xfrm>
          <a:custGeom>
            <a:avLst/>
            <a:gdLst/>
            <a:ahLst/>
            <a:cxnLst/>
            <a:rect l="l" t="t" r="r" b="b"/>
            <a:pathLst>
              <a:path w="986038" h="986038">
                <a:moveTo>
                  <a:pt x="0" y="0"/>
                </a:moveTo>
                <a:lnTo>
                  <a:pt x="986038" y="0"/>
                </a:lnTo>
                <a:lnTo>
                  <a:pt x="986038" y="986039"/>
                </a:lnTo>
                <a:lnTo>
                  <a:pt x="0" y="98603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sp>
        <p:nvSpPr>
          <p:cNvPr id="33" name="TextBox 30"/>
          <p:cNvSpPr txBox="1"/>
          <p:nvPr/>
        </p:nvSpPr>
        <p:spPr>
          <a:xfrm>
            <a:off x="255352" y="4051800"/>
            <a:ext cx="2038244" cy="258276"/>
          </a:xfrm>
          <a:prstGeom prst="rect">
            <a:avLst/>
          </a:prstGeom>
        </p:spPr>
        <p:txBody>
          <a:bodyPr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Company A</a:t>
            </a:r>
          </a:p>
        </p:txBody>
      </p:sp>
      <p:grpSp>
        <p:nvGrpSpPr>
          <p:cNvPr id="35" name="Group 32"/>
          <p:cNvGrpSpPr/>
          <p:nvPr/>
        </p:nvGrpSpPr>
        <p:grpSpPr>
          <a:xfrm>
            <a:off x="9913331" y="3699702"/>
            <a:ext cx="2189769" cy="567573"/>
            <a:chOff x="0" y="0"/>
            <a:chExt cx="865094" cy="224227"/>
          </a:xfrm>
        </p:grpSpPr>
        <p:sp>
          <p:nvSpPr>
            <p:cNvPr id="36" name="Freeform 33"/>
            <p:cNvSpPr/>
            <p:nvPr/>
          </p:nvSpPr>
          <p:spPr>
            <a:xfrm>
              <a:off x="0" y="0"/>
              <a:ext cx="865094" cy="224227"/>
            </a:xfrm>
            <a:custGeom>
              <a:avLst/>
              <a:gdLst/>
              <a:ahLst/>
              <a:cxnLst/>
              <a:rect l="l" t="t" r="r" b="b"/>
              <a:pathLst>
                <a:path w="865094" h="224227">
                  <a:moveTo>
                    <a:pt x="0" y="0"/>
                  </a:moveTo>
                  <a:lnTo>
                    <a:pt x="865094" y="0"/>
                  </a:lnTo>
                  <a:lnTo>
                    <a:pt x="865094" y="224227"/>
                  </a:lnTo>
                  <a:lnTo>
                    <a:pt x="0" y="224227"/>
                  </a:lnTo>
                  <a:close/>
                </a:path>
              </a:pathLst>
            </a:custGeom>
            <a:solidFill>
              <a:srgbClr val="FFFFFF"/>
            </a:solidFill>
          </p:spPr>
          <p:txBody>
            <a:bodyPr/>
            <a:lstStyle/>
            <a:p>
              <a:endParaRPr lang="en-PK"/>
            </a:p>
          </p:txBody>
        </p:sp>
        <p:sp>
          <p:nvSpPr>
            <p:cNvPr id="37" name="TextBox 34"/>
            <p:cNvSpPr txBox="1"/>
            <p:nvPr/>
          </p:nvSpPr>
          <p:spPr>
            <a:xfrm>
              <a:off x="0" y="-38100"/>
              <a:ext cx="865094" cy="262327"/>
            </a:xfrm>
            <a:prstGeom prst="rect">
              <a:avLst/>
            </a:prstGeom>
          </p:spPr>
          <p:txBody>
            <a:bodyPr lIns="33867" tIns="33867" rIns="33867" bIns="33867" rtlCol="0" anchor="ctr"/>
            <a:lstStyle/>
            <a:p>
              <a:pPr algn="ctr">
                <a:lnSpc>
                  <a:spcPts val="1773"/>
                </a:lnSpc>
              </a:pPr>
              <a:endParaRPr sz="1267"/>
            </a:p>
          </p:txBody>
        </p:sp>
      </p:grpSp>
      <p:sp>
        <p:nvSpPr>
          <p:cNvPr id="38" name="TextBox 35"/>
          <p:cNvSpPr txBox="1"/>
          <p:nvPr/>
        </p:nvSpPr>
        <p:spPr>
          <a:xfrm>
            <a:off x="9999059" y="3732350"/>
            <a:ext cx="2077285" cy="258276"/>
          </a:xfrm>
          <a:prstGeom prst="rect">
            <a:avLst/>
          </a:prstGeom>
        </p:spPr>
        <p:txBody>
          <a:bodyPr lIns="0" tIns="0" rIns="0" bIns="0" rtlCol="0" anchor="t">
            <a:spAutoFit/>
          </a:bodyPr>
          <a:lstStyle/>
          <a:p>
            <a:pPr algn="ctr">
              <a:lnSpc>
                <a:spcPts val="2239"/>
              </a:lnSpc>
              <a:spcBef>
                <a:spcPct val="0"/>
              </a:spcBef>
            </a:pPr>
            <a:r>
              <a:rPr lang="en-US" sz="1599" dirty="0">
                <a:solidFill>
                  <a:srgbClr val="000000"/>
                </a:solidFill>
                <a:latin typeface="Canva Sans"/>
                <a:ea typeface="Canva Sans"/>
                <a:cs typeface="Canva Sans"/>
                <a:sym typeface="Canva Sans"/>
              </a:rPr>
              <a:t>Company B</a:t>
            </a:r>
          </a:p>
        </p:txBody>
      </p:sp>
      <p:sp>
        <p:nvSpPr>
          <p:cNvPr id="39" name="AutoShape 36"/>
          <p:cNvSpPr/>
          <p:nvPr/>
        </p:nvSpPr>
        <p:spPr>
          <a:xfrm>
            <a:off x="7371678" y="3441700"/>
            <a:ext cx="2659121" cy="0"/>
          </a:xfrm>
          <a:prstGeom prst="line">
            <a:avLst/>
          </a:prstGeom>
          <a:ln w="38100" cap="flat">
            <a:solidFill>
              <a:srgbClr val="000000"/>
            </a:solidFill>
            <a:prstDash val="solid"/>
            <a:headEnd type="none" w="sm" len="sm"/>
            <a:tailEnd type="triangle" w="lg" len="med"/>
          </a:ln>
        </p:spPr>
        <p:txBody>
          <a:bodyPr/>
          <a:lstStyle/>
          <a:p>
            <a:endParaRPr lang="en-PK"/>
          </a:p>
        </p:txBody>
      </p:sp>
      <p:sp>
        <p:nvSpPr>
          <p:cNvPr id="42" name="Freeform 39"/>
          <p:cNvSpPr/>
          <p:nvPr/>
        </p:nvSpPr>
        <p:spPr>
          <a:xfrm>
            <a:off x="7437039" y="5514841"/>
            <a:ext cx="657359" cy="657359"/>
          </a:xfrm>
          <a:custGeom>
            <a:avLst/>
            <a:gdLst/>
            <a:ahLst/>
            <a:cxnLst/>
            <a:rect l="l" t="t" r="r" b="b"/>
            <a:pathLst>
              <a:path w="986038" h="986038">
                <a:moveTo>
                  <a:pt x="0" y="0"/>
                </a:moveTo>
                <a:lnTo>
                  <a:pt x="986038" y="0"/>
                </a:lnTo>
                <a:lnTo>
                  <a:pt x="986038" y="986038"/>
                </a:lnTo>
                <a:lnTo>
                  <a:pt x="0" y="98603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sp>
        <p:nvSpPr>
          <p:cNvPr id="43" name="Freeform 40"/>
          <p:cNvSpPr/>
          <p:nvPr/>
        </p:nvSpPr>
        <p:spPr>
          <a:xfrm>
            <a:off x="8094398" y="5503043"/>
            <a:ext cx="657359" cy="657359"/>
          </a:xfrm>
          <a:custGeom>
            <a:avLst/>
            <a:gdLst/>
            <a:ahLst/>
            <a:cxnLst/>
            <a:rect l="l" t="t" r="r" b="b"/>
            <a:pathLst>
              <a:path w="986038" h="986038">
                <a:moveTo>
                  <a:pt x="0" y="0"/>
                </a:moveTo>
                <a:lnTo>
                  <a:pt x="986038" y="0"/>
                </a:lnTo>
                <a:lnTo>
                  <a:pt x="986038" y="986039"/>
                </a:lnTo>
                <a:lnTo>
                  <a:pt x="0" y="98603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sp>
        <p:nvSpPr>
          <p:cNvPr id="44" name="Freeform 41"/>
          <p:cNvSpPr/>
          <p:nvPr/>
        </p:nvSpPr>
        <p:spPr>
          <a:xfrm>
            <a:off x="8797571" y="5503043"/>
            <a:ext cx="657359" cy="657359"/>
          </a:xfrm>
          <a:custGeom>
            <a:avLst/>
            <a:gdLst/>
            <a:ahLst/>
            <a:cxnLst/>
            <a:rect l="l" t="t" r="r" b="b"/>
            <a:pathLst>
              <a:path w="986038" h="986038">
                <a:moveTo>
                  <a:pt x="0" y="0"/>
                </a:moveTo>
                <a:lnTo>
                  <a:pt x="986038" y="0"/>
                </a:lnTo>
                <a:lnTo>
                  <a:pt x="986038" y="986039"/>
                </a:lnTo>
                <a:lnTo>
                  <a:pt x="0" y="98603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grpSp>
        <p:nvGrpSpPr>
          <p:cNvPr id="54" name="Group 53"/>
          <p:cNvGrpSpPr/>
          <p:nvPr/>
        </p:nvGrpSpPr>
        <p:grpSpPr>
          <a:xfrm>
            <a:off x="7371678" y="2192239"/>
            <a:ext cx="2659121" cy="778190"/>
            <a:chOff x="7371678" y="2192239"/>
            <a:chExt cx="2659121" cy="778190"/>
          </a:xfrm>
        </p:grpSpPr>
        <p:sp>
          <p:nvSpPr>
            <p:cNvPr id="41" name="AutoShape 38"/>
            <p:cNvSpPr/>
            <p:nvPr/>
          </p:nvSpPr>
          <p:spPr>
            <a:xfrm flipH="1">
              <a:off x="7371678" y="2970429"/>
              <a:ext cx="2659121" cy="0"/>
            </a:xfrm>
            <a:prstGeom prst="line">
              <a:avLst/>
            </a:prstGeom>
            <a:ln w="38100" cap="flat">
              <a:solidFill>
                <a:srgbClr val="000000"/>
              </a:solidFill>
              <a:prstDash val="solid"/>
              <a:headEnd type="none" w="sm" len="sm"/>
              <a:tailEnd type="triangle" w="lg" len="med"/>
            </a:ln>
          </p:spPr>
          <p:txBody>
            <a:bodyPr/>
            <a:lstStyle/>
            <a:p>
              <a:endParaRPr lang="en-PK"/>
            </a:p>
          </p:txBody>
        </p:sp>
        <p:sp>
          <p:nvSpPr>
            <p:cNvPr id="45" name="Freeform 42"/>
            <p:cNvSpPr/>
            <p:nvPr/>
          </p:nvSpPr>
          <p:spPr>
            <a:xfrm>
              <a:off x="7755740" y="2204037"/>
              <a:ext cx="657359" cy="657359"/>
            </a:xfrm>
            <a:custGeom>
              <a:avLst/>
              <a:gdLst/>
              <a:ahLst/>
              <a:cxnLst/>
              <a:rect l="l" t="t" r="r" b="b"/>
              <a:pathLst>
                <a:path w="986038" h="986038">
                  <a:moveTo>
                    <a:pt x="0" y="0"/>
                  </a:moveTo>
                  <a:lnTo>
                    <a:pt x="986038" y="0"/>
                  </a:lnTo>
                  <a:lnTo>
                    <a:pt x="986038" y="986038"/>
                  </a:lnTo>
                  <a:lnTo>
                    <a:pt x="0" y="98603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sp>
          <p:nvSpPr>
            <p:cNvPr id="46" name="Freeform 43"/>
            <p:cNvSpPr/>
            <p:nvPr/>
          </p:nvSpPr>
          <p:spPr>
            <a:xfrm>
              <a:off x="8413099" y="2192239"/>
              <a:ext cx="657359" cy="657359"/>
            </a:xfrm>
            <a:custGeom>
              <a:avLst/>
              <a:gdLst/>
              <a:ahLst/>
              <a:cxnLst/>
              <a:rect l="l" t="t" r="r" b="b"/>
              <a:pathLst>
                <a:path w="986038" h="986038">
                  <a:moveTo>
                    <a:pt x="0" y="0"/>
                  </a:moveTo>
                  <a:lnTo>
                    <a:pt x="986038" y="0"/>
                  </a:lnTo>
                  <a:lnTo>
                    <a:pt x="986038" y="986039"/>
                  </a:lnTo>
                  <a:lnTo>
                    <a:pt x="0" y="98603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sp>
          <p:nvSpPr>
            <p:cNvPr id="47" name="Freeform 44"/>
            <p:cNvSpPr/>
            <p:nvPr/>
          </p:nvSpPr>
          <p:spPr>
            <a:xfrm>
              <a:off x="9116272" y="2192239"/>
              <a:ext cx="657359" cy="657359"/>
            </a:xfrm>
            <a:custGeom>
              <a:avLst/>
              <a:gdLst/>
              <a:ahLst/>
              <a:cxnLst/>
              <a:rect l="l" t="t" r="r" b="b"/>
              <a:pathLst>
                <a:path w="986038" h="986038">
                  <a:moveTo>
                    <a:pt x="0" y="0"/>
                  </a:moveTo>
                  <a:lnTo>
                    <a:pt x="986038" y="0"/>
                  </a:lnTo>
                  <a:lnTo>
                    <a:pt x="986038" y="986039"/>
                  </a:lnTo>
                  <a:lnTo>
                    <a:pt x="0" y="98603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grpSp>
      <p:sp>
        <p:nvSpPr>
          <p:cNvPr id="3" name="TextBox 2"/>
          <p:cNvSpPr txBox="1"/>
          <p:nvPr/>
        </p:nvSpPr>
        <p:spPr>
          <a:xfrm>
            <a:off x="5627403" y="3747537"/>
            <a:ext cx="374939" cy="384721"/>
          </a:xfrm>
          <a:prstGeom prst="rect">
            <a:avLst/>
          </a:prstGeom>
          <a:noFill/>
        </p:spPr>
        <p:txBody>
          <a:bodyPr wrap="square" rtlCol="0">
            <a:spAutoFit/>
          </a:bodyPr>
          <a:lstStyle/>
          <a:p>
            <a:pPr algn="ctr"/>
            <a:r>
              <a:rPr lang="en-US" dirty="0"/>
              <a:t>A</a:t>
            </a:r>
          </a:p>
        </p:txBody>
      </p:sp>
      <p:sp>
        <p:nvSpPr>
          <p:cNvPr id="48" name="Freeform 13"/>
          <p:cNvSpPr/>
          <p:nvPr/>
        </p:nvSpPr>
        <p:spPr>
          <a:xfrm>
            <a:off x="5637231" y="3426669"/>
            <a:ext cx="432929" cy="393902"/>
          </a:xfrm>
          <a:custGeom>
            <a:avLst/>
            <a:gdLst/>
            <a:ahLst/>
            <a:cxnLst/>
            <a:rect l="l" t="t" r="r" b="b"/>
            <a:pathLst>
              <a:path w="2638867" h="3295997">
                <a:moveTo>
                  <a:pt x="0" y="0"/>
                </a:moveTo>
                <a:lnTo>
                  <a:pt x="2638867" y="0"/>
                </a:lnTo>
                <a:lnTo>
                  <a:pt x="2638867" y="3295997"/>
                </a:lnTo>
                <a:lnTo>
                  <a:pt x="0" y="3295997"/>
                </a:lnTo>
                <a:lnTo>
                  <a:pt x="0" y="0"/>
                </a:lnTo>
                <a:close/>
              </a:path>
            </a:pathLst>
          </a:custGeom>
          <a:blipFill>
            <a:blip r:embed="rId2"/>
            <a:srcRect/>
            <a:stretch>
              <a:fillRect t="-5234" b="-22928"/>
            </a:stretch>
          </a:blipFill>
        </p:spPr>
        <p:txBody>
          <a:bodyPr/>
          <a:lstStyle/>
          <a:p>
            <a:endParaRPr lang="en-PK"/>
          </a:p>
        </p:txBody>
      </p:sp>
      <p:sp>
        <p:nvSpPr>
          <p:cNvPr id="13" name="Freeform 10"/>
          <p:cNvSpPr/>
          <p:nvPr/>
        </p:nvSpPr>
        <p:spPr>
          <a:xfrm>
            <a:off x="6002342" y="3108232"/>
            <a:ext cx="763900" cy="675097"/>
          </a:xfrm>
          <a:custGeom>
            <a:avLst/>
            <a:gdLst/>
            <a:ahLst/>
            <a:cxnLst/>
            <a:rect l="l" t="t" r="r" b="b"/>
            <a:pathLst>
              <a:path w="1145850" h="1012645">
                <a:moveTo>
                  <a:pt x="0" y="0"/>
                </a:moveTo>
                <a:lnTo>
                  <a:pt x="1145850" y="0"/>
                </a:lnTo>
                <a:lnTo>
                  <a:pt x="1145850" y="1012645"/>
                </a:lnTo>
                <a:lnTo>
                  <a:pt x="0" y="1012645"/>
                </a:lnTo>
                <a:lnTo>
                  <a:pt x="0" y="0"/>
                </a:lnTo>
                <a:close/>
              </a:path>
            </a:pathLst>
          </a:custGeom>
          <a:blipFill>
            <a:blip>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PK"/>
          </a:p>
        </p:txBody>
      </p:sp>
      <p:sp>
        <p:nvSpPr>
          <p:cNvPr id="49" name="TextBox 48"/>
          <p:cNvSpPr txBox="1"/>
          <p:nvPr/>
        </p:nvSpPr>
        <p:spPr>
          <a:xfrm>
            <a:off x="6657256" y="3752158"/>
            <a:ext cx="374939" cy="384721"/>
          </a:xfrm>
          <a:prstGeom prst="rect">
            <a:avLst/>
          </a:prstGeom>
          <a:noFill/>
        </p:spPr>
        <p:txBody>
          <a:bodyPr wrap="square" rtlCol="0">
            <a:spAutoFit/>
          </a:bodyPr>
          <a:lstStyle/>
          <a:p>
            <a:pPr algn="ctr"/>
            <a:r>
              <a:rPr lang="en-US" dirty="0"/>
              <a:t>B</a:t>
            </a:r>
          </a:p>
        </p:txBody>
      </p:sp>
      <p:sp>
        <p:nvSpPr>
          <p:cNvPr id="50" name="Freeform 13"/>
          <p:cNvSpPr/>
          <p:nvPr/>
        </p:nvSpPr>
        <p:spPr>
          <a:xfrm>
            <a:off x="6667084" y="3431290"/>
            <a:ext cx="432929" cy="393902"/>
          </a:xfrm>
          <a:custGeom>
            <a:avLst/>
            <a:gdLst/>
            <a:ahLst/>
            <a:cxnLst/>
            <a:rect l="l" t="t" r="r" b="b"/>
            <a:pathLst>
              <a:path w="2638867" h="3295997">
                <a:moveTo>
                  <a:pt x="0" y="0"/>
                </a:moveTo>
                <a:lnTo>
                  <a:pt x="2638867" y="0"/>
                </a:lnTo>
                <a:lnTo>
                  <a:pt x="2638867" y="3295997"/>
                </a:lnTo>
                <a:lnTo>
                  <a:pt x="0" y="3295997"/>
                </a:lnTo>
                <a:lnTo>
                  <a:pt x="0" y="0"/>
                </a:lnTo>
                <a:close/>
              </a:path>
            </a:pathLst>
          </a:custGeom>
          <a:blipFill>
            <a:blip r:embed="rId2"/>
            <a:srcRect/>
            <a:stretch>
              <a:fillRect t="-5234" b="-22928"/>
            </a:stretch>
          </a:blipFill>
        </p:spPr>
        <p:txBody>
          <a:bodyPr/>
          <a:lstStyle/>
          <a:p>
            <a:endParaRPr lang="en-PK"/>
          </a:p>
        </p:txBody>
      </p:sp>
      <p:sp>
        <p:nvSpPr>
          <p:cNvPr id="51" name="TextBox 50"/>
          <p:cNvSpPr txBox="1"/>
          <p:nvPr/>
        </p:nvSpPr>
        <p:spPr>
          <a:xfrm>
            <a:off x="2567708" y="2293860"/>
            <a:ext cx="2487085" cy="677108"/>
          </a:xfrm>
          <a:prstGeom prst="rect">
            <a:avLst/>
          </a:prstGeom>
          <a:noFill/>
        </p:spPr>
        <p:txBody>
          <a:bodyPr wrap="square" rtlCol="0">
            <a:spAutoFit/>
          </a:bodyPr>
          <a:lstStyle/>
          <a:p>
            <a:r>
              <a:rPr lang="en-US" dirty="0"/>
              <a:t>Withdraw $3 Million from A’s Account</a:t>
            </a:r>
          </a:p>
        </p:txBody>
      </p:sp>
      <p:sp>
        <p:nvSpPr>
          <p:cNvPr id="52" name="TextBox 51"/>
          <p:cNvSpPr txBox="1"/>
          <p:nvPr/>
        </p:nvSpPr>
        <p:spPr>
          <a:xfrm>
            <a:off x="7624632" y="3499210"/>
            <a:ext cx="2487085" cy="677108"/>
          </a:xfrm>
          <a:prstGeom prst="rect">
            <a:avLst/>
          </a:prstGeom>
          <a:noFill/>
        </p:spPr>
        <p:txBody>
          <a:bodyPr wrap="square" rtlCol="0">
            <a:spAutoFit/>
          </a:bodyPr>
          <a:lstStyle/>
          <a:p>
            <a:r>
              <a:rPr lang="en-US" dirty="0"/>
              <a:t>Deposit $3 Million from A’s Account</a:t>
            </a:r>
          </a:p>
        </p:txBody>
      </p:sp>
      <p:sp>
        <p:nvSpPr>
          <p:cNvPr id="32" name="Freeform 29"/>
          <p:cNvSpPr/>
          <p:nvPr/>
        </p:nvSpPr>
        <p:spPr>
          <a:xfrm rot="-2559804" flipV="1">
            <a:off x="6315096" y="2880677"/>
            <a:ext cx="3717620" cy="2945043"/>
          </a:xfrm>
          <a:custGeom>
            <a:avLst/>
            <a:gdLst/>
            <a:ahLst/>
            <a:cxnLst/>
            <a:rect l="l" t="t" r="r" b="b"/>
            <a:pathLst>
              <a:path w="5174583" h="4999941">
                <a:moveTo>
                  <a:pt x="0" y="4999941"/>
                </a:moveTo>
                <a:lnTo>
                  <a:pt x="5174583" y="4999941"/>
                </a:lnTo>
                <a:lnTo>
                  <a:pt x="5174583" y="0"/>
                </a:lnTo>
                <a:lnTo>
                  <a:pt x="0" y="0"/>
                </a:lnTo>
                <a:lnTo>
                  <a:pt x="0" y="4999941"/>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PK"/>
          </a:p>
        </p:txBody>
      </p:sp>
    </p:spTree>
    <p:extLst>
      <p:ext uri="{BB962C8B-B14F-4D97-AF65-F5344CB8AC3E}">
        <p14:creationId xmlns:p14="http://schemas.microsoft.com/office/powerpoint/2010/main" val="287944346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ERC-20 Token Standard</a:t>
            </a:r>
          </a:p>
        </p:txBody>
      </p:sp>
      <p:sp>
        <p:nvSpPr>
          <p:cNvPr id="3" name="Content Placeholder 2"/>
          <p:cNvSpPr>
            <a:spLocks noGrp="1"/>
          </p:cNvSpPr>
          <p:nvPr>
            <p:ph idx="1"/>
          </p:nvPr>
        </p:nvSpPr>
        <p:spPr/>
        <p:txBody>
          <a:bodyPr/>
          <a:lstStyle/>
          <a:p>
            <a:r>
              <a:rPr lang="en-US" dirty="0"/>
              <a:t>Technical standard for fungible tokens on the Ethereum blockchain</a:t>
            </a:r>
          </a:p>
          <a:p>
            <a:r>
              <a:rPr lang="en-US" dirty="0"/>
              <a:t>Defines a common set of rules for creating, transferring, and interacting with tokens</a:t>
            </a:r>
          </a:p>
          <a:p>
            <a:r>
              <a:rPr lang="en-US" dirty="0"/>
              <a:t>Ensures interoperability between:</a:t>
            </a:r>
          </a:p>
          <a:p>
            <a:pPr lvl="1"/>
            <a:r>
              <a:rPr lang="en-US" dirty="0"/>
              <a:t>Wallets (like MetaMask)</a:t>
            </a:r>
          </a:p>
          <a:p>
            <a:pPr lvl="1"/>
            <a:r>
              <a:rPr lang="en-US" dirty="0"/>
              <a:t>Exchanges (like Coinbase, Uniswap, Binance)</a:t>
            </a:r>
          </a:p>
          <a:p>
            <a:pPr lvl="1"/>
            <a:r>
              <a:rPr lang="en-US" dirty="0"/>
              <a:t>Other smart contracts</a:t>
            </a:r>
          </a:p>
          <a:p>
            <a:r>
              <a:rPr lang="en-US" dirty="0"/>
              <a:t>Enables anyone to create tokens that work seamlessly with the Ethereum ecosystem</a:t>
            </a:r>
          </a:p>
        </p:txBody>
      </p:sp>
      <p:sp>
        <p:nvSpPr>
          <p:cNvPr id="4" name="Slide Number Placeholder 3"/>
          <p:cNvSpPr>
            <a:spLocks noGrp="1"/>
          </p:cNvSpPr>
          <p:nvPr>
            <p:ph type="sldNum" sz="quarter" idx="12"/>
          </p:nvPr>
        </p:nvSpPr>
        <p:spPr/>
        <p:txBody>
          <a:bodyPr/>
          <a:lstStyle/>
          <a:p>
            <a:fld id="{123BC241-7286-4066-AAE4-0801D26EA29E}" type="slidenum">
              <a:rPr lang="aa-ET" smtClean="0"/>
              <a:t>32</a:t>
            </a:fld>
            <a:endParaRPr lang="aa-ET"/>
          </a:p>
        </p:txBody>
      </p:sp>
    </p:spTree>
    <p:extLst>
      <p:ext uri="{BB962C8B-B14F-4D97-AF65-F5344CB8AC3E}">
        <p14:creationId xmlns:p14="http://schemas.microsoft.com/office/powerpoint/2010/main" val="3597871771"/>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Examples of ERC-20 Tokens</a:t>
            </a:r>
          </a:p>
        </p:txBody>
      </p:sp>
      <p:sp>
        <p:nvSpPr>
          <p:cNvPr id="3" name="Content Placeholder 2"/>
          <p:cNvSpPr>
            <a:spLocks noGrp="1"/>
          </p:cNvSpPr>
          <p:nvPr>
            <p:ph idx="1"/>
          </p:nvPr>
        </p:nvSpPr>
        <p:spPr/>
        <p:txBody>
          <a:bodyPr/>
          <a:lstStyle/>
          <a:p>
            <a:r>
              <a:rPr lang="en-US"/>
              <a:t>USDC (USD Coin)</a:t>
            </a:r>
          </a:p>
          <a:p>
            <a:r>
              <a:rPr lang="en-US"/>
              <a:t>USDT (USD Tether Coin)</a:t>
            </a:r>
          </a:p>
          <a:p>
            <a:pPr lvl="1"/>
            <a:r>
              <a:rPr lang="en-US"/>
              <a:t>Also deployed on other </a:t>
            </a:r>
            <a:r>
              <a:rPr lang="en-US" err="1"/>
              <a:t>blockchains</a:t>
            </a:r>
            <a:r>
              <a:rPr lang="en-US"/>
              <a:t> using different standards (e.g., TRC-20 standard on Tron </a:t>
            </a:r>
            <a:r>
              <a:rPr lang="en-US" err="1"/>
              <a:t>Blockchain</a:t>
            </a:r>
            <a:r>
              <a:rPr lang="en-US"/>
              <a:t>)</a:t>
            </a:r>
          </a:p>
          <a:p>
            <a:r>
              <a:rPr lang="en-US"/>
              <a:t>UNI (</a:t>
            </a:r>
            <a:r>
              <a:rPr lang="en-US" err="1"/>
              <a:t>Uniswap</a:t>
            </a:r>
            <a:r>
              <a:rPr lang="en-US"/>
              <a:t>)</a:t>
            </a:r>
          </a:p>
          <a:p>
            <a:r>
              <a:rPr lang="en-US"/>
              <a:t>LINK (</a:t>
            </a:r>
            <a:r>
              <a:rPr lang="en-US" err="1"/>
              <a:t>Chainlink</a:t>
            </a:r>
            <a:r>
              <a:rPr lang="en-US"/>
              <a:t>)</a:t>
            </a:r>
          </a:p>
          <a:p>
            <a:r>
              <a:rPr lang="en-US"/>
              <a:t>DAI (</a:t>
            </a:r>
            <a:r>
              <a:rPr lang="en-US" err="1"/>
              <a:t>MakerDAO</a:t>
            </a:r>
            <a:r>
              <a:rPr lang="en-US"/>
              <a:t>)</a:t>
            </a:r>
          </a:p>
        </p:txBody>
      </p:sp>
      <p:sp>
        <p:nvSpPr>
          <p:cNvPr id="4" name="Slide Number Placeholder 3"/>
          <p:cNvSpPr>
            <a:spLocks noGrp="1"/>
          </p:cNvSpPr>
          <p:nvPr>
            <p:ph type="sldNum" sz="quarter" idx="12"/>
          </p:nvPr>
        </p:nvSpPr>
        <p:spPr/>
        <p:txBody>
          <a:bodyPr/>
          <a:lstStyle/>
          <a:p>
            <a:fld id="{123BC241-7286-4066-AAE4-0801D26EA29E}" type="slidenum">
              <a:rPr lang="aa-ET" smtClean="0"/>
              <a:t>33</a:t>
            </a:fld>
            <a:endParaRPr lang="aa-ET"/>
          </a:p>
        </p:txBody>
      </p:sp>
    </p:spTree>
    <p:extLst>
      <p:ext uri="{BB962C8B-B14F-4D97-AF65-F5344CB8AC3E}">
        <p14:creationId xmlns:p14="http://schemas.microsoft.com/office/powerpoint/2010/main" val="3741641335"/>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ERC-20 Token Standard</a:t>
            </a:r>
          </a:p>
        </p:txBody>
      </p:sp>
      <p:sp>
        <p:nvSpPr>
          <p:cNvPr id="3" name="Content Placeholder 2"/>
          <p:cNvSpPr>
            <a:spLocks noGrp="1"/>
          </p:cNvSpPr>
          <p:nvPr>
            <p:ph idx="1"/>
          </p:nvPr>
        </p:nvSpPr>
        <p:spPr/>
        <p:txBody>
          <a:bodyPr/>
          <a:lstStyle/>
          <a:p>
            <a:pPr marL="0" indent="0">
              <a:buNone/>
            </a:pPr>
            <a:r>
              <a:rPr lang="en-US" b="1"/>
              <a:t>Key Functions in the Standard</a:t>
            </a:r>
          </a:p>
          <a:p>
            <a:r>
              <a:rPr lang="en-US" err="1">
                <a:latin typeface="Consolas" panose="020B0609020204030204" pitchFamily="49" charset="0"/>
                <a:cs typeface="Courier New" panose="02070309020205020404" pitchFamily="49" charset="0"/>
              </a:rPr>
              <a:t>totalSupply</a:t>
            </a:r>
            <a:r>
              <a:rPr lang="en-US">
                <a:latin typeface="Consolas" panose="020B0609020204030204" pitchFamily="49" charset="0"/>
                <a:cs typeface="Courier New" panose="02070309020205020404" pitchFamily="49" charset="0"/>
              </a:rPr>
              <a:t>()→</a:t>
            </a:r>
            <a:r>
              <a:rPr lang="en-US"/>
              <a:t> Total supply of tokens</a:t>
            </a:r>
          </a:p>
          <a:p>
            <a:r>
              <a:rPr lang="en-US" err="1">
                <a:latin typeface="Consolas" panose="020B0609020204030204" pitchFamily="49" charset="0"/>
                <a:cs typeface="Courier New" panose="02070309020205020404" pitchFamily="49" charset="0"/>
              </a:rPr>
              <a:t>balanceOf</a:t>
            </a:r>
            <a:r>
              <a:rPr lang="en-US">
                <a:latin typeface="Consolas" panose="020B0609020204030204" pitchFamily="49" charset="0"/>
                <a:cs typeface="Courier New" panose="02070309020205020404" pitchFamily="49" charset="0"/>
              </a:rPr>
              <a:t>(address) → </a:t>
            </a:r>
            <a:r>
              <a:rPr lang="en-US"/>
              <a:t>Token balance of an account</a:t>
            </a:r>
          </a:p>
          <a:p>
            <a:r>
              <a:rPr lang="en-US">
                <a:latin typeface="Consolas" panose="020B0609020204030204" pitchFamily="49" charset="0"/>
                <a:cs typeface="Courier New" panose="02070309020205020404" pitchFamily="49" charset="0"/>
              </a:rPr>
              <a:t>transfer(address, amount) →</a:t>
            </a:r>
            <a:r>
              <a:rPr lang="en-US"/>
              <a:t> Send tokens</a:t>
            </a:r>
          </a:p>
          <a:p>
            <a:r>
              <a:rPr lang="en-US">
                <a:latin typeface="Consolas" panose="020B0609020204030204" pitchFamily="49" charset="0"/>
                <a:cs typeface="Courier New" panose="02070309020205020404" pitchFamily="49" charset="0"/>
              </a:rPr>
              <a:t>approve(address, amount) →</a:t>
            </a:r>
            <a:r>
              <a:rPr lang="en-US"/>
              <a:t> Approve another account to spend</a:t>
            </a:r>
          </a:p>
          <a:p>
            <a:r>
              <a:rPr lang="en-US" err="1">
                <a:latin typeface="Consolas" panose="020B0609020204030204" pitchFamily="49" charset="0"/>
                <a:cs typeface="Courier New" panose="02070309020205020404" pitchFamily="49" charset="0"/>
              </a:rPr>
              <a:t>transferFrom</a:t>
            </a:r>
            <a:r>
              <a:rPr lang="en-US">
                <a:latin typeface="Consolas" panose="020B0609020204030204" pitchFamily="49" charset="0"/>
                <a:cs typeface="Courier New" panose="02070309020205020404" pitchFamily="49" charset="0"/>
              </a:rPr>
              <a:t>(address, address, amount) →</a:t>
            </a:r>
            <a:r>
              <a:rPr lang="en-US"/>
              <a:t> Transfer on behalf of another</a:t>
            </a:r>
          </a:p>
          <a:p>
            <a:r>
              <a:rPr lang="en-US">
                <a:latin typeface="Consolas" panose="020B0609020204030204" pitchFamily="49" charset="0"/>
                <a:cs typeface="Courier New" panose="02070309020205020404" pitchFamily="49" charset="0"/>
              </a:rPr>
              <a:t>allowance(address, address) → </a:t>
            </a:r>
            <a:r>
              <a:rPr lang="en-US"/>
              <a:t>Check approved amount</a:t>
            </a:r>
          </a:p>
        </p:txBody>
      </p:sp>
      <p:sp>
        <p:nvSpPr>
          <p:cNvPr id="4" name="Slide Number Placeholder 3"/>
          <p:cNvSpPr>
            <a:spLocks noGrp="1"/>
          </p:cNvSpPr>
          <p:nvPr>
            <p:ph type="sldNum" sz="quarter" idx="12"/>
          </p:nvPr>
        </p:nvSpPr>
        <p:spPr/>
        <p:txBody>
          <a:bodyPr/>
          <a:lstStyle/>
          <a:p>
            <a:fld id="{123BC241-7286-4066-AAE4-0801D26EA29E}" type="slidenum">
              <a:rPr lang="aa-ET" smtClean="0"/>
              <a:t>34</a:t>
            </a:fld>
            <a:endParaRPr lang="aa-ET"/>
          </a:p>
        </p:txBody>
      </p:sp>
    </p:spTree>
    <p:extLst>
      <p:ext uri="{BB962C8B-B14F-4D97-AF65-F5344CB8AC3E}">
        <p14:creationId xmlns:p14="http://schemas.microsoft.com/office/powerpoint/2010/main" val="229310644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ERC-20 Token Standard</a:t>
            </a:r>
          </a:p>
        </p:txBody>
      </p:sp>
      <p:sp>
        <p:nvSpPr>
          <p:cNvPr id="3" name="Content Placeholder 2"/>
          <p:cNvSpPr>
            <a:spLocks noGrp="1"/>
          </p:cNvSpPr>
          <p:nvPr>
            <p:ph idx="1"/>
          </p:nvPr>
        </p:nvSpPr>
        <p:spPr/>
        <p:txBody>
          <a:bodyPr/>
          <a:lstStyle/>
          <a:p>
            <a:pPr marL="0" indent="0">
              <a:buNone/>
            </a:pPr>
            <a:r>
              <a:rPr lang="en-US" b="1"/>
              <a:t>Events</a:t>
            </a:r>
          </a:p>
          <a:p>
            <a:r>
              <a:rPr lang="en-US">
                <a:latin typeface="Consolas" panose="020B0609020204030204" pitchFamily="49" charset="0"/>
              </a:rPr>
              <a:t>event Transfer(address indexed from, address indexed to, uint256 value)</a:t>
            </a:r>
          </a:p>
          <a:p>
            <a:r>
              <a:rPr lang="en-US">
                <a:latin typeface="Consolas" panose="020B0609020204030204" pitchFamily="49" charset="0"/>
              </a:rPr>
              <a:t>event Approval(address indexed owner, address indexed spender, uint256 value)</a:t>
            </a:r>
          </a:p>
        </p:txBody>
      </p:sp>
      <p:sp>
        <p:nvSpPr>
          <p:cNvPr id="4" name="Slide Number Placeholder 3"/>
          <p:cNvSpPr>
            <a:spLocks noGrp="1"/>
          </p:cNvSpPr>
          <p:nvPr>
            <p:ph type="sldNum" sz="quarter" idx="12"/>
          </p:nvPr>
        </p:nvSpPr>
        <p:spPr/>
        <p:txBody>
          <a:bodyPr/>
          <a:lstStyle/>
          <a:p>
            <a:fld id="{123BC241-7286-4066-AAE4-0801D26EA29E}" type="slidenum">
              <a:rPr lang="aa-ET" smtClean="0"/>
              <a:t>35</a:t>
            </a:fld>
            <a:endParaRPr lang="aa-ET"/>
          </a:p>
        </p:txBody>
      </p:sp>
    </p:spTree>
    <p:extLst>
      <p:ext uri="{BB962C8B-B14F-4D97-AF65-F5344CB8AC3E}">
        <p14:creationId xmlns:p14="http://schemas.microsoft.com/office/powerpoint/2010/main" val="31088337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ERC-20 Token Standard</a:t>
            </a:r>
          </a:p>
        </p:txBody>
      </p:sp>
      <p:sp>
        <p:nvSpPr>
          <p:cNvPr id="3" name="Content Placeholder 2"/>
          <p:cNvSpPr>
            <a:spLocks noGrp="1"/>
          </p:cNvSpPr>
          <p:nvPr>
            <p:ph idx="1"/>
          </p:nvPr>
        </p:nvSpPr>
        <p:spPr/>
        <p:txBody>
          <a:bodyPr/>
          <a:lstStyle/>
          <a:p>
            <a:pPr marL="0" indent="0">
              <a:buNone/>
            </a:pPr>
            <a:r>
              <a:rPr lang="en-US" b="1"/>
              <a:t>ERC‑20 Implementation by </a:t>
            </a:r>
            <a:r>
              <a:rPr lang="en-US" b="1" err="1"/>
              <a:t>OpenZeppelin</a:t>
            </a:r>
            <a:endParaRPr lang="en-US" b="1"/>
          </a:p>
          <a:p>
            <a:r>
              <a:rPr lang="en-US"/>
              <a:t>Provides secure, audited, and reusable smart contract libraries</a:t>
            </a:r>
          </a:p>
          <a:p>
            <a:r>
              <a:rPr lang="en-US"/>
              <a:t>Complies fully with ERC‑20 standard</a:t>
            </a:r>
          </a:p>
          <a:p>
            <a:r>
              <a:rPr lang="en-US"/>
              <a:t>Modular and extensible — easy to customize</a:t>
            </a:r>
          </a:p>
          <a:p>
            <a:pPr marL="0" indent="0">
              <a:buNone/>
            </a:pPr>
            <a:r>
              <a:rPr lang="en-US" err="1">
                <a:hlinkClick r:id="rId2"/>
              </a:rPr>
              <a:t>OpenZeppelin</a:t>
            </a:r>
            <a:r>
              <a:rPr lang="en-US">
                <a:hlinkClick r:id="rId2"/>
              </a:rPr>
              <a:t> ERC‑20 on GitHub</a:t>
            </a:r>
            <a:endParaRPr lang="en-US"/>
          </a:p>
        </p:txBody>
      </p:sp>
      <p:sp>
        <p:nvSpPr>
          <p:cNvPr id="4" name="Slide Number Placeholder 3"/>
          <p:cNvSpPr>
            <a:spLocks noGrp="1"/>
          </p:cNvSpPr>
          <p:nvPr>
            <p:ph type="sldNum" sz="quarter" idx="12"/>
          </p:nvPr>
        </p:nvSpPr>
        <p:spPr/>
        <p:txBody>
          <a:bodyPr/>
          <a:lstStyle/>
          <a:p>
            <a:fld id="{123BC241-7286-4066-AAE4-0801D26EA29E}" type="slidenum">
              <a:rPr lang="aa-ET" smtClean="0"/>
              <a:t>36</a:t>
            </a:fld>
            <a:endParaRPr lang="aa-ET"/>
          </a:p>
        </p:txBody>
      </p:sp>
    </p:spTree>
    <p:extLst>
      <p:ext uri="{BB962C8B-B14F-4D97-AF65-F5344CB8AC3E}">
        <p14:creationId xmlns:p14="http://schemas.microsoft.com/office/powerpoint/2010/main" val="1243679834"/>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ERC-20 Token Standard</a:t>
            </a:r>
          </a:p>
        </p:txBody>
      </p:sp>
      <p:sp>
        <p:nvSpPr>
          <p:cNvPr id="3" name="Content Placeholder 2"/>
          <p:cNvSpPr>
            <a:spLocks noGrp="1"/>
          </p:cNvSpPr>
          <p:nvPr>
            <p:ph idx="1"/>
          </p:nvPr>
        </p:nvSpPr>
        <p:spPr>
          <a:xfrm>
            <a:off x="838200" y="1348967"/>
            <a:ext cx="10515600" cy="470105"/>
          </a:xfrm>
        </p:spPr>
        <p:txBody>
          <a:bodyPr>
            <a:normAutofit lnSpcReduction="10000"/>
          </a:bodyPr>
          <a:lstStyle/>
          <a:p>
            <a:pPr marL="0" indent="0">
              <a:buNone/>
            </a:pPr>
            <a:r>
              <a:rPr lang="en-US" b="1"/>
              <a:t>Deploying your own tokens</a:t>
            </a:r>
            <a:endParaRPr lang="en-US"/>
          </a:p>
          <a:p>
            <a:pPr marL="0" indent="0">
              <a:buNone/>
            </a:pPr>
            <a:endParaRPr lang="en-US" b="1"/>
          </a:p>
        </p:txBody>
      </p:sp>
      <p:sp>
        <p:nvSpPr>
          <p:cNvPr id="4" name="Slide Number Placeholder 3"/>
          <p:cNvSpPr>
            <a:spLocks noGrp="1"/>
          </p:cNvSpPr>
          <p:nvPr>
            <p:ph type="sldNum" sz="quarter" idx="12"/>
          </p:nvPr>
        </p:nvSpPr>
        <p:spPr/>
        <p:txBody>
          <a:bodyPr/>
          <a:lstStyle/>
          <a:p>
            <a:fld id="{123BC241-7286-4066-AAE4-0801D26EA29E}" type="slidenum">
              <a:rPr lang="aa-ET" smtClean="0"/>
              <a:t>37</a:t>
            </a:fld>
            <a:endParaRPr lang="aa-ET"/>
          </a:p>
        </p:txBody>
      </p:sp>
      <p:sp>
        <p:nvSpPr>
          <p:cNvPr id="5" name="Rectangle 4"/>
          <p:cNvSpPr/>
          <p:nvPr/>
        </p:nvSpPr>
        <p:spPr>
          <a:xfrm>
            <a:off x="1055473" y="1819072"/>
            <a:ext cx="8351174" cy="4524315"/>
          </a:xfrm>
          <a:prstGeom prst="rect">
            <a:avLst/>
          </a:prstGeom>
        </p:spPr>
        <p:txBody>
          <a:bodyPr wrap="square">
            <a:spAutoFit/>
          </a:bodyPr>
          <a:lstStyle/>
          <a:p>
            <a:r>
              <a:rPr lang="en-US" sz="1800">
                <a:solidFill>
                  <a:schemeClr val="accent6">
                    <a:lumMod val="75000"/>
                  </a:schemeClr>
                </a:solidFill>
                <a:latin typeface="Consolas" panose="020B0609020204030204" pitchFamily="49" charset="0"/>
              </a:rPr>
              <a:t>// SPDX-License-Identifier: MIT</a:t>
            </a:r>
          </a:p>
          <a:p>
            <a:r>
              <a:rPr lang="en-US" sz="1800">
                <a:latin typeface="Consolas" panose="020B0609020204030204" pitchFamily="49" charset="0"/>
              </a:rPr>
              <a:t>pragma solidity </a:t>
            </a:r>
            <a:r>
              <a:rPr lang="en-US" sz="1800" b="1">
                <a:solidFill>
                  <a:schemeClr val="accent5">
                    <a:lumMod val="50000"/>
                  </a:schemeClr>
                </a:solidFill>
                <a:latin typeface="Consolas" panose="020B0609020204030204" pitchFamily="49" charset="0"/>
              </a:rPr>
              <a:t>^</a:t>
            </a:r>
            <a:r>
              <a:rPr lang="en-US" sz="1800">
                <a:solidFill>
                  <a:schemeClr val="accent2">
                    <a:lumMod val="75000"/>
                  </a:schemeClr>
                </a:solidFill>
                <a:latin typeface="Consolas" panose="020B0609020204030204" pitchFamily="49" charset="0"/>
              </a:rPr>
              <a:t>0.8.0</a:t>
            </a:r>
            <a:r>
              <a:rPr lang="en-US" sz="1800">
                <a:latin typeface="Consolas" panose="020B0609020204030204" pitchFamily="49" charset="0"/>
              </a:rPr>
              <a:t>;</a:t>
            </a:r>
          </a:p>
          <a:p>
            <a:endParaRPr lang="en-US" sz="1800">
              <a:latin typeface="Consolas" panose="020B0609020204030204" pitchFamily="49" charset="0"/>
            </a:endParaRPr>
          </a:p>
          <a:p>
            <a:r>
              <a:rPr lang="en-US" sz="1800">
                <a:solidFill>
                  <a:schemeClr val="accent5"/>
                </a:solidFill>
                <a:latin typeface="Consolas" panose="020B0609020204030204" pitchFamily="49" charset="0"/>
              </a:rPr>
              <a:t>import</a:t>
            </a:r>
            <a:r>
              <a:rPr lang="en-US" sz="1800">
                <a:latin typeface="Consolas" panose="020B0609020204030204" pitchFamily="49" charset="0"/>
              </a:rPr>
              <a:t> "@</a:t>
            </a:r>
            <a:r>
              <a:rPr lang="en-US" sz="1800" err="1">
                <a:latin typeface="Consolas" panose="020B0609020204030204" pitchFamily="49" charset="0"/>
              </a:rPr>
              <a:t>openzeppelin</a:t>
            </a:r>
            <a:r>
              <a:rPr lang="en-US" sz="1800">
                <a:latin typeface="Consolas" panose="020B0609020204030204" pitchFamily="49" charset="0"/>
              </a:rPr>
              <a:t>/contracts/token/ERC20/ERC20.sol";</a:t>
            </a:r>
          </a:p>
          <a:p>
            <a:endParaRPr lang="en-US" sz="1800">
              <a:latin typeface="Consolas" panose="020B0609020204030204" pitchFamily="49" charset="0"/>
            </a:endParaRPr>
          </a:p>
          <a:p>
            <a:r>
              <a:rPr lang="en-US" sz="1800">
                <a:latin typeface="Consolas" panose="020B0609020204030204" pitchFamily="49" charset="0"/>
              </a:rPr>
              <a:t>contract </a:t>
            </a:r>
            <a:r>
              <a:rPr lang="en-US" sz="1800" err="1">
                <a:latin typeface="Consolas" panose="020B0609020204030204" pitchFamily="49" charset="0"/>
              </a:rPr>
              <a:t>MyToken</a:t>
            </a:r>
            <a:r>
              <a:rPr lang="en-US" sz="1800">
                <a:latin typeface="Consolas" panose="020B0609020204030204" pitchFamily="49" charset="0"/>
              </a:rPr>
              <a:t> is ERC20 </a:t>
            </a:r>
            <a:r>
              <a:rPr lang="en-US" sz="1800" b="1">
                <a:solidFill>
                  <a:schemeClr val="accent5">
                    <a:lumMod val="50000"/>
                  </a:schemeClr>
                </a:solidFill>
                <a:latin typeface="Consolas" panose="020B0609020204030204" pitchFamily="49" charset="0"/>
              </a:rPr>
              <a:t>{</a:t>
            </a:r>
          </a:p>
          <a:p>
            <a:r>
              <a:rPr lang="en-US" sz="1800">
                <a:latin typeface="Consolas" panose="020B0609020204030204" pitchFamily="49" charset="0"/>
              </a:rPr>
              <a:t>    uint8 </a:t>
            </a:r>
            <a:r>
              <a:rPr lang="en-US" sz="1800">
                <a:solidFill>
                  <a:schemeClr val="accent5"/>
                </a:solidFill>
                <a:latin typeface="Consolas" panose="020B0609020204030204" pitchFamily="49" charset="0"/>
              </a:rPr>
              <a:t>private</a:t>
            </a:r>
            <a:r>
              <a:rPr lang="en-US" sz="1800">
                <a:latin typeface="Consolas" panose="020B0609020204030204" pitchFamily="49" charset="0"/>
              </a:rPr>
              <a:t> constant _DECIMALS = </a:t>
            </a:r>
            <a:r>
              <a:rPr lang="en-US" sz="1800">
                <a:solidFill>
                  <a:schemeClr val="accent2">
                    <a:lumMod val="75000"/>
                  </a:schemeClr>
                </a:solidFill>
                <a:latin typeface="Consolas" panose="020B0609020204030204" pitchFamily="49" charset="0"/>
              </a:rPr>
              <a:t>4</a:t>
            </a:r>
            <a:r>
              <a:rPr lang="en-US" sz="1800">
                <a:latin typeface="Consolas" panose="020B0609020204030204" pitchFamily="49" charset="0"/>
              </a:rPr>
              <a:t>;</a:t>
            </a:r>
          </a:p>
          <a:p>
            <a:endParaRPr lang="en-US" sz="1800">
              <a:latin typeface="Consolas" panose="020B0609020204030204" pitchFamily="49" charset="0"/>
            </a:endParaRPr>
          </a:p>
          <a:p>
            <a:r>
              <a:rPr lang="en-US" sz="1800">
                <a:latin typeface="Consolas" panose="020B0609020204030204" pitchFamily="49" charset="0"/>
              </a:rPr>
              <a:t>    constructor() ERC20("</a:t>
            </a:r>
            <a:r>
              <a:rPr lang="en-US" sz="1800" err="1">
                <a:latin typeface="Consolas" panose="020B0609020204030204" pitchFamily="49" charset="0"/>
              </a:rPr>
              <a:t>MyToken</a:t>
            </a:r>
            <a:r>
              <a:rPr lang="en-US" sz="1800">
                <a:latin typeface="Consolas" panose="020B0609020204030204" pitchFamily="49" charset="0"/>
              </a:rPr>
              <a:t>", "MTK") </a:t>
            </a:r>
            <a:r>
              <a:rPr lang="en-US" sz="1800" b="1">
                <a:solidFill>
                  <a:schemeClr val="accent5">
                    <a:lumMod val="50000"/>
                  </a:schemeClr>
                </a:solidFill>
                <a:latin typeface="Consolas" panose="020B0609020204030204" pitchFamily="49" charset="0"/>
              </a:rPr>
              <a:t>{</a:t>
            </a:r>
          </a:p>
          <a:p>
            <a:r>
              <a:rPr lang="en-US" sz="1800">
                <a:latin typeface="Consolas" panose="020B0609020204030204" pitchFamily="49" charset="0"/>
              </a:rPr>
              <a:t>        _mint(</a:t>
            </a:r>
            <a:r>
              <a:rPr lang="en-US" sz="1800" err="1">
                <a:latin typeface="Consolas" panose="020B0609020204030204" pitchFamily="49" charset="0"/>
              </a:rPr>
              <a:t>msg.sender</a:t>
            </a:r>
            <a:r>
              <a:rPr lang="en-US" sz="1800">
                <a:latin typeface="Consolas" panose="020B0609020204030204" pitchFamily="49" charset="0"/>
              </a:rPr>
              <a:t>, </a:t>
            </a:r>
            <a:r>
              <a:rPr lang="en-US" sz="1800">
                <a:solidFill>
                  <a:schemeClr val="accent2">
                    <a:lumMod val="75000"/>
                  </a:schemeClr>
                </a:solidFill>
                <a:latin typeface="Consolas" panose="020B0609020204030204" pitchFamily="49" charset="0"/>
              </a:rPr>
              <a:t>100000</a:t>
            </a:r>
            <a:r>
              <a:rPr lang="en-US" sz="1800">
                <a:latin typeface="Consolas" panose="020B0609020204030204" pitchFamily="49" charset="0"/>
              </a:rPr>
              <a:t> </a:t>
            </a:r>
            <a:r>
              <a:rPr lang="en-US" sz="1800" b="1">
                <a:solidFill>
                  <a:schemeClr val="accent5">
                    <a:lumMod val="50000"/>
                  </a:schemeClr>
                </a:solidFill>
                <a:latin typeface="Consolas" panose="020B0609020204030204" pitchFamily="49" charset="0"/>
              </a:rPr>
              <a:t>*</a:t>
            </a:r>
            <a:r>
              <a:rPr lang="en-US" sz="1800">
                <a:latin typeface="Consolas" panose="020B0609020204030204" pitchFamily="49" charset="0"/>
              </a:rPr>
              <a:t> </a:t>
            </a:r>
            <a:r>
              <a:rPr lang="en-US" sz="1800">
                <a:solidFill>
                  <a:schemeClr val="accent2">
                    <a:lumMod val="75000"/>
                  </a:schemeClr>
                </a:solidFill>
                <a:latin typeface="Consolas" panose="020B0609020204030204" pitchFamily="49" charset="0"/>
              </a:rPr>
              <a:t>10</a:t>
            </a:r>
            <a:r>
              <a:rPr lang="en-US" sz="1800">
                <a:latin typeface="Consolas" panose="020B0609020204030204" pitchFamily="49" charset="0"/>
              </a:rPr>
              <a:t> </a:t>
            </a:r>
            <a:r>
              <a:rPr lang="en-US" sz="1800" b="1">
                <a:solidFill>
                  <a:schemeClr val="accent5">
                    <a:lumMod val="50000"/>
                  </a:schemeClr>
                </a:solidFill>
                <a:latin typeface="Consolas" panose="020B0609020204030204" pitchFamily="49" charset="0"/>
              </a:rPr>
              <a:t>**</a:t>
            </a:r>
            <a:r>
              <a:rPr lang="en-US" sz="1800">
                <a:latin typeface="Consolas" panose="020B0609020204030204" pitchFamily="49" charset="0"/>
              </a:rPr>
              <a:t> _DECIMALS);</a:t>
            </a:r>
          </a:p>
          <a:p>
            <a:r>
              <a:rPr lang="en-US" sz="1800">
                <a:latin typeface="Consolas" panose="020B0609020204030204" pitchFamily="49" charset="0"/>
              </a:rPr>
              <a:t>    </a:t>
            </a:r>
            <a:r>
              <a:rPr lang="en-US" sz="1800" b="1">
                <a:solidFill>
                  <a:schemeClr val="accent5">
                    <a:lumMod val="50000"/>
                  </a:schemeClr>
                </a:solidFill>
                <a:latin typeface="Consolas" panose="020B0609020204030204" pitchFamily="49" charset="0"/>
              </a:rPr>
              <a:t>}</a:t>
            </a:r>
          </a:p>
          <a:p>
            <a:endParaRPr lang="en-US" sz="1800">
              <a:latin typeface="Consolas" panose="020B0609020204030204" pitchFamily="49" charset="0"/>
            </a:endParaRPr>
          </a:p>
          <a:p>
            <a:r>
              <a:rPr lang="en-US" sz="1800">
                <a:latin typeface="Consolas" panose="020B0609020204030204" pitchFamily="49" charset="0"/>
              </a:rPr>
              <a:t>    </a:t>
            </a:r>
            <a:r>
              <a:rPr lang="en-US" sz="1800">
                <a:solidFill>
                  <a:schemeClr val="accent5"/>
                </a:solidFill>
                <a:latin typeface="Consolas" panose="020B0609020204030204" pitchFamily="49" charset="0"/>
              </a:rPr>
              <a:t>function</a:t>
            </a:r>
            <a:r>
              <a:rPr lang="en-US" sz="1800">
                <a:latin typeface="Consolas" panose="020B0609020204030204" pitchFamily="49" charset="0"/>
              </a:rPr>
              <a:t> decimals() </a:t>
            </a:r>
            <a:r>
              <a:rPr lang="en-US" sz="1800">
                <a:solidFill>
                  <a:schemeClr val="accent5"/>
                </a:solidFill>
                <a:latin typeface="Consolas" panose="020B0609020204030204" pitchFamily="49" charset="0"/>
              </a:rPr>
              <a:t>public</a:t>
            </a:r>
            <a:r>
              <a:rPr lang="en-US" sz="1800">
                <a:latin typeface="Consolas" panose="020B0609020204030204" pitchFamily="49" charset="0"/>
              </a:rPr>
              <a:t> pure override returns (uint8) </a:t>
            </a:r>
            <a:r>
              <a:rPr lang="en-US" sz="1800" b="1">
                <a:solidFill>
                  <a:schemeClr val="accent5">
                    <a:lumMod val="50000"/>
                  </a:schemeClr>
                </a:solidFill>
                <a:latin typeface="Consolas" panose="020B0609020204030204" pitchFamily="49" charset="0"/>
              </a:rPr>
              <a:t>{</a:t>
            </a:r>
          </a:p>
          <a:p>
            <a:r>
              <a:rPr lang="en-US" sz="1800">
                <a:latin typeface="Consolas" panose="020B0609020204030204" pitchFamily="49" charset="0"/>
              </a:rPr>
              <a:t>        </a:t>
            </a:r>
            <a:r>
              <a:rPr lang="en-US" sz="1800">
                <a:solidFill>
                  <a:schemeClr val="accent5"/>
                </a:solidFill>
                <a:latin typeface="Consolas" panose="020B0609020204030204" pitchFamily="49" charset="0"/>
              </a:rPr>
              <a:t>return</a:t>
            </a:r>
            <a:r>
              <a:rPr lang="en-US" sz="1800">
                <a:latin typeface="Consolas" panose="020B0609020204030204" pitchFamily="49" charset="0"/>
              </a:rPr>
              <a:t> _DECIMALS;</a:t>
            </a:r>
          </a:p>
          <a:p>
            <a:r>
              <a:rPr lang="en-US" sz="1800">
                <a:latin typeface="Consolas" panose="020B0609020204030204" pitchFamily="49" charset="0"/>
              </a:rPr>
              <a:t>    </a:t>
            </a:r>
            <a:r>
              <a:rPr lang="en-US" sz="1800" b="1">
                <a:solidFill>
                  <a:schemeClr val="accent5">
                    <a:lumMod val="50000"/>
                  </a:schemeClr>
                </a:solidFill>
                <a:latin typeface="Consolas" panose="020B0609020204030204" pitchFamily="49" charset="0"/>
              </a:rPr>
              <a:t>}</a:t>
            </a:r>
          </a:p>
          <a:p>
            <a:r>
              <a:rPr lang="en-US" sz="1800" b="1">
                <a:solidFill>
                  <a:schemeClr val="accent5">
                    <a:lumMod val="50000"/>
                  </a:schemeClr>
                </a:solidFill>
                <a:latin typeface="Consolas" panose="020B0609020204030204" pitchFamily="49" charset="0"/>
              </a:rPr>
              <a:t>}</a:t>
            </a:r>
          </a:p>
        </p:txBody>
      </p:sp>
    </p:spTree>
    <p:extLst>
      <p:ext uri="{BB962C8B-B14F-4D97-AF65-F5344CB8AC3E}">
        <p14:creationId xmlns:p14="http://schemas.microsoft.com/office/powerpoint/2010/main" val="130899524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Concluding Remarks</a:t>
            </a:r>
          </a:p>
        </p:txBody>
      </p:sp>
      <p:sp>
        <p:nvSpPr>
          <p:cNvPr id="3" name="Content Placeholder 2"/>
          <p:cNvSpPr>
            <a:spLocks noGrp="1"/>
          </p:cNvSpPr>
          <p:nvPr>
            <p:ph idx="1"/>
          </p:nvPr>
        </p:nvSpPr>
        <p:spPr/>
        <p:txBody>
          <a:bodyPr>
            <a:normAutofit/>
          </a:bodyPr>
          <a:lstStyle/>
          <a:p>
            <a:r>
              <a:rPr lang="en-US" b="1" dirty="0"/>
              <a:t>Stablecoins as a Bridge</a:t>
            </a:r>
          </a:p>
          <a:p>
            <a:pPr lvl="1"/>
            <a:r>
              <a:rPr lang="en-US" dirty="0"/>
              <a:t>Provide stability in the volatile crypto ecosystem by pegging value to fiat, commodities, or cryptocurrency</a:t>
            </a:r>
          </a:p>
          <a:p>
            <a:pPr lvl="1"/>
            <a:r>
              <a:rPr lang="en-US" dirty="0"/>
              <a:t>Ensure trust, liquidity, </a:t>
            </a:r>
            <a:r>
              <a:rPr lang="en-US"/>
              <a:t>and usability</a:t>
            </a:r>
            <a:endParaRPr lang="en-US" dirty="0"/>
          </a:p>
          <a:p>
            <a:r>
              <a:rPr lang="en-US" b="1" dirty="0"/>
              <a:t>Key Opportunities</a:t>
            </a:r>
          </a:p>
          <a:p>
            <a:pPr lvl="1"/>
            <a:r>
              <a:rPr lang="en-US" dirty="0"/>
              <a:t>Faster, cheaper cross-border payments</a:t>
            </a:r>
          </a:p>
          <a:p>
            <a:pPr lvl="1"/>
            <a:r>
              <a:rPr lang="en-US" dirty="0"/>
              <a:t>Improved financial inclusion and access</a:t>
            </a:r>
          </a:p>
          <a:p>
            <a:pPr lvl="1"/>
            <a:r>
              <a:rPr lang="en-US" dirty="0"/>
              <a:t>Institutional settlement efficiency</a:t>
            </a:r>
          </a:p>
          <a:p>
            <a:r>
              <a:rPr lang="en-US" b="1" dirty="0"/>
              <a:t>Challenges</a:t>
            </a:r>
          </a:p>
          <a:p>
            <a:pPr lvl="1"/>
            <a:r>
              <a:rPr lang="en-US" dirty="0"/>
              <a:t>Regulatory compliance and oversight</a:t>
            </a:r>
          </a:p>
          <a:p>
            <a:pPr lvl="1"/>
            <a:r>
              <a:rPr lang="en-US" dirty="0"/>
              <a:t>Dependence on oracles and collateral management</a:t>
            </a:r>
          </a:p>
        </p:txBody>
      </p:sp>
      <p:sp>
        <p:nvSpPr>
          <p:cNvPr id="4" name="Slide Number Placeholder 3"/>
          <p:cNvSpPr>
            <a:spLocks noGrp="1"/>
          </p:cNvSpPr>
          <p:nvPr>
            <p:ph type="sldNum" sz="quarter" idx="12"/>
          </p:nvPr>
        </p:nvSpPr>
        <p:spPr/>
        <p:txBody>
          <a:bodyPr/>
          <a:lstStyle/>
          <a:p>
            <a:fld id="{123BC241-7286-4066-AAE4-0801D26EA29E}" type="slidenum">
              <a:rPr lang="aa-ET" smtClean="0"/>
              <a:t>38</a:t>
            </a:fld>
            <a:endParaRPr lang="aa-ET"/>
          </a:p>
        </p:txBody>
      </p:sp>
    </p:spTree>
    <p:extLst>
      <p:ext uri="{BB962C8B-B14F-4D97-AF65-F5344CB8AC3E}">
        <p14:creationId xmlns:p14="http://schemas.microsoft.com/office/powerpoint/2010/main" val="1846471101"/>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eme_Ayesh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_Ayesha" id="{AE0499E2-76F2-4F63-850D-D79D88549216}" vid="{195E5D1D-B7AE-4F98-A698-07C9495039D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Theme_Ayesha</Template>
  <TotalTime>591</TotalTime>
  <Words>2860</Words>
  <Application>Microsoft Office PowerPoint</Application>
  <PresentationFormat>Widescreen</PresentationFormat>
  <Paragraphs>402</Paragraphs>
  <Slides>38</Slides>
  <Notes>13</Notes>
  <HiddenSlides>2</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38</vt:i4>
      </vt:variant>
    </vt:vector>
  </HeadingPairs>
  <TitlesOfParts>
    <vt:vector size="48" baseType="lpstr">
      <vt:lpstr>Arial</vt:lpstr>
      <vt:lpstr>Calibri</vt:lpstr>
      <vt:lpstr>Calibri Light</vt:lpstr>
      <vt:lpstr>Candara</vt:lpstr>
      <vt:lpstr>Canva Sans</vt:lpstr>
      <vt:lpstr>Consolas</vt:lpstr>
      <vt:lpstr>System Font Regular</vt:lpstr>
      <vt:lpstr>Wingdings</vt:lpstr>
      <vt:lpstr>1_Office Theme</vt:lpstr>
      <vt:lpstr>Theme_Ayesha</vt:lpstr>
      <vt:lpstr>Introduction to Blockchain  CSE-355</vt:lpstr>
      <vt:lpstr>Lecture 25 Tuesday, Apr 28, 2026</vt:lpstr>
      <vt:lpstr>Stablecoins &amp; Digital Assets:  Use Cases and Opportunities</vt:lpstr>
      <vt:lpstr>Outline</vt:lpstr>
      <vt:lpstr>Stablecoin - Definition</vt:lpstr>
      <vt:lpstr>Stablecoin - Properties</vt:lpstr>
      <vt:lpstr>Stablecoins - Types</vt:lpstr>
      <vt:lpstr>Stablecoin - Types</vt:lpstr>
      <vt:lpstr>Stablecoin - Types</vt:lpstr>
      <vt:lpstr>Stablecoin – Fiat Currency-backed</vt:lpstr>
      <vt:lpstr>Stablecoin – Fiat Currency-backed</vt:lpstr>
      <vt:lpstr>Fiat Currency-backed Stablecoins by Market Capitalization </vt:lpstr>
      <vt:lpstr>Stablecoin – Non-Currency Asset-Backed</vt:lpstr>
      <vt:lpstr>Stablecoin – Non-Currency Asset-Backed</vt:lpstr>
      <vt:lpstr>Non-Currency Asset-Backed Stablecoins by Market Capitalization </vt:lpstr>
      <vt:lpstr>Lecture 26 Thursday, Apr 30, 2026</vt:lpstr>
      <vt:lpstr>Stablecoin - Cryptocurrency-Backed</vt:lpstr>
      <vt:lpstr>Stablecoin - Cryptocurrency-Backed</vt:lpstr>
      <vt:lpstr>Stablecoin - Cryptocurrency-Backed</vt:lpstr>
      <vt:lpstr>Stablecoin - Cryptocurrency-Backed</vt:lpstr>
      <vt:lpstr>Cryptocurrency-Backed Stablecoin by Market Capitalization </vt:lpstr>
      <vt:lpstr>Stablecoin - Algorithmic Non-collateralized</vt:lpstr>
      <vt:lpstr>Stablecoin - Algorithmic Non-collateralized</vt:lpstr>
      <vt:lpstr>Stability Mechanism: Algorithmic Non-collateralized Stablecoin</vt:lpstr>
      <vt:lpstr>Algorithmic Non-collateralized Stablecoin by Market Capitalization </vt:lpstr>
      <vt:lpstr>Stablecoin - Hybrid</vt:lpstr>
      <vt:lpstr>Stablecoin - Hybrid</vt:lpstr>
      <vt:lpstr>Stablecoin – Private Institutional</vt:lpstr>
      <vt:lpstr>Stablecoin – Private Institutional</vt:lpstr>
      <vt:lpstr>Institutional Settlement Example: JPM Coin</vt:lpstr>
      <vt:lpstr>Institutional Settlement Example: JPM Coin</vt:lpstr>
      <vt:lpstr>ERC-20 Token Standard</vt:lpstr>
      <vt:lpstr>Examples of ERC-20 Tokens</vt:lpstr>
      <vt:lpstr>ERC-20 Token Standard</vt:lpstr>
      <vt:lpstr>ERC-20 Token Standard</vt:lpstr>
      <vt:lpstr>ERC-20 Token Standard</vt:lpstr>
      <vt:lpstr>ERC-20 Token Standard</vt:lpstr>
      <vt:lpstr>Concluding Remarks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Collaborative Fault Management in Business Processes</dc:title>
  <dc:creator>Muhammad Adeel Zahid</dc:creator>
  <cp:lastModifiedBy>Dr. Ahmed Akhtar / Assistant Professor</cp:lastModifiedBy>
  <cp:revision>16</cp:revision>
  <cp:lastPrinted>2026-05-05T09:03:06Z</cp:lastPrinted>
  <dcterms:created xsi:type="dcterms:W3CDTF">2019-06-07T14:41:21Z</dcterms:created>
  <dcterms:modified xsi:type="dcterms:W3CDTF">2026-05-05T09:26:03Z</dcterms:modified>
</cp:coreProperties>
</file>