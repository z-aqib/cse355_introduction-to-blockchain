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27"/>
  </p:notesMasterIdLst>
  <p:sldIdLst>
    <p:sldId id="1585" r:id="rId3"/>
    <p:sldId id="1875" r:id="rId4"/>
    <p:sldId id="1834" r:id="rId5"/>
    <p:sldId id="1857" r:id="rId6"/>
    <p:sldId id="1858" r:id="rId7"/>
    <p:sldId id="1866" r:id="rId8"/>
    <p:sldId id="1873" r:id="rId9"/>
    <p:sldId id="796" r:id="rId10"/>
    <p:sldId id="891" r:id="rId11"/>
    <p:sldId id="892" r:id="rId12"/>
    <p:sldId id="895" r:id="rId13"/>
    <p:sldId id="896" r:id="rId14"/>
    <p:sldId id="897" r:id="rId15"/>
    <p:sldId id="920" r:id="rId16"/>
    <p:sldId id="1876" r:id="rId17"/>
    <p:sldId id="1248" r:id="rId18"/>
    <p:sldId id="1249" r:id="rId19"/>
    <p:sldId id="1254" r:id="rId20"/>
    <p:sldId id="1255" r:id="rId21"/>
    <p:sldId id="1511" r:id="rId22"/>
    <p:sldId id="1267" r:id="rId23"/>
    <p:sldId id="1269" r:id="rId24"/>
    <p:sldId id="1270" r:id="rId25"/>
    <p:sldId id="125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0B4"/>
    <a:srgbClr val="FFE699"/>
    <a:srgbClr val="B3D7EF"/>
    <a:srgbClr val="C3B4EF"/>
    <a:srgbClr val="9DC3E6"/>
    <a:srgbClr val="680E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54BA5-242D-427C-86FC-DB9C6F0CA8B1}" v="54" dt="2026-04-09T09:17:55.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2484" autoAdjust="0"/>
  </p:normalViewPr>
  <p:slideViewPr>
    <p:cSldViewPr snapToGrid="0">
      <p:cViewPr varScale="1">
        <p:scale>
          <a:sx n="65" d="100"/>
          <a:sy n="65" d="100"/>
        </p:scale>
        <p:origin x="1277" y="3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khtar" userId="24df8cbf-c4bb-4b0f-990a-c34b46f32809" providerId="ADAL" clId="{7B603757-AF4F-447D-9CF3-5B3B3781D1BD}"/>
    <pc:docChg chg="custSel addSld delSld modSld sldOrd modMainMaster">
      <pc:chgData name="Ahmed Akhtar" userId="24df8cbf-c4bb-4b0f-990a-c34b46f32809" providerId="ADAL" clId="{7B603757-AF4F-447D-9CF3-5B3B3781D1BD}" dt="2026-04-09T09:17:55.950" v="88"/>
      <pc:docMkLst>
        <pc:docMk/>
      </pc:docMkLst>
      <pc:sldChg chg="modAnim">
        <pc:chgData name="Ahmed Akhtar" userId="24df8cbf-c4bb-4b0f-990a-c34b46f32809" providerId="ADAL" clId="{7B603757-AF4F-447D-9CF3-5B3B3781D1BD}" dt="2026-04-07T10:20:41.087" v="61"/>
        <pc:sldMkLst>
          <pc:docMk/>
          <pc:sldMk cId="3261474029" sldId="796"/>
        </pc:sldMkLst>
      </pc:sldChg>
      <pc:sldChg chg="addAnim delAnim modAnim">
        <pc:chgData name="Ahmed Akhtar" userId="24df8cbf-c4bb-4b0f-990a-c34b46f32809" providerId="ADAL" clId="{7B603757-AF4F-447D-9CF3-5B3B3781D1BD}" dt="2026-04-09T09:08:13.867" v="70"/>
        <pc:sldMkLst>
          <pc:docMk/>
          <pc:sldMk cId="2317071971" sldId="1248"/>
        </pc:sldMkLst>
      </pc:sldChg>
      <pc:sldChg chg="addAnim delAnim">
        <pc:chgData name="Ahmed Akhtar" userId="24df8cbf-c4bb-4b0f-990a-c34b46f32809" providerId="ADAL" clId="{7B603757-AF4F-447D-9CF3-5B3B3781D1BD}" dt="2026-04-09T09:11:07.564" v="71"/>
        <pc:sldMkLst>
          <pc:docMk/>
          <pc:sldMk cId="1711359678" sldId="1249"/>
        </pc:sldMkLst>
      </pc:sldChg>
      <pc:sldChg chg="addAnim delAnim modAnim">
        <pc:chgData name="Ahmed Akhtar" userId="24df8cbf-c4bb-4b0f-990a-c34b46f32809" providerId="ADAL" clId="{7B603757-AF4F-447D-9CF3-5B3B3781D1BD}" dt="2026-04-09T09:11:48.028" v="79"/>
        <pc:sldMkLst>
          <pc:docMk/>
          <pc:sldMk cId="2530630012" sldId="1254"/>
        </pc:sldMkLst>
      </pc:sldChg>
      <pc:sldChg chg="modAnim">
        <pc:chgData name="Ahmed Akhtar" userId="24df8cbf-c4bb-4b0f-990a-c34b46f32809" providerId="ADAL" clId="{7B603757-AF4F-447D-9CF3-5B3B3781D1BD}" dt="2026-04-09T09:17:55.950" v="88"/>
        <pc:sldMkLst>
          <pc:docMk/>
          <pc:sldMk cId="3324455970" sldId="1269"/>
        </pc:sldMkLst>
      </pc:sldChg>
      <pc:sldChg chg="modAnim">
        <pc:chgData name="Ahmed Akhtar" userId="24df8cbf-c4bb-4b0f-990a-c34b46f32809" providerId="ADAL" clId="{7B603757-AF4F-447D-9CF3-5B3B3781D1BD}" dt="2026-04-07T06:34:06.763" v="41"/>
        <pc:sldMkLst>
          <pc:docMk/>
          <pc:sldMk cId="4098467071" sldId="1834"/>
        </pc:sldMkLst>
      </pc:sldChg>
      <pc:sldChg chg="modAnim">
        <pc:chgData name="Ahmed Akhtar" userId="24df8cbf-c4bb-4b0f-990a-c34b46f32809" providerId="ADAL" clId="{7B603757-AF4F-447D-9CF3-5B3B3781D1BD}" dt="2026-04-07T06:35:43.477" v="53"/>
        <pc:sldMkLst>
          <pc:docMk/>
          <pc:sldMk cId="1568901048" sldId="1857"/>
        </pc:sldMkLst>
      </pc:sldChg>
      <pc:sldChg chg="modSp add mod ord">
        <pc:chgData name="Ahmed Akhtar" userId="24df8cbf-c4bb-4b0f-990a-c34b46f32809" providerId="ADAL" clId="{7B603757-AF4F-447D-9CF3-5B3B3781D1BD}" dt="2026-04-06T21:10:38.313" v="32"/>
        <pc:sldMkLst>
          <pc:docMk/>
          <pc:sldMk cId="151553507" sldId="1876"/>
        </pc:sldMkLst>
        <pc:spChg chg="mod">
          <ac:chgData name="Ahmed Akhtar" userId="24df8cbf-c4bb-4b0f-990a-c34b46f32809" providerId="ADAL" clId="{7B603757-AF4F-447D-9CF3-5B3B3781D1BD}" dt="2026-04-06T21:09:31.635" v="30" actId="20577"/>
          <ac:spMkLst>
            <pc:docMk/>
            <pc:sldMk cId="151553507" sldId="1876"/>
            <ac:spMk id="2" creationId="{A481AA92-88E9-717B-D01C-9A21BF6D6D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4510C-395A-4356-89D7-97DFD619E12E}"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9AE28-5153-4CA5-B96B-FF1564D78CE0}" type="slidenum">
              <a:rPr lang="en-US" smtClean="0"/>
              <a:t>‹#›</a:t>
            </a:fld>
            <a:endParaRPr lang="en-US"/>
          </a:p>
        </p:txBody>
      </p:sp>
    </p:spTree>
    <p:extLst>
      <p:ext uri="{BB962C8B-B14F-4D97-AF65-F5344CB8AC3E}">
        <p14:creationId xmlns:p14="http://schemas.microsoft.com/office/powerpoint/2010/main" val="2590073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441-6582-E7F9-4722-23CA10EF9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CBD-37BA-320F-0498-2FBDDF25A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40E71-C87A-0B56-00D5-27F7BEAA3768}"/>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5946C2-ED0D-D3F0-737B-0299160800D4}"/>
              </a:ext>
            </a:extLst>
          </p:cNvPr>
          <p:cNvSpPr>
            <a:spLocks noGrp="1"/>
          </p:cNvSpPr>
          <p:nvPr>
            <p:ph type="sldNum" sz="quarter" idx="5"/>
          </p:nvPr>
        </p:nvSpPr>
        <p:spPr/>
        <p:txBody>
          <a:bodyPr/>
          <a:lstStyle/>
          <a:p>
            <a:fld id="{8007DBF7-D854-5948-86B6-07B87F1D8E96}" type="slidenum">
              <a:rPr lang="en-PK" smtClean="0"/>
              <a:t>1</a:t>
            </a:fld>
            <a:endParaRPr lang="en-PK"/>
          </a:p>
        </p:txBody>
      </p:sp>
    </p:spTree>
    <p:extLst>
      <p:ext uri="{BB962C8B-B14F-4D97-AF65-F5344CB8AC3E}">
        <p14:creationId xmlns:p14="http://schemas.microsoft.com/office/powerpoint/2010/main" val="31632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It is however, possible to do non-collaborative batch processing in Ethereum </a:t>
            </a:r>
          </a:p>
        </p:txBody>
      </p:sp>
      <p:sp>
        <p:nvSpPr>
          <p:cNvPr id="4" name="Slide Number Placeholder 3"/>
          <p:cNvSpPr>
            <a:spLocks noGrp="1"/>
          </p:cNvSpPr>
          <p:nvPr>
            <p:ph type="sldNum" sz="quarter" idx="5"/>
          </p:nvPr>
        </p:nvSpPr>
        <p:spPr/>
        <p:txBody>
          <a:bodyPr/>
          <a:lstStyle/>
          <a:p>
            <a:fld id="{20C9AE28-5153-4CA5-B96B-FF1564D78CE0}" type="slidenum">
              <a:rPr lang="en-US" smtClean="0"/>
              <a:t>4</a:t>
            </a:fld>
            <a:endParaRPr lang="en-US"/>
          </a:p>
        </p:txBody>
      </p:sp>
    </p:spTree>
    <p:extLst>
      <p:ext uri="{BB962C8B-B14F-4D97-AF65-F5344CB8AC3E}">
        <p14:creationId xmlns:p14="http://schemas.microsoft.com/office/powerpoint/2010/main" val="1576131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3624AA66-5286-4A71-8DC1-D387DED69229}" type="slidenum">
              <a:rPr lang="en-US" smtClean="0"/>
              <a:t>8</a:t>
            </a:fld>
            <a:endParaRPr lang="en-US" dirty="0"/>
          </a:p>
        </p:txBody>
      </p:sp>
    </p:spTree>
    <p:extLst>
      <p:ext uri="{BB962C8B-B14F-4D97-AF65-F5344CB8AC3E}">
        <p14:creationId xmlns:p14="http://schemas.microsoft.com/office/powerpoint/2010/main" val="4123820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9</a:t>
            </a:fld>
            <a:endParaRPr lang="en-US" dirty="0"/>
          </a:p>
        </p:txBody>
      </p:sp>
    </p:spTree>
    <p:extLst>
      <p:ext uri="{BB962C8B-B14F-4D97-AF65-F5344CB8AC3E}">
        <p14:creationId xmlns:p14="http://schemas.microsoft.com/office/powerpoint/2010/main" val="3783959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0C9AE28-5153-4CA5-B96B-FF1564D78CE0}" type="slidenum">
              <a:rPr lang="en-US" smtClean="0"/>
              <a:t>11</a:t>
            </a:fld>
            <a:endParaRPr lang="en-US"/>
          </a:p>
        </p:txBody>
      </p:sp>
    </p:spTree>
    <p:extLst>
      <p:ext uri="{BB962C8B-B14F-4D97-AF65-F5344CB8AC3E}">
        <p14:creationId xmlns:p14="http://schemas.microsoft.com/office/powerpoint/2010/main" val="3539052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13</a:t>
            </a:fld>
            <a:endParaRPr lang="en-US" dirty="0"/>
          </a:p>
        </p:txBody>
      </p:sp>
    </p:spTree>
    <p:extLst>
      <p:ext uri="{BB962C8B-B14F-4D97-AF65-F5344CB8AC3E}">
        <p14:creationId xmlns:p14="http://schemas.microsoft.com/office/powerpoint/2010/main" val="3340354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https://en.wikipedia.org/wiki/Vitalik_Buterin#/media/File:VitalikButerinProfile.jpg </a:t>
            </a:r>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1421360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3109067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10"/>
          </p:nvPr>
        </p:nvSpPr>
        <p:spPr/>
        <p:txBody>
          <a:bodyPr/>
          <a:lstStyle/>
          <a:p>
            <a:fld id="{3624AA66-5286-4A71-8DC1-D387DED69229}" type="slidenum">
              <a:rPr lang="en-US" smtClean="0"/>
              <a:t>20</a:t>
            </a:fld>
            <a:endParaRPr lang="en-US" dirty="0"/>
          </a:p>
        </p:txBody>
      </p:sp>
    </p:spTree>
    <p:extLst>
      <p:ext uri="{BB962C8B-B14F-4D97-AF65-F5344CB8AC3E}">
        <p14:creationId xmlns:p14="http://schemas.microsoft.com/office/powerpoint/2010/main" val="3084958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21</a:t>
            </a:fld>
            <a:endParaRPr lang="en-US" dirty="0"/>
          </a:p>
        </p:txBody>
      </p:sp>
    </p:spTree>
    <p:extLst>
      <p:ext uri="{BB962C8B-B14F-4D97-AF65-F5344CB8AC3E}">
        <p14:creationId xmlns:p14="http://schemas.microsoft.com/office/powerpoint/2010/main" val="2335527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22</a:t>
            </a:fld>
            <a:endParaRPr lang="en-US" dirty="0"/>
          </a:p>
        </p:txBody>
      </p:sp>
    </p:spTree>
    <p:extLst>
      <p:ext uri="{BB962C8B-B14F-4D97-AF65-F5344CB8AC3E}">
        <p14:creationId xmlns:p14="http://schemas.microsoft.com/office/powerpoint/2010/main" val="2859699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23</a:t>
            </a:fld>
            <a:endParaRPr lang="en-US" dirty="0"/>
          </a:p>
        </p:txBody>
      </p:sp>
    </p:spTree>
    <p:extLst>
      <p:ext uri="{BB962C8B-B14F-4D97-AF65-F5344CB8AC3E}">
        <p14:creationId xmlns:p14="http://schemas.microsoft.com/office/powerpoint/2010/main" val="1843418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858-D394-1DF3-8548-66CE55288883}"/>
              </a:ext>
            </a:extLst>
          </p:cNvPr>
          <p:cNvSpPr>
            <a:spLocks noGrp="1"/>
          </p:cNvSpPr>
          <p:nvPr>
            <p:ph type="ctrTitle"/>
          </p:nvPr>
        </p:nvSpPr>
        <p:spPr>
          <a:xfrm>
            <a:off x="1524000" y="1894523"/>
            <a:ext cx="9144000" cy="2387600"/>
          </a:xfrm>
        </p:spPr>
        <p:txBody>
          <a:bodyPr anchor="b">
            <a:normAutofit/>
          </a:bodyPr>
          <a:lstStyle>
            <a:lvl1pPr algn="ctr">
              <a:defRPr sz="5400">
                <a:solidFill>
                  <a:srgbClr val="0432FF"/>
                </a:solidFill>
              </a:defRPr>
            </a:lvl1pPr>
          </a:lstStyle>
          <a:p>
            <a:r>
              <a:rPr lang="en-GB" dirty="0"/>
              <a:t>Click to edit Master title style</a:t>
            </a:r>
            <a:endParaRPr lang="en-PK" dirty="0"/>
          </a:p>
        </p:txBody>
      </p:sp>
      <p:sp>
        <p:nvSpPr>
          <p:cNvPr id="3" name="Subtitle 2">
            <a:extLst>
              <a:ext uri="{FF2B5EF4-FFF2-40B4-BE49-F238E27FC236}">
                <a16:creationId xmlns:a16="http://schemas.microsoft.com/office/drawing/2014/main" id="{0676C1A2-C823-594D-0305-E762FC21A848}"/>
              </a:ext>
            </a:extLst>
          </p:cNvPr>
          <p:cNvSpPr>
            <a:spLocks noGrp="1"/>
          </p:cNvSpPr>
          <p:nvPr>
            <p:ph type="subTitle" idx="1"/>
          </p:nvPr>
        </p:nvSpPr>
        <p:spPr>
          <a:xfrm>
            <a:off x="1524000" y="4561840"/>
            <a:ext cx="9144000" cy="15849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PK" dirty="0"/>
          </a:p>
        </p:txBody>
      </p:sp>
      <p:sp>
        <p:nvSpPr>
          <p:cNvPr id="4" name="Date Placeholder 3">
            <a:extLst>
              <a:ext uri="{FF2B5EF4-FFF2-40B4-BE49-F238E27FC236}">
                <a16:creationId xmlns:a16="http://schemas.microsoft.com/office/drawing/2014/main" id="{D21EADBC-FC3A-F6AB-47B4-2E47609F86F4}"/>
              </a:ext>
            </a:extLst>
          </p:cNvPr>
          <p:cNvSpPr>
            <a:spLocks noGrp="1"/>
          </p:cNvSpPr>
          <p:nvPr>
            <p:ph type="dt" sz="half" idx="10"/>
          </p:nvPr>
        </p:nvSpPr>
        <p:spPr/>
        <p:txBody>
          <a:bodyPr/>
          <a:lstStyle/>
          <a:p>
            <a:fld id="{C3849243-4112-7B47-A574-2D273E35D5BF}" type="datetime1">
              <a:rPr lang="en-US" smtClean="0"/>
              <a:t>4/9/2026</a:t>
            </a:fld>
            <a:endParaRPr lang="en-US" dirty="0"/>
          </a:p>
        </p:txBody>
      </p:sp>
      <p:sp>
        <p:nvSpPr>
          <p:cNvPr id="5" name="Footer Placeholder 4">
            <a:extLst>
              <a:ext uri="{FF2B5EF4-FFF2-40B4-BE49-F238E27FC236}">
                <a16:creationId xmlns:a16="http://schemas.microsoft.com/office/drawing/2014/main" id="{A40CD5FA-CF77-D285-681E-29E6811E87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101942-960C-299C-A498-C3ED2A47A9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327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BD9A-E09E-27C0-F440-9D83036CB997}"/>
              </a:ext>
            </a:extLst>
          </p:cNvPr>
          <p:cNvSpPr>
            <a:spLocks noGrp="1"/>
          </p:cNvSpPr>
          <p:nvPr>
            <p:ph type="title"/>
          </p:nvPr>
        </p:nvSpPr>
        <p:spPr>
          <a:xfrm>
            <a:off x="487680" y="101601"/>
            <a:ext cx="11186160" cy="985519"/>
          </a:xfrm>
        </p:spPr>
        <p:txBody>
          <a:bodyPr/>
          <a:lstStyle>
            <a:lvl1pPr>
              <a:defRPr>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5E8317A4-8BBD-54EB-8341-6A6B099145E6}"/>
              </a:ext>
            </a:extLst>
          </p:cNvPr>
          <p:cNvSpPr>
            <a:spLocks noGrp="1"/>
          </p:cNvSpPr>
          <p:nvPr>
            <p:ph idx="1"/>
          </p:nvPr>
        </p:nvSpPr>
        <p:spPr>
          <a:xfrm>
            <a:off x="487680" y="1097280"/>
            <a:ext cx="11186160" cy="5079683"/>
          </a:xfrm>
        </p:spPr>
        <p:txBody>
          <a:bodyPr>
            <a:normAutofit/>
          </a:bodyPr>
          <a:lstStyle>
            <a:lvl1pPr>
              <a:defRPr sz="3200"/>
            </a:lvl1pPr>
            <a:lvl2pPr marL="685800" indent="-228600">
              <a:buFont typeface="System Font Regular"/>
              <a:buChar char="−"/>
              <a:defRPr sz="2800"/>
            </a:lvl2pPr>
            <a:lvl3pPr marL="1143000" indent="-228600">
              <a:buFont typeface="Wingdings" pitchFamily="2" charset="2"/>
              <a:buChar char="§"/>
              <a:defRPr sz="2400"/>
            </a:lvl3pPr>
            <a:lvl4pPr>
              <a:defRPr sz="2000"/>
            </a:lvl4pPr>
            <a:lvl5pPr>
              <a:defRPr sz="2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K" dirty="0"/>
          </a:p>
        </p:txBody>
      </p:sp>
      <p:sp>
        <p:nvSpPr>
          <p:cNvPr id="10" name="Date Placeholder 9">
            <a:extLst>
              <a:ext uri="{FF2B5EF4-FFF2-40B4-BE49-F238E27FC236}">
                <a16:creationId xmlns:a16="http://schemas.microsoft.com/office/drawing/2014/main" id="{5348C2E2-1287-A287-C5A8-249139348A29}"/>
              </a:ext>
            </a:extLst>
          </p:cNvPr>
          <p:cNvSpPr>
            <a:spLocks noGrp="1"/>
          </p:cNvSpPr>
          <p:nvPr>
            <p:ph type="dt" sz="half" idx="10"/>
          </p:nvPr>
        </p:nvSpPr>
        <p:spPr/>
        <p:txBody>
          <a:bodyPr/>
          <a:lstStyle/>
          <a:p>
            <a:fld id="{817CC187-CAD7-6048-8C63-99BBB8908136}" type="datetime1">
              <a:rPr lang="en-US" smtClean="0"/>
              <a:t>4/9/2026</a:t>
            </a:fld>
            <a:endParaRPr lang="en-US" dirty="0"/>
          </a:p>
        </p:txBody>
      </p:sp>
      <p:sp>
        <p:nvSpPr>
          <p:cNvPr id="11" name="Footer Placeholder 10">
            <a:extLst>
              <a:ext uri="{FF2B5EF4-FFF2-40B4-BE49-F238E27FC236}">
                <a16:creationId xmlns:a16="http://schemas.microsoft.com/office/drawing/2014/main" id="{1DC7CB26-524D-696E-CC83-507688F1F030}"/>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C5E6A54D-DC81-738E-1BEE-B237D69CCA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38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648-4538-750C-7EE1-223668DCD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5600F2E1-ECAA-4DD2-425F-64F40CAD30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E963A2-C90D-F927-6660-D043609CC6B9}"/>
              </a:ext>
            </a:extLst>
          </p:cNvPr>
          <p:cNvSpPr>
            <a:spLocks noGrp="1"/>
          </p:cNvSpPr>
          <p:nvPr>
            <p:ph type="dt" sz="half" idx="10"/>
          </p:nvPr>
        </p:nvSpPr>
        <p:spPr/>
        <p:txBody>
          <a:bodyPr/>
          <a:lstStyle/>
          <a:p>
            <a:fld id="{AB3EF2E6-6629-DA43-81BC-EC712F4B5466}" type="datetime1">
              <a:rPr lang="en-US" smtClean="0"/>
              <a:t>4/9/2026</a:t>
            </a:fld>
            <a:endParaRPr lang="en-US" dirty="0"/>
          </a:p>
        </p:txBody>
      </p:sp>
      <p:sp>
        <p:nvSpPr>
          <p:cNvPr id="5" name="Footer Placeholder 4">
            <a:extLst>
              <a:ext uri="{FF2B5EF4-FFF2-40B4-BE49-F238E27FC236}">
                <a16:creationId xmlns:a16="http://schemas.microsoft.com/office/drawing/2014/main" id="{38BFE049-0473-B4C2-1291-C73354AD41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731B0E-4E34-EAD8-A1D1-57CBD5CE222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7218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983-ACF4-D2FF-550D-7521D9C10608}"/>
              </a:ext>
            </a:extLst>
          </p:cNvPr>
          <p:cNvSpPr>
            <a:spLocks noGrp="1"/>
          </p:cNvSpPr>
          <p:nvPr>
            <p:ph type="title"/>
          </p:nvPr>
        </p:nvSpPr>
        <p:spPr/>
        <p:txBody>
          <a:bodyPr/>
          <a:lstStyle>
            <a:lvl1pPr>
              <a:defRPr baseline="0">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867760F6-F485-781B-D79F-C026B432F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0C0A9B31-1608-966B-6FF9-D180F6BA70E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AE4E9F2A-B43F-F0D4-3F76-27FB4DE7B7DA}"/>
              </a:ext>
            </a:extLst>
          </p:cNvPr>
          <p:cNvSpPr>
            <a:spLocks noGrp="1"/>
          </p:cNvSpPr>
          <p:nvPr>
            <p:ph type="dt" sz="half" idx="10"/>
          </p:nvPr>
        </p:nvSpPr>
        <p:spPr/>
        <p:txBody>
          <a:bodyPr/>
          <a:lstStyle/>
          <a:p>
            <a:fld id="{36F14FDE-C188-ED4A-8904-90C7377CA55E}" type="datetime1">
              <a:rPr lang="en-US" smtClean="0"/>
              <a:t>4/9/2026</a:t>
            </a:fld>
            <a:endParaRPr lang="en-US" dirty="0"/>
          </a:p>
        </p:txBody>
      </p:sp>
      <p:sp>
        <p:nvSpPr>
          <p:cNvPr id="6" name="Footer Placeholder 5">
            <a:extLst>
              <a:ext uri="{FF2B5EF4-FFF2-40B4-BE49-F238E27FC236}">
                <a16:creationId xmlns:a16="http://schemas.microsoft.com/office/drawing/2014/main" id="{8C05907C-697C-ED08-3F75-E31B2EE3DB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AA1F3D-78B2-4FF0-F5DB-76EFAA2F79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2651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2D-0C64-FBAF-5593-D97CF801A3C1}"/>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451EA66-FAC3-3698-6220-1A94F8A42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CA302E-0245-F0D0-D052-B1D8D82B27C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5CA6952-B46D-38B4-F728-B77FC9960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D0A727-B6BA-1E0C-A4A4-CEAA10F30F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297075C-8C1E-2AE7-1628-AE106A293753}"/>
              </a:ext>
            </a:extLst>
          </p:cNvPr>
          <p:cNvSpPr>
            <a:spLocks noGrp="1"/>
          </p:cNvSpPr>
          <p:nvPr>
            <p:ph type="dt" sz="half" idx="10"/>
          </p:nvPr>
        </p:nvSpPr>
        <p:spPr/>
        <p:txBody>
          <a:bodyPr/>
          <a:lstStyle/>
          <a:p>
            <a:fld id="{731959A2-FD1F-D047-9B71-2099CD96FB05}" type="datetime1">
              <a:rPr lang="en-US" smtClean="0"/>
              <a:t>4/9/2026</a:t>
            </a:fld>
            <a:endParaRPr lang="en-US" dirty="0"/>
          </a:p>
        </p:txBody>
      </p:sp>
      <p:sp>
        <p:nvSpPr>
          <p:cNvPr id="8" name="Footer Placeholder 7">
            <a:extLst>
              <a:ext uri="{FF2B5EF4-FFF2-40B4-BE49-F238E27FC236}">
                <a16:creationId xmlns:a16="http://schemas.microsoft.com/office/drawing/2014/main" id="{B32270EF-DDC8-5339-C583-77D7407937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0C3B1F-1426-32FD-9474-94C0B22380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4352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2E3-B42B-8881-ECBD-DD87B0837FE7}"/>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en-PK" dirty="0"/>
          </a:p>
        </p:txBody>
      </p:sp>
      <p:sp>
        <p:nvSpPr>
          <p:cNvPr id="3" name="Date Placeholder 2">
            <a:extLst>
              <a:ext uri="{FF2B5EF4-FFF2-40B4-BE49-F238E27FC236}">
                <a16:creationId xmlns:a16="http://schemas.microsoft.com/office/drawing/2014/main" id="{02BCC8C1-CDF5-4584-D4F9-21C17A750A43}"/>
              </a:ext>
            </a:extLst>
          </p:cNvPr>
          <p:cNvSpPr>
            <a:spLocks noGrp="1"/>
          </p:cNvSpPr>
          <p:nvPr>
            <p:ph type="dt" sz="half" idx="10"/>
          </p:nvPr>
        </p:nvSpPr>
        <p:spPr/>
        <p:txBody>
          <a:bodyPr/>
          <a:lstStyle/>
          <a:p>
            <a:fld id="{1A5421AD-14B7-AB4F-B42E-6335F98BEAFF}" type="datetime1">
              <a:rPr lang="en-US" smtClean="0"/>
              <a:t>4/9/2026</a:t>
            </a:fld>
            <a:endParaRPr lang="en-US" dirty="0"/>
          </a:p>
        </p:txBody>
      </p:sp>
      <p:sp>
        <p:nvSpPr>
          <p:cNvPr id="4" name="Footer Placeholder 3">
            <a:extLst>
              <a:ext uri="{FF2B5EF4-FFF2-40B4-BE49-F238E27FC236}">
                <a16:creationId xmlns:a16="http://schemas.microsoft.com/office/drawing/2014/main" id="{5CC88A07-7922-BC79-0A35-EFFA19918C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F73C74-5D1C-ADB6-FF80-7000D00307D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5407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375D4-3AF6-A58E-051F-58D7D1235B76}"/>
              </a:ext>
            </a:extLst>
          </p:cNvPr>
          <p:cNvSpPr>
            <a:spLocks noGrp="1"/>
          </p:cNvSpPr>
          <p:nvPr>
            <p:ph type="dt" sz="half" idx="10"/>
          </p:nvPr>
        </p:nvSpPr>
        <p:spPr/>
        <p:txBody>
          <a:bodyPr/>
          <a:lstStyle/>
          <a:p>
            <a:fld id="{AF87A72A-0C74-6E44-A7EE-CA74955F1256}" type="datetime1">
              <a:rPr lang="en-US" smtClean="0"/>
              <a:t>4/9/2026</a:t>
            </a:fld>
            <a:endParaRPr lang="en-US" dirty="0"/>
          </a:p>
        </p:txBody>
      </p:sp>
      <p:sp>
        <p:nvSpPr>
          <p:cNvPr id="3" name="Footer Placeholder 2">
            <a:extLst>
              <a:ext uri="{FF2B5EF4-FFF2-40B4-BE49-F238E27FC236}">
                <a16:creationId xmlns:a16="http://schemas.microsoft.com/office/drawing/2014/main" id="{5F7B3ECF-6748-2655-F77F-E8CA401631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F60ABE-8C6A-9352-A215-6EBF86F837B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968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5DAC-4002-01D9-6457-D37C5DF97F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DC7FBE91-7D8E-3944-5569-40E8D6B74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D0E325B0-27F2-9710-58F6-0C07626C2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7CBABE-1AE7-D70C-7708-85020C73E59E}"/>
              </a:ext>
            </a:extLst>
          </p:cNvPr>
          <p:cNvSpPr>
            <a:spLocks noGrp="1"/>
          </p:cNvSpPr>
          <p:nvPr>
            <p:ph type="dt" sz="half" idx="10"/>
          </p:nvPr>
        </p:nvSpPr>
        <p:spPr/>
        <p:txBody>
          <a:bodyPr/>
          <a:lstStyle/>
          <a:p>
            <a:fld id="{A09B1005-574F-D344-BCB1-9D2AB269A3EC}" type="datetime1">
              <a:rPr lang="en-US" smtClean="0"/>
              <a:t>4/9/2026</a:t>
            </a:fld>
            <a:endParaRPr lang="en-US" dirty="0"/>
          </a:p>
        </p:txBody>
      </p:sp>
      <p:sp>
        <p:nvSpPr>
          <p:cNvPr id="6" name="Footer Placeholder 5">
            <a:extLst>
              <a:ext uri="{FF2B5EF4-FFF2-40B4-BE49-F238E27FC236}">
                <a16:creationId xmlns:a16="http://schemas.microsoft.com/office/drawing/2014/main" id="{78A73628-77BC-4A24-08E2-D57F3D53AD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05F63F-7883-63AF-C6F9-B3BC8A2E159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4091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EB26-001F-167A-6BA0-DCD22D5914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67DCA67E-ABF8-043E-F669-25D35A32A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21ED5B5-8357-7928-0AFB-A855388E3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A618A2-5986-F9BA-EC13-3460B7AB14B2}"/>
              </a:ext>
            </a:extLst>
          </p:cNvPr>
          <p:cNvSpPr>
            <a:spLocks noGrp="1"/>
          </p:cNvSpPr>
          <p:nvPr>
            <p:ph type="dt" sz="half" idx="10"/>
          </p:nvPr>
        </p:nvSpPr>
        <p:spPr/>
        <p:txBody>
          <a:bodyPr/>
          <a:lstStyle/>
          <a:p>
            <a:fld id="{C818EC7F-129E-B04A-94CE-A0E8D5F704B5}" type="datetime1">
              <a:rPr lang="en-US" smtClean="0"/>
              <a:t>4/9/2026</a:t>
            </a:fld>
            <a:endParaRPr lang="en-US" dirty="0"/>
          </a:p>
        </p:txBody>
      </p:sp>
      <p:sp>
        <p:nvSpPr>
          <p:cNvPr id="6" name="Footer Placeholder 5">
            <a:extLst>
              <a:ext uri="{FF2B5EF4-FFF2-40B4-BE49-F238E27FC236}">
                <a16:creationId xmlns:a16="http://schemas.microsoft.com/office/drawing/2014/main" id="{C9607585-1E53-29E6-E14C-D4E5C685D0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9FB97-D9C9-FC78-3D39-E81B1517740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975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7194-44EF-7006-9E4C-D94DF8394AB2}"/>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A9D5E83A-839B-9260-0A21-8B997EE526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39D60F5-F487-9F40-578A-E36732D3A2B4}"/>
              </a:ext>
            </a:extLst>
          </p:cNvPr>
          <p:cNvSpPr>
            <a:spLocks noGrp="1"/>
          </p:cNvSpPr>
          <p:nvPr>
            <p:ph type="dt" sz="half" idx="10"/>
          </p:nvPr>
        </p:nvSpPr>
        <p:spPr/>
        <p:txBody>
          <a:bodyPr/>
          <a:lstStyle/>
          <a:p>
            <a:fld id="{BADEC171-6AFE-CA49-AAE9-DDDD51BDA4CC}" type="datetime1">
              <a:rPr lang="en-US" smtClean="0"/>
              <a:t>4/9/2026</a:t>
            </a:fld>
            <a:endParaRPr lang="en-US" dirty="0"/>
          </a:p>
        </p:txBody>
      </p:sp>
      <p:sp>
        <p:nvSpPr>
          <p:cNvPr id="5" name="Footer Placeholder 4">
            <a:extLst>
              <a:ext uri="{FF2B5EF4-FFF2-40B4-BE49-F238E27FC236}">
                <a16:creationId xmlns:a16="http://schemas.microsoft.com/office/drawing/2014/main" id="{D6694D0E-FEF0-3CE4-88E0-9B5CC1342B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3A42E7-F5E7-2271-1D3F-3BB0DA5FB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1236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7BDCBF-90E9-B6D4-B1BD-BB6439AE412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30AB2C1-4897-983B-2FB9-BD11C271D0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5B12C104-D518-1AB2-0F63-977F49D661E8}"/>
              </a:ext>
            </a:extLst>
          </p:cNvPr>
          <p:cNvSpPr>
            <a:spLocks noGrp="1"/>
          </p:cNvSpPr>
          <p:nvPr>
            <p:ph type="dt" sz="half" idx="10"/>
          </p:nvPr>
        </p:nvSpPr>
        <p:spPr/>
        <p:txBody>
          <a:bodyPr/>
          <a:lstStyle/>
          <a:p>
            <a:fld id="{7A7BC7AE-E3C9-5846-8CAD-0E757E344CB1}" type="datetime1">
              <a:rPr lang="en-US" smtClean="0"/>
              <a:t>4/9/2026</a:t>
            </a:fld>
            <a:endParaRPr lang="en-US" dirty="0"/>
          </a:p>
        </p:txBody>
      </p:sp>
      <p:sp>
        <p:nvSpPr>
          <p:cNvPr id="5" name="Footer Placeholder 4">
            <a:extLst>
              <a:ext uri="{FF2B5EF4-FFF2-40B4-BE49-F238E27FC236}">
                <a16:creationId xmlns:a16="http://schemas.microsoft.com/office/drawing/2014/main" id="{0C66A4A2-8093-06BB-B2C2-65BC1329E4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4C8E6A-87A5-42E0-E66E-73CA8E9847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056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484879" y="143137"/>
            <a:ext cx="11272129" cy="942352"/>
          </a:xfrm>
          <a:prstGeom prst="rect">
            <a:avLst/>
          </a:prstGeom>
        </p:spPr>
        <p:txBody>
          <a:bodyPr/>
          <a:lstStyle/>
          <a:p>
            <a:r>
              <a:rPr dirty="0"/>
              <a:t>Title Text</a:t>
            </a:r>
          </a:p>
        </p:txBody>
      </p:sp>
      <p:sp>
        <p:nvSpPr>
          <p:cNvPr id="57" name="Body Level One…"/>
          <p:cNvSpPr txBox="1">
            <a:spLocks noGrp="1"/>
          </p:cNvSpPr>
          <p:nvPr>
            <p:ph type="body" idx="1"/>
          </p:nvPr>
        </p:nvSpPr>
        <p:spPr>
          <a:xfrm>
            <a:off x="468168" y="1161288"/>
            <a:ext cx="11198603" cy="5343989"/>
          </a:xfrm>
          <a:prstGeom prst="rect">
            <a:avLst/>
          </a:prstGeom>
        </p:spPr>
        <p:txBody>
          <a:bodyPr>
            <a:normAutofit/>
          </a:bodyPr>
          <a:lstStyle>
            <a:lvl1pPr>
              <a:defRPr sz="3200"/>
            </a:lvl1pPr>
            <a:lvl2pPr marL="685800" indent="-228600">
              <a:buFont typeface="System Font Regular"/>
              <a:buChar char="−"/>
              <a:defRPr sz="2800"/>
            </a:lvl2pPr>
            <a:lvl3pPr>
              <a:defRPr sz="2400"/>
            </a:lvl3pPr>
            <a:lvl4pPr>
              <a:defRPr sz="2000"/>
            </a:lvl4pPr>
            <a:lvl5pPr>
              <a:defRPr sz="20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Date Placeholder 3">
            <a:extLst>
              <a:ext uri="{FF2B5EF4-FFF2-40B4-BE49-F238E27FC236}">
                <a16:creationId xmlns:a16="http://schemas.microsoft.com/office/drawing/2014/main" id="{BA413C1A-A16E-3242-A2B3-521C11C1A208}"/>
              </a:ext>
            </a:extLst>
          </p:cNvPr>
          <p:cNvSpPr>
            <a:spLocks noGrp="1"/>
          </p:cNvSpPr>
          <p:nvPr>
            <p:ph type="dt" sz="half" idx="10"/>
          </p:nvPr>
        </p:nvSpPr>
        <p:spPr>
          <a:xfrm>
            <a:off x="838200" y="6485446"/>
            <a:ext cx="2743200" cy="365125"/>
          </a:xfrm>
        </p:spPr>
        <p:txBody>
          <a:bodyPr/>
          <a:lstStyle>
            <a:lvl1pPr>
              <a:defRPr>
                <a:solidFill>
                  <a:schemeClr val="tx1"/>
                </a:solidFill>
              </a:defRPr>
            </a:lvl1pPr>
          </a:lstStyle>
          <a:p>
            <a:fld id="{F26B42B1-ACC7-BB4A-9D3D-E79A92B76714}" type="datetime1">
              <a:rPr lang="en-US" smtClean="0"/>
              <a:t>4/9/2026</a:t>
            </a:fld>
            <a:endParaRPr lang="en-US" dirty="0"/>
          </a:p>
        </p:txBody>
      </p:sp>
      <p:sp>
        <p:nvSpPr>
          <p:cNvPr id="6" name="Footer Placeholder 4">
            <a:extLst>
              <a:ext uri="{FF2B5EF4-FFF2-40B4-BE49-F238E27FC236}">
                <a16:creationId xmlns:a16="http://schemas.microsoft.com/office/drawing/2014/main" id="{DFAA7152-9480-AC46-B8CB-94D0C226C147}"/>
              </a:ext>
            </a:extLst>
          </p:cNvPr>
          <p:cNvSpPr>
            <a:spLocks noGrp="1"/>
          </p:cNvSpPr>
          <p:nvPr>
            <p:ph type="ftr" sz="quarter" idx="11"/>
          </p:nvPr>
        </p:nvSpPr>
        <p:spPr>
          <a:xfrm>
            <a:off x="4038600" y="6485446"/>
            <a:ext cx="4114800" cy="365125"/>
          </a:xfrm>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186273373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73400"/>
            <a:ext cx="9144000" cy="2108201"/>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hasCustomPrompt="1"/>
          </p:nvPr>
        </p:nvSpPr>
        <p:spPr>
          <a:xfrm>
            <a:off x="1524000" y="1714501"/>
            <a:ext cx="9144000" cy="1231901"/>
          </a:xfrm>
        </p:spPr>
        <p:txBody>
          <a:bodyPr>
            <a:normAutofit/>
          </a:bodyPr>
          <a:lstStyle>
            <a:lvl1pPr marL="0" indent="0" algn="ctr">
              <a:buNone/>
              <a:defRPr sz="2400"/>
            </a:lvl1pPr>
            <a:lvl2pPr marL="342892" indent="0" algn="ctr">
              <a:buNone/>
              <a:defRPr sz="1500"/>
            </a:lvl2pPr>
            <a:lvl3pPr marL="685783" indent="0" algn="ctr">
              <a:buNone/>
              <a:defRPr sz="1425"/>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Lecture 1</a:t>
            </a:r>
          </a:p>
        </p:txBody>
      </p:sp>
      <p:sp>
        <p:nvSpPr>
          <p:cNvPr id="4" name="TextBox 3"/>
          <p:cNvSpPr txBox="1"/>
          <p:nvPr userDrawn="1"/>
        </p:nvSpPr>
        <p:spPr>
          <a:xfrm>
            <a:off x="4855411" y="6550224"/>
            <a:ext cx="7336589" cy="307777"/>
          </a:xfrm>
          <a:prstGeom prst="rect">
            <a:avLst/>
          </a:prstGeom>
          <a:noFill/>
        </p:spPr>
        <p:txBody>
          <a:bodyPr wrap="square" rtlCol="0">
            <a:spAutoFit/>
          </a:bodyPr>
          <a:lstStyle/>
          <a:p>
            <a:r>
              <a:rPr lang="en-US" sz="1400" kern="1200" dirty="0">
                <a:solidFill>
                  <a:srgbClr val="24469D"/>
                </a:solidFill>
                <a:latin typeface="+mn-lt"/>
                <a:ea typeface="+mn-ea"/>
                <a:cs typeface="+mn-cs"/>
              </a:rPr>
              <a:t>Spring 2026 | CSE-355 | Introduction to Blockchain</a:t>
            </a:r>
          </a:p>
        </p:txBody>
      </p:sp>
      <p:sp>
        <p:nvSpPr>
          <p:cNvPr id="5" name="Rectangle 4"/>
          <p:cNvSpPr/>
          <p:nvPr userDrawn="1"/>
        </p:nvSpPr>
        <p:spPr>
          <a:xfrm>
            <a:off x="1339728" y="407000"/>
            <a:ext cx="5055531" cy="315469"/>
          </a:xfrm>
          <a:prstGeom prst="rect">
            <a:avLst/>
          </a:prstGeom>
        </p:spPr>
        <p:txBody>
          <a:bodyPr wrap="square" lIns="68579" tIns="34289" rIns="68579" bIns="34289">
            <a:spAutoFit/>
          </a:bodyPr>
          <a:lstStyle/>
          <a:p>
            <a:r>
              <a:rPr lang="en-US" sz="1600" dirty="0">
                <a:solidFill>
                  <a:srgbClr val="24469D"/>
                </a:solidFill>
              </a:rPr>
              <a:t>Institute of Business Administration Karachi</a:t>
            </a:r>
          </a:p>
        </p:txBody>
      </p:sp>
      <p:sp>
        <p:nvSpPr>
          <p:cNvPr id="7" name="TextBox 6"/>
          <p:cNvSpPr txBox="1"/>
          <p:nvPr userDrawn="1"/>
        </p:nvSpPr>
        <p:spPr>
          <a:xfrm>
            <a:off x="1" y="6540532"/>
            <a:ext cx="1821012" cy="317468"/>
          </a:xfrm>
          <a:prstGeom prst="rect">
            <a:avLst/>
          </a:prstGeom>
          <a:noFill/>
        </p:spPr>
        <p:txBody>
          <a:bodyPr wrap="square" rtlCol="0">
            <a:spAutoFit/>
          </a:bodyPr>
          <a:lstStyle/>
          <a:p>
            <a:r>
              <a:rPr lang="en-US" sz="1400" kern="1200" dirty="0">
                <a:solidFill>
                  <a:srgbClr val="24469D"/>
                </a:solidFill>
                <a:latin typeface="+mn-lt"/>
                <a:ea typeface="+mn-ea"/>
                <a:cs typeface="+mn-cs"/>
              </a:rPr>
              <a:t>Spring 2026</a:t>
            </a:r>
          </a:p>
        </p:txBody>
      </p:sp>
    </p:spTree>
    <p:extLst>
      <p:ext uri="{BB962C8B-B14F-4D97-AF65-F5344CB8AC3E}">
        <p14:creationId xmlns:p14="http://schemas.microsoft.com/office/powerpoint/2010/main" val="191746930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5755"/>
            <a:ext cx="10515600" cy="914067"/>
          </a:xfrm>
        </p:spPr>
        <p:txBody>
          <a:bodyPr>
            <a:normAutofit/>
          </a:bodyPr>
          <a:lstStyle>
            <a:lvl1pPr algn="r">
              <a:defRPr sz="2800" b="1"/>
            </a:lvl1pPr>
          </a:lstStyle>
          <a:p>
            <a:r>
              <a:rPr lang="en-US" dirty="0"/>
              <a:t>Click to edit Master title style</a:t>
            </a:r>
          </a:p>
        </p:txBody>
      </p:sp>
      <p:sp>
        <p:nvSpPr>
          <p:cNvPr id="3" name="Content Placeholder 2"/>
          <p:cNvSpPr>
            <a:spLocks noGrp="1"/>
          </p:cNvSpPr>
          <p:nvPr>
            <p:ph idx="1"/>
          </p:nvPr>
        </p:nvSpPr>
        <p:spPr>
          <a:xfrm>
            <a:off x="838200" y="1348969"/>
            <a:ext cx="10515600" cy="4827997"/>
          </a:xfrm>
        </p:spPr>
        <p:txBody>
          <a:bodyPr/>
          <a:lstStyle>
            <a:lvl1pPr>
              <a:lnSpc>
                <a:spcPct val="100000"/>
              </a:lnSpc>
              <a:defRPr sz="2200"/>
            </a:lvl1pPr>
            <a:lvl2pPr>
              <a:lnSpc>
                <a:spcPct val="100000"/>
              </a:lnSpc>
              <a:defRPr/>
            </a:lvl2pPr>
            <a:lvl3pPr>
              <a:lnSpc>
                <a:spcPct val="100000"/>
              </a:lnSpc>
              <a:defRPr sz="1600"/>
            </a:lvl3pPr>
            <a:lvl4pPr>
              <a:lnSpc>
                <a:spcPct val="100000"/>
              </a:lnSpc>
              <a:defRPr sz="1500"/>
            </a:lvl4pPr>
            <a:lvl5pPr>
              <a:lnSpc>
                <a:spcPct val="100000"/>
              </a:lnSpc>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0601580" y="6492148"/>
            <a:ext cx="1313507" cy="365125"/>
          </a:xfrm>
        </p:spPr>
        <p:txBody>
          <a:bodyPr/>
          <a:lstStyle/>
          <a:p>
            <a:fld id="{19FE8B7B-3258-47CD-BBC0-34D05FC906E5}" type="slidenum">
              <a:rPr lang="en-US" smtClean="0"/>
              <a:t>‹#›</a:t>
            </a:fld>
            <a:endParaRPr lang="en-US" dirty="0"/>
          </a:p>
        </p:txBody>
      </p:sp>
      <p:sp>
        <p:nvSpPr>
          <p:cNvPr id="4" name="TextBox 3"/>
          <p:cNvSpPr txBox="1"/>
          <p:nvPr userDrawn="1"/>
        </p:nvSpPr>
        <p:spPr>
          <a:xfrm>
            <a:off x="4513179" y="6626584"/>
            <a:ext cx="2962277" cy="246221"/>
          </a:xfrm>
          <a:prstGeom prst="rect">
            <a:avLst/>
          </a:prstGeom>
          <a:noFill/>
        </p:spPr>
        <p:txBody>
          <a:bodyPr wrap="square" rtlCol="0">
            <a:spAutoFit/>
          </a:bodyPr>
          <a:lstStyle/>
          <a:p>
            <a:r>
              <a:rPr lang="en-US" sz="1000" dirty="0">
                <a:solidFill>
                  <a:schemeClr val="tx2">
                    <a:lumMod val="60000"/>
                    <a:lumOff val="40000"/>
                  </a:schemeClr>
                </a:solidFill>
              </a:rPr>
              <a:t>Spring 2026 | CSE-355 | Introduction to Blockchain</a:t>
            </a:r>
          </a:p>
        </p:txBody>
      </p:sp>
    </p:spTree>
    <p:extLst>
      <p:ext uri="{BB962C8B-B14F-4D97-AF65-F5344CB8AC3E}">
        <p14:creationId xmlns:p14="http://schemas.microsoft.com/office/powerpoint/2010/main" val="358898579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1604963"/>
          </a:xfrm>
        </p:spPr>
        <p:txBody>
          <a:bodyPr anchor="b">
            <a:normAutofit/>
          </a:bodyPr>
          <a:lstStyle>
            <a:lvl1pPr>
              <a:defRPr sz="3300"/>
            </a:lvl1pPr>
          </a:lstStyle>
          <a:p>
            <a:r>
              <a:rPr lang="en-US" dirty="0"/>
              <a:t>Click to edit Master title style</a:t>
            </a:r>
          </a:p>
        </p:txBody>
      </p:sp>
      <p:sp>
        <p:nvSpPr>
          <p:cNvPr id="3" name="Text Placeholder 2"/>
          <p:cNvSpPr>
            <a:spLocks noGrp="1"/>
          </p:cNvSpPr>
          <p:nvPr>
            <p:ph type="body" idx="1"/>
          </p:nvPr>
        </p:nvSpPr>
        <p:spPr>
          <a:xfrm>
            <a:off x="831851" y="3314704"/>
            <a:ext cx="10515600" cy="2774949"/>
          </a:xfrm>
        </p:spPr>
        <p:txBody>
          <a:bodyPr/>
          <a:lstStyle>
            <a:lvl1pPr marL="0" indent="0" algn="ctr">
              <a:buNone/>
              <a:defRPr sz="1800">
                <a:solidFill>
                  <a:schemeClr val="accent5"/>
                </a:solidFill>
              </a:defRPr>
            </a:lvl1pPr>
            <a:lvl2pPr marL="342892" indent="0">
              <a:buNone/>
              <a:defRPr sz="1500">
                <a:solidFill>
                  <a:schemeClr val="tx1">
                    <a:tint val="75000"/>
                  </a:schemeClr>
                </a:solidFill>
              </a:defRPr>
            </a:lvl2pPr>
            <a:lvl3pPr marL="685783" indent="0">
              <a:buNone/>
              <a:defRPr sz="1425">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p:txBody>
          <a:bodyPr/>
          <a:lstStyle/>
          <a:p>
            <a:fld id="{19FE8B7B-3258-47CD-BBC0-34D05FC906E5}" type="slidenum">
              <a:rPr lang="en-US" smtClean="0"/>
              <a:t>‹#›</a:t>
            </a:fld>
            <a:endParaRPr lang="en-US" dirty="0"/>
          </a:p>
        </p:txBody>
      </p:sp>
    </p:spTree>
    <p:extLst>
      <p:ext uri="{BB962C8B-B14F-4D97-AF65-F5344CB8AC3E}">
        <p14:creationId xmlns:p14="http://schemas.microsoft.com/office/powerpoint/2010/main" val="367804562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19FE8B7B-3258-47CD-BBC0-34D05FC906E5}" type="slidenum">
              <a:rPr lang="en-US" smtClean="0"/>
              <a:t>‹#›</a:t>
            </a:fld>
            <a:endParaRPr lang="en-US" dirty="0"/>
          </a:p>
        </p:txBody>
      </p:sp>
      <p:sp>
        <p:nvSpPr>
          <p:cNvPr id="8" name="Title 1"/>
          <p:cNvSpPr>
            <a:spLocks noGrp="1"/>
          </p:cNvSpPr>
          <p:nvPr>
            <p:ph type="title"/>
          </p:nvPr>
        </p:nvSpPr>
        <p:spPr>
          <a:xfrm>
            <a:off x="1055472" y="115755"/>
            <a:ext cx="10515600" cy="914067"/>
          </a:xfrm>
        </p:spPr>
        <p:txBody>
          <a:bodyPr>
            <a:normAutofit/>
          </a:bodyPr>
          <a:lstStyle>
            <a:lvl1pPr algn="r">
              <a:defRPr sz="2400" b="1"/>
            </a:lvl1pPr>
          </a:lstStyle>
          <a:p>
            <a:r>
              <a:rPr lang="en-US" dirty="0"/>
              <a:t>Click to edit Master title style</a:t>
            </a:r>
          </a:p>
        </p:txBody>
      </p:sp>
    </p:spTree>
    <p:extLst>
      <p:ext uri="{BB962C8B-B14F-4D97-AF65-F5344CB8AC3E}">
        <p14:creationId xmlns:p14="http://schemas.microsoft.com/office/powerpoint/2010/main" val="197947250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892" indent="0">
              <a:buNone/>
              <a:defRPr sz="1500" b="1"/>
            </a:lvl2pPr>
            <a:lvl3pPr marL="685783" indent="0">
              <a:buNone/>
              <a:defRPr sz="1425"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1800" b="1"/>
            </a:lvl1pPr>
            <a:lvl2pPr marL="342892" indent="0">
              <a:buNone/>
              <a:defRPr sz="1500" b="1"/>
            </a:lvl2pPr>
            <a:lvl3pPr marL="685783" indent="0">
              <a:buNone/>
              <a:defRPr sz="1425"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8"/>
          <p:cNvSpPr>
            <a:spLocks noGrp="1"/>
          </p:cNvSpPr>
          <p:nvPr>
            <p:ph type="sldNum" sz="quarter" idx="12"/>
          </p:nvPr>
        </p:nvSpPr>
        <p:spPr/>
        <p:txBody>
          <a:bodyPr/>
          <a:lstStyle/>
          <a:p>
            <a:fld id="{19FE8B7B-3258-47CD-BBC0-34D05FC906E5}" type="slidenum">
              <a:rPr lang="en-US" smtClean="0"/>
              <a:t>‹#›</a:t>
            </a:fld>
            <a:endParaRPr lang="en-US" dirty="0"/>
          </a:p>
        </p:txBody>
      </p:sp>
      <p:sp>
        <p:nvSpPr>
          <p:cNvPr id="10" name="Title 1"/>
          <p:cNvSpPr>
            <a:spLocks noGrp="1"/>
          </p:cNvSpPr>
          <p:nvPr>
            <p:ph type="title"/>
          </p:nvPr>
        </p:nvSpPr>
        <p:spPr>
          <a:xfrm>
            <a:off x="1055472" y="115755"/>
            <a:ext cx="10515600" cy="914067"/>
          </a:xfrm>
        </p:spPr>
        <p:txBody>
          <a:bodyPr>
            <a:normAutofit/>
          </a:bodyPr>
          <a:lstStyle>
            <a:lvl1pPr algn="r">
              <a:defRPr sz="2400" b="1"/>
            </a:lvl1pPr>
          </a:lstStyle>
          <a:p>
            <a:r>
              <a:rPr lang="en-US" dirty="0"/>
              <a:t>Click to edit Master title style</a:t>
            </a:r>
          </a:p>
        </p:txBody>
      </p:sp>
    </p:spTree>
    <p:extLst>
      <p:ext uri="{BB962C8B-B14F-4D97-AF65-F5344CB8AC3E}">
        <p14:creationId xmlns:p14="http://schemas.microsoft.com/office/powerpoint/2010/main" val="9547244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FE8B7B-3258-47CD-BBC0-34D05FC906E5}" type="slidenum">
              <a:rPr lang="en-US" smtClean="0"/>
              <a:t>‹#›</a:t>
            </a:fld>
            <a:endParaRPr lang="en-US" dirty="0"/>
          </a:p>
        </p:txBody>
      </p:sp>
      <p:sp>
        <p:nvSpPr>
          <p:cNvPr id="6" name="Title 1"/>
          <p:cNvSpPr>
            <a:spLocks noGrp="1"/>
          </p:cNvSpPr>
          <p:nvPr>
            <p:ph type="title"/>
          </p:nvPr>
        </p:nvSpPr>
        <p:spPr>
          <a:xfrm>
            <a:off x="1055472" y="115755"/>
            <a:ext cx="10515600" cy="914067"/>
          </a:xfrm>
        </p:spPr>
        <p:txBody>
          <a:bodyPr>
            <a:normAutofit/>
          </a:bodyPr>
          <a:lstStyle>
            <a:lvl1pPr algn="ctr">
              <a:defRPr sz="2400" b="1"/>
            </a:lvl1pPr>
          </a:lstStyle>
          <a:p>
            <a:r>
              <a:rPr lang="en-US" dirty="0"/>
              <a:t>Click to edit Master title style</a:t>
            </a:r>
          </a:p>
        </p:txBody>
      </p:sp>
    </p:spTree>
    <p:extLst>
      <p:ext uri="{BB962C8B-B14F-4D97-AF65-F5344CB8AC3E}">
        <p14:creationId xmlns:p14="http://schemas.microsoft.com/office/powerpoint/2010/main" val="251924074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txBox="1">
            <a:spLocks/>
          </p:cNvSpPr>
          <p:nvPr userDrawn="1"/>
        </p:nvSpPr>
        <p:spPr>
          <a:xfrm>
            <a:off x="9235257" y="6609031"/>
            <a:ext cx="2743200" cy="266347"/>
          </a:xfrm>
          <a:prstGeom prst="rect">
            <a:avLst/>
          </a:prstGeom>
        </p:spPr>
        <p:txBody>
          <a:bodyPr vert="horz" lIns="68579" tIns="34289" rIns="68579" bIns="34289"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FE8B7B-3258-47CD-BBC0-34D05FC906E5}" type="slidenum">
              <a:rPr lang="en-US" sz="900" smtClean="0">
                <a:solidFill>
                  <a:schemeClr val="tx1">
                    <a:lumMod val="75000"/>
                    <a:lumOff val="25000"/>
                  </a:schemeClr>
                </a:solidFill>
              </a:rPr>
              <a:pPr/>
              <a:t>‹#›</a:t>
            </a:fld>
            <a:endParaRPr lang="en-US" sz="900" dirty="0">
              <a:solidFill>
                <a:schemeClr val="tx1">
                  <a:lumMod val="75000"/>
                  <a:lumOff val="25000"/>
                </a:schemeClr>
              </a:solidFill>
            </a:endParaRPr>
          </a:p>
        </p:txBody>
      </p:sp>
      <p:sp>
        <p:nvSpPr>
          <p:cNvPr id="4" name="Footer Placeholder 4"/>
          <p:cNvSpPr>
            <a:spLocks noGrp="1"/>
          </p:cNvSpPr>
          <p:nvPr>
            <p:ph type="ftr" sz="quarter" idx="3"/>
          </p:nvPr>
        </p:nvSpPr>
        <p:spPr>
          <a:xfrm>
            <a:off x="262551" y="6581870"/>
            <a:ext cx="8872397" cy="266348"/>
          </a:xfrm>
          <a:prstGeom prst="rect">
            <a:avLst/>
          </a:prstGeom>
        </p:spPr>
        <p:txBody>
          <a:bodyPr vert="horz" lIns="91438" tIns="45719" rIns="91438" bIns="45719" rtlCol="0" anchor="ctr"/>
          <a:lstStyle>
            <a:lvl1pPr algn="l">
              <a:defRPr sz="900">
                <a:solidFill>
                  <a:schemeClr val="accent5">
                    <a:lumMod val="60000"/>
                    <a:lumOff val="40000"/>
                  </a:schemeClr>
                </a:solidFill>
              </a:defRPr>
            </a:lvl1pPr>
          </a:lstStyle>
          <a:p>
            <a:pPr>
              <a:defRPr/>
            </a:pPr>
            <a:endParaRPr lang="en-US" dirty="0">
              <a:solidFill>
                <a:srgbClr val="000000"/>
              </a:solidFill>
            </a:endParaRPr>
          </a:p>
        </p:txBody>
      </p:sp>
    </p:spTree>
    <p:extLst>
      <p:ext uri="{BB962C8B-B14F-4D97-AF65-F5344CB8AC3E}">
        <p14:creationId xmlns:p14="http://schemas.microsoft.com/office/powerpoint/2010/main" val="61727658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2" indent="0">
              <a:buNone/>
              <a:defRPr sz="1125"/>
            </a:lvl2pPr>
            <a:lvl3pPr marL="685783" indent="0">
              <a:buNone/>
              <a:defRPr sz="900"/>
            </a:lvl3pPr>
            <a:lvl4pPr marL="1028675" indent="0">
              <a:buNone/>
              <a:defRPr sz="825"/>
            </a:lvl4pPr>
            <a:lvl5pPr marL="1371566" indent="0">
              <a:buNone/>
              <a:defRPr sz="825"/>
            </a:lvl5pPr>
            <a:lvl6pPr marL="1714457" indent="0">
              <a:buNone/>
              <a:defRPr sz="825"/>
            </a:lvl6pPr>
            <a:lvl7pPr marL="2057348" indent="0">
              <a:buNone/>
              <a:defRPr sz="825"/>
            </a:lvl7pPr>
            <a:lvl8pPr marL="2400240" indent="0">
              <a:buNone/>
              <a:defRPr sz="825"/>
            </a:lvl8pPr>
            <a:lvl9pPr marL="2743132" indent="0">
              <a:buNone/>
              <a:defRPr sz="825"/>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246044172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8"/>
            <a:ext cx="617220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2" indent="0">
              <a:buNone/>
              <a:defRPr sz="1125"/>
            </a:lvl2pPr>
            <a:lvl3pPr marL="685783" indent="0">
              <a:buNone/>
              <a:defRPr sz="900"/>
            </a:lvl3pPr>
            <a:lvl4pPr marL="1028675" indent="0">
              <a:buNone/>
              <a:defRPr sz="825"/>
            </a:lvl4pPr>
            <a:lvl5pPr marL="1371566" indent="0">
              <a:buNone/>
              <a:defRPr sz="825"/>
            </a:lvl5pPr>
            <a:lvl6pPr marL="1714457" indent="0">
              <a:buNone/>
              <a:defRPr sz="825"/>
            </a:lvl6pPr>
            <a:lvl7pPr marL="2057348" indent="0">
              <a:buNone/>
              <a:defRPr sz="825"/>
            </a:lvl7pPr>
            <a:lvl8pPr marL="2400240" indent="0">
              <a:buNone/>
              <a:defRPr sz="825"/>
            </a:lvl8pPr>
            <a:lvl9pPr marL="2743132" indent="0">
              <a:buNone/>
              <a:defRPr sz="825"/>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242291238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8"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3071479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8"/>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2" y="365128"/>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8"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69930544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F3F57-E6B6-8186-2E62-9C692D195B24}"/>
              </a:ext>
            </a:extLst>
          </p:cNvPr>
          <p:cNvSpPr>
            <a:spLocks noGrp="1"/>
          </p:cNvSpPr>
          <p:nvPr>
            <p:ph type="title"/>
          </p:nvPr>
        </p:nvSpPr>
        <p:spPr>
          <a:xfrm>
            <a:off x="518160" y="101601"/>
            <a:ext cx="11104880" cy="985519"/>
          </a:xfrm>
          <a:prstGeom prst="rect">
            <a:avLst/>
          </a:prstGeom>
        </p:spPr>
        <p:txBody>
          <a:bodyPr vert="horz" lIns="91440" tIns="45720" rIns="91440" bIns="45720" rtlCol="0" anchor="ctr">
            <a:normAutofit/>
          </a:bodyPr>
          <a:lstStyle/>
          <a:p>
            <a:r>
              <a:rPr lang="en-GB" dirty="0"/>
              <a:t>Click to edit Master title style</a:t>
            </a:r>
            <a:endParaRPr lang="en-PK" dirty="0"/>
          </a:p>
        </p:txBody>
      </p:sp>
      <p:sp>
        <p:nvSpPr>
          <p:cNvPr id="3" name="Text Placeholder 2">
            <a:extLst>
              <a:ext uri="{FF2B5EF4-FFF2-40B4-BE49-F238E27FC236}">
                <a16:creationId xmlns:a16="http://schemas.microsoft.com/office/drawing/2014/main" id="{A2111C77-CC50-A510-3609-2D8F9FCB7313}"/>
              </a:ext>
            </a:extLst>
          </p:cNvPr>
          <p:cNvSpPr>
            <a:spLocks noGrp="1"/>
          </p:cNvSpPr>
          <p:nvPr>
            <p:ph type="body" idx="1"/>
          </p:nvPr>
        </p:nvSpPr>
        <p:spPr>
          <a:xfrm>
            <a:off x="518160" y="1097280"/>
            <a:ext cx="11104880" cy="50796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FDA1BAA1-DC72-3CD1-7F89-2EE55E23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andara" panose="020E0502030303020204" pitchFamily="34" charset="0"/>
              </a:defRPr>
            </a:lvl1pPr>
          </a:lstStyle>
          <a:p>
            <a:fld id="{2A23580C-EA65-AC41-9F7C-B6439987B4B7}" type="datetime1">
              <a:rPr lang="en-US" smtClean="0"/>
              <a:t>4/9/2026</a:t>
            </a:fld>
            <a:endParaRPr lang="en-US" dirty="0"/>
          </a:p>
        </p:txBody>
      </p:sp>
      <p:sp>
        <p:nvSpPr>
          <p:cNvPr id="5" name="Footer Placeholder 4">
            <a:extLst>
              <a:ext uri="{FF2B5EF4-FFF2-40B4-BE49-F238E27FC236}">
                <a16:creationId xmlns:a16="http://schemas.microsoft.com/office/drawing/2014/main" id="{37D29EAC-E423-483D-525E-9C75A5695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andara" panose="020E0502030303020204" pitchFamily="34" charset="0"/>
              </a:defRPr>
            </a:lvl1pPr>
          </a:lstStyle>
          <a:p>
            <a:endParaRPr lang="en-US" dirty="0"/>
          </a:p>
        </p:txBody>
      </p:sp>
      <p:cxnSp>
        <p:nvCxnSpPr>
          <p:cNvPr id="8" name="Straight Connector 7">
            <a:extLst>
              <a:ext uri="{FF2B5EF4-FFF2-40B4-BE49-F238E27FC236}">
                <a16:creationId xmlns:a16="http://schemas.microsoft.com/office/drawing/2014/main" id="{37901939-8975-2548-1296-9C55C71BB2BA}"/>
              </a:ext>
            </a:extLst>
          </p:cNvPr>
          <p:cNvCxnSpPr>
            <a:cxnSpLocks/>
          </p:cNvCxnSpPr>
          <p:nvPr userDrawn="1"/>
        </p:nvCxnSpPr>
        <p:spPr>
          <a:xfrm>
            <a:off x="518160" y="924560"/>
            <a:ext cx="11104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
        <p:nvSpPr>
          <p:cNvPr id="6" name="Slide Number Placeholder 5">
            <a:extLst>
              <a:ext uri="{FF2B5EF4-FFF2-40B4-BE49-F238E27FC236}">
                <a16:creationId xmlns:a16="http://schemas.microsoft.com/office/drawing/2014/main" id="{E65A1E25-5EFC-07B9-34A4-FC84A6B0A118}"/>
              </a:ext>
            </a:extLst>
          </p:cNvPr>
          <p:cNvSpPr>
            <a:spLocks noGrp="1"/>
          </p:cNvSpPr>
          <p:nvPr>
            <p:ph type="sldNum" sz="quarter" idx="4"/>
          </p:nvPr>
        </p:nvSpPr>
        <p:spPr>
          <a:xfrm>
            <a:off x="10620104" y="6578930"/>
            <a:ext cx="1060269" cy="279070"/>
          </a:xfrm>
          <a:prstGeom prst="rect">
            <a:avLst/>
          </a:prstGeom>
        </p:spPr>
        <p:txBody>
          <a:bodyPr vert="horz" lIns="91440" tIns="45720" rIns="91440" bIns="45720" rtlCol="0" anchor="ctr"/>
          <a:lstStyle>
            <a:lvl1pPr algn="r">
              <a:defRPr sz="1400" b="1" i="0" baseline="0">
                <a:solidFill>
                  <a:schemeClr val="tx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49299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defTabSz="914400" rtl="0" eaLnBrk="1" latinLnBrk="0" hangingPunct="1">
        <a:lnSpc>
          <a:spcPct val="90000"/>
        </a:lnSpc>
        <a:spcBef>
          <a:spcPct val="0"/>
        </a:spcBef>
        <a:buNone/>
        <a:defRPr sz="4400" b="0" i="0" kern="1200">
          <a:solidFill>
            <a:srgbClr val="0432FF"/>
          </a:solidFill>
          <a:latin typeface="Candara" panose="020E05020303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2334"/>
            <a:ext cx="10515600" cy="914067"/>
          </a:xfrm>
          <a:prstGeom prst="rect">
            <a:avLst/>
          </a:prstGeom>
        </p:spPr>
        <p:txBody>
          <a:bodyPr vert="horz" lIns="91438" tIns="45719" rIns="91438" bIns="45719" rtlCol="0" anchor="ctr">
            <a:normAutofit/>
          </a:bodyPr>
          <a:lstStyle/>
          <a:p>
            <a:r>
              <a:rPr lang="en-US" dirty="0"/>
              <a:t>Click to edit Master title style</a:t>
            </a:r>
          </a:p>
        </p:txBody>
      </p:sp>
      <p:sp>
        <p:nvSpPr>
          <p:cNvPr id="3" name="Text Placeholder 2"/>
          <p:cNvSpPr>
            <a:spLocks noGrp="1"/>
          </p:cNvSpPr>
          <p:nvPr>
            <p:ph type="body" idx="1"/>
          </p:nvPr>
        </p:nvSpPr>
        <p:spPr>
          <a:xfrm>
            <a:off x="838200" y="1273392"/>
            <a:ext cx="10515600" cy="5127408"/>
          </a:xfrm>
          <a:prstGeom prst="rect">
            <a:avLst/>
          </a:prstGeom>
        </p:spPr>
        <p:txBody>
          <a:bodyPr vert="horz" lIns="91438" tIns="45719" rIns="91438" bIns="4571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
        <p:nvSpPr>
          <p:cNvPr id="9" name="Rectangle 8"/>
          <p:cNvSpPr/>
          <p:nvPr/>
        </p:nvSpPr>
        <p:spPr>
          <a:xfrm>
            <a:off x="0" y="993895"/>
            <a:ext cx="12192000" cy="45720"/>
          </a:xfrm>
          <a:prstGeom prst="rect">
            <a:avLst/>
          </a:prstGeom>
          <a:solidFill>
            <a:srgbClr val="24469D"/>
          </a:solidFill>
        </p:spPr>
        <p:style>
          <a:lnRef idx="1">
            <a:schemeClr val="accent5"/>
          </a:lnRef>
          <a:fillRef idx="3">
            <a:schemeClr val="accent5"/>
          </a:fillRef>
          <a:effectRef idx="2">
            <a:schemeClr val="accent5"/>
          </a:effectRef>
          <a:fontRef idx="minor">
            <a:schemeClr val="lt1"/>
          </a:fontRef>
        </p:style>
        <p:txBody>
          <a:bodyPr lIns="68579" tIns="34289" rIns="68579" bIns="34289" rtlCol="0" anchor="ctr"/>
          <a:lstStyle/>
          <a:p>
            <a:pPr algn="ctr"/>
            <a:endParaRPr lang="en-US" sz="1425" dirty="0"/>
          </a:p>
        </p:txBody>
      </p:sp>
      <p:pic>
        <p:nvPicPr>
          <p:cNvPr id="4" name="Picture 3">
            <a:extLst>
              <a:ext uri="{FF2B5EF4-FFF2-40B4-BE49-F238E27FC236}">
                <a16:creationId xmlns:a16="http://schemas.microsoft.com/office/drawing/2014/main" id="{B59004C5-C131-CC80-FDEF-668274DEF34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p:blipFill>
        <p:spPr bwMode="auto">
          <a:xfrm>
            <a:off x="185092" y="117689"/>
            <a:ext cx="727986" cy="731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57489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mc:AlternateContent xmlns:mc="http://schemas.openxmlformats.org/markup-compatibility/2006" xmlns:p14="http://schemas.microsoft.com/office/powerpoint/2010/main">
    <mc:Choice Requires="p14">
      <p:transition spd="slow" p14:dur="10500"/>
    </mc:Choice>
    <mc:Fallback xmlns="">
      <p:transition spd="slow"/>
    </mc:Fallback>
  </mc:AlternateContent>
  <p:hf hdr="0" ftr="0" dt="0"/>
  <p:txStyles>
    <p:titleStyle>
      <a:lvl1pPr algn="ctr" defTabSz="685783" rtl="0" eaLnBrk="1" latinLnBrk="0" hangingPunct="1">
        <a:lnSpc>
          <a:spcPct val="90000"/>
        </a:lnSpc>
        <a:spcBef>
          <a:spcPct val="0"/>
        </a:spcBef>
        <a:buNone/>
        <a:defRPr sz="2400" b="1" kern="1200">
          <a:solidFill>
            <a:schemeClr val="tx1"/>
          </a:solidFill>
          <a:latin typeface="+mn-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en-US"/>
      </a:defPPr>
      <a:lvl1pPr marL="0" algn="l" defTabSz="685783" rtl="0" eaLnBrk="1" latinLnBrk="0" hangingPunct="1">
        <a:defRPr sz="1425" kern="1200">
          <a:solidFill>
            <a:schemeClr val="tx1"/>
          </a:solidFill>
          <a:latin typeface="+mn-lt"/>
          <a:ea typeface="+mn-ea"/>
          <a:cs typeface="+mn-cs"/>
        </a:defRPr>
      </a:lvl1pPr>
      <a:lvl2pPr marL="342892" algn="l" defTabSz="685783" rtl="0" eaLnBrk="1" latinLnBrk="0" hangingPunct="1">
        <a:defRPr sz="1425" kern="1200">
          <a:solidFill>
            <a:schemeClr val="tx1"/>
          </a:solidFill>
          <a:latin typeface="+mn-lt"/>
          <a:ea typeface="+mn-ea"/>
          <a:cs typeface="+mn-cs"/>
        </a:defRPr>
      </a:lvl2pPr>
      <a:lvl3pPr marL="685783" algn="l" defTabSz="685783" rtl="0" eaLnBrk="1" latinLnBrk="0" hangingPunct="1">
        <a:defRPr sz="1425" kern="1200">
          <a:solidFill>
            <a:schemeClr val="tx1"/>
          </a:solidFill>
          <a:latin typeface="+mn-lt"/>
          <a:ea typeface="+mn-ea"/>
          <a:cs typeface="+mn-cs"/>
        </a:defRPr>
      </a:lvl3pPr>
      <a:lvl4pPr marL="1028675" algn="l" defTabSz="685783" rtl="0" eaLnBrk="1" latinLnBrk="0" hangingPunct="1">
        <a:defRPr sz="1425" kern="1200">
          <a:solidFill>
            <a:schemeClr val="tx1"/>
          </a:solidFill>
          <a:latin typeface="+mn-lt"/>
          <a:ea typeface="+mn-ea"/>
          <a:cs typeface="+mn-cs"/>
        </a:defRPr>
      </a:lvl4pPr>
      <a:lvl5pPr marL="1371566" algn="l" defTabSz="685783" rtl="0" eaLnBrk="1" latinLnBrk="0" hangingPunct="1">
        <a:defRPr sz="1425" kern="1200">
          <a:solidFill>
            <a:schemeClr val="tx1"/>
          </a:solidFill>
          <a:latin typeface="+mn-lt"/>
          <a:ea typeface="+mn-ea"/>
          <a:cs typeface="+mn-cs"/>
        </a:defRPr>
      </a:lvl5pPr>
      <a:lvl6pPr marL="1714457" algn="l" defTabSz="685783" rtl="0" eaLnBrk="1" latinLnBrk="0" hangingPunct="1">
        <a:defRPr sz="1425" kern="1200">
          <a:solidFill>
            <a:schemeClr val="tx1"/>
          </a:solidFill>
          <a:latin typeface="+mn-lt"/>
          <a:ea typeface="+mn-ea"/>
          <a:cs typeface="+mn-cs"/>
        </a:defRPr>
      </a:lvl6pPr>
      <a:lvl7pPr marL="2057348" algn="l" defTabSz="685783" rtl="0" eaLnBrk="1" latinLnBrk="0" hangingPunct="1">
        <a:defRPr sz="1425" kern="1200">
          <a:solidFill>
            <a:schemeClr val="tx1"/>
          </a:solidFill>
          <a:latin typeface="+mn-lt"/>
          <a:ea typeface="+mn-ea"/>
          <a:cs typeface="+mn-cs"/>
        </a:defRPr>
      </a:lvl7pPr>
      <a:lvl8pPr marL="2400240" algn="l" defTabSz="685783" rtl="0" eaLnBrk="1" latinLnBrk="0" hangingPunct="1">
        <a:defRPr sz="1425" kern="1200">
          <a:solidFill>
            <a:schemeClr val="tx1"/>
          </a:solidFill>
          <a:latin typeface="+mn-lt"/>
          <a:ea typeface="+mn-ea"/>
          <a:cs typeface="+mn-cs"/>
        </a:defRPr>
      </a:lvl8pPr>
      <a:lvl9pPr marL="2743132" algn="l" defTabSz="685783" rtl="0" eaLnBrk="1" latinLnBrk="0" hangingPunct="1">
        <a:defRPr sz="14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vitalik.ca/"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ethereum.org/en/developers/docs/dapp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2F2-2275-3F6B-82B8-1B0CA52FBDF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80EC572-1CE7-598F-9FA4-5062F84F9CA5}"/>
              </a:ext>
            </a:extLst>
          </p:cNvPr>
          <p:cNvSpPr/>
          <p:nvPr/>
        </p:nvSpPr>
        <p:spPr>
          <a:xfrm>
            <a:off x="384313" y="3016490"/>
            <a:ext cx="10846671" cy="14465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latin typeface="Candara" panose="020E0502030303020204" pitchFamily="34" charset="0"/>
            </a:endParaRPr>
          </a:p>
        </p:txBody>
      </p:sp>
      <p:sp>
        <p:nvSpPr>
          <p:cNvPr id="10" name="Rectangle 9">
            <a:extLst>
              <a:ext uri="{FF2B5EF4-FFF2-40B4-BE49-F238E27FC236}">
                <a16:creationId xmlns:a16="http://schemas.microsoft.com/office/drawing/2014/main" id="{B4170A78-22DF-BCD5-825B-B0A7F8375E55}"/>
              </a:ext>
            </a:extLst>
          </p:cNvPr>
          <p:cNvSpPr/>
          <p:nvPr/>
        </p:nvSpPr>
        <p:spPr>
          <a:xfrm>
            <a:off x="252663" y="637674"/>
            <a:ext cx="11555024" cy="43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6" name="Picture 2">
            <a:extLst>
              <a:ext uri="{FF2B5EF4-FFF2-40B4-BE49-F238E27FC236}">
                <a16:creationId xmlns:a16="http://schemas.microsoft.com/office/drawing/2014/main" id="{A92A327C-08C1-4A0B-3853-4BC7F0718664}"/>
              </a:ext>
            </a:extLst>
          </p:cNvPr>
          <p:cNvPicPr>
            <a:picLocks noChangeAspect="1" noChangeArrowheads="1"/>
          </p:cNvPicPr>
          <p:nvPr/>
        </p:nvPicPr>
        <p:blipFill>
          <a:blip r:embed="rId3"/>
          <a:srcRect/>
          <a:stretch/>
        </p:blipFill>
        <p:spPr bwMode="auto">
          <a:xfrm>
            <a:off x="5401750" y="440958"/>
            <a:ext cx="1256849" cy="1256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13B4093-EDEB-88AD-105E-DD4B298CCEEA}"/>
              </a:ext>
            </a:extLst>
          </p:cNvPr>
          <p:cNvSpPr>
            <a:spLocks noGrp="1"/>
          </p:cNvSpPr>
          <p:nvPr>
            <p:ph type="ctrTitle"/>
          </p:nvPr>
        </p:nvSpPr>
        <p:spPr/>
        <p:txBody>
          <a:bodyPr>
            <a:normAutofit/>
          </a:bodyPr>
          <a:lstStyle/>
          <a:p>
            <a:r>
              <a:rPr lang="en-GB" dirty="0">
                <a:latin typeface="+mn-lt"/>
              </a:rPr>
              <a:t>Introduction to Blockchain</a:t>
            </a:r>
            <a:br>
              <a:rPr lang="en-GB" dirty="0">
                <a:latin typeface="+mn-lt"/>
              </a:rPr>
            </a:br>
            <a:br>
              <a:rPr lang="en-GB" dirty="0">
                <a:latin typeface="+mn-lt"/>
              </a:rPr>
            </a:br>
            <a:r>
              <a:rPr lang="en-GB" sz="4000" dirty="0">
                <a:solidFill>
                  <a:srgbClr val="C00000"/>
                </a:solidFill>
                <a:latin typeface="+mn-lt"/>
              </a:rPr>
              <a:t>CSE-355</a:t>
            </a:r>
            <a:endParaRPr lang="en-PK" dirty="0">
              <a:solidFill>
                <a:srgbClr val="C00000"/>
              </a:solidFill>
              <a:latin typeface="+mn-lt"/>
            </a:endParaRPr>
          </a:p>
        </p:txBody>
      </p:sp>
      <p:sp>
        <p:nvSpPr>
          <p:cNvPr id="7" name="Subtitle 6">
            <a:extLst>
              <a:ext uri="{FF2B5EF4-FFF2-40B4-BE49-F238E27FC236}">
                <a16:creationId xmlns:a16="http://schemas.microsoft.com/office/drawing/2014/main" id="{B02CF6C0-F187-BF6B-6A7A-C82247549081}"/>
              </a:ext>
            </a:extLst>
          </p:cNvPr>
          <p:cNvSpPr>
            <a:spLocks noGrp="1"/>
          </p:cNvSpPr>
          <p:nvPr>
            <p:ph type="subTitle" idx="1"/>
          </p:nvPr>
        </p:nvSpPr>
        <p:spPr/>
        <p:txBody>
          <a:bodyPr>
            <a:normAutofit fontScale="92500" lnSpcReduction="10000"/>
          </a:bodyPr>
          <a:lstStyle/>
          <a:p>
            <a:r>
              <a:rPr lang="en-GB" dirty="0"/>
              <a:t>Ahmed Akhtar</a:t>
            </a:r>
          </a:p>
          <a:p>
            <a:r>
              <a:rPr lang="en-GB" dirty="0"/>
              <a:t>Department of Computer Science</a:t>
            </a:r>
          </a:p>
          <a:p>
            <a:r>
              <a:rPr lang="en-GB" dirty="0"/>
              <a:t>SMCS, IBA Karachi</a:t>
            </a:r>
          </a:p>
          <a:p>
            <a:r>
              <a:rPr lang="en-GB" dirty="0"/>
              <a:t>Spring 2026</a:t>
            </a:r>
          </a:p>
        </p:txBody>
      </p:sp>
    </p:spTree>
    <p:extLst>
      <p:ext uri="{BB962C8B-B14F-4D97-AF65-F5344CB8AC3E}">
        <p14:creationId xmlns:p14="http://schemas.microsoft.com/office/powerpoint/2010/main" val="218361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1340-394C-8092-5D0A-E3BCC7B6D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C9F2F-9E03-4A62-A198-A3062FB80C16}"/>
              </a:ext>
            </a:extLst>
          </p:cNvPr>
          <p:cNvSpPr>
            <a:spLocks noGrp="1"/>
          </p:cNvSpPr>
          <p:nvPr>
            <p:ph type="title"/>
          </p:nvPr>
        </p:nvSpPr>
        <p:spPr/>
        <p:txBody>
          <a:bodyPr/>
          <a:lstStyle/>
          <a:p>
            <a:r>
              <a:rPr lang="en-PK" dirty="0">
                <a:latin typeface="+mn-lt"/>
              </a:rPr>
              <a:t>Lecture </a:t>
            </a:r>
            <a:r>
              <a:rPr lang="en-US" dirty="0">
                <a:latin typeface="+mn-lt"/>
              </a:rPr>
              <a:t>19</a:t>
            </a:r>
            <a:br>
              <a:rPr lang="en-PK" dirty="0">
                <a:latin typeface="+mn-lt"/>
              </a:rPr>
            </a:br>
            <a:r>
              <a:rPr lang="en-US" dirty="0">
                <a:latin typeface="+mn-lt"/>
              </a:rPr>
              <a:t>Tuesday</a:t>
            </a:r>
            <a:r>
              <a:rPr lang="en-PK" dirty="0">
                <a:latin typeface="+mn-lt"/>
              </a:rPr>
              <a:t>, </a:t>
            </a:r>
            <a:r>
              <a:rPr lang="en-US" dirty="0">
                <a:latin typeface="+mn-lt"/>
              </a:rPr>
              <a:t>Apr</a:t>
            </a:r>
            <a:r>
              <a:rPr lang="en-PK" dirty="0">
                <a:latin typeface="+mn-lt"/>
              </a:rPr>
              <a:t> </a:t>
            </a:r>
            <a:r>
              <a:rPr lang="en-US" dirty="0">
                <a:latin typeface="+mn-lt"/>
              </a:rPr>
              <a:t>7</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F33F174B-0761-8199-54BA-09C4CA09D63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868023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7ED89-1ED3-B728-E56B-5A2AEB0CC60E}"/>
              </a:ext>
            </a:extLst>
          </p:cNvPr>
          <p:cNvSpPr>
            <a:spLocks noGrp="1"/>
          </p:cNvSpPr>
          <p:nvPr>
            <p:ph type="title"/>
          </p:nvPr>
        </p:nvSpPr>
        <p:spPr/>
        <p:txBody>
          <a:bodyPr/>
          <a:lstStyle/>
          <a:p>
            <a:r>
              <a:rPr lang="en-US" dirty="0"/>
              <a:t>Reducing Bitcoin Transaction Fee</a:t>
            </a:r>
          </a:p>
        </p:txBody>
      </p:sp>
      <p:sp>
        <p:nvSpPr>
          <p:cNvPr id="3" name="Content Placeholder 2">
            <a:extLst>
              <a:ext uri="{FF2B5EF4-FFF2-40B4-BE49-F238E27FC236}">
                <a16:creationId xmlns:a16="http://schemas.microsoft.com/office/drawing/2014/main" id="{CF5D5064-56C2-D409-3EAD-04C92884F020}"/>
              </a:ext>
            </a:extLst>
          </p:cNvPr>
          <p:cNvSpPr>
            <a:spLocks noGrp="1"/>
          </p:cNvSpPr>
          <p:nvPr>
            <p:ph idx="1"/>
          </p:nvPr>
        </p:nvSpPr>
        <p:spPr/>
        <p:txBody>
          <a:bodyPr>
            <a:normAutofit fontScale="92500" lnSpcReduction="10000"/>
          </a:bodyPr>
          <a:lstStyle/>
          <a:p>
            <a:r>
              <a:rPr lang="en-US" dirty="0">
                <a:solidFill>
                  <a:srgbClr val="7030A0"/>
                </a:solidFill>
              </a:rPr>
              <a:t>Decrease transaction size</a:t>
            </a:r>
          </a:p>
          <a:p>
            <a:pPr lvl="1"/>
            <a:r>
              <a:rPr lang="en-US" dirty="0"/>
              <a:t>Direct reduction in fees</a:t>
            </a:r>
          </a:p>
          <a:p>
            <a:pPr lvl="1"/>
            <a:r>
              <a:rPr lang="en-US" dirty="0" err="1"/>
              <a:t>SegWit</a:t>
            </a:r>
            <a:r>
              <a:rPr lang="en-US" dirty="0"/>
              <a:t>, Taproot, Schnor signature helped achieve this goal</a:t>
            </a:r>
          </a:p>
          <a:p>
            <a:r>
              <a:rPr lang="en-US" dirty="0">
                <a:solidFill>
                  <a:srgbClr val="7030A0"/>
                </a:solidFill>
              </a:rPr>
              <a:t>Increase block size</a:t>
            </a:r>
          </a:p>
          <a:p>
            <a:pPr lvl="1"/>
            <a:r>
              <a:rPr lang="en-US" dirty="0"/>
              <a:t>Block fits more transactions so helps reduce fee indirectly </a:t>
            </a:r>
          </a:p>
          <a:p>
            <a:pPr lvl="1"/>
            <a:r>
              <a:rPr lang="en-US" dirty="0" err="1"/>
              <a:t>SegWit</a:t>
            </a:r>
            <a:r>
              <a:rPr lang="en-US" dirty="0"/>
              <a:t> increased block size as a soft fork </a:t>
            </a:r>
          </a:p>
          <a:p>
            <a:pPr lvl="1"/>
            <a:r>
              <a:rPr lang="en-US" dirty="0"/>
              <a:t>Introduced discount on witness data, effectively increasing block size from 1 MB to about 4 MB</a:t>
            </a:r>
          </a:p>
          <a:p>
            <a:r>
              <a:rPr lang="en-US" dirty="0">
                <a:solidFill>
                  <a:srgbClr val="7030A0"/>
                </a:solidFill>
              </a:rPr>
              <a:t>Batch Processing of transactions </a:t>
            </a:r>
          </a:p>
          <a:p>
            <a:pPr lvl="1"/>
            <a:r>
              <a:rPr lang="en-US" dirty="0"/>
              <a:t>Fee is divided across multiple transactions </a:t>
            </a:r>
          </a:p>
          <a:p>
            <a:pPr lvl="1"/>
            <a:r>
              <a:rPr lang="en-US" dirty="0"/>
              <a:t>Easier for custodial wallets (that hold private keys of multiple users)</a:t>
            </a:r>
          </a:p>
          <a:p>
            <a:pPr lvl="1"/>
            <a:r>
              <a:rPr lang="en-US" dirty="0"/>
              <a:t>Difficult for non-custodial wallets for different users</a:t>
            </a:r>
          </a:p>
        </p:txBody>
      </p:sp>
      <p:sp>
        <p:nvSpPr>
          <p:cNvPr id="4" name="Slide Number Placeholder 3">
            <a:extLst>
              <a:ext uri="{FF2B5EF4-FFF2-40B4-BE49-F238E27FC236}">
                <a16:creationId xmlns:a16="http://schemas.microsoft.com/office/drawing/2014/main" id="{23C18855-0F8E-244D-8495-389E71C1E16B}"/>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409846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19294-00B0-BC83-88DF-87D3759F510C}"/>
              </a:ext>
            </a:extLst>
          </p:cNvPr>
          <p:cNvSpPr>
            <a:spLocks noGrp="1"/>
          </p:cNvSpPr>
          <p:nvPr>
            <p:ph type="title"/>
          </p:nvPr>
        </p:nvSpPr>
        <p:spPr/>
        <p:txBody>
          <a:bodyPr/>
          <a:lstStyle/>
          <a:p>
            <a:r>
              <a:rPr lang="en-US" dirty="0"/>
              <a:t>Transaction Batch Processing</a:t>
            </a:r>
          </a:p>
        </p:txBody>
      </p:sp>
      <p:sp>
        <p:nvSpPr>
          <p:cNvPr id="3" name="Content Placeholder 2">
            <a:extLst>
              <a:ext uri="{FF2B5EF4-FFF2-40B4-BE49-F238E27FC236}">
                <a16:creationId xmlns:a16="http://schemas.microsoft.com/office/drawing/2014/main" id="{CEFD7FA1-2431-60B3-206C-6623DB995FF3}"/>
              </a:ext>
            </a:extLst>
          </p:cNvPr>
          <p:cNvSpPr>
            <a:spLocks noGrp="1"/>
          </p:cNvSpPr>
          <p:nvPr>
            <p:ph idx="1"/>
          </p:nvPr>
        </p:nvSpPr>
        <p:spPr>
          <a:xfrm>
            <a:off x="487680" y="1097280"/>
            <a:ext cx="11387488" cy="5481650"/>
          </a:xfrm>
        </p:spPr>
        <p:txBody>
          <a:bodyPr>
            <a:normAutofit fontScale="92500" lnSpcReduction="20000"/>
          </a:bodyPr>
          <a:lstStyle/>
          <a:p>
            <a:r>
              <a:rPr lang="en-US" sz="2400" dirty="0"/>
              <a:t>There are two transaction batch processing models</a:t>
            </a:r>
          </a:p>
          <a:p>
            <a:pPr lvl="1"/>
            <a:r>
              <a:rPr lang="en-US" sz="2400" dirty="0">
                <a:solidFill>
                  <a:srgbClr val="7030A0"/>
                </a:solidFill>
              </a:rPr>
              <a:t>Collaborative batching via joint transaction creation</a:t>
            </a:r>
          </a:p>
          <a:p>
            <a:pPr lvl="1"/>
            <a:r>
              <a:rPr lang="en-US" sz="2400" dirty="0">
                <a:solidFill>
                  <a:srgbClr val="FF0000"/>
                </a:solidFill>
              </a:rPr>
              <a:t>Non-collaborative batching with independently signed transactions</a:t>
            </a:r>
          </a:p>
          <a:p>
            <a:r>
              <a:rPr lang="en-US" sz="2400" dirty="0"/>
              <a:t>Collaborative batching: </a:t>
            </a:r>
          </a:p>
          <a:p>
            <a:pPr lvl="1"/>
            <a:r>
              <a:rPr lang="en-US" sz="2400" dirty="0"/>
              <a:t>A joint single transaction is created with multiple inputs and outputs </a:t>
            </a:r>
          </a:p>
          <a:p>
            <a:pPr lvl="1"/>
            <a:r>
              <a:rPr lang="en-US" sz="2400" dirty="0"/>
              <a:t>As single transaction serves many users, transaction fee is shared among all of them</a:t>
            </a:r>
          </a:p>
          <a:p>
            <a:pPr lvl="1"/>
            <a:r>
              <a:rPr lang="en-US" sz="2400" dirty="0"/>
              <a:t>Exchanges &amp; custodial wallets with access to all the private keys can implement this model easily </a:t>
            </a:r>
          </a:p>
          <a:p>
            <a:pPr lvl="1"/>
            <a:r>
              <a:rPr lang="en-US" sz="2400" dirty="0"/>
              <a:t>Wallet level improvement whenever possible and no consensus level changes are required</a:t>
            </a:r>
          </a:p>
          <a:p>
            <a:r>
              <a:rPr lang="en-US" sz="2400" dirty="0"/>
              <a:t>Non-collaborative batching:</a:t>
            </a:r>
          </a:p>
          <a:p>
            <a:pPr lvl="1"/>
            <a:r>
              <a:rPr lang="en-US" sz="2400" dirty="0"/>
              <a:t>Not possible in Bitcoin</a:t>
            </a:r>
          </a:p>
          <a:p>
            <a:pPr lvl="1"/>
            <a:r>
              <a:rPr lang="en-US" sz="2400" dirty="0"/>
              <a:t>UTXO model prevents combining independently signed transactions</a:t>
            </a:r>
          </a:p>
          <a:p>
            <a:pPr lvl="1"/>
            <a:r>
              <a:rPr lang="en-US" sz="2400" dirty="0"/>
              <a:t>Any attempt to join or merge transactions would invalidate their signatures</a:t>
            </a:r>
          </a:p>
          <a:p>
            <a:pPr lvl="1"/>
            <a:r>
              <a:rPr lang="en-US" sz="2400" dirty="0"/>
              <a:t>Once a transaction enters </a:t>
            </a:r>
            <a:r>
              <a:rPr lang="en-US" sz="2400" dirty="0" err="1"/>
              <a:t>mempool</a:t>
            </a:r>
            <a:r>
              <a:rPr lang="en-US" sz="2400" dirty="0"/>
              <a:t>, it becomes atomic, i.e., it must be included as it is in the block</a:t>
            </a:r>
          </a:p>
          <a:p>
            <a:r>
              <a:rPr lang="en-US" sz="2400" dirty="0">
                <a:solidFill>
                  <a:srgbClr val="7030A0"/>
                </a:solidFill>
              </a:rPr>
              <a:t>In contrast, it is possible to build non-collaborative batching solutions in Ethereum, allowing significant fee reduction (these solutions are popularly known as roll ups)</a:t>
            </a:r>
          </a:p>
        </p:txBody>
      </p:sp>
      <p:sp>
        <p:nvSpPr>
          <p:cNvPr id="4" name="Slide Number Placeholder 3">
            <a:extLst>
              <a:ext uri="{FF2B5EF4-FFF2-40B4-BE49-F238E27FC236}">
                <a16:creationId xmlns:a16="http://schemas.microsoft.com/office/drawing/2014/main" id="{C74AD8A9-F049-7D38-8FCB-055C3E26DBD3}"/>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56890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91B9-7394-B137-54B4-46519BF3CF5A}"/>
              </a:ext>
            </a:extLst>
          </p:cNvPr>
          <p:cNvSpPr>
            <a:spLocks noGrp="1"/>
          </p:cNvSpPr>
          <p:nvPr>
            <p:ph type="title"/>
          </p:nvPr>
        </p:nvSpPr>
        <p:spPr/>
        <p:txBody>
          <a:bodyPr/>
          <a:lstStyle/>
          <a:p>
            <a:r>
              <a:rPr lang="en-US" dirty="0"/>
              <a:t>Channel Factory</a:t>
            </a:r>
          </a:p>
        </p:txBody>
      </p:sp>
      <p:sp>
        <p:nvSpPr>
          <p:cNvPr id="3" name="Content Placeholder 2">
            <a:extLst>
              <a:ext uri="{FF2B5EF4-FFF2-40B4-BE49-F238E27FC236}">
                <a16:creationId xmlns:a16="http://schemas.microsoft.com/office/drawing/2014/main" id="{06806D31-392C-200C-4499-84337BA58082}"/>
              </a:ext>
            </a:extLst>
          </p:cNvPr>
          <p:cNvSpPr>
            <a:spLocks noGrp="1"/>
          </p:cNvSpPr>
          <p:nvPr>
            <p:ph idx="1"/>
          </p:nvPr>
        </p:nvSpPr>
        <p:spPr>
          <a:xfrm>
            <a:off x="288612" y="966800"/>
            <a:ext cx="11391761" cy="1015663"/>
          </a:xfrm>
        </p:spPr>
        <p:txBody>
          <a:bodyPr>
            <a:normAutofit lnSpcReduction="10000"/>
          </a:bodyPr>
          <a:lstStyle/>
          <a:p>
            <a:r>
              <a:rPr lang="en-US" sz="2000" dirty="0"/>
              <a:t>A payment channel is opened with a 2-of-2 on-chain </a:t>
            </a:r>
            <a:r>
              <a:rPr lang="en-US" sz="2000" dirty="0" err="1"/>
              <a:t>multisig</a:t>
            </a:r>
            <a:r>
              <a:rPr lang="en-US" sz="2000" dirty="0"/>
              <a:t> funding transaction </a:t>
            </a:r>
          </a:p>
          <a:p>
            <a:r>
              <a:rPr lang="en-US" sz="2000" dirty="0"/>
              <a:t>The fee can be further reduced if multiple users jointly fund a single on-chain transaction and then open several payment channels </a:t>
            </a:r>
          </a:p>
        </p:txBody>
      </p:sp>
      <p:sp>
        <p:nvSpPr>
          <p:cNvPr id="4" name="Slide Number Placeholder 3">
            <a:extLst>
              <a:ext uri="{FF2B5EF4-FFF2-40B4-BE49-F238E27FC236}">
                <a16:creationId xmlns:a16="http://schemas.microsoft.com/office/drawing/2014/main" id="{D6173B78-54D7-5B10-C7AB-2E36C678D9C4}"/>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5</a:t>
            </a:fld>
            <a:endParaRPr lang="en-US" dirty="0">
              <a:latin typeface="Candara" panose="020E0502030303020204" pitchFamily="34" charset="0"/>
            </a:endParaRPr>
          </a:p>
        </p:txBody>
      </p:sp>
      <p:sp>
        <p:nvSpPr>
          <p:cNvPr id="8" name="TextBox 7">
            <a:extLst>
              <a:ext uri="{FF2B5EF4-FFF2-40B4-BE49-F238E27FC236}">
                <a16:creationId xmlns:a16="http://schemas.microsoft.com/office/drawing/2014/main" id="{950218CE-7FAC-629D-C40E-F9FCFC956202}"/>
              </a:ext>
            </a:extLst>
          </p:cNvPr>
          <p:cNvSpPr txBox="1"/>
          <p:nvPr/>
        </p:nvSpPr>
        <p:spPr>
          <a:xfrm>
            <a:off x="625642" y="2022729"/>
            <a:ext cx="10659431" cy="707886"/>
          </a:xfrm>
          <a:prstGeom prst="rect">
            <a:avLst/>
          </a:prstGeom>
          <a:solidFill>
            <a:srgbClr val="7030A0"/>
          </a:solidFill>
        </p:spPr>
        <p:txBody>
          <a:bodyPr wrap="square">
            <a:spAutoFit/>
          </a:bodyPr>
          <a:lstStyle/>
          <a:p>
            <a:pPr algn="ctr"/>
            <a:r>
              <a:rPr lang="en-US" sz="2000" dirty="0">
                <a:solidFill>
                  <a:schemeClr val="bg1"/>
                </a:solidFill>
                <a:latin typeface="Candara" panose="020E0502030303020204" pitchFamily="34" charset="0"/>
              </a:rPr>
              <a:t>Example: Alice, Bob, and Charlie create one funding transaction and then open three payment channels (A–B, A–C, B–C) using the same funding transaction</a:t>
            </a:r>
          </a:p>
        </p:txBody>
      </p:sp>
      <p:sp>
        <p:nvSpPr>
          <p:cNvPr id="10" name="TextBox 9">
            <a:extLst>
              <a:ext uri="{FF2B5EF4-FFF2-40B4-BE49-F238E27FC236}">
                <a16:creationId xmlns:a16="http://schemas.microsoft.com/office/drawing/2014/main" id="{F0B75D4C-7FB6-124B-D353-52734200596E}"/>
              </a:ext>
            </a:extLst>
          </p:cNvPr>
          <p:cNvSpPr txBox="1"/>
          <p:nvPr/>
        </p:nvSpPr>
        <p:spPr>
          <a:xfrm>
            <a:off x="727994" y="5795371"/>
            <a:ext cx="10454726" cy="707886"/>
          </a:xfrm>
          <a:prstGeom prst="rect">
            <a:avLst/>
          </a:prstGeom>
          <a:solidFill>
            <a:srgbClr val="7030A0"/>
          </a:solidFill>
        </p:spPr>
        <p:txBody>
          <a:bodyPr wrap="square">
            <a:spAutoFit/>
          </a:bodyPr>
          <a:lstStyle/>
          <a:p>
            <a:pPr algn="ctr"/>
            <a:r>
              <a:rPr lang="en-US" sz="2000" dirty="0">
                <a:solidFill>
                  <a:schemeClr val="bg1"/>
                </a:solidFill>
                <a:latin typeface="Candara" panose="020E0502030303020204" pitchFamily="34" charset="0"/>
              </a:rPr>
              <a:t>This setup where multiple parties deposit their funds into a single on-chain funding transaction is known as a channel factory in Bitcoin community</a:t>
            </a:r>
          </a:p>
        </p:txBody>
      </p:sp>
      <p:pic>
        <p:nvPicPr>
          <p:cNvPr id="12" name="Picture 11">
            <a:extLst>
              <a:ext uri="{FF2B5EF4-FFF2-40B4-BE49-F238E27FC236}">
                <a16:creationId xmlns:a16="http://schemas.microsoft.com/office/drawing/2014/main" id="{218DD95C-22DD-5316-75D5-13C2C0273AD9}"/>
              </a:ext>
            </a:extLst>
          </p:cNvPr>
          <p:cNvPicPr>
            <a:picLocks noChangeAspect="1"/>
          </p:cNvPicPr>
          <p:nvPr/>
        </p:nvPicPr>
        <p:blipFill>
          <a:blip r:embed="rId2"/>
          <a:stretch>
            <a:fillRect/>
          </a:stretch>
        </p:blipFill>
        <p:spPr>
          <a:xfrm>
            <a:off x="2264962" y="2855100"/>
            <a:ext cx="6987104" cy="2839850"/>
          </a:xfrm>
          <a:prstGeom prst="rect">
            <a:avLst/>
          </a:prstGeom>
        </p:spPr>
      </p:pic>
    </p:spTree>
    <p:extLst>
      <p:ext uri="{BB962C8B-B14F-4D97-AF65-F5344CB8AC3E}">
        <p14:creationId xmlns:p14="http://schemas.microsoft.com/office/powerpoint/2010/main" val="429387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5B80-9A6D-34F3-7472-43E5A8AA9887}"/>
              </a:ext>
            </a:extLst>
          </p:cNvPr>
          <p:cNvSpPr>
            <a:spLocks noGrp="1"/>
          </p:cNvSpPr>
          <p:nvPr>
            <p:ph type="title"/>
          </p:nvPr>
        </p:nvSpPr>
        <p:spPr/>
        <p:txBody>
          <a:bodyPr/>
          <a:lstStyle/>
          <a:p>
            <a:r>
              <a:rPr lang="en-US" dirty="0"/>
              <a:t>Channel Factory</a:t>
            </a:r>
          </a:p>
        </p:txBody>
      </p:sp>
      <p:sp>
        <p:nvSpPr>
          <p:cNvPr id="4" name="Slide Number Placeholder 3">
            <a:extLst>
              <a:ext uri="{FF2B5EF4-FFF2-40B4-BE49-F238E27FC236}">
                <a16:creationId xmlns:a16="http://schemas.microsoft.com/office/drawing/2014/main" id="{F81DA047-A027-86EF-E219-543438BE4AFD}"/>
              </a:ext>
            </a:extLst>
          </p:cNvPr>
          <p:cNvSpPr>
            <a:spLocks noGrp="1"/>
          </p:cNvSpPr>
          <p:nvPr>
            <p:ph type="sldNum" sz="quarter" idx="12"/>
          </p:nvPr>
        </p:nvSpPr>
        <p:spPr/>
        <p:txBody>
          <a:bodyPr/>
          <a:lstStyle/>
          <a:p>
            <a:fld id="{D57F1E4F-1CFF-5643-939E-217C01CDF565}" type="slidenum">
              <a:rPr lang="en-US" smtClean="0">
                <a:latin typeface="Candara" panose="020E0502030303020204" pitchFamily="34" charset="0"/>
              </a:rPr>
              <a:pPr/>
              <a:t>6</a:t>
            </a:fld>
            <a:endParaRPr lang="en-US" dirty="0">
              <a:latin typeface="Candara" panose="020E0502030303020204" pitchFamily="34" charset="0"/>
            </a:endParaRPr>
          </a:p>
        </p:txBody>
      </p:sp>
      <p:sp>
        <p:nvSpPr>
          <p:cNvPr id="8" name="TextBox 7">
            <a:extLst>
              <a:ext uri="{FF2B5EF4-FFF2-40B4-BE49-F238E27FC236}">
                <a16:creationId xmlns:a16="http://schemas.microsoft.com/office/drawing/2014/main" id="{6C1CBE8D-2D46-0E1D-7944-E0A3BAD04839}"/>
              </a:ext>
            </a:extLst>
          </p:cNvPr>
          <p:cNvSpPr txBox="1"/>
          <p:nvPr/>
        </p:nvSpPr>
        <p:spPr>
          <a:xfrm>
            <a:off x="487680" y="952234"/>
            <a:ext cx="11186160" cy="4401205"/>
          </a:xfrm>
          <a:prstGeom prst="rect">
            <a:avLst/>
          </a:prstGeom>
          <a:noFill/>
        </p:spPr>
        <p:txBody>
          <a:bodyPr wrap="square">
            <a:spAutoFit/>
          </a:bodyPr>
          <a:lstStyle/>
          <a:p>
            <a:pPr marL="285750" indent="-285750">
              <a:buFont typeface="Arial" panose="020B0604020202020204" pitchFamily="34" charset="0"/>
              <a:buChar char="•"/>
            </a:pPr>
            <a:r>
              <a:rPr lang="en-US" sz="2800" dirty="0">
                <a:latin typeface="Candara" panose="020E0502030303020204" pitchFamily="34" charset="0"/>
              </a:rPr>
              <a:t>Channel factory is an appealing idea and seems a natural extension of the payment channels</a:t>
            </a:r>
          </a:p>
          <a:p>
            <a:pPr marL="285750" indent="-285750">
              <a:buFont typeface="Arial" panose="020B0604020202020204" pitchFamily="34" charset="0"/>
              <a:buChar char="•"/>
            </a:pPr>
            <a:r>
              <a:rPr lang="en-US" sz="2800" dirty="0">
                <a:latin typeface="Candara" panose="020E0502030303020204" pitchFamily="34" charset="0"/>
              </a:rPr>
              <a:t>However, there are several practical challenges</a:t>
            </a:r>
          </a:p>
          <a:p>
            <a:pPr marL="742950" lvl="1" indent="-285750">
              <a:buFont typeface="Arial" panose="020B0604020202020204" pitchFamily="34" charset="0"/>
              <a:buChar char="•"/>
            </a:pPr>
            <a:r>
              <a:rPr lang="en-US" sz="2800" dirty="0">
                <a:latin typeface="Candara" panose="020E0502030303020204" pitchFamily="34" charset="0"/>
              </a:rPr>
              <a:t>The problem has a combinatorial complexity (N choose 2)</a:t>
            </a:r>
          </a:p>
          <a:p>
            <a:pPr marL="742950" lvl="1" indent="-285750">
              <a:buFont typeface="Arial" panose="020B0604020202020204" pitchFamily="34" charset="0"/>
              <a:buChar char="•"/>
            </a:pPr>
            <a:r>
              <a:rPr lang="en-US" sz="2800" dirty="0">
                <a:latin typeface="Candara" panose="020E0502030303020204" pitchFamily="34" charset="0"/>
              </a:rPr>
              <a:t>Each participant must track commitment states for every internal channel they are part of</a:t>
            </a:r>
          </a:p>
          <a:p>
            <a:pPr marL="742950" lvl="1" indent="-285750">
              <a:buFont typeface="Arial" panose="020B0604020202020204" pitchFamily="34" charset="0"/>
              <a:buChar char="•"/>
            </a:pPr>
            <a:r>
              <a:rPr lang="en-US" sz="2800" dirty="0">
                <a:latin typeface="Candara" panose="020E0502030303020204" pitchFamily="34" charset="0"/>
              </a:rPr>
              <a:t>Adding or removing parties or uncooperative peers often requires on-chain reconfiguration or complex protocols</a:t>
            </a:r>
          </a:p>
          <a:p>
            <a:pPr marL="742950" lvl="1" indent="-285750">
              <a:buFont typeface="Arial" panose="020B0604020202020204" pitchFamily="34" charset="0"/>
              <a:buChar char="•"/>
            </a:pPr>
            <a:r>
              <a:rPr lang="en-US" sz="2800" dirty="0">
                <a:latin typeface="Candara" panose="020E0502030303020204" pitchFamily="34" charset="0"/>
              </a:rPr>
              <a:t>Operational complexity, dispute handling, and watchtower needs raise costs </a:t>
            </a:r>
          </a:p>
        </p:txBody>
      </p:sp>
      <p:sp>
        <p:nvSpPr>
          <p:cNvPr id="7" name="TextBox 6">
            <a:extLst>
              <a:ext uri="{FF2B5EF4-FFF2-40B4-BE49-F238E27FC236}">
                <a16:creationId xmlns:a16="http://schemas.microsoft.com/office/drawing/2014/main" id="{62B06293-999F-B0E3-87B7-00798A540115}"/>
              </a:ext>
            </a:extLst>
          </p:cNvPr>
          <p:cNvSpPr txBox="1"/>
          <p:nvPr/>
        </p:nvSpPr>
        <p:spPr>
          <a:xfrm>
            <a:off x="926432" y="5426184"/>
            <a:ext cx="10299031" cy="954107"/>
          </a:xfrm>
          <a:prstGeom prst="rect">
            <a:avLst/>
          </a:prstGeom>
          <a:solidFill>
            <a:srgbClr val="7030A0"/>
          </a:solidFill>
        </p:spPr>
        <p:txBody>
          <a:bodyPr wrap="square">
            <a:spAutoFit/>
          </a:bodyPr>
          <a:lstStyle/>
          <a:p>
            <a:pPr algn="ctr"/>
            <a:r>
              <a:rPr lang="en-US" sz="2800" dirty="0">
                <a:solidFill>
                  <a:schemeClr val="bg1"/>
                </a:solidFill>
                <a:latin typeface="Candara" panose="020E0502030303020204" pitchFamily="34" charset="0"/>
              </a:rPr>
              <a:t>Channel factories represent the next frontier in Bitcoin scalability, calling for new designs and new research</a:t>
            </a:r>
          </a:p>
        </p:txBody>
      </p:sp>
    </p:spTree>
    <p:extLst>
      <p:ext uri="{BB962C8B-B14F-4D97-AF65-F5344CB8AC3E}">
        <p14:creationId xmlns:p14="http://schemas.microsoft.com/office/powerpoint/2010/main" val="21446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B96FE-21DD-AD1D-1C46-6B295074C953}"/>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5FECF40F-E787-72B2-AC6F-B1C05C8ED7ED}"/>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6" name="TextBox 5">
            <a:extLst>
              <a:ext uri="{FF2B5EF4-FFF2-40B4-BE49-F238E27FC236}">
                <a16:creationId xmlns:a16="http://schemas.microsoft.com/office/drawing/2014/main" id="{2DE8AA94-FBB2-DFDC-C557-91DA7CC78A34}"/>
              </a:ext>
            </a:extLst>
          </p:cNvPr>
          <p:cNvSpPr txBox="1"/>
          <p:nvPr/>
        </p:nvSpPr>
        <p:spPr>
          <a:xfrm>
            <a:off x="494213" y="2281671"/>
            <a:ext cx="11186160" cy="1077218"/>
          </a:xfrm>
          <a:prstGeom prst="rect">
            <a:avLst/>
          </a:prstGeom>
          <a:solidFill>
            <a:srgbClr val="7030A0"/>
          </a:solidFill>
        </p:spPr>
        <p:txBody>
          <a:bodyPr wrap="square">
            <a:spAutoFit/>
          </a:bodyPr>
          <a:lstStyle/>
          <a:p>
            <a:pPr algn="ctr"/>
            <a:r>
              <a:rPr lang="en-US" sz="3200" dirty="0">
                <a:solidFill>
                  <a:schemeClr val="bg1"/>
                </a:solidFill>
                <a:latin typeface="Candara" panose="020E0502030303020204" pitchFamily="34" charset="0"/>
              </a:rPr>
              <a:t>Satoshi Nakamoto realized his vision of blockchain by launching Bitcoin in 2009</a:t>
            </a:r>
          </a:p>
        </p:txBody>
      </p:sp>
      <p:sp>
        <p:nvSpPr>
          <p:cNvPr id="8" name="TextBox 7">
            <a:extLst>
              <a:ext uri="{FF2B5EF4-FFF2-40B4-BE49-F238E27FC236}">
                <a16:creationId xmlns:a16="http://schemas.microsoft.com/office/drawing/2014/main" id="{556E3FC4-8F98-9B28-956C-59B5375BB521}"/>
              </a:ext>
            </a:extLst>
          </p:cNvPr>
          <p:cNvSpPr txBox="1"/>
          <p:nvPr/>
        </p:nvSpPr>
        <p:spPr>
          <a:xfrm>
            <a:off x="494214" y="3948181"/>
            <a:ext cx="11179626" cy="1077218"/>
          </a:xfrm>
          <a:prstGeom prst="rect">
            <a:avLst/>
          </a:prstGeom>
          <a:solidFill>
            <a:schemeClr val="accent6">
              <a:lumMod val="50000"/>
            </a:schemeClr>
          </a:solidFill>
        </p:spPr>
        <p:txBody>
          <a:bodyPr wrap="square">
            <a:spAutoFit/>
          </a:bodyPr>
          <a:lstStyle>
            <a:defPPr>
              <a:defRPr lang="en-US"/>
            </a:defPPr>
            <a:lvl1pPr algn="ctr">
              <a:defRPr sz="3200">
                <a:latin typeface="Candara" panose="020E0502030303020204" pitchFamily="34" charset="0"/>
              </a:defRPr>
            </a:lvl1pPr>
          </a:lstStyle>
          <a:p>
            <a:r>
              <a:rPr lang="en-US" dirty="0">
                <a:solidFill>
                  <a:schemeClr val="bg1"/>
                </a:solidFill>
              </a:rPr>
              <a:t>Since then, several alternative blockchains with varying features have been developed</a:t>
            </a:r>
          </a:p>
        </p:txBody>
      </p:sp>
    </p:spTree>
    <p:extLst>
      <p:ext uri="{BB962C8B-B14F-4D97-AF65-F5344CB8AC3E}">
        <p14:creationId xmlns:p14="http://schemas.microsoft.com/office/powerpoint/2010/main" val="1992269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Blockchain Design Considerations</a:t>
            </a:r>
          </a:p>
        </p:txBody>
      </p:sp>
      <p:pic>
        <p:nvPicPr>
          <p:cNvPr id="5" name="Content Placeholder 4"/>
          <p:cNvPicPr preferRelativeResize="0">
            <a:picLocks noGrp="1"/>
          </p:cNvPicPr>
          <p:nvPr>
            <p:ph idx="1"/>
          </p:nvPr>
        </p:nvPicPr>
        <p:blipFill>
          <a:blip r:embed="rId3"/>
          <a:stretch>
            <a:fillRect/>
          </a:stretch>
        </p:blipFill>
        <p:spPr>
          <a:xfrm>
            <a:off x="725966" y="1814393"/>
            <a:ext cx="2011680" cy="1828800"/>
          </a:xfrm>
          <a:prstGeom prst="rect">
            <a:avLst/>
          </a:prstGeom>
          <a:ln>
            <a:solidFill>
              <a:schemeClr val="tx1"/>
            </a:solidFill>
          </a:ln>
        </p:spPr>
      </p:pic>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8</a:t>
            </a:fld>
            <a:endParaRPr lang="en-US" dirty="0">
              <a:latin typeface="Candara" panose="020E0502030303020204" pitchFamily="34" charset="0"/>
            </a:endParaRPr>
          </a:p>
        </p:txBody>
      </p:sp>
      <p:pic>
        <p:nvPicPr>
          <p:cNvPr id="6" name="Picture 5"/>
          <p:cNvPicPr>
            <a:picLocks noChangeAspect="1"/>
          </p:cNvPicPr>
          <p:nvPr/>
        </p:nvPicPr>
        <p:blipFill>
          <a:blip r:embed="rId4"/>
          <a:stretch>
            <a:fillRect/>
          </a:stretch>
        </p:blipFill>
        <p:spPr>
          <a:xfrm>
            <a:off x="1993496" y="3750986"/>
            <a:ext cx="2009218" cy="1828800"/>
          </a:xfrm>
          <a:prstGeom prst="rect">
            <a:avLst/>
          </a:prstGeom>
          <a:ln>
            <a:solidFill>
              <a:schemeClr val="tx1"/>
            </a:solidFill>
          </a:ln>
        </p:spPr>
      </p:pic>
      <p:pic>
        <p:nvPicPr>
          <p:cNvPr id="8" name="Picture 7"/>
          <p:cNvPicPr preferRelativeResize="0">
            <a:picLocks/>
          </p:cNvPicPr>
          <p:nvPr/>
        </p:nvPicPr>
        <p:blipFill>
          <a:blip r:embed="rId5"/>
          <a:stretch>
            <a:fillRect/>
          </a:stretch>
        </p:blipFill>
        <p:spPr>
          <a:xfrm>
            <a:off x="4749327" y="1863636"/>
            <a:ext cx="2011680" cy="1828800"/>
          </a:xfrm>
          <a:prstGeom prst="rect">
            <a:avLst/>
          </a:prstGeom>
          <a:ln>
            <a:solidFill>
              <a:schemeClr val="tx1"/>
            </a:solidFill>
          </a:ln>
        </p:spPr>
      </p:pic>
      <p:pic>
        <p:nvPicPr>
          <p:cNvPr id="9" name="Picture 8"/>
          <p:cNvPicPr preferRelativeResize="0">
            <a:picLocks/>
          </p:cNvPicPr>
          <p:nvPr/>
        </p:nvPicPr>
        <p:blipFill>
          <a:blip r:embed="rId6"/>
          <a:stretch>
            <a:fillRect/>
          </a:stretch>
        </p:blipFill>
        <p:spPr>
          <a:xfrm>
            <a:off x="6600464" y="3799114"/>
            <a:ext cx="2011680" cy="1828800"/>
          </a:xfrm>
          <a:prstGeom prst="rect">
            <a:avLst/>
          </a:prstGeom>
          <a:ln>
            <a:solidFill>
              <a:schemeClr val="tx1"/>
            </a:solidFill>
          </a:ln>
        </p:spPr>
      </p:pic>
      <p:pic>
        <p:nvPicPr>
          <p:cNvPr id="10" name="Picture 9"/>
          <p:cNvPicPr preferRelativeResize="0">
            <a:picLocks/>
          </p:cNvPicPr>
          <p:nvPr/>
        </p:nvPicPr>
        <p:blipFill>
          <a:blip r:embed="rId7"/>
          <a:stretch>
            <a:fillRect/>
          </a:stretch>
        </p:blipFill>
        <p:spPr>
          <a:xfrm>
            <a:off x="9230529" y="2566227"/>
            <a:ext cx="2011680" cy="1828800"/>
          </a:xfrm>
          <a:prstGeom prst="rect">
            <a:avLst/>
          </a:prstGeom>
          <a:ln>
            <a:solidFill>
              <a:schemeClr val="tx1"/>
            </a:solidFill>
          </a:ln>
        </p:spPr>
      </p:pic>
      <p:sp>
        <p:nvSpPr>
          <p:cNvPr id="3" name="TextBox 2">
            <a:extLst>
              <a:ext uri="{FF2B5EF4-FFF2-40B4-BE49-F238E27FC236}">
                <a16:creationId xmlns:a16="http://schemas.microsoft.com/office/drawing/2014/main" id="{501704D5-56E2-62A8-4F8A-C3CE60F65A8F}"/>
              </a:ext>
            </a:extLst>
          </p:cNvPr>
          <p:cNvSpPr txBox="1"/>
          <p:nvPr/>
        </p:nvSpPr>
        <p:spPr>
          <a:xfrm>
            <a:off x="575861" y="973254"/>
            <a:ext cx="11011408"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Candara" panose="020E0502030303020204" pitchFamily="34" charset="0"/>
              </a:rPr>
              <a:t>A wide variety of blockchains have been designed </a:t>
            </a:r>
          </a:p>
          <a:p>
            <a:pPr marL="342900" indent="-342900">
              <a:buFont typeface="Arial" panose="020B0604020202020204" pitchFamily="34" charset="0"/>
              <a:buChar char="•"/>
            </a:pPr>
            <a:r>
              <a:rPr lang="en-US" sz="2200" dirty="0">
                <a:latin typeface="Candara" panose="020E0502030303020204" pitchFamily="34" charset="0"/>
              </a:rPr>
              <a:t>However, there are some important design considerations that require careful attention</a:t>
            </a:r>
          </a:p>
        </p:txBody>
      </p:sp>
      <p:sp>
        <p:nvSpPr>
          <p:cNvPr id="11" name="TextBox 10">
            <a:extLst>
              <a:ext uri="{FF2B5EF4-FFF2-40B4-BE49-F238E27FC236}">
                <a16:creationId xmlns:a16="http://schemas.microsoft.com/office/drawing/2014/main" id="{0C097AE3-2EE8-59FB-A810-728D45E1E697}"/>
              </a:ext>
            </a:extLst>
          </p:cNvPr>
          <p:cNvSpPr txBox="1"/>
          <p:nvPr/>
        </p:nvSpPr>
        <p:spPr>
          <a:xfrm>
            <a:off x="575861" y="5716936"/>
            <a:ext cx="10817198" cy="769441"/>
          </a:xfrm>
          <a:prstGeom prst="rect">
            <a:avLst/>
          </a:prstGeom>
          <a:solidFill>
            <a:srgbClr val="7030A0"/>
          </a:solidFill>
        </p:spPr>
        <p:txBody>
          <a:bodyPr wrap="square" anchor="ctr" anchorCtr="0">
            <a:spAutoFit/>
          </a:bodyPr>
          <a:lstStyle/>
          <a:p>
            <a:pPr algn="ctr"/>
            <a:r>
              <a:rPr lang="en-US" sz="2200" dirty="0">
                <a:solidFill>
                  <a:schemeClr val="bg1"/>
                </a:solidFill>
                <a:latin typeface="Candara" panose="020E0502030303020204" pitchFamily="34" charset="0"/>
              </a:rPr>
              <a:t>Together, these considerations capture the organizational, technical, economic, and architectural dimensions of the blockchain design</a:t>
            </a:r>
          </a:p>
        </p:txBody>
      </p:sp>
    </p:spTree>
    <p:extLst>
      <p:ext uri="{BB962C8B-B14F-4D97-AF65-F5344CB8AC3E}">
        <p14:creationId xmlns:p14="http://schemas.microsoft.com/office/powerpoint/2010/main" val="326147402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Protocol Governance</a:t>
            </a:r>
          </a:p>
        </p:txBody>
      </p:sp>
      <p:sp>
        <p:nvSpPr>
          <p:cNvPr id="3" name="Content Placeholder 2"/>
          <p:cNvSpPr>
            <a:spLocks noGrp="1"/>
          </p:cNvSpPr>
          <p:nvPr>
            <p:ph idx="1"/>
          </p:nvPr>
        </p:nvSpPr>
        <p:spPr>
          <a:xfrm>
            <a:off x="297533" y="3578576"/>
            <a:ext cx="8220825" cy="3098284"/>
          </a:xfrm>
          <a:ln>
            <a:noFill/>
          </a:ln>
        </p:spPr>
        <p:txBody>
          <a:bodyPr wrap="square" anchor="ctr" anchorCtr="0">
            <a:spAutoFit/>
          </a:bodyPr>
          <a:lstStyle/>
          <a:p>
            <a:r>
              <a:rPr lang="en-US" sz="2000" dirty="0"/>
              <a:t>Anarchic: Governance norms, processes, and procedures are inherited from free/open-source software community </a:t>
            </a:r>
          </a:p>
          <a:p>
            <a:r>
              <a:rPr lang="en-US" sz="2000" dirty="0"/>
              <a:t>Hierarchical: There is a recognized leadership e.g., foundation or committee to guide/shape the decision making </a:t>
            </a:r>
          </a:p>
          <a:p>
            <a:r>
              <a:rPr lang="en-US" sz="2000" dirty="0"/>
              <a:t>Dictatorship: Decisions are taken by a single entity e.g., person, company, mining pool </a:t>
            </a:r>
          </a:p>
          <a:p>
            <a:r>
              <a:rPr lang="en-US" sz="2000" dirty="0"/>
              <a:t>Federation: A group of agents have the power to vote on alterations </a:t>
            </a:r>
          </a:p>
          <a:p>
            <a:r>
              <a:rPr lang="en-US" sz="2000" dirty="0"/>
              <a:t>Democratic: Protocol change proposals are voted on, with each vote weighted by the importance of each voter</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9</a:t>
            </a:fld>
            <a:endParaRPr lang="en-US" dirty="0">
              <a:latin typeface="Candara" panose="020E0502030303020204" pitchFamily="34" charset="0"/>
            </a:endParaRPr>
          </a:p>
        </p:txBody>
      </p:sp>
      <p:sp>
        <p:nvSpPr>
          <p:cNvPr id="7" name="TextBox 6"/>
          <p:cNvSpPr txBox="1"/>
          <p:nvPr/>
        </p:nvSpPr>
        <p:spPr>
          <a:xfrm>
            <a:off x="9163238" y="3189777"/>
            <a:ext cx="2537381" cy="1200329"/>
          </a:xfrm>
          <a:prstGeom prst="rect">
            <a:avLst/>
          </a:prstGeom>
          <a:noFill/>
          <a:ln>
            <a:noFill/>
          </a:ln>
        </p:spPr>
        <p:txBody>
          <a:bodyPr wrap="square" rtlCol="0">
            <a:spAutoFit/>
          </a:bodyPr>
          <a:lstStyle/>
          <a:p>
            <a:r>
              <a:rPr lang="en-US" dirty="0">
                <a:solidFill>
                  <a:schemeClr val="accent6">
                    <a:lumMod val="50000"/>
                  </a:schemeClr>
                </a:solidFill>
                <a:latin typeface="Candara" panose="020E0502030303020204" pitchFamily="34" charset="0"/>
              </a:rPr>
              <a:t>Implications:</a:t>
            </a:r>
          </a:p>
          <a:p>
            <a:pPr marL="342900" indent="-342900">
              <a:buFont typeface="Arial" panose="020B0604020202020204" pitchFamily="34" charset="0"/>
              <a:buChar char="•"/>
            </a:pPr>
            <a:r>
              <a:rPr lang="en-US" dirty="0">
                <a:solidFill>
                  <a:schemeClr val="accent6">
                    <a:lumMod val="50000"/>
                  </a:schemeClr>
                </a:solidFill>
                <a:latin typeface="Candara" panose="020E0502030303020204" pitchFamily="34" charset="0"/>
              </a:rPr>
              <a:t>Transparency </a:t>
            </a:r>
          </a:p>
          <a:p>
            <a:pPr marL="342900" indent="-342900">
              <a:buFont typeface="Arial" panose="020B0604020202020204" pitchFamily="34" charset="0"/>
              <a:buChar char="•"/>
            </a:pPr>
            <a:r>
              <a:rPr lang="en-US" dirty="0">
                <a:solidFill>
                  <a:schemeClr val="accent6">
                    <a:lumMod val="50000"/>
                  </a:schemeClr>
                </a:solidFill>
                <a:latin typeface="Candara" panose="020E0502030303020204" pitchFamily="34" charset="0"/>
              </a:rPr>
              <a:t>Efficiency </a:t>
            </a:r>
          </a:p>
          <a:p>
            <a:pPr marL="342900" indent="-342900">
              <a:buFont typeface="Arial" panose="020B0604020202020204" pitchFamily="34" charset="0"/>
              <a:buChar char="•"/>
            </a:pPr>
            <a:r>
              <a:rPr lang="en-US" dirty="0">
                <a:solidFill>
                  <a:schemeClr val="accent6">
                    <a:lumMod val="50000"/>
                  </a:schemeClr>
                </a:solidFill>
                <a:latin typeface="Candara" panose="020E0502030303020204" pitchFamily="34" charset="0"/>
              </a:rPr>
              <a:t>Perceived legitimacy</a:t>
            </a:r>
          </a:p>
        </p:txBody>
      </p:sp>
      <p:pic>
        <p:nvPicPr>
          <p:cNvPr id="37" name="Picture 36"/>
          <p:cNvPicPr>
            <a:picLocks noChangeAspect="1"/>
          </p:cNvPicPr>
          <p:nvPr/>
        </p:nvPicPr>
        <p:blipFill>
          <a:blip r:embed="rId3"/>
          <a:stretch>
            <a:fillRect/>
          </a:stretch>
        </p:blipFill>
        <p:spPr>
          <a:xfrm>
            <a:off x="2695073" y="1846428"/>
            <a:ext cx="6045707" cy="1658989"/>
          </a:xfrm>
          <a:prstGeom prst="rect">
            <a:avLst/>
          </a:prstGeom>
        </p:spPr>
      </p:pic>
      <p:sp>
        <p:nvSpPr>
          <p:cNvPr id="38" name="TextBox 37"/>
          <p:cNvSpPr txBox="1"/>
          <p:nvPr/>
        </p:nvSpPr>
        <p:spPr>
          <a:xfrm>
            <a:off x="9145340" y="4896228"/>
            <a:ext cx="2412184" cy="1015663"/>
          </a:xfrm>
          <a:prstGeom prst="rect">
            <a:avLst/>
          </a:prstGeom>
          <a:noFill/>
        </p:spPr>
        <p:txBody>
          <a:bodyPr wrap="square" rtlCol="0">
            <a:spAutoFit/>
          </a:bodyPr>
          <a:lstStyle/>
          <a:p>
            <a:pPr algn="ctr"/>
            <a:r>
              <a:rPr lang="en-US" sz="2000" dirty="0">
                <a:latin typeface="Candara" panose="020E0502030303020204" pitchFamily="34" charset="0"/>
              </a:rPr>
              <a:t>Bitcoin governance model? </a:t>
            </a:r>
          </a:p>
          <a:p>
            <a:pPr algn="ctr"/>
            <a:r>
              <a:rPr lang="en-US" sz="2000" dirty="0">
                <a:solidFill>
                  <a:schemeClr val="accent2"/>
                </a:solidFill>
                <a:latin typeface="Candara" panose="020E0502030303020204" pitchFamily="34" charset="0"/>
              </a:rPr>
              <a:t>Anarchic </a:t>
            </a:r>
          </a:p>
        </p:txBody>
      </p:sp>
      <p:sp>
        <p:nvSpPr>
          <p:cNvPr id="6" name="TextBox 5">
            <a:extLst>
              <a:ext uri="{FF2B5EF4-FFF2-40B4-BE49-F238E27FC236}">
                <a16:creationId xmlns:a16="http://schemas.microsoft.com/office/drawing/2014/main" id="{1B94E936-CFF1-B535-A2B0-38A79A72C56D}"/>
              </a:ext>
            </a:extLst>
          </p:cNvPr>
          <p:cNvSpPr txBox="1"/>
          <p:nvPr/>
        </p:nvSpPr>
        <p:spPr>
          <a:xfrm>
            <a:off x="514909" y="1010737"/>
            <a:ext cx="11185710" cy="707886"/>
          </a:xfrm>
          <a:prstGeom prst="rect">
            <a:avLst/>
          </a:prstGeom>
          <a:solidFill>
            <a:srgbClr val="7030A0"/>
          </a:solidFill>
        </p:spPr>
        <p:txBody>
          <a:bodyPr wrap="square">
            <a:spAutoFit/>
          </a:bodyPr>
          <a:lstStyle/>
          <a:p>
            <a:pPr algn="ctr"/>
            <a:r>
              <a:rPr lang="en-US" sz="2000" dirty="0">
                <a:solidFill>
                  <a:schemeClr val="bg1"/>
                </a:solidFill>
                <a:latin typeface="Candara" panose="020E0502030303020204" pitchFamily="34" charset="0"/>
              </a:rPr>
              <a:t>Protocol governance refers to the mechanisms and processes by which decisions are made regarding the rules, protocols, and upgrades of a blockchain network</a:t>
            </a:r>
          </a:p>
        </p:txBody>
      </p:sp>
    </p:spTree>
    <p:extLst>
      <p:ext uri="{BB962C8B-B14F-4D97-AF65-F5344CB8AC3E}">
        <p14:creationId xmlns:p14="http://schemas.microsoft.com/office/powerpoint/2010/main" val="223465825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Access</a:t>
            </a:r>
          </a:p>
        </p:txBody>
      </p:sp>
      <p:sp>
        <p:nvSpPr>
          <p:cNvPr id="3" name="Content Placeholder 2"/>
          <p:cNvSpPr>
            <a:spLocks noGrp="1"/>
          </p:cNvSpPr>
          <p:nvPr>
            <p:ph idx="1"/>
          </p:nvPr>
        </p:nvSpPr>
        <p:spPr>
          <a:xfrm>
            <a:off x="389404" y="3829032"/>
            <a:ext cx="7762852" cy="2648239"/>
          </a:xfrm>
          <a:ln>
            <a:noFill/>
          </a:ln>
        </p:spPr>
        <p:txBody>
          <a:bodyPr anchor="ctr" anchorCtr="0">
            <a:normAutofit fontScale="92500" lnSpcReduction="10000"/>
          </a:bodyPr>
          <a:lstStyle/>
          <a:p>
            <a:r>
              <a:rPr lang="en-US" sz="2000" dirty="0"/>
              <a:t>Open: Unrestricted network access where anyone can freely join, leave, rejoin</a:t>
            </a:r>
          </a:p>
          <a:p>
            <a:pPr lvl="1"/>
            <a:r>
              <a:rPr lang="en-US" sz="2000" dirty="0"/>
              <a:t>Joining simply requires downloading and running a software client (there are no gatekeepers)</a:t>
            </a:r>
          </a:p>
          <a:p>
            <a:r>
              <a:rPr lang="en-US" sz="2000" dirty="0"/>
              <a:t>Semi-open: Access is partially restricted where prospective participants need to apply </a:t>
            </a:r>
          </a:p>
          <a:p>
            <a:pPr lvl="1"/>
            <a:r>
              <a:rPr lang="en-US" sz="2000" dirty="0"/>
              <a:t>Decided via on-chain voting/approval of existing network participants</a:t>
            </a:r>
          </a:p>
          <a:p>
            <a:r>
              <a:rPr lang="en-US" sz="2000" dirty="0"/>
              <a:t>Closed: Access is restricted and decided by a gatekeeper </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10</a:t>
            </a:fld>
            <a:endParaRPr lang="en-US" dirty="0">
              <a:latin typeface="Candara" panose="020E0502030303020204" pitchFamily="34" charset="0"/>
            </a:endParaRPr>
          </a:p>
        </p:txBody>
      </p:sp>
      <p:sp>
        <p:nvSpPr>
          <p:cNvPr id="6" name="TextBox 5"/>
          <p:cNvSpPr txBox="1"/>
          <p:nvPr/>
        </p:nvSpPr>
        <p:spPr>
          <a:xfrm>
            <a:off x="8773736" y="3295126"/>
            <a:ext cx="3052939" cy="1200329"/>
          </a:xfrm>
          <a:prstGeom prst="rect">
            <a:avLst/>
          </a:prstGeom>
          <a:noFill/>
          <a:ln>
            <a:noFill/>
          </a:ln>
        </p:spPr>
        <p:txBody>
          <a:bodyPr wrap="square" rtlCol="0">
            <a:spAutoFit/>
          </a:bodyPr>
          <a:lstStyle>
            <a:defPPr>
              <a:defRPr lang="en-US"/>
            </a:defPPr>
            <a:lvl1pPr>
              <a:defRPr>
                <a:solidFill>
                  <a:schemeClr val="accent6">
                    <a:lumMod val="50000"/>
                  </a:schemeClr>
                </a:solidFill>
                <a:latin typeface="Candara" panose="020E0502030303020204" pitchFamily="34" charset="0"/>
              </a:defRPr>
            </a:lvl1pPr>
          </a:lstStyle>
          <a:p>
            <a:r>
              <a:rPr lang="en-US" dirty="0"/>
              <a:t>Implications:</a:t>
            </a:r>
          </a:p>
          <a:p>
            <a:pPr marL="285750" indent="-285750">
              <a:buFont typeface="Arial" panose="020B0604020202020204" pitchFamily="34" charset="0"/>
              <a:buChar char="•"/>
            </a:pPr>
            <a:r>
              <a:rPr lang="en-US" dirty="0"/>
              <a:t>Diversity of participants</a:t>
            </a:r>
          </a:p>
          <a:p>
            <a:pPr marL="285750" indent="-285750">
              <a:buFont typeface="Arial" panose="020B0604020202020204" pitchFamily="34" charset="0"/>
              <a:buChar char="•"/>
            </a:pPr>
            <a:r>
              <a:rPr lang="en-US" dirty="0"/>
              <a:t>Consensus mechanism </a:t>
            </a:r>
          </a:p>
          <a:p>
            <a:pPr marL="285750" indent="-285750">
              <a:buFont typeface="Arial" panose="020B0604020202020204" pitchFamily="34" charset="0"/>
              <a:buChar char="•"/>
            </a:pPr>
            <a:r>
              <a:rPr lang="en-US" dirty="0"/>
              <a:t>Trust requirements</a:t>
            </a:r>
          </a:p>
        </p:txBody>
      </p:sp>
      <p:grpSp>
        <p:nvGrpSpPr>
          <p:cNvPr id="7" name="Group 6"/>
          <p:cNvGrpSpPr/>
          <p:nvPr/>
        </p:nvGrpSpPr>
        <p:grpSpPr>
          <a:xfrm>
            <a:off x="2960794" y="1826095"/>
            <a:ext cx="5078186" cy="1665514"/>
            <a:chOff x="947057" y="3879387"/>
            <a:chExt cx="5078186" cy="1665514"/>
          </a:xfrm>
        </p:grpSpPr>
        <p:grpSp>
          <p:nvGrpSpPr>
            <p:cNvPr id="8" name="Group 7"/>
            <p:cNvGrpSpPr/>
            <p:nvPr/>
          </p:nvGrpSpPr>
          <p:grpSpPr>
            <a:xfrm>
              <a:off x="947057" y="3879387"/>
              <a:ext cx="5078186" cy="1665514"/>
              <a:chOff x="947057" y="1534886"/>
              <a:chExt cx="5078186" cy="1665514"/>
            </a:xfrm>
          </p:grpSpPr>
          <p:grpSp>
            <p:nvGrpSpPr>
              <p:cNvPr id="12" name="Group 11"/>
              <p:cNvGrpSpPr/>
              <p:nvPr/>
            </p:nvGrpSpPr>
            <p:grpSpPr>
              <a:xfrm>
                <a:off x="947057" y="1534886"/>
                <a:ext cx="5078186" cy="1665514"/>
                <a:chOff x="947057" y="1534886"/>
                <a:chExt cx="5078186" cy="1665514"/>
              </a:xfrm>
            </p:grpSpPr>
            <p:sp>
              <p:nvSpPr>
                <p:cNvPr id="16" name="Rounded Rectangle 15"/>
                <p:cNvSpPr/>
                <p:nvPr/>
              </p:nvSpPr>
              <p:spPr>
                <a:xfrm>
                  <a:off x="947057" y="1534886"/>
                  <a:ext cx="5078186" cy="1665514"/>
                </a:xfrm>
                <a:prstGeom prst="roundRect">
                  <a:avLst/>
                </a:prstGeom>
                <a:solidFill>
                  <a:schemeClr val="bg2"/>
                </a:solidFill>
                <a:ln w="254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17" name="Straight Connector 16"/>
                <p:cNvCxnSpPr/>
                <p:nvPr/>
              </p:nvCxnSpPr>
              <p:spPr>
                <a:xfrm flipH="1">
                  <a:off x="2547257" y="1534886"/>
                  <a:ext cx="32657" cy="166551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4286250" y="1534886"/>
                  <a:ext cx="32657" cy="166551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1308327" y="2737560"/>
                <a:ext cx="1469571" cy="369332"/>
              </a:xfrm>
              <a:prstGeom prst="rect">
                <a:avLst/>
              </a:prstGeom>
              <a:noFill/>
            </p:spPr>
            <p:txBody>
              <a:bodyPr wrap="square" rtlCol="0">
                <a:spAutoFit/>
              </a:bodyPr>
              <a:lstStyle/>
              <a:p>
                <a:pPr algn="ctr"/>
                <a:r>
                  <a:rPr lang="en-US" dirty="0">
                    <a:latin typeface="Candara" panose="020E0502030303020204" pitchFamily="34" charset="0"/>
                  </a:rPr>
                  <a:t>Open	</a:t>
                </a:r>
              </a:p>
            </p:txBody>
          </p:sp>
          <p:sp>
            <p:nvSpPr>
              <p:cNvPr id="14" name="TextBox 13"/>
              <p:cNvSpPr txBox="1"/>
              <p:nvPr/>
            </p:nvSpPr>
            <p:spPr>
              <a:xfrm>
                <a:off x="2592160" y="2753303"/>
                <a:ext cx="1575707" cy="369332"/>
              </a:xfrm>
              <a:prstGeom prst="rect">
                <a:avLst/>
              </a:prstGeom>
              <a:noFill/>
            </p:spPr>
            <p:txBody>
              <a:bodyPr wrap="square" rtlCol="0">
                <a:spAutoFit/>
              </a:bodyPr>
              <a:lstStyle/>
              <a:p>
                <a:pPr algn="ctr"/>
                <a:r>
                  <a:rPr lang="en-US" dirty="0">
                    <a:latin typeface="Candara" panose="020E0502030303020204" pitchFamily="34" charset="0"/>
                  </a:rPr>
                  <a:t>Semi-Open</a:t>
                </a:r>
              </a:p>
            </p:txBody>
          </p:sp>
          <p:sp>
            <p:nvSpPr>
              <p:cNvPr id="15" name="TextBox 14"/>
              <p:cNvSpPr txBox="1"/>
              <p:nvPr/>
            </p:nvSpPr>
            <p:spPr>
              <a:xfrm>
                <a:off x="4437289" y="2753303"/>
                <a:ext cx="1469571" cy="369332"/>
              </a:xfrm>
              <a:prstGeom prst="rect">
                <a:avLst/>
              </a:prstGeom>
              <a:noFill/>
            </p:spPr>
            <p:txBody>
              <a:bodyPr wrap="square" rtlCol="0">
                <a:spAutoFit/>
              </a:bodyPr>
              <a:lstStyle/>
              <a:p>
                <a:pPr algn="ctr"/>
                <a:r>
                  <a:rPr lang="en-US" dirty="0">
                    <a:latin typeface="Candara" panose="020E0502030303020204" pitchFamily="34" charset="0"/>
                  </a:rPr>
                  <a:t>Closed	</a:t>
                </a:r>
              </a:p>
            </p:txBody>
          </p:sp>
        </p:grpSp>
        <p:pic>
          <p:nvPicPr>
            <p:cNvPr id="9" name="Picture 8"/>
            <p:cNvPicPr>
              <a:picLocks noChangeAspect="1"/>
            </p:cNvPicPr>
            <p:nvPr/>
          </p:nvPicPr>
          <p:blipFill>
            <a:blip r:embed="rId2"/>
            <a:stretch>
              <a:fillRect/>
            </a:stretch>
          </p:blipFill>
          <p:spPr>
            <a:xfrm>
              <a:off x="1275670" y="4135779"/>
              <a:ext cx="942975" cy="962025"/>
            </a:xfrm>
            <a:prstGeom prst="rect">
              <a:avLst/>
            </a:prstGeom>
          </p:spPr>
        </p:pic>
        <p:pic>
          <p:nvPicPr>
            <p:cNvPr id="10" name="Picture 9"/>
            <p:cNvPicPr>
              <a:picLocks noChangeAspect="1"/>
            </p:cNvPicPr>
            <p:nvPr/>
          </p:nvPicPr>
          <p:blipFill>
            <a:blip r:embed="rId3"/>
            <a:stretch>
              <a:fillRect/>
            </a:stretch>
          </p:blipFill>
          <p:spPr>
            <a:xfrm>
              <a:off x="2973840" y="4019914"/>
              <a:ext cx="876300" cy="1000125"/>
            </a:xfrm>
            <a:prstGeom prst="rect">
              <a:avLst/>
            </a:prstGeom>
          </p:spPr>
        </p:pic>
        <p:pic>
          <p:nvPicPr>
            <p:cNvPr id="11" name="Picture 10"/>
            <p:cNvPicPr>
              <a:picLocks noChangeAspect="1"/>
            </p:cNvPicPr>
            <p:nvPr/>
          </p:nvPicPr>
          <p:blipFill>
            <a:blip r:embed="rId4"/>
            <a:stretch>
              <a:fillRect/>
            </a:stretch>
          </p:blipFill>
          <p:spPr>
            <a:xfrm>
              <a:off x="4572000" y="4049485"/>
              <a:ext cx="914400" cy="1047750"/>
            </a:xfrm>
            <a:prstGeom prst="rect">
              <a:avLst/>
            </a:prstGeom>
          </p:spPr>
        </p:pic>
      </p:grpSp>
      <p:sp>
        <p:nvSpPr>
          <p:cNvPr id="19" name="TextBox 18"/>
          <p:cNvSpPr txBox="1"/>
          <p:nvPr/>
        </p:nvSpPr>
        <p:spPr>
          <a:xfrm>
            <a:off x="8773736" y="5029361"/>
            <a:ext cx="2747267" cy="1015663"/>
          </a:xfrm>
          <a:prstGeom prst="rect">
            <a:avLst/>
          </a:prstGeom>
          <a:noFill/>
        </p:spPr>
        <p:txBody>
          <a:bodyPr wrap="square" rtlCol="0">
            <a:spAutoFit/>
          </a:bodyPr>
          <a:lstStyle/>
          <a:p>
            <a:pPr algn="ctr"/>
            <a:r>
              <a:rPr lang="en-US" sz="2000" dirty="0">
                <a:latin typeface="Candara" panose="020E0502030303020204" pitchFamily="34" charset="0"/>
              </a:rPr>
              <a:t>Bitcoin Network Access Model? </a:t>
            </a:r>
          </a:p>
          <a:p>
            <a:pPr algn="ctr"/>
            <a:r>
              <a:rPr lang="en-US" sz="2000" dirty="0">
                <a:solidFill>
                  <a:schemeClr val="accent2"/>
                </a:solidFill>
                <a:latin typeface="Candara" panose="020E0502030303020204" pitchFamily="34" charset="0"/>
              </a:rPr>
              <a:t>Open Access</a:t>
            </a:r>
          </a:p>
        </p:txBody>
      </p:sp>
      <p:sp>
        <p:nvSpPr>
          <p:cNvPr id="20" name="TextBox 19">
            <a:extLst>
              <a:ext uri="{FF2B5EF4-FFF2-40B4-BE49-F238E27FC236}">
                <a16:creationId xmlns:a16="http://schemas.microsoft.com/office/drawing/2014/main" id="{9FCAC268-CF26-ACA1-01A7-558A227201DD}"/>
              </a:ext>
            </a:extLst>
          </p:cNvPr>
          <p:cNvSpPr txBox="1"/>
          <p:nvPr/>
        </p:nvSpPr>
        <p:spPr>
          <a:xfrm>
            <a:off x="879541" y="1062329"/>
            <a:ext cx="10542291" cy="461665"/>
          </a:xfrm>
          <a:prstGeom prst="rect">
            <a:avLst/>
          </a:prstGeom>
          <a:solidFill>
            <a:srgbClr val="7030A0"/>
          </a:solidFill>
        </p:spPr>
        <p:txBody>
          <a:bodyPr wrap="square">
            <a:spAutoFit/>
          </a:bodyPr>
          <a:lstStyle/>
          <a:p>
            <a:pPr algn="ctr"/>
            <a:r>
              <a:rPr lang="en-US" sz="2400" dirty="0">
                <a:solidFill>
                  <a:schemeClr val="bg1"/>
                </a:solidFill>
                <a:latin typeface="Candara" panose="020E0502030303020204" pitchFamily="34" charset="0"/>
              </a:rPr>
              <a:t>Network access determines the right of entry to the system</a:t>
            </a:r>
          </a:p>
        </p:txBody>
      </p:sp>
    </p:spTree>
    <p:extLst>
      <p:ext uri="{BB962C8B-B14F-4D97-AF65-F5344CB8AC3E}">
        <p14:creationId xmlns:p14="http://schemas.microsoft.com/office/powerpoint/2010/main" val="331108208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Processing</a:t>
            </a:r>
          </a:p>
        </p:txBody>
      </p:sp>
      <p:sp>
        <p:nvSpPr>
          <p:cNvPr id="3" name="Content Placeholder 2"/>
          <p:cNvSpPr>
            <a:spLocks noGrp="1"/>
          </p:cNvSpPr>
          <p:nvPr>
            <p:ph idx="1"/>
          </p:nvPr>
        </p:nvSpPr>
        <p:spPr>
          <a:xfrm>
            <a:off x="651182" y="4103129"/>
            <a:ext cx="7234500" cy="2183317"/>
          </a:xfrm>
          <a:ln>
            <a:noFill/>
          </a:ln>
        </p:spPr>
        <p:txBody>
          <a:bodyPr>
            <a:noAutofit/>
          </a:bodyPr>
          <a:lstStyle/>
          <a:p>
            <a:r>
              <a:rPr lang="en-US" sz="2200" dirty="0"/>
              <a:t>Decentralized: Any network participant has the right to participate in transaction processing</a:t>
            </a:r>
          </a:p>
          <a:p>
            <a:r>
              <a:rPr lang="en-US" sz="2200" dirty="0"/>
              <a:t>Semi-Centralized: A select subset of network participants have the </a:t>
            </a:r>
            <a:r>
              <a:rPr lang="en-US" sz="2200" i="1" dirty="0"/>
              <a:t>authorization</a:t>
            </a:r>
            <a:r>
              <a:rPr lang="en-US" sz="2200" dirty="0"/>
              <a:t> to process transactions </a:t>
            </a:r>
          </a:p>
          <a:p>
            <a:r>
              <a:rPr lang="en-US" sz="2200" dirty="0"/>
              <a:t>Centralized: A single participant has control over transaction processing</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11</a:t>
            </a:fld>
            <a:endParaRPr lang="en-US" dirty="0">
              <a:latin typeface="Candara" panose="020E0502030303020204" pitchFamily="34" charset="0"/>
            </a:endParaRPr>
          </a:p>
        </p:txBody>
      </p:sp>
      <p:sp>
        <p:nvSpPr>
          <p:cNvPr id="13" name="TextBox 12"/>
          <p:cNvSpPr txBox="1"/>
          <p:nvPr/>
        </p:nvSpPr>
        <p:spPr>
          <a:xfrm>
            <a:off x="8298457" y="3561514"/>
            <a:ext cx="3466244" cy="1200329"/>
          </a:xfrm>
          <a:prstGeom prst="rect">
            <a:avLst/>
          </a:prstGeom>
          <a:noFill/>
          <a:ln>
            <a:noFill/>
          </a:ln>
        </p:spPr>
        <p:txBody>
          <a:bodyPr wrap="square" rtlCol="0">
            <a:spAutoFit/>
          </a:bodyPr>
          <a:lstStyle>
            <a:defPPr>
              <a:defRPr lang="en-US"/>
            </a:defPPr>
            <a:lvl1pPr>
              <a:defRPr>
                <a:solidFill>
                  <a:schemeClr val="accent6">
                    <a:lumMod val="50000"/>
                  </a:schemeClr>
                </a:solidFill>
                <a:latin typeface="Candara" panose="020E0502030303020204" pitchFamily="34" charset="0"/>
              </a:defRPr>
            </a:lvl1pPr>
          </a:lstStyle>
          <a:p>
            <a:r>
              <a:rPr lang="en-US" dirty="0"/>
              <a:t>Implications:</a:t>
            </a:r>
          </a:p>
          <a:p>
            <a:pPr marL="285750" indent="-285750">
              <a:buFont typeface="Arial" panose="020B0604020202020204" pitchFamily="34" charset="0"/>
              <a:buChar char="•"/>
            </a:pPr>
            <a:r>
              <a:rPr lang="en-US" dirty="0"/>
              <a:t>Transaction finality</a:t>
            </a:r>
          </a:p>
          <a:p>
            <a:pPr marL="285750" indent="-285750">
              <a:buFont typeface="Arial" panose="020B0604020202020204" pitchFamily="34" charset="0"/>
              <a:buChar char="•"/>
            </a:pPr>
            <a:r>
              <a:rPr lang="en-US" dirty="0"/>
              <a:t>Participation </a:t>
            </a:r>
          </a:p>
          <a:p>
            <a:pPr marL="285750" indent="-285750">
              <a:buFont typeface="Arial" panose="020B0604020202020204" pitchFamily="34" charset="0"/>
              <a:buChar char="•"/>
            </a:pPr>
            <a:r>
              <a:rPr lang="en-US" dirty="0"/>
              <a:t>Degree of tamper resistance </a:t>
            </a:r>
          </a:p>
        </p:txBody>
      </p:sp>
      <p:sp>
        <p:nvSpPr>
          <p:cNvPr id="14" name="TextBox 13"/>
          <p:cNvSpPr txBox="1"/>
          <p:nvPr/>
        </p:nvSpPr>
        <p:spPr>
          <a:xfrm>
            <a:off x="8298457" y="5194787"/>
            <a:ext cx="3466244" cy="1015663"/>
          </a:xfrm>
          <a:prstGeom prst="rect">
            <a:avLst/>
          </a:prstGeom>
          <a:noFill/>
        </p:spPr>
        <p:txBody>
          <a:bodyPr wrap="square" rtlCol="0">
            <a:spAutoFit/>
          </a:bodyPr>
          <a:lstStyle/>
          <a:p>
            <a:pPr algn="ctr"/>
            <a:r>
              <a:rPr lang="en-US" sz="2000" dirty="0">
                <a:latin typeface="Candara" panose="020E0502030303020204" pitchFamily="34" charset="0"/>
              </a:rPr>
              <a:t>Bitcoin Transaction Processing Model? </a:t>
            </a:r>
          </a:p>
          <a:p>
            <a:pPr algn="ctr"/>
            <a:r>
              <a:rPr lang="en-US" sz="2000" dirty="0">
                <a:solidFill>
                  <a:schemeClr val="accent2"/>
                </a:solidFill>
                <a:latin typeface="Candara" panose="020E0502030303020204" pitchFamily="34" charset="0"/>
              </a:rPr>
              <a:t>Decentralized</a:t>
            </a:r>
          </a:p>
        </p:txBody>
      </p:sp>
      <p:sp>
        <p:nvSpPr>
          <p:cNvPr id="15" name="Rectangle 14"/>
          <p:cNvSpPr/>
          <p:nvPr/>
        </p:nvSpPr>
        <p:spPr>
          <a:xfrm>
            <a:off x="7361464" y="1265415"/>
            <a:ext cx="4572000" cy="430887"/>
          </a:xfrm>
          <a:prstGeom prst="rect">
            <a:avLst/>
          </a:prstGeom>
        </p:spPr>
        <p:txBody>
          <a:bodyPr wrap="square">
            <a:spAutoFit/>
          </a:bodyPr>
          <a:lstStyle/>
          <a:p>
            <a:endParaRPr lang="en-US" sz="2200" dirty="0">
              <a:latin typeface="Candara" panose="020E0502030303020204" pitchFamily="34" charset="0"/>
            </a:endParaRPr>
          </a:p>
        </p:txBody>
      </p:sp>
      <p:grpSp>
        <p:nvGrpSpPr>
          <p:cNvPr id="5" name="Group 4">
            <a:extLst>
              <a:ext uri="{FF2B5EF4-FFF2-40B4-BE49-F238E27FC236}">
                <a16:creationId xmlns:a16="http://schemas.microsoft.com/office/drawing/2014/main" id="{88754C3C-0BF6-E7BC-A2D5-C4091A8EAD1B}"/>
              </a:ext>
            </a:extLst>
          </p:cNvPr>
          <p:cNvGrpSpPr/>
          <p:nvPr/>
        </p:nvGrpSpPr>
        <p:grpSpPr>
          <a:xfrm>
            <a:off x="2978268" y="2147476"/>
            <a:ext cx="5096307" cy="1945798"/>
            <a:chOff x="510267" y="1346022"/>
            <a:chExt cx="4796519" cy="1945798"/>
          </a:xfrm>
        </p:grpSpPr>
        <p:grpSp>
          <p:nvGrpSpPr>
            <p:cNvPr id="12" name="Group 11"/>
            <p:cNvGrpSpPr/>
            <p:nvPr/>
          </p:nvGrpSpPr>
          <p:grpSpPr>
            <a:xfrm>
              <a:off x="510267" y="1346022"/>
              <a:ext cx="4796519" cy="1945798"/>
              <a:chOff x="1567543" y="1347041"/>
              <a:chExt cx="4796519" cy="1945798"/>
            </a:xfrm>
          </p:grpSpPr>
          <p:sp>
            <p:nvSpPr>
              <p:cNvPr id="6" name="Rounded Rectangle 5"/>
              <p:cNvSpPr/>
              <p:nvPr/>
            </p:nvSpPr>
            <p:spPr>
              <a:xfrm>
                <a:off x="1567543" y="1347041"/>
                <a:ext cx="4796519" cy="1665514"/>
              </a:xfrm>
              <a:prstGeom prst="roundRect">
                <a:avLst/>
              </a:prstGeom>
              <a:solidFill>
                <a:schemeClr val="bg2"/>
              </a:solidFill>
              <a:ln w="254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7" name="Straight Connector 6"/>
              <p:cNvCxnSpPr/>
              <p:nvPr/>
            </p:nvCxnSpPr>
            <p:spPr>
              <a:xfrm flipH="1">
                <a:off x="3102427" y="1347041"/>
                <a:ext cx="32657" cy="166551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4793257" y="1366484"/>
                <a:ext cx="32657" cy="166551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653268" y="2646508"/>
                <a:ext cx="1469571" cy="646331"/>
              </a:xfrm>
              <a:prstGeom prst="rect">
                <a:avLst/>
              </a:prstGeom>
              <a:noFill/>
            </p:spPr>
            <p:txBody>
              <a:bodyPr wrap="square" rtlCol="0">
                <a:spAutoFit/>
              </a:bodyPr>
              <a:lstStyle/>
              <a:p>
                <a:pPr algn="ctr"/>
                <a:r>
                  <a:rPr lang="en-US" dirty="0">
                    <a:latin typeface="Candara" panose="020E0502030303020204" pitchFamily="34" charset="0"/>
                  </a:rPr>
                  <a:t>Decentralized</a:t>
                </a:r>
              </a:p>
            </p:txBody>
          </p:sp>
          <p:sp>
            <p:nvSpPr>
              <p:cNvPr id="10" name="TextBox 9"/>
              <p:cNvSpPr txBox="1"/>
              <p:nvPr/>
            </p:nvSpPr>
            <p:spPr>
              <a:xfrm>
                <a:off x="3021195" y="2636653"/>
                <a:ext cx="1845129" cy="369332"/>
              </a:xfrm>
              <a:prstGeom prst="rect">
                <a:avLst/>
              </a:prstGeom>
              <a:noFill/>
            </p:spPr>
            <p:txBody>
              <a:bodyPr wrap="square" rtlCol="0">
                <a:spAutoFit/>
              </a:bodyPr>
              <a:lstStyle/>
              <a:p>
                <a:pPr algn="ctr"/>
                <a:r>
                  <a:rPr lang="en-US" dirty="0">
                    <a:latin typeface="Candara" panose="020E0502030303020204" pitchFamily="34" charset="0"/>
                  </a:rPr>
                  <a:t>Semi-Centralized</a:t>
                </a:r>
              </a:p>
            </p:txBody>
          </p:sp>
          <p:sp>
            <p:nvSpPr>
              <p:cNvPr id="11" name="TextBox 10"/>
              <p:cNvSpPr txBox="1"/>
              <p:nvPr/>
            </p:nvSpPr>
            <p:spPr>
              <a:xfrm>
                <a:off x="4776927" y="2646508"/>
                <a:ext cx="1469571" cy="369332"/>
              </a:xfrm>
              <a:prstGeom prst="rect">
                <a:avLst/>
              </a:prstGeom>
              <a:noFill/>
            </p:spPr>
            <p:txBody>
              <a:bodyPr wrap="square" rtlCol="0">
                <a:spAutoFit/>
              </a:bodyPr>
              <a:lstStyle/>
              <a:p>
                <a:pPr algn="ctr"/>
                <a:r>
                  <a:rPr lang="en-US" dirty="0">
                    <a:latin typeface="Candara" panose="020E0502030303020204" pitchFamily="34" charset="0"/>
                  </a:rPr>
                  <a:t>Centralized</a:t>
                </a:r>
              </a:p>
            </p:txBody>
          </p:sp>
        </p:grpSp>
        <p:pic>
          <p:nvPicPr>
            <p:cNvPr id="16" name="Picture 15"/>
            <p:cNvPicPr>
              <a:picLocks noChangeAspect="1"/>
            </p:cNvPicPr>
            <p:nvPr/>
          </p:nvPicPr>
          <p:blipFill>
            <a:blip r:embed="rId3"/>
            <a:stretch>
              <a:fillRect/>
            </a:stretch>
          </p:blipFill>
          <p:spPr>
            <a:xfrm>
              <a:off x="3857964" y="1408025"/>
              <a:ext cx="1220560" cy="1277030"/>
            </a:xfrm>
            <a:prstGeom prst="rect">
              <a:avLst/>
            </a:prstGeom>
          </p:spPr>
        </p:pic>
        <p:pic>
          <p:nvPicPr>
            <p:cNvPr id="17" name="Picture 16"/>
            <p:cNvPicPr>
              <a:picLocks noChangeAspect="1"/>
            </p:cNvPicPr>
            <p:nvPr/>
          </p:nvPicPr>
          <p:blipFill>
            <a:blip r:embed="rId4"/>
            <a:stretch>
              <a:fillRect/>
            </a:stretch>
          </p:blipFill>
          <p:spPr>
            <a:xfrm>
              <a:off x="2261421" y="1444423"/>
              <a:ext cx="1263848" cy="1224492"/>
            </a:xfrm>
            <a:prstGeom prst="rect">
              <a:avLst/>
            </a:prstGeom>
          </p:spPr>
        </p:pic>
        <p:pic>
          <p:nvPicPr>
            <p:cNvPr id="18" name="Picture 17"/>
            <p:cNvPicPr>
              <a:picLocks noChangeAspect="1"/>
            </p:cNvPicPr>
            <p:nvPr/>
          </p:nvPicPr>
          <p:blipFill>
            <a:blip r:embed="rId5"/>
            <a:stretch>
              <a:fillRect/>
            </a:stretch>
          </p:blipFill>
          <p:spPr>
            <a:xfrm>
              <a:off x="783770" y="1444423"/>
              <a:ext cx="1180079" cy="1229573"/>
            </a:xfrm>
            <a:prstGeom prst="rect">
              <a:avLst/>
            </a:prstGeom>
          </p:spPr>
        </p:pic>
      </p:grpSp>
      <p:sp>
        <p:nvSpPr>
          <p:cNvPr id="20" name="TextBox 19">
            <a:extLst>
              <a:ext uri="{FF2B5EF4-FFF2-40B4-BE49-F238E27FC236}">
                <a16:creationId xmlns:a16="http://schemas.microsoft.com/office/drawing/2014/main" id="{D2C70F58-4258-A917-9133-A36702C6C21F}"/>
              </a:ext>
            </a:extLst>
          </p:cNvPr>
          <p:cNvSpPr txBox="1"/>
          <p:nvPr/>
        </p:nvSpPr>
        <p:spPr>
          <a:xfrm>
            <a:off x="752488" y="1113585"/>
            <a:ext cx="10788331" cy="830997"/>
          </a:xfrm>
          <a:prstGeom prst="rect">
            <a:avLst/>
          </a:prstGeom>
          <a:solidFill>
            <a:srgbClr val="7030A0"/>
          </a:solidFill>
        </p:spPr>
        <p:txBody>
          <a:bodyPr wrap="square">
            <a:spAutoFit/>
          </a:bodyPr>
          <a:lstStyle/>
          <a:p>
            <a:pPr algn="ctr"/>
            <a:r>
              <a:rPr lang="en-US" sz="2400" dirty="0">
                <a:solidFill>
                  <a:schemeClr val="bg1"/>
                </a:solidFill>
                <a:latin typeface="Candara" panose="020E0502030303020204" pitchFamily="34" charset="0"/>
              </a:rPr>
              <a:t>Transaction processing refers to the degree of centralization in terms of selecting transactions and adding records to the global ledger </a:t>
            </a:r>
          </a:p>
        </p:txBody>
      </p:sp>
    </p:spTree>
    <p:extLst>
      <p:ext uri="{BB962C8B-B14F-4D97-AF65-F5344CB8AC3E}">
        <p14:creationId xmlns:p14="http://schemas.microsoft.com/office/powerpoint/2010/main" val="42897870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Incentives</a:t>
            </a:r>
          </a:p>
        </p:txBody>
      </p:sp>
      <p:sp>
        <p:nvSpPr>
          <p:cNvPr id="3" name="Content Placeholder 2"/>
          <p:cNvSpPr>
            <a:spLocks noGrp="1"/>
          </p:cNvSpPr>
          <p:nvPr>
            <p:ph idx="1"/>
          </p:nvPr>
        </p:nvSpPr>
        <p:spPr>
          <a:xfrm>
            <a:off x="709863" y="4241059"/>
            <a:ext cx="7760370" cy="2183804"/>
          </a:xfrm>
          <a:ln>
            <a:noFill/>
          </a:ln>
        </p:spPr>
        <p:txBody>
          <a:bodyPr>
            <a:noAutofit/>
          </a:bodyPr>
          <a:lstStyle/>
          <a:p>
            <a:r>
              <a:rPr lang="en-US" sz="2400" dirty="0"/>
              <a:t>Monetary incentives: Block rewards plus transaction fees</a:t>
            </a:r>
          </a:p>
          <a:p>
            <a:pPr lvl="1"/>
            <a:r>
              <a:rPr lang="en-US" sz="2000" dirty="0"/>
              <a:t>These are intrinsic rewards generally paid in the native cryptocurrency of the system </a:t>
            </a:r>
          </a:p>
          <a:p>
            <a:r>
              <a:rPr lang="en-US" sz="2400" dirty="0"/>
              <a:t>Non-monetary incentives: These incentive are in the form of contractual obligations or reputations </a:t>
            </a:r>
          </a:p>
          <a:p>
            <a:pPr lvl="1"/>
            <a:r>
              <a:rPr lang="en-US" sz="2000" dirty="0"/>
              <a:t>These rewards are extrinsic rewards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12</a:t>
            </a:fld>
            <a:endParaRPr lang="en-US" dirty="0">
              <a:latin typeface="Candara" panose="020E0502030303020204" pitchFamily="34" charset="0"/>
            </a:endParaRPr>
          </a:p>
        </p:txBody>
      </p:sp>
      <p:grpSp>
        <p:nvGrpSpPr>
          <p:cNvPr id="16" name="Group 15"/>
          <p:cNvGrpSpPr/>
          <p:nvPr/>
        </p:nvGrpSpPr>
        <p:grpSpPr>
          <a:xfrm>
            <a:off x="3320716" y="2147934"/>
            <a:ext cx="4322933" cy="1813272"/>
            <a:chOff x="1812472" y="1419785"/>
            <a:chExt cx="3451559" cy="1813272"/>
          </a:xfrm>
        </p:grpSpPr>
        <p:sp>
          <p:nvSpPr>
            <p:cNvPr id="5" name="Rounded Rectangle 4"/>
            <p:cNvSpPr/>
            <p:nvPr/>
          </p:nvSpPr>
          <p:spPr>
            <a:xfrm>
              <a:off x="1812472" y="1419785"/>
              <a:ext cx="3348999" cy="1813272"/>
            </a:xfrm>
            <a:prstGeom prst="roundRect">
              <a:avLst/>
            </a:prstGeom>
            <a:solidFill>
              <a:schemeClr val="bg2"/>
            </a:solidFill>
            <a:ln w="254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6" name="Straight Connector 5"/>
            <p:cNvCxnSpPr>
              <a:stCxn id="5" idx="0"/>
              <a:endCxn id="5" idx="2"/>
            </p:cNvCxnSpPr>
            <p:nvPr/>
          </p:nvCxnSpPr>
          <p:spPr>
            <a:xfrm>
              <a:off x="3486972" y="1419785"/>
              <a:ext cx="0" cy="1813272"/>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892580" y="2851541"/>
              <a:ext cx="1598159" cy="369332"/>
            </a:xfrm>
            <a:prstGeom prst="rect">
              <a:avLst/>
            </a:prstGeom>
            <a:noFill/>
          </p:spPr>
          <p:txBody>
            <a:bodyPr wrap="square" rtlCol="0">
              <a:spAutoFit/>
            </a:bodyPr>
            <a:lstStyle/>
            <a:p>
              <a:pPr algn="ctr"/>
              <a:r>
                <a:rPr lang="en-US" dirty="0">
                  <a:latin typeface="Candara" panose="020E0502030303020204" pitchFamily="34" charset="0"/>
                </a:rPr>
                <a:t>Monetary</a:t>
              </a:r>
            </a:p>
          </p:txBody>
        </p:sp>
        <p:sp>
          <p:nvSpPr>
            <p:cNvPr id="8" name="TextBox 7"/>
            <p:cNvSpPr txBox="1"/>
            <p:nvPr/>
          </p:nvSpPr>
          <p:spPr>
            <a:xfrm>
              <a:off x="3418902" y="2863725"/>
              <a:ext cx="1845129" cy="369332"/>
            </a:xfrm>
            <a:prstGeom prst="rect">
              <a:avLst/>
            </a:prstGeom>
            <a:noFill/>
          </p:spPr>
          <p:txBody>
            <a:bodyPr wrap="square" rtlCol="0">
              <a:spAutoFit/>
            </a:bodyPr>
            <a:lstStyle/>
            <a:p>
              <a:pPr algn="ctr"/>
              <a:r>
                <a:rPr lang="en-US" dirty="0">
                  <a:latin typeface="Candara" panose="020E0502030303020204" pitchFamily="34" charset="0"/>
                </a:rPr>
                <a:t>Non-Monetary</a:t>
              </a:r>
            </a:p>
          </p:txBody>
        </p:sp>
        <p:pic>
          <p:nvPicPr>
            <p:cNvPr id="11" name="Picture 10"/>
            <p:cNvPicPr>
              <a:picLocks noChangeAspect="1"/>
            </p:cNvPicPr>
            <p:nvPr/>
          </p:nvPicPr>
          <p:blipFill>
            <a:blip r:embed="rId2"/>
            <a:stretch>
              <a:fillRect/>
            </a:stretch>
          </p:blipFill>
          <p:spPr>
            <a:xfrm>
              <a:off x="2130875" y="1574384"/>
              <a:ext cx="1121570" cy="1220532"/>
            </a:xfrm>
            <a:prstGeom prst="rect">
              <a:avLst/>
            </a:prstGeom>
          </p:spPr>
        </p:pic>
        <p:pic>
          <p:nvPicPr>
            <p:cNvPr id="12" name="Picture 11"/>
            <p:cNvPicPr>
              <a:picLocks noChangeAspect="1"/>
            </p:cNvPicPr>
            <p:nvPr/>
          </p:nvPicPr>
          <p:blipFill>
            <a:blip r:embed="rId3"/>
            <a:stretch>
              <a:fillRect/>
            </a:stretch>
          </p:blipFill>
          <p:spPr>
            <a:xfrm>
              <a:off x="3765784" y="1557481"/>
              <a:ext cx="1118511" cy="1272789"/>
            </a:xfrm>
            <a:prstGeom prst="rect">
              <a:avLst/>
            </a:prstGeom>
          </p:spPr>
        </p:pic>
      </p:grpSp>
      <p:sp>
        <p:nvSpPr>
          <p:cNvPr id="15" name="TextBox 14"/>
          <p:cNvSpPr txBox="1"/>
          <p:nvPr/>
        </p:nvSpPr>
        <p:spPr>
          <a:xfrm>
            <a:off x="8305414" y="2801838"/>
            <a:ext cx="3368426" cy="1200329"/>
          </a:xfrm>
          <a:prstGeom prst="rect">
            <a:avLst/>
          </a:prstGeom>
          <a:noFill/>
          <a:ln>
            <a:noFill/>
          </a:ln>
        </p:spPr>
        <p:txBody>
          <a:bodyPr wrap="square" rtlCol="0">
            <a:spAutoFit/>
          </a:bodyPr>
          <a:lstStyle>
            <a:defPPr>
              <a:defRPr lang="en-US"/>
            </a:defPPr>
            <a:lvl1pPr>
              <a:defRPr>
                <a:solidFill>
                  <a:schemeClr val="accent6">
                    <a:lumMod val="50000"/>
                  </a:schemeClr>
                </a:solidFill>
                <a:latin typeface="Candara" panose="020E0502030303020204" pitchFamily="34" charset="0"/>
              </a:defRPr>
            </a:lvl1pPr>
          </a:lstStyle>
          <a:p>
            <a:r>
              <a:rPr lang="en-US" dirty="0"/>
              <a:t>Implications:</a:t>
            </a:r>
          </a:p>
          <a:p>
            <a:pPr marL="285750" indent="-285750">
              <a:buFont typeface="Arial" panose="020B0604020202020204" pitchFamily="34" charset="0"/>
              <a:buChar char="•"/>
            </a:pPr>
            <a:r>
              <a:rPr lang="en-US" dirty="0"/>
              <a:t>Network type (open/close)</a:t>
            </a:r>
          </a:p>
          <a:p>
            <a:pPr marL="285750" indent="-285750">
              <a:buFont typeface="Arial" panose="020B0604020202020204" pitchFamily="34" charset="0"/>
              <a:buChar char="•"/>
            </a:pPr>
            <a:r>
              <a:rPr lang="en-US" dirty="0"/>
              <a:t>Security</a:t>
            </a:r>
          </a:p>
          <a:p>
            <a:pPr marL="285750" indent="-285750">
              <a:buFont typeface="Arial" panose="020B0604020202020204" pitchFamily="34" charset="0"/>
              <a:buChar char="•"/>
            </a:pPr>
            <a:r>
              <a:rPr lang="en-US" dirty="0"/>
              <a:t>Viability</a:t>
            </a:r>
          </a:p>
        </p:txBody>
      </p:sp>
      <p:sp>
        <p:nvSpPr>
          <p:cNvPr id="17" name="TextBox 16"/>
          <p:cNvSpPr txBox="1"/>
          <p:nvPr/>
        </p:nvSpPr>
        <p:spPr>
          <a:xfrm>
            <a:off x="8958204" y="4782717"/>
            <a:ext cx="2432269" cy="1015663"/>
          </a:xfrm>
          <a:prstGeom prst="rect">
            <a:avLst/>
          </a:prstGeom>
          <a:noFill/>
        </p:spPr>
        <p:txBody>
          <a:bodyPr wrap="square" rtlCol="0">
            <a:spAutoFit/>
          </a:bodyPr>
          <a:lstStyle/>
          <a:p>
            <a:pPr algn="ctr"/>
            <a:r>
              <a:rPr lang="en-US" sz="2000" dirty="0">
                <a:latin typeface="Candara" panose="020E0502030303020204" pitchFamily="34" charset="0"/>
              </a:rPr>
              <a:t>Bitcoin Incentives Model? </a:t>
            </a:r>
          </a:p>
          <a:p>
            <a:pPr algn="ctr"/>
            <a:r>
              <a:rPr lang="en-US" sz="2000" dirty="0">
                <a:solidFill>
                  <a:schemeClr val="accent2"/>
                </a:solidFill>
                <a:latin typeface="Candara" panose="020E0502030303020204" pitchFamily="34" charset="0"/>
              </a:rPr>
              <a:t>Monetary</a:t>
            </a:r>
          </a:p>
        </p:txBody>
      </p:sp>
      <p:sp>
        <p:nvSpPr>
          <p:cNvPr id="10" name="TextBox 9">
            <a:extLst>
              <a:ext uri="{FF2B5EF4-FFF2-40B4-BE49-F238E27FC236}">
                <a16:creationId xmlns:a16="http://schemas.microsoft.com/office/drawing/2014/main" id="{E8808994-3102-7507-213D-C8BDC18C96D8}"/>
              </a:ext>
            </a:extLst>
          </p:cNvPr>
          <p:cNvSpPr txBox="1"/>
          <p:nvPr/>
        </p:nvSpPr>
        <p:spPr>
          <a:xfrm>
            <a:off x="1228247" y="1078045"/>
            <a:ext cx="9705026" cy="830997"/>
          </a:xfrm>
          <a:prstGeom prst="rect">
            <a:avLst/>
          </a:prstGeom>
          <a:solidFill>
            <a:srgbClr val="7030A0"/>
          </a:solidFill>
        </p:spPr>
        <p:txBody>
          <a:bodyPr wrap="square" anchor="ctr" anchorCtr="0">
            <a:spAutoFit/>
          </a:bodyPr>
          <a:lstStyle/>
          <a:p>
            <a:pPr algn="ctr"/>
            <a:r>
              <a:rPr lang="en-US" sz="2400" dirty="0">
                <a:solidFill>
                  <a:schemeClr val="bg1"/>
                </a:solidFill>
                <a:latin typeface="Candara" panose="020E0502030303020204" pitchFamily="34" charset="0"/>
              </a:rPr>
              <a:t>Incentives motivate the nodes to participate in various activities and to validate and process transactions</a:t>
            </a:r>
          </a:p>
        </p:txBody>
      </p:sp>
    </p:spTree>
    <p:extLst>
      <p:ext uri="{BB962C8B-B14F-4D97-AF65-F5344CB8AC3E}">
        <p14:creationId xmlns:p14="http://schemas.microsoft.com/office/powerpoint/2010/main" val="343486966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Model</a:t>
            </a:r>
          </a:p>
        </p:txBody>
      </p:sp>
      <p:sp>
        <p:nvSpPr>
          <p:cNvPr id="3" name="Content Placeholder 2"/>
          <p:cNvSpPr>
            <a:spLocks noGrp="1"/>
          </p:cNvSpPr>
          <p:nvPr>
            <p:ph idx="1"/>
          </p:nvPr>
        </p:nvSpPr>
        <p:spPr>
          <a:xfrm>
            <a:off x="511627" y="3847846"/>
            <a:ext cx="8694842" cy="2731084"/>
          </a:xfrm>
          <a:ln>
            <a:noFill/>
          </a:ln>
        </p:spPr>
        <p:txBody>
          <a:bodyPr>
            <a:noAutofit/>
          </a:bodyPr>
          <a:lstStyle/>
          <a:p>
            <a:r>
              <a:rPr lang="en-US" sz="2000" dirty="0"/>
              <a:t>Internal reference: Tracks information about variables that are native to the system</a:t>
            </a:r>
          </a:p>
          <a:p>
            <a:r>
              <a:rPr lang="en-US" sz="2000" dirty="0"/>
              <a:t>External reference: Refers to data that tracks information about variables that exist outside of the system</a:t>
            </a:r>
          </a:p>
          <a:p>
            <a:r>
              <a:rPr lang="en-US" sz="2000" dirty="0"/>
              <a:t>Hybrid reference: Supports both internal and external reference</a:t>
            </a:r>
          </a:p>
          <a:p>
            <a:r>
              <a:rPr lang="en-US" sz="2000" dirty="0"/>
              <a:t>Self-Referential: Incorporates references to its own components and processes, enabling self-awareness </a:t>
            </a:r>
          </a:p>
          <a:p>
            <a:pPr lvl="1"/>
            <a:r>
              <a:rPr lang="en-US" sz="1800" dirty="0"/>
              <a:t>Useful for smart contract implementation</a:t>
            </a:r>
            <a:endParaRPr lang="en-US" sz="1600" dirty="0"/>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13</a:t>
            </a:fld>
            <a:endParaRPr lang="en-US" dirty="0">
              <a:latin typeface="Candara" panose="020E0502030303020204" pitchFamily="34" charset="0"/>
            </a:endParaRPr>
          </a:p>
        </p:txBody>
      </p:sp>
      <p:grpSp>
        <p:nvGrpSpPr>
          <p:cNvPr id="5" name="Group 4"/>
          <p:cNvGrpSpPr/>
          <p:nvPr/>
        </p:nvGrpSpPr>
        <p:grpSpPr>
          <a:xfrm>
            <a:off x="2620845" y="2032792"/>
            <a:ext cx="5878938" cy="1714744"/>
            <a:chOff x="930076" y="3879387"/>
            <a:chExt cx="5878938" cy="1714744"/>
          </a:xfrm>
        </p:grpSpPr>
        <p:grpSp>
          <p:nvGrpSpPr>
            <p:cNvPr id="6" name="Group 5"/>
            <p:cNvGrpSpPr/>
            <p:nvPr/>
          </p:nvGrpSpPr>
          <p:grpSpPr>
            <a:xfrm>
              <a:off x="930076" y="3879387"/>
              <a:ext cx="5878938" cy="1714744"/>
              <a:chOff x="930076" y="1534886"/>
              <a:chExt cx="6326262" cy="1714744"/>
            </a:xfrm>
          </p:grpSpPr>
          <p:grpSp>
            <p:nvGrpSpPr>
              <p:cNvPr id="13" name="Group 12"/>
              <p:cNvGrpSpPr/>
              <p:nvPr/>
            </p:nvGrpSpPr>
            <p:grpSpPr>
              <a:xfrm>
                <a:off x="947056" y="1534886"/>
                <a:ext cx="6309282" cy="1690129"/>
                <a:chOff x="947056" y="1534886"/>
                <a:chExt cx="6309282" cy="1690129"/>
              </a:xfrm>
            </p:grpSpPr>
            <p:sp>
              <p:nvSpPr>
                <p:cNvPr id="17" name="Rounded Rectangle 16"/>
                <p:cNvSpPr/>
                <p:nvPr/>
              </p:nvSpPr>
              <p:spPr>
                <a:xfrm>
                  <a:off x="947056" y="1534886"/>
                  <a:ext cx="6309282" cy="1665514"/>
                </a:xfrm>
                <a:prstGeom prst="roundRect">
                  <a:avLst/>
                </a:prstGeom>
                <a:solidFill>
                  <a:schemeClr val="bg2"/>
                </a:solidFill>
                <a:ln w="254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18" name="Straight Connector 17"/>
                <p:cNvCxnSpPr/>
                <p:nvPr/>
              </p:nvCxnSpPr>
              <p:spPr>
                <a:xfrm flipH="1">
                  <a:off x="2448972" y="1557513"/>
                  <a:ext cx="3059" cy="162026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024598" y="1559501"/>
                  <a:ext cx="17629" cy="166551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930076" y="2603299"/>
                <a:ext cx="1469571" cy="646331"/>
              </a:xfrm>
              <a:prstGeom prst="rect">
                <a:avLst/>
              </a:prstGeom>
              <a:noFill/>
            </p:spPr>
            <p:txBody>
              <a:bodyPr wrap="square" rtlCol="0">
                <a:spAutoFit/>
              </a:bodyPr>
              <a:lstStyle/>
              <a:p>
                <a:pPr algn="ctr"/>
                <a:r>
                  <a:rPr lang="en-US" dirty="0">
                    <a:latin typeface="Candara" panose="020E0502030303020204" pitchFamily="34" charset="0"/>
                  </a:rPr>
                  <a:t>Internal Reference</a:t>
                </a:r>
              </a:p>
            </p:txBody>
          </p:sp>
          <p:sp>
            <p:nvSpPr>
              <p:cNvPr id="15" name="TextBox 14"/>
              <p:cNvSpPr txBox="1"/>
              <p:nvPr/>
            </p:nvSpPr>
            <p:spPr>
              <a:xfrm>
                <a:off x="2258882" y="2578684"/>
                <a:ext cx="1845129" cy="646331"/>
              </a:xfrm>
              <a:prstGeom prst="rect">
                <a:avLst/>
              </a:prstGeom>
              <a:noFill/>
            </p:spPr>
            <p:txBody>
              <a:bodyPr wrap="square" rtlCol="0">
                <a:spAutoFit/>
              </a:bodyPr>
              <a:lstStyle/>
              <a:p>
                <a:pPr algn="ctr"/>
                <a:r>
                  <a:rPr lang="en-US" dirty="0">
                    <a:latin typeface="Candara" panose="020E0502030303020204" pitchFamily="34" charset="0"/>
                  </a:rPr>
                  <a:t>External Reference</a:t>
                </a:r>
              </a:p>
            </p:txBody>
          </p:sp>
          <p:sp>
            <p:nvSpPr>
              <p:cNvPr id="16" name="TextBox 15"/>
              <p:cNvSpPr txBox="1"/>
              <p:nvPr/>
            </p:nvSpPr>
            <p:spPr>
              <a:xfrm>
                <a:off x="4120991" y="2603299"/>
                <a:ext cx="1469571" cy="646331"/>
              </a:xfrm>
              <a:prstGeom prst="rect">
                <a:avLst/>
              </a:prstGeom>
              <a:noFill/>
            </p:spPr>
            <p:txBody>
              <a:bodyPr wrap="square" rtlCol="0">
                <a:spAutoFit/>
              </a:bodyPr>
              <a:lstStyle/>
              <a:p>
                <a:pPr algn="ctr"/>
                <a:r>
                  <a:rPr lang="en-US" dirty="0">
                    <a:latin typeface="Candara" panose="020E0502030303020204" pitchFamily="34" charset="0"/>
                  </a:rPr>
                  <a:t>Hybrid Reference</a:t>
                </a:r>
              </a:p>
            </p:txBody>
          </p:sp>
        </p:grpSp>
        <p:cxnSp>
          <p:nvCxnSpPr>
            <p:cNvPr id="7" name="Straight Connector 6"/>
            <p:cNvCxnSpPr/>
            <p:nvPr/>
          </p:nvCxnSpPr>
          <p:spPr>
            <a:xfrm>
              <a:off x="5294599" y="3895201"/>
              <a:ext cx="1" cy="162026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374827" y="4923428"/>
              <a:ext cx="1259951" cy="646331"/>
            </a:xfrm>
            <a:prstGeom prst="rect">
              <a:avLst/>
            </a:prstGeom>
            <a:noFill/>
          </p:spPr>
          <p:txBody>
            <a:bodyPr wrap="square" rtlCol="0">
              <a:spAutoFit/>
            </a:bodyPr>
            <a:lstStyle/>
            <a:p>
              <a:pPr algn="ctr"/>
              <a:r>
                <a:rPr lang="en-US" dirty="0">
                  <a:latin typeface="Candara" panose="020E0502030303020204" pitchFamily="34" charset="0"/>
                </a:rPr>
                <a:t>Self </a:t>
              </a:r>
            </a:p>
            <a:p>
              <a:pPr algn="ctr"/>
              <a:r>
                <a:rPr lang="en-US" dirty="0">
                  <a:latin typeface="Candara" panose="020E0502030303020204" pitchFamily="34" charset="0"/>
                </a:rPr>
                <a:t>Referential</a:t>
              </a:r>
            </a:p>
          </p:txBody>
        </p:sp>
        <p:pic>
          <p:nvPicPr>
            <p:cNvPr id="9" name="Picture 8"/>
            <p:cNvPicPr>
              <a:picLocks noChangeAspect="1"/>
            </p:cNvPicPr>
            <p:nvPr/>
          </p:nvPicPr>
          <p:blipFill>
            <a:blip r:embed="rId3"/>
            <a:stretch>
              <a:fillRect/>
            </a:stretch>
          </p:blipFill>
          <p:spPr>
            <a:xfrm>
              <a:off x="1155672" y="3978099"/>
              <a:ext cx="1027853" cy="1019815"/>
            </a:xfrm>
            <a:prstGeom prst="rect">
              <a:avLst/>
            </a:prstGeom>
          </p:spPr>
        </p:pic>
        <p:pic>
          <p:nvPicPr>
            <p:cNvPr id="10" name="Picture 9"/>
            <p:cNvPicPr>
              <a:picLocks noChangeAspect="1"/>
            </p:cNvPicPr>
            <p:nvPr/>
          </p:nvPicPr>
          <p:blipFill>
            <a:blip r:embed="rId4"/>
            <a:stretch>
              <a:fillRect/>
            </a:stretch>
          </p:blipFill>
          <p:spPr>
            <a:xfrm>
              <a:off x="2634673" y="3961598"/>
              <a:ext cx="1035538" cy="1036317"/>
            </a:xfrm>
            <a:prstGeom prst="rect">
              <a:avLst/>
            </a:prstGeom>
          </p:spPr>
        </p:pic>
        <p:pic>
          <p:nvPicPr>
            <p:cNvPr id="11" name="Picture 10"/>
            <p:cNvPicPr>
              <a:picLocks noChangeAspect="1"/>
            </p:cNvPicPr>
            <p:nvPr/>
          </p:nvPicPr>
          <p:blipFill>
            <a:blip r:embed="rId5"/>
            <a:stretch>
              <a:fillRect/>
            </a:stretch>
          </p:blipFill>
          <p:spPr>
            <a:xfrm>
              <a:off x="3965215" y="3960862"/>
              <a:ext cx="1131134" cy="1037052"/>
            </a:xfrm>
            <a:prstGeom prst="rect">
              <a:avLst/>
            </a:prstGeom>
          </p:spPr>
        </p:pic>
        <p:pic>
          <p:nvPicPr>
            <p:cNvPr id="12" name="Picture 11"/>
            <p:cNvPicPr>
              <a:picLocks noChangeAspect="1"/>
            </p:cNvPicPr>
            <p:nvPr/>
          </p:nvPicPr>
          <p:blipFill>
            <a:blip r:embed="rId6"/>
            <a:stretch>
              <a:fillRect/>
            </a:stretch>
          </p:blipFill>
          <p:spPr>
            <a:xfrm>
              <a:off x="5436006" y="3978099"/>
              <a:ext cx="1106430" cy="1019816"/>
            </a:xfrm>
            <a:prstGeom prst="rect">
              <a:avLst/>
            </a:prstGeom>
          </p:spPr>
        </p:pic>
      </p:grpSp>
      <p:sp>
        <p:nvSpPr>
          <p:cNvPr id="20" name="TextBox 19"/>
          <p:cNvSpPr txBox="1"/>
          <p:nvPr/>
        </p:nvSpPr>
        <p:spPr>
          <a:xfrm>
            <a:off x="9018836" y="3000894"/>
            <a:ext cx="2351006" cy="646331"/>
          </a:xfrm>
          <a:prstGeom prst="rect">
            <a:avLst/>
          </a:prstGeom>
          <a:noFill/>
          <a:ln>
            <a:noFill/>
          </a:ln>
        </p:spPr>
        <p:txBody>
          <a:bodyPr wrap="square" rtlCol="0">
            <a:spAutoFit/>
          </a:bodyPr>
          <a:lstStyle>
            <a:defPPr>
              <a:defRPr lang="en-US"/>
            </a:defPPr>
            <a:lvl1pPr>
              <a:defRPr>
                <a:solidFill>
                  <a:schemeClr val="accent6">
                    <a:lumMod val="50000"/>
                  </a:schemeClr>
                </a:solidFill>
                <a:latin typeface="Candara" panose="020E0502030303020204" pitchFamily="34" charset="0"/>
              </a:defRPr>
            </a:lvl1pPr>
          </a:lstStyle>
          <a:p>
            <a:r>
              <a:rPr lang="en-US" dirty="0"/>
              <a:t>Implications:</a:t>
            </a:r>
          </a:p>
          <a:p>
            <a:pPr marL="285750" indent="-285750">
              <a:buFont typeface="Arial" panose="020B0604020202020204" pitchFamily="34" charset="0"/>
              <a:buChar char="•"/>
            </a:pPr>
            <a:r>
              <a:rPr lang="en-US" dirty="0"/>
              <a:t>Smart Contracts</a:t>
            </a:r>
          </a:p>
        </p:txBody>
      </p:sp>
      <p:sp>
        <p:nvSpPr>
          <p:cNvPr id="21" name="TextBox 20"/>
          <p:cNvSpPr txBox="1"/>
          <p:nvPr/>
        </p:nvSpPr>
        <p:spPr>
          <a:xfrm>
            <a:off x="9407309" y="4806692"/>
            <a:ext cx="2266531" cy="1015663"/>
          </a:xfrm>
          <a:prstGeom prst="rect">
            <a:avLst/>
          </a:prstGeom>
          <a:noFill/>
        </p:spPr>
        <p:txBody>
          <a:bodyPr wrap="square" rtlCol="0">
            <a:spAutoFit/>
          </a:bodyPr>
          <a:lstStyle/>
          <a:p>
            <a:pPr algn="ctr"/>
            <a:r>
              <a:rPr lang="en-US" sz="2000" dirty="0">
                <a:latin typeface="Candara" panose="020E0502030303020204" pitchFamily="34" charset="0"/>
              </a:rPr>
              <a:t>Bitcoin Reference Model? </a:t>
            </a:r>
          </a:p>
          <a:p>
            <a:pPr algn="ctr"/>
            <a:r>
              <a:rPr lang="en-US" sz="2000" dirty="0">
                <a:solidFill>
                  <a:schemeClr val="accent2"/>
                </a:solidFill>
                <a:latin typeface="Candara" panose="020E0502030303020204" pitchFamily="34" charset="0"/>
              </a:rPr>
              <a:t>Internal Reference</a:t>
            </a:r>
          </a:p>
        </p:txBody>
      </p:sp>
      <p:sp>
        <p:nvSpPr>
          <p:cNvPr id="23" name="TextBox 22">
            <a:extLst>
              <a:ext uri="{FF2B5EF4-FFF2-40B4-BE49-F238E27FC236}">
                <a16:creationId xmlns:a16="http://schemas.microsoft.com/office/drawing/2014/main" id="{156FB1D2-0477-36E1-2AB2-20194775FD1F}"/>
              </a:ext>
            </a:extLst>
          </p:cNvPr>
          <p:cNvSpPr txBox="1"/>
          <p:nvPr/>
        </p:nvSpPr>
        <p:spPr>
          <a:xfrm>
            <a:off x="721894" y="1035645"/>
            <a:ext cx="10796951" cy="830997"/>
          </a:xfrm>
          <a:prstGeom prst="rect">
            <a:avLst/>
          </a:prstGeom>
          <a:solidFill>
            <a:srgbClr val="7030A0"/>
          </a:solidFill>
        </p:spPr>
        <p:txBody>
          <a:bodyPr wrap="square" anchor="ctr" anchorCtr="0">
            <a:spAutoFit/>
          </a:bodyPr>
          <a:lstStyle/>
          <a:p>
            <a:pPr algn="ctr"/>
            <a:r>
              <a:rPr lang="en-US" sz="2400" dirty="0">
                <a:solidFill>
                  <a:schemeClr val="bg1"/>
                </a:solidFill>
                <a:latin typeface="Candara" panose="020E0502030303020204" pitchFamily="34" charset="0"/>
              </a:rPr>
              <a:t>Reference model establishes whether the data produced by participants references internal or external information</a:t>
            </a:r>
          </a:p>
        </p:txBody>
      </p:sp>
    </p:spTree>
    <p:extLst>
      <p:ext uri="{BB962C8B-B14F-4D97-AF65-F5344CB8AC3E}">
        <p14:creationId xmlns:p14="http://schemas.microsoft.com/office/powerpoint/2010/main" val="376347164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Bitcoin</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14</a:t>
            </a:fld>
            <a:endParaRPr lang="en-US" dirty="0">
              <a:latin typeface="Candara" panose="020E0502030303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560509995"/>
              </p:ext>
            </p:extLst>
          </p:nvPr>
        </p:nvGraphicFramePr>
        <p:xfrm>
          <a:off x="2691816" y="981541"/>
          <a:ext cx="6113094" cy="5577840"/>
        </p:xfrm>
        <a:graphic>
          <a:graphicData uri="http://schemas.openxmlformats.org/drawingml/2006/table">
            <a:tbl>
              <a:tblPr firstRow="1" bandRow="1">
                <a:tableStyleId>{5940675A-B579-460E-94D1-54222C63F5DA}</a:tableStyleId>
              </a:tblPr>
              <a:tblGrid>
                <a:gridCol w="2037698">
                  <a:extLst>
                    <a:ext uri="{9D8B030D-6E8A-4147-A177-3AD203B41FA5}">
                      <a16:colId xmlns:a16="http://schemas.microsoft.com/office/drawing/2014/main" val="20000"/>
                    </a:ext>
                  </a:extLst>
                </a:gridCol>
                <a:gridCol w="2127211">
                  <a:extLst>
                    <a:ext uri="{9D8B030D-6E8A-4147-A177-3AD203B41FA5}">
                      <a16:colId xmlns:a16="http://schemas.microsoft.com/office/drawing/2014/main" val="20001"/>
                    </a:ext>
                  </a:extLst>
                </a:gridCol>
                <a:gridCol w="1948185">
                  <a:extLst>
                    <a:ext uri="{9D8B030D-6E8A-4147-A177-3AD203B41FA5}">
                      <a16:colId xmlns:a16="http://schemas.microsoft.com/office/drawing/2014/main" val="20002"/>
                    </a:ext>
                  </a:extLst>
                </a:gridCol>
              </a:tblGrid>
              <a:tr h="396240">
                <a:tc gridSpan="2">
                  <a:txBody>
                    <a:bodyPr/>
                    <a:lstStyle/>
                    <a:p>
                      <a:endParaRPr lang="en-US" sz="1800" dirty="0"/>
                    </a:p>
                  </a:txBody>
                  <a:tcPr marT="41564" marB="41564">
                    <a:solidFill>
                      <a:schemeClr val="bg2"/>
                    </a:solidFill>
                  </a:tcPr>
                </a:tc>
                <a:tc hMerge="1">
                  <a:txBody>
                    <a:bodyPr/>
                    <a:lstStyle/>
                    <a:p>
                      <a:endParaRPr lang="en-US" dirty="0"/>
                    </a:p>
                  </a:txBody>
                  <a:tcPr/>
                </a:tc>
                <a:tc>
                  <a:txBody>
                    <a:bodyPr/>
                    <a:lstStyle/>
                    <a:p>
                      <a:pPr algn="ctr"/>
                      <a:r>
                        <a:rPr lang="en-US" sz="2000" b="1" dirty="0"/>
                        <a:t>Bitcoin</a:t>
                      </a:r>
                      <a:endParaRPr lang="en-US" sz="1800" b="1" dirty="0"/>
                    </a:p>
                  </a:txBody>
                  <a:tcPr>
                    <a:solidFill>
                      <a:schemeClr val="bg2"/>
                    </a:solidFill>
                  </a:tcPr>
                </a:tc>
                <a:extLst>
                  <a:ext uri="{0D108BD9-81ED-4DB2-BD59-A6C34878D82A}">
                    <a16:rowId xmlns:a16="http://schemas.microsoft.com/office/drawing/2014/main" val="10000"/>
                  </a:ext>
                </a:extLst>
              </a:tr>
              <a:tr h="304800">
                <a:tc rowSpan="5">
                  <a:txBody>
                    <a:bodyPr/>
                    <a:lstStyle/>
                    <a:p>
                      <a:pPr algn="ctr"/>
                      <a:r>
                        <a:rPr lang="en-US" sz="2000" b="0" dirty="0"/>
                        <a:t>Protocol Governance </a:t>
                      </a:r>
                    </a:p>
                  </a:txBody>
                  <a:tcPr marT="41564" marB="41564" anchor="ctr">
                    <a:solidFill>
                      <a:schemeClr val="accent5">
                        <a:lumMod val="40000"/>
                        <a:lumOff val="60000"/>
                      </a:schemeClr>
                    </a:solidFill>
                  </a:tcPr>
                </a:tc>
                <a:tc>
                  <a:txBody>
                    <a:bodyPr/>
                    <a:lstStyle/>
                    <a:p>
                      <a:r>
                        <a:rPr lang="en-US" sz="1400" b="0" dirty="0"/>
                        <a:t>Anarchic</a:t>
                      </a:r>
                    </a:p>
                  </a:txBody>
                  <a:tcPr>
                    <a:solidFill>
                      <a:schemeClr val="accent5">
                        <a:lumMod val="40000"/>
                        <a:lumOff val="6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5">
                        <a:lumMod val="40000"/>
                        <a:lumOff val="60000"/>
                      </a:schemeClr>
                    </a:solidFill>
                  </a:tcPr>
                </a:tc>
                <a:extLst>
                  <a:ext uri="{0D108BD9-81ED-4DB2-BD59-A6C34878D82A}">
                    <a16:rowId xmlns:a16="http://schemas.microsoft.com/office/drawing/2014/main" val="10001"/>
                  </a:ext>
                </a:extLst>
              </a:tr>
              <a:tr h="304800">
                <a:tc vMerge="1">
                  <a:txBody>
                    <a:bodyPr/>
                    <a:lstStyle/>
                    <a:p>
                      <a:endParaRPr lang="en-US"/>
                    </a:p>
                  </a:txBody>
                  <a:tcPr/>
                </a:tc>
                <a:tc>
                  <a:txBody>
                    <a:bodyPr/>
                    <a:lstStyle/>
                    <a:p>
                      <a:r>
                        <a:rPr lang="en-US" sz="1400" b="0" dirty="0"/>
                        <a:t>Hierarchical</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2"/>
                  </a:ext>
                </a:extLst>
              </a:tr>
              <a:tr h="304800">
                <a:tc vMerge="1">
                  <a:txBody>
                    <a:bodyPr/>
                    <a:lstStyle/>
                    <a:p>
                      <a:endParaRPr lang="en-US"/>
                    </a:p>
                  </a:txBody>
                  <a:tcPr/>
                </a:tc>
                <a:tc>
                  <a:txBody>
                    <a:bodyPr/>
                    <a:lstStyle/>
                    <a:p>
                      <a:r>
                        <a:rPr lang="en-US" sz="1400" b="0" dirty="0"/>
                        <a:t>Dictatorship</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3"/>
                  </a:ext>
                </a:extLst>
              </a:tr>
              <a:tr h="304800">
                <a:tc vMerge="1">
                  <a:txBody>
                    <a:bodyPr/>
                    <a:lstStyle/>
                    <a:p>
                      <a:endParaRPr lang="en-US"/>
                    </a:p>
                  </a:txBody>
                  <a:tcPr/>
                </a:tc>
                <a:tc>
                  <a:txBody>
                    <a:bodyPr/>
                    <a:lstStyle/>
                    <a:p>
                      <a:r>
                        <a:rPr lang="en-US" sz="1400" b="0" dirty="0"/>
                        <a:t>Federation</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4"/>
                  </a:ext>
                </a:extLst>
              </a:tr>
              <a:tr h="304800">
                <a:tc vMerge="1">
                  <a:txBody>
                    <a:bodyPr/>
                    <a:lstStyle/>
                    <a:p>
                      <a:endParaRPr lang="en-US"/>
                    </a:p>
                  </a:txBody>
                  <a:tcPr/>
                </a:tc>
                <a:tc>
                  <a:txBody>
                    <a:bodyPr/>
                    <a:lstStyle/>
                    <a:p>
                      <a:r>
                        <a:rPr lang="en-US" sz="1400" b="0" dirty="0"/>
                        <a:t>Democracy</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5"/>
                  </a:ext>
                </a:extLst>
              </a:tr>
              <a:tr h="304800">
                <a:tc rowSpan="3">
                  <a:txBody>
                    <a:bodyPr/>
                    <a:lstStyle/>
                    <a:p>
                      <a:pPr algn="ctr"/>
                      <a:r>
                        <a:rPr lang="en-US" sz="2000" b="0" dirty="0"/>
                        <a:t>Network Access</a:t>
                      </a:r>
                    </a:p>
                  </a:txBody>
                  <a:tcPr marT="41564" marB="41564" anchor="ctr">
                    <a:solidFill>
                      <a:schemeClr val="accent2">
                        <a:lumMod val="20000"/>
                        <a:lumOff val="80000"/>
                      </a:schemeClr>
                    </a:solidFill>
                  </a:tcPr>
                </a:tc>
                <a:tc>
                  <a:txBody>
                    <a:bodyPr/>
                    <a:lstStyle/>
                    <a:p>
                      <a:r>
                        <a:rPr lang="en-US" sz="1400" b="0" dirty="0"/>
                        <a:t>Open</a:t>
                      </a:r>
                    </a:p>
                  </a:txBody>
                  <a:tcPr>
                    <a:solidFill>
                      <a:schemeClr val="accent2">
                        <a:lumMod val="20000"/>
                        <a:lumOff val="8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2">
                        <a:lumMod val="20000"/>
                        <a:lumOff val="80000"/>
                      </a:schemeClr>
                    </a:solidFill>
                  </a:tcPr>
                </a:tc>
                <a:extLst>
                  <a:ext uri="{0D108BD9-81ED-4DB2-BD59-A6C34878D82A}">
                    <a16:rowId xmlns:a16="http://schemas.microsoft.com/office/drawing/2014/main" val="10006"/>
                  </a:ext>
                </a:extLst>
              </a:tr>
              <a:tr h="304800">
                <a:tc vMerge="1">
                  <a:txBody>
                    <a:bodyPr/>
                    <a:lstStyle/>
                    <a:p>
                      <a:endParaRPr lang="en-US"/>
                    </a:p>
                  </a:txBody>
                  <a:tcPr/>
                </a:tc>
                <a:tc>
                  <a:txBody>
                    <a:bodyPr/>
                    <a:lstStyle/>
                    <a:p>
                      <a:r>
                        <a:rPr lang="en-US" sz="1400" b="0" dirty="0"/>
                        <a:t>Semi-open</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7"/>
                  </a:ext>
                </a:extLst>
              </a:tr>
              <a:tr h="304800">
                <a:tc vMerge="1">
                  <a:txBody>
                    <a:bodyPr/>
                    <a:lstStyle/>
                    <a:p>
                      <a:endParaRPr lang="en-US"/>
                    </a:p>
                  </a:txBody>
                  <a:tcPr/>
                </a:tc>
                <a:tc>
                  <a:txBody>
                    <a:bodyPr/>
                    <a:lstStyle/>
                    <a:p>
                      <a:r>
                        <a:rPr lang="en-US" sz="1400" b="0" dirty="0"/>
                        <a:t>Closed</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8"/>
                  </a:ext>
                </a:extLst>
              </a:tr>
              <a:tr h="304800">
                <a:tc rowSpan="3">
                  <a:txBody>
                    <a:bodyPr/>
                    <a:lstStyle/>
                    <a:p>
                      <a:pPr algn="ctr"/>
                      <a:r>
                        <a:rPr lang="en-US" sz="2000" b="0" dirty="0"/>
                        <a:t>Transaction Processing</a:t>
                      </a:r>
                    </a:p>
                  </a:txBody>
                  <a:tcPr marT="41564" marB="41564" anchor="ctr">
                    <a:solidFill>
                      <a:schemeClr val="accent6">
                        <a:lumMod val="60000"/>
                        <a:lumOff val="40000"/>
                      </a:schemeClr>
                    </a:solidFill>
                  </a:tcPr>
                </a:tc>
                <a:tc>
                  <a:txBody>
                    <a:bodyPr/>
                    <a:lstStyle/>
                    <a:p>
                      <a:r>
                        <a:rPr lang="en-US" sz="1400" b="0" dirty="0"/>
                        <a:t>Decentralized</a:t>
                      </a:r>
                    </a:p>
                  </a:txBody>
                  <a:tcPr>
                    <a:solidFill>
                      <a:schemeClr val="accent6">
                        <a:lumMod val="60000"/>
                        <a:lumOff val="4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6">
                        <a:lumMod val="60000"/>
                        <a:lumOff val="40000"/>
                      </a:schemeClr>
                    </a:solidFill>
                  </a:tcPr>
                </a:tc>
                <a:extLst>
                  <a:ext uri="{0D108BD9-81ED-4DB2-BD59-A6C34878D82A}">
                    <a16:rowId xmlns:a16="http://schemas.microsoft.com/office/drawing/2014/main" val="10009"/>
                  </a:ext>
                </a:extLst>
              </a:tr>
              <a:tr h="304800">
                <a:tc vMerge="1">
                  <a:txBody>
                    <a:bodyPr/>
                    <a:lstStyle/>
                    <a:p>
                      <a:endParaRPr lang="en-US"/>
                    </a:p>
                  </a:txBody>
                  <a:tcPr/>
                </a:tc>
                <a:tc>
                  <a:txBody>
                    <a:bodyPr/>
                    <a:lstStyle/>
                    <a:p>
                      <a:r>
                        <a:rPr lang="en-US" sz="1400" b="0" dirty="0"/>
                        <a:t>Semi-centralized</a:t>
                      </a:r>
                    </a:p>
                  </a:txBody>
                  <a:tcPr>
                    <a:solidFill>
                      <a:schemeClr val="accent6">
                        <a:lumMod val="60000"/>
                        <a:lumOff val="40000"/>
                      </a:schemeClr>
                    </a:solidFill>
                  </a:tcPr>
                </a:tc>
                <a:tc>
                  <a:txBody>
                    <a:bodyPr/>
                    <a:lstStyle/>
                    <a:p>
                      <a:pPr algn="ctr"/>
                      <a:endParaRPr lang="en-US" sz="1400" b="1" dirty="0"/>
                    </a:p>
                  </a:txBody>
                  <a:tcPr>
                    <a:solidFill>
                      <a:schemeClr val="accent6">
                        <a:lumMod val="60000"/>
                        <a:lumOff val="40000"/>
                      </a:schemeClr>
                    </a:solidFill>
                  </a:tcPr>
                </a:tc>
                <a:extLst>
                  <a:ext uri="{0D108BD9-81ED-4DB2-BD59-A6C34878D82A}">
                    <a16:rowId xmlns:a16="http://schemas.microsoft.com/office/drawing/2014/main" val="10010"/>
                  </a:ext>
                </a:extLst>
              </a:tr>
              <a:tr h="304800">
                <a:tc vMerge="1">
                  <a:txBody>
                    <a:bodyPr/>
                    <a:lstStyle/>
                    <a:p>
                      <a:endParaRPr lang="en-US"/>
                    </a:p>
                  </a:txBody>
                  <a:tcPr/>
                </a:tc>
                <a:tc>
                  <a:txBody>
                    <a:bodyPr/>
                    <a:lstStyle/>
                    <a:p>
                      <a:r>
                        <a:rPr lang="en-US" sz="1400" b="0" dirty="0"/>
                        <a:t>Centralized</a:t>
                      </a:r>
                    </a:p>
                  </a:txBody>
                  <a:tcPr>
                    <a:solidFill>
                      <a:schemeClr val="accent6">
                        <a:lumMod val="60000"/>
                        <a:lumOff val="40000"/>
                      </a:schemeClr>
                    </a:solidFill>
                  </a:tcPr>
                </a:tc>
                <a:tc>
                  <a:txBody>
                    <a:bodyPr/>
                    <a:lstStyle/>
                    <a:p>
                      <a:pPr algn="ctr"/>
                      <a:endParaRPr lang="en-US" sz="1400" b="1" dirty="0"/>
                    </a:p>
                  </a:txBody>
                  <a:tcPr>
                    <a:solidFill>
                      <a:schemeClr val="accent6">
                        <a:lumMod val="60000"/>
                        <a:lumOff val="40000"/>
                      </a:schemeClr>
                    </a:solidFill>
                  </a:tcPr>
                </a:tc>
                <a:extLst>
                  <a:ext uri="{0D108BD9-81ED-4DB2-BD59-A6C34878D82A}">
                    <a16:rowId xmlns:a16="http://schemas.microsoft.com/office/drawing/2014/main" val="10011"/>
                  </a:ext>
                </a:extLst>
              </a:tr>
              <a:tr h="304800">
                <a:tc rowSpan="2">
                  <a:txBody>
                    <a:bodyPr/>
                    <a:lstStyle/>
                    <a:p>
                      <a:pPr algn="ctr"/>
                      <a:r>
                        <a:rPr lang="en-US" sz="2000" b="0" dirty="0"/>
                        <a:t>Incentives</a:t>
                      </a:r>
                    </a:p>
                  </a:txBody>
                  <a:tcPr marT="41564" marB="41564" anchor="ctr">
                    <a:solidFill>
                      <a:schemeClr val="accent4">
                        <a:lumMod val="60000"/>
                        <a:lumOff val="40000"/>
                      </a:schemeClr>
                    </a:solidFill>
                  </a:tcPr>
                </a:tc>
                <a:tc>
                  <a:txBody>
                    <a:bodyPr/>
                    <a:lstStyle/>
                    <a:p>
                      <a:r>
                        <a:rPr lang="en-US" sz="1400" b="0" dirty="0"/>
                        <a:t>Intrinsic</a:t>
                      </a:r>
                    </a:p>
                  </a:txBody>
                  <a:tcPr>
                    <a:solidFill>
                      <a:schemeClr val="accent4">
                        <a:lumMod val="60000"/>
                        <a:lumOff val="4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4">
                        <a:lumMod val="60000"/>
                        <a:lumOff val="40000"/>
                      </a:schemeClr>
                    </a:solidFill>
                  </a:tcPr>
                </a:tc>
                <a:extLst>
                  <a:ext uri="{0D108BD9-81ED-4DB2-BD59-A6C34878D82A}">
                    <a16:rowId xmlns:a16="http://schemas.microsoft.com/office/drawing/2014/main" val="10012"/>
                  </a:ext>
                </a:extLst>
              </a:tr>
              <a:tr h="304800">
                <a:tc vMerge="1">
                  <a:txBody>
                    <a:bodyPr/>
                    <a:lstStyle/>
                    <a:p>
                      <a:endParaRPr lang="en-US"/>
                    </a:p>
                  </a:txBody>
                  <a:tcPr/>
                </a:tc>
                <a:tc>
                  <a:txBody>
                    <a:bodyPr/>
                    <a:lstStyle/>
                    <a:p>
                      <a:r>
                        <a:rPr lang="en-US" sz="1400" b="0" dirty="0"/>
                        <a:t>Extrinsic</a:t>
                      </a:r>
                    </a:p>
                  </a:txBody>
                  <a:tcPr>
                    <a:solidFill>
                      <a:schemeClr val="accent4">
                        <a:lumMod val="60000"/>
                        <a:lumOff val="40000"/>
                      </a:schemeClr>
                    </a:solidFill>
                  </a:tcPr>
                </a:tc>
                <a:tc>
                  <a:txBody>
                    <a:bodyPr/>
                    <a:lstStyle/>
                    <a:p>
                      <a:pPr algn="ctr"/>
                      <a:endParaRPr lang="en-US" sz="1400" b="1" dirty="0"/>
                    </a:p>
                  </a:txBody>
                  <a:tcPr>
                    <a:solidFill>
                      <a:schemeClr val="accent4">
                        <a:lumMod val="60000"/>
                        <a:lumOff val="40000"/>
                      </a:schemeClr>
                    </a:solidFill>
                  </a:tcPr>
                </a:tc>
                <a:extLst>
                  <a:ext uri="{0D108BD9-81ED-4DB2-BD59-A6C34878D82A}">
                    <a16:rowId xmlns:a16="http://schemas.microsoft.com/office/drawing/2014/main" val="10013"/>
                  </a:ext>
                </a:extLst>
              </a:tr>
              <a:tr h="304800">
                <a:tc rowSpan="4">
                  <a:txBody>
                    <a:bodyPr/>
                    <a:lstStyle/>
                    <a:p>
                      <a:pPr algn="ctr"/>
                      <a:r>
                        <a:rPr lang="en-US" sz="2000" b="0" dirty="0"/>
                        <a:t>Reference</a:t>
                      </a:r>
                      <a:r>
                        <a:rPr lang="en-US" sz="2000" b="0" baseline="0" dirty="0"/>
                        <a:t> Model</a:t>
                      </a:r>
                      <a:endParaRPr lang="en-US" sz="2000" b="0" dirty="0"/>
                    </a:p>
                  </a:txBody>
                  <a:tcPr marT="41564" marB="41564" anchor="ctr">
                    <a:solidFill>
                      <a:srgbClr val="FFFF00"/>
                    </a:solidFill>
                  </a:tcPr>
                </a:tc>
                <a:tc>
                  <a:txBody>
                    <a:bodyPr/>
                    <a:lstStyle/>
                    <a:p>
                      <a:r>
                        <a:rPr lang="en-US" sz="1400" b="0" dirty="0"/>
                        <a:t>Internal variable/states</a:t>
                      </a:r>
                    </a:p>
                  </a:txBody>
                  <a:tcPr>
                    <a:solidFill>
                      <a:srgbClr val="FFFF00"/>
                    </a:solidFill>
                  </a:tcPr>
                </a:tc>
                <a:tc>
                  <a:txBody>
                    <a:bodyPr/>
                    <a:lstStyle/>
                    <a:p>
                      <a:pPr algn="ctr"/>
                      <a:r>
                        <a:rPr lang="en-US" sz="1400" b="1" dirty="0">
                          <a:sym typeface="Wingdings" panose="05000000000000000000" pitchFamily="2" charset="2"/>
                        </a:rPr>
                        <a:t></a:t>
                      </a:r>
                      <a:endParaRPr lang="en-US" sz="1400" b="1" dirty="0"/>
                    </a:p>
                  </a:txBody>
                  <a:tcPr>
                    <a:solidFill>
                      <a:srgbClr val="FFFF00"/>
                    </a:solidFill>
                  </a:tcPr>
                </a:tc>
                <a:extLst>
                  <a:ext uri="{0D108BD9-81ED-4DB2-BD59-A6C34878D82A}">
                    <a16:rowId xmlns:a16="http://schemas.microsoft.com/office/drawing/2014/main" val="10014"/>
                  </a:ext>
                </a:extLst>
              </a:tr>
              <a:tr h="304800">
                <a:tc vMerge="1">
                  <a:txBody>
                    <a:bodyPr/>
                    <a:lstStyle/>
                    <a:p>
                      <a:endParaRPr lang="en-US"/>
                    </a:p>
                  </a:txBody>
                  <a:tcPr/>
                </a:tc>
                <a:tc>
                  <a:txBody>
                    <a:bodyPr/>
                    <a:lstStyle/>
                    <a:p>
                      <a:r>
                        <a:rPr lang="en-US" sz="1400" b="0" dirty="0"/>
                        <a:t>External variable/states</a:t>
                      </a:r>
                    </a:p>
                  </a:txBody>
                  <a:tcPr>
                    <a:solidFill>
                      <a:srgbClr val="FFFF00"/>
                    </a:solidFill>
                  </a:tcPr>
                </a:tc>
                <a:tc>
                  <a:txBody>
                    <a:bodyPr/>
                    <a:lstStyle/>
                    <a:p>
                      <a:pPr algn="ctr"/>
                      <a:endParaRPr lang="en-US" sz="1400" b="1" dirty="0"/>
                    </a:p>
                  </a:txBody>
                  <a:tcPr>
                    <a:solidFill>
                      <a:srgbClr val="FFFF00"/>
                    </a:solidFill>
                  </a:tcPr>
                </a:tc>
                <a:extLst>
                  <a:ext uri="{0D108BD9-81ED-4DB2-BD59-A6C34878D82A}">
                    <a16:rowId xmlns:a16="http://schemas.microsoft.com/office/drawing/2014/main" val="10015"/>
                  </a:ext>
                </a:extLst>
              </a:tr>
              <a:tr h="304800">
                <a:tc vMerge="1">
                  <a:txBody>
                    <a:bodyPr/>
                    <a:lstStyle/>
                    <a:p>
                      <a:endParaRPr lang="en-US"/>
                    </a:p>
                  </a:txBody>
                  <a:tcPr/>
                </a:tc>
                <a:tc>
                  <a:txBody>
                    <a:bodyPr/>
                    <a:lstStyle/>
                    <a:p>
                      <a:r>
                        <a:rPr lang="en-US" sz="1400" b="0" dirty="0"/>
                        <a:t>Hybrid</a:t>
                      </a:r>
                    </a:p>
                  </a:txBody>
                  <a:tcPr>
                    <a:solidFill>
                      <a:srgbClr val="FFFF00"/>
                    </a:solidFill>
                  </a:tcPr>
                </a:tc>
                <a:tc>
                  <a:txBody>
                    <a:bodyPr/>
                    <a:lstStyle/>
                    <a:p>
                      <a:pPr algn="ctr"/>
                      <a:endParaRPr lang="en-US" sz="1400" b="1" dirty="0"/>
                    </a:p>
                  </a:txBody>
                  <a:tcPr>
                    <a:solidFill>
                      <a:srgbClr val="FFFF00"/>
                    </a:solidFill>
                  </a:tcPr>
                </a:tc>
                <a:extLst>
                  <a:ext uri="{0D108BD9-81ED-4DB2-BD59-A6C34878D82A}">
                    <a16:rowId xmlns:a16="http://schemas.microsoft.com/office/drawing/2014/main" val="10016"/>
                  </a:ext>
                </a:extLst>
              </a:tr>
              <a:tr h="304800">
                <a:tc vMerge="1">
                  <a:txBody>
                    <a:bodyPr/>
                    <a:lstStyle/>
                    <a:p>
                      <a:endParaRPr lang="en-US"/>
                    </a:p>
                  </a:txBody>
                  <a:tcPr/>
                </a:tc>
                <a:tc>
                  <a:txBody>
                    <a:bodyPr/>
                    <a:lstStyle/>
                    <a:p>
                      <a:r>
                        <a:rPr lang="en-US" sz="1400" b="0" dirty="0"/>
                        <a:t>Self-Referential </a:t>
                      </a:r>
                    </a:p>
                  </a:txBody>
                  <a:tcPr>
                    <a:solidFill>
                      <a:srgbClr val="FFFF00"/>
                    </a:solidFill>
                  </a:tcPr>
                </a:tc>
                <a:tc>
                  <a:txBody>
                    <a:bodyPr/>
                    <a:lstStyle/>
                    <a:p>
                      <a:pPr algn="ctr"/>
                      <a:endParaRPr lang="en-US" sz="1400" b="1" dirty="0"/>
                    </a:p>
                  </a:txBody>
                  <a:tcPr>
                    <a:solidFill>
                      <a:srgbClr val="FFFF00"/>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346737879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A5AE3-1D75-DD2B-FA0B-A09F2F35B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1AA92-88E9-717B-D01C-9A21BF6D6D8A}"/>
              </a:ext>
            </a:extLst>
          </p:cNvPr>
          <p:cNvSpPr>
            <a:spLocks noGrp="1"/>
          </p:cNvSpPr>
          <p:nvPr>
            <p:ph type="title"/>
          </p:nvPr>
        </p:nvSpPr>
        <p:spPr/>
        <p:txBody>
          <a:bodyPr/>
          <a:lstStyle/>
          <a:p>
            <a:r>
              <a:rPr lang="en-PK" dirty="0">
                <a:latin typeface="+mn-lt"/>
              </a:rPr>
              <a:t>Lecture </a:t>
            </a:r>
            <a:r>
              <a:rPr lang="en-US" dirty="0">
                <a:latin typeface="+mn-lt"/>
              </a:rPr>
              <a:t>20</a:t>
            </a:r>
            <a:br>
              <a:rPr lang="en-PK" dirty="0">
                <a:latin typeface="+mn-lt"/>
              </a:rPr>
            </a:br>
            <a:r>
              <a:rPr lang="en-US" dirty="0">
                <a:latin typeface="+mn-lt"/>
              </a:rPr>
              <a:t>Thursday</a:t>
            </a:r>
            <a:r>
              <a:rPr lang="en-PK" dirty="0">
                <a:latin typeface="+mn-lt"/>
              </a:rPr>
              <a:t>, </a:t>
            </a:r>
            <a:r>
              <a:rPr lang="en-US" dirty="0">
                <a:latin typeface="+mn-lt"/>
              </a:rPr>
              <a:t>Apr</a:t>
            </a:r>
            <a:r>
              <a:rPr lang="en-PK" dirty="0">
                <a:latin typeface="+mn-lt"/>
              </a:rPr>
              <a:t> </a:t>
            </a:r>
            <a:r>
              <a:rPr lang="en-US" dirty="0">
                <a:latin typeface="+mn-lt"/>
              </a:rPr>
              <a:t>9</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5551D8FD-2A91-469A-0153-7867CB5DA523}"/>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151553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Origins of Ethereum</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16</a:t>
            </a:fld>
            <a:endParaRPr dirty="0">
              <a:latin typeface="Candara" panose="020E0502030303020204" pitchFamily="34" charset="0"/>
            </a:endParaRPr>
          </a:p>
        </p:txBody>
      </p:sp>
      <p:sp>
        <p:nvSpPr>
          <p:cNvPr id="5" name="TextBox 4"/>
          <p:cNvSpPr txBox="1"/>
          <p:nvPr/>
        </p:nvSpPr>
        <p:spPr>
          <a:xfrm>
            <a:off x="5499784" y="1336008"/>
            <a:ext cx="4826832" cy="3785652"/>
          </a:xfrm>
          <a:prstGeom prst="rect">
            <a:avLst/>
          </a:prstGeom>
          <a:noFill/>
          <a:ln>
            <a:noFill/>
          </a:ln>
        </p:spPr>
        <p:txBody>
          <a:bodyPr wrap="square" rtlCol="0">
            <a:spAutoFit/>
          </a:bodyPr>
          <a:lstStyle/>
          <a:p>
            <a:pPr marL="285750" indent="-285750">
              <a:buFont typeface="Arial" panose="020B0604020202020204" pitchFamily="34" charset="0"/>
              <a:buChar char="•"/>
            </a:pPr>
            <a:r>
              <a:rPr lang="en-US" sz="2400" dirty="0" err="1">
                <a:solidFill>
                  <a:prstClr val="black"/>
                </a:solidFill>
                <a:latin typeface="Candara" panose="020E0502030303020204" pitchFamily="34" charset="0"/>
              </a:rPr>
              <a:t>Vitalik</a:t>
            </a:r>
            <a:r>
              <a:rPr lang="en-US" sz="2400" dirty="0">
                <a:solidFill>
                  <a:prstClr val="black"/>
                </a:solidFill>
                <a:latin typeface="Candara" panose="020E0502030303020204" pitchFamily="34" charset="0"/>
              </a:rPr>
              <a:t> </a:t>
            </a:r>
            <a:r>
              <a:rPr lang="en-US" sz="2400" dirty="0" err="1">
                <a:solidFill>
                  <a:prstClr val="black"/>
                </a:solidFill>
                <a:latin typeface="Candara" panose="020E0502030303020204" pitchFamily="34" charset="0"/>
              </a:rPr>
              <a:t>Buterin</a:t>
            </a:r>
            <a:r>
              <a:rPr lang="en-US" sz="2400" dirty="0">
                <a:solidFill>
                  <a:prstClr val="black"/>
                </a:solidFill>
                <a:latin typeface="Candara" panose="020E0502030303020204" pitchFamily="34" charset="0"/>
              </a:rPr>
              <a:t> – Born in 1994</a:t>
            </a:r>
          </a:p>
          <a:p>
            <a:pPr marL="285750" indent="-285750">
              <a:buFont typeface="Arial" panose="020B0604020202020204" pitchFamily="34" charset="0"/>
              <a:buChar char="•"/>
            </a:pPr>
            <a:r>
              <a:rPr lang="en-US" sz="2400" dirty="0">
                <a:solidFill>
                  <a:prstClr val="black"/>
                </a:solidFill>
                <a:latin typeface="Candara" panose="020E0502030303020204" pitchFamily="34" charset="0"/>
              </a:rPr>
              <a:t>Founded Bitcoin magazine in 2012</a:t>
            </a:r>
          </a:p>
          <a:p>
            <a:pPr marL="285750" indent="-285750">
              <a:buFont typeface="Arial" panose="020B0604020202020204" pitchFamily="34" charset="0"/>
              <a:buChar char="•"/>
            </a:pPr>
            <a:r>
              <a:rPr lang="en-US" sz="2400" dirty="0">
                <a:solidFill>
                  <a:prstClr val="black"/>
                </a:solidFill>
                <a:latin typeface="Candara" panose="020E0502030303020204" pitchFamily="34" charset="0"/>
              </a:rPr>
              <a:t>Argued for a more elaborate scripting language for Bitcoin</a:t>
            </a:r>
          </a:p>
          <a:p>
            <a:pPr marL="285750" indent="-285750">
              <a:buFont typeface="Arial" panose="020B0604020202020204" pitchFamily="34" charset="0"/>
              <a:buChar char="•"/>
            </a:pPr>
            <a:r>
              <a:rPr lang="en-US" sz="2400" dirty="0">
                <a:solidFill>
                  <a:prstClr val="black"/>
                </a:solidFill>
                <a:latin typeface="Candara" panose="020E0502030303020204" pitchFamily="34" charset="0"/>
              </a:rPr>
              <a:t>Wrote a whitepaper detailing his Ethereum ideas in 2013</a:t>
            </a:r>
          </a:p>
          <a:p>
            <a:pPr marL="285750" indent="-285750">
              <a:buFont typeface="Arial" panose="020B0604020202020204" pitchFamily="34" charset="0"/>
              <a:buChar char="•"/>
            </a:pPr>
            <a:r>
              <a:rPr lang="en-US" sz="2400" dirty="0">
                <a:solidFill>
                  <a:prstClr val="black"/>
                </a:solidFill>
                <a:latin typeface="Candara" panose="020E0502030303020204" pitchFamily="34" charset="0"/>
              </a:rPr>
              <a:t>Developed his ideas into a working blockchain</a:t>
            </a:r>
          </a:p>
          <a:p>
            <a:pPr marL="285750" indent="-285750">
              <a:buFont typeface="Arial" panose="020B0604020202020204" pitchFamily="34" charset="0"/>
              <a:buChar char="•"/>
            </a:pPr>
            <a:r>
              <a:rPr lang="en-US" sz="2400" dirty="0">
                <a:solidFill>
                  <a:srgbClr val="002060"/>
                </a:solidFill>
                <a:latin typeface="Candara" panose="020E0502030303020204" pitchFamily="34" charset="0"/>
              </a:rPr>
              <a:t>First Ethereum block was mined on July 30, 2015</a:t>
            </a:r>
          </a:p>
        </p:txBody>
      </p:sp>
      <p:sp>
        <p:nvSpPr>
          <p:cNvPr id="6" name="TextBox 5"/>
          <p:cNvSpPr txBox="1"/>
          <p:nvPr/>
        </p:nvSpPr>
        <p:spPr>
          <a:xfrm>
            <a:off x="711327" y="5610660"/>
            <a:ext cx="11010959"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prstClr val="black"/>
                </a:solidFill>
                <a:latin typeface="Candara" panose="020E0502030303020204" pitchFamily="34" charset="0"/>
              </a:rPr>
              <a:t>One of the most influential persons in the blockchain community </a:t>
            </a:r>
          </a:p>
          <a:p>
            <a:pPr marL="342900" indent="-342900">
              <a:buFont typeface="Arial" panose="020B0604020202020204" pitchFamily="34" charset="0"/>
              <a:buChar char="•"/>
            </a:pPr>
            <a:r>
              <a:rPr lang="en-US" sz="2400" dirty="0">
                <a:solidFill>
                  <a:prstClr val="black"/>
                </a:solidFill>
                <a:latin typeface="Candara" panose="020E0502030303020204" pitchFamily="34" charset="0"/>
              </a:rPr>
              <a:t>Frequently writes on various blockchain topics </a:t>
            </a:r>
            <a:r>
              <a:rPr lang="en-US" sz="2400" dirty="0">
                <a:solidFill>
                  <a:prstClr val="black"/>
                </a:solidFill>
                <a:latin typeface="Candara" panose="020E0502030303020204" pitchFamily="34" charset="0"/>
                <a:hlinkClick r:id="rId3"/>
              </a:rPr>
              <a:t>https://vitalik.ca/</a:t>
            </a:r>
            <a:r>
              <a:rPr lang="en-US" sz="2400" dirty="0">
                <a:solidFill>
                  <a:prstClr val="black"/>
                </a:solidFill>
                <a:latin typeface="Candara" panose="020E0502030303020204" pitchFamily="34" charset="0"/>
              </a:rPr>
              <a:t> </a:t>
            </a:r>
          </a:p>
        </p:txBody>
      </p:sp>
      <p:pic>
        <p:nvPicPr>
          <p:cNvPr id="9" name="Picture 2" descr="Vitalik Buterin - Wikipedia">
            <a:extLst>
              <a:ext uri="{FF2B5EF4-FFF2-40B4-BE49-F238E27FC236}">
                <a16:creationId xmlns:a16="http://schemas.microsoft.com/office/drawing/2014/main" id="{367E1DDF-5FB7-F499-4062-E20AD2B845C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953" y="1127109"/>
            <a:ext cx="3795513" cy="4234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707197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a:t>
            </a:r>
          </a:p>
        </p:txBody>
      </p:sp>
      <p:sp>
        <p:nvSpPr>
          <p:cNvPr id="3" name="Content Placeholder 2"/>
          <p:cNvSpPr>
            <a:spLocks noGrp="1"/>
          </p:cNvSpPr>
          <p:nvPr>
            <p:ph idx="1"/>
          </p:nvPr>
        </p:nvSpPr>
        <p:spPr>
          <a:xfrm>
            <a:off x="3493217" y="1907977"/>
            <a:ext cx="7793360" cy="3471702"/>
          </a:xfrm>
        </p:spPr>
        <p:txBody>
          <a:bodyPr>
            <a:noAutofit/>
          </a:bodyPr>
          <a:lstStyle/>
          <a:p>
            <a:r>
              <a:rPr lang="en-US" sz="2400" dirty="0"/>
              <a:t>Purpose: General purpose blockchain</a:t>
            </a:r>
          </a:p>
          <a:p>
            <a:endParaRPr lang="en-US" sz="2400" dirty="0"/>
          </a:p>
          <a:p>
            <a:r>
              <a:rPr lang="en-US" sz="2400" dirty="0"/>
              <a:t>Network launch: July 2015 (Ethereum Foundation)</a:t>
            </a:r>
          </a:p>
          <a:p>
            <a:endParaRPr lang="en-US" sz="2400" dirty="0"/>
          </a:p>
          <a:p>
            <a:r>
              <a:rPr lang="en-US" sz="2400" dirty="0">
                <a:solidFill>
                  <a:srgbClr val="002060"/>
                </a:solidFill>
              </a:rPr>
              <a:t>Value proposition: Smart contract functionality on the blockchain to enable the creation of automated and secure agreements and transactions </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17</a:t>
            </a:fld>
            <a:endParaRPr dirty="0">
              <a:latin typeface="Candara" panose="020E0502030303020204" pitchFamily="34" charset="0"/>
            </a:endParaRPr>
          </a:p>
        </p:txBody>
      </p:sp>
      <p:pic>
        <p:nvPicPr>
          <p:cNvPr id="5" name="Picture 4"/>
          <p:cNvPicPr>
            <a:picLocks noChangeAspect="1"/>
          </p:cNvPicPr>
          <p:nvPr/>
        </p:nvPicPr>
        <p:blipFill>
          <a:blip r:embed="rId2"/>
          <a:stretch>
            <a:fillRect/>
          </a:stretch>
        </p:blipFill>
        <p:spPr>
          <a:xfrm>
            <a:off x="732923" y="2267571"/>
            <a:ext cx="1889962" cy="2752514"/>
          </a:xfrm>
          <a:prstGeom prst="rect">
            <a:avLst/>
          </a:prstGeom>
        </p:spPr>
      </p:pic>
    </p:spTree>
    <p:extLst>
      <p:ext uri="{BB962C8B-B14F-4D97-AF65-F5344CB8AC3E}">
        <p14:creationId xmlns:p14="http://schemas.microsoft.com/office/powerpoint/2010/main" val="171135967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 is Turing Complete</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18</a:t>
            </a:fld>
            <a:endParaRPr dirty="0">
              <a:latin typeface="Candara" panose="020E0502030303020204" pitchFamily="34" charset="0"/>
            </a:endParaRPr>
          </a:p>
        </p:txBody>
      </p:sp>
      <p:sp>
        <p:nvSpPr>
          <p:cNvPr id="6" name="Rectangle 5"/>
          <p:cNvSpPr/>
          <p:nvPr/>
        </p:nvSpPr>
        <p:spPr>
          <a:xfrm>
            <a:off x="762857" y="1067325"/>
            <a:ext cx="10872827" cy="3293209"/>
          </a:xfrm>
          <a:prstGeom prst="rect">
            <a:avLst/>
          </a:prstGeom>
          <a:ln>
            <a:noFill/>
          </a:ln>
        </p:spPr>
        <p:txBody>
          <a:bodyPr wrap="square">
            <a:spAutoFit/>
          </a:bodyPr>
          <a:lstStyle/>
          <a:p>
            <a:pPr marL="285750" indent="-285750">
              <a:buFont typeface="Arial" panose="020B0604020202020204" pitchFamily="34" charset="0"/>
              <a:buChar char="•"/>
            </a:pPr>
            <a:r>
              <a:rPr lang="en-US" sz="2400" dirty="0">
                <a:solidFill>
                  <a:prstClr val="black"/>
                </a:solidFill>
                <a:latin typeface="Candara" panose="020E0502030303020204" pitchFamily="34" charset="0"/>
              </a:rPr>
              <a:t>Ethereum is designed to write smart contracts capable of executing code with arbitrary and unbounded complexity</a:t>
            </a:r>
          </a:p>
          <a:p>
            <a:pPr marL="285750" indent="-285750">
              <a:buFont typeface="Arial" panose="020B0604020202020204" pitchFamily="34" charset="0"/>
              <a:buChar char="•"/>
            </a:pPr>
            <a:r>
              <a:rPr lang="en-US" sz="2400" dirty="0">
                <a:solidFill>
                  <a:prstClr val="black"/>
                </a:solidFill>
                <a:latin typeface="Candara" panose="020E0502030303020204" pitchFamily="34" charset="0"/>
              </a:rPr>
              <a:t>In more technical terms, Ethereum is Turing-complete, i.e., it can theoretically compute anything that can be computed</a:t>
            </a:r>
          </a:p>
          <a:p>
            <a:pPr marL="742950" lvl="1" indent="-285750">
              <a:buFont typeface="Arial" panose="020B0604020202020204" pitchFamily="34" charset="0"/>
              <a:buChar char="•"/>
            </a:pPr>
            <a:r>
              <a:rPr lang="en-US" sz="2000" dirty="0">
                <a:solidFill>
                  <a:srgbClr val="002060"/>
                </a:solidFill>
                <a:latin typeface="Candara" panose="020E0502030303020204" pitchFamily="34" charset="0"/>
              </a:rPr>
              <a:t>Turing-complete programming languages: C++/Python </a:t>
            </a:r>
          </a:p>
          <a:p>
            <a:pPr marL="742950" lvl="1" indent="-285750">
              <a:buFont typeface="Arial" panose="020B0604020202020204" pitchFamily="34" charset="0"/>
              <a:buChar char="•"/>
            </a:pPr>
            <a:r>
              <a:rPr lang="en-US" sz="2000" dirty="0">
                <a:solidFill>
                  <a:schemeClr val="accent2"/>
                </a:solidFill>
                <a:latin typeface="Candara" panose="020E0502030303020204" pitchFamily="34" charset="0"/>
              </a:rPr>
              <a:t>Non-Turing complete programming language: Bitcoin scripting language</a:t>
            </a:r>
          </a:p>
          <a:p>
            <a:pPr marL="285750" indent="-285750">
              <a:buFont typeface="Arial" panose="020B0604020202020204" pitchFamily="34" charset="0"/>
              <a:buChar char="•"/>
            </a:pPr>
            <a:r>
              <a:rPr lang="en-US" sz="2400" dirty="0">
                <a:solidFill>
                  <a:prstClr val="black"/>
                </a:solidFill>
                <a:latin typeface="Candara" panose="020E0502030303020204" pitchFamily="34" charset="0"/>
              </a:rPr>
              <a:t>Ethereum smart contracts are mostly written in Solidity and </a:t>
            </a:r>
            <a:r>
              <a:rPr lang="en-US" sz="2400" dirty="0" err="1">
                <a:solidFill>
                  <a:prstClr val="black"/>
                </a:solidFill>
                <a:latin typeface="Candara" panose="020E0502030303020204" pitchFamily="34" charset="0"/>
              </a:rPr>
              <a:t>Vyper</a:t>
            </a:r>
            <a:endParaRPr lang="en-US" sz="2400" dirty="0">
              <a:solidFill>
                <a:prstClr val="black"/>
              </a:solidFill>
              <a:latin typeface="Candara" panose="020E0502030303020204" pitchFamily="34" charset="0"/>
            </a:endParaRPr>
          </a:p>
          <a:p>
            <a:pPr marL="742950" lvl="1" indent="-285750">
              <a:buFont typeface="Arial" panose="020B0604020202020204" pitchFamily="34" charset="0"/>
              <a:buChar char="•"/>
            </a:pPr>
            <a:r>
              <a:rPr lang="en-US" sz="2400" dirty="0">
                <a:solidFill>
                  <a:prstClr val="black"/>
                </a:solidFill>
                <a:latin typeface="Candara" panose="020E0502030303020204" pitchFamily="34" charset="0"/>
              </a:rPr>
              <a:t>Solidity’s syntax is similar to C++</a:t>
            </a:r>
          </a:p>
          <a:p>
            <a:pPr marL="742950" lvl="1" indent="-285750">
              <a:buFont typeface="Arial" panose="020B0604020202020204" pitchFamily="34" charset="0"/>
              <a:buChar char="•"/>
            </a:pPr>
            <a:r>
              <a:rPr lang="en-US" sz="2400" dirty="0" err="1">
                <a:solidFill>
                  <a:prstClr val="black"/>
                </a:solidFill>
                <a:latin typeface="Candara" panose="020E0502030303020204" pitchFamily="34" charset="0"/>
              </a:rPr>
              <a:t>Vyper’s</a:t>
            </a:r>
            <a:r>
              <a:rPr lang="en-US" sz="2400" dirty="0">
                <a:solidFill>
                  <a:prstClr val="black"/>
                </a:solidFill>
                <a:latin typeface="Candara" panose="020E0502030303020204" pitchFamily="34" charset="0"/>
              </a:rPr>
              <a:t> syntax is similar to Python</a:t>
            </a:r>
            <a:endParaRPr lang="en-US" sz="2800" dirty="0">
              <a:latin typeface="Candara" panose="020E0502030303020204" pitchFamily="34" charset="0"/>
            </a:endParaRPr>
          </a:p>
        </p:txBody>
      </p:sp>
      <p:pic>
        <p:nvPicPr>
          <p:cNvPr id="9" name="Content Placeholder 4"/>
          <p:cNvPicPr>
            <a:picLocks noChangeAspect="1"/>
          </p:cNvPicPr>
          <p:nvPr/>
        </p:nvPicPr>
        <p:blipFill>
          <a:blip r:embed="rId3"/>
          <a:stretch>
            <a:fillRect/>
          </a:stretch>
        </p:blipFill>
        <p:spPr>
          <a:xfrm>
            <a:off x="2049378" y="4851956"/>
            <a:ext cx="2939592" cy="1408629"/>
          </a:xfrm>
          <a:prstGeom prst="rect">
            <a:avLst/>
          </a:prstGeom>
        </p:spPr>
      </p:pic>
      <p:pic>
        <p:nvPicPr>
          <p:cNvPr id="11" name="Picture 10"/>
          <p:cNvPicPr>
            <a:picLocks noChangeAspect="1"/>
          </p:cNvPicPr>
          <p:nvPr/>
        </p:nvPicPr>
        <p:blipFill>
          <a:blip r:embed="rId4"/>
          <a:stretch>
            <a:fillRect/>
          </a:stretch>
        </p:blipFill>
        <p:spPr>
          <a:xfrm>
            <a:off x="7735424" y="4620393"/>
            <a:ext cx="1880414" cy="1871753"/>
          </a:xfrm>
          <a:prstGeom prst="rect">
            <a:avLst/>
          </a:prstGeom>
        </p:spPr>
      </p:pic>
    </p:spTree>
    <p:extLst>
      <p:ext uri="{BB962C8B-B14F-4D97-AF65-F5344CB8AC3E}">
        <p14:creationId xmlns:p14="http://schemas.microsoft.com/office/powerpoint/2010/main" val="253063001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Smart Contract</a:t>
            </a:r>
          </a:p>
        </p:txBody>
      </p:sp>
      <p:sp>
        <p:nvSpPr>
          <p:cNvPr id="3" name="Content Placeholder 2"/>
          <p:cNvSpPr>
            <a:spLocks noGrp="1"/>
          </p:cNvSpPr>
          <p:nvPr>
            <p:ph idx="1"/>
          </p:nvPr>
        </p:nvSpPr>
        <p:spPr/>
        <p:txBody>
          <a:bodyPr>
            <a:normAutofit fontScale="85000" lnSpcReduction="10000"/>
          </a:bodyPr>
          <a:lstStyle/>
          <a:p>
            <a:r>
              <a:rPr lang="en-US" dirty="0"/>
              <a:t>Several steps are involved in creating and deploying a smart contract on Ethereum blockchain</a:t>
            </a:r>
          </a:p>
          <a:p>
            <a:r>
              <a:rPr lang="en-US" dirty="0">
                <a:solidFill>
                  <a:srgbClr val="002060"/>
                </a:solidFill>
              </a:rPr>
              <a:t>Step 1: Write a smart contract in a high-level programming language </a:t>
            </a:r>
          </a:p>
          <a:p>
            <a:pPr lvl="1"/>
            <a:r>
              <a:rPr lang="en-US" dirty="0"/>
              <a:t>Solidity is the language of choice </a:t>
            </a:r>
          </a:p>
          <a:p>
            <a:r>
              <a:rPr lang="en-US" dirty="0">
                <a:solidFill>
                  <a:srgbClr val="002060"/>
                </a:solidFill>
              </a:rPr>
              <a:t>Step 2: Compile the smart contract </a:t>
            </a:r>
          </a:p>
          <a:p>
            <a:pPr lvl="1"/>
            <a:r>
              <a:rPr lang="en-US" dirty="0"/>
              <a:t>Solidity compiler comes as a standalone executable or bundled in Integrated Development Environments (IDEs)</a:t>
            </a:r>
          </a:p>
          <a:p>
            <a:r>
              <a:rPr lang="en-US" dirty="0">
                <a:solidFill>
                  <a:srgbClr val="002060"/>
                </a:solidFill>
              </a:rPr>
              <a:t>Step 3: Deploy the smart contract on blockchain</a:t>
            </a:r>
          </a:p>
          <a:p>
            <a:pPr lvl="1"/>
            <a:r>
              <a:rPr lang="en-US" dirty="0"/>
              <a:t>Smart contract can only be deployed by some user account, also called externally owned account (EOA)</a:t>
            </a:r>
          </a:p>
          <a:p>
            <a:r>
              <a:rPr lang="en-US" dirty="0"/>
              <a:t>Steps 1 &amp; 2 require programming i.e., writing a code and compiling it to check for any errors or warnings </a:t>
            </a:r>
          </a:p>
          <a:p>
            <a:r>
              <a:rPr lang="en-US" dirty="0"/>
              <a:t>Step 3 involves some new blockchain concepts </a:t>
            </a:r>
          </a:p>
        </p:txBody>
      </p:sp>
      <p:sp>
        <p:nvSpPr>
          <p:cNvPr id="4" name="Slide Number Placeholder 3"/>
          <p:cNvSpPr>
            <a:spLocks noGrp="1"/>
          </p:cNvSpPr>
          <p:nvPr>
            <p:ph type="sldNum" sz="quarter" idx="12"/>
          </p:nvPr>
        </p:nvSpPr>
        <p:spPr/>
        <p:txBody>
          <a:bodyPr/>
          <a:lstStyle/>
          <a:p>
            <a:fld id="{19FE8B7B-3258-47CD-BBC0-34D05FC906E5}" type="slidenum">
              <a:rPr lang="en-US" smtClean="0"/>
              <a:t>19</a:t>
            </a:fld>
            <a:endParaRPr lang="en-US" dirty="0"/>
          </a:p>
        </p:txBody>
      </p:sp>
    </p:spTree>
    <p:extLst>
      <p:ext uri="{BB962C8B-B14F-4D97-AF65-F5344CB8AC3E}">
        <p14:creationId xmlns:p14="http://schemas.microsoft.com/office/powerpoint/2010/main" val="389823509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Decentralized Applications</a:t>
            </a:r>
          </a:p>
        </p:txBody>
      </p:sp>
      <p:sp>
        <p:nvSpPr>
          <p:cNvPr id="4" name="Slide Number Placeholder 3"/>
          <p:cNvSpPr>
            <a:spLocks noGrp="1"/>
          </p:cNvSpPr>
          <p:nvPr>
            <p:ph type="sldNum" sz="quarter" idx="12"/>
          </p:nvPr>
        </p:nvSpPr>
        <p:spPr/>
        <p:txBody>
          <a:bodyPr/>
          <a:lstStyle/>
          <a:p>
            <a:fld id="{19FE8B7B-3258-47CD-BBC0-34D05FC906E5}" type="slidenum">
              <a:rPr lang="en-US" sz="1200" smtClean="0">
                <a:latin typeface="Candara" panose="020E0502030303020204" pitchFamily="34" charset="0"/>
              </a:rPr>
              <a:t>20</a:t>
            </a:fld>
            <a:endParaRPr lang="en-US" sz="1200" dirty="0">
              <a:latin typeface="Candara" panose="020E0502030303020204" pitchFamily="34" charset="0"/>
            </a:endParaRPr>
          </a:p>
        </p:txBody>
      </p:sp>
      <p:grpSp>
        <p:nvGrpSpPr>
          <p:cNvPr id="15" name="Group 14"/>
          <p:cNvGrpSpPr/>
          <p:nvPr/>
        </p:nvGrpSpPr>
        <p:grpSpPr>
          <a:xfrm>
            <a:off x="955891" y="3789900"/>
            <a:ext cx="4328160" cy="2286000"/>
            <a:chOff x="4707255" y="2316480"/>
            <a:chExt cx="4328160" cy="2286000"/>
          </a:xfrm>
        </p:grpSpPr>
        <p:sp>
          <p:nvSpPr>
            <p:cNvPr id="10" name="Rectangle 9"/>
            <p:cNvSpPr/>
            <p:nvPr/>
          </p:nvSpPr>
          <p:spPr>
            <a:xfrm>
              <a:off x="4707255" y="2316480"/>
              <a:ext cx="4328160" cy="2286000"/>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ndara" panose="020E0502030303020204" pitchFamily="34" charset="0"/>
              </a:endParaRPr>
            </a:p>
          </p:txBody>
        </p:sp>
        <p:sp>
          <p:nvSpPr>
            <p:cNvPr id="11" name="Rectangle 10"/>
            <p:cNvSpPr/>
            <p:nvPr/>
          </p:nvSpPr>
          <p:spPr>
            <a:xfrm>
              <a:off x="4817745" y="3105664"/>
              <a:ext cx="1703070" cy="131064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Frontend </a:t>
              </a:r>
            </a:p>
            <a:p>
              <a:pPr algn="ctr"/>
              <a:r>
                <a:rPr lang="en-US" sz="1600" dirty="0">
                  <a:solidFill>
                    <a:schemeClr val="tx1"/>
                  </a:solidFill>
                  <a:latin typeface="Candara" panose="020E0502030303020204" pitchFamily="34" charset="0"/>
                </a:rPr>
                <a:t>(user interface) is just like a traditional app)</a:t>
              </a:r>
            </a:p>
          </p:txBody>
        </p:sp>
        <p:sp>
          <p:nvSpPr>
            <p:cNvPr id="12" name="Rectangle 11"/>
            <p:cNvSpPr/>
            <p:nvPr/>
          </p:nvSpPr>
          <p:spPr>
            <a:xfrm>
              <a:off x="6648450" y="3105664"/>
              <a:ext cx="2259330" cy="131064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latin typeface="Candara" panose="020E0502030303020204" pitchFamily="34" charset="0"/>
                </a:rPr>
                <a:t>Backend</a:t>
              </a:r>
            </a:p>
            <a:p>
              <a:pPr algn="ctr"/>
              <a:r>
                <a:rPr lang="en-US" sz="1600" dirty="0">
                  <a:solidFill>
                    <a:srgbClr val="002060"/>
                  </a:solidFill>
                  <a:latin typeface="Candara" panose="020E0502030303020204" pitchFamily="34" charset="0"/>
                </a:rPr>
                <a:t>smart contract (code) running on blockchain through Web3 Interface)</a:t>
              </a:r>
            </a:p>
          </p:txBody>
        </p:sp>
        <p:sp>
          <p:nvSpPr>
            <p:cNvPr id="13" name="TextBox 12"/>
            <p:cNvSpPr txBox="1"/>
            <p:nvPr/>
          </p:nvSpPr>
          <p:spPr>
            <a:xfrm>
              <a:off x="5476875" y="2380742"/>
              <a:ext cx="2788920" cy="584775"/>
            </a:xfrm>
            <a:prstGeom prst="rect">
              <a:avLst/>
            </a:prstGeom>
            <a:noFill/>
          </p:spPr>
          <p:txBody>
            <a:bodyPr wrap="square" rtlCol="0">
              <a:spAutoFit/>
            </a:bodyPr>
            <a:lstStyle/>
            <a:p>
              <a:pPr algn="ctr"/>
              <a:r>
                <a:rPr lang="en-US" sz="1600" dirty="0">
                  <a:latin typeface="Candara" panose="020E0502030303020204" pitchFamily="34" charset="0"/>
                </a:rPr>
                <a:t>Decentralized Application (</a:t>
              </a:r>
              <a:r>
                <a:rPr lang="en-US" sz="1600" dirty="0" err="1">
                  <a:latin typeface="Candara" panose="020E0502030303020204" pitchFamily="34" charset="0"/>
                </a:rPr>
                <a:t>Dapp</a:t>
              </a:r>
              <a:r>
                <a:rPr lang="en-US" sz="1600" dirty="0">
                  <a:latin typeface="Candara" panose="020E0502030303020204" pitchFamily="34" charset="0"/>
                </a:rPr>
                <a:t>)</a:t>
              </a:r>
            </a:p>
          </p:txBody>
        </p:sp>
      </p:grpSp>
      <p:pic>
        <p:nvPicPr>
          <p:cNvPr id="19" name="Picture 18"/>
          <p:cNvPicPr>
            <a:picLocks noChangeAspect="1"/>
          </p:cNvPicPr>
          <p:nvPr/>
        </p:nvPicPr>
        <p:blipFill>
          <a:blip r:embed="rId3"/>
          <a:stretch>
            <a:fillRect/>
          </a:stretch>
        </p:blipFill>
        <p:spPr>
          <a:xfrm>
            <a:off x="6121141" y="3852204"/>
            <a:ext cx="2452166" cy="2308324"/>
          </a:xfrm>
          <a:prstGeom prst="rect">
            <a:avLst/>
          </a:prstGeom>
        </p:spPr>
      </p:pic>
      <p:sp>
        <p:nvSpPr>
          <p:cNvPr id="22" name="TextBox 21"/>
          <p:cNvSpPr txBox="1"/>
          <p:nvPr/>
        </p:nvSpPr>
        <p:spPr>
          <a:xfrm>
            <a:off x="8783943" y="4438937"/>
            <a:ext cx="2452166" cy="1569660"/>
          </a:xfrm>
          <a:prstGeom prst="rect">
            <a:avLst/>
          </a:prstGeom>
          <a:noFill/>
          <a:ln>
            <a:noFill/>
          </a:ln>
        </p:spPr>
        <p:txBody>
          <a:bodyPr wrap="square" rtlCol="0">
            <a:spAutoFit/>
          </a:bodyPr>
          <a:lstStyle/>
          <a:p>
            <a:r>
              <a:rPr lang="en-US" sz="1600" dirty="0">
                <a:latin typeface="Candara" panose="020E0502030303020204" pitchFamily="34" charset="0"/>
              </a:rPr>
              <a:t>Mostly, games, NFT swaps, Metaverse, decentralized finance (DeFi), wallets that deploy smart contracts (MetaMask)  </a:t>
            </a:r>
          </a:p>
        </p:txBody>
      </p:sp>
      <p:sp>
        <p:nvSpPr>
          <p:cNvPr id="23" name="TextBox 22"/>
          <p:cNvSpPr txBox="1"/>
          <p:nvPr/>
        </p:nvSpPr>
        <p:spPr>
          <a:xfrm>
            <a:off x="787851" y="1876304"/>
            <a:ext cx="3255093" cy="707886"/>
          </a:xfrm>
          <a:prstGeom prst="rect">
            <a:avLst/>
          </a:prstGeom>
          <a:noFill/>
          <a:ln>
            <a:noFill/>
          </a:ln>
        </p:spPr>
        <p:txBody>
          <a:bodyPr wrap="square" rtlCol="0">
            <a:spAutoFit/>
          </a:bodyPr>
          <a:lstStyle/>
          <a:p>
            <a:pPr algn="ctr"/>
            <a:r>
              <a:rPr lang="en-US" sz="2000" dirty="0">
                <a:latin typeface="Candara" panose="020E0502030303020204" pitchFamily="34" charset="0"/>
              </a:rPr>
              <a:t>Apps have a frontend (user interface) and a backend </a:t>
            </a:r>
          </a:p>
        </p:txBody>
      </p:sp>
      <p:grpSp>
        <p:nvGrpSpPr>
          <p:cNvPr id="7" name="Group 6">
            <a:extLst>
              <a:ext uri="{FF2B5EF4-FFF2-40B4-BE49-F238E27FC236}">
                <a16:creationId xmlns:a16="http://schemas.microsoft.com/office/drawing/2014/main" id="{EAD2E1B8-D069-B833-76DA-10B796568D80}"/>
              </a:ext>
            </a:extLst>
          </p:cNvPr>
          <p:cNvGrpSpPr/>
          <p:nvPr/>
        </p:nvGrpSpPr>
        <p:grpSpPr>
          <a:xfrm>
            <a:off x="4269639" y="1227267"/>
            <a:ext cx="6350465" cy="2286000"/>
            <a:chOff x="130493" y="1844029"/>
            <a:chExt cx="6350465" cy="2286000"/>
          </a:xfrm>
        </p:grpSpPr>
        <p:grpSp>
          <p:nvGrpSpPr>
            <p:cNvPr id="14" name="Group 13"/>
            <p:cNvGrpSpPr/>
            <p:nvPr/>
          </p:nvGrpSpPr>
          <p:grpSpPr>
            <a:xfrm>
              <a:off x="130493" y="1844029"/>
              <a:ext cx="4328160" cy="2286000"/>
              <a:chOff x="152400" y="2316480"/>
              <a:chExt cx="4328160" cy="2286000"/>
            </a:xfrm>
          </p:grpSpPr>
          <p:sp>
            <p:nvSpPr>
              <p:cNvPr id="5" name="Rectangle 4"/>
              <p:cNvSpPr/>
              <p:nvPr/>
            </p:nvSpPr>
            <p:spPr>
              <a:xfrm>
                <a:off x="152400" y="2316480"/>
                <a:ext cx="4328160" cy="2286000"/>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ndara" panose="020E0502030303020204" pitchFamily="34" charset="0"/>
                </a:endParaRPr>
              </a:p>
            </p:txBody>
          </p:sp>
          <p:sp>
            <p:nvSpPr>
              <p:cNvPr id="6" name="Rectangle 5"/>
              <p:cNvSpPr/>
              <p:nvPr/>
            </p:nvSpPr>
            <p:spPr>
              <a:xfrm>
                <a:off x="262890" y="3105664"/>
                <a:ext cx="1807845" cy="131064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Frontend </a:t>
                </a:r>
              </a:p>
              <a:p>
                <a:pPr algn="ctr"/>
                <a:r>
                  <a:rPr lang="en-US" sz="1600" dirty="0">
                    <a:solidFill>
                      <a:schemeClr val="tx1"/>
                    </a:solidFill>
                    <a:latin typeface="Candara" panose="020E0502030303020204" pitchFamily="34" charset="0"/>
                  </a:rPr>
                  <a:t>(user interface)</a:t>
                </a:r>
              </a:p>
            </p:txBody>
          </p:sp>
          <p:sp>
            <p:nvSpPr>
              <p:cNvPr id="8" name="Rectangle 7"/>
              <p:cNvSpPr/>
              <p:nvPr/>
            </p:nvSpPr>
            <p:spPr>
              <a:xfrm>
                <a:off x="2198370" y="3105664"/>
                <a:ext cx="2154555" cy="1310640"/>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latin typeface="Candara" panose="020E0502030303020204" pitchFamily="34" charset="0"/>
                  </a:rPr>
                  <a:t>Backend</a:t>
                </a:r>
              </a:p>
              <a:p>
                <a:pPr algn="ctr"/>
                <a:r>
                  <a:rPr lang="en-US" sz="1600" dirty="0">
                    <a:solidFill>
                      <a:srgbClr val="002060"/>
                    </a:solidFill>
                    <a:latin typeface="Candara" panose="020E0502030303020204" pitchFamily="34" charset="0"/>
                  </a:rPr>
                  <a:t>(hosted on centralized company servers where code is hosted and executed)</a:t>
                </a:r>
              </a:p>
            </p:txBody>
          </p:sp>
          <p:sp>
            <p:nvSpPr>
              <p:cNvPr id="9" name="TextBox 8"/>
              <p:cNvSpPr txBox="1"/>
              <p:nvPr/>
            </p:nvSpPr>
            <p:spPr>
              <a:xfrm>
                <a:off x="1096593" y="2490477"/>
                <a:ext cx="2788920" cy="338554"/>
              </a:xfrm>
              <a:prstGeom prst="rect">
                <a:avLst/>
              </a:prstGeom>
              <a:noFill/>
            </p:spPr>
            <p:txBody>
              <a:bodyPr wrap="square" rtlCol="0">
                <a:spAutoFit/>
              </a:bodyPr>
              <a:lstStyle/>
              <a:p>
                <a:r>
                  <a:rPr lang="en-US" sz="1600" dirty="0">
                    <a:latin typeface="Candara" panose="020E0502030303020204" pitchFamily="34" charset="0"/>
                  </a:rPr>
                  <a:t>Traditional Application</a:t>
                </a:r>
              </a:p>
            </p:txBody>
          </p:sp>
        </p:grpSp>
        <p:pic>
          <p:nvPicPr>
            <p:cNvPr id="3" name="Picture 2">
              <a:extLst>
                <a:ext uri="{FF2B5EF4-FFF2-40B4-BE49-F238E27FC236}">
                  <a16:creationId xmlns:a16="http://schemas.microsoft.com/office/drawing/2014/main" id="{37312D4C-DF84-F6F8-3760-65BEC79D4756}"/>
                </a:ext>
              </a:extLst>
            </p:cNvPr>
            <p:cNvPicPr>
              <a:picLocks noChangeAspect="1"/>
            </p:cNvPicPr>
            <p:nvPr/>
          </p:nvPicPr>
          <p:blipFill>
            <a:blip r:embed="rId4"/>
            <a:stretch>
              <a:fillRect/>
            </a:stretch>
          </p:blipFill>
          <p:spPr>
            <a:xfrm>
              <a:off x="4685348" y="2544461"/>
              <a:ext cx="1795610" cy="653854"/>
            </a:xfrm>
            <a:prstGeom prst="rect">
              <a:avLst/>
            </a:prstGeom>
          </p:spPr>
        </p:pic>
      </p:grpSp>
    </p:spTree>
    <p:extLst>
      <p:ext uri="{BB962C8B-B14F-4D97-AF65-F5344CB8AC3E}">
        <p14:creationId xmlns:p14="http://schemas.microsoft.com/office/powerpoint/2010/main" val="415557399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Web3</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21</a:t>
            </a:fld>
            <a:endParaRPr lang="en-US" dirty="0">
              <a:latin typeface="Candara" panose="020E0502030303020204" pitchFamily="34" charset="0"/>
            </a:endParaRPr>
          </a:p>
        </p:txBody>
      </p:sp>
      <p:sp>
        <p:nvSpPr>
          <p:cNvPr id="5" name="Rectangle 4"/>
          <p:cNvSpPr/>
          <p:nvPr/>
        </p:nvSpPr>
        <p:spPr>
          <a:xfrm>
            <a:off x="487680" y="1302619"/>
            <a:ext cx="6644640" cy="131064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6" name="TextBox 5"/>
          <p:cNvSpPr txBox="1"/>
          <p:nvPr/>
        </p:nvSpPr>
        <p:spPr>
          <a:xfrm>
            <a:off x="3139289" y="1308850"/>
            <a:ext cx="1280160" cy="369332"/>
          </a:xfrm>
          <a:prstGeom prst="rect">
            <a:avLst/>
          </a:prstGeom>
          <a:noFill/>
        </p:spPr>
        <p:txBody>
          <a:bodyPr wrap="square" rtlCol="0">
            <a:spAutoFit/>
          </a:bodyPr>
          <a:lstStyle/>
          <a:p>
            <a:r>
              <a:rPr lang="en-US" b="1" dirty="0">
                <a:latin typeface="Candara" panose="020E0502030303020204" pitchFamily="34" charset="0"/>
              </a:rPr>
              <a:t>Remix IDE</a:t>
            </a:r>
          </a:p>
        </p:txBody>
      </p:sp>
      <p:sp>
        <p:nvSpPr>
          <p:cNvPr id="7" name="TextBox 6"/>
          <p:cNvSpPr txBox="1"/>
          <p:nvPr/>
        </p:nvSpPr>
        <p:spPr>
          <a:xfrm>
            <a:off x="654995" y="1843968"/>
            <a:ext cx="2957060" cy="584775"/>
          </a:xfrm>
          <a:prstGeom prst="rect">
            <a:avLst/>
          </a:prstGeom>
          <a:noFill/>
          <a:ln>
            <a:solidFill>
              <a:schemeClr val="tx1"/>
            </a:solidFill>
          </a:ln>
        </p:spPr>
        <p:txBody>
          <a:bodyPr wrap="square" rtlCol="0">
            <a:spAutoFit/>
          </a:bodyPr>
          <a:lstStyle/>
          <a:p>
            <a:pPr algn="ctr"/>
            <a:r>
              <a:rPr lang="en-US" sz="1600" dirty="0">
                <a:latin typeface="Candara" panose="020E0502030303020204" pitchFamily="34" charset="0"/>
              </a:rPr>
              <a:t>VM environment: Code runs on your computer</a:t>
            </a:r>
          </a:p>
        </p:txBody>
      </p:sp>
      <p:sp>
        <p:nvSpPr>
          <p:cNvPr id="12" name="Rectangle 11"/>
          <p:cNvSpPr/>
          <p:nvPr/>
        </p:nvSpPr>
        <p:spPr>
          <a:xfrm>
            <a:off x="487680" y="4868686"/>
            <a:ext cx="6644640" cy="112132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Ethereum Blockchain running on Ethereum nodes: Code of any arbitrary complexity can be executed in the form of smart contracts</a:t>
            </a:r>
          </a:p>
        </p:txBody>
      </p:sp>
      <p:sp>
        <p:nvSpPr>
          <p:cNvPr id="11" name="Rectangle 10"/>
          <p:cNvSpPr/>
          <p:nvPr/>
        </p:nvSpPr>
        <p:spPr>
          <a:xfrm>
            <a:off x="3965127" y="3893419"/>
            <a:ext cx="2817975" cy="441960"/>
          </a:xfrm>
          <a:prstGeom prst="rect">
            <a:avLst/>
          </a:prstGeom>
          <a:solidFill>
            <a:schemeClr val="accent6">
              <a:lumMod val="40000"/>
              <a:lumOff val="60000"/>
            </a:schemeClr>
          </a:solidFill>
          <a:ln>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ndara" panose="020E0502030303020204" pitchFamily="34" charset="0"/>
              </a:rPr>
              <a:t>Web3 API</a:t>
            </a:r>
          </a:p>
        </p:txBody>
      </p:sp>
      <p:grpSp>
        <p:nvGrpSpPr>
          <p:cNvPr id="23" name="Group 22"/>
          <p:cNvGrpSpPr/>
          <p:nvPr/>
        </p:nvGrpSpPr>
        <p:grpSpPr>
          <a:xfrm>
            <a:off x="3779369" y="1909312"/>
            <a:ext cx="3155482" cy="2959375"/>
            <a:chOff x="2208045" y="2222132"/>
            <a:chExt cx="3155482" cy="2959375"/>
          </a:xfrm>
        </p:grpSpPr>
        <p:sp>
          <p:nvSpPr>
            <p:cNvPr id="8" name="TextBox 7"/>
            <p:cNvSpPr txBox="1"/>
            <p:nvPr/>
          </p:nvSpPr>
          <p:spPr>
            <a:xfrm>
              <a:off x="2208045" y="2222132"/>
              <a:ext cx="3155482" cy="400110"/>
            </a:xfrm>
            <a:prstGeom prst="rect">
              <a:avLst/>
            </a:prstGeom>
            <a:noFill/>
            <a:ln>
              <a:solidFill>
                <a:srgbClr val="002060"/>
              </a:solidFill>
            </a:ln>
          </p:spPr>
          <p:txBody>
            <a:bodyPr wrap="square" rtlCol="0">
              <a:spAutoFit/>
            </a:bodyPr>
            <a:lstStyle/>
            <a:p>
              <a:pPr algn="ctr"/>
              <a:r>
                <a:rPr lang="en-US" sz="2000" dirty="0">
                  <a:solidFill>
                    <a:srgbClr val="002060"/>
                  </a:solidFill>
                  <a:latin typeface="Candara" panose="020E0502030303020204" pitchFamily="34" charset="0"/>
                </a:rPr>
                <a:t>Injected Web3</a:t>
              </a:r>
            </a:p>
          </p:txBody>
        </p:sp>
        <p:pic>
          <p:nvPicPr>
            <p:cNvPr id="10" name="Picture 9"/>
            <p:cNvPicPr>
              <a:picLocks noChangeAspect="1"/>
            </p:cNvPicPr>
            <p:nvPr/>
          </p:nvPicPr>
          <p:blipFill>
            <a:blip r:embed="rId3"/>
            <a:stretch>
              <a:fillRect/>
            </a:stretch>
          </p:blipFill>
          <p:spPr>
            <a:xfrm>
              <a:off x="2941395" y="3256547"/>
              <a:ext cx="1721167" cy="492845"/>
            </a:xfrm>
            <a:prstGeom prst="rect">
              <a:avLst/>
            </a:prstGeom>
            <a:ln>
              <a:solidFill>
                <a:schemeClr val="tx1"/>
              </a:solidFill>
            </a:ln>
          </p:spPr>
        </p:pic>
        <p:cxnSp>
          <p:nvCxnSpPr>
            <p:cNvPr id="14" name="Straight Arrow Connector 13"/>
            <p:cNvCxnSpPr>
              <a:stCxn id="8" idx="2"/>
              <a:endCxn id="10" idx="0"/>
            </p:cNvCxnSpPr>
            <p:nvPr/>
          </p:nvCxnSpPr>
          <p:spPr>
            <a:xfrm>
              <a:off x="3785786" y="2622242"/>
              <a:ext cx="16193" cy="634305"/>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801978" y="4648200"/>
              <a:ext cx="0" cy="533307"/>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3801978" y="3749392"/>
              <a:ext cx="3208" cy="456848"/>
            </a:xfrm>
            <a:prstGeom prst="straightConnector1">
              <a:avLst/>
            </a:prstGeom>
            <a:ln>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EF946384-BEC2-B2EB-BFDC-27B477E3C2F3}"/>
              </a:ext>
            </a:extLst>
          </p:cNvPr>
          <p:cNvSpPr txBox="1"/>
          <p:nvPr/>
        </p:nvSpPr>
        <p:spPr>
          <a:xfrm>
            <a:off x="7360318" y="3232860"/>
            <a:ext cx="4316847" cy="1754326"/>
          </a:xfrm>
          <a:prstGeom prst="rect">
            <a:avLst/>
          </a:prstGeom>
          <a:noFill/>
        </p:spPr>
        <p:txBody>
          <a:bodyPr wrap="square">
            <a:spAutoFit/>
          </a:bodyPr>
          <a:lstStyle/>
          <a:p>
            <a:r>
              <a:rPr lang="en-US" dirty="0">
                <a:latin typeface="Candara" panose="020E0502030303020204" pitchFamily="34" charset="0"/>
              </a:rPr>
              <a:t>Web3 (APIs, libraries, protocols, tools) is the collective term for the bridge between the frontend and the blockchain, allowing users to interact with smart contracts directly through their wallets, without any centralized server in between</a:t>
            </a:r>
          </a:p>
        </p:txBody>
      </p:sp>
    </p:spTree>
    <p:extLst>
      <p:ext uri="{BB962C8B-B14F-4D97-AF65-F5344CB8AC3E}">
        <p14:creationId xmlns:p14="http://schemas.microsoft.com/office/powerpoint/2010/main" val="250969706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a:t>
            </a:r>
            <a:r>
              <a:rPr lang="en-US" dirty="0" err="1"/>
              <a:t>DApps</a:t>
            </a:r>
            <a:endParaRPr lang="en-US" dirty="0"/>
          </a:p>
        </p:txBody>
      </p:sp>
      <p:sp>
        <p:nvSpPr>
          <p:cNvPr id="3" name="Content Placeholder 2"/>
          <p:cNvSpPr>
            <a:spLocks noGrp="1"/>
          </p:cNvSpPr>
          <p:nvPr>
            <p:ph idx="1"/>
          </p:nvPr>
        </p:nvSpPr>
        <p:spPr>
          <a:xfrm>
            <a:off x="322541" y="1144426"/>
            <a:ext cx="11546918" cy="5143179"/>
          </a:xfrm>
        </p:spPr>
        <p:txBody>
          <a:bodyPr>
            <a:normAutofit fontScale="92500" lnSpcReduction="10000"/>
          </a:bodyPr>
          <a:lstStyle/>
          <a:p>
            <a:r>
              <a:rPr lang="en-US" dirty="0">
                <a:solidFill>
                  <a:srgbClr val="002060"/>
                </a:solidFill>
              </a:rPr>
              <a:t>Resistance to censorship  </a:t>
            </a:r>
          </a:p>
          <a:p>
            <a:pPr lvl="1"/>
            <a:r>
              <a:rPr lang="en-US" dirty="0"/>
              <a:t>No single entity on the network can block users from submitting transactions and deploying </a:t>
            </a:r>
            <a:r>
              <a:rPr lang="en-US" dirty="0" err="1"/>
              <a:t>DApp</a:t>
            </a:r>
            <a:endParaRPr lang="en-US" dirty="0"/>
          </a:p>
          <a:p>
            <a:r>
              <a:rPr lang="en-US" dirty="0">
                <a:solidFill>
                  <a:srgbClr val="002060"/>
                </a:solidFill>
              </a:rPr>
              <a:t>Data integrity  </a:t>
            </a:r>
          </a:p>
          <a:p>
            <a:pPr lvl="1"/>
            <a:r>
              <a:rPr lang="en-US" dirty="0"/>
              <a:t>Data on blockchain is immutable and therefore, malicious actors cannot forge transactions or data already publicly available </a:t>
            </a:r>
          </a:p>
          <a:p>
            <a:r>
              <a:rPr lang="en-US" dirty="0">
                <a:solidFill>
                  <a:srgbClr val="002060"/>
                </a:solidFill>
              </a:rPr>
              <a:t>Trustable computation/verifiable behavior </a:t>
            </a:r>
          </a:p>
          <a:p>
            <a:pPr lvl="1"/>
            <a:r>
              <a:rPr lang="en-US" dirty="0"/>
              <a:t>Smart contracts are guaranteed to execute in predictable ways</a:t>
            </a:r>
          </a:p>
          <a:p>
            <a:r>
              <a:rPr lang="en-US" dirty="0">
                <a:solidFill>
                  <a:srgbClr val="002060"/>
                </a:solidFill>
              </a:rPr>
              <a:t>Zero downtime </a:t>
            </a:r>
          </a:p>
          <a:p>
            <a:pPr lvl="1"/>
            <a:r>
              <a:rPr lang="en-US" dirty="0"/>
              <a:t>Backend is on blockchain that is always running </a:t>
            </a:r>
          </a:p>
          <a:p>
            <a:r>
              <a:rPr lang="en-US" dirty="0">
                <a:solidFill>
                  <a:srgbClr val="002060"/>
                </a:solidFill>
              </a:rPr>
              <a:t>Privacy</a:t>
            </a:r>
            <a:r>
              <a:rPr lang="en-US" dirty="0"/>
              <a:t> </a:t>
            </a:r>
          </a:p>
          <a:p>
            <a:pPr lvl="1"/>
            <a:r>
              <a:rPr lang="en-US" dirty="0"/>
              <a:t>Real world identity of </a:t>
            </a:r>
            <a:r>
              <a:rPr lang="en-US" dirty="0" err="1"/>
              <a:t>DApp</a:t>
            </a:r>
            <a:r>
              <a:rPr lang="en-US" dirty="0"/>
              <a:t> users remains hidden </a:t>
            </a:r>
          </a:p>
          <a:p>
            <a:pPr lvl="1"/>
            <a:endParaRPr lang="en-US" dirty="0"/>
          </a:p>
        </p:txBody>
      </p:sp>
      <p:sp>
        <p:nvSpPr>
          <p:cNvPr id="4" name="Slide Number Placeholder 3"/>
          <p:cNvSpPr>
            <a:spLocks noGrp="1"/>
          </p:cNvSpPr>
          <p:nvPr>
            <p:ph type="sldNum" sz="quarter" idx="12"/>
          </p:nvPr>
        </p:nvSpPr>
        <p:spPr/>
        <p:txBody>
          <a:bodyPr/>
          <a:lstStyle/>
          <a:p>
            <a:fld id="{19FE8B7B-3258-47CD-BBC0-34D05FC906E5}" type="slidenum">
              <a:rPr lang="en-US" smtClean="0"/>
              <a:t>22</a:t>
            </a:fld>
            <a:endParaRPr lang="en-US" dirty="0"/>
          </a:p>
        </p:txBody>
      </p:sp>
      <p:sp>
        <p:nvSpPr>
          <p:cNvPr id="5" name="Rectangle 4"/>
          <p:cNvSpPr/>
          <p:nvPr/>
        </p:nvSpPr>
        <p:spPr>
          <a:xfrm>
            <a:off x="6970295" y="6492148"/>
            <a:ext cx="2879559" cy="246221"/>
          </a:xfrm>
          <a:prstGeom prst="rect">
            <a:avLst/>
          </a:prstGeom>
        </p:spPr>
        <p:txBody>
          <a:bodyPr wrap="square">
            <a:spAutoFit/>
          </a:bodyPr>
          <a:lstStyle/>
          <a:p>
            <a:r>
              <a:rPr lang="en-US" sz="1000" dirty="0">
                <a:hlinkClick r:id="rId3"/>
              </a:rPr>
              <a:t>https://ethereum.org/en/developers/docs/dapps/</a:t>
            </a:r>
            <a:r>
              <a:rPr lang="en-US" sz="1000" dirty="0"/>
              <a:t> </a:t>
            </a:r>
          </a:p>
        </p:txBody>
      </p:sp>
    </p:spTree>
    <p:extLst>
      <p:ext uri="{BB962C8B-B14F-4D97-AF65-F5344CB8AC3E}">
        <p14:creationId xmlns:p14="http://schemas.microsoft.com/office/powerpoint/2010/main" val="332445597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Drawbacks of </a:t>
            </a:r>
            <a:r>
              <a:rPr lang="en-US" dirty="0" err="1"/>
              <a:t>DApps</a:t>
            </a:r>
            <a:endParaRPr lang="en-US" dirty="0"/>
          </a:p>
        </p:txBody>
      </p:sp>
      <p:sp>
        <p:nvSpPr>
          <p:cNvPr id="3" name="Content Placeholder 2"/>
          <p:cNvSpPr>
            <a:spLocks noGrp="1"/>
          </p:cNvSpPr>
          <p:nvPr>
            <p:ph idx="1"/>
          </p:nvPr>
        </p:nvSpPr>
        <p:spPr>
          <a:xfrm>
            <a:off x="322541" y="1168491"/>
            <a:ext cx="11546918" cy="5019748"/>
          </a:xfrm>
        </p:spPr>
        <p:txBody>
          <a:bodyPr>
            <a:normAutofit fontScale="92500" lnSpcReduction="20000"/>
          </a:bodyPr>
          <a:lstStyle/>
          <a:p>
            <a:r>
              <a:rPr lang="en-US" dirty="0">
                <a:solidFill>
                  <a:srgbClr val="002060"/>
                </a:solidFill>
              </a:rPr>
              <a:t>Maintenance</a:t>
            </a:r>
            <a:r>
              <a:rPr lang="en-US" dirty="0"/>
              <a:t> </a:t>
            </a:r>
          </a:p>
          <a:p>
            <a:pPr lvl="1"/>
            <a:r>
              <a:rPr lang="en-US" dirty="0" err="1"/>
              <a:t>DApps</a:t>
            </a:r>
            <a:r>
              <a:rPr lang="en-US" dirty="0"/>
              <a:t> can be harder to maintain (updates or bug fixes) because the code and data published to the blockchain cannot be modified</a:t>
            </a:r>
          </a:p>
          <a:p>
            <a:r>
              <a:rPr lang="en-US" dirty="0">
                <a:solidFill>
                  <a:srgbClr val="002060"/>
                </a:solidFill>
              </a:rPr>
              <a:t>Performance overhead </a:t>
            </a:r>
          </a:p>
          <a:p>
            <a:pPr lvl="1"/>
            <a:r>
              <a:rPr lang="en-US" dirty="0"/>
              <a:t>There is a huge performance overhead because scaling is hard due to decentralization and proof of work </a:t>
            </a:r>
          </a:p>
          <a:p>
            <a:r>
              <a:rPr lang="en-US" dirty="0">
                <a:solidFill>
                  <a:srgbClr val="002060"/>
                </a:solidFill>
              </a:rPr>
              <a:t>Network congestion </a:t>
            </a:r>
          </a:p>
          <a:p>
            <a:pPr lvl="1"/>
            <a:r>
              <a:rPr lang="en-US" dirty="0"/>
              <a:t>Transaction throughput of public blockchains is very low (Ethereum network can only process 15 to 30 </a:t>
            </a:r>
            <a:r>
              <a:rPr lang="en-US" dirty="0" err="1"/>
              <a:t>tps</a:t>
            </a:r>
            <a:r>
              <a:rPr lang="en-US" dirty="0"/>
              <a:t>) and therefore the pool of unconfirmed transactions can quickly balloon up</a:t>
            </a:r>
          </a:p>
          <a:p>
            <a:r>
              <a:rPr lang="en-US" dirty="0">
                <a:solidFill>
                  <a:srgbClr val="002060"/>
                </a:solidFill>
              </a:rPr>
              <a:t>Centralization Tendencies</a:t>
            </a:r>
          </a:p>
          <a:p>
            <a:pPr lvl="1"/>
            <a:r>
              <a:rPr lang="en-US" dirty="0"/>
              <a:t>User &amp; developer friendly solutions may store lot of data and sensitive information on server-side, which may eliminate most of the blockchain advantages </a:t>
            </a:r>
          </a:p>
        </p:txBody>
      </p:sp>
      <p:sp>
        <p:nvSpPr>
          <p:cNvPr id="4" name="Slide Number Placeholder 3"/>
          <p:cNvSpPr>
            <a:spLocks noGrp="1"/>
          </p:cNvSpPr>
          <p:nvPr>
            <p:ph type="sldNum" sz="quarter" idx="12"/>
          </p:nvPr>
        </p:nvSpPr>
        <p:spPr/>
        <p:txBody>
          <a:bodyPr/>
          <a:lstStyle/>
          <a:p>
            <a:fld id="{19FE8B7B-3258-47CD-BBC0-34D05FC906E5}" type="slidenum">
              <a:rPr lang="en-US" smtClean="0"/>
              <a:t>23</a:t>
            </a:fld>
            <a:endParaRPr lang="en-US" dirty="0"/>
          </a:p>
        </p:txBody>
      </p:sp>
    </p:spTree>
    <p:extLst>
      <p:ext uri="{BB962C8B-B14F-4D97-AF65-F5344CB8AC3E}">
        <p14:creationId xmlns:p14="http://schemas.microsoft.com/office/powerpoint/2010/main" val="37612313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a:t>
            </a:r>
          </a:p>
        </p:txBody>
      </p:sp>
      <p:sp>
        <p:nvSpPr>
          <p:cNvPr id="4" name="Slide Number Placeholder 3"/>
          <p:cNvSpPr>
            <a:spLocks noGrp="1"/>
          </p:cNvSpPr>
          <p:nvPr>
            <p:ph type="sldNum" sz="quarter" idx="12"/>
          </p:nvPr>
        </p:nvSpPr>
        <p:spPr/>
        <p:txBody>
          <a:bodyPr/>
          <a:lstStyle/>
          <a:p>
            <a:fld id="{19FE8B7B-3258-47CD-BBC0-34D05FC906E5}" type="slidenum">
              <a:rPr/>
              <a:pPr/>
              <a:t>24</a:t>
            </a:fld>
            <a:endParaRPr dirty="0"/>
          </a:p>
        </p:txBody>
      </p:sp>
      <p:graphicFrame>
        <p:nvGraphicFramePr>
          <p:cNvPr id="6" name="Table 5"/>
          <p:cNvGraphicFramePr>
            <a:graphicFrameLocks noGrp="1"/>
          </p:cNvGraphicFramePr>
          <p:nvPr>
            <p:extLst>
              <p:ext uri="{D42A27DB-BD31-4B8C-83A1-F6EECF244321}">
                <p14:modId xmlns:p14="http://schemas.microsoft.com/office/powerpoint/2010/main" val="3147028004"/>
              </p:ext>
            </p:extLst>
          </p:nvPr>
        </p:nvGraphicFramePr>
        <p:xfrm>
          <a:off x="2152652" y="981540"/>
          <a:ext cx="7347533" cy="5627911"/>
        </p:xfrm>
        <a:graphic>
          <a:graphicData uri="http://schemas.openxmlformats.org/drawingml/2006/table">
            <a:tbl>
              <a:tblPr firstRow="1" bandRow="1">
                <a:tableStyleId>{5940675A-B579-460E-94D1-54222C63F5DA}</a:tableStyleId>
              </a:tblPr>
              <a:tblGrid>
                <a:gridCol w="1857280">
                  <a:extLst>
                    <a:ext uri="{9D8B030D-6E8A-4147-A177-3AD203B41FA5}">
                      <a16:colId xmlns:a16="http://schemas.microsoft.com/office/drawing/2014/main" val="20000"/>
                    </a:ext>
                  </a:extLst>
                </a:gridCol>
                <a:gridCol w="1938867">
                  <a:extLst>
                    <a:ext uri="{9D8B030D-6E8A-4147-A177-3AD203B41FA5}">
                      <a16:colId xmlns:a16="http://schemas.microsoft.com/office/drawing/2014/main" val="20001"/>
                    </a:ext>
                  </a:extLst>
                </a:gridCol>
                <a:gridCol w="1775693">
                  <a:extLst>
                    <a:ext uri="{9D8B030D-6E8A-4147-A177-3AD203B41FA5}">
                      <a16:colId xmlns:a16="http://schemas.microsoft.com/office/drawing/2014/main" val="20002"/>
                    </a:ext>
                  </a:extLst>
                </a:gridCol>
                <a:gridCol w="1775693">
                  <a:extLst>
                    <a:ext uri="{9D8B030D-6E8A-4147-A177-3AD203B41FA5}">
                      <a16:colId xmlns:a16="http://schemas.microsoft.com/office/drawing/2014/main" val="20003"/>
                    </a:ext>
                  </a:extLst>
                </a:gridCol>
              </a:tblGrid>
              <a:tr h="446311">
                <a:tc gridSpan="2">
                  <a:txBody>
                    <a:bodyPr/>
                    <a:lstStyle/>
                    <a:p>
                      <a:endParaRPr lang="en-US" dirty="0"/>
                    </a:p>
                  </a:txBody>
                  <a:tcPr>
                    <a:solidFill>
                      <a:schemeClr val="bg2"/>
                    </a:solidFill>
                  </a:tcPr>
                </a:tc>
                <a:tc hMerge="1">
                  <a:txBody>
                    <a:bodyPr/>
                    <a:lstStyle/>
                    <a:p>
                      <a:endParaRPr lang="en-US" dirty="0"/>
                    </a:p>
                  </a:txBody>
                  <a:tcPr/>
                </a:tc>
                <a:tc>
                  <a:txBody>
                    <a:bodyPr/>
                    <a:lstStyle/>
                    <a:p>
                      <a:pPr algn="ctr"/>
                      <a:r>
                        <a:rPr lang="en-US" sz="2000" b="1" dirty="0"/>
                        <a:t>Bitcoin</a:t>
                      </a:r>
                      <a:endParaRPr lang="en-US" b="1" dirty="0"/>
                    </a:p>
                  </a:txBody>
                  <a:tcPr>
                    <a:solidFill>
                      <a:schemeClr val="bg2"/>
                    </a:solidFill>
                  </a:tcPr>
                </a:tc>
                <a:tc>
                  <a:txBody>
                    <a:bodyPr/>
                    <a:lstStyle/>
                    <a:p>
                      <a:pPr algn="ctr"/>
                      <a:r>
                        <a:rPr lang="en-US" sz="2000" b="1" kern="1200" dirty="0">
                          <a:solidFill>
                            <a:schemeClr val="tx1"/>
                          </a:solidFill>
                          <a:latin typeface="+mn-lt"/>
                          <a:ea typeface="+mn-ea"/>
                          <a:cs typeface="+mn-cs"/>
                        </a:rPr>
                        <a:t>Ethereum </a:t>
                      </a:r>
                    </a:p>
                  </a:txBody>
                  <a:tcPr>
                    <a:solidFill>
                      <a:schemeClr val="bg2"/>
                    </a:solidFill>
                  </a:tcPr>
                </a:tc>
                <a:extLst>
                  <a:ext uri="{0D108BD9-81ED-4DB2-BD59-A6C34878D82A}">
                    <a16:rowId xmlns:a16="http://schemas.microsoft.com/office/drawing/2014/main" val="10000"/>
                  </a:ext>
                </a:extLst>
              </a:tr>
              <a:tr h="0">
                <a:tc rowSpan="5">
                  <a:txBody>
                    <a:bodyPr/>
                    <a:lstStyle/>
                    <a:p>
                      <a:pPr algn="ctr"/>
                      <a:r>
                        <a:rPr lang="en-US" sz="2000" b="0" dirty="0"/>
                        <a:t>Protocol Governance </a:t>
                      </a:r>
                    </a:p>
                  </a:txBody>
                  <a:tcPr anchor="ctr">
                    <a:solidFill>
                      <a:schemeClr val="accent5">
                        <a:lumMod val="40000"/>
                        <a:lumOff val="60000"/>
                      </a:schemeClr>
                    </a:solidFill>
                  </a:tcPr>
                </a:tc>
                <a:tc>
                  <a:txBody>
                    <a:bodyPr/>
                    <a:lstStyle/>
                    <a:p>
                      <a:r>
                        <a:rPr lang="en-US" sz="1400" b="0" dirty="0"/>
                        <a:t>Anarchic</a:t>
                      </a:r>
                    </a:p>
                  </a:txBody>
                  <a:tcPr>
                    <a:solidFill>
                      <a:schemeClr val="accent5">
                        <a:lumMod val="40000"/>
                        <a:lumOff val="6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1"/>
                  </a:ext>
                </a:extLst>
              </a:tr>
              <a:tr h="234442">
                <a:tc vMerge="1">
                  <a:txBody>
                    <a:bodyPr/>
                    <a:lstStyle/>
                    <a:p>
                      <a:endParaRPr lang="en-US"/>
                    </a:p>
                  </a:txBody>
                  <a:tcPr/>
                </a:tc>
                <a:tc>
                  <a:txBody>
                    <a:bodyPr/>
                    <a:lstStyle/>
                    <a:p>
                      <a:r>
                        <a:rPr lang="en-US" sz="1400" b="0" dirty="0"/>
                        <a:t>Hierarchical</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sz="1400" b="1" dirty="0">
                          <a:solidFill>
                            <a:srgbClr val="FF0000"/>
                          </a:solidFill>
                          <a:sym typeface="Wingdings" panose="05000000000000000000" pitchFamily="2" charset="2"/>
                        </a:rPr>
                        <a:t></a:t>
                      </a:r>
                      <a:endParaRPr lang="en-US" sz="1400" b="1" dirty="0">
                        <a:solidFill>
                          <a:srgbClr val="FF0000"/>
                        </a:solidFill>
                      </a:endParaRPr>
                    </a:p>
                  </a:txBody>
                  <a:tcPr>
                    <a:solidFill>
                      <a:schemeClr val="accent5">
                        <a:lumMod val="40000"/>
                        <a:lumOff val="60000"/>
                      </a:schemeClr>
                    </a:solidFill>
                  </a:tcPr>
                </a:tc>
                <a:extLst>
                  <a:ext uri="{0D108BD9-81ED-4DB2-BD59-A6C34878D82A}">
                    <a16:rowId xmlns:a16="http://schemas.microsoft.com/office/drawing/2014/main" val="10002"/>
                  </a:ext>
                </a:extLst>
              </a:tr>
              <a:tr h="160274">
                <a:tc vMerge="1">
                  <a:txBody>
                    <a:bodyPr/>
                    <a:lstStyle/>
                    <a:p>
                      <a:endParaRPr lang="en-US"/>
                    </a:p>
                  </a:txBody>
                  <a:tcPr/>
                </a:tc>
                <a:tc>
                  <a:txBody>
                    <a:bodyPr/>
                    <a:lstStyle/>
                    <a:p>
                      <a:r>
                        <a:rPr lang="en-US" sz="1400" b="0" dirty="0"/>
                        <a:t>Dictatorship</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3"/>
                  </a:ext>
                </a:extLst>
              </a:tr>
              <a:tr h="0">
                <a:tc vMerge="1">
                  <a:txBody>
                    <a:bodyPr/>
                    <a:lstStyle/>
                    <a:p>
                      <a:endParaRPr lang="en-US"/>
                    </a:p>
                  </a:txBody>
                  <a:tcPr/>
                </a:tc>
                <a:tc>
                  <a:txBody>
                    <a:bodyPr/>
                    <a:lstStyle/>
                    <a:p>
                      <a:r>
                        <a:rPr lang="en-US" sz="1400" b="0" dirty="0"/>
                        <a:t>Federation</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4"/>
                  </a:ext>
                </a:extLst>
              </a:tr>
              <a:tr h="0">
                <a:tc vMerge="1">
                  <a:txBody>
                    <a:bodyPr/>
                    <a:lstStyle/>
                    <a:p>
                      <a:endParaRPr lang="en-US"/>
                    </a:p>
                  </a:txBody>
                  <a:tcPr/>
                </a:tc>
                <a:tc>
                  <a:txBody>
                    <a:bodyPr/>
                    <a:lstStyle/>
                    <a:p>
                      <a:r>
                        <a:rPr lang="en-US" sz="1400" b="0" dirty="0"/>
                        <a:t>Democracy</a:t>
                      </a:r>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tc>
                  <a:txBody>
                    <a:bodyPr/>
                    <a:lstStyle/>
                    <a:p>
                      <a:pPr algn="ctr"/>
                      <a:endParaRPr lang="en-US" sz="1400" b="1" dirty="0"/>
                    </a:p>
                  </a:txBody>
                  <a:tcPr>
                    <a:solidFill>
                      <a:schemeClr val="accent5">
                        <a:lumMod val="40000"/>
                        <a:lumOff val="60000"/>
                      </a:schemeClr>
                    </a:solidFill>
                  </a:tcPr>
                </a:tc>
                <a:extLst>
                  <a:ext uri="{0D108BD9-81ED-4DB2-BD59-A6C34878D82A}">
                    <a16:rowId xmlns:a16="http://schemas.microsoft.com/office/drawing/2014/main" val="10005"/>
                  </a:ext>
                </a:extLst>
              </a:tr>
              <a:tr h="123613">
                <a:tc rowSpan="3">
                  <a:txBody>
                    <a:bodyPr/>
                    <a:lstStyle/>
                    <a:p>
                      <a:pPr algn="ctr"/>
                      <a:r>
                        <a:rPr lang="en-US" sz="2000" b="0" dirty="0"/>
                        <a:t>Network Access</a:t>
                      </a:r>
                    </a:p>
                  </a:txBody>
                  <a:tcPr anchor="ctr">
                    <a:solidFill>
                      <a:schemeClr val="accent2">
                        <a:lumMod val="20000"/>
                        <a:lumOff val="80000"/>
                      </a:schemeClr>
                    </a:solidFill>
                  </a:tcPr>
                </a:tc>
                <a:tc>
                  <a:txBody>
                    <a:bodyPr/>
                    <a:lstStyle/>
                    <a:p>
                      <a:r>
                        <a:rPr lang="en-US" sz="1400" b="0" dirty="0"/>
                        <a:t>Open</a:t>
                      </a:r>
                    </a:p>
                  </a:txBody>
                  <a:tcPr>
                    <a:solidFill>
                      <a:schemeClr val="accent2">
                        <a:lumMod val="20000"/>
                        <a:lumOff val="8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2">
                        <a:lumMod val="20000"/>
                        <a:lumOff val="80000"/>
                      </a:schemeClr>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sz="1400" b="1" dirty="0">
                          <a:sym typeface="Wingdings" panose="05000000000000000000" pitchFamily="2" charset="2"/>
                        </a:rPr>
                        <a:t></a:t>
                      </a:r>
                      <a:endParaRPr lang="en-US" sz="1400" b="1" dirty="0"/>
                    </a:p>
                  </a:txBody>
                  <a:tcPr>
                    <a:solidFill>
                      <a:schemeClr val="accent2">
                        <a:lumMod val="20000"/>
                        <a:lumOff val="80000"/>
                      </a:schemeClr>
                    </a:solidFill>
                  </a:tcPr>
                </a:tc>
                <a:extLst>
                  <a:ext uri="{0D108BD9-81ED-4DB2-BD59-A6C34878D82A}">
                    <a16:rowId xmlns:a16="http://schemas.microsoft.com/office/drawing/2014/main" val="10006"/>
                  </a:ext>
                </a:extLst>
              </a:tr>
              <a:tr h="184997">
                <a:tc vMerge="1">
                  <a:txBody>
                    <a:bodyPr/>
                    <a:lstStyle/>
                    <a:p>
                      <a:endParaRPr lang="en-US"/>
                    </a:p>
                  </a:txBody>
                  <a:tcPr/>
                </a:tc>
                <a:tc>
                  <a:txBody>
                    <a:bodyPr/>
                    <a:lstStyle/>
                    <a:p>
                      <a:r>
                        <a:rPr lang="en-US" sz="1400" b="0" dirty="0"/>
                        <a:t>Semi-open</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7"/>
                  </a:ext>
                </a:extLst>
              </a:tr>
              <a:tr h="123613">
                <a:tc vMerge="1">
                  <a:txBody>
                    <a:bodyPr/>
                    <a:lstStyle/>
                    <a:p>
                      <a:endParaRPr lang="en-US"/>
                    </a:p>
                  </a:txBody>
                  <a:tcPr/>
                </a:tc>
                <a:tc>
                  <a:txBody>
                    <a:bodyPr/>
                    <a:lstStyle/>
                    <a:p>
                      <a:r>
                        <a:rPr lang="en-US" sz="1400" b="0" dirty="0"/>
                        <a:t>Closed</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8"/>
                  </a:ext>
                </a:extLst>
              </a:tr>
              <a:tr h="123613">
                <a:tc rowSpan="3">
                  <a:txBody>
                    <a:bodyPr/>
                    <a:lstStyle/>
                    <a:p>
                      <a:pPr algn="ctr"/>
                      <a:r>
                        <a:rPr lang="en-US" sz="2000" b="0" dirty="0"/>
                        <a:t>Transaction Processing</a:t>
                      </a:r>
                    </a:p>
                  </a:txBody>
                  <a:tcPr anchor="ctr">
                    <a:solidFill>
                      <a:schemeClr val="accent6">
                        <a:lumMod val="60000"/>
                        <a:lumOff val="40000"/>
                      </a:schemeClr>
                    </a:solidFill>
                  </a:tcPr>
                </a:tc>
                <a:tc>
                  <a:txBody>
                    <a:bodyPr/>
                    <a:lstStyle/>
                    <a:p>
                      <a:r>
                        <a:rPr lang="en-US" sz="1400" b="0" dirty="0"/>
                        <a:t>Decentralized</a:t>
                      </a:r>
                    </a:p>
                  </a:txBody>
                  <a:tcPr>
                    <a:solidFill>
                      <a:schemeClr val="accent6">
                        <a:lumMod val="60000"/>
                        <a:lumOff val="4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6">
                        <a:lumMod val="60000"/>
                        <a:lumOff val="40000"/>
                      </a:schemeClr>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sz="1400" b="1" dirty="0">
                          <a:sym typeface="Wingdings" panose="05000000000000000000" pitchFamily="2" charset="2"/>
                        </a:rPr>
                        <a:t></a:t>
                      </a:r>
                      <a:endParaRPr lang="en-US" sz="1400" b="1" dirty="0"/>
                    </a:p>
                  </a:txBody>
                  <a:tcPr>
                    <a:solidFill>
                      <a:schemeClr val="accent6">
                        <a:lumMod val="60000"/>
                        <a:lumOff val="40000"/>
                      </a:schemeClr>
                    </a:solidFill>
                  </a:tcPr>
                </a:tc>
                <a:extLst>
                  <a:ext uri="{0D108BD9-81ED-4DB2-BD59-A6C34878D82A}">
                    <a16:rowId xmlns:a16="http://schemas.microsoft.com/office/drawing/2014/main" val="10009"/>
                  </a:ext>
                </a:extLst>
              </a:tr>
              <a:tr h="184997">
                <a:tc vMerge="1">
                  <a:txBody>
                    <a:bodyPr/>
                    <a:lstStyle/>
                    <a:p>
                      <a:endParaRPr lang="en-US"/>
                    </a:p>
                  </a:txBody>
                  <a:tcPr/>
                </a:tc>
                <a:tc>
                  <a:txBody>
                    <a:bodyPr/>
                    <a:lstStyle/>
                    <a:p>
                      <a:r>
                        <a:rPr lang="en-US" sz="1400" b="0" dirty="0"/>
                        <a:t>Semi-centralized</a:t>
                      </a:r>
                    </a:p>
                  </a:txBody>
                  <a:tcPr>
                    <a:solidFill>
                      <a:schemeClr val="accent6">
                        <a:lumMod val="60000"/>
                        <a:lumOff val="40000"/>
                      </a:schemeClr>
                    </a:solidFill>
                  </a:tcPr>
                </a:tc>
                <a:tc>
                  <a:txBody>
                    <a:bodyPr/>
                    <a:lstStyle/>
                    <a:p>
                      <a:pPr algn="ctr"/>
                      <a:endParaRPr lang="en-US" sz="1400" b="1" dirty="0"/>
                    </a:p>
                  </a:txBody>
                  <a:tcPr>
                    <a:solidFill>
                      <a:schemeClr val="accent6">
                        <a:lumMod val="60000"/>
                        <a:lumOff val="40000"/>
                      </a:schemeClr>
                    </a:solidFill>
                  </a:tcPr>
                </a:tc>
                <a:tc>
                  <a:txBody>
                    <a:bodyPr/>
                    <a:lstStyle/>
                    <a:p>
                      <a:pPr algn="ctr"/>
                      <a:endParaRPr lang="en-US" sz="1400" b="1" dirty="0"/>
                    </a:p>
                  </a:txBody>
                  <a:tcPr>
                    <a:solidFill>
                      <a:schemeClr val="accent6">
                        <a:lumMod val="60000"/>
                        <a:lumOff val="40000"/>
                      </a:schemeClr>
                    </a:solidFill>
                  </a:tcPr>
                </a:tc>
                <a:extLst>
                  <a:ext uri="{0D108BD9-81ED-4DB2-BD59-A6C34878D82A}">
                    <a16:rowId xmlns:a16="http://schemas.microsoft.com/office/drawing/2014/main" val="10010"/>
                  </a:ext>
                </a:extLst>
              </a:tr>
              <a:tr h="123613">
                <a:tc vMerge="1">
                  <a:txBody>
                    <a:bodyPr/>
                    <a:lstStyle/>
                    <a:p>
                      <a:endParaRPr lang="en-US"/>
                    </a:p>
                  </a:txBody>
                  <a:tcPr/>
                </a:tc>
                <a:tc>
                  <a:txBody>
                    <a:bodyPr/>
                    <a:lstStyle/>
                    <a:p>
                      <a:r>
                        <a:rPr lang="en-US" sz="1400" b="0" dirty="0"/>
                        <a:t>Centralized</a:t>
                      </a:r>
                    </a:p>
                  </a:txBody>
                  <a:tcPr>
                    <a:solidFill>
                      <a:schemeClr val="accent6">
                        <a:lumMod val="60000"/>
                        <a:lumOff val="40000"/>
                      </a:schemeClr>
                    </a:solidFill>
                  </a:tcPr>
                </a:tc>
                <a:tc>
                  <a:txBody>
                    <a:bodyPr/>
                    <a:lstStyle/>
                    <a:p>
                      <a:pPr algn="ctr"/>
                      <a:endParaRPr lang="en-US" sz="1400" b="1" dirty="0"/>
                    </a:p>
                  </a:txBody>
                  <a:tcPr>
                    <a:solidFill>
                      <a:schemeClr val="accent6">
                        <a:lumMod val="60000"/>
                        <a:lumOff val="40000"/>
                      </a:schemeClr>
                    </a:solidFill>
                  </a:tcPr>
                </a:tc>
                <a:tc>
                  <a:txBody>
                    <a:bodyPr/>
                    <a:lstStyle/>
                    <a:p>
                      <a:pPr algn="ctr"/>
                      <a:endParaRPr lang="en-US" sz="1400" b="1" dirty="0"/>
                    </a:p>
                  </a:txBody>
                  <a:tcPr>
                    <a:solidFill>
                      <a:schemeClr val="accent6">
                        <a:lumMod val="60000"/>
                        <a:lumOff val="40000"/>
                      </a:schemeClr>
                    </a:solidFill>
                  </a:tcPr>
                </a:tc>
                <a:extLst>
                  <a:ext uri="{0D108BD9-81ED-4DB2-BD59-A6C34878D82A}">
                    <a16:rowId xmlns:a16="http://schemas.microsoft.com/office/drawing/2014/main" val="10011"/>
                  </a:ext>
                </a:extLst>
              </a:tr>
              <a:tr h="185420">
                <a:tc rowSpan="2">
                  <a:txBody>
                    <a:bodyPr/>
                    <a:lstStyle/>
                    <a:p>
                      <a:pPr algn="ctr"/>
                      <a:r>
                        <a:rPr lang="en-US" sz="2000" b="0" dirty="0"/>
                        <a:t>Incentives</a:t>
                      </a:r>
                    </a:p>
                  </a:txBody>
                  <a:tcPr anchor="ctr">
                    <a:solidFill>
                      <a:schemeClr val="accent4">
                        <a:lumMod val="60000"/>
                        <a:lumOff val="40000"/>
                      </a:schemeClr>
                    </a:solidFill>
                  </a:tcPr>
                </a:tc>
                <a:tc>
                  <a:txBody>
                    <a:bodyPr/>
                    <a:lstStyle/>
                    <a:p>
                      <a:r>
                        <a:rPr lang="en-US" sz="1400" b="0" dirty="0"/>
                        <a:t>Intrinsic</a:t>
                      </a:r>
                    </a:p>
                  </a:txBody>
                  <a:tcPr>
                    <a:solidFill>
                      <a:schemeClr val="accent4">
                        <a:lumMod val="60000"/>
                        <a:lumOff val="40000"/>
                      </a:schemeClr>
                    </a:solidFill>
                  </a:tcPr>
                </a:tc>
                <a:tc>
                  <a:txBody>
                    <a:bodyPr/>
                    <a:lstStyle/>
                    <a:p>
                      <a:pPr algn="ctr"/>
                      <a:r>
                        <a:rPr lang="en-US" sz="1400" b="1" dirty="0">
                          <a:sym typeface="Wingdings" panose="05000000000000000000" pitchFamily="2" charset="2"/>
                        </a:rPr>
                        <a:t></a:t>
                      </a:r>
                      <a:endParaRPr lang="en-US" sz="1400" b="1" dirty="0"/>
                    </a:p>
                  </a:txBody>
                  <a:tcPr>
                    <a:solidFill>
                      <a:schemeClr val="accent4">
                        <a:lumMod val="60000"/>
                        <a:lumOff val="40000"/>
                      </a:schemeClr>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sz="1400" b="1" dirty="0">
                          <a:sym typeface="Wingdings" panose="05000000000000000000" pitchFamily="2" charset="2"/>
                        </a:rPr>
                        <a:t></a:t>
                      </a:r>
                      <a:endParaRPr lang="en-US" sz="1400" b="1" dirty="0"/>
                    </a:p>
                  </a:txBody>
                  <a:tcPr>
                    <a:solidFill>
                      <a:schemeClr val="accent4">
                        <a:lumMod val="60000"/>
                        <a:lumOff val="40000"/>
                      </a:schemeClr>
                    </a:solidFill>
                  </a:tcPr>
                </a:tc>
                <a:extLst>
                  <a:ext uri="{0D108BD9-81ED-4DB2-BD59-A6C34878D82A}">
                    <a16:rowId xmlns:a16="http://schemas.microsoft.com/office/drawing/2014/main" val="10012"/>
                  </a:ext>
                </a:extLst>
              </a:tr>
              <a:tr h="185420">
                <a:tc vMerge="1">
                  <a:txBody>
                    <a:bodyPr/>
                    <a:lstStyle/>
                    <a:p>
                      <a:endParaRPr lang="en-US"/>
                    </a:p>
                  </a:txBody>
                  <a:tcPr/>
                </a:tc>
                <a:tc>
                  <a:txBody>
                    <a:bodyPr/>
                    <a:lstStyle/>
                    <a:p>
                      <a:r>
                        <a:rPr lang="en-US" sz="1400" b="0" dirty="0"/>
                        <a:t>Extrinsic</a:t>
                      </a:r>
                    </a:p>
                  </a:txBody>
                  <a:tcPr>
                    <a:solidFill>
                      <a:schemeClr val="accent4">
                        <a:lumMod val="60000"/>
                        <a:lumOff val="40000"/>
                      </a:schemeClr>
                    </a:solidFill>
                  </a:tcPr>
                </a:tc>
                <a:tc>
                  <a:txBody>
                    <a:bodyPr/>
                    <a:lstStyle/>
                    <a:p>
                      <a:pPr algn="ctr"/>
                      <a:endParaRPr lang="en-US" sz="1400" b="1" dirty="0"/>
                    </a:p>
                  </a:txBody>
                  <a:tcPr>
                    <a:solidFill>
                      <a:schemeClr val="accent4">
                        <a:lumMod val="60000"/>
                        <a:lumOff val="40000"/>
                      </a:schemeClr>
                    </a:solidFill>
                  </a:tcPr>
                </a:tc>
                <a:tc>
                  <a:txBody>
                    <a:bodyPr/>
                    <a:lstStyle/>
                    <a:p>
                      <a:pPr algn="ctr"/>
                      <a:endParaRPr lang="en-US" sz="1400" b="1" dirty="0"/>
                    </a:p>
                  </a:txBody>
                  <a:tcPr>
                    <a:solidFill>
                      <a:schemeClr val="accent4">
                        <a:lumMod val="60000"/>
                        <a:lumOff val="40000"/>
                      </a:schemeClr>
                    </a:solidFill>
                  </a:tcPr>
                </a:tc>
                <a:extLst>
                  <a:ext uri="{0D108BD9-81ED-4DB2-BD59-A6C34878D82A}">
                    <a16:rowId xmlns:a16="http://schemas.microsoft.com/office/drawing/2014/main" val="10013"/>
                  </a:ext>
                </a:extLst>
              </a:tr>
              <a:tr h="0">
                <a:tc rowSpan="4">
                  <a:txBody>
                    <a:bodyPr/>
                    <a:lstStyle/>
                    <a:p>
                      <a:pPr algn="ctr"/>
                      <a:r>
                        <a:rPr lang="en-US" sz="2000" b="0" dirty="0"/>
                        <a:t>Reference</a:t>
                      </a:r>
                      <a:r>
                        <a:rPr lang="en-US" sz="2000" b="0" baseline="0" dirty="0"/>
                        <a:t> Model</a:t>
                      </a:r>
                      <a:endParaRPr lang="en-US" sz="2000" b="0" dirty="0"/>
                    </a:p>
                  </a:txBody>
                  <a:tcPr anchor="ctr">
                    <a:solidFill>
                      <a:srgbClr val="FFFF00"/>
                    </a:solidFill>
                  </a:tcPr>
                </a:tc>
                <a:tc>
                  <a:txBody>
                    <a:bodyPr/>
                    <a:lstStyle/>
                    <a:p>
                      <a:r>
                        <a:rPr lang="en-US" sz="1400" b="0" dirty="0"/>
                        <a:t>Internal variable/states</a:t>
                      </a:r>
                    </a:p>
                  </a:txBody>
                  <a:tcPr>
                    <a:solidFill>
                      <a:srgbClr val="FFFF00"/>
                    </a:solidFill>
                  </a:tcPr>
                </a:tc>
                <a:tc>
                  <a:txBody>
                    <a:bodyPr/>
                    <a:lstStyle/>
                    <a:p>
                      <a:pPr algn="ctr"/>
                      <a:r>
                        <a:rPr lang="en-US" sz="1400" b="1" dirty="0">
                          <a:sym typeface="Wingdings" panose="05000000000000000000" pitchFamily="2" charset="2"/>
                        </a:rPr>
                        <a:t></a:t>
                      </a:r>
                      <a:endParaRPr lang="en-US" sz="1400" b="1" dirty="0"/>
                    </a:p>
                  </a:txBody>
                  <a:tcPr>
                    <a:solidFill>
                      <a:srgbClr val="FFFF00"/>
                    </a:solidFill>
                  </a:tcPr>
                </a:tc>
                <a:tc>
                  <a:txBody>
                    <a:bodyPr/>
                    <a:lstStyle/>
                    <a:p>
                      <a:pPr algn="ctr"/>
                      <a:endParaRPr lang="en-US" sz="1400" b="1" dirty="0"/>
                    </a:p>
                  </a:txBody>
                  <a:tcPr>
                    <a:solidFill>
                      <a:srgbClr val="FFFF00"/>
                    </a:solidFill>
                  </a:tcPr>
                </a:tc>
                <a:extLst>
                  <a:ext uri="{0D108BD9-81ED-4DB2-BD59-A6C34878D82A}">
                    <a16:rowId xmlns:a16="http://schemas.microsoft.com/office/drawing/2014/main" val="10014"/>
                  </a:ext>
                </a:extLst>
              </a:tr>
              <a:tr h="215900">
                <a:tc vMerge="1">
                  <a:txBody>
                    <a:bodyPr/>
                    <a:lstStyle/>
                    <a:p>
                      <a:endParaRPr lang="en-US"/>
                    </a:p>
                  </a:txBody>
                  <a:tcPr/>
                </a:tc>
                <a:tc>
                  <a:txBody>
                    <a:bodyPr/>
                    <a:lstStyle/>
                    <a:p>
                      <a:r>
                        <a:rPr lang="en-US" sz="1400" b="0" dirty="0"/>
                        <a:t>External variable/states</a:t>
                      </a:r>
                    </a:p>
                  </a:txBody>
                  <a:tcPr>
                    <a:solidFill>
                      <a:srgbClr val="FFFF00"/>
                    </a:solidFill>
                  </a:tcPr>
                </a:tc>
                <a:tc>
                  <a:txBody>
                    <a:bodyPr/>
                    <a:lstStyle/>
                    <a:p>
                      <a:pPr algn="ctr"/>
                      <a:endParaRPr lang="en-US" sz="1400" b="1" dirty="0"/>
                    </a:p>
                  </a:txBody>
                  <a:tcPr>
                    <a:solidFill>
                      <a:srgbClr val="FFFF00"/>
                    </a:solidFill>
                  </a:tcPr>
                </a:tc>
                <a:tc>
                  <a:txBody>
                    <a:bodyPr/>
                    <a:lstStyle/>
                    <a:p>
                      <a:pPr algn="ctr"/>
                      <a:endParaRPr lang="en-US" sz="1400" b="1" dirty="0"/>
                    </a:p>
                  </a:txBody>
                  <a:tcPr>
                    <a:solidFill>
                      <a:srgbClr val="FFFF00"/>
                    </a:solidFill>
                  </a:tcPr>
                </a:tc>
                <a:extLst>
                  <a:ext uri="{0D108BD9-81ED-4DB2-BD59-A6C34878D82A}">
                    <a16:rowId xmlns:a16="http://schemas.microsoft.com/office/drawing/2014/main" val="10015"/>
                  </a:ext>
                </a:extLst>
              </a:tr>
              <a:tr h="123190">
                <a:tc vMerge="1">
                  <a:txBody>
                    <a:bodyPr/>
                    <a:lstStyle/>
                    <a:p>
                      <a:endParaRPr lang="en-US"/>
                    </a:p>
                  </a:txBody>
                  <a:tcPr/>
                </a:tc>
                <a:tc>
                  <a:txBody>
                    <a:bodyPr/>
                    <a:lstStyle/>
                    <a:p>
                      <a:r>
                        <a:rPr lang="en-US" sz="1400" b="0" dirty="0"/>
                        <a:t>Hybrid</a:t>
                      </a:r>
                    </a:p>
                  </a:txBody>
                  <a:tcPr>
                    <a:solidFill>
                      <a:srgbClr val="FFFF00"/>
                    </a:solidFill>
                  </a:tcPr>
                </a:tc>
                <a:tc>
                  <a:txBody>
                    <a:bodyPr/>
                    <a:lstStyle/>
                    <a:p>
                      <a:pPr algn="ctr"/>
                      <a:endParaRPr lang="en-US" sz="1400" b="1" dirty="0"/>
                    </a:p>
                  </a:txBody>
                  <a:tcPr>
                    <a:solidFill>
                      <a:srgbClr val="FFFF00"/>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sz="1400" b="1" dirty="0">
                          <a:solidFill>
                            <a:srgbClr val="FF0000"/>
                          </a:solidFill>
                          <a:sym typeface="Wingdings" panose="05000000000000000000" pitchFamily="2" charset="2"/>
                        </a:rPr>
                        <a:t></a:t>
                      </a:r>
                      <a:endParaRPr lang="en-US" sz="1400" b="1" dirty="0">
                        <a:solidFill>
                          <a:srgbClr val="FF0000"/>
                        </a:solidFill>
                      </a:endParaRPr>
                    </a:p>
                  </a:txBody>
                  <a:tcPr>
                    <a:solidFill>
                      <a:srgbClr val="FFFF00"/>
                    </a:solidFill>
                  </a:tcPr>
                </a:tc>
                <a:extLst>
                  <a:ext uri="{0D108BD9-81ED-4DB2-BD59-A6C34878D82A}">
                    <a16:rowId xmlns:a16="http://schemas.microsoft.com/office/drawing/2014/main" val="10016"/>
                  </a:ext>
                </a:extLst>
              </a:tr>
              <a:tr h="0">
                <a:tc vMerge="1">
                  <a:txBody>
                    <a:bodyPr/>
                    <a:lstStyle/>
                    <a:p>
                      <a:endParaRPr lang="en-US"/>
                    </a:p>
                  </a:txBody>
                  <a:tcPr/>
                </a:tc>
                <a:tc>
                  <a:txBody>
                    <a:bodyPr/>
                    <a:lstStyle/>
                    <a:p>
                      <a:r>
                        <a:rPr lang="en-US" sz="1400" b="0" dirty="0"/>
                        <a:t>Self-Referential </a:t>
                      </a:r>
                    </a:p>
                  </a:txBody>
                  <a:tcPr>
                    <a:solidFill>
                      <a:srgbClr val="FFFF00"/>
                    </a:solidFill>
                  </a:tcPr>
                </a:tc>
                <a:tc>
                  <a:txBody>
                    <a:bodyPr/>
                    <a:lstStyle/>
                    <a:p>
                      <a:pPr algn="ctr"/>
                      <a:endParaRPr lang="en-US" sz="1400" b="1" dirty="0"/>
                    </a:p>
                  </a:txBody>
                  <a:tcPr>
                    <a:solidFill>
                      <a:srgbClr val="FFFF00"/>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sz="1400" b="1" dirty="0">
                          <a:solidFill>
                            <a:srgbClr val="FF0000"/>
                          </a:solidFill>
                          <a:sym typeface="Wingdings" panose="05000000000000000000" pitchFamily="2" charset="2"/>
                        </a:rPr>
                        <a:t></a:t>
                      </a:r>
                      <a:endParaRPr lang="en-US" sz="1400" b="1" dirty="0">
                        <a:solidFill>
                          <a:srgbClr val="FF0000"/>
                        </a:solidFill>
                      </a:endParaRPr>
                    </a:p>
                  </a:txBody>
                  <a:tcPr>
                    <a:solidFill>
                      <a:srgbClr val="FFFF00"/>
                    </a:solidFill>
                  </a:tcPr>
                </a:tc>
                <a:extLst>
                  <a:ext uri="{0D108BD9-81ED-4DB2-BD59-A6C34878D82A}">
                    <a16:rowId xmlns:a16="http://schemas.microsoft.com/office/drawing/2014/main" val="10017"/>
                  </a:ext>
                </a:extLst>
              </a:tr>
            </a:tbl>
          </a:graphicData>
        </a:graphic>
      </p:graphicFrame>
      <p:sp>
        <p:nvSpPr>
          <p:cNvPr id="3" name="Oval 2"/>
          <p:cNvSpPr/>
          <p:nvPr/>
        </p:nvSpPr>
        <p:spPr>
          <a:xfrm>
            <a:off x="8205020" y="1653369"/>
            <a:ext cx="781665" cy="457200"/>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Oval 6"/>
          <p:cNvSpPr/>
          <p:nvPr/>
        </p:nvSpPr>
        <p:spPr>
          <a:xfrm>
            <a:off x="8205020" y="5962755"/>
            <a:ext cx="781665" cy="646695"/>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406262717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61169</TotalTime>
  <Words>1810</Words>
  <Application>Microsoft Office PowerPoint</Application>
  <PresentationFormat>Widescreen</PresentationFormat>
  <Paragraphs>303</Paragraphs>
  <Slides>24</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Aptos</vt:lpstr>
      <vt:lpstr>Arial</vt:lpstr>
      <vt:lpstr>Calibri</vt:lpstr>
      <vt:lpstr>Candara</vt:lpstr>
      <vt:lpstr>System Font Regular</vt:lpstr>
      <vt:lpstr>Wingdings</vt:lpstr>
      <vt:lpstr>1_Office Theme</vt:lpstr>
      <vt:lpstr>2_Office Theme</vt:lpstr>
      <vt:lpstr>Introduction to Blockchain  CSE-355</vt:lpstr>
      <vt:lpstr>Lecture 19 Tuesday, Apr 7, 2026</vt:lpstr>
      <vt:lpstr>Reducing Bitcoin Transaction Fee</vt:lpstr>
      <vt:lpstr>Transaction Batch Processing</vt:lpstr>
      <vt:lpstr>Channel Factory</vt:lpstr>
      <vt:lpstr>Channel Factory</vt:lpstr>
      <vt:lpstr>PowerPoint Presentation</vt:lpstr>
      <vt:lpstr>Blockchain Design Considerations</vt:lpstr>
      <vt:lpstr>Protocol Governance</vt:lpstr>
      <vt:lpstr>Network Access</vt:lpstr>
      <vt:lpstr>Transaction Processing</vt:lpstr>
      <vt:lpstr>Incentives</vt:lpstr>
      <vt:lpstr>Reference Model</vt:lpstr>
      <vt:lpstr>Bitcoin</vt:lpstr>
      <vt:lpstr>Lecture 20 Thursday, Apr 9, 2026</vt:lpstr>
      <vt:lpstr>Origins of Ethereum</vt:lpstr>
      <vt:lpstr>Ethereum</vt:lpstr>
      <vt:lpstr>Ethereum is Turing Complete</vt:lpstr>
      <vt:lpstr>Smart Contract</vt:lpstr>
      <vt:lpstr>Decentralized Applications</vt:lpstr>
      <vt:lpstr>Web3</vt:lpstr>
      <vt:lpstr>Benefits of DApps</vt:lpstr>
      <vt:lpstr>Drawbacks of DApps</vt:lpstr>
      <vt:lpstr>Ethereum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Naveed ul Hassan</dc:creator>
  <cp:lastModifiedBy>Dr. Ahmed Akhtar / Assistant Professor</cp:lastModifiedBy>
  <cp:revision>1412</cp:revision>
  <dcterms:created xsi:type="dcterms:W3CDTF">2025-09-04T06:31:15Z</dcterms:created>
  <dcterms:modified xsi:type="dcterms:W3CDTF">2026-04-09T09:17:57Z</dcterms:modified>
</cp:coreProperties>
</file>