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8" r:id="rId1"/>
  </p:sldMasterIdLst>
  <p:notesMasterIdLst>
    <p:notesMasterId r:id="rId49"/>
  </p:notesMasterIdLst>
  <p:sldIdLst>
    <p:sldId id="1584" r:id="rId2"/>
    <p:sldId id="1542" r:id="rId3"/>
    <p:sldId id="1541" r:id="rId4"/>
    <p:sldId id="1543" r:id="rId5"/>
    <p:sldId id="1546" r:id="rId6"/>
    <p:sldId id="1558" r:id="rId7"/>
    <p:sldId id="1560" r:id="rId8"/>
    <p:sldId id="1559" r:id="rId9"/>
    <p:sldId id="1550" r:id="rId10"/>
    <p:sldId id="1551" r:id="rId11"/>
    <p:sldId id="1552" r:id="rId12"/>
    <p:sldId id="1553" r:id="rId13"/>
    <p:sldId id="1554" r:id="rId14"/>
    <p:sldId id="1556" r:id="rId15"/>
    <p:sldId id="1544" r:id="rId16"/>
    <p:sldId id="1515" r:id="rId17"/>
    <p:sldId id="1507" r:id="rId18"/>
    <p:sldId id="1521" r:id="rId19"/>
    <p:sldId id="1531" r:id="rId20"/>
    <p:sldId id="1509" r:id="rId21"/>
    <p:sldId id="1532" r:id="rId22"/>
    <p:sldId id="1522" r:id="rId23"/>
    <p:sldId id="1534" r:id="rId24"/>
    <p:sldId id="1533" r:id="rId25"/>
    <p:sldId id="1535" r:id="rId26"/>
    <p:sldId id="1537" r:id="rId27"/>
    <p:sldId id="1511" r:id="rId28"/>
    <p:sldId id="1561" r:id="rId29"/>
    <p:sldId id="1512" r:id="rId30"/>
    <p:sldId id="1536" r:id="rId31"/>
    <p:sldId id="1508" r:id="rId32"/>
    <p:sldId id="1563" r:id="rId33"/>
    <p:sldId id="1564" r:id="rId34"/>
    <p:sldId id="1514" r:id="rId35"/>
    <p:sldId id="1566" r:id="rId36"/>
    <p:sldId id="1567" r:id="rId37"/>
    <p:sldId id="1565" r:id="rId38"/>
    <p:sldId id="1568" r:id="rId39"/>
    <p:sldId id="1437" r:id="rId40"/>
    <p:sldId id="1359" r:id="rId41"/>
    <p:sldId id="1396" r:id="rId42"/>
    <p:sldId id="1402" r:id="rId43"/>
    <p:sldId id="1583" r:id="rId44"/>
    <p:sldId id="1403" r:id="rId45"/>
    <p:sldId id="1370" r:id="rId46"/>
    <p:sldId id="1384" r:id="rId47"/>
    <p:sldId id="1569" r:id="rId48"/>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8D3E"/>
    <a:srgbClr val="0432FF"/>
    <a:srgbClr val="FFD579"/>
    <a:srgbClr val="C5FFFC"/>
    <a:srgbClr val="D5FC79"/>
    <a:srgbClr val="9437FF"/>
    <a:srgbClr val="FF40FF"/>
    <a:srgbClr val="1BA05F"/>
    <a:srgbClr val="FFECE5"/>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9F52F8-45D4-4046-8B6E-E69DCA8872B1}" v="439" dt="2026-02-16T23:02:13.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8702"/>
  </p:normalViewPr>
  <p:slideViewPr>
    <p:cSldViewPr snapToGrid="0" snapToObjects="1">
      <p:cViewPr varScale="1">
        <p:scale>
          <a:sx n="37" d="100"/>
          <a:sy n="37" d="100"/>
        </p:scale>
        <p:origin x="38" y="595"/>
      </p:cViewPr>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undo custSel addSld delSld modSld modMainMaster">
      <pc:chgData name="Ahmed Akhtar" userId="24df8cbf-c4bb-4b0f-990a-c34b46f32809" providerId="ADAL" clId="{7B603757-AF4F-447D-9CF3-5B3B3781D1BD}" dt="2026-02-16T23:02:13.947" v="757" actId="115"/>
      <pc:docMkLst>
        <pc:docMk/>
      </pc:docMkLst>
      <pc:sldChg chg="addAnim delAnim modAnim modNotesTx">
        <pc:chgData name="Ahmed Akhtar" userId="24df8cbf-c4bb-4b0f-990a-c34b46f32809" providerId="ADAL" clId="{7B603757-AF4F-447D-9CF3-5B3B3781D1BD}" dt="2026-02-09T13:02:35.725" v="226" actId="20577"/>
        <pc:sldMkLst>
          <pc:docMk/>
          <pc:sldMk cId="4244241934" sldId="1359"/>
        </pc:sldMkLst>
      </pc:sldChg>
      <pc:sldChg chg="modAnim modNotesTx">
        <pc:chgData name="Ahmed Akhtar" userId="24df8cbf-c4bb-4b0f-990a-c34b46f32809" providerId="ADAL" clId="{7B603757-AF4F-447D-9CF3-5B3B3781D1BD}" dt="2026-02-16T22:52:03.253" v="265" actId="20577"/>
        <pc:sldMkLst>
          <pc:docMk/>
          <pc:sldMk cId="39461511" sldId="1384"/>
        </pc:sldMkLst>
      </pc:sldChg>
      <pc:sldChg chg="modAnim modNotesTx">
        <pc:chgData name="Ahmed Akhtar" userId="24df8cbf-c4bb-4b0f-990a-c34b46f32809" providerId="ADAL" clId="{7B603757-AF4F-447D-9CF3-5B3B3781D1BD}" dt="2026-02-16T22:52:50.672" v="267" actId="20577"/>
        <pc:sldMkLst>
          <pc:docMk/>
          <pc:sldMk cId="146918361" sldId="1402"/>
        </pc:sldMkLst>
      </pc:sldChg>
      <pc:sldChg chg="addAnim delAnim modAnim">
        <pc:chgData name="Ahmed Akhtar" userId="24df8cbf-c4bb-4b0f-990a-c34b46f32809" providerId="ADAL" clId="{7B603757-AF4F-447D-9CF3-5B3B3781D1BD}" dt="2026-02-09T13:05:18.604" v="231"/>
        <pc:sldMkLst>
          <pc:docMk/>
          <pc:sldMk cId="306077095" sldId="1403"/>
        </pc:sldMkLst>
      </pc:sldChg>
      <pc:sldChg chg="delSp mod">
        <pc:chgData name="Ahmed Akhtar" userId="24df8cbf-c4bb-4b0f-990a-c34b46f32809" providerId="ADAL" clId="{7B603757-AF4F-447D-9CF3-5B3B3781D1BD}" dt="2026-02-09T13:02:43.367" v="227" actId="478"/>
        <pc:sldMkLst>
          <pc:docMk/>
          <pc:sldMk cId="1478827169" sldId="1437"/>
        </pc:sldMkLst>
      </pc:sldChg>
      <pc:sldChg chg="modAnim">
        <pc:chgData name="Ahmed Akhtar" userId="24df8cbf-c4bb-4b0f-990a-c34b46f32809" providerId="ADAL" clId="{7B603757-AF4F-447D-9CF3-5B3B3781D1BD}" dt="2026-02-09T12:43:29.732" v="53"/>
        <pc:sldMkLst>
          <pc:docMk/>
          <pc:sldMk cId="1360549083" sldId="1507"/>
        </pc:sldMkLst>
      </pc:sldChg>
      <pc:sldChg chg="modNotesTx">
        <pc:chgData name="Ahmed Akhtar" userId="24df8cbf-c4bb-4b0f-990a-c34b46f32809" providerId="ADAL" clId="{7B603757-AF4F-447D-9CF3-5B3B3781D1BD}" dt="2026-02-09T12:51:55.782" v="219" actId="20577"/>
        <pc:sldMkLst>
          <pc:docMk/>
          <pc:sldMk cId="3421404439" sldId="1508"/>
        </pc:sldMkLst>
      </pc:sldChg>
      <pc:sldChg chg="modAnim">
        <pc:chgData name="Ahmed Akhtar" userId="24df8cbf-c4bb-4b0f-990a-c34b46f32809" providerId="ADAL" clId="{7B603757-AF4F-447D-9CF3-5B3B3781D1BD}" dt="2026-02-09T12:49:46.799" v="54"/>
        <pc:sldMkLst>
          <pc:docMk/>
          <pc:sldMk cId="2727831252" sldId="1512"/>
        </pc:sldMkLst>
      </pc:sldChg>
      <pc:sldChg chg="modAnim">
        <pc:chgData name="Ahmed Akhtar" userId="24df8cbf-c4bb-4b0f-990a-c34b46f32809" providerId="ADAL" clId="{7B603757-AF4F-447D-9CF3-5B3B3781D1BD}" dt="2026-02-09T12:54:43.063" v="220"/>
        <pc:sldMkLst>
          <pc:docMk/>
          <pc:sldMk cId="3348469596" sldId="1514"/>
        </pc:sldMkLst>
      </pc:sldChg>
      <pc:sldChg chg="modAnim">
        <pc:chgData name="Ahmed Akhtar" userId="24df8cbf-c4bb-4b0f-990a-c34b46f32809" providerId="ADAL" clId="{7B603757-AF4F-447D-9CF3-5B3B3781D1BD}" dt="2026-02-09T12:42:00.995" v="46"/>
        <pc:sldMkLst>
          <pc:docMk/>
          <pc:sldMk cId="1767733776" sldId="1515"/>
        </pc:sldMkLst>
      </pc:sldChg>
      <pc:sldChg chg="delSp modSp mod">
        <pc:chgData name="Ahmed Akhtar" userId="24df8cbf-c4bb-4b0f-990a-c34b46f32809" providerId="ADAL" clId="{7B603757-AF4F-447D-9CF3-5B3B3781D1BD}" dt="2026-02-05T19:50:38.847" v="19" actId="478"/>
        <pc:sldMkLst>
          <pc:docMk/>
          <pc:sldMk cId="1404018315" sldId="1542"/>
        </pc:sldMkLst>
        <pc:spChg chg="mod">
          <ac:chgData name="Ahmed Akhtar" userId="24df8cbf-c4bb-4b0f-990a-c34b46f32809" providerId="ADAL" clId="{7B603757-AF4F-447D-9CF3-5B3B3781D1BD}" dt="2026-02-05T19:50:28.660" v="18" actId="2711"/>
          <ac:spMkLst>
            <pc:docMk/>
            <pc:sldMk cId="1404018315" sldId="1542"/>
            <ac:spMk id="2" creationId="{968C9F2F-9E03-4A62-A198-A3062FB80C16}"/>
          </ac:spMkLst>
        </pc:spChg>
      </pc:sldChg>
      <pc:sldChg chg="delSp modSp mod">
        <pc:chgData name="Ahmed Akhtar" userId="24df8cbf-c4bb-4b0f-990a-c34b46f32809" providerId="ADAL" clId="{7B603757-AF4F-447D-9CF3-5B3B3781D1BD}" dt="2026-02-09T12:42:24.008" v="49" actId="1076"/>
        <pc:sldMkLst>
          <pc:docMk/>
          <pc:sldMk cId="138089996" sldId="1544"/>
        </pc:sldMkLst>
        <pc:spChg chg="mod">
          <ac:chgData name="Ahmed Akhtar" userId="24df8cbf-c4bb-4b0f-990a-c34b46f32809" providerId="ADAL" clId="{7B603757-AF4F-447D-9CF3-5B3B3781D1BD}" dt="2026-02-09T12:42:24.008" v="49" actId="1076"/>
          <ac:spMkLst>
            <pc:docMk/>
            <pc:sldMk cId="138089996" sldId="1544"/>
            <ac:spMk id="2" creationId="{16BDFC5B-AF24-A5D8-9FB5-56CCA4D5D7A7}"/>
          </ac:spMkLst>
        </pc:spChg>
      </pc:sldChg>
      <pc:sldChg chg="addSp modSp mod modAnim">
        <pc:chgData name="Ahmed Akhtar" userId="24df8cbf-c4bb-4b0f-990a-c34b46f32809" providerId="ADAL" clId="{7B603757-AF4F-447D-9CF3-5B3B3781D1BD}" dt="2026-02-14T07:07:26.184" v="263" actId="20577"/>
        <pc:sldMkLst>
          <pc:docMk/>
          <pc:sldMk cId="963540089" sldId="1559"/>
        </pc:sldMkLst>
        <pc:spChg chg="add mod">
          <ac:chgData name="Ahmed Akhtar" userId="24df8cbf-c4bb-4b0f-990a-c34b46f32809" providerId="ADAL" clId="{7B603757-AF4F-447D-9CF3-5B3B3781D1BD}" dt="2026-02-14T07:07:26.184" v="263" actId="20577"/>
          <ac:spMkLst>
            <pc:docMk/>
            <pc:sldMk cId="963540089" sldId="1559"/>
            <ac:spMk id="5" creationId="{EA75A5C0-3221-0689-51E6-6BED175FA2CA}"/>
          </ac:spMkLst>
        </pc:spChg>
      </pc:sldChg>
      <pc:sldChg chg="delSp modSp mod">
        <pc:chgData name="Ahmed Akhtar" userId="24df8cbf-c4bb-4b0f-990a-c34b46f32809" providerId="ADAL" clId="{7B603757-AF4F-447D-9CF3-5B3B3781D1BD}" dt="2026-02-05T19:52:45.796" v="42" actId="2711"/>
        <pc:sldMkLst>
          <pc:docMk/>
          <pc:sldMk cId="3488771644" sldId="1564"/>
        </pc:sldMkLst>
        <pc:spChg chg="mod">
          <ac:chgData name="Ahmed Akhtar" userId="24df8cbf-c4bb-4b0f-990a-c34b46f32809" providerId="ADAL" clId="{7B603757-AF4F-447D-9CF3-5B3B3781D1BD}" dt="2026-02-05T19:52:45.796" v="42" actId="2711"/>
          <ac:spMkLst>
            <pc:docMk/>
            <pc:sldMk cId="3488771644" sldId="1564"/>
            <ac:spMk id="2" creationId="{D110660B-0176-37C7-DC4B-6DE065B0DC12}"/>
          </ac:spMkLst>
        </pc:spChg>
      </pc:sldChg>
      <pc:sldChg chg="addAnim delAnim modAnim modNotesTx">
        <pc:chgData name="Ahmed Akhtar" userId="24df8cbf-c4bb-4b0f-990a-c34b46f32809" providerId="ADAL" clId="{7B603757-AF4F-447D-9CF3-5B3B3781D1BD}" dt="2026-02-16T22:51:57.355" v="264" actId="20577"/>
        <pc:sldMkLst>
          <pc:docMk/>
          <pc:sldMk cId="3312402785" sldId="1569"/>
        </pc:sldMkLst>
      </pc:sldChg>
      <pc:sldChg chg="addSp delSp modSp mod addAnim delAnim modAnim modNotesTx">
        <pc:chgData name="Ahmed Akhtar" userId="24df8cbf-c4bb-4b0f-990a-c34b46f32809" providerId="ADAL" clId="{7B603757-AF4F-447D-9CF3-5B3B3781D1BD}" dt="2026-02-16T23:02:13.947" v="757" actId="115"/>
        <pc:sldMkLst>
          <pc:docMk/>
          <pc:sldMk cId="2244521125" sldId="1583"/>
        </pc:sldMkLst>
        <pc:spChg chg="add del mod ord">
          <ac:chgData name="Ahmed Akhtar" userId="24df8cbf-c4bb-4b0f-990a-c34b46f32809" providerId="ADAL" clId="{7B603757-AF4F-447D-9CF3-5B3B3781D1BD}" dt="2026-02-16T23:02:13.947" v="757" actId="115"/>
          <ac:spMkLst>
            <pc:docMk/>
            <pc:sldMk cId="2244521125" sldId="1583"/>
            <ac:spMk id="3" creationId="{6A8617FE-BA3A-5E25-7AD3-8067DF243A84}"/>
          </ac:spMkLst>
        </pc:spChg>
        <pc:spChg chg="add mod ord">
          <ac:chgData name="Ahmed Akhtar" userId="24df8cbf-c4bb-4b0f-990a-c34b46f32809" providerId="ADAL" clId="{7B603757-AF4F-447D-9CF3-5B3B3781D1BD}" dt="2026-02-16T23:01:38.718" v="752" actId="167"/>
          <ac:spMkLst>
            <pc:docMk/>
            <pc:sldMk cId="2244521125" sldId="1583"/>
            <ac:spMk id="4" creationId="{3635D04C-63A0-985D-9D32-8592C4D51074}"/>
          </ac:spMkLst>
        </pc:spChg>
        <pc:spChg chg="add del mod">
          <ac:chgData name="Ahmed Akhtar" userId="24df8cbf-c4bb-4b0f-990a-c34b46f32809" providerId="ADAL" clId="{7B603757-AF4F-447D-9CF3-5B3B3781D1BD}" dt="2026-02-16T22:57:25.507" v="384" actId="478"/>
          <ac:spMkLst>
            <pc:docMk/>
            <pc:sldMk cId="2244521125" sldId="1583"/>
            <ac:spMk id="7" creationId="{DCDC0399-CB19-0780-BDDA-A5A3070D5C11}"/>
          </ac:spMkLst>
        </pc:spChg>
      </pc:sldChg>
      <pc:sldChg chg="add">
        <pc:chgData name="Ahmed Akhtar" userId="24df8cbf-c4bb-4b0f-990a-c34b46f32809" providerId="ADAL" clId="{7B603757-AF4F-447D-9CF3-5B3B3781D1BD}" dt="2026-02-05T19:48:51.110" v="1"/>
        <pc:sldMkLst>
          <pc:docMk/>
          <pc:sldMk cId="2183615406" sldId="1584"/>
        </pc:sldMkLst>
      </pc:sldChg>
      <pc:sldMasterChg chg="modSp">
        <pc:chgData name="Ahmed Akhtar" userId="24df8cbf-c4bb-4b0f-990a-c34b46f32809" providerId="ADAL" clId="{7B603757-AF4F-447D-9CF3-5B3B3781D1BD}" dt="2026-02-05T19:48:31.524" v="0"/>
        <pc:sldMasterMkLst>
          <pc:docMk/>
          <pc:sldMasterMk cId="2926153553" sldId="2147483668"/>
        </pc:sldMasterMkLst>
        <pc:spChg chg="mod">
          <ac:chgData name="Ahmed Akhtar" userId="24df8cbf-c4bb-4b0f-990a-c34b46f32809" providerId="ADAL" clId="{7B603757-AF4F-447D-9CF3-5B3B3781D1BD}" dt="2026-02-05T19:48:31.524" v="0"/>
          <ac:spMkLst>
            <pc:docMk/>
            <pc:sldMasterMk cId="2926153553" sldId="2147483668"/>
            <ac:spMk id="9" creationId="{CB69E88A-7B5E-60E0-B736-7FCE9C47388C}"/>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13B30-E6E3-CF4E-BBFC-C0D557DB9A15}" type="datetimeFigureOut">
              <a:rPr lang="en-PK" smtClean="0"/>
              <a:t>17/02/2026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07DBF7-D854-5948-86B6-07B87F1D8E96}" type="slidenum">
              <a:rPr lang="en-PK" smtClean="0"/>
              <a:t>‹#›</a:t>
            </a:fld>
            <a:endParaRPr lang="en-PK"/>
          </a:p>
        </p:txBody>
      </p:sp>
    </p:spTree>
    <p:extLst>
      <p:ext uri="{BB962C8B-B14F-4D97-AF65-F5344CB8AC3E}">
        <p14:creationId xmlns:p14="http://schemas.microsoft.com/office/powerpoint/2010/main" val="1414281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pbs.org/wgbh/commandingheights/shared/minitext/ess_germanhyperinflation.html#:~:text=In%201923%2C%20at%20the%20most,surprise%20by%20the%20financial%20tornado"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Gold-backed stablecoins (modern parallel of representative money):</a:t>
            </a:r>
            <a:endParaRPr lang="en-GB" dirty="0"/>
          </a:p>
          <a:p>
            <a:r>
              <a:rPr lang="en-GB" dirty="0"/>
              <a:t>Some cryptocurrencies today (e.g., </a:t>
            </a:r>
            <a:r>
              <a:rPr lang="en-GB" b="1" dirty="0"/>
              <a:t>Pax Gold, Tether Gold</a:t>
            </a:r>
            <a:r>
              <a:rPr lang="en-GB" dirty="0"/>
              <a:t>) are marketed as being backed 1:1 by physical gold. These are essentially </a:t>
            </a:r>
            <a:r>
              <a:rPr lang="en-GB" b="1" dirty="0"/>
              <a:t>digital representative money</a:t>
            </a:r>
            <a:r>
              <a:rPr lang="en-GB" dirty="0"/>
              <a:t> on blockchains.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2) If a central bank issued a </a:t>
            </a:r>
            <a:r>
              <a:rPr lang="en-GB" b="1" dirty="0"/>
              <a:t>CBDC fully redeemable in gold</a:t>
            </a:r>
            <a:r>
              <a:rPr lang="en-GB" dirty="0"/>
              <a:t> (say 1 token = 1 gram gold), that CBDC would actually be </a:t>
            </a:r>
            <a:r>
              <a:rPr lang="en-GB" b="1" dirty="0"/>
              <a:t>representative money</a:t>
            </a:r>
            <a:r>
              <a:rPr lang="en-GB" dirty="0"/>
              <a:t>, not fiat.</a:t>
            </a:r>
          </a:p>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3</a:t>
            </a:fld>
            <a:endParaRPr lang="en-PK"/>
          </a:p>
        </p:txBody>
      </p:sp>
    </p:spTree>
    <p:extLst>
      <p:ext uri="{BB962C8B-B14F-4D97-AF65-F5344CB8AC3E}">
        <p14:creationId xmlns:p14="http://schemas.microsoft.com/office/powerpoint/2010/main" val="312989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case of cryptocurrencies, their value is maintained or increased by capping the total supply or burning some fraction of the currency in circulation</a:t>
            </a:r>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4</a:t>
            </a:fld>
            <a:endParaRPr lang="en-PK"/>
          </a:p>
        </p:txBody>
      </p:sp>
    </p:spTree>
    <p:extLst>
      <p:ext uri="{BB962C8B-B14F-4D97-AF65-F5344CB8AC3E}">
        <p14:creationId xmlns:p14="http://schemas.microsoft.com/office/powerpoint/2010/main" val="850893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Allied Powers (France, UK, Russia, Italy, Japan, US, </a:t>
            </a:r>
            <a:r>
              <a:rPr lang="en-GB" b="1" dirty="0"/>
              <a:t>Serbia, Belgium, Montenegro, Greece, Romania, Portugal, Brazil, China</a:t>
            </a:r>
            <a:r>
              <a:rPr lang="en-GB" dirty="0"/>
              <a:t>, and several others)</a:t>
            </a:r>
          </a:p>
          <a:p>
            <a:endParaRPr lang="en-GB" dirty="0"/>
          </a:p>
          <a:p>
            <a:r>
              <a:rPr lang="en-GB" dirty="0"/>
              <a:t>Central Powers (Germany, Austria, Hungary, Ottoman Empire, Bulgaria)</a:t>
            </a:r>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5</a:t>
            </a:fld>
            <a:endParaRPr lang="en-PK"/>
          </a:p>
        </p:txBody>
      </p:sp>
    </p:spTree>
    <p:extLst>
      <p:ext uri="{BB962C8B-B14F-4D97-AF65-F5344CB8AC3E}">
        <p14:creationId xmlns:p14="http://schemas.microsoft.com/office/powerpoint/2010/main" val="1749494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7A91F-4F72-3896-6EFB-D18754F32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0BC55-85B0-ED42-0421-E320D70AA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76CF88-7B65-2B05-5BFC-2B462F552D90}"/>
              </a:ext>
            </a:extLst>
          </p:cNvPr>
          <p:cNvSpPr>
            <a:spLocks noGrp="1"/>
          </p:cNvSpPr>
          <p:nvPr>
            <p:ph type="body" idx="1"/>
          </p:nvPr>
        </p:nvSpPr>
        <p:spPr/>
        <p:txBody>
          <a:bodyPr/>
          <a:lstStyle/>
          <a:p>
            <a:r>
              <a:rPr lang="en-GB" dirty="0"/>
              <a:t>https://</a:t>
            </a:r>
            <a:r>
              <a:rPr lang="en-GB" dirty="0" err="1"/>
              <a:t>en.wikipedia.org</a:t>
            </a:r>
            <a:r>
              <a:rPr lang="en-GB" dirty="0"/>
              <a:t>/wiki/</a:t>
            </a:r>
            <a:r>
              <a:rPr lang="en-GB" dirty="0" err="1"/>
              <a:t>Hyperinflation_in_the_Weimar_Republic</a:t>
            </a:r>
            <a:endParaRPr lang="en-PK" dirty="0"/>
          </a:p>
        </p:txBody>
      </p:sp>
      <p:sp>
        <p:nvSpPr>
          <p:cNvPr id="4" name="Slide Number Placeholder 3">
            <a:extLst>
              <a:ext uri="{FF2B5EF4-FFF2-40B4-BE49-F238E27FC236}">
                <a16:creationId xmlns:a16="http://schemas.microsoft.com/office/drawing/2014/main" id="{8026944D-46C6-F18E-07BC-481B5549F66C}"/>
              </a:ext>
            </a:extLst>
          </p:cNvPr>
          <p:cNvSpPr>
            <a:spLocks noGrp="1"/>
          </p:cNvSpPr>
          <p:nvPr>
            <p:ph type="sldNum" sz="quarter" idx="5"/>
          </p:nvPr>
        </p:nvSpPr>
        <p:spPr/>
        <p:txBody>
          <a:bodyPr/>
          <a:lstStyle/>
          <a:p>
            <a:fld id="{8007DBF7-D854-5948-86B6-07B87F1D8E96}" type="slidenum">
              <a:rPr lang="en-PK" smtClean="0"/>
              <a:t>6</a:t>
            </a:fld>
            <a:endParaRPr lang="en-PK"/>
          </a:p>
        </p:txBody>
      </p:sp>
    </p:spTree>
    <p:extLst>
      <p:ext uri="{BB962C8B-B14F-4D97-AF65-F5344CB8AC3E}">
        <p14:creationId xmlns:p14="http://schemas.microsoft.com/office/powerpoint/2010/main" val="2341469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8</a:t>
            </a:fld>
            <a:endParaRPr lang="en-PK"/>
          </a:p>
        </p:txBody>
      </p:sp>
    </p:spTree>
    <p:extLst>
      <p:ext uri="{BB962C8B-B14F-4D97-AF65-F5344CB8AC3E}">
        <p14:creationId xmlns:p14="http://schemas.microsoft.com/office/powerpoint/2010/main" val="487352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b="0" i="0" dirty="0">
                <a:solidFill>
                  <a:srgbClr val="000000"/>
                </a:solidFill>
                <a:effectLst/>
                <a:latin typeface="verdana" panose="020B0604030504040204" pitchFamily="34" charset="0"/>
              </a:rPr>
              <a:t>Source: The German Hyperinflation, 1923. Excerpt from Paper Money by "Adam Smith," (George J.W. Goodman), pp. 57-62.</a:t>
            </a:r>
          </a:p>
          <a:p>
            <a:r>
              <a:rPr lang="en-GB" sz="1200" b="0" i="0" dirty="0">
                <a:solidFill>
                  <a:srgbClr val="000000"/>
                </a:solidFill>
                <a:effectLst/>
                <a:latin typeface="verdana" panose="020B0604030504040204" pitchFamily="34" charset="0"/>
                <a:hlinkClick r:id="rId3"/>
              </a:rPr>
              <a:t>https://www.pbs.org/wgbh/commandingheights/shared/minitext/ess_germanhyperinflation.html#:~:text=In%201923%2C%20at%20the%20most,surprise%20by%20the%20financial%20tornado</a:t>
            </a:r>
            <a:endParaRPr lang="en-PK" sz="1800" dirty="0"/>
          </a:p>
        </p:txBody>
      </p:sp>
      <p:sp>
        <p:nvSpPr>
          <p:cNvPr id="4" name="Slide Number Placeholder 3"/>
          <p:cNvSpPr>
            <a:spLocks noGrp="1"/>
          </p:cNvSpPr>
          <p:nvPr>
            <p:ph type="sldNum" sz="quarter" idx="5"/>
          </p:nvPr>
        </p:nvSpPr>
        <p:spPr/>
        <p:txBody>
          <a:bodyPr/>
          <a:lstStyle/>
          <a:p>
            <a:fld id="{8007DBF7-D854-5948-86B6-07B87F1D8E96}" type="slidenum">
              <a:rPr lang="en-PK" smtClean="0"/>
              <a:t>14</a:t>
            </a:fld>
            <a:endParaRPr lang="en-PK"/>
          </a:p>
        </p:txBody>
      </p:sp>
    </p:spTree>
    <p:extLst>
      <p:ext uri="{BB962C8B-B14F-4D97-AF65-F5344CB8AC3E}">
        <p14:creationId xmlns:p14="http://schemas.microsoft.com/office/powerpoint/2010/main" val="1357246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sz="1200" dirty="0"/>
              <a:t>Can banks really say NO?</a:t>
            </a:r>
          </a:p>
          <a:p>
            <a:pPr marL="0" marR="0" lvl="0" indent="0" algn="l" defTabSz="914400" rtl="0" eaLnBrk="1" fontAlgn="auto" latinLnBrk="0" hangingPunct="1">
              <a:lnSpc>
                <a:spcPct val="100000"/>
              </a:lnSpc>
              <a:spcBef>
                <a:spcPts val="0"/>
              </a:spcBef>
              <a:spcAft>
                <a:spcPts val="0"/>
              </a:spcAft>
              <a:buClrTx/>
              <a:buSzTx/>
              <a:buFontTx/>
              <a:buNone/>
              <a:tabLst/>
              <a:defRPr/>
            </a:pPr>
            <a:r>
              <a:rPr lang="en-PK" sz="1200" dirty="0"/>
              <a:t>1) For specific customers 2) If they made bad investments and are about to go bankrupt</a:t>
            </a:r>
          </a:p>
        </p:txBody>
      </p:sp>
      <p:sp>
        <p:nvSpPr>
          <p:cNvPr id="4" name="Slide Number Placeholder 3"/>
          <p:cNvSpPr>
            <a:spLocks noGrp="1"/>
          </p:cNvSpPr>
          <p:nvPr>
            <p:ph type="sldNum" sz="quarter" idx="5"/>
          </p:nvPr>
        </p:nvSpPr>
        <p:spPr/>
        <p:txBody>
          <a:bodyPr/>
          <a:lstStyle/>
          <a:p>
            <a:fld id="{8007DBF7-D854-5948-86B6-07B87F1D8E96}" type="slidenum">
              <a:rPr lang="en-PK" smtClean="0"/>
              <a:t>21</a:t>
            </a:fld>
            <a:endParaRPr lang="en-PK"/>
          </a:p>
        </p:txBody>
      </p:sp>
    </p:spTree>
    <p:extLst>
      <p:ext uri="{BB962C8B-B14F-4D97-AF65-F5344CB8AC3E}">
        <p14:creationId xmlns:p14="http://schemas.microsoft.com/office/powerpoint/2010/main" val="4174807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digital token can be copied like a file. Without precautions, I could spend the same $1 token twice.</a:t>
            </a:r>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22</a:t>
            </a:fld>
            <a:endParaRPr lang="en-PK"/>
          </a:p>
        </p:txBody>
      </p:sp>
    </p:spTree>
    <p:extLst>
      <p:ext uri="{BB962C8B-B14F-4D97-AF65-F5344CB8AC3E}">
        <p14:creationId xmlns:p14="http://schemas.microsoft.com/office/powerpoint/2010/main" val="47285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b="1" dirty="0"/>
              <a:t>Solves the privacy issue that is seen in Simple E-cash</a:t>
            </a:r>
          </a:p>
        </p:txBody>
      </p:sp>
      <p:sp>
        <p:nvSpPr>
          <p:cNvPr id="4" name="Slide Number Placeholder 3"/>
          <p:cNvSpPr>
            <a:spLocks noGrp="1"/>
          </p:cNvSpPr>
          <p:nvPr>
            <p:ph type="sldNum" sz="quarter" idx="5"/>
          </p:nvPr>
        </p:nvSpPr>
        <p:spPr/>
        <p:txBody>
          <a:bodyPr/>
          <a:lstStyle/>
          <a:p>
            <a:fld id="{8007DBF7-D854-5948-86B6-07B87F1D8E96}" type="slidenum">
              <a:rPr lang="en-PK" smtClean="0"/>
              <a:t>25</a:t>
            </a:fld>
            <a:endParaRPr lang="en-PK"/>
          </a:p>
        </p:txBody>
      </p:sp>
    </p:spTree>
    <p:extLst>
      <p:ext uri="{BB962C8B-B14F-4D97-AF65-F5344CB8AC3E}">
        <p14:creationId xmlns:p14="http://schemas.microsoft.com/office/powerpoint/2010/main" val="4254876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Central Bank Digital Currencies (CBDCs) are the </a:t>
            </a:r>
            <a:r>
              <a:rPr lang="en-GB" b="1" dirty="0"/>
              <a:t>opposite vision</a:t>
            </a:r>
            <a:r>
              <a:rPr lang="en-GB" dirty="0"/>
              <a:t>:</a:t>
            </a:r>
          </a:p>
          <a:p>
            <a:r>
              <a:rPr lang="en-GB" dirty="0"/>
              <a:t>A digital form of national currency (like a digital rupee, yuan, or dollar).</a:t>
            </a:r>
          </a:p>
          <a:p>
            <a:r>
              <a:rPr lang="en-GB" dirty="0"/>
              <a:t>Issued and controlled by central banks.</a:t>
            </a:r>
          </a:p>
          <a:p>
            <a:r>
              <a:rPr lang="en-GB" dirty="0"/>
              <a:t>Transactions can be </a:t>
            </a:r>
            <a:r>
              <a:rPr lang="en-GB" b="1" dirty="0"/>
              <a:t>fully traceable</a:t>
            </a:r>
            <a:r>
              <a:rPr lang="en-GB" dirty="0"/>
              <a:t> by design.</a:t>
            </a:r>
          </a:p>
          <a:p>
            <a:r>
              <a:rPr lang="en-GB" dirty="0"/>
              <a:t>Instead of </a:t>
            </a:r>
            <a:r>
              <a:rPr lang="en-GB" dirty="0" err="1"/>
              <a:t>Chaum’s</a:t>
            </a:r>
            <a:r>
              <a:rPr lang="en-GB" dirty="0"/>
              <a:t> </a:t>
            </a:r>
            <a:r>
              <a:rPr lang="en-GB" i="1" dirty="0" err="1"/>
              <a:t>unlinkability</a:t>
            </a:r>
            <a:r>
              <a:rPr lang="en-GB" dirty="0"/>
              <a:t>, CBDCs aim for </a:t>
            </a:r>
            <a:r>
              <a:rPr lang="en-GB" b="1" dirty="0"/>
              <a:t>maximum transparency &amp; control</a:t>
            </a:r>
            <a:r>
              <a:rPr lang="en-GB" dirty="0"/>
              <a:t>.</a:t>
            </a:r>
          </a:p>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28</a:t>
            </a:fld>
            <a:endParaRPr lang="en-PK"/>
          </a:p>
        </p:txBody>
      </p:sp>
    </p:spTree>
    <p:extLst>
      <p:ext uri="{BB962C8B-B14F-4D97-AF65-F5344CB8AC3E}">
        <p14:creationId xmlns:p14="http://schemas.microsoft.com/office/powerpoint/2010/main" val="9054299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Are these features desirable for Non-digital or digital money?</a:t>
            </a:r>
            <a:endParaRPr lang="en-PK"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PK" b="1" dirty="0">
                <a:solidFill>
                  <a:srgbClr val="C00000"/>
                </a:solidFill>
              </a:rPr>
              <a:t>BOTH</a:t>
            </a:r>
            <a:endParaRPr lang="en-US" b="1" dirty="0">
              <a:solidFill>
                <a:srgbClr val="C00000"/>
              </a:solidFill>
            </a:endParaRPr>
          </a:p>
        </p:txBody>
      </p:sp>
      <p:sp>
        <p:nvSpPr>
          <p:cNvPr id="4" name="Slide Number Placeholder 3"/>
          <p:cNvSpPr>
            <a:spLocks noGrp="1"/>
          </p:cNvSpPr>
          <p:nvPr>
            <p:ph type="sldNum" sz="quarter" idx="5"/>
          </p:nvPr>
        </p:nvSpPr>
        <p:spPr/>
        <p:txBody>
          <a:bodyPr/>
          <a:lstStyle/>
          <a:p>
            <a:fld id="{8007DBF7-D854-5948-86B6-07B87F1D8E96}" type="slidenum">
              <a:rPr lang="en-PK" smtClean="0"/>
              <a:t>29</a:t>
            </a:fld>
            <a:endParaRPr lang="en-PK"/>
          </a:p>
        </p:txBody>
      </p:sp>
    </p:spTree>
    <p:extLst>
      <p:ext uri="{BB962C8B-B14F-4D97-AF65-F5344CB8AC3E}">
        <p14:creationId xmlns:p14="http://schemas.microsoft.com/office/powerpoint/2010/main" val="3740047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C00000"/>
                </a:solidFill>
              </a:rPr>
              <a:t>Who hands out money for solving puzzles?</a:t>
            </a:r>
            <a:br>
              <a:rPr lang="en-US" dirty="0">
                <a:solidFill>
                  <a:srgbClr val="C00000"/>
                </a:solidFill>
              </a:rPr>
            </a:br>
            <a:r>
              <a:rPr lang="en-US" dirty="0">
                <a:solidFill>
                  <a:srgbClr val="C00000"/>
                </a:solidFill>
              </a:rPr>
              <a:t>Coinbase transaction is included in every mined block. This is a special type of transaction that awards the reward to the public address specified by the miner.</a:t>
            </a:r>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31</a:t>
            </a:fld>
            <a:endParaRPr lang="en-PK"/>
          </a:p>
        </p:txBody>
      </p:sp>
    </p:spTree>
    <p:extLst>
      <p:ext uri="{BB962C8B-B14F-4D97-AF65-F5344CB8AC3E}">
        <p14:creationId xmlns:p14="http://schemas.microsoft.com/office/powerpoint/2010/main" val="18807459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What assures that T1 and T2 can’t be part of the same ledger?</a:t>
            </a:r>
          </a:p>
          <a:p>
            <a:r>
              <a:rPr lang="en-PK" b="1" dirty="0"/>
              <a:t>CONSENSUS</a:t>
            </a:r>
          </a:p>
          <a:p>
            <a:endParaRPr lang="en-PK"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t>Dishonest nodes may not reach consensus, and that’s okay!</a:t>
            </a:r>
            <a:endParaRPr lang="en-US" b="1" i="1" dirty="0">
              <a:solidFill>
                <a:srgbClr val="7030A0"/>
              </a:solidFill>
            </a:endParaRPr>
          </a:p>
          <a:p>
            <a:r>
              <a:rPr lang="en-PK" b="1" dirty="0"/>
              <a:t>AS LONG AS SUCH NODES ARE IN MINORITY</a:t>
            </a:r>
          </a:p>
        </p:txBody>
      </p:sp>
      <p:sp>
        <p:nvSpPr>
          <p:cNvPr id="4" name="Slide Number Placeholder 3"/>
          <p:cNvSpPr>
            <a:spLocks noGrp="1"/>
          </p:cNvSpPr>
          <p:nvPr>
            <p:ph type="sldNum" sz="quarter" idx="5"/>
          </p:nvPr>
        </p:nvSpPr>
        <p:spPr/>
        <p:txBody>
          <a:bodyPr/>
          <a:lstStyle/>
          <a:p>
            <a:fld id="{8007DBF7-D854-5948-86B6-07B87F1D8E96}" type="slidenum">
              <a:rPr lang="en-PK" smtClean="0"/>
              <a:t>34</a:t>
            </a:fld>
            <a:endParaRPr lang="en-PK"/>
          </a:p>
        </p:txBody>
      </p:sp>
    </p:spTree>
    <p:extLst>
      <p:ext uri="{BB962C8B-B14F-4D97-AF65-F5344CB8AC3E}">
        <p14:creationId xmlns:p14="http://schemas.microsoft.com/office/powerpoint/2010/main" val="21336452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7030A0"/>
                </a:solidFill>
              </a:rPr>
              <a:t>Q: What if the “work” is minimal (or none!) in a PoW blockchain?</a:t>
            </a:r>
          </a:p>
          <a:p>
            <a:r>
              <a:rPr lang="en-PK" dirty="0"/>
              <a:t>Ans: 1) H</a:t>
            </a:r>
            <a:r>
              <a:rPr lang="en-GB" dirty="0" err="1"/>
              <a:t>igher</a:t>
            </a:r>
            <a:r>
              <a:rPr lang="en-GB" dirty="0"/>
              <a:t> chance of forks' </a:t>
            </a:r>
            <a:r>
              <a:rPr lang="en-GB" dirty="0">
                <a:sym typeface="Wingdings" pitchFamily="2" charset="2"/>
              </a:rPr>
              <a:t> unstable consensus. 2) blockchain bloating too fast, 3) The supply cap will be finished quickly</a:t>
            </a:r>
          </a:p>
          <a:p>
            <a:endParaRPr lang="en-GB" dirty="0">
              <a:sym typeface="Wingdings" pitchFamily="2" charset="2"/>
            </a:endParaRPr>
          </a:p>
          <a:p>
            <a:r>
              <a:rPr lang="en-GB" dirty="0">
                <a:sym typeface="Wingdings" pitchFamily="2" charset="2"/>
              </a:rPr>
              <a:t>Q: If the work is too high to create a block  , miners will leave the system  , making it easy to do a 51% attack  low security</a:t>
            </a:r>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36</a:t>
            </a:fld>
            <a:endParaRPr lang="en-PK"/>
          </a:p>
        </p:txBody>
      </p:sp>
    </p:spTree>
    <p:extLst>
      <p:ext uri="{BB962C8B-B14F-4D97-AF65-F5344CB8AC3E}">
        <p14:creationId xmlns:p14="http://schemas.microsoft.com/office/powerpoint/2010/main" val="473786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C00000"/>
                </a:solidFill>
              </a:rPr>
              <a:t>Q: If the node is found to be cheating, it will lose its security deposit</a:t>
            </a:r>
            <a:r>
              <a:rPr lang="en-PK" dirty="0">
                <a:solidFill>
                  <a:srgbClr val="C00000"/>
                </a:solidFill>
              </a:rPr>
              <a:t>. How does a node cheat?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K" dirty="0">
              <a:solidFill>
                <a:srgbClr val="C00000"/>
              </a:solidFill>
            </a:endParaRPr>
          </a:p>
          <a:p>
            <a:r>
              <a:rPr lang="en-GB" dirty="0"/>
              <a:t>1) A validator signs </a:t>
            </a:r>
            <a:r>
              <a:rPr lang="en-GB" b="1" dirty="0"/>
              <a:t>two conflicting blocks</a:t>
            </a:r>
            <a:r>
              <a:rPr lang="en-GB" dirty="0"/>
              <a:t> for the same slot/height. This can cause forks and threaten consensus. Penalty: stake is slashed.</a:t>
            </a:r>
          </a:p>
          <a:p>
            <a:r>
              <a:rPr lang="en-US" dirty="0"/>
              <a:t>2) </a:t>
            </a:r>
            <a:r>
              <a:rPr lang="en-GB" dirty="0"/>
              <a:t>A validator includes invalid transactions (e.g., double-spends, bad signatures). The block will be rejected, and the validator may be punished.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a:t>
            </a:r>
            <a:r>
              <a:rPr lang="en-GB" dirty="0"/>
              <a:t>Downtime / inactivity </a:t>
            </a:r>
            <a:r>
              <a:rPr lang="en-GB" dirty="0">
                <a:sym typeface="Wingdings" pitchFamily="2" charset="2"/>
              </a:rPr>
              <a:t> </a:t>
            </a:r>
            <a:r>
              <a:rPr lang="en-GB" dirty="0"/>
              <a:t>validator frequently goes offline or fails to propose/attest, it loses rewards and may face gradual stake reduction</a:t>
            </a:r>
            <a:endParaRPr lang="en-US" dirty="0"/>
          </a:p>
        </p:txBody>
      </p:sp>
      <p:sp>
        <p:nvSpPr>
          <p:cNvPr id="4" name="Slide Number Placeholder 3"/>
          <p:cNvSpPr>
            <a:spLocks noGrp="1"/>
          </p:cNvSpPr>
          <p:nvPr>
            <p:ph type="sldNum" sz="quarter" idx="5"/>
          </p:nvPr>
        </p:nvSpPr>
        <p:spPr/>
        <p:txBody>
          <a:bodyPr/>
          <a:lstStyle/>
          <a:p>
            <a:fld id="{8007DBF7-D854-5948-86B6-07B87F1D8E96}" type="slidenum">
              <a:rPr lang="en-PK" smtClean="0"/>
              <a:t>37</a:t>
            </a:fld>
            <a:endParaRPr lang="en-PK"/>
          </a:p>
        </p:txBody>
      </p:sp>
    </p:spTree>
    <p:extLst>
      <p:ext uri="{BB962C8B-B14F-4D97-AF65-F5344CB8AC3E}">
        <p14:creationId xmlns:p14="http://schemas.microsoft.com/office/powerpoint/2010/main" val="2538886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Proof of Storage Mechanism</a:t>
            </a:r>
          </a:p>
          <a:p>
            <a:pPr lvl="1"/>
            <a:r>
              <a:rPr lang="en-US" dirty="0"/>
              <a:t>Nodes required to keep data in memory or on a hard drive</a:t>
            </a:r>
          </a:p>
          <a:p>
            <a:pPr lvl="1"/>
            <a:r>
              <a:rPr lang="en-US" dirty="0"/>
              <a:t>Also required to provide proof of data storage</a:t>
            </a:r>
          </a:p>
          <a:p>
            <a:pPr lvl="1"/>
            <a:r>
              <a:rPr lang="en-US" dirty="0"/>
              <a:t>Random locations are checked by the verifier</a:t>
            </a:r>
          </a:p>
          <a:p>
            <a:pPr lvl="1"/>
            <a:endParaRPr lang="en-US" dirty="0"/>
          </a:p>
          <a:p>
            <a:r>
              <a:rPr lang="en-US" b="1" dirty="0"/>
              <a:t>Example (in a different context)</a:t>
            </a:r>
          </a:p>
          <a:p>
            <a:pPr lvl="1"/>
            <a:r>
              <a:rPr lang="en-US" dirty="0"/>
              <a:t>Verifier provides free email addresses</a:t>
            </a:r>
          </a:p>
          <a:p>
            <a:pPr lvl="1"/>
            <a:r>
              <a:rPr lang="en-US" dirty="0"/>
              <a:t>Does not want to allow (large number of) fake addresses that are often used for spamming</a:t>
            </a:r>
          </a:p>
          <a:p>
            <a:pPr lvl="1"/>
            <a:r>
              <a:rPr lang="en-US" dirty="0"/>
              <a:t>Requires a user to allocate 100GB of space per address</a:t>
            </a:r>
          </a:p>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38</a:t>
            </a:fld>
            <a:endParaRPr lang="en-PK"/>
          </a:p>
        </p:txBody>
      </p:sp>
    </p:spTree>
    <p:extLst>
      <p:ext uri="{BB962C8B-B14F-4D97-AF65-F5344CB8AC3E}">
        <p14:creationId xmlns:p14="http://schemas.microsoft.com/office/powerpoint/2010/main" val="35862717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40</a:t>
            </a:fld>
            <a:endParaRPr lang="en-PK"/>
          </a:p>
        </p:txBody>
      </p:sp>
    </p:spTree>
    <p:extLst>
      <p:ext uri="{BB962C8B-B14F-4D97-AF65-F5344CB8AC3E}">
        <p14:creationId xmlns:p14="http://schemas.microsoft.com/office/powerpoint/2010/main" val="2050292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42</a:t>
            </a:fld>
            <a:endParaRPr lang="en-PK"/>
          </a:p>
        </p:txBody>
      </p:sp>
    </p:spTree>
    <p:extLst>
      <p:ext uri="{BB962C8B-B14F-4D97-AF65-F5344CB8AC3E}">
        <p14:creationId xmlns:p14="http://schemas.microsoft.com/office/powerpoint/2010/main" val="1403214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A524-38AD-7E7C-7900-76596464C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7FF1BF-B421-E6CA-3AD8-E503B2AB0F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92C77-D966-7567-2EEF-537C7B0205D6}"/>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28183458-DB70-4F9E-AA74-17A577266D99}"/>
              </a:ext>
            </a:extLst>
          </p:cNvPr>
          <p:cNvSpPr>
            <a:spLocks noGrp="1"/>
          </p:cNvSpPr>
          <p:nvPr>
            <p:ph type="sldNum" sz="quarter" idx="5"/>
          </p:nvPr>
        </p:nvSpPr>
        <p:spPr/>
        <p:txBody>
          <a:bodyPr/>
          <a:lstStyle/>
          <a:p>
            <a:fld id="{8007DBF7-D854-5948-86B6-07B87F1D8E96}" type="slidenum">
              <a:rPr lang="en-PK" smtClean="0"/>
              <a:t>43</a:t>
            </a:fld>
            <a:endParaRPr lang="en-PK"/>
          </a:p>
        </p:txBody>
      </p:sp>
    </p:spTree>
    <p:extLst>
      <p:ext uri="{BB962C8B-B14F-4D97-AF65-F5344CB8AC3E}">
        <p14:creationId xmlns:p14="http://schemas.microsoft.com/office/powerpoint/2010/main" val="14782415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46</a:t>
            </a:fld>
            <a:endParaRPr lang="en-PK"/>
          </a:p>
        </p:txBody>
      </p:sp>
    </p:spTree>
    <p:extLst>
      <p:ext uri="{BB962C8B-B14F-4D97-AF65-F5344CB8AC3E}">
        <p14:creationId xmlns:p14="http://schemas.microsoft.com/office/powerpoint/2010/main" val="3138678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6B4B4-ABF7-0994-A731-0F814FE3A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D505B-9662-4116-7304-2FE4EABFE9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5BE71-538A-CF58-0FB5-35BF64796D1E}"/>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F57E74B1-56A9-41CA-22ED-5FD4EAA1A816}"/>
              </a:ext>
            </a:extLst>
          </p:cNvPr>
          <p:cNvSpPr>
            <a:spLocks noGrp="1"/>
          </p:cNvSpPr>
          <p:nvPr>
            <p:ph type="sldNum" sz="quarter" idx="5"/>
          </p:nvPr>
        </p:nvSpPr>
        <p:spPr/>
        <p:txBody>
          <a:bodyPr/>
          <a:lstStyle/>
          <a:p>
            <a:fld id="{8007DBF7-D854-5948-86B6-07B87F1D8E96}" type="slidenum">
              <a:rPr lang="en-PK" smtClean="0"/>
              <a:t>47</a:t>
            </a:fld>
            <a:endParaRPr lang="en-PK"/>
          </a:p>
        </p:txBody>
      </p:sp>
    </p:spTree>
    <p:extLst>
      <p:ext uri="{BB962C8B-B14F-4D97-AF65-F5344CB8AC3E}">
        <p14:creationId xmlns:p14="http://schemas.microsoft.com/office/powerpoint/2010/main" val="3905877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2/17/2026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5410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2/17/2026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2859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2/17/2026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647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2/17/2026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5363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2/17/2026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9064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2/17/2026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3688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2/17/2026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3892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2/17/2026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6503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2/17/2026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428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2/17/2026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4636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2/17/2026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909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2/17/2026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615355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fr.vecteezy.com/png/46437688-sandwich-fond-transparent" TargetMode="External"/><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hyperlink" Target="https://pixabay.com/en/check-mark-tick-mark-check-correct-1292787/" TargetMode="Externa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hyperlink" Target="https://openclipart.org/detail/28690" TargetMode="External"/><Relationship Id="rId5" Type="http://schemas.openxmlformats.org/officeDocument/2006/relationships/image" Target="../media/image16.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hyperlink" Target="https://fr.vecteezy.com/png/46437688-sandwich-fond-transparent"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3.png"/><Relationship Id="rId10" Type="http://schemas.openxmlformats.org/officeDocument/2006/relationships/hyperlink" Target="https://en.wikibooks.org/wiki/Adventist_Youth_Honors_Answer_Book/Arts_and_Crafts/Currency_(United_States)" TargetMode="External"/><Relationship Id="rId4" Type="http://schemas.openxmlformats.org/officeDocument/2006/relationships/image" Target="../media/image12.png"/><Relationship Id="rId9" Type="http://schemas.openxmlformats.org/officeDocument/2006/relationships/image" Target="../media/image19.jpg"/></Relationships>
</file>

<file path=ppt/slides/_rels/slide23.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hyperlink" Target="https://fr.vecteezy.com/png/46437688-sandwich-fond-transparent" TargetMode="External"/><Relationship Id="rId5" Type="http://schemas.openxmlformats.org/officeDocument/2006/relationships/image" Target="../media/image15.png"/><Relationship Id="rId4" Type="http://schemas.openxmlformats.org/officeDocument/2006/relationships/image" Target="../media/image13.png"/><Relationship Id="rId9" Type="http://schemas.openxmlformats.org/officeDocument/2006/relationships/hyperlink" Target="https://en.wikibooks.org/wiki/Adventist_Youth_Honors_Answer_Book/Arts_and_Crafts/Currency_(United_State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1.png"/><Relationship Id="rId7" Type="http://schemas.openxmlformats.org/officeDocument/2006/relationships/hyperlink" Target="https://fr.vecteezy.com/png/46437688-sandwich-fond-transparent"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3.png"/><Relationship Id="rId10" Type="http://schemas.openxmlformats.org/officeDocument/2006/relationships/hyperlink" Target="https://en.wikibooks.org/wiki/Adventist_Youth_Honors_Answer_Book/Arts_and_Crafts/Currency_(United_States)" TargetMode="External"/><Relationship Id="rId4" Type="http://schemas.openxmlformats.org/officeDocument/2006/relationships/image" Target="../media/image12.png"/><Relationship Id="rId9"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 Id="rId9" Type="http://schemas.openxmlformats.org/officeDocument/2006/relationships/image" Target="../media/image2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218361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1340-394C-8092-5D0A-E3BCC7B6D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C9F2F-9E03-4A62-A198-A3062FB80C16}"/>
              </a:ext>
            </a:extLst>
          </p:cNvPr>
          <p:cNvSpPr>
            <a:spLocks noGrp="1"/>
          </p:cNvSpPr>
          <p:nvPr>
            <p:ph type="title"/>
          </p:nvPr>
        </p:nvSpPr>
        <p:spPr/>
        <p:txBody>
          <a:bodyPr/>
          <a:lstStyle/>
          <a:p>
            <a:r>
              <a:rPr lang="en-PK" dirty="0">
                <a:latin typeface="+mn-lt"/>
              </a:rPr>
              <a:t>Lecture 07</a:t>
            </a:r>
            <a:br>
              <a:rPr lang="en-PK" dirty="0">
                <a:latin typeface="+mn-lt"/>
              </a:rPr>
            </a:br>
            <a:r>
              <a:rPr lang="en-US" dirty="0">
                <a:latin typeface="+mn-lt"/>
              </a:rPr>
              <a:t>Tuesday</a:t>
            </a:r>
            <a:r>
              <a:rPr lang="en-PK" dirty="0">
                <a:latin typeface="+mn-lt"/>
              </a:rPr>
              <a:t>, </a:t>
            </a:r>
            <a:r>
              <a:rPr lang="en-US" dirty="0">
                <a:latin typeface="+mn-lt"/>
              </a:rPr>
              <a:t>Feb</a:t>
            </a:r>
            <a:r>
              <a:rPr lang="en-PK" dirty="0">
                <a:latin typeface="+mn-lt"/>
              </a:rPr>
              <a:t> </a:t>
            </a:r>
            <a:r>
              <a:rPr lang="en-US" dirty="0">
                <a:latin typeface="+mn-lt"/>
              </a:rPr>
              <a:t>10</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F33F174B-0761-8199-54BA-09C4CA09D63D}"/>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1404018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0C461-8996-A3DE-5D8B-FFDDA7936E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412A2-FF5D-9741-750E-5AC069C63E49}"/>
              </a:ext>
            </a:extLst>
          </p:cNvPr>
          <p:cNvSpPr>
            <a:spLocks noGrp="1"/>
          </p:cNvSpPr>
          <p:nvPr>
            <p:ph type="title"/>
          </p:nvPr>
        </p:nvSpPr>
        <p:spPr/>
        <p:txBody>
          <a:bodyPr/>
          <a:lstStyle/>
          <a:p>
            <a:r>
              <a:rPr lang="en-PK" dirty="0"/>
              <a:t>Recap: Money</a:t>
            </a:r>
          </a:p>
        </p:txBody>
      </p:sp>
      <p:sp>
        <p:nvSpPr>
          <p:cNvPr id="4" name="Content Placeholder 3">
            <a:extLst>
              <a:ext uri="{FF2B5EF4-FFF2-40B4-BE49-F238E27FC236}">
                <a16:creationId xmlns:a16="http://schemas.microsoft.com/office/drawing/2014/main" id="{CE06FBD3-629E-9738-DD25-084441930776}"/>
              </a:ext>
            </a:extLst>
          </p:cNvPr>
          <p:cNvSpPr>
            <a:spLocks noGrp="1"/>
          </p:cNvSpPr>
          <p:nvPr>
            <p:ph idx="1"/>
          </p:nvPr>
        </p:nvSpPr>
        <p:spPr/>
        <p:txBody>
          <a:bodyPr>
            <a:normAutofit/>
          </a:bodyPr>
          <a:lstStyle/>
          <a:p>
            <a:r>
              <a:rPr lang="en-US" dirty="0">
                <a:solidFill>
                  <a:srgbClr val="0432FF"/>
                </a:solidFill>
              </a:rPr>
              <a:t>Barter</a:t>
            </a:r>
            <a:r>
              <a:rPr lang="en-US" dirty="0"/>
              <a:t>: </a:t>
            </a:r>
            <a:r>
              <a:rPr lang="en-US" dirty="0">
                <a:solidFill>
                  <a:srgbClr val="C00000"/>
                </a:solidFill>
              </a:rPr>
              <a:t>Direct exchange of commodities (3-way possible)</a:t>
            </a:r>
          </a:p>
          <a:p>
            <a:r>
              <a:rPr lang="en-US" dirty="0">
                <a:solidFill>
                  <a:srgbClr val="0432FF"/>
                </a:solidFill>
              </a:rPr>
              <a:t>Commodity</a:t>
            </a:r>
          </a:p>
          <a:p>
            <a:pPr lvl="1"/>
            <a:r>
              <a:rPr lang="en-US" dirty="0">
                <a:solidFill>
                  <a:srgbClr val="C00000"/>
                </a:solidFill>
              </a:rPr>
              <a:t>Precious stones, Seashells, Copper, Gold, Tobacco, etc.</a:t>
            </a:r>
          </a:p>
          <a:p>
            <a:pPr lvl="1"/>
            <a:r>
              <a:rPr lang="en-US" dirty="0">
                <a:solidFill>
                  <a:srgbClr val="308D3E"/>
                </a:solidFill>
              </a:rPr>
              <a:t>Need Divisibility, Stability </a:t>
            </a:r>
            <a:r>
              <a:rPr lang="en-US" dirty="0">
                <a:solidFill>
                  <a:srgbClr val="C00000"/>
                </a:solidFill>
              </a:rPr>
              <a:t>+ </a:t>
            </a:r>
            <a:r>
              <a:rPr lang="en-US" dirty="0">
                <a:solidFill>
                  <a:srgbClr val="7030A0"/>
                </a:solidFill>
              </a:rPr>
              <a:t>Scarcity (it has </a:t>
            </a:r>
            <a:r>
              <a:rPr lang="en-US" b="1" dirty="0">
                <a:solidFill>
                  <a:srgbClr val="7030A0"/>
                </a:solidFill>
              </a:rPr>
              <a:t>intrinsic</a:t>
            </a:r>
            <a:r>
              <a:rPr lang="en-US" dirty="0">
                <a:solidFill>
                  <a:srgbClr val="7030A0"/>
                </a:solidFill>
              </a:rPr>
              <a:t> value!)</a:t>
            </a:r>
          </a:p>
          <a:p>
            <a:r>
              <a:rPr lang="en-US" dirty="0">
                <a:solidFill>
                  <a:srgbClr val="0432FF"/>
                </a:solidFill>
              </a:rPr>
              <a:t>Representative</a:t>
            </a:r>
          </a:p>
          <a:p>
            <a:pPr lvl="1"/>
            <a:r>
              <a:rPr lang="en-US" dirty="0">
                <a:solidFill>
                  <a:srgbClr val="C00000"/>
                </a:solidFill>
              </a:rPr>
              <a:t>Physical notes, certificates, digital (</a:t>
            </a:r>
            <a:r>
              <a:rPr lang="en-US" dirty="0">
                <a:solidFill>
                  <a:srgbClr val="0432FF"/>
                </a:solidFill>
              </a:rPr>
              <a:t>modern-day stablecoins</a:t>
            </a:r>
            <a:r>
              <a:rPr lang="en-US" dirty="0">
                <a:solidFill>
                  <a:srgbClr val="C00000"/>
                </a:solidFill>
              </a:rPr>
              <a:t>)</a:t>
            </a:r>
          </a:p>
          <a:p>
            <a:pPr lvl="1"/>
            <a:r>
              <a:rPr lang="en-US" dirty="0">
                <a:solidFill>
                  <a:srgbClr val="308D3E"/>
                </a:solidFill>
              </a:rPr>
              <a:t>No intrinsic value, but backed by some commodity of intrinsic value</a:t>
            </a:r>
          </a:p>
          <a:p>
            <a:r>
              <a:rPr lang="en-US" dirty="0">
                <a:solidFill>
                  <a:srgbClr val="0432FF"/>
                </a:solidFill>
              </a:rPr>
              <a:t>Fiat currency</a:t>
            </a:r>
          </a:p>
          <a:p>
            <a:pPr lvl="1"/>
            <a:r>
              <a:rPr lang="en-US" dirty="0">
                <a:solidFill>
                  <a:srgbClr val="C00000"/>
                </a:solidFill>
              </a:rPr>
              <a:t>Physical notes as well as in digital format</a:t>
            </a:r>
          </a:p>
          <a:p>
            <a:pPr lvl="1"/>
            <a:r>
              <a:rPr lang="en-US" dirty="0">
                <a:solidFill>
                  <a:srgbClr val="C00000"/>
                </a:solidFill>
              </a:rPr>
              <a:t>No intrinsic value, nor is it backed by a valuable commodity</a:t>
            </a:r>
          </a:p>
        </p:txBody>
      </p:sp>
      <p:sp>
        <p:nvSpPr>
          <p:cNvPr id="3" name="Slide Number Placeholder 2">
            <a:extLst>
              <a:ext uri="{FF2B5EF4-FFF2-40B4-BE49-F238E27FC236}">
                <a16:creationId xmlns:a16="http://schemas.microsoft.com/office/drawing/2014/main" id="{2791DE85-9A4A-6367-34FB-DD358C9B7E67}"/>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5" name="Rounded Rectangle 4">
            <a:extLst>
              <a:ext uri="{FF2B5EF4-FFF2-40B4-BE49-F238E27FC236}">
                <a16:creationId xmlns:a16="http://schemas.microsoft.com/office/drawing/2014/main" id="{592EA3E4-5E78-20D5-BEA2-D4DD7F755153}"/>
              </a:ext>
            </a:extLst>
          </p:cNvPr>
          <p:cNvSpPr/>
          <p:nvPr/>
        </p:nvSpPr>
        <p:spPr>
          <a:xfrm>
            <a:off x="2024850" y="6056759"/>
            <a:ext cx="8142300" cy="510778"/>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400" dirty="0">
                <a:latin typeface="Candara" panose="020E0502030303020204" pitchFamily="34" charset="0"/>
              </a:rPr>
              <a:t>USD transitioned from Representative to Fiat money in 1971</a:t>
            </a:r>
          </a:p>
        </p:txBody>
      </p:sp>
    </p:spTree>
    <p:extLst>
      <p:ext uri="{BB962C8B-B14F-4D97-AF65-F5344CB8AC3E}">
        <p14:creationId xmlns:p14="http://schemas.microsoft.com/office/powerpoint/2010/main" val="21759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dissolv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dissolve">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dissolve">
                                      <p:cBhvr>
                                        <p:cTn id="26" dur="500"/>
                                        <p:tgtEl>
                                          <p:spTgt spid="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dissolve">
                                      <p:cBhvr>
                                        <p:cTn id="31" dur="500"/>
                                        <p:tgtEl>
                                          <p:spTgt spid="4">
                                            <p:txEl>
                                              <p:pRg st="5" end="5"/>
                                            </p:txEl>
                                          </p:spTgt>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dissolv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dissolve">
                                      <p:cBhvr>
                                        <p:cTn id="40" dur="500"/>
                                        <p:tgtEl>
                                          <p:spTgt spid="4">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Effect transition="in" filter="dissolve">
                                      <p:cBhvr>
                                        <p:cTn id="45" dur="500"/>
                                        <p:tgtEl>
                                          <p:spTgt spid="4">
                                            <p:txEl>
                                              <p:pRg st="8" end="8"/>
                                            </p:txEl>
                                          </p:spTgt>
                                        </p:tgtEl>
                                      </p:cBhvr>
                                    </p:animEffect>
                                  </p:childTnLst>
                                </p:cTn>
                              </p:par>
                              <p:par>
                                <p:cTn id="46" presetID="9" presetClass="entr" presetSubtype="0" fill="hold" nodeType="with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animEffect transition="in" filter="dissolve">
                                      <p:cBhvr>
                                        <p:cTn id="48" dur="500"/>
                                        <p:tgtEl>
                                          <p:spTgt spid="4">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dissolve">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7F431-60DC-F681-1D41-97EA7EA1CEB1}"/>
              </a:ext>
            </a:extLst>
          </p:cNvPr>
          <p:cNvSpPr>
            <a:spLocks noGrp="1"/>
          </p:cNvSpPr>
          <p:nvPr>
            <p:ph type="title"/>
          </p:nvPr>
        </p:nvSpPr>
        <p:spPr/>
        <p:txBody>
          <a:bodyPr/>
          <a:lstStyle/>
          <a:p>
            <a:r>
              <a:rPr lang="en-PK" dirty="0"/>
              <a:t>Does Fiat always work?</a:t>
            </a:r>
          </a:p>
        </p:txBody>
      </p:sp>
      <p:sp>
        <p:nvSpPr>
          <p:cNvPr id="3" name="Content Placeholder 2">
            <a:extLst>
              <a:ext uri="{FF2B5EF4-FFF2-40B4-BE49-F238E27FC236}">
                <a16:creationId xmlns:a16="http://schemas.microsoft.com/office/drawing/2014/main" id="{5FB1F817-9D9D-B08C-3EDD-EDA3949728CE}"/>
              </a:ext>
            </a:extLst>
          </p:cNvPr>
          <p:cNvSpPr>
            <a:spLocks noGrp="1"/>
          </p:cNvSpPr>
          <p:nvPr>
            <p:ph idx="1"/>
          </p:nvPr>
        </p:nvSpPr>
        <p:spPr/>
        <p:txBody>
          <a:bodyPr/>
          <a:lstStyle/>
          <a:p>
            <a:r>
              <a:rPr lang="en-US" dirty="0">
                <a:solidFill>
                  <a:srgbClr val="308D3E"/>
                </a:solidFill>
              </a:rPr>
              <a:t>Recall: Fiat works on trust in the government</a:t>
            </a:r>
          </a:p>
          <a:p>
            <a:pPr lvl="1"/>
            <a:r>
              <a:rPr lang="en-US" dirty="0">
                <a:solidFill>
                  <a:srgbClr val="C00000"/>
                </a:solidFill>
              </a:rPr>
              <a:t>Not backed by any valuable commodity</a:t>
            </a:r>
          </a:p>
          <a:p>
            <a:r>
              <a:rPr lang="en-US" dirty="0">
                <a:solidFill>
                  <a:srgbClr val="0432FF"/>
                </a:solidFill>
              </a:rPr>
              <a:t>What if the trust in government is low or lost?</a:t>
            </a:r>
          </a:p>
          <a:p>
            <a:pPr lvl="1"/>
            <a:r>
              <a:rPr lang="en-US" dirty="0">
                <a:solidFill>
                  <a:srgbClr val="C00000"/>
                </a:solidFill>
              </a:rPr>
              <a:t>Sharp and uncontrolled increase in the prices of goods</a:t>
            </a:r>
          </a:p>
          <a:p>
            <a:pPr lvl="1"/>
            <a:r>
              <a:rPr lang="en-US" dirty="0">
                <a:solidFill>
                  <a:srgbClr val="C00000"/>
                </a:solidFill>
              </a:rPr>
              <a:t>Requires printing/minting even more money</a:t>
            </a:r>
          </a:p>
          <a:p>
            <a:pPr lvl="1"/>
            <a:r>
              <a:rPr lang="en-US" dirty="0">
                <a:solidFill>
                  <a:srgbClr val="C00000"/>
                </a:solidFill>
              </a:rPr>
              <a:t>Money may quickly become worthless – </a:t>
            </a:r>
            <a:r>
              <a:rPr lang="en-US" b="1" i="1" dirty="0">
                <a:solidFill>
                  <a:srgbClr val="C00000"/>
                </a:solidFill>
              </a:rPr>
              <a:t>hyperinflation</a:t>
            </a:r>
            <a:r>
              <a:rPr lang="en-US" dirty="0">
                <a:solidFill>
                  <a:srgbClr val="C00000"/>
                </a:solidFill>
              </a:rPr>
              <a:t> </a:t>
            </a:r>
          </a:p>
          <a:p>
            <a:r>
              <a:rPr lang="en-US" b="1" dirty="0">
                <a:solidFill>
                  <a:srgbClr val="7030A0"/>
                </a:solidFill>
              </a:rPr>
              <a:t>Food for thought</a:t>
            </a:r>
          </a:p>
          <a:p>
            <a:pPr lvl="1"/>
            <a:r>
              <a:rPr lang="en-US" dirty="0">
                <a:solidFill>
                  <a:srgbClr val="308D3E"/>
                </a:solidFill>
              </a:rPr>
              <a:t>How do BTC and ETH maintain (or enhance) their value?</a:t>
            </a:r>
          </a:p>
        </p:txBody>
      </p:sp>
      <p:sp>
        <p:nvSpPr>
          <p:cNvPr id="4" name="Slide Number Placeholder 3">
            <a:extLst>
              <a:ext uri="{FF2B5EF4-FFF2-40B4-BE49-F238E27FC236}">
                <a16:creationId xmlns:a16="http://schemas.microsoft.com/office/drawing/2014/main" id="{1BC40516-E8F3-93AB-7C70-7D9DE447A254}"/>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418701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dissolv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dissolv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dissolve">
                                      <p:cBhvr>
                                        <p:cTn id="26" dur="500"/>
                                        <p:tgtEl>
                                          <p:spTgt spid="3">
                                            <p:txEl>
                                              <p:pRg st="4" end="4"/>
                                            </p:txEl>
                                          </p:spTgt>
                                        </p:tgtEl>
                                      </p:cBhvr>
                                    </p:animEffect>
                                  </p:childTnLst>
                                </p:cTn>
                              </p:par>
                            </p:childTnLst>
                          </p:cTn>
                        </p:par>
                        <p:par>
                          <p:cTn id="27" fill="hold">
                            <p:stCondLst>
                              <p:cond delay="500"/>
                            </p:stCondLst>
                            <p:childTnLst>
                              <p:par>
                                <p:cTn id="28" presetID="9" presetClass="entr" presetSubtype="0" fill="hold" nodeType="after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dissolv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dissolve">
                                      <p:cBhvr>
                                        <p:cTn id="35" dur="500"/>
                                        <p:tgtEl>
                                          <p:spTgt spid="3">
                                            <p:txEl>
                                              <p:pRg st="6" end="6"/>
                                            </p:txEl>
                                          </p:spTgt>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dissolve">
                                      <p:cBhvr>
                                        <p:cTn id="3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4745-E626-7837-8FCB-1AF9631AAB7D}"/>
              </a:ext>
            </a:extLst>
          </p:cNvPr>
          <p:cNvSpPr>
            <a:spLocks noGrp="1"/>
          </p:cNvSpPr>
          <p:nvPr>
            <p:ph type="title"/>
          </p:nvPr>
        </p:nvSpPr>
        <p:spPr/>
        <p:txBody>
          <a:bodyPr/>
          <a:lstStyle/>
          <a:p>
            <a:r>
              <a:rPr lang="en-GB" dirty="0"/>
              <a:t>Hyperinflation of Germany 1923</a:t>
            </a:r>
            <a:endParaRPr lang="en-PK" dirty="0"/>
          </a:p>
        </p:txBody>
      </p:sp>
      <p:sp>
        <p:nvSpPr>
          <p:cNvPr id="3" name="Content Placeholder 2">
            <a:extLst>
              <a:ext uri="{FF2B5EF4-FFF2-40B4-BE49-F238E27FC236}">
                <a16:creationId xmlns:a16="http://schemas.microsoft.com/office/drawing/2014/main" id="{2AF64585-DA90-FA1F-3643-E2F23AEDC46E}"/>
              </a:ext>
            </a:extLst>
          </p:cNvPr>
          <p:cNvSpPr>
            <a:spLocks noGrp="1"/>
          </p:cNvSpPr>
          <p:nvPr>
            <p:ph idx="1"/>
          </p:nvPr>
        </p:nvSpPr>
        <p:spPr/>
        <p:txBody>
          <a:bodyPr>
            <a:normAutofit/>
          </a:bodyPr>
          <a:lstStyle/>
          <a:p>
            <a:pPr marL="0" indent="0">
              <a:buNone/>
            </a:pPr>
            <a:r>
              <a:rPr lang="en-GB" b="1" dirty="0"/>
              <a:t>The First World War (1914) was very expensive. Germany:</a:t>
            </a:r>
          </a:p>
          <a:p>
            <a:r>
              <a:rPr lang="en-GB" dirty="0">
                <a:solidFill>
                  <a:srgbClr val="C00000"/>
                </a:solidFill>
              </a:rPr>
              <a:t>Suspended the gold-backed currency</a:t>
            </a:r>
          </a:p>
          <a:p>
            <a:r>
              <a:rPr lang="en-GB" dirty="0">
                <a:solidFill>
                  <a:srgbClr val="308D3E"/>
                </a:solidFill>
              </a:rPr>
              <a:t>They wanted to conserve gold (for war financing)</a:t>
            </a:r>
          </a:p>
          <a:p>
            <a:r>
              <a:rPr lang="en-GB" dirty="0">
                <a:solidFill>
                  <a:srgbClr val="7030A0"/>
                </a:solidFill>
              </a:rPr>
              <a:t>Funded the war by borrowing, instead of imposing taxes</a:t>
            </a:r>
          </a:p>
          <a:p>
            <a:r>
              <a:rPr lang="en-GB" dirty="0">
                <a:solidFill>
                  <a:srgbClr val="002060"/>
                </a:solidFill>
              </a:rPr>
              <a:t>Believed they would defeat allies and impose war damages</a:t>
            </a:r>
          </a:p>
          <a:p>
            <a:r>
              <a:rPr lang="en-GB" dirty="0">
                <a:solidFill>
                  <a:srgbClr val="308D3E"/>
                </a:solidFill>
              </a:rPr>
              <a:t>And then they would be able to pay off the debt</a:t>
            </a:r>
          </a:p>
          <a:p>
            <a:r>
              <a:rPr lang="en-GB" dirty="0">
                <a:solidFill>
                  <a:srgbClr val="C00000"/>
                </a:solidFill>
              </a:rPr>
              <a:t>The German Mark against the USD declined</a:t>
            </a:r>
          </a:p>
          <a:p>
            <a:pPr lvl="1"/>
            <a:r>
              <a:rPr lang="en-GB" dirty="0"/>
              <a:t>Went from 4.2 to 7.9 per USD between 1914 and 1918</a:t>
            </a:r>
          </a:p>
          <a:p>
            <a:pPr lvl="1"/>
            <a:r>
              <a:rPr lang="en-GB" dirty="0"/>
              <a:t>This is not so bad. Yet!</a:t>
            </a:r>
          </a:p>
        </p:txBody>
      </p:sp>
      <p:sp>
        <p:nvSpPr>
          <p:cNvPr id="4" name="Slide Number Placeholder 3">
            <a:extLst>
              <a:ext uri="{FF2B5EF4-FFF2-40B4-BE49-F238E27FC236}">
                <a16:creationId xmlns:a16="http://schemas.microsoft.com/office/drawing/2014/main" id="{D3E60072-B99A-3D3C-762F-B22DB39B945F}"/>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57653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dissolve">
                                      <p:cBhvr>
                                        <p:cTn id="4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DF02F-FE2A-B7A1-840F-D48377B6A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E23023-66B8-39AB-3F7C-C5623C4CBC9D}"/>
              </a:ext>
            </a:extLst>
          </p:cNvPr>
          <p:cNvSpPr>
            <a:spLocks noGrp="1"/>
          </p:cNvSpPr>
          <p:nvPr>
            <p:ph type="title"/>
          </p:nvPr>
        </p:nvSpPr>
        <p:spPr/>
        <p:txBody>
          <a:bodyPr/>
          <a:lstStyle/>
          <a:p>
            <a:r>
              <a:rPr lang="en-GB" dirty="0"/>
              <a:t>Hyperinflation of Germany 1923</a:t>
            </a:r>
            <a:endParaRPr lang="en-PK" dirty="0"/>
          </a:p>
        </p:txBody>
      </p:sp>
      <p:sp>
        <p:nvSpPr>
          <p:cNvPr id="3" name="Content Placeholder 2">
            <a:extLst>
              <a:ext uri="{FF2B5EF4-FFF2-40B4-BE49-F238E27FC236}">
                <a16:creationId xmlns:a16="http://schemas.microsoft.com/office/drawing/2014/main" id="{A46CD234-E843-83CF-C937-66550C4AC2E6}"/>
              </a:ext>
            </a:extLst>
          </p:cNvPr>
          <p:cNvSpPr>
            <a:spLocks noGrp="1"/>
          </p:cNvSpPr>
          <p:nvPr>
            <p:ph idx="1"/>
          </p:nvPr>
        </p:nvSpPr>
        <p:spPr/>
        <p:txBody>
          <a:bodyPr>
            <a:normAutofit/>
          </a:bodyPr>
          <a:lstStyle/>
          <a:p>
            <a:r>
              <a:rPr lang="en-GB" dirty="0">
                <a:solidFill>
                  <a:srgbClr val="C00000"/>
                </a:solidFill>
              </a:rPr>
              <a:t>Germany lost the war (which ended in Nov 1918)</a:t>
            </a:r>
          </a:p>
          <a:p>
            <a:r>
              <a:rPr lang="en-GB" dirty="0">
                <a:solidFill>
                  <a:srgbClr val="7030A0"/>
                </a:solidFill>
              </a:rPr>
              <a:t>The German national debt stood at 156B Marks in 1918</a:t>
            </a:r>
          </a:p>
          <a:p>
            <a:pPr lvl="1"/>
            <a:r>
              <a:rPr lang="en-GB" dirty="0">
                <a:solidFill>
                  <a:srgbClr val="0432FF"/>
                </a:solidFill>
              </a:rPr>
              <a:t>Printed more money without any economic resources to back it</a:t>
            </a:r>
          </a:p>
          <a:p>
            <a:r>
              <a:rPr lang="en-GB" dirty="0">
                <a:solidFill>
                  <a:srgbClr val="308D3E"/>
                </a:solidFill>
              </a:rPr>
              <a:t>Treaty of Versailles (signed: 28 June 1919)</a:t>
            </a:r>
          </a:p>
          <a:p>
            <a:pPr lvl="1"/>
            <a:r>
              <a:rPr lang="en-GB" dirty="0">
                <a:solidFill>
                  <a:srgbClr val="C00000"/>
                </a:solidFill>
              </a:rPr>
              <a:t>Allies demanded 132B Gold Marks (USD 33B) in war reparations</a:t>
            </a:r>
          </a:p>
          <a:p>
            <a:pPr lvl="1"/>
            <a:r>
              <a:rPr lang="en-GB" dirty="0">
                <a:solidFill>
                  <a:srgbClr val="7030A0"/>
                </a:solidFill>
              </a:rPr>
              <a:t>Payment required in gold, foreign currency, coal, ships, etc.</a:t>
            </a:r>
          </a:p>
          <a:p>
            <a:pPr lvl="1"/>
            <a:r>
              <a:rPr lang="en-GB" dirty="0">
                <a:solidFill>
                  <a:srgbClr val="308D3E"/>
                </a:solidFill>
              </a:rPr>
              <a:t>First payment: 50B Gold-backed Marks in June 1921</a:t>
            </a:r>
          </a:p>
          <a:p>
            <a:pPr lvl="1"/>
            <a:r>
              <a:rPr lang="en-GB" dirty="0">
                <a:solidFill>
                  <a:srgbClr val="0432FF"/>
                </a:solidFill>
              </a:rPr>
              <a:t>The value of Mark decreased: 330 to a USD</a:t>
            </a:r>
          </a:p>
          <a:p>
            <a:pPr lvl="1"/>
            <a:r>
              <a:rPr lang="en-GB" dirty="0">
                <a:solidFill>
                  <a:srgbClr val="C00000"/>
                </a:solidFill>
              </a:rPr>
              <a:t>By Dec 1922, the Mark fell to 7400 to a USD</a:t>
            </a:r>
          </a:p>
        </p:txBody>
      </p:sp>
      <p:sp>
        <p:nvSpPr>
          <p:cNvPr id="4" name="Slide Number Placeholder 3">
            <a:extLst>
              <a:ext uri="{FF2B5EF4-FFF2-40B4-BE49-F238E27FC236}">
                <a16:creationId xmlns:a16="http://schemas.microsoft.com/office/drawing/2014/main" id="{FDA71C82-51EA-B80E-DEA7-A52D8664641C}"/>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20108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BD6FC-E483-5F5F-0CBD-B0EB7EF8DE20}"/>
              </a:ext>
            </a:extLst>
          </p:cNvPr>
          <p:cNvSpPr>
            <a:spLocks noGrp="1"/>
          </p:cNvSpPr>
          <p:nvPr>
            <p:ph type="title"/>
          </p:nvPr>
        </p:nvSpPr>
        <p:spPr/>
        <p:txBody>
          <a:bodyPr/>
          <a:lstStyle/>
          <a:p>
            <a:r>
              <a:rPr lang="en-GB" dirty="0"/>
              <a:t>Hyperinflation of Germany 1923</a:t>
            </a:r>
            <a:endParaRPr lang="en-PK" dirty="0"/>
          </a:p>
        </p:txBody>
      </p:sp>
      <p:sp>
        <p:nvSpPr>
          <p:cNvPr id="3" name="Content Placeholder 2">
            <a:extLst>
              <a:ext uri="{FF2B5EF4-FFF2-40B4-BE49-F238E27FC236}">
                <a16:creationId xmlns:a16="http://schemas.microsoft.com/office/drawing/2014/main" id="{25343D18-AF91-B3AF-449D-6D55B4541D5C}"/>
              </a:ext>
            </a:extLst>
          </p:cNvPr>
          <p:cNvSpPr>
            <a:spLocks noGrp="1"/>
          </p:cNvSpPr>
          <p:nvPr>
            <p:ph idx="1"/>
          </p:nvPr>
        </p:nvSpPr>
        <p:spPr/>
        <p:txBody>
          <a:bodyPr/>
          <a:lstStyle/>
          <a:p>
            <a:r>
              <a:rPr lang="en-GB" dirty="0">
                <a:solidFill>
                  <a:srgbClr val="7030A0"/>
                </a:solidFill>
              </a:rPr>
              <a:t>French and Belgian troops occupied the Ruhr valley</a:t>
            </a:r>
          </a:p>
          <a:p>
            <a:pPr lvl="1"/>
            <a:r>
              <a:rPr lang="en-GB" dirty="0">
                <a:solidFill>
                  <a:srgbClr val="308D3E"/>
                </a:solidFill>
              </a:rPr>
              <a:t>Germany's main industrial region, in January 1923</a:t>
            </a:r>
          </a:p>
          <a:p>
            <a:r>
              <a:rPr lang="en-GB" dirty="0">
                <a:solidFill>
                  <a:srgbClr val="7030A0"/>
                </a:solidFill>
              </a:rPr>
              <a:t>The occupation was to ensure the payment of reparations</a:t>
            </a:r>
          </a:p>
          <a:p>
            <a:r>
              <a:rPr lang="en-GB" dirty="0">
                <a:solidFill>
                  <a:srgbClr val="0432FF"/>
                </a:solidFill>
              </a:rPr>
              <a:t>Germans responded with the policy of passive resistance</a:t>
            </a:r>
          </a:p>
          <a:p>
            <a:pPr lvl="1"/>
            <a:r>
              <a:rPr lang="en-GB" dirty="0"/>
              <a:t>Workers stopped working, and factories were shut down</a:t>
            </a:r>
          </a:p>
          <a:p>
            <a:pPr lvl="1"/>
            <a:r>
              <a:rPr lang="en-GB" dirty="0"/>
              <a:t>Industrial productivity decreased significantly</a:t>
            </a:r>
          </a:p>
          <a:p>
            <a:pPr lvl="1"/>
            <a:r>
              <a:rPr lang="en-GB" dirty="0"/>
              <a:t>Low tax collection</a:t>
            </a:r>
          </a:p>
          <a:p>
            <a:r>
              <a:rPr lang="en-GB" dirty="0">
                <a:solidFill>
                  <a:srgbClr val="C00000"/>
                </a:solidFill>
              </a:rPr>
              <a:t>The government still had to pay workers</a:t>
            </a:r>
          </a:p>
          <a:p>
            <a:r>
              <a:rPr lang="en-GB" dirty="0">
                <a:solidFill>
                  <a:srgbClr val="C00000"/>
                </a:solidFill>
              </a:rPr>
              <a:t>They started printing more and more banknotes</a:t>
            </a:r>
          </a:p>
        </p:txBody>
      </p:sp>
      <p:sp>
        <p:nvSpPr>
          <p:cNvPr id="4" name="Slide Number Placeholder 3">
            <a:extLst>
              <a:ext uri="{FF2B5EF4-FFF2-40B4-BE49-F238E27FC236}">
                <a16:creationId xmlns:a16="http://schemas.microsoft.com/office/drawing/2014/main" id="{E737C11C-A01B-937B-0A25-42CE409D02E6}"/>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56872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DA986-3AFA-E9E0-B1F9-BBE7CA60C43A}"/>
              </a:ext>
            </a:extLst>
          </p:cNvPr>
          <p:cNvSpPr>
            <a:spLocks noGrp="1"/>
          </p:cNvSpPr>
          <p:nvPr>
            <p:ph type="title"/>
          </p:nvPr>
        </p:nvSpPr>
        <p:spPr/>
        <p:txBody>
          <a:bodyPr/>
          <a:lstStyle/>
          <a:p>
            <a:r>
              <a:rPr lang="en-GB" dirty="0"/>
              <a:t>Hyperinflation of Germany 1923</a:t>
            </a:r>
            <a:endParaRPr lang="en-PK" dirty="0"/>
          </a:p>
        </p:txBody>
      </p:sp>
      <p:sp>
        <p:nvSpPr>
          <p:cNvPr id="3" name="Slide Number Placeholder 2">
            <a:extLst>
              <a:ext uri="{FF2B5EF4-FFF2-40B4-BE49-F238E27FC236}">
                <a16:creationId xmlns:a16="http://schemas.microsoft.com/office/drawing/2014/main" id="{50ADC0AD-CADF-D3FC-6D47-94A442BA2501}"/>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8" name="Rounded Rectangle 7">
            <a:extLst>
              <a:ext uri="{FF2B5EF4-FFF2-40B4-BE49-F238E27FC236}">
                <a16:creationId xmlns:a16="http://schemas.microsoft.com/office/drawing/2014/main" id="{26D50E9C-8CAF-8335-BD38-FF8466F430E7}"/>
              </a:ext>
            </a:extLst>
          </p:cNvPr>
          <p:cNvSpPr/>
          <p:nvPr/>
        </p:nvSpPr>
        <p:spPr>
          <a:xfrm>
            <a:off x="9220108" y="2764988"/>
            <a:ext cx="2799992" cy="132802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dirty="0">
                <a:latin typeface="Candara" panose="020E0502030303020204" pitchFamily="34" charset="0"/>
              </a:rPr>
              <a:t>By November 1923, one US dollar was worth 4,210,500,000,000 German marks</a:t>
            </a:r>
          </a:p>
        </p:txBody>
      </p:sp>
      <p:pic>
        <p:nvPicPr>
          <p:cNvPr id="10" name="Picture 9" descr="A graph with a line going up&#10;&#10;AI-generated content may be incorrect.">
            <a:extLst>
              <a:ext uri="{FF2B5EF4-FFF2-40B4-BE49-F238E27FC236}">
                <a16:creationId xmlns:a16="http://schemas.microsoft.com/office/drawing/2014/main" id="{C6E79B0C-3946-2CF6-2493-585AFAB6CDE9}"/>
              </a:ext>
            </a:extLst>
          </p:cNvPr>
          <p:cNvPicPr>
            <a:picLocks noChangeAspect="1"/>
          </p:cNvPicPr>
          <p:nvPr/>
        </p:nvPicPr>
        <p:blipFill>
          <a:blip r:embed="rId3"/>
          <a:stretch>
            <a:fillRect/>
          </a:stretch>
        </p:blipFill>
        <p:spPr>
          <a:xfrm>
            <a:off x="262270" y="1298791"/>
            <a:ext cx="8520224" cy="5280139"/>
          </a:xfrm>
          <a:prstGeom prst="rect">
            <a:avLst/>
          </a:prstGeom>
        </p:spPr>
      </p:pic>
      <p:sp>
        <p:nvSpPr>
          <p:cNvPr id="5" name="TextBox 4">
            <a:extLst>
              <a:ext uri="{FF2B5EF4-FFF2-40B4-BE49-F238E27FC236}">
                <a16:creationId xmlns:a16="http://schemas.microsoft.com/office/drawing/2014/main" id="{EA75A5C0-3221-0689-51E6-6BED175FA2CA}"/>
              </a:ext>
            </a:extLst>
          </p:cNvPr>
          <p:cNvSpPr txBox="1"/>
          <p:nvPr/>
        </p:nvSpPr>
        <p:spPr>
          <a:xfrm>
            <a:off x="9220108" y="4321672"/>
            <a:ext cx="3024316" cy="923330"/>
          </a:xfrm>
          <a:prstGeom prst="rect">
            <a:avLst/>
          </a:prstGeom>
          <a:noFill/>
        </p:spPr>
        <p:txBody>
          <a:bodyPr wrap="square">
            <a:spAutoFit/>
          </a:bodyPr>
          <a:lstStyle/>
          <a:p>
            <a:r>
              <a:rPr lang="en-US" dirty="0"/>
              <a:t>Four trillion, two hundred ten billion, five hundred million German marks to a USD</a:t>
            </a:r>
            <a:endParaRPr lang="en-PK" dirty="0"/>
          </a:p>
        </p:txBody>
      </p:sp>
    </p:spTree>
    <p:extLst>
      <p:ext uri="{BB962C8B-B14F-4D97-AF65-F5344CB8AC3E}">
        <p14:creationId xmlns:p14="http://schemas.microsoft.com/office/powerpoint/2010/main" val="96354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D7907-088E-EC94-8682-5C9D79E18583}"/>
              </a:ext>
            </a:extLst>
          </p:cNvPr>
          <p:cNvSpPr>
            <a:spLocks noGrp="1"/>
          </p:cNvSpPr>
          <p:nvPr>
            <p:ph type="title"/>
          </p:nvPr>
        </p:nvSpPr>
        <p:spPr/>
        <p:txBody>
          <a:bodyPr/>
          <a:lstStyle/>
          <a:p>
            <a:r>
              <a:rPr lang="en-GB" dirty="0"/>
              <a:t>Hyperinflation of Germany 1923</a:t>
            </a:r>
            <a:endParaRPr lang="en-PK" dirty="0"/>
          </a:p>
        </p:txBody>
      </p:sp>
      <p:sp>
        <p:nvSpPr>
          <p:cNvPr id="3" name="Slide Number Placeholder 2">
            <a:extLst>
              <a:ext uri="{FF2B5EF4-FFF2-40B4-BE49-F238E27FC236}">
                <a16:creationId xmlns:a16="http://schemas.microsoft.com/office/drawing/2014/main" id="{D8B80D92-B3EF-3477-23FB-97852FC97D4D}"/>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6" name="Picture 2" descr="50 billion (50 Milliarden) marks, Plauen, 1923">
            <a:extLst>
              <a:ext uri="{FF2B5EF4-FFF2-40B4-BE49-F238E27FC236}">
                <a16:creationId xmlns:a16="http://schemas.microsoft.com/office/drawing/2014/main" id="{0F1281BB-495D-E357-71FF-47C6CCA45B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2215" y="1091136"/>
            <a:ext cx="3682135" cy="46757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50 trillion (50 Billionen, 5×1013) marks Eschweiler, 1923">
            <a:extLst>
              <a:ext uri="{FF2B5EF4-FFF2-40B4-BE49-F238E27FC236}">
                <a16:creationId xmlns:a16="http://schemas.microsoft.com/office/drawing/2014/main" id="{38B26D6C-2B49-33C6-A1DD-3713CC179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8397" y="4081264"/>
            <a:ext cx="4343964" cy="22555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5 trillion (5 Billionen, 5×1012) marks, Stuttgart, 1923">
            <a:extLst>
              <a:ext uri="{FF2B5EF4-FFF2-40B4-BE49-F238E27FC236}">
                <a16:creationId xmlns:a16="http://schemas.microsoft.com/office/drawing/2014/main" id="{7A1A4173-B850-C9C1-AB70-72648A2498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8397" y="1087120"/>
            <a:ext cx="4343964" cy="2433305"/>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a:extLst>
              <a:ext uri="{FF2B5EF4-FFF2-40B4-BE49-F238E27FC236}">
                <a16:creationId xmlns:a16="http://schemas.microsoft.com/office/drawing/2014/main" id="{43F7CAA5-EACD-A5AF-1BE6-CD9C0F31D15D}"/>
              </a:ext>
            </a:extLst>
          </p:cNvPr>
          <p:cNvSpPr/>
          <p:nvPr/>
        </p:nvSpPr>
        <p:spPr>
          <a:xfrm>
            <a:off x="10173440" y="1946228"/>
            <a:ext cx="1857155" cy="715089"/>
          </a:xfrm>
          <a:prstGeom prst="roundRect">
            <a:avLst/>
          </a:prstGeom>
          <a:solidFill>
            <a:srgbClr val="002060"/>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dirty="0">
                <a:solidFill>
                  <a:schemeClr val="bg1"/>
                </a:solidFill>
                <a:latin typeface="Candara" panose="020E0502030303020204" pitchFamily="34" charset="0"/>
              </a:rPr>
              <a:t>5 trillion marks Stuttgart, 1923</a:t>
            </a:r>
          </a:p>
        </p:txBody>
      </p:sp>
      <p:sp>
        <p:nvSpPr>
          <p:cNvPr id="10" name="Rounded Rectangle 9">
            <a:extLst>
              <a:ext uri="{FF2B5EF4-FFF2-40B4-BE49-F238E27FC236}">
                <a16:creationId xmlns:a16="http://schemas.microsoft.com/office/drawing/2014/main" id="{0459545C-2470-B8A8-F28A-8AAC0ED62173}"/>
              </a:ext>
            </a:extLst>
          </p:cNvPr>
          <p:cNvSpPr/>
          <p:nvPr/>
        </p:nvSpPr>
        <p:spPr>
          <a:xfrm>
            <a:off x="10173440" y="4851479"/>
            <a:ext cx="1857156" cy="715089"/>
          </a:xfrm>
          <a:prstGeom prst="roundRect">
            <a:avLst/>
          </a:prstGeom>
          <a:solidFill>
            <a:srgbClr val="002060"/>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dirty="0">
                <a:solidFill>
                  <a:schemeClr val="bg1"/>
                </a:solidFill>
                <a:latin typeface="Candara" panose="020E0502030303020204" pitchFamily="34" charset="0"/>
              </a:rPr>
              <a:t>50 trillion marks Eschweiler, 1923</a:t>
            </a:r>
          </a:p>
        </p:txBody>
      </p:sp>
      <p:sp>
        <p:nvSpPr>
          <p:cNvPr id="11" name="Rounded Rectangle 10">
            <a:extLst>
              <a:ext uri="{FF2B5EF4-FFF2-40B4-BE49-F238E27FC236}">
                <a16:creationId xmlns:a16="http://schemas.microsoft.com/office/drawing/2014/main" id="{D850483E-DAD6-3E3A-7E3B-3D25BEA41569}"/>
              </a:ext>
            </a:extLst>
          </p:cNvPr>
          <p:cNvSpPr/>
          <p:nvPr/>
        </p:nvSpPr>
        <p:spPr>
          <a:xfrm>
            <a:off x="439284" y="5928161"/>
            <a:ext cx="4627998" cy="408623"/>
          </a:xfrm>
          <a:prstGeom prst="roundRect">
            <a:avLst/>
          </a:prstGeom>
          <a:solidFill>
            <a:srgbClr val="002060"/>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dirty="0">
                <a:solidFill>
                  <a:schemeClr val="bg1"/>
                </a:solidFill>
                <a:latin typeface="Candara" panose="020E0502030303020204" pitchFamily="34" charset="0"/>
              </a:rPr>
              <a:t>50 billion (50 </a:t>
            </a:r>
            <a:r>
              <a:rPr lang="en-GB" dirty="0" err="1">
                <a:solidFill>
                  <a:schemeClr val="bg1"/>
                </a:solidFill>
                <a:latin typeface="Candara" panose="020E0502030303020204" pitchFamily="34" charset="0"/>
              </a:rPr>
              <a:t>Milliarden</a:t>
            </a:r>
            <a:r>
              <a:rPr lang="en-GB" dirty="0">
                <a:solidFill>
                  <a:schemeClr val="bg1"/>
                </a:solidFill>
                <a:latin typeface="Candara" panose="020E0502030303020204" pitchFamily="34" charset="0"/>
              </a:rPr>
              <a:t>) marks, Plauen, 1923</a:t>
            </a:r>
          </a:p>
        </p:txBody>
      </p:sp>
    </p:spTree>
    <p:extLst>
      <p:ext uri="{BB962C8B-B14F-4D97-AF65-F5344CB8AC3E}">
        <p14:creationId xmlns:p14="http://schemas.microsoft.com/office/powerpoint/2010/main" val="366920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dissolv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8BEA1-E8CA-ACB0-E66A-93C003606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0624EF-6F0B-56B3-AEE1-23F56D376A58}"/>
              </a:ext>
            </a:extLst>
          </p:cNvPr>
          <p:cNvSpPr>
            <a:spLocks noGrp="1"/>
          </p:cNvSpPr>
          <p:nvPr>
            <p:ph type="title"/>
          </p:nvPr>
        </p:nvSpPr>
        <p:spPr/>
        <p:txBody>
          <a:bodyPr/>
          <a:lstStyle/>
          <a:p>
            <a:r>
              <a:rPr lang="en-GB" dirty="0"/>
              <a:t>Hyperinflation of Germany 1923</a:t>
            </a:r>
            <a:endParaRPr lang="en-PK" dirty="0"/>
          </a:p>
        </p:txBody>
      </p:sp>
      <p:sp>
        <p:nvSpPr>
          <p:cNvPr id="3" name="Slide Number Placeholder 2">
            <a:extLst>
              <a:ext uri="{FF2B5EF4-FFF2-40B4-BE49-F238E27FC236}">
                <a16:creationId xmlns:a16="http://schemas.microsoft.com/office/drawing/2014/main" id="{DE62171C-1C8F-0A29-5881-7467E8C9AECF}"/>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4" name="Picture 2" descr="Using banknotes as wallpaper during German hyperinflation, 1923 - Rare  Historical Photos">
            <a:extLst>
              <a:ext uri="{FF2B5EF4-FFF2-40B4-BE49-F238E27FC236}">
                <a16:creationId xmlns:a16="http://schemas.microsoft.com/office/drawing/2014/main" id="{8A439C45-12C1-3D28-B190-6B4965438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541" y="1087120"/>
            <a:ext cx="3307884" cy="486348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woman uses banknotes to light her stove. 1923.">
            <a:extLst>
              <a:ext uri="{FF2B5EF4-FFF2-40B4-BE49-F238E27FC236}">
                <a16:creationId xmlns:a16="http://schemas.microsoft.com/office/drawing/2014/main" id="{91C57C2C-798E-FC96-0DA3-7E0E14F337C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7046" y="1087120"/>
            <a:ext cx="3368413" cy="486348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84462C9-5DF9-F198-309F-41636110359D}"/>
              </a:ext>
            </a:extLst>
          </p:cNvPr>
          <p:cNvSpPr txBox="1"/>
          <p:nvPr/>
        </p:nvSpPr>
        <p:spPr>
          <a:xfrm>
            <a:off x="2087245" y="6205969"/>
            <a:ext cx="8017510" cy="369332"/>
          </a:xfrm>
          <a:prstGeom prst="rect">
            <a:avLst/>
          </a:prstGeom>
          <a:noFill/>
        </p:spPr>
        <p:txBody>
          <a:bodyPr wrap="square">
            <a:spAutoFit/>
          </a:bodyPr>
          <a:lstStyle/>
          <a:p>
            <a:r>
              <a:rPr lang="en-GB" b="1" i="0" dirty="0">
                <a:effectLst/>
                <a:latin typeface="Candara" panose="020E0502030303020204" pitchFamily="34" charset="0"/>
              </a:rPr>
              <a:t>Source:</a:t>
            </a:r>
            <a:r>
              <a:rPr lang="en-GB" b="0" i="0" dirty="0">
                <a:effectLst/>
                <a:latin typeface="Candara" panose="020E0502030303020204" pitchFamily="34" charset="0"/>
              </a:rPr>
              <a:t> </a:t>
            </a:r>
            <a:r>
              <a:rPr lang="en-GB" b="0" i="0" dirty="0">
                <a:solidFill>
                  <a:srgbClr val="0432FF"/>
                </a:solidFill>
                <a:effectLst/>
                <a:latin typeface="Candara" panose="020E0502030303020204" pitchFamily="34" charset="0"/>
              </a:rPr>
              <a:t>https://rarehistoricalphotos.com/banknotes-german-hyperinflation-1923/</a:t>
            </a:r>
            <a:endParaRPr lang="en-PK" sz="2400" dirty="0">
              <a:solidFill>
                <a:srgbClr val="0432FF"/>
              </a:solidFill>
              <a:latin typeface="Candara" panose="020E0502030303020204" pitchFamily="34" charset="0"/>
            </a:endParaRPr>
          </a:p>
        </p:txBody>
      </p:sp>
    </p:spTree>
    <p:extLst>
      <p:ext uri="{BB962C8B-B14F-4D97-AF65-F5344CB8AC3E}">
        <p14:creationId xmlns:p14="http://schemas.microsoft.com/office/powerpoint/2010/main" val="300975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0C8AE-95AB-10C8-F73D-CA7479D67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E02251-AD78-FE25-A0E8-5ED74F9E7535}"/>
              </a:ext>
            </a:extLst>
          </p:cNvPr>
          <p:cNvSpPr>
            <a:spLocks noGrp="1"/>
          </p:cNvSpPr>
          <p:nvPr>
            <p:ph type="title"/>
          </p:nvPr>
        </p:nvSpPr>
        <p:spPr/>
        <p:txBody>
          <a:bodyPr/>
          <a:lstStyle/>
          <a:p>
            <a:r>
              <a:rPr lang="en-GB" dirty="0"/>
              <a:t>Hyperinflation of Germany 1923</a:t>
            </a:r>
            <a:endParaRPr lang="en-PK" dirty="0"/>
          </a:p>
        </p:txBody>
      </p:sp>
      <p:sp>
        <p:nvSpPr>
          <p:cNvPr id="3" name="Slide Number Placeholder 2">
            <a:extLst>
              <a:ext uri="{FF2B5EF4-FFF2-40B4-BE49-F238E27FC236}">
                <a16:creationId xmlns:a16="http://schemas.microsoft.com/office/drawing/2014/main" id="{EC8F561A-CA97-593A-C67F-CCDABCEA1CB1}"/>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9" name="TextBox 8">
            <a:extLst>
              <a:ext uri="{FF2B5EF4-FFF2-40B4-BE49-F238E27FC236}">
                <a16:creationId xmlns:a16="http://schemas.microsoft.com/office/drawing/2014/main" id="{8863F05C-0D7C-C36C-CBBF-E33E622FC40F}"/>
              </a:ext>
            </a:extLst>
          </p:cNvPr>
          <p:cNvSpPr txBox="1"/>
          <p:nvPr/>
        </p:nvSpPr>
        <p:spPr>
          <a:xfrm>
            <a:off x="2087245" y="6205969"/>
            <a:ext cx="8017510" cy="369332"/>
          </a:xfrm>
          <a:prstGeom prst="rect">
            <a:avLst/>
          </a:prstGeom>
          <a:noFill/>
        </p:spPr>
        <p:txBody>
          <a:bodyPr wrap="square">
            <a:spAutoFit/>
          </a:bodyPr>
          <a:lstStyle/>
          <a:p>
            <a:r>
              <a:rPr lang="en-GB" b="1" i="0" dirty="0">
                <a:effectLst/>
                <a:latin typeface="Candara" panose="020E0502030303020204" pitchFamily="34" charset="0"/>
              </a:rPr>
              <a:t>Source:</a:t>
            </a:r>
            <a:r>
              <a:rPr lang="en-GB" b="0" i="0" dirty="0">
                <a:effectLst/>
                <a:latin typeface="Candara" panose="020E0502030303020204" pitchFamily="34" charset="0"/>
              </a:rPr>
              <a:t> </a:t>
            </a:r>
            <a:r>
              <a:rPr lang="en-GB" b="0" i="0" dirty="0">
                <a:solidFill>
                  <a:srgbClr val="0432FF"/>
                </a:solidFill>
                <a:effectLst/>
                <a:latin typeface="Candara" panose="020E0502030303020204" pitchFamily="34" charset="0"/>
              </a:rPr>
              <a:t>https://rarehistoricalphotos.com/banknotes-german-hyperinflation-1923/</a:t>
            </a:r>
            <a:endParaRPr lang="en-PK" sz="2400" dirty="0">
              <a:solidFill>
                <a:srgbClr val="0432FF"/>
              </a:solidFill>
              <a:latin typeface="Candara" panose="020E0502030303020204" pitchFamily="34" charset="0"/>
            </a:endParaRPr>
          </a:p>
        </p:txBody>
      </p:sp>
      <p:pic>
        <p:nvPicPr>
          <p:cNvPr id="6" name="Picture 2" descr="Boys fly a kite made of banknotes. 1922.">
            <a:extLst>
              <a:ext uri="{FF2B5EF4-FFF2-40B4-BE49-F238E27FC236}">
                <a16:creationId xmlns:a16="http://schemas.microsoft.com/office/drawing/2014/main" id="{2D1106B4-512A-5CA2-C872-F46541BD5D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37583" y="1091595"/>
            <a:ext cx="6916833" cy="5114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816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D602C-4608-3FDE-B9B1-033C43F52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F6876-C9DC-F4D8-3B0F-80910FE079B4}"/>
              </a:ext>
            </a:extLst>
          </p:cNvPr>
          <p:cNvSpPr>
            <a:spLocks noGrp="1"/>
          </p:cNvSpPr>
          <p:nvPr>
            <p:ph type="title"/>
          </p:nvPr>
        </p:nvSpPr>
        <p:spPr/>
        <p:txBody>
          <a:bodyPr/>
          <a:lstStyle/>
          <a:p>
            <a:r>
              <a:rPr lang="en-GB" dirty="0"/>
              <a:t>Hyperinflation of Germany 1923</a:t>
            </a:r>
            <a:endParaRPr lang="en-PK" dirty="0"/>
          </a:p>
        </p:txBody>
      </p:sp>
      <p:sp>
        <p:nvSpPr>
          <p:cNvPr id="3" name="Slide Number Placeholder 2">
            <a:extLst>
              <a:ext uri="{FF2B5EF4-FFF2-40B4-BE49-F238E27FC236}">
                <a16:creationId xmlns:a16="http://schemas.microsoft.com/office/drawing/2014/main" id="{7150792E-CFAE-CD56-D52A-B868CDBE8788}"/>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9" name="TextBox 8">
            <a:extLst>
              <a:ext uri="{FF2B5EF4-FFF2-40B4-BE49-F238E27FC236}">
                <a16:creationId xmlns:a16="http://schemas.microsoft.com/office/drawing/2014/main" id="{4E5C07B5-21F1-B17A-089A-70EFB52CCFA8}"/>
              </a:ext>
            </a:extLst>
          </p:cNvPr>
          <p:cNvSpPr txBox="1"/>
          <p:nvPr/>
        </p:nvSpPr>
        <p:spPr>
          <a:xfrm>
            <a:off x="2499692" y="6205969"/>
            <a:ext cx="7141815" cy="372961"/>
          </a:xfrm>
          <a:prstGeom prst="rect">
            <a:avLst/>
          </a:prstGeom>
          <a:noFill/>
        </p:spPr>
        <p:txBody>
          <a:bodyPr wrap="square">
            <a:spAutoFit/>
          </a:bodyPr>
          <a:lstStyle/>
          <a:p>
            <a:r>
              <a:rPr lang="en-GB" b="1" i="0" dirty="0">
                <a:effectLst/>
                <a:latin typeface="Candara" panose="020E0502030303020204" pitchFamily="34" charset="0"/>
              </a:rPr>
              <a:t>Source:</a:t>
            </a:r>
            <a:r>
              <a:rPr lang="en-GB" b="0" i="0" dirty="0">
                <a:effectLst/>
                <a:latin typeface="Candara" panose="020E0502030303020204" pitchFamily="34" charset="0"/>
              </a:rPr>
              <a:t> </a:t>
            </a:r>
            <a:r>
              <a:rPr lang="en-GB" b="0" i="0" dirty="0">
                <a:solidFill>
                  <a:srgbClr val="0432FF"/>
                </a:solidFill>
                <a:effectLst/>
                <a:latin typeface="Candara" panose="020E0502030303020204" pitchFamily="34" charset="0"/>
              </a:rPr>
              <a:t>https://</a:t>
            </a:r>
            <a:r>
              <a:rPr lang="en-GB" b="0" i="0" dirty="0" err="1">
                <a:solidFill>
                  <a:srgbClr val="0432FF"/>
                </a:solidFill>
                <a:effectLst/>
                <a:latin typeface="Candara" panose="020E0502030303020204" pitchFamily="34" charset="0"/>
              </a:rPr>
              <a:t>lawliberty.org</a:t>
            </a:r>
            <a:r>
              <a:rPr lang="en-GB" b="0" i="0" dirty="0">
                <a:solidFill>
                  <a:srgbClr val="0432FF"/>
                </a:solidFill>
                <a:effectLst/>
                <a:latin typeface="Candara" panose="020E0502030303020204" pitchFamily="34" charset="0"/>
              </a:rPr>
              <a:t>/monetary-lessons-from-</a:t>
            </a:r>
            <a:r>
              <a:rPr lang="en-GB" b="0" i="0" dirty="0" err="1">
                <a:solidFill>
                  <a:srgbClr val="0432FF"/>
                </a:solidFill>
                <a:effectLst/>
                <a:latin typeface="Candara" panose="020E0502030303020204" pitchFamily="34" charset="0"/>
              </a:rPr>
              <a:t>weimar</a:t>
            </a:r>
            <a:r>
              <a:rPr lang="en-GB" b="0" i="0" dirty="0">
                <a:solidFill>
                  <a:srgbClr val="0432FF"/>
                </a:solidFill>
                <a:effectLst/>
                <a:latin typeface="Candara" panose="020E0502030303020204" pitchFamily="34" charset="0"/>
              </a:rPr>
              <a:t>-</a:t>
            </a:r>
            <a:r>
              <a:rPr lang="en-GB" b="0" i="0" dirty="0" err="1">
                <a:solidFill>
                  <a:srgbClr val="0432FF"/>
                </a:solidFill>
                <a:effectLst/>
                <a:latin typeface="Candara" panose="020E0502030303020204" pitchFamily="34" charset="0"/>
              </a:rPr>
              <a:t>germany</a:t>
            </a:r>
            <a:r>
              <a:rPr lang="en-GB" b="0" i="0" dirty="0">
                <a:solidFill>
                  <a:srgbClr val="0432FF"/>
                </a:solidFill>
                <a:effectLst/>
                <a:latin typeface="Candara" panose="020E0502030303020204" pitchFamily="34" charset="0"/>
              </a:rPr>
              <a:t>/</a:t>
            </a:r>
            <a:endParaRPr lang="en-PK" sz="2400" dirty="0">
              <a:solidFill>
                <a:srgbClr val="0432FF"/>
              </a:solidFill>
              <a:latin typeface="Candara" panose="020E0502030303020204" pitchFamily="34" charset="0"/>
            </a:endParaRPr>
          </a:p>
        </p:txBody>
      </p:sp>
      <p:pic>
        <p:nvPicPr>
          <p:cNvPr id="4" name="Picture 6" descr="GettyImages-162345220 (1)">
            <a:extLst>
              <a:ext uri="{FF2B5EF4-FFF2-40B4-BE49-F238E27FC236}">
                <a16:creationId xmlns:a16="http://schemas.microsoft.com/office/drawing/2014/main" id="{ED2B3EA9-6D24-70CE-6C78-FFAA44E712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453" y="1087782"/>
            <a:ext cx="10215093" cy="5118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494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95C51-6074-C88A-F909-C3D1BDB70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63168D-0B92-F28B-0716-29775FA1CA57}"/>
              </a:ext>
            </a:extLst>
          </p:cNvPr>
          <p:cNvSpPr>
            <a:spLocks noGrp="1"/>
          </p:cNvSpPr>
          <p:nvPr>
            <p:ph type="title"/>
          </p:nvPr>
        </p:nvSpPr>
        <p:spPr/>
        <p:txBody>
          <a:bodyPr/>
          <a:lstStyle/>
          <a:p>
            <a:r>
              <a:rPr lang="en-GB" dirty="0"/>
              <a:t>Hyperinflation of Germany 1923</a:t>
            </a:r>
            <a:endParaRPr lang="en-PK" dirty="0"/>
          </a:p>
        </p:txBody>
      </p:sp>
      <p:sp>
        <p:nvSpPr>
          <p:cNvPr id="3" name="Slide Number Placeholder 2">
            <a:extLst>
              <a:ext uri="{FF2B5EF4-FFF2-40B4-BE49-F238E27FC236}">
                <a16:creationId xmlns:a16="http://schemas.microsoft.com/office/drawing/2014/main" id="{89FC5AEA-0423-F9C0-2E76-CF91D432028B}"/>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9" name="TextBox 8">
            <a:extLst>
              <a:ext uri="{FF2B5EF4-FFF2-40B4-BE49-F238E27FC236}">
                <a16:creationId xmlns:a16="http://schemas.microsoft.com/office/drawing/2014/main" id="{AE4ACA05-3D7F-853D-954E-5CDFA5A6A4A2}"/>
              </a:ext>
            </a:extLst>
          </p:cNvPr>
          <p:cNvSpPr txBox="1"/>
          <p:nvPr/>
        </p:nvSpPr>
        <p:spPr>
          <a:xfrm>
            <a:off x="785948" y="6057113"/>
            <a:ext cx="10620104" cy="369332"/>
          </a:xfrm>
          <a:prstGeom prst="rect">
            <a:avLst/>
          </a:prstGeom>
          <a:noFill/>
        </p:spPr>
        <p:txBody>
          <a:bodyPr wrap="square">
            <a:spAutoFit/>
          </a:bodyPr>
          <a:lstStyle/>
          <a:p>
            <a:r>
              <a:rPr lang="en-GB" b="1" i="0" dirty="0">
                <a:effectLst/>
                <a:latin typeface="Candara" panose="020E0502030303020204" pitchFamily="34" charset="0"/>
              </a:rPr>
              <a:t>Source:</a:t>
            </a:r>
            <a:r>
              <a:rPr lang="en-GB" b="0" i="0" dirty="0">
                <a:effectLst/>
                <a:latin typeface="Candara" panose="020E0502030303020204" pitchFamily="34" charset="0"/>
              </a:rPr>
              <a:t> </a:t>
            </a:r>
            <a:r>
              <a:rPr lang="en-GB" b="0" i="0" dirty="0">
                <a:solidFill>
                  <a:srgbClr val="0432FF"/>
                </a:solidFill>
                <a:effectLst/>
                <a:latin typeface="Candara" panose="020E0502030303020204" pitchFamily="34" charset="0"/>
              </a:rPr>
              <a:t>https://</a:t>
            </a:r>
            <a:r>
              <a:rPr lang="en-GB" b="0" i="0" dirty="0" err="1">
                <a:solidFill>
                  <a:srgbClr val="0432FF"/>
                </a:solidFill>
                <a:effectLst/>
                <a:latin typeface="Candara" panose="020E0502030303020204" pitchFamily="34" charset="0"/>
              </a:rPr>
              <a:t>keripeardon.wordpress.com</a:t>
            </a:r>
            <a:r>
              <a:rPr lang="en-GB" b="0" i="0" dirty="0">
                <a:solidFill>
                  <a:srgbClr val="0432FF"/>
                </a:solidFill>
                <a:effectLst/>
                <a:latin typeface="Candara" panose="020E0502030303020204" pitchFamily="34" charset="0"/>
              </a:rPr>
              <a:t>/2013/06/01/wheelbarrows-of-money-and-the-</a:t>
            </a:r>
            <a:r>
              <a:rPr lang="en-GB" b="0" i="0" dirty="0" err="1">
                <a:solidFill>
                  <a:srgbClr val="0432FF"/>
                </a:solidFill>
                <a:effectLst/>
                <a:latin typeface="Candara" panose="020E0502030303020204" pitchFamily="34" charset="0"/>
              </a:rPr>
              <a:t>weimar</a:t>
            </a:r>
            <a:r>
              <a:rPr lang="en-GB" b="0" i="0" dirty="0">
                <a:solidFill>
                  <a:srgbClr val="0432FF"/>
                </a:solidFill>
                <a:effectLst/>
                <a:latin typeface="Candara" panose="020E0502030303020204" pitchFamily="34" charset="0"/>
              </a:rPr>
              <a:t>-republic/</a:t>
            </a:r>
            <a:endParaRPr lang="en-PK" sz="2400" dirty="0">
              <a:solidFill>
                <a:srgbClr val="0432FF"/>
              </a:solidFill>
              <a:latin typeface="Candara" panose="020E0502030303020204" pitchFamily="34" charset="0"/>
            </a:endParaRPr>
          </a:p>
        </p:txBody>
      </p:sp>
      <p:pic>
        <p:nvPicPr>
          <p:cNvPr id="5" name="Picture 2" descr="Das Archivbild von 1923 zeigt das Abwiegen der Geldscheine, die während der Inflation nur noch Makulatur waren. Geldscheine waren zur Zeit der großen Inflation von 1919 bis 1923 kaum mehr Wert als Papier. Ein Liter Milch kostete 26 Milliarden Mark, für Brot mußten die Menschen 105 Milliarden Mark zusammentragen. Erst mit Einführung der Rentenmark am 16.11.1923 schöpften die verarmten Menschen wieder Vertrauen in den Wert des Geldes. dpa (zu dpa-Korr: &quot;Vor 75 Jahren - Wunder der Rentenmark beendet Jahre der Inflation&quot; vom 12.11.1998)   nur s/w">
            <a:extLst>
              <a:ext uri="{FF2B5EF4-FFF2-40B4-BE49-F238E27FC236}">
                <a16:creationId xmlns:a16="http://schemas.microsoft.com/office/drawing/2014/main" id="{5780BC7B-41A0-F82B-2848-60E37306D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6032" y="1087120"/>
            <a:ext cx="6719935" cy="4927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5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8905-1845-9449-887A-A526E23415EE}"/>
              </a:ext>
            </a:extLst>
          </p:cNvPr>
          <p:cNvSpPr>
            <a:spLocks noGrp="1"/>
          </p:cNvSpPr>
          <p:nvPr>
            <p:ph type="title"/>
          </p:nvPr>
        </p:nvSpPr>
        <p:spPr/>
        <p:txBody>
          <a:bodyPr/>
          <a:lstStyle/>
          <a:p>
            <a:r>
              <a:rPr lang="en-GB" dirty="0"/>
              <a:t>Hyperinflation of Germany 1923</a:t>
            </a:r>
            <a:endParaRPr lang="en-PK" dirty="0"/>
          </a:p>
        </p:txBody>
      </p:sp>
      <p:sp>
        <p:nvSpPr>
          <p:cNvPr id="4" name="Slide Number Placeholder 3">
            <a:extLst>
              <a:ext uri="{FF2B5EF4-FFF2-40B4-BE49-F238E27FC236}">
                <a16:creationId xmlns:a16="http://schemas.microsoft.com/office/drawing/2014/main" id="{6DD85B20-CE58-808B-0E33-C3A731756CBA}"/>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5" name="Rounded Rectangle 4">
            <a:extLst>
              <a:ext uri="{FF2B5EF4-FFF2-40B4-BE49-F238E27FC236}">
                <a16:creationId xmlns:a16="http://schemas.microsoft.com/office/drawing/2014/main" id="{335E7EE8-FABB-B79D-0A2A-4DF432DDADA1}"/>
              </a:ext>
            </a:extLst>
          </p:cNvPr>
          <p:cNvSpPr/>
          <p:nvPr/>
        </p:nvSpPr>
        <p:spPr>
          <a:xfrm>
            <a:off x="138223" y="1087120"/>
            <a:ext cx="11915553" cy="2145268"/>
          </a:xfrm>
          <a:prstGeom prst="roundRect">
            <a:avLst/>
          </a:prstGeom>
          <a:solidFill>
            <a:srgbClr val="002060"/>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400" i="1" dirty="0">
                <a:solidFill>
                  <a:schemeClr val="accent6">
                    <a:lumMod val="60000"/>
                    <a:lumOff val="40000"/>
                  </a:schemeClr>
                </a:solidFill>
                <a:latin typeface="Candara" panose="020E0502030303020204" pitchFamily="34" charset="0"/>
              </a:rPr>
              <a:t>“My father was a lawyer,</a:t>
            </a:r>
            <a:r>
              <a:rPr lang="en-GB" sz="2400" dirty="0">
                <a:solidFill>
                  <a:schemeClr val="accent6">
                    <a:lumMod val="60000"/>
                    <a:lumOff val="40000"/>
                  </a:schemeClr>
                </a:solidFill>
                <a:latin typeface="Candara" panose="020E0502030303020204" pitchFamily="34" charset="0"/>
              </a:rPr>
              <a:t>” says Walter Levy, an internationally known German-born oil consultant in New York, “</a:t>
            </a:r>
            <a:r>
              <a:rPr lang="en-GB" sz="2400" i="1" dirty="0">
                <a:solidFill>
                  <a:schemeClr val="accent6">
                    <a:lumMod val="60000"/>
                    <a:lumOff val="40000"/>
                  </a:schemeClr>
                </a:solidFill>
                <a:latin typeface="Candara" panose="020E0502030303020204" pitchFamily="34" charset="0"/>
              </a:rPr>
              <a:t>and he had taken out an insurance policy in 1903, and every month he had made the payments faithfully. It was a 20-year policy, and when it came due, …</a:t>
            </a:r>
          </a:p>
          <a:p>
            <a:pPr algn="ctr"/>
            <a:endParaRPr lang="en-GB" sz="2400" dirty="0">
              <a:solidFill>
                <a:schemeClr val="bg1"/>
              </a:solidFill>
              <a:latin typeface="Candara" panose="020E0502030303020204" pitchFamily="34" charset="0"/>
            </a:endParaRPr>
          </a:p>
          <a:p>
            <a:pPr algn="ctr"/>
            <a:r>
              <a:rPr lang="en-GB" sz="2400" b="1" i="1" dirty="0">
                <a:solidFill>
                  <a:schemeClr val="accent6">
                    <a:lumMod val="60000"/>
                    <a:lumOff val="40000"/>
                  </a:schemeClr>
                </a:solidFill>
                <a:latin typeface="Candara" panose="020E0502030303020204" pitchFamily="34" charset="0"/>
              </a:rPr>
              <a:t>he cashed it in and bought a single loaf of bread</a:t>
            </a:r>
            <a:r>
              <a:rPr lang="en-GB" sz="2400" i="1" dirty="0">
                <a:solidFill>
                  <a:schemeClr val="accent6">
                    <a:lumMod val="60000"/>
                    <a:lumOff val="40000"/>
                  </a:schemeClr>
                </a:solidFill>
                <a:latin typeface="Candara" panose="020E0502030303020204" pitchFamily="34" charset="0"/>
              </a:rPr>
              <a:t>.”</a:t>
            </a:r>
            <a:endParaRPr lang="en-GB" sz="2400" dirty="0">
              <a:solidFill>
                <a:schemeClr val="accent6">
                  <a:lumMod val="60000"/>
                  <a:lumOff val="40000"/>
                </a:schemeClr>
              </a:solidFill>
              <a:latin typeface="Candara" panose="020E0502030303020204" pitchFamily="34" charset="0"/>
            </a:endParaRPr>
          </a:p>
        </p:txBody>
      </p:sp>
      <p:sp>
        <p:nvSpPr>
          <p:cNvPr id="6" name="Rounded Rectangle 5">
            <a:extLst>
              <a:ext uri="{FF2B5EF4-FFF2-40B4-BE49-F238E27FC236}">
                <a16:creationId xmlns:a16="http://schemas.microsoft.com/office/drawing/2014/main" id="{63C282BD-08B0-BC7B-ED21-4127ACEC0922}"/>
              </a:ext>
            </a:extLst>
          </p:cNvPr>
          <p:cNvSpPr/>
          <p:nvPr/>
        </p:nvSpPr>
        <p:spPr>
          <a:xfrm>
            <a:off x="138223" y="3859606"/>
            <a:ext cx="11915553" cy="2145268"/>
          </a:xfrm>
          <a:prstGeom prst="roundRect">
            <a:avLst/>
          </a:prstGeom>
          <a:solidFill>
            <a:schemeClr val="accent4">
              <a:lumMod val="60000"/>
              <a:lumOff val="4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400" i="1" dirty="0">
                <a:solidFill>
                  <a:srgbClr val="C00000"/>
                </a:solidFill>
                <a:latin typeface="Candara" panose="020E0502030303020204" pitchFamily="34" charset="0"/>
              </a:rPr>
              <a:t>The Berlin publisher Leopold </a:t>
            </a:r>
            <a:r>
              <a:rPr lang="en-GB" sz="2400" i="1" dirty="0" err="1">
                <a:solidFill>
                  <a:srgbClr val="C00000"/>
                </a:solidFill>
                <a:latin typeface="Candara" panose="020E0502030303020204" pitchFamily="34" charset="0"/>
              </a:rPr>
              <a:t>Ullstein</a:t>
            </a:r>
            <a:r>
              <a:rPr lang="en-GB" sz="2400" i="1" dirty="0">
                <a:solidFill>
                  <a:srgbClr val="C00000"/>
                </a:solidFill>
                <a:latin typeface="Candara" panose="020E0502030303020204" pitchFamily="34" charset="0"/>
              </a:rPr>
              <a:t> wrote that an American visitor </a:t>
            </a:r>
            <a:r>
              <a:rPr lang="en-GB" sz="2400" b="1" i="1" dirty="0">
                <a:solidFill>
                  <a:srgbClr val="C00000"/>
                </a:solidFill>
                <a:latin typeface="Candara" panose="020E0502030303020204" pitchFamily="34" charset="0"/>
              </a:rPr>
              <a:t>tipped their cook one dollar</a:t>
            </a:r>
            <a:r>
              <a:rPr lang="en-GB" sz="2400" i="1" dirty="0">
                <a:solidFill>
                  <a:srgbClr val="C00000"/>
                </a:solidFill>
                <a:latin typeface="Candara" panose="020E0502030303020204" pitchFamily="34" charset="0"/>
              </a:rPr>
              <a:t>. The family convened, and it was decided that … </a:t>
            </a:r>
          </a:p>
          <a:p>
            <a:pPr algn="ctr"/>
            <a:endParaRPr lang="en-GB" sz="2400" i="1" dirty="0">
              <a:solidFill>
                <a:srgbClr val="C00000"/>
              </a:solidFill>
              <a:latin typeface="Candara" panose="020E0502030303020204" pitchFamily="34" charset="0"/>
            </a:endParaRPr>
          </a:p>
          <a:p>
            <a:pPr algn="ctr"/>
            <a:r>
              <a:rPr lang="en-GB" sz="2400" i="1" dirty="0">
                <a:solidFill>
                  <a:srgbClr val="C00000"/>
                </a:solidFill>
                <a:latin typeface="Candara" panose="020E0502030303020204" pitchFamily="34" charset="0"/>
              </a:rPr>
              <a:t>A </a:t>
            </a:r>
            <a:r>
              <a:rPr lang="en-GB" sz="2400" b="1" i="1" dirty="0">
                <a:solidFill>
                  <a:srgbClr val="C00000"/>
                </a:solidFill>
                <a:latin typeface="Candara" panose="020E0502030303020204" pitchFamily="34" charset="0"/>
              </a:rPr>
              <a:t>trust fund</a:t>
            </a:r>
            <a:r>
              <a:rPr lang="en-GB" sz="2400" i="1" dirty="0">
                <a:solidFill>
                  <a:srgbClr val="C00000"/>
                </a:solidFill>
                <a:latin typeface="Candara" panose="020E0502030303020204" pitchFamily="34" charset="0"/>
              </a:rPr>
              <a:t> should be set up in a Berlin bank with the cook as beneficiary, the </a:t>
            </a:r>
            <a:r>
              <a:rPr lang="en-GB" sz="2400" b="1" i="1" dirty="0">
                <a:solidFill>
                  <a:srgbClr val="C00000"/>
                </a:solidFill>
                <a:latin typeface="Candara" panose="020E0502030303020204" pitchFamily="34" charset="0"/>
              </a:rPr>
              <a:t>bank to administer and invest</a:t>
            </a:r>
            <a:r>
              <a:rPr lang="en-GB" sz="2400" i="1" dirty="0">
                <a:solidFill>
                  <a:srgbClr val="C00000"/>
                </a:solidFill>
                <a:latin typeface="Candara" panose="020E0502030303020204" pitchFamily="34" charset="0"/>
              </a:rPr>
              <a:t> the dollar.</a:t>
            </a:r>
          </a:p>
        </p:txBody>
      </p:sp>
    </p:spTree>
    <p:extLst>
      <p:ext uri="{BB962C8B-B14F-4D97-AF65-F5344CB8AC3E}">
        <p14:creationId xmlns:p14="http://schemas.microsoft.com/office/powerpoint/2010/main" val="207872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dissolve">
                                      <p:cBhvr>
                                        <p:cTn id="7" dur="500"/>
                                        <p:tgtEl>
                                          <p:spTgt spid="5">
                                            <p:bg/>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Effect transition="in" filter="dissolve">
                                      <p:cBhvr>
                                        <p:cTn id="11" dur="500"/>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dissolv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bg/>
                                          </p:spTgt>
                                        </p:tgtEl>
                                        <p:attrNameLst>
                                          <p:attrName>style.visibility</p:attrName>
                                        </p:attrNameLst>
                                      </p:cBhvr>
                                      <p:to>
                                        <p:strVal val="visible"/>
                                      </p:to>
                                    </p:set>
                                    <p:animEffect transition="in" filter="dissolve">
                                      <p:cBhvr>
                                        <p:cTn id="21" dur="500"/>
                                        <p:tgtEl>
                                          <p:spTgt spid="6">
                                            <p:bg/>
                                          </p:spTgt>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dissolve">
                                      <p:cBhvr>
                                        <p:cTn id="25" dur="500"/>
                                        <p:tgtEl>
                                          <p:spTgt spid="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dissolve">
                                      <p:cBhvr>
                                        <p:cTn id="30"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allAtOnce" animBg="1"/>
      <p:bldP spid="6" grpId="0" uiExpand="1"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DFC5B-AF24-A5D8-9FB5-56CCA4D5D7A7}"/>
              </a:ext>
            </a:extLst>
          </p:cNvPr>
          <p:cNvSpPr>
            <a:spLocks noGrp="1"/>
          </p:cNvSpPr>
          <p:nvPr>
            <p:ph type="title"/>
          </p:nvPr>
        </p:nvSpPr>
        <p:spPr>
          <a:xfrm>
            <a:off x="838200" y="3011123"/>
            <a:ext cx="10515600" cy="835754"/>
          </a:xfrm>
        </p:spPr>
        <p:txBody>
          <a:bodyPr>
            <a:normAutofit fontScale="90000"/>
          </a:bodyPr>
          <a:lstStyle/>
          <a:p>
            <a:r>
              <a:rPr lang="en-PK" dirty="0"/>
              <a:t>Digital Currency and ePayments</a:t>
            </a:r>
          </a:p>
        </p:txBody>
      </p:sp>
      <p:sp>
        <p:nvSpPr>
          <p:cNvPr id="4" name="Slide Number Placeholder 3">
            <a:extLst>
              <a:ext uri="{FF2B5EF4-FFF2-40B4-BE49-F238E27FC236}">
                <a16:creationId xmlns:a16="http://schemas.microsoft.com/office/drawing/2014/main" id="{7A4C3C1C-8DF7-39DA-7482-CB78D20759D6}"/>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138089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9E00A-0DA9-3EB6-D388-ADEB04D85068}"/>
              </a:ext>
            </a:extLst>
          </p:cNvPr>
          <p:cNvSpPr>
            <a:spLocks noGrp="1"/>
          </p:cNvSpPr>
          <p:nvPr>
            <p:ph type="title"/>
          </p:nvPr>
        </p:nvSpPr>
        <p:spPr/>
        <p:txBody>
          <a:bodyPr/>
          <a:lstStyle/>
          <a:p>
            <a:r>
              <a:rPr lang="en-PK" dirty="0"/>
              <a:t>Digital Currency Requirements</a:t>
            </a:r>
          </a:p>
        </p:txBody>
      </p:sp>
      <p:sp>
        <p:nvSpPr>
          <p:cNvPr id="3" name="Content Placeholder 2">
            <a:extLst>
              <a:ext uri="{FF2B5EF4-FFF2-40B4-BE49-F238E27FC236}">
                <a16:creationId xmlns:a16="http://schemas.microsoft.com/office/drawing/2014/main" id="{F14F2BBF-554E-1D56-88BE-9A4185F93F0A}"/>
              </a:ext>
            </a:extLst>
          </p:cNvPr>
          <p:cNvSpPr>
            <a:spLocks noGrp="1"/>
          </p:cNvSpPr>
          <p:nvPr>
            <p:ph idx="1"/>
          </p:nvPr>
        </p:nvSpPr>
        <p:spPr/>
        <p:txBody>
          <a:bodyPr>
            <a:normAutofit/>
          </a:bodyPr>
          <a:lstStyle/>
          <a:p>
            <a:r>
              <a:rPr lang="en-GB" dirty="0"/>
              <a:t>No stealing</a:t>
            </a:r>
          </a:p>
          <a:p>
            <a:r>
              <a:rPr lang="en-GB" dirty="0"/>
              <a:t>No double-spending</a:t>
            </a:r>
          </a:p>
          <a:p>
            <a:r>
              <a:rPr lang="en-GB" dirty="0">
                <a:solidFill>
                  <a:srgbClr val="C00000"/>
                </a:solidFill>
              </a:rPr>
              <a:t>Minting / creation</a:t>
            </a:r>
          </a:p>
          <a:p>
            <a:r>
              <a:rPr lang="en-GB" dirty="0">
                <a:solidFill>
                  <a:srgbClr val="C00000"/>
                </a:solidFill>
              </a:rPr>
              <a:t>Peer-to-peer payments (direct payments)</a:t>
            </a:r>
          </a:p>
          <a:p>
            <a:r>
              <a:rPr lang="en-GB" dirty="0">
                <a:solidFill>
                  <a:srgbClr val="7030A0"/>
                </a:solidFill>
              </a:rPr>
              <a:t>Work without requiring a third party to be online</a:t>
            </a:r>
          </a:p>
          <a:p>
            <a:r>
              <a:rPr lang="en-GB" dirty="0">
                <a:solidFill>
                  <a:srgbClr val="7030A0"/>
                </a:solidFill>
              </a:rPr>
              <a:t>Work without an intermediary</a:t>
            </a:r>
          </a:p>
          <a:p>
            <a:r>
              <a:rPr lang="en-GB" dirty="0">
                <a:solidFill>
                  <a:srgbClr val="308D3E"/>
                </a:solidFill>
              </a:rPr>
              <a:t>Maintain privacy (at the level of printed currency!)</a:t>
            </a:r>
          </a:p>
        </p:txBody>
      </p:sp>
      <p:sp>
        <p:nvSpPr>
          <p:cNvPr id="4" name="Slide Number Placeholder 3">
            <a:extLst>
              <a:ext uri="{FF2B5EF4-FFF2-40B4-BE49-F238E27FC236}">
                <a16:creationId xmlns:a16="http://schemas.microsoft.com/office/drawing/2014/main" id="{BB32872C-4A72-6712-67EE-E1B858432575}"/>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5" name="Rounded Rectangle 4">
            <a:extLst>
              <a:ext uri="{FF2B5EF4-FFF2-40B4-BE49-F238E27FC236}">
                <a16:creationId xmlns:a16="http://schemas.microsoft.com/office/drawing/2014/main" id="{C565A558-B865-D39C-BE8A-B2365C7D0EB9}"/>
              </a:ext>
            </a:extLst>
          </p:cNvPr>
          <p:cNvSpPr/>
          <p:nvPr/>
        </p:nvSpPr>
        <p:spPr>
          <a:xfrm>
            <a:off x="2403322" y="5505331"/>
            <a:ext cx="7385356" cy="510778"/>
          </a:xfrm>
          <a:prstGeom prst="roundRect">
            <a:avLst/>
          </a:prstGeom>
          <a:solidFill>
            <a:schemeClr val="accent4">
              <a:lumMod val="60000"/>
              <a:lumOff val="4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none" rtlCol="0" anchor="ctr">
            <a:spAutoFit/>
          </a:bodyPr>
          <a:lstStyle/>
          <a:p>
            <a:pPr algn="ctr"/>
            <a:r>
              <a:rPr lang="en-GB" sz="2400" i="1" dirty="0">
                <a:solidFill>
                  <a:srgbClr val="C00000"/>
                </a:solidFill>
                <a:latin typeface="Candara" panose="020E0502030303020204" pitchFamily="34" charset="0"/>
              </a:rPr>
              <a:t>Let us evaluate if generations of digital money satisfy this</a:t>
            </a:r>
          </a:p>
        </p:txBody>
      </p:sp>
    </p:spTree>
    <p:extLst>
      <p:ext uri="{BB962C8B-B14F-4D97-AF65-F5344CB8AC3E}">
        <p14:creationId xmlns:p14="http://schemas.microsoft.com/office/powerpoint/2010/main" val="176773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BFA40-7378-2D41-2134-260FAF693211}"/>
              </a:ext>
            </a:extLst>
          </p:cNvPr>
          <p:cNvSpPr>
            <a:spLocks noGrp="1"/>
          </p:cNvSpPr>
          <p:nvPr>
            <p:ph type="title"/>
          </p:nvPr>
        </p:nvSpPr>
        <p:spPr/>
        <p:txBody>
          <a:bodyPr/>
          <a:lstStyle/>
          <a:p>
            <a:r>
              <a:rPr lang="en-PK" dirty="0"/>
              <a:t>Traditional ePayments</a:t>
            </a:r>
          </a:p>
        </p:txBody>
      </p:sp>
      <p:sp>
        <p:nvSpPr>
          <p:cNvPr id="3" name="Slide Number Placeholder 2">
            <a:extLst>
              <a:ext uri="{FF2B5EF4-FFF2-40B4-BE49-F238E27FC236}">
                <a16:creationId xmlns:a16="http://schemas.microsoft.com/office/drawing/2014/main" id="{3E1FFF54-5904-1512-6FB3-9F6F49B7FE9F}"/>
              </a:ext>
            </a:extLst>
          </p:cNvPr>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5" name="Picture 4" descr="A yellow building with columns and blue text&#10;&#10;AI-generated content may be incorrect.">
            <a:extLst>
              <a:ext uri="{FF2B5EF4-FFF2-40B4-BE49-F238E27FC236}">
                <a16:creationId xmlns:a16="http://schemas.microsoft.com/office/drawing/2014/main" id="{DC5874C8-BFB5-ED84-A3D3-C1A35BC88E8F}"/>
              </a:ext>
            </a:extLst>
          </p:cNvPr>
          <p:cNvPicPr>
            <a:picLocks noChangeAspect="1"/>
          </p:cNvPicPr>
          <p:nvPr/>
        </p:nvPicPr>
        <p:blipFill>
          <a:blip r:embed="rId2"/>
          <a:stretch>
            <a:fillRect/>
          </a:stretch>
        </p:blipFill>
        <p:spPr>
          <a:xfrm>
            <a:off x="4836000" y="1087120"/>
            <a:ext cx="2520000" cy="2520000"/>
          </a:xfrm>
          <a:prstGeom prst="rect">
            <a:avLst/>
          </a:prstGeom>
        </p:spPr>
      </p:pic>
      <p:pic>
        <p:nvPicPr>
          <p:cNvPr id="13" name="Picture 12" descr="A cartoon of a person&#10;&#10;AI-generated content may be incorrect.">
            <a:extLst>
              <a:ext uri="{FF2B5EF4-FFF2-40B4-BE49-F238E27FC236}">
                <a16:creationId xmlns:a16="http://schemas.microsoft.com/office/drawing/2014/main" id="{E7E44A55-663A-AEAF-CD3D-951AC4AC3AF7}"/>
              </a:ext>
            </a:extLst>
          </p:cNvPr>
          <p:cNvPicPr>
            <a:picLocks noChangeAspect="1"/>
          </p:cNvPicPr>
          <p:nvPr/>
        </p:nvPicPr>
        <p:blipFill>
          <a:blip r:embed="rId3"/>
          <a:stretch>
            <a:fillRect/>
          </a:stretch>
        </p:blipFill>
        <p:spPr>
          <a:xfrm>
            <a:off x="9332327" y="4342616"/>
            <a:ext cx="1091903" cy="1800000"/>
          </a:xfrm>
          <a:prstGeom prst="rect">
            <a:avLst/>
          </a:prstGeom>
        </p:spPr>
      </p:pic>
      <p:pic>
        <p:nvPicPr>
          <p:cNvPr id="15" name="Picture 14">
            <a:extLst>
              <a:ext uri="{FF2B5EF4-FFF2-40B4-BE49-F238E27FC236}">
                <a16:creationId xmlns:a16="http://schemas.microsoft.com/office/drawing/2014/main" id="{42580474-12C5-56E0-45F8-1344295B6455}"/>
              </a:ext>
            </a:extLst>
          </p:cNvPr>
          <p:cNvPicPr>
            <a:picLocks noChangeAspect="1"/>
          </p:cNvPicPr>
          <p:nvPr/>
        </p:nvPicPr>
        <p:blipFill>
          <a:blip r:embed="rId4"/>
          <a:stretch>
            <a:fillRect/>
          </a:stretch>
        </p:blipFill>
        <p:spPr>
          <a:xfrm>
            <a:off x="1767770" y="4342616"/>
            <a:ext cx="1091903" cy="1800000"/>
          </a:xfrm>
          <a:prstGeom prst="rect">
            <a:avLst/>
          </a:prstGeom>
        </p:spPr>
      </p:pic>
      <p:sp>
        <p:nvSpPr>
          <p:cNvPr id="18" name="Arc 17">
            <a:extLst>
              <a:ext uri="{FF2B5EF4-FFF2-40B4-BE49-F238E27FC236}">
                <a16:creationId xmlns:a16="http://schemas.microsoft.com/office/drawing/2014/main" id="{2C4F18A9-A5A0-48DE-6812-9A61C17CD965}"/>
              </a:ext>
            </a:extLst>
          </p:cNvPr>
          <p:cNvSpPr/>
          <p:nvPr/>
        </p:nvSpPr>
        <p:spPr>
          <a:xfrm>
            <a:off x="2313721" y="2750088"/>
            <a:ext cx="6640372" cy="3020791"/>
          </a:xfrm>
          <a:prstGeom prst="arc">
            <a:avLst>
              <a:gd name="adj1" fmla="val 10808775"/>
              <a:gd name="adj2" fmla="val 1496041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21" name="Snip Single Corner of Rectangle 20">
            <a:extLst>
              <a:ext uri="{FF2B5EF4-FFF2-40B4-BE49-F238E27FC236}">
                <a16:creationId xmlns:a16="http://schemas.microsoft.com/office/drawing/2014/main" id="{977F8A9A-E5AB-25F3-B413-EC6B455592CF}"/>
              </a:ext>
            </a:extLst>
          </p:cNvPr>
          <p:cNvSpPr/>
          <p:nvPr/>
        </p:nvSpPr>
        <p:spPr>
          <a:xfrm rot="5400000">
            <a:off x="7366633" y="1307805"/>
            <a:ext cx="1233376" cy="1254642"/>
          </a:xfrm>
          <a:prstGeom prst="snip1Rect">
            <a:avLst>
              <a:gd name="adj" fmla="val 1899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scene3d>
              <a:camera prst="orthographicFront">
                <a:rot lat="0" lon="0" rev="5400000"/>
              </a:camera>
              <a:lightRig rig="threePt" dir="t"/>
            </a:scene3d>
          </a:bodyPr>
          <a:lstStyle/>
          <a:p>
            <a:r>
              <a:rPr lang="en-PK" sz="2000" dirty="0">
                <a:solidFill>
                  <a:srgbClr val="308D3E"/>
                </a:solidFill>
              </a:rPr>
              <a:t>Alice: $20</a:t>
            </a:r>
          </a:p>
          <a:p>
            <a:r>
              <a:rPr lang="en-PK" sz="2000" dirty="0">
                <a:solidFill>
                  <a:srgbClr val="308D3E"/>
                </a:solidFill>
              </a:rPr>
              <a:t>Bob: $30</a:t>
            </a:r>
          </a:p>
          <a:p>
            <a:endParaRPr lang="en-PK" sz="2000" dirty="0">
              <a:solidFill>
                <a:srgbClr val="308D3E"/>
              </a:solidFill>
            </a:endParaRPr>
          </a:p>
        </p:txBody>
      </p:sp>
      <p:sp>
        <p:nvSpPr>
          <p:cNvPr id="23" name="TextBox 22">
            <a:extLst>
              <a:ext uri="{FF2B5EF4-FFF2-40B4-BE49-F238E27FC236}">
                <a16:creationId xmlns:a16="http://schemas.microsoft.com/office/drawing/2014/main" id="{DAC0413E-8682-B82F-5D05-12415DA00946}"/>
              </a:ext>
            </a:extLst>
          </p:cNvPr>
          <p:cNvSpPr txBox="1"/>
          <p:nvPr/>
        </p:nvSpPr>
        <p:spPr>
          <a:xfrm>
            <a:off x="1876248" y="2478103"/>
            <a:ext cx="1631412" cy="646331"/>
          </a:xfrm>
          <a:prstGeom prst="rect">
            <a:avLst/>
          </a:prstGeom>
          <a:noFill/>
        </p:spPr>
        <p:txBody>
          <a:bodyPr wrap="square" rtlCol="0">
            <a:spAutoFit/>
          </a:bodyPr>
          <a:lstStyle/>
          <a:p>
            <a:r>
              <a:rPr lang="en-PK" dirty="0"/>
              <a:t>I would like to send $5 to Bob</a:t>
            </a:r>
          </a:p>
        </p:txBody>
      </p:sp>
      <p:sp>
        <p:nvSpPr>
          <p:cNvPr id="29" name="Snip Single Corner of Rectangle 28">
            <a:extLst>
              <a:ext uri="{FF2B5EF4-FFF2-40B4-BE49-F238E27FC236}">
                <a16:creationId xmlns:a16="http://schemas.microsoft.com/office/drawing/2014/main" id="{147A279A-F0B9-66CC-C763-72E12FB863B4}"/>
              </a:ext>
            </a:extLst>
          </p:cNvPr>
          <p:cNvSpPr/>
          <p:nvPr/>
        </p:nvSpPr>
        <p:spPr>
          <a:xfrm rot="5400000">
            <a:off x="7366633" y="1307805"/>
            <a:ext cx="1233376" cy="1254642"/>
          </a:xfrm>
          <a:prstGeom prst="snip1Rect">
            <a:avLst>
              <a:gd name="adj" fmla="val 1899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scene3d>
              <a:camera prst="orthographicFront">
                <a:rot lat="0" lon="0" rev="5400000"/>
              </a:camera>
              <a:lightRig rig="threePt" dir="t"/>
            </a:scene3d>
          </a:bodyPr>
          <a:lstStyle/>
          <a:p>
            <a:r>
              <a:rPr lang="en-PK" sz="2000" dirty="0">
                <a:solidFill>
                  <a:srgbClr val="7030A0"/>
                </a:solidFill>
              </a:rPr>
              <a:t>Alice: $15</a:t>
            </a:r>
          </a:p>
          <a:p>
            <a:r>
              <a:rPr lang="en-PK" sz="2000" dirty="0">
                <a:solidFill>
                  <a:srgbClr val="7030A0"/>
                </a:solidFill>
              </a:rPr>
              <a:t>Bob: $35</a:t>
            </a:r>
          </a:p>
          <a:p>
            <a:endParaRPr lang="en-PK" sz="2000" dirty="0">
              <a:solidFill>
                <a:srgbClr val="7030A0"/>
              </a:solidFill>
            </a:endParaRPr>
          </a:p>
        </p:txBody>
      </p:sp>
      <p:cxnSp>
        <p:nvCxnSpPr>
          <p:cNvPr id="30" name="Straight Arrow Connector 29">
            <a:extLst>
              <a:ext uri="{FF2B5EF4-FFF2-40B4-BE49-F238E27FC236}">
                <a16:creationId xmlns:a16="http://schemas.microsoft.com/office/drawing/2014/main" id="{D90F9E1A-7CCF-00B4-F76B-03CC937F6E1D}"/>
              </a:ext>
            </a:extLst>
          </p:cNvPr>
          <p:cNvCxnSpPr/>
          <p:nvPr/>
        </p:nvCxnSpPr>
        <p:spPr>
          <a:xfrm>
            <a:off x="3237906" y="5770879"/>
            <a:ext cx="5548285"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B1DA40B5-C7B1-51C4-1557-E601A9A9E73B}"/>
              </a:ext>
            </a:extLst>
          </p:cNvPr>
          <p:cNvSpPr txBox="1"/>
          <p:nvPr/>
        </p:nvSpPr>
        <p:spPr>
          <a:xfrm>
            <a:off x="5092507" y="5270089"/>
            <a:ext cx="2006985" cy="369332"/>
          </a:xfrm>
          <a:prstGeom prst="rect">
            <a:avLst/>
          </a:prstGeom>
          <a:noFill/>
        </p:spPr>
        <p:txBody>
          <a:bodyPr wrap="square" rtlCol="0">
            <a:spAutoFit/>
          </a:bodyPr>
          <a:lstStyle/>
          <a:p>
            <a:r>
              <a:rPr lang="en-PK" dirty="0"/>
              <a:t>Bob, I sent you $5</a:t>
            </a:r>
          </a:p>
        </p:txBody>
      </p:sp>
      <p:sp>
        <p:nvSpPr>
          <p:cNvPr id="32" name="Arc 31">
            <a:extLst>
              <a:ext uri="{FF2B5EF4-FFF2-40B4-BE49-F238E27FC236}">
                <a16:creationId xmlns:a16="http://schemas.microsoft.com/office/drawing/2014/main" id="{49BFF317-E123-3E4C-7FB5-8A45179D8739}"/>
              </a:ext>
            </a:extLst>
          </p:cNvPr>
          <p:cNvSpPr/>
          <p:nvPr/>
        </p:nvSpPr>
        <p:spPr>
          <a:xfrm>
            <a:off x="3237906" y="2750089"/>
            <a:ext cx="6640372" cy="3020791"/>
          </a:xfrm>
          <a:prstGeom prst="arc">
            <a:avLst>
              <a:gd name="adj1" fmla="val 17575612"/>
              <a:gd name="adj2" fmla="val 0"/>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38" name="Picture 37" descr="A green check mark on a black background&#10;&#10;AI-generated content may be incorrect.">
            <a:extLst>
              <a:ext uri="{FF2B5EF4-FFF2-40B4-BE49-F238E27FC236}">
                <a16:creationId xmlns:a16="http://schemas.microsoft.com/office/drawing/2014/main" id="{BB8FDCCE-3E18-0658-E9A7-8A183736ED4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9025824" y="2347120"/>
            <a:ext cx="1101000" cy="1080000"/>
          </a:xfrm>
          <a:prstGeom prst="rect">
            <a:avLst/>
          </a:prstGeom>
        </p:spPr>
      </p:pic>
      <p:pic>
        <p:nvPicPr>
          <p:cNvPr id="44" name="Picture 43" descr="A sandwich with meat and vegetables&#10;&#10;AI-generated content may be incorrect.">
            <a:extLst>
              <a:ext uri="{FF2B5EF4-FFF2-40B4-BE49-F238E27FC236}">
                <a16:creationId xmlns:a16="http://schemas.microsoft.com/office/drawing/2014/main" id="{4E00AFED-B12B-0A66-A309-8B299882C3D2}"/>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5271666" y="4592639"/>
            <a:ext cx="1648665" cy="1080000"/>
          </a:xfrm>
          <a:prstGeom prst="rect">
            <a:avLst/>
          </a:prstGeom>
        </p:spPr>
      </p:pic>
      <p:cxnSp>
        <p:nvCxnSpPr>
          <p:cNvPr id="45" name="Straight Arrow Connector 44">
            <a:extLst>
              <a:ext uri="{FF2B5EF4-FFF2-40B4-BE49-F238E27FC236}">
                <a16:creationId xmlns:a16="http://schemas.microsoft.com/office/drawing/2014/main" id="{F928B0C7-6324-E09E-1D21-577D6F9EC8FD}"/>
              </a:ext>
            </a:extLst>
          </p:cNvPr>
          <p:cNvCxnSpPr/>
          <p:nvPr/>
        </p:nvCxnSpPr>
        <p:spPr>
          <a:xfrm>
            <a:off x="3206002" y="5770879"/>
            <a:ext cx="5548285" cy="0"/>
          </a:xfrm>
          <a:prstGeom prst="straightConnector1">
            <a:avLst/>
          </a:prstGeom>
          <a:ln w="28575">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549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grpId="0" nodeType="clickEffect">
                                  <p:stCondLst>
                                    <p:cond delay="0"/>
                                  </p:stCondLst>
                                  <p:childTnLst>
                                    <p:animEffect transition="out" filter="dissolve">
                                      <p:cBhvr>
                                        <p:cTn id="14" dur="500"/>
                                        <p:tgtEl>
                                          <p:spTgt spid="21"/>
                                        </p:tgtEl>
                                      </p:cBhvr>
                                    </p:animEffect>
                                    <p:set>
                                      <p:cBhvr>
                                        <p:cTn id="15" dur="1" fill="hold">
                                          <p:stCondLst>
                                            <p:cond delay="499"/>
                                          </p:stCondLst>
                                        </p:cTn>
                                        <p:tgtEl>
                                          <p:spTgt spid="21"/>
                                        </p:tgtEl>
                                        <p:attrNameLst>
                                          <p:attrName>style.visibility</p:attrName>
                                        </p:attrNameLst>
                                      </p:cBhvr>
                                      <p:to>
                                        <p:strVal val="hidden"/>
                                      </p:to>
                                    </p:se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dissolve">
                                      <p:cBhvr>
                                        <p:cTn id="19" dur="500"/>
                                        <p:tgtEl>
                                          <p:spTgt spid="29"/>
                                        </p:tgtEl>
                                      </p:cBhvr>
                                    </p:animEffect>
                                  </p:childTnLst>
                                </p:cTn>
                              </p:par>
                            </p:childTnLst>
                          </p:cTn>
                        </p:par>
                        <p:par>
                          <p:cTn id="20" fill="hold">
                            <p:stCondLst>
                              <p:cond delay="1000"/>
                            </p:stCondLst>
                            <p:childTnLst>
                              <p:par>
                                <p:cTn id="21" presetID="9" presetClass="exit" presetSubtype="0" fill="hold" grpId="1" nodeType="afterEffect">
                                  <p:stCondLst>
                                    <p:cond delay="0"/>
                                  </p:stCondLst>
                                  <p:childTnLst>
                                    <p:animEffect transition="out" filter="dissolve">
                                      <p:cBhvr>
                                        <p:cTn id="22" dur="500"/>
                                        <p:tgtEl>
                                          <p:spTgt spid="23"/>
                                        </p:tgtEl>
                                      </p:cBhvr>
                                    </p:animEffect>
                                    <p:set>
                                      <p:cBhvr>
                                        <p:cTn id="23" dur="1" fill="hold">
                                          <p:stCondLst>
                                            <p:cond delay="499"/>
                                          </p:stCondLst>
                                        </p:cTn>
                                        <p:tgtEl>
                                          <p:spTgt spid="23"/>
                                        </p:tgtEl>
                                        <p:attrNameLst>
                                          <p:attrName>style.visibility</p:attrName>
                                        </p:attrNameLst>
                                      </p:cBhvr>
                                      <p:to>
                                        <p:strVal val="hidden"/>
                                      </p:to>
                                    </p:set>
                                  </p:childTnLst>
                                </p:cTn>
                              </p:par>
                              <p:par>
                                <p:cTn id="24" presetID="9" presetClass="exit" presetSubtype="0" fill="hold" grpId="1" nodeType="withEffect">
                                  <p:stCondLst>
                                    <p:cond delay="0"/>
                                  </p:stCondLst>
                                  <p:childTnLst>
                                    <p:animEffect transition="out" filter="dissolve">
                                      <p:cBhvr>
                                        <p:cTn id="25" dur="500"/>
                                        <p:tgtEl>
                                          <p:spTgt spid="18"/>
                                        </p:tgtEl>
                                      </p:cBhvr>
                                    </p:animEffect>
                                    <p:set>
                                      <p:cBhvr>
                                        <p:cTn id="26" dur="1" fill="hold">
                                          <p:stCondLst>
                                            <p:cond delay="499"/>
                                          </p:stCondLst>
                                        </p:cTn>
                                        <p:tgtEl>
                                          <p:spTgt spid="1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dissolve">
                                      <p:cBhvr>
                                        <p:cTn id="31" dur="500"/>
                                        <p:tgtEl>
                                          <p:spTgt spid="3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dissolve">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dissolve">
                                      <p:cBhvr>
                                        <p:cTn id="39" dur="500"/>
                                        <p:tgtEl>
                                          <p:spTgt spid="32"/>
                                        </p:tgtEl>
                                      </p:cBhvr>
                                    </p:animEffect>
                                  </p:childTnLst>
                                </p:cTn>
                              </p:par>
                            </p:childTnLst>
                          </p:cTn>
                        </p:par>
                        <p:par>
                          <p:cTn id="40" fill="hold">
                            <p:stCondLst>
                              <p:cond delay="500"/>
                            </p:stCondLst>
                            <p:childTnLst>
                              <p:par>
                                <p:cTn id="41" presetID="9" presetClass="entr" presetSubtype="0"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dissolve">
                                      <p:cBhvr>
                                        <p:cTn id="43" dur="500"/>
                                        <p:tgtEl>
                                          <p:spTgt spid="38"/>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31"/>
                                        </p:tgtEl>
                                        <p:attrNameLst>
                                          <p:attrName>style.visibility</p:attrName>
                                        </p:attrNameLst>
                                      </p:cBhvr>
                                      <p:to>
                                        <p:strVal val="hidden"/>
                                      </p:to>
                                    </p:set>
                                  </p:childTnLst>
                                </p:cTn>
                              </p:par>
                            </p:childTnLst>
                          </p:cTn>
                        </p:par>
                        <p:par>
                          <p:cTn id="48" fill="hold">
                            <p:stCondLst>
                              <p:cond delay="0"/>
                            </p:stCondLst>
                            <p:childTnLst>
                              <p:par>
                                <p:cTn id="49" presetID="9" presetClass="exit" presetSubtype="0" fill="hold" nodeType="afterEffect">
                                  <p:stCondLst>
                                    <p:cond delay="0"/>
                                  </p:stCondLst>
                                  <p:childTnLst>
                                    <p:animEffect transition="out" filter="dissolve">
                                      <p:cBhvr>
                                        <p:cTn id="50" dur="500"/>
                                        <p:tgtEl>
                                          <p:spTgt spid="30"/>
                                        </p:tgtEl>
                                      </p:cBhvr>
                                    </p:animEffect>
                                    <p:set>
                                      <p:cBhvr>
                                        <p:cTn id="51" dur="1" fill="hold">
                                          <p:stCondLst>
                                            <p:cond delay="499"/>
                                          </p:stCondLst>
                                        </p:cTn>
                                        <p:tgtEl>
                                          <p:spTgt spid="30"/>
                                        </p:tgtEl>
                                        <p:attrNameLst>
                                          <p:attrName>style.visibility</p:attrName>
                                        </p:attrNameLst>
                                      </p:cBhvr>
                                      <p:to>
                                        <p:strVal val="hidden"/>
                                      </p:to>
                                    </p:set>
                                  </p:childTnLst>
                                </p:cTn>
                              </p:par>
                            </p:childTnLst>
                          </p:cTn>
                        </p:par>
                        <p:par>
                          <p:cTn id="52" fill="hold">
                            <p:stCondLst>
                              <p:cond delay="500"/>
                            </p:stCondLst>
                            <p:childTnLst>
                              <p:par>
                                <p:cTn id="53" presetID="9" presetClass="entr" presetSubtype="0" fill="hold" nodeType="after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dissolve">
                                      <p:cBhvr>
                                        <p:cTn id="55" dur="500"/>
                                        <p:tgtEl>
                                          <p:spTgt spid="45"/>
                                        </p:tgtEl>
                                      </p:cBhvr>
                                    </p:animEffect>
                                  </p:childTnLst>
                                </p:cTn>
                              </p:par>
                            </p:childTnLst>
                          </p:cTn>
                        </p:par>
                        <p:par>
                          <p:cTn id="56" fill="hold">
                            <p:stCondLst>
                              <p:cond delay="1000"/>
                            </p:stCondLst>
                            <p:childTnLst>
                              <p:par>
                                <p:cTn id="57" presetID="9" presetClass="entr" presetSubtype="0" fill="hold" nodeType="after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dissolve">
                                      <p:cBhvr>
                                        <p:cTn id="5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1" grpId="0" animBg="1"/>
      <p:bldP spid="23" grpId="0"/>
      <p:bldP spid="23" grpId="1"/>
      <p:bldP spid="29" grpId="0" animBg="1"/>
      <p:bldP spid="31" grpId="0"/>
      <p:bldP spid="31" grpId="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0B158-2DD4-4149-B99F-22CD8004D9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A68B43-B7E6-397A-7585-8ACCE647CBE7}"/>
              </a:ext>
            </a:extLst>
          </p:cNvPr>
          <p:cNvSpPr>
            <a:spLocks noGrp="1"/>
          </p:cNvSpPr>
          <p:nvPr>
            <p:ph type="title"/>
          </p:nvPr>
        </p:nvSpPr>
        <p:spPr/>
        <p:txBody>
          <a:bodyPr/>
          <a:lstStyle/>
          <a:p>
            <a:r>
              <a:rPr lang="en-PK" dirty="0"/>
              <a:t>Traditional ePayments</a:t>
            </a:r>
          </a:p>
        </p:txBody>
      </p:sp>
      <p:sp>
        <p:nvSpPr>
          <p:cNvPr id="5" name="Content Placeholder 4">
            <a:extLst>
              <a:ext uri="{FF2B5EF4-FFF2-40B4-BE49-F238E27FC236}">
                <a16:creationId xmlns:a16="http://schemas.microsoft.com/office/drawing/2014/main" id="{29473515-E71E-B77B-19DE-DC239155F23E}"/>
              </a:ext>
            </a:extLst>
          </p:cNvPr>
          <p:cNvSpPr>
            <a:spLocks noGrp="1"/>
          </p:cNvSpPr>
          <p:nvPr>
            <p:ph idx="1"/>
          </p:nvPr>
        </p:nvSpPr>
        <p:spPr/>
        <p:txBody>
          <a:bodyPr/>
          <a:lstStyle/>
          <a:p>
            <a:r>
              <a:rPr lang="en-US" dirty="0">
                <a:solidFill>
                  <a:srgbClr val="7030A0"/>
                </a:solidFill>
              </a:rPr>
              <a:t>Pros</a:t>
            </a:r>
          </a:p>
          <a:p>
            <a:pPr lvl="1"/>
            <a:r>
              <a:rPr lang="en-US" dirty="0">
                <a:solidFill>
                  <a:srgbClr val="308D3E"/>
                </a:solidFill>
              </a:rPr>
              <a:t>Payment is digital</a:t>
            </a:r>
          </a:p>
          <a:p>
            <a:pPr lvl="1"/>
            <a:r>
              <a:rPr lang="en-US" dirty="0">
                <a:solidFill>
                  <a:srgbClr val="308D3E"/>
                </a:solidFill>
              </a:rPr>
              <a:t>Alice and Bob can be at different locations (can they?)</a:t>
            </a:r>
          </a:p>
          <a:p>
            <a:pPr lvl="1"/>
            <a:endParaRPr lang="en-US" dirty="0"/>
          </a:p>
          <a:p>
            <a:r>
              <a:rPr lang="en-US" dirty="0">
                <a:solidFill>
                  <a:srgbClr val="7030A0"/>
                </a:solidFill>
              </a:rPr>
              <a:t>Cons</a:t>
            </a:r>
          </a:p>
          <a:p>
            <a:pPr lvl="1"/>
            <a:r>
              <a:rPr lang="en-US" dirty="0">
                <a:solidFill>
                  <a:srgbClr val="C00000"/>
                </a:solidFill>
              </a:rPr>
              <a:t>Not peer-to-peer</a:t>
            </a:r>
          </a:p>
          <a:p>
            <a:pPr lvl="1"/>
            <a:r>
              <a:rPr lang="en-US" dirty="0">
                <a:solidFill>
                  <a:srgbClr val="C00000"/>
                </a:solidFill>
              </a:rPr>
              <a:t>Bank can fail</a:t>
            </a:r>
          </a:p>
          <a:p>
            <a:pPr lvl="1"/>
            <a:r>
              <a:rPr lang="en-US" dirty="0">
                <a:solidFill>
                  <a:srgbClr val="C00000"/>
                </a:solidFill>
              </a:rPr>
              <a:t>Bank can delay payments (or censor altogether)</a:t>
            </a:r>
          </a:p>
          <a:p>
            <a:pPr lvl="1"/>
            <a:r>
              <a:rPr lang="en-US" b="1" dirty="0">
                <a:solidFill>
                  <a:srgbClr val="C00000"/>
                </a:solidFill>
              </a:rPr>
              <a:t>Privacy issues </a:t>
            </a:r>
            <a:r>
              <a:rPr lang="en-US" dirty="0">
                <a:solidFill>
                  <a:srgbClr val="C00000"/>
                </a:solidFill>
              </a:rPr>
              <a:t>– the bank knows everything</a:t>
            </a:r>
            <a:br>
              <a:rPr lang="en-US" dirty="0">
                <a:solidFill>
                  <a:srgbClr val="C00000"/>
                </a:solidFill>
              </a:rPr>
            </a:br>
            <a:r>
              <a:rPr lang="en-US" dirty="0">
                <a:solidFill>
                  <a:srgbClr val="C00000"/>
                </a:solidFill>
              </a:rPr>
              <a:t>				(who is paying how much to whom!)</a:t>
            </a:r>
          </a:p>
        </p:txBody>
      </p:sp>
      <p:sp>
        <p:nvSpPr>
          <p:cNvPr id="3" name="Slide Number Placeholder 2">
            <a:extLst>
              <a:ext uri="{FF2B5EF4-FFF2-40B4-BE49-F238E27FC236}">
                <a16:creationId xmlns:a16="http://schemas.microsoft.com/office/drawing/2014/main" id="{DDBCE691-D964-BEC6-500F-65AC3BE7616E}"/>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3684748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dissolv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dissolve">
                                      <p:cBhvr>
                                        <p:cTn id="17" dur="500"/>
                                        <p:tgtEl>
                                          <p:spTgt spid="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dissolve">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dissolve">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dissolve">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dissolve">
                                      <p:cBhvr>
                                        <p:cTn id="3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33E4-49D2-C00A-B308-D4D1F9E2E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F8A5E-2039-3FC2-27C4-B1EA49B59455}"/>
              </a:ext>
            </a:extLst>
          </p:cNvPr>
          <p:cNvSpPr>
            <a:spLocks noGrp="1"/>
          </p:cNvSpPr>
          <p:nvPr>
            <p:ph type="title"/>
          </p:nvPr>
        </p:nvSpPr>
        <p:spPr/>
        <p:txBody>
          <a:bodyPr/>
          <a:lstStyle/>
          <a:p>
            <a:r>
              <a:rPr lang="en-PK" dirty="0"/>
              <a:t>The banks can fail</a:t>
            </a:r>
          </a:p>
        </p:txBody>
      </p:sp>
      <p:sp>
        <p:nvSpPr>
          <p:cNvPr id="3" name="Slide Number Placeholder 2">
            <a:extLst>
              <a:ext uri="{FF2B5EF4-FFF2-40B4-BE49-F238E27FC236}">
                <a16:creationId xmlns:a16="http://schemas.microsoft.com/office/drawing/2014/main" id="{9689BC22-1D78-5CCC-9799-4EE74AFE001A}"/>
              </a:ext>
            </a:extLst>
          </p:cNvPr>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5" name="Picture 4" descr="A yellow building with columns and blue text&#10;&#10;AI-generated content may be incorrect.">
            <a:extLst>
              <a:ext uri="{FF2B5EF4-FFF2-40B4-BE49-F238E27FC236}">
                <a16:creationId xmlns:a16="http://schemas.microsoft.com/office/drawing/2014/main" id="{4889145C-CB23-8C05-2C8E-5857ECA0248A}"/>
              </a:ext>
            </a:extLst>
          </p:cNvPr>
          <p:cNvPicPr>
            <a:picLocks noChangeAspect="1"/>
          </p:cNvPicPr>
          <p:nvPr/>
        </p:nvPicPr>
        <p:blipFill>
          <a:blip r:embed="rId2"/>
          <a:stretch>
            <a:fillRect/>
          </a:stretch>
        </p:blipFill>
        <p:spPr>
          <a:xfrm>
            <a:off x="4836000" y="1087120"/>
            <a:ext cx="2520000" cy="2520000"/>
          </a:xfrm>
          <a:prstGeom prst="rect">
            <a:avLst/>
          </a:prstGeom>
        </p:spPr>
      </p:pic>
      <p:pic>
        <p:nvPicPr>
          <p:cNvPr id="13" name="Picture 12" descr="A cartoon of a person&#10;&#10;AI-generated content may be incorrect.">
            <a:extLst>
              <a:ext uri="{FF2B5EF4-FFF2-40B4-BE49-F238E27FC236}">
                <a16:creationId xmlns:a16="http://schemas.microsoft.com/office/drawing/2014/main" id="{89F369F9-3A59-F933-A590-010E344F79EC}"/>
              </a:ext>
            </a:extLst>
          </p:cNvPr>
          <p:cNvPicPr>
            <a:picLocks noChangeAspect="1"/>
          </p:cNvPicPr>
          <p:nvPr/>
        </p:nvPicPr>
        <p:blipFill>
          <a:blip r:embed="rId3"/>
          <a:stretch>
            <a:fillRect/>
          </a:stretch>
        </p:blipFill>
        <p:spPr>
          <a:xfrm>
            <a:off x="9332327" y="4342616"/>
            <a:ext cx="1091903" cy="1800000"/>
          </a:xfrm>
          <a:prstGeom prst="rect">
            <a:avLst/>
          </a:prstGeom>
        </p:spPr>
      </p:pic>
      <p:pic>
        <p:nvPicPr>
          <p:cNvPr id="15" name="Picture 14">
            <a:extLst>
              <a:ext uri="{FF2B5EF4-FFF2-40B4-BE49-F238E27FC236}">
                <a16:creationId xmlns:a16="http://schemas.microsoft.com/office/drawing/2014/main" id="{B43C27BB-E16B-53B8-CFCC-093665A57C01}"/>
              </a:ext>
            </a:extLst>
          </p:cNvPr>
          <p:cNvPicPr>
            <a:picLocks noChangeAspect="1"/>
          </p:cNvPicPr>
          <p:nvPr/>
        </p:nvPicPr>
        <p:blipFill>
          <a:blip r:embed="rId4"/>
          <a:stretch>
            <a:fillRect/>
          </a:stretch>
        </p:blipFill>
        <p:spPr>
          <a:xfrm>
            <a:off x="1767770" y="4342616"/>
            <a:ext cx="1091903" cy="1800000"/>
          </a:xfrm>
          <a:prstGeom prst="rect">
            <a:avLst/>
          </a:prstGeom>
        </p:spPr>
      </p:pic>
      <p:sp>
        <p:nvSpPr>
          <p:cNvPr id="18" name="Arc 17">
            <a:extLst>
              <a:ext uri="{FF2B5EF4-FFF2-40B4-BE49-F238E27FC236}">
                <a16:creationId xmlns:a16="http://schemas.microsoft.com/office/drawing/2014/main" id="{C2CD0DE8-182B-F9D7-D1E0-B2F72F0D42B1}"/>
              </a:ext>
            </a:extLst>
          </p:cNvPr>
          <p:cNvSpPr/>
          <p:nvPr/>
        </p:nvSpPr>
        <p:spPr>
          <a:xfrm>
            <a:off x="2313721" y="2750088"/>
            <a:ext cx="6640372" cy="3020791"/>
          </a:xfrm>
          <a:prstGeom prst="arc">
            <a:avLst>
              <a:gd name="adj1" fmla="val 10808775"/>
              <a:gd name="adj2" fmla="val 1496041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21" name="Snip Single Corner of Rectangle 20">
            <a:extLst>
              <a:ext uri="{FF2B5EF4-FFF2-40B4-BE49-F238E27FC236}">
                <a16:creationId xmlns:a16="http://schemas.microsoft.com/office/drawing/2014/main" id="{A67C808C-37E1-5B1C-68D7-3C3597CA7689}"/>
              </a:ext>
            </a:extLst>
          </p:cNvPr>
          <p:cNvSpPr/>
          <p:nvPr/>
        </p:nvSpPr>
        <p:spPr>
          <a:xfrm rot="5400000">
            <a:off x="7366633" y="1307805"/>
            <a:ext cx="1233376" cy="1254642"/>
          </a:xfrm>
          <a:prstGeom prst="snip1Rect">
            <a:avLst>
              <a:gd name="adj" fmla="val 1899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scene3d>
              <a:camera prst="orthographicFront">
                <a:rot lat="0" lon="0" rev="5400000"/>
              </a:camera>
              <a:lightRig rig="threePt" dir="t"/>
            </a:scene3d>
          </a:bodyPr>
          <a:lstStyle/>
          <a:p>
            <a:r>
              <a:rPr lang="en-PK" sz="2000" dirty="0">
                <a:solidFill>
                  <a:srgbClr val="308D3E"/>
                </a:solidFill>
              </a:rPr>
              <a:t>Alice: $20</a:t>
            </a:r>
          </a:p>
          <a:p>
            <a:r>
              <a:rPr lang="en-PK" sz="2000" dirty="0">
                <a:solidFill>
                  <a:srgbClr val="308D3E"/>
                </a:solidFill>
              </a:rPr>
              <a:t>Bob: $30</a:t>
            </a:r>
          </a:p>
          <a:p>
            <a:endParaRPr lang="en-PK" sz="2000" dirty="0">
              <a:solidFill>
                <a:srgbClr val="308D3E"/>
              </a:solidFill>
            </a:endParaRPr>
          </a:p>
        </p:txBody>
      </p:sp>
      <p:sp>
        <p:nvSpPr>
          <p:cNvPr id="23" name="TextBox 22">
            <a:extLst>
              <a:ext uri="{FF2B5EF4-FFF2-40B4-BE49-F238E27FC236}">
                <a16:creationId xmlns:a16="http://schemas.microsoft.com/office/drawing/2014/main" id="{7A2BDCFD-BC7B-AF25-0F7C-18E7EDD38C77}"/>
              </a:ext>
            </a:extLst>
          </p:cNvPr>
          <p:cNvSpPr txBox="1"/>
          <p:nvPr/>
        </p:nvSpPr>
        <p:spPr>
          <a:xfrm>
            <a:off x="1876248" y="2478103"/>
            <a:ext cx="1631412" cy="646331"/>
          </a:xfrm>
          <a:prstGeom prst="rect">
            <a:avLst/>
          </a:prstGeom>
          <a:noFill/>
        </p:spPr>
        <p:txBody>
          <a:bodyPr wrap="square" rtlCol="0">
            <a:spAutoFit/>
          </a:bodyPr>
          <a:lstStyle/>
          <a:p>
            <a:r>
              <a:rPr lang="en-PK" dirty="0"/>
              <a:t>I would like to send $5 to Bob</a:t>
            </a:r>
          </a:p>
        </p:txBody>
      </p:sp>
      <p:pic>
        <p:nvPicPr>
          <p:cNvPr id="6" name="Picture 5" descr="A red cross in a circle&#10;&#10;AI-generated content may be incorrect.">
            <a:extLst>
              <a:ext uri="{FF2B5EF4-FFF2-40B4-BE49-F238E27FC236}">
                <a16:creationId xmlns:a16="http://schemas.microsoft.com/office/drawing/2014/main" id="{25C94934-A893-89B9-A8FB-84F9E60D8A86}"/>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057540" y="1425855"/>
            <a:ext cx="1800000" cy="1800000"/>
          </a:xfrm>
          <a:prstGeom prst="rect">
            <a:avLst/>
          </a:prstGeom>
        </p:spPr>
      </p:pic>
      <p:sp>
        <p:nvSpPr>
          <p:cNvPr id="7" name="Rounded Rectangle 6">
            <a:extLst>
              <a:ext uri="{FF2B5EF4-FFF2-40B4-BE49-F238E27FC236}">
                <a16:creationId xmlns:a16="http://schemas.microsoft.com/office/drawing/2014/main" id="{9E564B7F-4FFD-00E4-860A-6759A48217C8}"/>
              </a:ext>
            </a:extLst>
          </p:cNvPr>
          <p:cNvSpPr/>
          <p:nvPr/>
        </p:nvSpPr>
        <p:spPr>
          <a:xfrm>
            <a:off x="4683756" y="5631838"/>
            <a:ext cx="2824487" cy="51077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400" dirty="0"/>
              <a:t>Can banks really fail?</a:t>
            </a:r>
          </a:p>
        </p:txBody>
      </p:sp>
    </p:spTree>
    <p:extLst>
      <p:ext uri="{BB962C8B-B14F-4D97-AF65-F5344CB8AC3E}">
        <p14:creationId xmlns:p14="http://schemas.microsoft.com/office/powerpoint/2010/main" val="299199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D867E-1BD1-909D-8F83-5EBA900FC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814A8-3F14-86F5-ACAC-5CEA675FA126}"/>
              </a:ext>
            </a:extLst>
          </p:cNvPr>
          <p:cNvSpPr>
            <a:spLocks noGrp="1"/>
          </p:cNvSpPr>
          <p:nvPr>
            <p:ph type="title"/>
          </p:nvPr>
        </p:nvSpPr>
        <p:spPr/>
        <p:txBody>
          <a:bodyPr/>
          <a:lstStyle/>
          <a:p>
            <a:r>
              <a:rPr lang="en-PK" dirty="0"/>
              <a:t>The banks can fail in </a:t>
            </a:r>
            <a:r>
              <a:rPr lang="en-GB" dirty="0"/>
              <a:t>the </a:t>
            </a:r>
            <a:r>
              <a:rPr lang="en-PK" dirty="0"/>
              <a:t>real world</a:t>
            </a:r>
          </a:p>
        </p:txBody>
      </p:sp>
      <p:sp>
        <p:nvSpPr>
          <p:cNvPr id="3" name="Slide Number Placeholder 2">
            <a:extLst>
              <a:ext uri="{FF2B5EF4-FFF2-40B4-BE49-F238E27FC236}">
                <a16:creationId xmlns:a16="http://schemas.microsoft.com/office/drawing/2014/main" id="{C9549275-5670-6126-6909-C858895E7E2E}"/>
              </a:ext>
            </a:extLst>
          </p:cNvPr>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4" name="Picture 2">
            <a:extLst>
              <a:ext uri="{FF2B5EF4-FFF2-40B4-BE49-F238E27FC236}">
                <a16:creationId xmlns:a16="http://schemas.microsoft.com/office/drawing/2014/main" id="{A66185EA-E15B-4B89-6F0B-F03E214B29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1339" y="1087120"/>
            <a:ext cx="6589321" cy="4390592"/>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a:extLst>
              <a:ext uri="{FF2B5EF4-FFF2-40B4-BE49-F238E27FC236}">
                <a16:creationId xmlns:a16="http://schemas.microsoft.com/office/drawing/2014/main" id="{521EA253-64AC-E60A-DB9A-FB328653D5AB}"/>
              </a:ext>
            </a:extLst>
          </p:cNvPr>
          <p:cNvSpPr/>
          <p:nvPr/>
        </p:nvSpPr>
        <p:spPr>
          <a:xfrm>
            <a:off x="2147674" y="5770880"/>
            <a:ext cx="7896649" cy="44267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r>
              <a:rPr lang="en-GB" sz="2000" b="1" dirty="0">
                <a:solidFill>
                  <a:srgbClr val="7030A0"/>
                </a:solidFill>
              </a:rPr>
              <a:t>Customers line up at the ATM in Kabul after the US forces left in 08/2021</a:t>
            </a:r>
          </a:p>
        </p:txBody>
      </p:sp>
      <p:sp>
        <p:nvSpPr>
          <p:cNvPr id="6" name="Rounded Rectangle 5">
            <a:extLst>
              <a:ext uri="{FF2B5EF4-FFF2-40B4-BE49-F238E27FC236}">
                <a16:creationId xmlns:a16="http://schemas.microsoft.com/office/drawing/2014/main" id="{D584CAAA-BDCD-DEBA-091C-F5057DB9EDA0}"/>
              </a:ext>
            </a:extLst>
          </p:cNvPr>
          <p:cNvSpPr/>
          <p:nvPr/>
        </p:nvSpPr>
        <p:spPr>
          <a:xfrm>
            <a:off x="9595848" y="3577636"/>
            <a:ext cx="2178396" cy="51077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US" sz="2400" dirty="0"/>
              <a:t>Many Examples</a:t>
            </a:r>
            <a:endParaRPr lang="en-PK" sz="2400" dirty="0"/>
          </a:p>
        </p:txBody>
      </p:sp>
    </p:spTree>
    <p:extLst>
      <p:ext uri="{BB962C8B-B14F-4D97-AF65-F5344CB8AC3E}">
        <p14:creationId xmlns:p14="http://schemas.microsoft.com/office/powerpoint/2010/main" val="408833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CB60-94D4-2B7E-5D5B-FA0F3D919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2BC86-60ED-D700-9137-1DD202967AC1}"/>
              </a:ext>
            </a:extLst>
          </p:cNvPr>
          <p:cNvSpPr>
            <a:spLocks noGrp="1"/>
          </p:cNvSpPr>
          <p:nvPr>
            <p:ph type="title"/>
          </p:nvPr>
        </p:nvSpPr>
        <p:spPr/>
        <p:txBody>
          <a:bodyPr/>
          <a:lstStyle/>
          <a:p>
            <a:r>
              <a:rPr lang="en-PK" dirty="0"/>
              <a:t>The banks can deny or censor</a:t>
            </a:r>
          </a:p>
        </p:txBody>
      </p:sp>
      <p:sp>
        <p:nvSpPr>
          <p:cNvPr id="3" name="Slide Number Placeholder 2">
            <a:extLst>
              <a:ext uri="{FF2B5EF4-FFF2-40B4-BE49-F238E27FC236}">
                <a16:creationId xmlns:a16="http://schemas.microsoft.com/office/drawing/2014/main" id="{24BCE35E-8C8F-D2CF-3F37-879B51751376}"/>
              </a:ext>
            </a:extLst>
          </p:cNvPr>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5" name="Picture 4" descr="A yellow building with columns and blue text&#10;&#10;AI-generated content may be incorrect.">
            <a:extLst>
              <a:ext uri="{FF2B5EF4-FFF2-40B4-BE49-F238E27FC236}">
                <a16:creationId xmlns:a16="http://schemas.microsoft.com/office/drawing/2014/main" id="{9753BA8F-AC55-161B-E42C-0DB6CF56CA52}"/>
              </a:ext>
            </a:extLst>
          </p:cNvPr>
          <p:cNvPicPr>
            <a:picLocks noChangeAspect="1"/>
          </p:cNvPicPr>
          <p:nvPr/>
        </p:nvPicPr>
        <p:blipFill>
          <a:blip r:embed="rId3"/>
          <a:stretch>
            <a:fillRect/>
          </a:stretch>
        </p:blipFill>
        <p:spPr>
          <a:xfrm>
            <a:off x="4836000" y="1087120"/>
            <a:ext cx="2520000" cy="2520000"/>
          </a:xfrm>
          <a:prstGeom prst="rect">
            <a:avLst/>
          </a:prstGeom>
        </p:spPr>
      </p:pic>
      <p:pic>
        <p:nvPicPr>
          <p:cNvPr id="13" name="Picture 12" descr="A cartoon of a person&#10;&#10;AI-generated content may be incorrect.">
            <a:extLst>
              <a:ext uri="{FF2B5EF4-FFF2-40B4-BE49-F238E27FC236}">
                <a16:creationId xmlns:a16="http://schemas.microsoft.com/office/drawing/2014/main" id="{F7173C23-47BE-F24F-45C1-D31048542E67}"/>
              </a:ext>
            </a:extLst>
          </p:cNvPr>
          <p:cNvPicPr>
            <a:picLocks noChangeAspect="1"/>
          </p:cNvPicPr>
          <p:nvPr/>
        </p:nvPicPr>
        <p:blipFill>
          <a:blip r:embed="rId4"/>
          <a:stretch>
            <a:fillRect/>
          </a:stretch>
        </p:blipFill>
        <p:spPr>
          <a:xfrm>
            <a:off x="9332327" y="4342616"/>
            <a:ext cx="1091903" cy="1800000"/>
          </a:xfrm>
          <a:prstGeom prst="rect">
            <a:avLst/>
          </a:prstGeom>
        </p:spPr>
      </p:pic>
      <p:pic>
        <p:nvPicPr>
          <p:cNvPr id="15" name="Picture 14">
            <a:extLst>
              <a:ext uri="{FF2B5EF4-FFF2-40B4-BE49-F238E27FC236}">
                <a16:creationId xmlns:a16="http://schemas.microsoft.com/office/drawing/2014/main" id="{BA2377C7-D77C-5CF1-6929-D79FCC403DD4}"/>
              </a:ext>
            </a:extLst>
          </p:cNvPr>
          <p:cNvPicPr>
            <a:picLocks noChangeAspect="1"/>
          </p:cNvPicPr>
          <p:nvPr/>
        </p:nvPicPr>
        <p:blipFill>
          <a:blip r:embed="rId5"/>
          <a:stretch>
            <a:fillRect/>
          </a:stretch>
        </p:blipFill>
        <p:spPr>
          <a:xfrm>
            <a:off x="1767770" y="4342616"/>
            <a:ext cx="1091903" cy="1800000"/>
          </a:xfrm>
          <a:prstGeom prst="rect">
            <a:avLst/>
          </a:prstGeom>
        </p:spPr>
      </p:pic>
      <p:sp>
        <p:nvSpPr>
          <p:cNvPr id="18" name="Arc 17">
            <a:extLst>
              <a:ext uri="{FF2B5EF4-FFF2-40B4-BE49-F238E27FC236}">
                <a16:creationId xmlns:a16="http://schemas.microsoft.com/office/drawing/2014/main" id="{49198713-7E2E-8BE6-A2E9-09154FFE014A}"/>
              </a:ext>
            </a:extLst>
          </p:cNvPr>
          <p:cNvSpPr/>
          <p:nvPr/>
        </p:nvSpPr>
        <p:spPr>
          <a:xfrm>
            <a:off x="2313721" y="2750088"/>
            <a:ext cx="6640372" cy="3020791"/>
          </a:xfrm>
          <a:prstGeom prst="arc">
            <a:avLst>
              <a:gd name="adj1" fmla="val 10808775"/>
              <a:gd name="adj2" fmla="val 1496041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21" name="Snip Single Corner of Rectangle 20">
            <a:extLst>
              <a:ext uri="{FF2B5EF4-FFF2-40B4-BE49-F238E27FC236}">
                <a16:creationId xmlns:a16="http://schemas.microsoft.com/office/drawing/2014/main" id="{40F06A02-33FA-2905-AA78-AD3E04C077D0}"/>
              </a:ext>
            </a:extLst>
          </p:cNvPr>
          <p:cNvSpPr/>
          <p:nvPr/>
        </p:nvSpPr>
        <p:spPr>
          <a:xfrm rot="5400000">
            <a:off x="7366633" y="1307805"/>
            <a:ext cx="1233376" cy="1254642"/>
          </a:xfrm>
          <a:prstGeom prst="snip1Rect">
            <a:avLst>
              <a:gd name="adj" fmla="val 1899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scene3d>
              <a:camera prst="orthographicFront">
                <a:rot lat="0" lon="0" rev="5400000"/>
              </a:camera>
              <a:lightRig rig="threePt" dir="t"/>
            </a:scene3d>
          </a:bodyPr>
          <a:lstStyle/>
          <a:p>
            <a:r>
              <a:rPr lang="en-PK" sz="2000" dirty="0">
                <a:solidFill>
                  <a:srgbClr val="308D3E"/>
                </a:solidFill>
              </a:rPr>
              <a:t>Alice: $20</a:t>
            </a:r>
          </a:p>
          <a:p>
            <a:r>
              <a:rPr lang="en-PK" sz="2000" dirty="0">
                <a:solidFill>
                  <a:srgbClr val="308D3E"/>
                </a:solidFill>
              </a:rPr>
              <a:t>Bob: $30</a:t>
            </a:r>
          </a:p>
          <a:p>
            <a:endParaRPr lang="en-PK" sz="2000" dirty="0">
              <a:solidFill>
                <a:srgbClr val="308D3E"/>
              </a:solidFill>
            </a:endParaRPr>
          </a:p>
        </p:txBody>
      </p:sp>
      <p:sp>
        <p:nvSpPr>
          <p:cNvPr id="23" name="TextBox 22">
            <a:extLst>
              <a:ext uri="{FF2B5EF4-FFF2-40B4-BE49-F238E27FC236}">
                <a16:creationId xmlns:a16="http://schemas.microsoft.com/office/drawing/2014/main" id="{BF4B4439-8427-3D0D-096B-415209E0E7E0}"/>
              </a:ext>
            </a:extLst>
          </p:cNvPr>
          <p:cNvSpPr txBox="1"/>
          <p:nvPr/>
        </p:nvSpPr>
        <p:spPr>
          <a:xfrm>
            <a:off x="1876248" y="2478103"/>
            <a:ext cx="1631412" cy="646331"/>
          </a:xfrm>
          <a:prstGeom prst="rect">
            <a:avLst/>
          </a:prstGeom>
          <a:noFill/>
        </p:spPr>
        <p:txBody>
          <a:bodyPr wrap="square" rtlCol="0">
            <a:spAutoFit/>
          </a:bodyPr>
          <a:lstStyle/>
          <a:p>
            <a:r>
              <a:rPr lang="en-PK" dirty="0"/>
              <a:t>I would like to send $5 to Bob</a:t>
            </a:r>
          </a:p>
        </p:txBody>
      </p:sp>
      <p:sp>
        <p:nvSpPr>
          <p:cNvPr id="7" name="Rounded Rectangle 6">
            <a:extLst>
              <a:ext uri="{FF2B5EF4-FFF2-40B4-BE49-F238E27FC236}">
                <a16:creationId xmlns:a16="http://schemas.microsoft.com/office/drawing/2014/main" id="{21909D58-D6AC-76C3-74BA-67D32C6834A0}"/>
              </a:ext>
            </a:extLst>
          </p:cNvPr>
          <p:cNvSpPr/>
          <p:nvPr/>
        </p:nvSpPr>
        <p:spPr>
          <a:xfrm>
            <a:off x="4433535" y="4337250"/>
            <a:ext cx="3324929" cy="51077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400" dirty="0"/>
              <a:t>Can banks really say NO?</a:t>
            </a:r>
          </a:p>
        </p:txBody>
      </p:sp>
      <p:sp>
        <p:nvSpPr>
          <p:cNvPr id="4" name="Sequential Access Storage 3">
            <a:extLst>
              <a:ext uri="{FF2B5EF4-FFF2-40B4-BE49-F238E27FC236}">
                <a16:creationId xmlns:a16="http://schemas.microsoft.com/office/drawing/2014/main" id="{99C7F301-A148-8EF6-1E6C-560A7CF061D5}"/>
              </a:ext>
            </a:extLst>
          </p:cNvPr>
          <p:cNvSpPr>
            <a:spLocks noChangeAspect="1"/>
          </p:cNvSpPr>
          <p:nvPr/>
        </p:nvSpPr>
        <p:spPr>
          <a:xfrm>
            <a:off x="3576000" y="1291814"/>
            <a:ext cx="1260000" cy="1260000"/>
          </a:xfrm>
          <a:prstGeom prst="flowChartMagneticTap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4000" b="1" dirty="0"/>
              <a:t>NO</a:t>
            </a:r>
          </a:p>
        </p:txBody>
      </p:sp>
      <p:sp>
        <p:nvSpPr>
          <p:cNvPr id="8" name="Rounded Rectangle 7">
            <a:extLst>
              <a:ext uri="{FF2B5EF4-FFF2-40B4-BE49-F238E27FC236}">
                <a16:creationId xmlns:a16="http://schemas.microsoft.com/office/drawing/2014/main" id="{566820FB-DD9B-636C-F71C-D071BF58458E}"/>
              </a:ext>
            </a:extLst>
          </p:cNvPr>
          <p:cNvSpPr/>
          <p:nvPr/>
        </p:nvSpPr>
        <p:spPr>
          <a:xfrm>
            <a:off x="2801461" y="5018904"/>
            <a:ext cx="6591358" cy="1123712"/>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GB" sz="2000" dirty="0">
                <a:solidFill>
                  <a:srgbClr val="7030A0"/>
                </a:solidFill>
              </a:rPr>
              <a:t>They can </a:t>
            </a:r>
            <a:r>
              <a:rPr lang="en-GB" sz="2000" b="1" dirty="0">
                <a:solidFill>
                  <a:srgbClr val="C00000"/>
                </a:solidFill>
              </a:rPr>
              <a:t>censor</a:t>
            </a:r>
            <a:r>
              <a:rPr lang="en-GB" sz="2000" dirty="0">
                <a:solidFill>
                  <a:srgbClr val="7030A0"/>
                </a:solidFill>
              </a:rPr>
              <a:t> the customers, OR they can deny if they made </a:t>
            </a:r>
            <a:r>
              <a:rPr lang="en-GB" sz="2000" b="1" dirty="0">
                <a:solidFill>
                  <a:srgbClr val="C00000"/>
                </a:solidFill>
              </a:rPr>
              <a:t>bad investment choices</a:t>
            </a:r>
            <a:r>
              <a:rPr lang="en-GB" sz="2000" dirty="0">
                <a:solidFill>
                  <a:srgbClr val="7030A0"/>
                </a:solidFill>
              </a:rPr>
              <a:t>, as in the case of Washington Mutual, Silicon Valley Bank, First Republic, Signature Bank</a:t>
            </a:r>
          </a:p>
        </p:txBody>
      </p:sp>
    </p:spTree>
    <p:extLst>
      <p:ext uri="{BB962C8B-B14F-4D97-AF65-F5344CB8AC3E}">
        <p14:creationId xmlns:p14="http://schemas.microsoft.com/office/powerpoint/2010/main" val="15695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p:bldP spid="7" grpId="0" animBg="1"/>
      <p:bldP spid="4"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49CA2-17F8-74FD-362A-E53B1E3F0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272D5-3D44-CEAD-5671-D8EDD83492B4}"/>
              </a:ext>
            </a:extLst>
          </p:cNvPr>
          <p:cNvSpPr>
            <a:spLocks noGrp="1"/>
          </p:cNvSpPr>
          <p:nvPr>
            <p:ph type="title"/>
          </p:nvPr>
        </p:nvSpPr>
        <p:spPr/>
        <p:txBody>
          <a:bodyPr/>
          <a:lstStyle/>
          <a:p>
            <a:r>
              <a:rPr lang="en-PK" dirty="0"/>
              <a:t>First Attempt on P2P Payments: Simple E-Cash</a:t>
            </a:r>
          </a:p>
        </p:txBody>
      </p:sp>
      <p:sp>
        <p:nvSpPr>
          <p:cNvPr id="3" name="Slide Number Placeholder 2">
            <a:extLst>
              <a:ext uri="{FF2B5EF4-FFF2-40B4-BE49-F238E27FC236}">
                <a16:creationId xmlns:a16="http://schemas.microsoft.com/office/drawing/2014/main" id="{328D9C70-3DCB-0688-034C-93B0B1B08F42}"/>
              </a:ext>
            </a:extLst>
          </p:cNvPr>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5" name="Picture 4" descr="A yellow building with columns and blue text&#10;&#10;AI-generated content may be incorrect.">
            <a:extLst>
              <a:ext uri="{FF2B5EF4-FFF2-40B4-BE49-F238E27FC236}">
                <a16:creationId xmlns:a16="http://schemas.microsoft.com/office/drawing/2014/main" id="{F12019AC-1DFF-25D7-92C3-26A20FE8A694}"/>
              </a:ext>
            </a:extLst>
          </p:cNvPr>
          <p:cNvPicPr>
            <a:picLocks noChangeAspect="1"/>
          </p:cNvPicPr>
          <p:nvPr/>
        </p:nvPicPr>
        <p:blipFill>
          <a:blip r:embed="rId3"/>
          <a:stretch>
            <a:fillRect/>
          </a:stretch>
        </p:blipFill>
        <p:spPr>
          <a:xfrm>
            <a:off x="4836000" y="1087120"/>
            <a:ext cx="2520000" cy="2520000"/>
          </a:xfrm>
          <a:prstGeom prst="rect">
            <a:avLst/>
          </a:prstGeom>
        </p:spPr>
      </p:pic>
      <p:pic>
        <p:nvPicPr>
          <p:cNvPr id="13" name="Picture 12" descr="A cartoon of a person&#10;&#10;AI-generated content may be incorrect.">
            <a:extLst>
              <a:ext uri="{FF2B5EF4-FFF2-40B4-BE49-F238E27FC236}">
                <a16:creationId xmlns:a16="http://schemas.microsoft.com/office/drawing/2014/main" id="{C9A71B71-EEB1-5F54-D824-3736E0F9B9F2}"/>
              </a:ext>
            </a:extLst>
          </p:cNvPr>
          <p:cNvPicPr>
            <a:picLocks noChangeAspect="1"/>
          </p:cNvPicPr>
          <p:nvPr/>
        </p:nvPicPr>
        <p:blipFill>
          <a:blip r:embed="rId4"/>
          <a:stretch>
            <a:fillRect/>
          </a:stretch>
        </p:blipFill>
        <p:spPr>
          <a:xfrm>
            <a:off x="9332327" y="4342616"/>
            <a:ext cx="1091903" cy="1800000"/>
          </a:xfrm>
          <a:prstGeom prst="rect">
            <a:avLst/>
          </a:prstGeom>
        </p:spPr>
      </p:pic>
      <p:pic>
        <p:nvPicPr>
          <p:cNvPr id="15" name="Picture 14">
            <a:extLst>
              <a:ext uri="{FF2B5EF4-FFF2-40B4-BE49-F238E27FC236}">
                <a16:creationId xmlns:a16="http://schemas.microsoft.com/office/drawing/2014/main" id="{7E2E7444-75CD-AB59-4283-D63804932D4D}"/>
              </a:ext>
            </a:extLst>
          </p:cNvPr>
          <p:cNvPicPr>
            <a:picLocks noChangeAspect="1"/>
          </p:cNvPicPr>
          <p:nvPr/>
        </p:nvPicPr>
        <p:blipFill>
          <a:blip r:embed="rId5"/>
          <a:stretch>
            <a:fillRect/>
          </a:stretch>
        </p:blipFill>
        <p:spPr>
          <a:xfrm>
            <a:off x="1767770" y="4342616"/>
            <a:ext cx="1091903" cy="1800000"/>
          </a:xfrm>
          <a:prstGeom prst="rect">
            <a:avLst/>
          </a:prstGeom>
        </p:spPr>
      </p:pic>
      <p:sp>
        <p:nvSpPr>
          <p:cNvPr id="18" name="Arc 17">
            <a:extLst>
              <a:ext uri="{FF2B5EF4-FFF2-40B4-BE49-F238E27FC236}">
                <a16:creationId xmlns:a16="http://schemas.microsoft.com/office/drawing/2014/main" id="{E001E76B-6F6B-C61A-8F8D-CF5AB5B1FF1B}"/>
              </a:ext>
            </a:extLst>
          </p:cNvPr>
          <p:cNvSpPr/>
          <p:nvPr/>
        </p:nvSpPr>
        <p:spPr>
          <a:xfrm>
            <a:off x="2313721" y="2750088"/>
            <a:ext cx="6640372" cy="3020791"/>
          </a:xfrm>
          <a:prstGeom prst="arc">
            <a:avLst>
              <a:gd name="adj1" fmla="val 10808775"/>
              <a:gd name="adj2" fmla="val 1496041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23" name="TextBox 22">
            <a:extLst>
              <a:ext uri="{FF2B5EF4-FFF2-40B4-BE49-F238E27FC236}">
                <a16:creationId xmlns:a16="http://schemas.microsoft.com/office/drawing/2014/main" id="{371665C1-A904-E927-AF5A-99029B39AB02}"/>
              </a:ext>
            </a:extLst>
          </p:cNvPr>
          <p:cNvSpPr txBox="1"/>
          <p:nvPr/>
        </p:nvSpPr>
        <p:spPr>
          <a:xfrm>
            <a:off x="1770061" y="2423045"/>
            <a:ext cx="1843786" cy="646331"/>
          </a:xfrm>
          <a:prstGeom prst="rect">
            <a:avLst/>
          </a:prstGeom>
          <a:noFill/>
        </p:spPr>
        <p:txBody>
          <a:bodyPr wrap="square" rtlCol="0">
            <a:spAutoFit/>
          </a:bodyPr>
          <a:lstStyle/>
          <a:p>
            <a:r>
              <a:rPr lang="en-PK" dirty="0"/>
              <a:t>I would like to get a $5 digital coin</a:t>
            </a:r>
          </a:p>
        </p:txBody>
      </p:sp>
      <p:cxnSp>
        <p:nvCxnSpPr>
          <p:cNvPr id="30" name="Straight Arrow Connector 29">
            <a:extLst>
              <a:ext uri="{FF2B5EF4-FFF2-40B4-BE49-F238E27FC236}">
                <a16:creationId xmlns:a16="http://schemas.microsoft.com/office/drawing/2014/main" id="{1A27DAF1-2686-6A16-8344-35218021FC8E}"/>
              </a:ext>
            </a:extLst>
          </p:cNvPr>
          <p:cNvCxnSpPr/>
          <p:nvPr/>
        </p:nvCxnSpPr>
        <p:spPr>
          <a:xfrm>
            <a:off x="3237906" y="5770879"/>
            <a:ext cx="5548285"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Arc 31">
            <a:extLst>
              <a:ext uri="{FF2B5EF4-FFF2-40B4-BE49-F238E27FC236}">
                <a16:creationId xmlns:a16="http://schemas.microsoft.com/office/drawing/2014/main" id="{47D28FCC-D744-1068-B112-41811C8356EA}"/>
              </a:ext>
            </a:extLst>
          </p:cNvPr>
          <p:cNvSpPr/>
          <p:nvPr/>
        </p:nvSpPr>
        <p:spPr>
          <a:xfrm>
            <a:off x="3237906" y="2750089"/>
            <a:ext cx="6640372" cy="3020791"/>
          </a:xfrm>
          <a:prstGeom prst="arc">
            <a:avLst>
              <a:gd name="adj1" fmla="val 17575612"/>
              <a:gd name="adj2" fmla="val 0"/>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44" name="Picture 43" descr="A sandwich with meat and vegetables&#10;&#10;AI-generated content may be incorrect.">
            <a:extLst>
              <a:ext uri="{FF2B5EF4-FFF2-40B4-BE49-F238E27FC236}">
                <a16:creationId xmlns:a16="http://schemas.microsoft.com/office/drawing/2014/main" id="{1459B3C1-D14C-D6AC-5DF5-701848975A86}"/>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5271666" y="4592639"/>
            <a:ext cx="1648665" cy="1080000"/>
          </a:xfrm>
          <a:prstGeom prst="rect">
            <a:avLst/>
          </a:prstGeom>
        </p:spPr>
      </p:pic>
      <p:cxnSp>
        <p:nvCxnSpPr>
          <p:cNvPr id="45" name="Straight Arrow Connector 44">
            <a:extLst>
              <a:ext uri="{FF2B5EF4-FFF2-40B4-BE49-F238E27FC236}">
                <a16:creationId xmlns:a16="http://schemas.microsoft.com/office/drawing/2014/main" id="{8DDE0C92-09E1-3F44-33E1-94FEF172850D}"/>
              </a:ext>
            </a:extLst>
          </p:cNvPr>
          <p:cNvCxnSpPr/>
          <p:nvPr/>
        </p:nvCxnSpPr>
        <p:spPr>
          <a:xfrm>
            <a:off x="3206002" y="5770879"/>
            <a:ext cx="5548285" cy="0"/>
          </a:xfrm>
          <a:prstGeom prst="straightConnector1">
            <a:avLst/>
          </a:prstGeom>
          <a:ln w="28575">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4" name="Arc 3">
            <a:extLst>
              <a:ext uri="{FF2B5EF4-FFF2-40B4-BE49-F238E27FC236}">
                <a16:creationId xmlns:a16="http://schemas.microsoft.com/office/drawing/2014/main" id="{EE25FFAE-C5E3-4379-B844-1723229C3DBF}"/>
              </a:ext>
            </a:extLst>
          </p:cNvPr>
          <p:cNvSpPr/>
          <p:nvPr/>
        </p:nvSpPr>
        <p:spPr>
          <a:xfrm>
            <a:off x="2313721" y="2750088"/>
            <a:ext cx="6640372" cy="3020791"/>
          </a:xfrm>
          <a:prstGeom prst="arc">
            <a:avLst>
              <a:gd name="adj1" fmla="val 10808775"/>
              <a:gd name="adj2" fmla="val 14960412"/>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9" name="Picture 8" descr="A letter c made of circuit board&#10;&#10;AI-generated content may be incorrect.">
            <a:extLst>
              <a:ext uri="{FF2B5EF4-FFF2-40B4-BE49-F238E27FC236}">
                <a16:creationId xmlns:a16="http://schemas.microsoft.com/office/drawing/2014/main" id="{A0B415A3-F489-DFF0-1B52-1336479D5807}"/>
              </a:ext>
            </a:extLst>
          </p:cNvPr>
          <p:cNvPicPr>
            <a:picLocks noChangeAspect="1"/>
          </p:cNvPicPr>
          <p:nvPr/>
        </p:nvPicPr>
        <p:blipFill>
          <a:blip r:embed="rId8"/>
          <a:stretch>
            <a:fillRect/>
          </a:stretch>
        </p:blipFill>
        <p:spPr>
          <a:xfrm>
            <a:off x="3312310" y="3069377"/>
            <a:ext cx="1080000" cy="1080000"/>
          </a:xfrm>
          <a:prstGeom prst="rect">
            <a:avLst/>
          </a:prstGeom>
        </p:spPr>
      </p:pic>
      <p:pic>
        <p:nvPicPr>
          <p:cNvPr id="11" name="Picture 10" descr="A close-up of a paper money&#10;&#10;AI-generated content may be incorrect.">
            <a:extLst>
              <a:ext uri="{FF2B5EF4-FFF2-40B4-BE49-F238E27FC236}">
                <a16:creationId xmlns:a16="http://schemas.microsoft.com/office/drawing/2014/main" id="{099AEBE5-2845-298A-5A85-70CF45B10FB7}"/>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188519" y="3161680"/>
            <a:ext cx="2088000" cy="890880"/>
          </a:xfrm>
          <a:prstGeom prst="rect">
            <a:avLst/>
          </a:prstGeom>
        </p:spPr>
      </p:pic>
      <p:pic>
        <p:nvPicPr>
          <p:cNvPr id="14" name="Picture 13" descr="A letter c made of circuit board&#10;&#10;AI-generated content may be incorrect.">
            <a:extLst>
              <a:ext uri="{FF2B5EF4-FFF2-40B4-BE49-F238E27FC236}">
                <a16:creationId xmlns:a16="http://schemas.microsoft.com/office/drawing/2014/main" id="{53D26676-9BF1-F7D0-5DF7-013B1B2F425D}"/>
              </a:ext>
            </a:extLst>
          </p:cNvPr>
          <p:cNvPicPr>
            <a:picLocks noChangeAspect="1"/>
          </p:cNvPicPr>
          <p:nvPr/>
        </p:nvPicPr>
        <p:blipFill>
          <a:blip r:embed="rId8"/>
          <a:stretch>
            <a:fillRect/>
          </a:stretch>
        </p:blipFill>
        <p:spPr>
          <a:xfrm>
            <a:off x="5555998" y="4592639"/>
            <a:ext cx="1080000" cy="1080000"/>
          </a:xfrm>
          <a:prstGeom prst="rect">
            <a:avLst/>
          </a:prstGeom>
        </p:spPr>
      </p:pic>
      <p:pic>
        <p:nvPicPr>
          <p:cNvPr id="16" name="Picture 15" descr="A letter c made of circuit board&#10;&#10;AI-generated content may be incorrect.">
            <a:extLst>
              <a:ext uri="{FF2B5EF4-FFF2-40B4-BE49-F238E27FC236}">
                <a16:creationId xmlns:a16="http://schemas.microsoft.com/office/drawing/2014/main" id="{301E1503-C79A-6691-9B40-94719956EA0D}"/>
              </a:ext>
            </a:extLst>
          </p:cNvPr>
          <p:cNvPicPr>
            <a:picLocks noChangeAspect="1"/>
          </p:cNvPicPr>
          <p:nvPr/>
        </p:nvPicPr>
        <p:blipFill>
          <a:blip r:embed="rId8"/>
          <a:stretch>
            <a:fillRect/>
          </a:stretch>
        </p:blipFill>
        <p:spPr>
          <a:xfrm>
            <a:off x="7869520" y="3180484"/>
            <a:ext cx="1080000" cy="1080000"/>
          </a:xfrm>
          <a:prstGeom prst="rect">
            <a:avLst/>
          </a:prstGeom>
        </p:spPr>
      </p:pic>
      <p:sp>
        <p:nvSpPr>
          <p:cNvPr id="17" name="Arc 16">
            <a:extLst>
              <a:ext uri="{FF2B5EF4-FFF2-40B4-BE49-F238E27FC236}">
                <a16:creationId xmlns:a16="http://schemas.microsoft.com/office/drawing/2014/main" id="{59753153-60C6-E458-458E-0DD5A061825F}"/>
              </a:ext>
            </a:extLst>
          </p:cNvPr>
          <p:cNvSpPr/>
          <p:nvPr/>
        </p:nvSpPr>
        <p:spPr>
          <a:xfrm>
            <a:off x="3237906" y="2750088"/>
            <a:ext cx="6640372" cy="3020791"/>
          </a:xfrm>
          <a:prstGeom prst="arc">
            <a:avLst>
              <a:gd name="adj1" fmla="val 17575612"/>
              <a:gd name="adj2" fmla="val 0"/>
            </a:avLst>
          </a:prstGeom>
          <a:ln w="25400">
            <a:solidFill>
              <a:schemeClr val="tx1"/>
            </a:solidFill>
            <a:headEnd type="none"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19" name="Picture 18" descr="A close-up of a paper money&#10;&#10;AI-generated content may be incorrect.">
            <a:extLst>
              <a:ext uri="{FF2B5EF4-FFF2-40B4-BE49-F238E27FC236}">
                <a16:creationId xmlns:a16="http://schemas.microsoft.com/office/drawing/2014/main" id="{4697802C-F04F-6117-A613-F6E628C55C36}"/>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9062238" y="2289604"/>
            <a:ext cx="2088000" cy="890880"/>
          </a:xfrm>
          <a:prstGeom prst="rect">
            <a:avLst/>
          </a:prstGeom>
        </p:spPr>
      </p:pic>
      <p:sp>
        <p:nvSpPr>
          <p:cNvPr id="20" name="Rounded Rectangle 19">
            <a:extLst>
              <a:ext uri="{FF2B5EF4-FFF2-40B4-BE49-F238E27FC236}">
                <a16:creationId xmlns:a16="http://schemas.microsoft.com/office/drawing/2014/main" id="{1926A45C-4DF4-D9A3-EBE6-BD0118DB14EE}"/>
              </a:ext>
            </a:extLst>
          </p:cNvPr>
          <p:cNvSpPr/>
          <p:nvPr/>
        </p:nvSpPr>
        <p:spPr>
          <a:xfrm>
            <a:off x="4602570" y="3397433"/>
            <a:ext cx="2986855" cy="51077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400" dirty="0"/>
              <a:t>Do we see a problem?</a:t>
            </a:r>
          </a:p>
        </p:txBody>
      </p:sp>
      <p:sp>
        <p:nvSpPr>
          <p:cNvPr id="22" name="Rounded Rectangle 21">
            <a:extLst>
              <a:ext uri="{FF2B5EF4-FFF2-40B4-BE49-F238E27FC236}">
                <a16:creationId xmlns:a16="http://schemas.microsoft.com/office/drawing/2014/main" id="{6BFB8EA4-1570-CF79-2BFA-492D7486A167}"/>
              </a:ext>
            </a:extLst>
          </p:cNvPr>
          <p:cNvSpPr/>
          <p:nvPr/>
        </p:nvSpPr>
        <p:spPr>
          <a:xfrm>
            <a:off x="4918533" y="4005095"/>
            <a:ext cx="2354933" cy="51077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GB" sz="2400" dirty="0">
                <a:solidFill>
                  <a:schemeClr val="accent4">
                    <a:lumMod val="20000"/>
                    <a:lumOff val="80000"/>
                  </a:schemeClr>
                </a:solidFill>
              </a:rPr>
              <a:t>Double Spending</a:t>
            </a:r>
          </a:p>
        </p:txBody>
      </p:sp>
      <p:sp>
        <p:nvSpPr>
          <p:cNvPr id="7" name="Rounded Rectangle 6">
            <a:extLst>
              <a:ext uri="{FF2B5EF4-FFF2-40B4-BE49-F238E27FC236}">
                <a16:creationId xmlns:a16="http://schemas.microsoft.com/office/drawing/2014/main" id="{963E253A-60CA-AB39-05F2-E5F059EEFB0C}"/>
              </a:ext>
            </a:extLst>
          </p:cNvPr>
          <p:cNvSpPr/>
          <p:nvPr/>
        </p:nvSpPr>
        <p:spPr>
          <a:xfrm>
            <a:off x="7979576" y="1467939"/>
            <a:ext cx="2165324" cy="44267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GB" sz="2000" dirty="0">
                <a:solidFill>
                  <a:srgbClr val="7030A0"/>
                </a:solidFill>
              </a:rPr>
              <a:t>Sometimes later …</a:t>
            </a:r>
          </a:p>
        </p:txBody>
      </p:sp>
      <p:sp>
        <p:nvSpPr>
          <p:cNvPr id="8" name="Rounded Rectangle 7">
            <a:extLst>
              <a:ext uri="{FF2B5EF4-FFF2-40B4-BE49-F238E27FC236}">
                <a16:creationId xmlns:a16="http://schemas.microsoft.com/office/drawing/2014/main" id="{ECA9D638-66B3-18F1-51A1-280173CD056A}"/>
              </a:ext>
            </a:extLst>
          </p:cNvPr>
          <p:cNvSpPr/>
          <p:nvPr/>
        </p:nvSpPr>
        <p:spPr>
          <a:xfrm>
            <a:off x="95592" y="1450474"/>
            <a:ext cx="4523213" cy="1328023"/>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GB" sz="2400" dirty="0">
                <a:solidFill>
                  <a:schemeClr val="accent4">
                    <a:lumMod val="20000"/>
                    <a:lumOff val="80000"/>
                  </a:schemeClr>
                </a:solidFill>
              </a:rPr>
              <a:t>A digital token (coin) can be copied just like a file. Alice can give the same token to Charlie!</a:t>
            </a:r>
          </a:p>
        </p:txBody>
      </p:sp>
    </p:spTree>
    <p:extLst>
      <p:ext uri="{BB962C8B-B14F-4D97-AF65-F5344CB8AC3E}">
        <p14:creationId xmlns:p14="http://schemas.microsoft.com/office/powerpoint/2010/main" val="31596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par>
                                <p:cTn id="11" presetID="9"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grpId="1" nodeType="clickEffect">
                                  <p:stCondLst>
                                    <p:cond delay="0"/>
                                  </p:stCondLst>
                                  <p:childTnLst>
                                    <p:animEffect transition="out" filter="dissolve">
                                      <p:cBhvr>
                                        <p:cTn id="17" dur="500"/>
                                        <p:tgtEl>
                                          <p:spTgt spid="23"/>
                                        </p:tgtEl>
                                      </p:cBhvr>
                                    </p:animEffect>
                                    <p:set>
                                      <p:cBhvr>
                                        <p:cTn id="18" dur="1" fill="hold">
                                          <p:stCondLst>
                                            <p:cond delay="499"/>
                                          </p:stCondLst>
                                        </p:cTn>
                                        <p:tgtEl>
                                          <p:spTgt spid="23"/>
                                        </p:tgtEl>
                                        <p:attrNameLst>
                                          <p:attrName>style.visibility</p:attrName>
                                        </p:attrNameLst>
                                      </p:cBhvr>
                                      <p:to>
                                        <p:strVal val="hidden"/>
                                      </p:to>
                                    </p:set>
                                  </p:childTnLst>
                                </p:cTn>
                              </p:par>
                              <p:par>
                                <p:cTn id="19" presetID="9" presetClass="exit" presetSubtype="0" fill="hold" grpId="1" nodeType="withEffect">
                                  <p:stCondLst>
                                    <p:cond delay="0"/>
                                  </p:stCondLst>
                                  <p:childTnLst>
                                    <p:animEffect transition="out" filter="dissolve">
                                      <p:cBhvr>
                                        <p:cTn id="20" dur="500"/>
                                        <p:tgtEl>
                                          <p:spTgt spid="18"/>
                                        </p:tgtEl>
                                      </p:cBhvr>
                                    </p:animEffect>
                                    <p:set>
                                      <p:cBhvr>
                                        <p:cTn id="21" dur="1" fill="hold">
                                          <p:stCondLst>
                                            <p:cond delay="499"/>
                                          </p:stCondLst>
                                        </p:cTn>
                                        <p:tgtEl>
                                          <p:spTgt spid="18"/>
                                        </p:tgtEl>
                                        <p:attrNameLst>
                                          <p:attrName>style.visibility</p:attrName>
                                        </p:attrNameLst>
                                      </p:cBhvr>
                                      <p:to>
                                        <p:strVal val="hidden"/>
                                      </p:to>
                                    </p:set>
                                  </p:childTnLst>
                                </p:cTn>
                              </p:par>
                              <p:par>
                                <p:cTn id="22" presetID="9" presetClass="exit" presetSubtype="0" fill="hold" nodeType="withEffect">
                                  <p:stCondLst>
                                    <p:cond delay="0"/>
                                  </p:stCondLst>
                                  <p:childTnLst>
                                    <p:animEffect transition="out" filter="dissolve">
                                      <p:cBhvr>
                                        <p:cTn id="23" dur="500"/>
                                        <p:tgtEl>
                                          <p:spTgt spid="11"/>
                                        </p:tgtEl>
                                      </p:cBhvr>
                                    </p:animEffect>
                                    <p:set>
                                      <p:cBhvr>
                                        <p:cTn id="24" dur="1" fill="hold">
                                          <p:stCondLst>
                                            <p:cond delay="499"/>
                                          </p:stCondLst>
                                        </p:cTn>
                                        <p:tgtEl>
                                          <p:spTgt spid="11"/>
                                        </p:tgtEl>
                                        <p:attrNameLst>
                                          <p:attrName>style.visibility</p:attrName>
                                        </p:attrNameLst>
                                      </p:cBhvr>
                                      <p:to>
                                        <p:strVal val="hidden"/>
                                      </p:to>
                                    </p:se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dissolve">
                                      <p:cBhvr>
                                        <p:cTn id="36" dur="500"/>
                                        <p:tgtEl>
                                          <p:spTgt spid="30"/>
                                        </p:tgtEl>
                                      </p:cBhvr>
                                    </p:animEffect>
                                  </p:childTnLst>
                                </p:cTn>
                              </p:par>
                              <p:par>
                                <p:cTn id="37" presetID="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dissolv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xit" presetSubtype="0" fill="hold" nodeType="clickEffect">
                                  <p:stCondLst>
                                    <p:cond delay="0"/>
                                  </p:stCondLst>
                                  <p:childTnLst>
                                    <p:animEffect transition="out" filter="dissolve">
                                      <p:cBhvr>
                                        <p:cTn id="43" dur="500"/>
                                        <p:tgtEl>
                                          <p:spTgt spid="14"/>
                                        </p:tgtEl>
                                      </p:cBhvr>
                                    </p:animEffect>
                                    <p:set>
                                      <p:cBhvr>
                                        <p:cTn id="44" dur="1" fill="hold">
                                          <p:stCondLst>
                                            <p:cond delay="499"/>
                                          </p:stCondLst>
                                        </p:cTn>
                                        <p:tgtEl>
                                          <p:spTgt spid="14"/>
                                        </p:tgtEl>
                                        <p:attrNameLst>
                                          <p:attrName>style.visibility</p:attrName>
                                        </p:attrNameLst>
                                      </p:cBhvr>
                                      <p:to>
                                        <p:strVal val="hidden"/>
                                      </p:to>
                                    </p:set>
                                  </p:childTnLst>
                                </p:cTn>
                              </p:par>
                            </p:childTnLst>
                          </p:cTn>
                        </p:par>
                        <p:par>
                          <p:cTn id="45" fill="hold">
                            <p:stCondLst>
                              <p:cond delay="500"/>
                            </p:stCondLst>
                            <p:childTnLst>
                              <p:par>
                                <p:cTn id="46" presetID="9" presetClass="exit" presetSubtype="0" fill="hold" nodeType="afterEffect">
                                  <p:stCondLst>
                                    <p:cond delay="0"/>
                                  </p:stCondLst>
                                  <p:childTnLst>
                                    <p:animEffect transition="out" filter="dissolve">
                                      <p:cBhvr>
                                        <p:cTn id="47" dur="500"/>
                                        <p:tgtEl>
                                          <p:spTgt spid="30"/>
                                        </p:tgtEl>
                                      </p:cBhvr>
                                    </p:animEffect>
                                    <p:set>
                                      <p:cBhvr>
                                        <p:cTn id="48" dur="1" fill="hold">
                                          <p:stCondLst>
                                            <p:cond delay="499"/>
                                          </p:stCondLst>
                                        </p:cTn>
                                        <p:tgtEl>
                                          <p:spTgt spid="30"/>
                                        </p:tgtEl>
                                        <p:attrNameLst>
                                          <p:attrName>style.visibility</p:attrName>
                                        </p:attrNameLst>
                                      </p:cBhvr>
                                      <p:to>
                                        <p:strVal val="hidden"/>
                                      </p:to>
                                    </p:se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dissolve">
                                      <p:cBhvr>
                                        <p:cTn id="52" dur="500"/>
                                        <p:tgtEl>
                                          <p:spTgt spid="45"/>
                                        </p:tgtEl>
                                      </p:cBhvr>
                                    </p:animEffect>
                                  </p:childTnLst>
                                </p:cTn>
                              </p:par>
                            </p:childTnLst>
                          </p:cTn>
                        </p:par>
                        <p:par>
                          <p:cTn id="53" fill="hold">
                            <p:stCondLst>
                              <p:cond delay="1500"/>
                            </p:stCondLst>
                            <p:childTnLst>
                              <p:par>
                                <p:cTn id="54" presetID="9" presetClass="entr" presetSubtype="0" fill="hold" nodeType="after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dissolve">
                                      <p:cBhvr>
                                        <p:cTn id="56" dur="500"/>
                                        <p:tgtEl>
                                          <p:spTgt spid="4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dissolve">
                                      <p:cBhvr>
                                        <p:cTn id="61" dur="500"/>
                                        <p:tgtEl>
                                          <p:spTgt spid="32"/>
                                        </p:tgtEl>
                                      </p:cBhvr>
                                    </p:animEffect>
                                  </p:childTnLst>
                                </p:cTn>
                              </p:par>
                              <p:par>
                                <p:cTn id="62" presetID="9" presetClass="entr" presetSubtype="0" fill="hold" nodeType="with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dissolve">
                                      <p:cBhvr>
                                        <p:cTn id="64" dur="500"/>
                                        <p:tgtEl>
                                          <p:spTgt spid="16"/>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dissolve">
                                      <p:cBhvr>
                                        <p:cTn id="67" dur="500"/>
                                        <p:tgtEl>
                                          <p:spTgt spid="7"/>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xit" presetSubtype="0" fill="hold" grpId="1" nodeType="clickEffect">
                                  <p:stCondLst>
                                    <p:cond delay="0"/>
                                  </p:stCondLst>
                                  <p:childTnLst>
                                    <p:animEffect transition="out" filter="dissolve">
                                      <p:cBhvr>
                                        <p:cTn id="71" dur="500"/>
                                        <p:tgtEl>
                                          <p:spTgt spid="32"/>
                                        </p:tgtEl>
                                      </p:cBhvr>
                                    </p:animEffect>
                                    <p:set>
                                      <p:cBhvr>
                                        <p:cTn id="72" dur="1" fill="hold">
                                          <p:stCondLst>
                                            <p:cond delay="499"/>
                                          </p:stCondLst>
                                        </p:cTn>
                                        <p:tgtEl>
                                          <p:spTgt spid="32"/>
                                        </p:tgtEl>
                                        <p:attrNameLst>
                                          <p:attrName>style.visibility</p:attrName>
                                        </p:attrNameLst>
                                      </p:cBhvr>
                                      <p:to>
                                        <p:strVal val="hidden"/>
                                      </p:to>
                                    </p:set>
                                  </p:childTnLst>
                                </p:cTn>
                              </p:par>
                              <p:par>
                                <p:cTn id="73" presetID="9" presetClass="exit" presetSubtype="0" fill="hold" nodeType="withEffect">
                                  <p:stCondLst>
                                    <p:cond delay="0"/>
                                  </p:stCondLst>
                                  <p:childTnLst>
                                    <p:animEffect transition="out" filter="dissolve">
                                      <p:cBhvr>
                                        <p:cTn id="74" dur="500"/>
                                        <p:tgtEl>
                                          <p:spTgt spid="16"/>
                                        </p:tgtEl>
                                      </p:cBhvr>
                                    </p:animEffect>
                                    <p:set>
                                      <p:cBhvr>
                                        <p:cTn id="75" dur="1" fill="hold">
                                          <p:stCondLst>
                                            <p:cond delay="499"/>
                                          </p:stCondLst>
                                        </p:cTn>
                                        <p:tgtEl>
                                          <p:spTgt spid="16"/>
                                        </p:tgtEl>
                                        <p:attrNameLst>
                                          <p:attrName>style.visibility</p:attrName>
                                        </p:attrNameLst>
                                      </p:cBhvr>
                                      <p:to>
                                        <p:strVal val="hidden"/>
                                      </p:to>
                                    </p:set>
                                  </p:childTnLst>
                                </p:cTn>
                              </p:par>
                              <p:par>
                                <p:cTn id="76" presetID="9" presetClass="exit" presetSubtype="0" fill="hold" grpId="1" nodeType="withEffect">
                                  <p:stCondLst>
                                    <p:cond delay="0"/>
                                  </p:stCondLst>
                                  <p:childTnLst>
                                    <p:animEffect transition="out" filter="dissolve">
                                      <p:cBhvr>
                                        <p:cTn id="77" dur="500"/>
                                        <p:tgtEl>
                                          <p:spTgt spid="7"/>
                                        </p:tgtEl>
                                      </p:cBhvr>
                                    </p:animEffect>
                                    <p:set>
                                      <p:cBhvr>
                                        <p:cTn id="78" dur="1" fill="hold">
                                          <p:stCondLst>
                                            <p:cond delay="499"/>
                                          </p:stCondLst>
                                        </p:cTn>
                                        <p:tgtEl>
                                          <p:spTgt spid="7"/>
                                        </p:tgtEl>
                                        <p:attrNameLst>
                                          <p:attrName>style.visibility</p:attrName>
                                        </p:attrNameLst>
                                      </p:cBhvr>
                                      <p:to>
                                        <p:strVal val="hidden"/>
                                      </p:to>
                                    </p:set>
                                  </p:childTnLst>
                                </p:cTn>
                              </p:par>
                            </p:childTnLst>
                          </p:cTn>
                        </p:par>
                        <p:par>
                          <p:cTn id="79" fill="hold">
                            <p:stCondLst>
                              <p:cond delay="500"/>
                            </p:stCondLst>
                            <p:childTnLst>
                              <p:par>
                                <p:cTn id="80" presetID="9" presetClass="entr" presetSubtype="0"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dissolve">
                                      <p:cBhvr>
                                        <p:cTn id="82" dur="500"/>
                                        <p:tgtEl>
                                          <p:spTgt spid="17"/>
                                        </p:tgtEl>
                                      </p:cBhvr>
                                    </p:animEffect>
                                  </p:childTnLst>
                                </p:cTn>
                              </p:par>
                            </p:childTnLst>
                          </p:cTn>
                        </p:par>
                        <p:par>
                          <p:cTn id="83" fill="hold">
                            <p:stCondLst>
                              <p:cond delay="1000"/>
                            </p:stCondLst>
                            <p:childTnLst>
                              <p:par>
                                <p:cTn id="84" presetID="9" presetClass="entr" presetSubtype="0" fill="hold" nodeType="after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dissolve">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dissolve">
                                      <p:cBhvr>
                                        <p:cTn id="95" dur="500"/>
                                        <p:tgtEl>
                                          <p:spTgt spid="22"/>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8"/>
                                        </p:tgtEl>
                                        <p:attrNameLst>
                                          <p:attrName>style.visibility</p:attrName>
                                        </p:attrNameLst>
                                      </p:cBhvr>
                                      <p:to>
                                        <p:strVal val="visible"/>
                                      </p:to>
                                    </p:set>
                                    <p:animEffect transition="in" filter="dissolve">
                                      <p:cBhvr>
                                        <p:cTn id="10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3" grpId="0"/>
      <p:bldP spid="23" grpId="1"/>
      <p:bldP spid="32" grpId="0" animBg="1"/>
      <p:bldP spid="32" grpId="1" animBg="1"/>
      <p:bldP spid="4" grpId="0" animBg="1"/>
      <p:bldP spid="17" grpId="0" animBg="1"/>
      <p:bldP spid="20" grpId="0" animBg="1"/>
      <p:bldP spid="22" grpId="0" animBg="1"/>
      <p:bldP spid="7" grpId="0" animBg="1"/>
      <p:bldP spid="7" grpId="1"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497C5-3290-B22D-ED9F-E7EFE81A9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A646A-E147-25C0-4924-F47C4B236303}"/>
              </a:ext>
            </a:extLst>
          </p:cNvPr>
          <p:cNvSpPr>
            <a:spLocks noGrp="1"/>
          </p:cNvSpPr>
          <p:nvPr>
            <p:ph type="title"/>
          </p:nvPr>
        </p:nvSpPr>
        <p:spPr/>
        <p:txBody>
          <a:bodyPr/>
          <a:lstStyle/>
          <a:p>
            <a:r>
              <a:rPr lang="en-PK" dirty="0"/>
              <a:t>Simple E-Cash without double spending</a:t>
            </a:r>
          </a:p>
        </p:txBody>
      </p:sp>
      <p:sp>
        <p:nvSpPr>
          <p:cNvPr id="3" name="Slide Number Placeholder 2">
            <a:extLst>
              <a:ext uri="{FF2B5EF4-FFF2-40B4-BE49-F238E27FC236}">
                <a16:creationId xmlns:a16="http://schemas.microsoft.com/office/drawing/2014/main" id="{F3DDF6F2-3AD1-8C33-B063-ADD42D8EFBFA}"/>
              </a:ext>
            </a:extLst>
          </p:cNvPr>
          <p:cNvSpPr>
            <a:spLocks noGrp="1"/>
          </p:cNvSpPr>
          <p:nvPr>
            <p:ph type="sldNum" sz="quarter" idx="12"/>
          </p:nvPr>
        </p:nvSpPr>
        <p:spPr/>
        <p:txBody>
          <a:bodyPr/>
          <a:lstStyle/>
          <a:p>
            <a:fld id="{D57F1E4F-1CFF-5643-939E-217C01CDF565}" type="slidenum">
              <a:rPr lang="en-US" smtClean="0"/>
              <a:pPr/>
              <a:t>23</a:t>
            </a:fld>
            <a:endParaRPr lang="en-US" dirty="0"/>
          </a:p>
        </p:txBody>
      </p:sp>
      <p:pic>
        <p:nvPicPr>
          <p:cNvPr id="5" name="Picture 4" descr="A yellow building with columns and blue text&#10;&#10;AI-generated content may be incorrect.">
            <a:extLst>
              <a:ext uri="{FF2B5EF4-FFF2-40B4-BE49-F238E27FC236}">
                <a16:creationId xmlns:a16="http://schemas.microsoft.com/office/drawing/2014/main" id="{2E2EBB56-C54F-446D-63B1-A1B3B4CD3DA4}"/>
              </a:ext>
            </a:extLst>
          </p:cNvPr>
          <p:cNvPicPr>
            <a:picLocks noChangeAspect="1"/>
          </p:cNvPicPr>
          <p:nvPr/>
        </p:nvPicPr>
        <p:blipFill>
          <a:blip r:embed="rId2"/>
          <a:stretch>
            <a:fillRect/>
          </a:stretch>
        </p:blipFill>
        <p:spPr>
          <a:xfrm>
            <a:off x="4836000" y="1087120"/>
            <a:ext cx="2520000" cy="2520000"/>
          </a:xfrm>
          <a:prstGeom prst="rect">
            <a:avLst/>
          </a:prstGeom>
        </p:spPr>
      </p:pic>
      <p:pic>
        <p:nvPicPr>
          <p:cNvPr id="13" name="Picture 12" descr="A cartoon of a person&#10;&#10;AI-generated content may be incorrect.">
            <a:extLst>
              <a:ext uri="{FF2B5EF4-FFF2-40B4-BE49-F238E27FC236}">
                <a16:creationId xmlns:a16="http://schemas.microsoft.com/office/drawing/2014/main" id="{5A2551B3-2967-48DB-3CC3-4F93D0F18FCB}"/>
              </a:ext>
            </a:extLst>
          </p:cNvPr>
          <p:cNvPicPr>
            <a:picLocks noChangeAspect="1"/>
          </p:cNvPicPr>
          <p:nvPr/>
        </p:nvPicPr>
        <p:blipFill>
          <a:blip r:embed="rId3"/>
          <a:stretch>
            <a:fillRect/>
          </a:stretch>
        </p:blipFill>
        <p:spPr>
          <a:xfrm>
            <a:off x="9332327" y="4342616"/>
            <a:ext cx="1091903" cy="1800000"/>
          </a:xfrm>
          <a:prstGeom prst="rect">
            <a:avLst/>
          </a:prstGeom>
        </p:spPr>
      </p:pic>
      <p:pic>
        <p:nvPicPr>
          <p:cNvPr id="15" name="Picture 14">
            <a:extLst>
              <a:ext uri="{FF2B5EF4-FFF2-40B4-BE49-F238E27FC236}">
                <a16:creationId xmlns:a16="http://schemas.microsoft.com/office/drawing/2014/main" id="{C6736584-5A19-1F91-BD2A-ED13112C018A}"/>
              </a:ext>
            </a:extLst>
          </p:cNvPr>
          <p:cNvPicPr>
            <a:picLocks noChangeAspect="1"/>
          </p:cNvPicPr>
          <p:nvPr/>
        </p:nvPicPr>
        <p:blipFill>
          <a:blip r:embed="rId4"/>
          <a:stretch>
            <a:fillRect/>
          </a:stretch>
        </p:blipFill>
        <p:spPr>
          <a:xfrm>
            <a:off x="1767770" y="4342616"/>
            <a:ext cx="1091903" cy="1800000"/>
          </a:xfrm>
          <a:prstGeom prst="rect">
            <a:avLst/>
          </a:prstGeom>
        </p:spPr>
      </p:pic>
      <p:sp>
        <p:nvSpPr>
          <p:cNvPr id="18" name="Arc 17">
            <a:extLst>
              <a:ext uri="{FF2B5EF4-FFF2-40B4-BE49-F238E27FC236}">
                <a16:creationId xmlns:a16="http://schemas.microsoft.com/office/drawing/2014/main" id="{A53CDBB9-F121-615A-8540-FB38538AA947}"/>
              </a:ext>
            </a:extLst>
          </p:cNvPr>
          <p:cNvSpPr/>
          <p:nvPr/>
        </p:nvSpPr>
        <p:spPr>
          <a:xfrm>
            <a:off x="2313721" y="2750088"/>
            <a:ext cx="6640372" cy="3020791"/>
          </a:xfrm>
          <a:prstGeom prst="arc">
            <a:avLst>
              <a:gd name="adj1" fmla="val 10808775"/>
              <a:gd name="adj2" fmla="val 1496041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23" name="TextBox 22">
            <a:extLst>
              <a:ext uri="{FF2B5EF4-FFF2-40B4-BE49-F238E27FC236}">
                <a16:creationId xmlns:a16="http://schemas.microsoft.com/office/drawing/2014/main" id="{0A8A76DF-007D-2D48-A7E8-176F8E9D0547}"/>
              </a:ext>
            </a:extLst>
          </p:cNvPr>
          <p:cNvSpPr txBox="1"/>
          <p:nvPr/>
        </p:nvSpPr>
        <p:spPr>
          <a:xfrm>
            <a:off x="1770061" y="2423045"/>
            <a:ext cx="1843786" cy="646331"/>
          </a:xfrm>
          <a:prstGeom prst="rect">
            <a:avLst/>
          </a:prstGeom>
          <a:noFill/>
        </p:spPr>
        <p:txBody>
          <a:bodyPr wrap="square" rtlCol="0">
            <a:spAutoFit/>
          </a:bodyPr>
          <a:lstStyle/>
          <a:p>
            <a:r>
              <a:rPr lang="en-PK" dirty="0"/>
              <a:t>I would like to get a $5 digital coin</a:t>
            </a:r>
          </a:p>
        </p:txBody>
      </p:sp>
      <p:cxnSp>
        <p:nvCxnSpPr>
          <p:cNvPr id="30" name="Straight Arrow Connector 29">
            <a:extLst>
              <a:ext uri="{FF2B5EF4-FFF2-40B4-BE49-F238E27FC236}">
                <a16:creationId xmlns:a16="http://schemas.microsoft.com/office/drawing/2014/main" id="{A1342346-7E8B-50BA-D876-7719C9675A55}"/>
              </a:ext>
            </a:extLst>
          </p:cNvPr>
          <p:cNvCxnSpPr/>
          <p:nvPr/>
        </p:nvCxnSpPr>
        <p:spPr>
          <a:xfrm>
            <a:off x="3237906" y="5770879"/>
            <a:ext cx="5548285"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Arc 31">
            <a:extLst>
              <a:ext uri="{FF2B5EF4-FFF2-40B4-BE49-F238E27FC236}">
                <a16:creationId xmlns:a16="http://schemas.microsoft.com/office/drawing/2014/main" id="{9FEE949D-CA84-63A7-1D95-33034133C371}"/>
              </a:ext>
            </a:extLst>
          </p:cNvPr>
          <p:cNvSpPr/>
          <p:nvPr/>
        </p:nvSpPr>
        <p:spPr>
          <a:xfrm>
            <a:off x="3237906" y="2750089"/>
            <a:ext cx="6640372" cy="3020791"/>
          </a:xfrm>
          <a:prstGeom prst="arc">
            <a:avLst>
              <a:gd name="adj1" fmla="val 17575612"/>
              <a:gd name="adj2" fmla="val 0"/>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44" name="Picture 43" descr="A sandwich with meat and vegetables&#10;&#10;AI-generated content may be incorrect.">
            <a:extLst>
              <a:ext uri="{FF2B5EF4-FFF2-40B4-BE49-F238E27FC236}">
                <a16:creationId xmlns:a16="http://schemas.microsoft.com/office/drawing/2014/main" id="{88D04AFD-4F28-D1EB-E516-6F86FF66D528}"/>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271666" y="4592639"/>
            <a:ext cx="1648665" cy="1080000"/>
          </a:xfrm>
          <a:prstGeom prst="rect">
            <a:avLst/>
          </a:prstGeom>
        </p:spPr>
      </p:pic>
      <p:cxnSp>
        <p:nvCxnSpPr>
          <p:cNvPr id="45" name="Straight Arrow Connector 44">
            <a:extLst>
              <a:ext uri="{FF2B5EF4-FFF2-40B4-BE49-F238E27FC236}">
                <a16:creationId xmlns:a16="http://schemas.microsoft.com/office/drawing/2014/main" id="{DC35553A-C2E3-074B-5C10-E79D00BA2AEA}"/>
              </a:ext>
            </a:extLst>
          </p:cNvPr>
          <p:cNvCxnSpPr/>
          <p:nvPr/>
        </p:nvCxnSpPr>
        <p:spPr>
          <a:xfrm>
            <a:off x="3206002" y="5770879"/>
            <a:ext cx="5548285" cy="0"/>
          </a:xfrm>
          <a:prstGeom prst="straightConnector1">
            <a:avLst/>
          </a:prstGeom>
          <a:ln w="28575">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4" name="Arc 3">
            <a:extLst>
              <a:ext uri="{FF2B5EF4-FFF2-40B4-BE49-F238E27FC236}">
                <a16:creationId xmlns:a16="http://schemas.microsoft.com/office/drawing/2014/main" id="{B0E6BF77-327D-89CF-DE22-32ADF90E2DE6}"/>
              </a:ext>
            </a:extLst>
          </p:cNvPr>
          <p:cNvSpPr/>
          <p:nvPr/>
        </p:nvSpPr>
        <p:spPr>
          <a:xfrm>
            <a:off x="2313721" y="2750088"/>
            <a:ext cx="6640372" cy="3020791"/>
          </a:xfrm>
          <a:prstGeom prst="arc">
            <a:avLst>
              <a:gd name="adj1" fmla="val 10808775"/>
              <a:gd name="adj2" fmla="val 14960412"/>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9" name="Picture 8" descr="A letter c made of circuit board&#10;&#10;AI-generated content may be incorrect.">
            <a:extLst>
              <a:ext uri="{FF2B5EF4-FFF2-40B4-BE49-F238E27FC236}">
                <a16:creationId xmlns:a16="http://schemas.microsoft.com/office/drawing/2014/main" id="{FC004ABD-CA33-28BB-DDD9-C632D2DDB7F2}"/>
              </a:ext>
            </a:extLst>
          </p:cNvPr>
          <p:cNvPicPr>
            <a:picLocks noChangeAspect="1"/>
          </p:cNvPicPr>
          <p:nvPr/>
        </p:nvPicPr>
        <p:blipFill>
          <a:blip r:embed="rId7"/>
          <a:stretch>
            <a:fillRect/>
          </a:stretch>
        </p:blipFill>
        <p:spPr>
          <a:xfrm>
            <a:off x="3312310" y="3069377"/>
            <a:ext cx="1080000" cy="1080000"/>
          </a:xfrm>
          <a:prstGeom prst="rect">
            <a:avLst/>
          </a:prstGeom>
        </p:spPr>
      </p:pic>
      <p:pic>
        <p:nvPicPr>
          <p:cNvPr id="11" name="Picture 10" descr="A close-up of a paper money&#10;&#10;AI-generated content may be incorrect.">
            <a:extLst>
              <a:ext uri="{FF2B5EF4-FFF2-40B4-BE49-F238E27FC236}">
                <a16:creationId xmlns:a16="http://schemas.microsoft.com/office/drawing/2014/main" id="{2035401B-D8DC-C561-6F3E-442C048B1CD7}"/>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188519" y="3161680"/>
            <a:ext cx="2088000" cy="890880"/>
          </a:xfrm>
          <a:prstGeom prst="rect">
            <a:avLst/>
          </a:prstGeom>
        </p:spPr>
      </p:pic>
      <p:pic>
        <p:nvPicPr>
          <p:cNvPr id="14" name="Picture 13" descr="A letter c made of circuit board&#10;&#10;AI-generated content may be incorrect.">
            <a:extLst>
              <a:ext uri="{FF2B5EF4-FFF2-40B4-BE49-F238E27FC236}">
                <a16:creationId xmlns:a16="http://schemas.microsoft.com/office/drawing/2014/main" id="{048AA27A-414A-1863-8675-874E548FB4CD}"/>
              </a:ext>
            </a:extLst>
          </p:cNvPr>
          <p:cNvPicPr>
            <a:picLocks noChangeAspect="1"/>
          </p:cNvPicPr>
          <p:nvPr/>
        </p:nvPicPr>
        <p:blipFill>
          <a:blip r:embed="rId7"/>
          <a:stretch>
            <a:fillRect/>
          </a:stretch>
        </p:blipFill>
        <p:spPr>
          <a:xfrm>
            <a:off x="5555998" y="4592639"/>
            <a:ext cx="1080000" cy="1080000"/>
          </a:xfrm>
          <a:prstGeom prst="rect">
            <a:avLst/>
          </a:prstGeom>
        </p:spPr>
      </p:pic>
      <p:pic>
        <p:nvPicPr>
          <p:cNvPr id="16" name="Picture 15" descr="A letter c made of circuit board&#10;&#10;AI-generated content may be incorrect.">
            <a:extLst>
              <a:ext uri="{FF2B5EF4-FFF2-40B4-BE49-F238E27FC236}">
                <a16:creationId xmlns:a16="http://schemas.microsoft.com/office/drawing/2014/main" id="{E9BB0144-501B-0CB0-C586-5D1BA95E4D17}"/>
              </a:ext>
            </a:extLst>
          </p:cNvPr>
          <p:cNvPicPr>
            <a:picLocks noChangeAspect="1"/>
          </p:cNvPicPr>
          <p:nvPr/>
        </p:nvPicPr>
        <p:blipFill>
          <a:blip r:embed="rId7"/>
          <a:stretch>
            <a:fillRect/>
          </a:stretch>
        </p:blipFill>
        <p:spPr>
          <a:xfrm>
            <a:off x="7869520" y="3180484"/>
            <a:ext cx="1080000" cy="1080000"/>
          </a:xfrm>
          <a:prstGeom prst="rect">
            <a:avLst/>
          </a:prstGeom>
        </p:spPr>
      </p:pic>
      <p:sp>
        <p:nvSpPr>
          <p:cNvPr id="17" name="Arc 16">
            <a:extLst>
              <a:ext uri="{FF2B5EF4-FFF2-40B4-BE49-F238E27FC236}">
                <a16:creationId xmlns:a16="http://schemas.microsoft.com/office/drawing/2014/main" id="{45B57D67-627E-E082-B61C-EB7754BE9122}"/>
              </a:ext>
            </a:extLst>
          </p:cNvPr>
          <p:cNvSpPr/>
          <p:nvPr/>
        </p:nvSpPr>
        <p:spPr>
          <a:xfrm>
            <a:off x="3237906" y="2750088"/>
            <a:ext cx="6640372" cy="3020791"/>
          </a:xfrm>
          <a:prstGeom prst="arc">
            <a:avLst>
              <a:gd name="adj1" fmla="val 17575612"/>
              <a:gd name="adj2" fmla="val 0"/>
            </a:avLst>
          </a:prstGeom>
          <a:ln w="25400">
            <a:solidFill>
              <a:schemeClr val="tx1"/>
            </a:solidFill>
            <a:headEnd type="none"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19" name="Picture 18" descr="A close-up of a paper money&#10;&#10;AI-generated content may be incorrect.">
            <a:extLst>
              <a:ext uri="{FF2B5EF4-FFF2-40B4-BE49-F238E27FC236}">
                <a16:creationId xmlns:a16="http://schemas.microsoft.com/office/drawing/2014/main" id="{9987F43C-A3B5-2343-53E3-9D993C1D070C}"/>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9062238" y="2289604"/>
            <a:ext cx="2088000" cy="890880"/>
          </a:xfrm>
          <a:prstGeom prst="rect">
            <a:avLst/>
          </a:prstGeom>
        </p:spPr>
      </p:pic>
      <p:sp>
        <p:nvSpPr>
          <p:cNvPr id="20" name="Rounded Rectangle 19">
            <a:extLst>
              <a:ext uri="{FF2B5EF4-FFF2-40B4-BE49-F238E27FC236}">
                <a16:creationId xmlns:a16="http://schemas.microsoft.com/office/drawing/2014/main" id="{F59666B2-84A7-0BBB-F27B-2E90F07AAFBD}"/>
              </a:ext>
            </a:extLst>
          </p:cNvPr>
          <p:cNvSpPr/>
          <p:nvPr/>
        </p:nvSpPr>
        <p:spPr>
          <a:xfrm>
            <a:off x="4670745" y="3397433"/>
            <a:ext cx="2850514" cy="51077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400" dirty="0"/>
              <a:t>Adds a serial number</a:t>
            </a:r>
          </a:p>
        </p:txBody>
      </p:sp>
      <p:sp>
        <p:nvSpPr>
          <p:cNvPr id="22" name="Rounded Rectangle 21">
            <a:extLst>
              <a:ext uri="{FF2B5EF4-FFF2-40B4-BE49-F238E27FC236}">
                <a16:creationId xmlns:a16="http://schemas.microsoft.com/office/drawing/2014/main" id="{45FDCF9C-2B1C-7FAF-D51B-C79B2A0D0063}"/>
              </a:ext>
            </a:extLst>
          </p:cNvPr>
          <p:cNvSpPr/>
          <p:nvPr/>
        </p:nvSpPr>
        <p:spPr>
          <a:xfrm>
            <a:off x="4276709" y="4005095"/>
            <a:ext cx="3638596" cy="510778"/>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GB" sz="2400" dirty="0">
                <a:solidFill>
                  <a:schemeClr val="accent4">
                    <a:lumMod val="20000"/>
                    <a:lumOff val="80000"/>
                  </a:schemeClr>
                </a:solidFill>
              </a:rPr>
              <a:t>Removes the serial number</a:t>
            </a:r>
          </a:p>
        </p:txBody>
      </p:sp>
      <p:sp>
        <p:nvSpPr>
          <p:cNvPr id="6" name="Snip Single Corner of Rectangle 5">
            <a:extLst>
              <a:ext uri="{FF2B5EF4-FFF2-40B4-BE49-F238E27FC236}">
                <a16:creationId xmlns:a16="http://schemas.microsoft.com/office/drawing/2014/main" id="{10A4A70D-A001-BCAE-91E6-437A17A2292B}"/>
              </a:ext>
            </a:extLst>
          </p:cNvPr>
          <p:cNvSpPr/>
          <p:nvPr/>
        </p:nvSpPr>
        <p:spPr>
          <a:xfrm rot="5400000">
            <a:off x="7474778" y="1134342"/>
            <a:ext cx="1233376" cy="1254642"/>
          </a:xfrm>
          <a:prstGeom prst="snip1Rect">
            <a:avLst>
              <a:gd name="adj" fmla="val 1899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scene3d>
              <a:camera prst="orthographicFront">
                <a:rot lat="0" lon="0" rev="5400000"/>
              </a:camera>
              <a:lightRig rig="threePt" dir="t"/>
            </a:scene3d>
          </a:bodyPr>
          <a:lstStyle/>
          <a:p>
            <a:r>
              <a:rPr lang="en-PK" sz="2000" b="1" dirty="0">
                <a:solidFill>
                  <a:srgbClr val="7030A0"/>
                </a:solidFill>
              </a:rPr>
              <a:t>SN37</a:t>
            </a:r>
          </a:p>
          <a:p>
            <a:r>
              <a:rPr lang="en-PK" sz="2000" b="1" dirty="0">
                <a:solidFill>
                  <a:srgbClr val="7030A0"/>
                </a:solidFill>
              </a:rPr>
              <a:t>…</a:t>
            </a:r>
          </a:p>
        </p:txBody>
      </p:sp>
      <p:sp>
        <p:nvSpPr>
          <p:cNvPr id="7" name="Rounded Rectangle 6">
            <a:extLst>
              <a:ext uri="{FF2B5EF4-FFF2-40B4-BE49-F238E27FC236}">
                <a16:creationId xmlns:a16="http://schemas.microsoft.com/office/drawing/2014/main" id="{A6078EBD-8FB2-3A8B-0E8A-38B173E9BE8A}"/>
              </a:ext>
            </a:extLst>
          </p:cNvPr>
          <p:cNvSpPr/>
          <p:nvPr/>
        </p:nvSpPr>
        <p:spPr>
          <a:xfrm>
            <a:off x="332344" y="1394778"/>
            <a:ext cx="3859720" cy="919401"/>
          </a:xfrm>
          <a:prstGeom prst="round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GB" sz="2400" dirty="0">
                <a:solidFill>
                  <a:schemeClr val="accent4">
                    <a:lumMod val="20000"/>
                    <a:lumOff val="80000"/>
                  </a:schemeClr>
                </a:solidFill>
              </a:rPr>
              <a:t>A double-spend later on can easily be </a:t>
            </a:r>
            <a:r>
              <a:rPr lang="en-GB" sz="2400" b="1" dirty="0">
                <a:solidFill>
                  <a:schemeClr val="accent4">
                    <a:lumMod val="20000"/>
                    <a:lumOff val="80000"/>
                  </a:schemeClr>
                </a:solidFill>
              </a:rPr>
              <a:t>“detected”</a:t>
            </a:r>
            <a:r>
              <a:rPr lang="en-GB" sz="2400" dirty="0">
                <a:solidFill>
                  <a:schemeClr val="accent4">
                    <a:lumMod val="20000"/>
                    <a:lumOff val="80000"/>
                  </a:schemeClr>
                </a:solidFill>
              </a:rPr>
              <a:t>!!!</a:t>
            </a:r>
          </a:p>
        </p:txBody>
      </p:sp>
    </p:spTree>
    <p:extLst>
      <p:ext uri="{BB962C8B-B14F-4D97-AF65-F5344CB8AC3E}">
        <p14:creationId xmlns:p14="http://schemas.microsoft.com/office/powerpoint/2010/main" val="110931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dissolve">
                                      <p:cBhvr>
                                        <p:cTn id="10" dur="500"/>
                                        <p:tgtEl>
                                          <p:spTgt spid="18"/>
                                        </p:tgtEl>
                                      </p:cBhvr>
                                    </p:animEffect>
                                  </p:childTnLst>
                                </p:cTn>
                              </p:par>
                              <p:par>
                                <p:cTn id="11" presetID="9"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grpId="1" nodeType="clickEffect">
                                  <p:stCondLst>
                                    <p:cond delay="0"/>
                                  </p:stCondLst>
                                  <p:childTnLst>
                                    <p:animEffect transition="out" filter="dissolve">
                                      <p:cBhvr>
                                        <p:cTn id="17" dur="500"/>
                                        <p:tgtEl>
                                          <p:spTgt spid="23"/>
                                        </p:tgtEl>
                                      </p:cBhvr>
                                    </p:animEffect>
                                    <p:set>
                                      <p:cBhvr>
                                        <p:cTn id="18" dur="1" fill="hold">
                                          <p:stCondLst>
                                            <p:cond delay="499"/>
                                          </p:stCondLst>
                                        </p:cTn>
                                        <p:tgtEl>
                                          <p:spTgt spid="23"/>
                                        </p:tgtEl>
                                        <p:attrNameLst>
                                          <p:attrName>style.visibility</p:attrName>
                                        </p:attrNameLst>
                                      </p:cBhvr>
                                      <p:to>
                                        <p:strVal val="hidden"/>
                                      </p:to>
                                    </p:set>
                                  </p:childTnLst>
                                </p:cTn>
                              </p:par>
                              <p:par>
                                <p:cTn id="19" presetID="9" presetClass="exit" presetSubtype="0" fill="hold" grpId="1" nodeType="withEffect">
                                  <p:stCondLst>
                                    <p:cond delay="0"/>
                                  </p:stCondLst>
                                  <p:childTnLst>
                                    <p:animEffect transition="out" filter="dissolve">
                                      <p:cBhvr>
                                        <p:cTn id="20" dur="500"/>
                                        <p:tgtEl>
                                          <p:spTgt spid="18"/>
                                        </p:tgtEl>
                                      </p:cBhvr>
                                    </p:animEffect>
                                    <p:set>
                                      <p:cBhvr>
                                        <p:cTn id="21" dur="1" fill="hold">
                                          <p:stCondLst>
                                            <p:cond delay="499"/>
                                          </p:stCondLst>
                                        </p:cTn>
                                        <p:tgtEl>
                                          <p:spTgt spid="18"/>
                                        </p:tgtEl>
                                        <p:attrNameLst>
                                          <p:attrName>style.visibility</p:attrName>
                                        </p:attrNameLst>
                                      </p:cBhvr>
                                      <p:to>
                                        <p:strVal val="hidden"/>
                                      </p:to>
                                    </p:set>
                                  </p:childTnLst>
                                </p:cTn>
                              </p:par>
                              <p:par>
                                <p:cTn id="22" presetID="9" presetClass="exit" presetSubtype="0" fill="hold" nodeType="withEffect">
                                  <p:stCondLst>
                                    <p:cond delay="0"/>
                                  </p:stCondLst>
                                  <p:childTnLst>
                                    <p:animEffect transition="out" filter="dissolve">
                                      <p:cBhvr>
                                        <p:cTn id="23" dur="500"/>
                                        <p:tgtEl>
                                          <p:spTgt spid="11"/>
                                        </p:tgtEl>
                                      </p:cBhvr>
                                    </p:animEffect>
                                    <p:set>
                                      <p:cBhvr>
                                        <p:cTn id="24" dur="1" fill="hold">
                                          <p:stCondLst>
                                            <p:cond delay="499"/>
                                          </p:stCondLst>
                                        </p:cTn>
                                        <p:tgtEl>
                                          <p:spTgt spid="11"/>
                                        </p:tgtEl>
                                        <p:attrNameLst>
                                          <p:attrName>style.visibility</p:attrName>
                                        </p:attrNameLst>
                                      </p:cBhvr>
                                      <p:to>
                                        <p:strVal val="hidden"/>
                                      </p:to>
                                    </p:se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500"/>
                                        <p:tgtEl>
                                          <p:spTgt spid="4"/>
                                        </p:tgtEl>
                                      </p:cBhvr>
                                    </p:animEffec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dissolve">
                                      <p:cBhvr>
                                        <p:cTn id="36" dur="500"/>
                                        <p:tgtEl>
                                          <p:spTgt spid="20"/>
                                        </p:tgtEl>
                                      </p:cBhvr>
                                    </p:animEffect>
                                  </p:childTnLst>
                                </p:cTn>
                              </p:par>
                            </p:childTnLst>
                          </p:cTn>
                        </p:par>
                        <p:par>
                          <p:cTn id="37" fill="hold">
                            <p:stCondLst>
                              <p:cond delay="500"/>
                            </p:stCondLst>
                            <p:childTnLst>
                              <p:par>
                                <p:cTn id="38" presetID="9" presetClass="entr" presetSubtype="0" fill="hold" grpId="0" nodeType="afterEffect">
                                  <p:stCondLst>
                                    <p:cond delay="500"/>
                                  </p:stCondLst>
                                  <p:childTnLst>
                                    <p:set>
                                      <p:cBhvr>
                                        <p:cTn id="39" dur="1" fill="hold">
                                          <p:stCondLst>
                                            <p:cond delay="0"/>
                                          </p:stCondLst>
                                        </p:cTn>
                                        <p:tgtEl>
                                          <p:spTgt spid="6">
                                            <p:bg/>
                                          </p:spTgt>
                                        </p:tgtEl>
                                        <p:attrNameLst>
                                          <p:attrName>style.visibility</p:attrName>
                                        </p:attrNameLst>
                                      </p:cBhvr>
                                      <p:to>
                                        <p:strVal val="visible"/>
                                      </p:to>
                                    </p:set>
                                    <p:animEffect transition="in" filter="dissolve">
                                      <p:cBhvr>
                                        <p:cTn id="40" dur="500"/>
                                        <p:tgtEl>
                                          <p:spTgt spid="6">
                                            <p:bg/>
                                          </p:spTgt>
                                        </p:tgtEl>
                                      </p:cBhvr>
                                    </p:animEffect>
                                  </p:childTnLst>
                                </p:cTn>
                              </p:par>
                            </p:childTnLst>
                          </p:cTn>
                        </p:par>
                        <p:par>
                          <p:cTn id="41" fill="hold">
                            <p:stCondLst>
                              <p:cond delay="1500"/>
                            </p:stCondLst>
                            <p:childTnLst>
                              <p:par>
                                <p:cTn id="42" presetID="9" presetClass="entr" presetSubtype="0" fill="hold" grpId="0" nodeType="afterEffect">
                                  <p:stCondLst>
                                    <p:cond delay="0"/>
                                  </p:stCondLst>
                                  <p:iterate type="lt">
                                    <p:tmPct val="0"/>
                                  </p:iterate>
                                  <p:childTnLst>
                                    <p:set>
                                      <p:cBhvr>
                                        <p:cTn id="43" dur="1" fill="hold">
                                          <p:stCondLst>
                                            <p:cond delay="0"/>
                                          </p:stCondLst>
                                        </p:cTn>
                                        <p:tgtEl>
                                          <p:spTgt spid="6">
                                            <p:txEl>
                                              <p:pRg st="0" end="0"/>
                                            </p:txEl>
                                          </p:spTgt>
                                        </p:tgtEl>
                                        <p:attrNameLst>
                                          <p:attrName>style.visibility</p:attrName>
                                        </p:attrNameLst>
                                      </p:cBhvr>
                                      <p:to>
                                        <p:strVal val="visible"/>
                                      </p:to>
                                    </p:set>
                                    <p:animEffect transition="in" filter="dissolve">
                                      <p:cBhvr>
                                        <p:cTn id="44" dur="500"/>
                                        <p:tgtEl>
                                          <p:spTgt spid="6">
                                            <p:txEl>
                                              <p:pRg st="0" end="0"/>
                                            </p:txEl>
                                          </p:spTgt>
                                        </p:tgtEl>
                                      </p:cBhvr>
                                    </p:animEffect>
                                  </p:childTnLst>
                                </p:cTn>
                              </p:par>
                            </p:childTnLst>
                          </p:cTn>
                        </p:par>
                        <p:par>
                          <p:cTn id="45" fill="hold">
                            <p:stCondLst>
                              <p:cond delay="2000"/>
                            </p:stCondLst>
                            <p:childTnLst>
                              <p:par>
                                <p:cTn id="46" presetID="9" presetClass="entr" presetSubtype="0" fill="hold" grpId="0" nodeType="afterEffect">
                                  <p:stCondLst>
                                    <p:cond delay="0"/>
                                  </p:stCondLst>
                                  <p:childTnLst>
                                    <p:set>
                                      <p:cBhvr>
                                        <p:cTn id="47" dur="1" fill="hold">
                                          <p:stCondLst>
                                            <p:cond delay="0"/>
                                          </p:stCondLst>
                                        </p:cTn>
                                        <p:tgtEl>
                                          <p:spTgt spid="6">
                                            <p:txEl>
                                              <p:pRg st="1" end="1"/>
                                            </p:txEl>
                                          </p:spTgt>
                                        </p:tgtEl>
                                        <p:attrNameLst>
                                          <p:attrName>style.visibility</p:attrName>
                                        </p:attrNameLst>
                                      </p:cBhvr>
                                      <p:to>
                                        <p:strVal val="visible"/>
                                      </p:to>
                                    </p:set>
                                    <p:animEffect transition="in" filter="dissolve">
                                      <p:cBhvr>
                                        <p:cTn id="48" dur="500"/>
                                        <p:tgtEl>
                                          <p:spTgt spid="6">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dissolve">
                                      <p:cBhvr>
                                        <p:cTn id="53" dur="500"/>
                                        <p:tgtEl>
                                          <p:spTgt spid="30"/>
                                        </p:tgtEl>
                                      </p:cBhvr>
                                    </p:animEffect>
                                  </p:childTnLst>
                                </p:cTn>
                              </p:par>
                              <p:par>
                                <p:cTn id="54" presetID="9" presetClass="entr" presetSubtype="0" fill="hold"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dissolv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xit" presetSubtype="0" fill="hold" nodeType="clickEffect">
                                  <p:stCondLst>
                                    <p:cond delay="0"/>
                                  </p:stCondLst>
                                  <p:childTnLst>
                                    <p:animEffect transition="out" filter="dissolve">
                                      <p:cBhvr>
                                        <p:cTn id="60" dur="500"/>
                                        <p:tgtEl>
                                          <p:spTgt spid="14"/>
                                        </p:tgtEl>
                                      </p:cBhvr>
                                    </p:animEffect>
                                    <p:set>
                                      <p:cBhvr>
                                        <p:cTn id="61" dur="1" fill="hold">
                                          <p:stCondLst>
                                            <p:cond delay="499"/>
                                          </p:stCondLst>
                                        </p:cTn>
                                        <p:tgtEl>
                                          <p:spTgt spid="14"/>
                                        </p:tgtEl>
                                        <p:attrNameLst>
                                          <p:attrName>style.visibility</p:attrName>
                                        </p:attrNameLst>
                                      </p:cBhvr>
                                      <p:to>
                                        <p:strVal val="hidden"/>
                                      </p:to>
                                    </p:set>
                                  </p:childTnLst>
                                </p:cTn>
                              </p:par>
                            </p:childTnLst>
                          </p:cTn>
                        </p:par>
                        <p:par>
                          <p:cTn id="62" fill="hold">
                            <p:stCondLst>
                              <p:cond delay="500"/>
                            </p:stCondLst>
                            <p:childTnLst>
                              <p:par>
                                <p:cTn id="63" presetID="9" presetClass="exit" presetSubtype="0" fill="hold" nodeType="afterEffect">
                                  <p:stCondLst>
                                    <p:cond delay="0"/>
                                  </p:stCondLst>
                                  <p:childTnLst>
                                    <p:animEffect transition="out" filter="dissolve">
                                      <p:cBhvr>
                                        <p:cTn id="64" dur="500"/>
                                        <p:tgtEl>
                                          <p:spTgt spid="30"/>
                                        </p:tgtEl>
                                      </p:cBhvr>
                                    </p:animEffect>
                                    <p:set>
                                      <p:cBhvr>
                                        <p:cTn id="65" dur="1" fill="hold">
                                          <p:stCondLst>
                                            <p:cond delay="499"/>
                                          </p:stCondLst>
                                        </p:cTn>
                                        <p:tgtEl>
                                          <p:spTgt spid="30"/>
                                        </p:tgtEl>
                                        <p:attrNameLst>
                                          <p:attrName>style.visibility</p:attrName>
                                        </p:attrNameLst>
                                      </p:cBhvr>
                                      <p:to>
                                        <p:strVal val="hidden"/>
                                      </p:to>
                                    </p:set>
                                  </p:childTnLst>
                                </p:cTn>
                              </p:par>
                            </p:childTnLst>
                          </p:cTn>
                        </p:par>
                        <p:par>
                          <p:cTn id="66" fill="hold">
                            <p:stCondLst>
                              <p:cond delay="1000"/>
                            </p:stCondLst>
                            <p:childTnLst>
                              <p:par>
                                <p:cTn id="67" presetID="9" presetClass="entr" presetSubtype="0" fill="hold" nodeType="after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dissolve">
                                      <p:cBhvr>
                                        <p:cTn id="69" dur="500"/>
                                        <p:tgtEl>
                                          <p:spTgt spid="45"/>
                                        </p:tgtEl>
                                      </p:cBhvr>
                                    </p:animEffect>
                                  </p:childTnLst>
                                </p:cTn>
                              </p:par>
                            </p:childTnLst>
                          </p:cTn>
                        </p:par>
                        <p:par>
                          <p:cTn id="70" fill="hold">
                            <p:stCondLst>
                              <p:cond delay="1500"/>
                            </p:stCondLst>
                            <p:childTnLst>
                              <p:par>
                                <p:cTn id="71" presetID="9" presetClass="entr" presetSubtype="0" fill="hold" nodeType="after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dissolve">
                                      <p:cBhvr>
                                        <p:cTn id="73" dur="500"/>
                                        <p:tgtEl>
                                          <p:spTgt spid="44"/>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dissolve">
                                      <p:cBhvr>
                                        <p:cTn id="78" dur="500"/>
                                        <p:tgtEl>
                                          <p:spTgt spid="32"/>
                                        </p:tgtEl>
                                      </p:cBhvr>
                                    </p:animEffect>
                                  </p:childTnLst>
                                </p:cTn>
                              </p:par>
                              <p:par>
                                <p:cTn id="79" presetID="9" presetClass="entr" presetSubtype="0" fill="hold" nodeType="with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dissolve">
                                      <p:cBhvr>
                                        <p:cTn id="81" dur="500"/>
                                        <p:tgtEl>
                                          <p:spTgt spid="16"/>
                                        </p:tgtEl>
                                      </p:cBhvr>
                                    </p:animEffect>
                                  </p:childTnLst>
                                </p:cTn>
                              </p:par>
                            </p:childTnLst>
                          </p:cTn>
                        </p:par>
                      </p:childTnLst>
                    </p:cTn>
                  </p:par>
                  <p:par>
                    <p:cTn id="82" fill="hold">
                      <p:stCondLst>
                        <p:cond delay="indefinite"/>
                      </p:stCondLst>
                      <p:childTnLst>
                        <p:par>
                          <p:cTn id="83" fill="hold">
                            <p:stCondLst>
                              <p:cond delay="0"/>
                            </p:stCondLst>
                            <p:childTnLst>
                              <p:par>
                                <p:cTn id="84" presetID="9" presetClass="entr" presetSubtype="0" fill="hold" grpId="0" nodeType="click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dissolve">
                                      <p:cBhvr>
                                        <p:cTn id="86" dur="500"/>
                                        <p:tgtEl>
                                          <p:spTgt spid="22"/>
                                        </p:tgtEl>
                                      </p:cBhvr>
                                    </p:animEffect>
                                  </p:childTnLst>
                                </p:cTn>
                              </p:par>
                            </p:childTnLst>
                          </p:cTn>
                        </p:par>
                        <p:par>
                          <p:cTn id="87" fill="hold">
                            <p:stCondLst>
                              <p:cond delay="500"/>
                            </p:stCondLst>
                            <p:childTnLst>
                              <p:par>
                                <p:cTn id="88" presetID="41" presetClass="exit" presetSubtype="0" fill="hold" nodeType="afterEffect">
                                  <p:stCondLst>
                                    <p:cond delay="0"/>
                                  </p:stCondLst>
                                  <p:iterate type="lt">
                                    <p:tmPct val="10000"/>
                                  </p:iterate>
                                  <p:childTnLst>
                                    <p:anim calcmode="lin" valueType="num">
                                      <p:cBhvr>
                                        <p:cTn id="89" dur="500"/>
                                        <p:tgtEl>
                                          <p:spTgt spid="6">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90" dur="500"/>
                                        <p:tgtEl>
                                          <p:spTgt spid="6">
                                            <p:txEl>
                                              <p:pRg st="0" end="0"/>
                                            </p:txEl>
                                          </p:spTgt>
                                        </p:tgtEl>
                                        <p:attrNameLst>
                                          <p:attrName>ppt_y</p:attrName>
                                        </p:attrNameLst>
                                      </p:cBhvr>
                                      <p:tavLst>
                                        <p:tav tm="0">
                                          <p:val>
                                            <p:strVal val="ppt_y"/>
                                          </p:val>
                                        </p:tav>
                                        <p:tav tm="100000">
                                          <p:val>
                                            <p:strVal val="ppt_y"/>
                                          </p:val>
                                        </p:tav>
                                      </p:tavLst>
                                    </p:anim>
                                    <p:anim calcmode="lin" valueType="num">
                                      <p:cBhvr>
                                        <p:cTn id="91" dur="500"/>
                                        <p:tgtEl>
                                          <p:spTgt spid="6">
                                            <p:txEl>
                                              <p:pRg st="0" end="0"/>
                                            </p:txEl>
                                          </p:spTgt>
                                        </p:tgtEl>
                                        <p:attrNameLst>
                                          <p:attrName>ppt_h</p:attrName>
                                        </p:attrNameLst>
                                      </p:cBhvr>
                                      <p:tavLst>
                                        <p:tav tm="0">
                                          <p:val>
                                            <p:strVal val="ppt_h"/>
                                          </p:val>
                                        </p:tav>
                                        <p:tav tm="50000">
                                          <p:val>
                                            <p:strVal val="ppt_h+.01"/>
                                          </p:val>
                                        </p:tav>
                                        <p:tav tm="100000">
                                          <p:val>
                                            <p:strVal val="ppt_h/10"/>
                                          </p:val>
                                        </p:tav>
                                      </p:tavLst>
                                    </p:anim>
                                    <p:anim calcmode="lin" valueType="num">
                                      <p:cBhvr>
                                        <p:cTn id="92" dur="500"/>
                                        <p:tgtEl>
                                          <p:spTgt spid="6">
                                            <p:txEl>
                                              <p:pRg st="0" end="0"/>
                                            </p:txEl>
                                          </p:spTgt>
                                        </p:tgtEl>
                                        <p:attrNameLst>
                                          <p:attrName>ppt_w</p:attrName>
                                        </p:attrNameLst>
                                      </p:cBhvr>
                                      <p:tavLst>
                                        <p:tav tm="0">
                                          <p:val>
                                            <p:strVal val="ppt_w"/>
                                          </p:val>
                                        </p:tav>
                                        <p:tav tm="50000">
                                          <p:val>
                                            <p:strVal val="ppt_w+.01"/>
                                          </p:val>
                                        </p:tav>
                                        <p:tav tm="100000">
                                          <p:val>
                                            <p:strVal val="ppt_w/10"/>
                                          </p:val>
                                        </p:tav>
                                      </p:tavLst>
                                    </p:anim>
                                    <p:animEffect transition="out" filter="fade">
                                      <p:cBhvr>
                                        <p:cTn id="93" dur="500" tmFilter="0,0; .5, 0; 1, 1"/>
                                        <p:tgtEl>
                                          <p:spTgt spid="6">
                                            <p:txEl>
                                              <p:pRg st="0" end="0"/>
                                            </p:txEl>
                                          </p:spTgt>
                                        </p:tgtEl>
                                      </p:cBhvr>
                                    </p:animEffect>
                                    <p:set>
                                      <p:cBhvr>
                                        <p:cTn id="94" dur="1" fill="hold">
                                          <p:stCondLst>
                                            <p:cond delay="499"/>
                                          </p:stCondLst>
                                        </p:cTn>
                                        <p:tgtEl>
                                          <p:spTgt spid="6">
                                            <p:txEl>
                                              <p:pRg st="0" end="0"/>
                                            </p:txEl>
                                          </p:spTgt>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9" presetClass="exit" presetSubtype="0" fill="hold" grpId="1" nodeType="clickEffect">
                                  <p:stCondLst>
                                    <p:cond delay="0"/>
                                  </p:stCondLst>
                                  <p:childTnLst>
                                    <p:animEffect transition="out" filter="dissolve">
                                      <p:cBhvr>
                                        <p:cTn id="98" dur="500"/>
                                        <p:tgtEl>
                                          <p:spTgt spid="32"/>
                                        </p:tgtEl>
                                      </p:cBhvr>
                                    </p:animEffect>
                                    <p:set>
                                      <p:cBhvr>
                                        <p:cTn id="99" dur="1" fill="hold">
                                          <p:stCondLst>
                                            <p:cond delay="499"/>
                                          </p:stCondLst>
                                        </p:cTn>
                                        <p:tgtEl>
                                          <p:spTgt spid="32"/>
                                        </p:tgtEl>
                                        <p:attrNameLst>
                                          <p:attrName>style.visibility</p:attrName>
                                        </p:attrNameLst>
                                      </p:cBhvr>
                                      <p:to>
                                        <p:strVal val="hidden"/>
                                      </p:to>
                                    </p:set>
                                  </p:childTnLst>
                                </p:cTn>
                              </p:par>
                              <p:par>
                                <p:cTn id="100" presetID="9" presetClass="exit" presetSubtype="0" fill="hold" nodeType="withEffect">
                                  <p:stCondLst>
                                    <p:cond delay="0"/>
                                  </p:stCondLst>
                                  <p:childTnLst>
                                    <p:animEffect transition="out" filter="dissolve">
                                      <p:cBhvr>
                                        <p:cTn id="101" dur="500"/>
                                        <p:tgtEl>
                                          <p:spTgt spid="16"/>
                                        </p:tgtEl>
                                      </p:cBhvr>
                                    </p:animEffect>
                                    <p:set>
                                      <p:cBhvr>
                                        <p:cTn id="102" dur="1" fill="hold">
                                          <p:stCondLst>
                                            <p:cond delay="499"/>
                                          </p:stCondLst>
                                        </p:cTn>
                                        <p:tgtEl>
                                          <p:spTgt spid="16"/>
                                        </p:tgtEl>
                                        <p:attrNameLst>
                                          <p:attrName>style.visibility</p:attrName>
                                        </p:attrNameLst>
                                      </p:cBhvr>
                                      <p:to>
                                        <p:strVal val="hidden"/>
                                      </p:to>
                                    </p:set>
                                  </p:childTnLst>
                                </p:cTn>
                              </p:par>
                            </p:childTnLst>
                          </p:cTn>
                        </p:par>
                        <p:par>
                          <p:cTn id="103" fill="hold">
                            <p:stCondLst>
                              <p:cond delay="500"/>
                            </p:stCondLst>
                            <p:childTnLst>
                              <p:par>
                                <p:cTn id="104" presetID="9" presetClass="entr" presetSubtype="0" fill="hold" grpId="0" nodeType="after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dissolve">
                                      <p:cBhvr>
                                        <p:cTn id="106" dur="500"/>
                                        <p:tgtEl>
                                          <p:spTgt spid="17"/>
                                        </p:tgtEl>
                                      </p:cBhvr>
                                    </p:animEffect>
                                  </p:childTnLst>
                                </p:cTn>
                              </p:par>
                            </p:childTnLst>
                          </p:cTn>
                        </p:par>
                        <p:par>
                          <p:cTn id="107" fill="hold">
                            <p:stCondLst>
                              <p:cond delay="1000"/>
                            </p:stCondLst>
                            <p:childTnLst>
                              <p:par>
                                <p:cTn id="108" presetID="9" presetClass="entr" presetSubtype="0" fill="hold" nodeType="afterEffect">
                                  <p:stCondLst>
                                    <p:cond delay="0"/>
                                  </p:stCondLst>
                                  <p:childTnLst>
                                    <p:set>
                                      <p:cBhvr>
                                        <p:cTn id="109" dur="1" fill="hold">
                                          <p:stCondLst>
                                            <p:cond delay="0"/>
                                          </p:stCondLst>
                                        </p:cTn>
                                        <p:tgtEl>
                                          <p:spTgt spid="19"/>
                                        </p:tgtEl>
                                        <p:attrNameLst>
                                          <p:attrName>style.visibility</p:attrName>
                                        </p:attrNameLst>
                                      </p:cBhvr>
                                      <p:to>
                                        <p:strVal val="visible"/>
                                      </p:to>
                                    </p:set>
                                    <p:animEffect transition="in" filter="dissolve">
                                      <p:cBhvr>
                                        <p:cTn id="110" dur="500"/>
                                        <p:tgtEl>
                                          <p:spTgt spid="19"/>
                                        </p:tgtEl>
                                      </p:cBhvr>
                                    </p:animEffect>
                                  </p:childTnLst>
                                </p:cTn>
                              </p:par>
                            </p:childTnLst>
                          </p:cTn>
                        </p:par>
                      </p:childTnLst>
                    </p:cTn>
                  </p:par>
                  <p:par>
                    <p:cTn id="111" fill="hold">
                      <p:stCondLst>
                        <p:cond delay="indefinite"/>
                      </p:stCondLst>
                      <p:childTnLst>
                        <p:par>
                          <p:cTn id="112" fill="hold">
                            <p:stCondLst>
                              <p:cond delay="0"/>
                            </p:stCondLst>
                            <p:childTnLst>
                              <p:par>
                                <p:cTn id="113" presetID="9" presetClass="entr" presetSubtype="0" fill="hold" grpId="0" nodeType="clickEffect">
                                  <p:stCondLst>
                                    <p:cond delay="0"/>
                                  </p:stCondLst>
                                  <p:childTnLst>
                                    <p:set>
                                      <p:cBhvr>
                                        <p:cTn id="114" dur="1" fill="hold">
                                          <p:stCondLst>
                                            <p:cond delay="0"/>
                                          </p:stCondLst>
                                        </p:cTn>
                                        <p:tgtEl>
                                          <p:spTgt spid="7"/>
                                        </p:tgtEl>
                                        <p:attrNameLst>
                                          <p:attrName>style.visibility</p:attrName>
                                        </p:attrNameLst>
                                      </p:cBhvr>
                                      <p:to>
                                        <p:strVal val="visible"/>
                                      </p:to>
                                    </p:set>
                                    <p:animEffect transition="in" filter="dissolve">
                                      <p:cBhvr>
                                        <p:cTn id="1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3" grpId="0"/>
      <p:bldP spid="23" grpId="1"/>
      <p:bldP spid="32" grpId="0" animBg="1"/>
      <p:bldP spid="32" grpId="1" animBg="1"/>
      <p:bldP spid="4" grpId="0" animBg="1"/>
      <p:bldP spid="17" grpId="0" animBg="1"/>
      <p:bldP spid="20" grpId="0" animBg="1"/>
      <p:bldP spid="22" grpId="0" animBg="1"/>
      <p:bldP spid="6" grpId="0" uiExpand="1" build="allAtOnce"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AC0C4-4225-70C3-8687-D29C5CD8B3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300627-9643-7A41-F79F-D91059FBEE31}"/>
              </a:ext>
            </a:extLst>
          </p:cNvPr>
          <p:cNvSpPr>
            <a:spLocks noGrp="1"/>
          </p:cNvSpPr>
          <p:nvPr>
            <p:ph type="title"/>
          </p:nvPr>
        </p:nvSpPr>
        <p:spPr/>
        <p:txBody>
          <a:bodyPr/>
          <a:lstStyle/>
          <a:p>
            <a:r>
              <a:rPr lang="en-PK" dirty="0"/>
              <a:t>Simple E-Cash</a:t>
            </a:r>
          </a:p>
        </p:txBody>
      </p:sp>
      <p:sp>
        <p:nvSpPr>
          <p:cNvPr id="5" name="Content Placeholder 4">
            <a:extLst>
              <a:ext uri="{FF2B5EF4-FFF2-40B4-BE49-F238E27FC236}">
                <a16:creationId xmlns:a16="http://schemas.microsoft.com/office/drawing/2014/main" id="{B741C4D9-DE69-569E-395A-2FED54B0AE19}"/>
              </a:ext>
            </a:extLst>
          </p:cNvPr>
          <p:cNvSpPr>
            <a:spLocks noGrp="1"/>
          </p:cNvSpPr>
          <p:nvPr>
            <p:ph idx="1"/>
          </p:nvPr>
        </p:nvSpPr>
        <p:spPr/>
        <p:txBody>
          <a:bodyPr>
            <a:normAutofit/>
          </a:bodyPr>
          <a:lstStyle/>
          <a:p>
            <a:r>
              <a:rPr lang="en-US" dirty="0">
                <a:solidFill>
                  <a:srgbClr val="7030A0"/>
                </a:solidFill>
              </a:rPr>
              <a:t>Pros</a:t>
            </a:r>
          </a:p>
          <a:p>
            <a:pPr lvl="1"/>
            <a:r>
              <a:rPr lang="en-US" dirty="0">
                <a:solidFill>
                  <a:srgbClr val="308D3E"/>
                </a:solidFill>
              </a:rPr>
              <a:t>Payment is digital</a:t>
            </a:r>
          </a:p>
          <a:p>
            <a:pPr lvl="1"/>
            <a:r>
              <a:rPr lang="en-US" dirty="0">
                <a:solidFill>
                  <a:srgbClr val="308D3E"/>
                </a:solidFill>
              </a:rPr>
              <a:t>Alice and Bob can be at different locations</a:t>
            </a:r>
          </a:p>
          <a:p>
            <a:pPr lvl="1"/>
            <a:r>
              <a:rPr lang="en-US" dirty="0">
                <a:solidFill>
                  <a:srgbClr val="308D3E"/>
                </a:solidFill>
              </a:rPr>
              <a:t>Peer to Peer (which is great!)</a:t>
            </a:r>
            <a:endParaRPr lang="en-US" dirty="0"/>
          </a:p>
          <a:p>
            <a:r>
              <a:rPr lang="en-US" dirty="0">
                <a:solidFill>
                  <a:srgbClr val="7030A0"/>
                </a:solidFill>
              </a:rPr>
              <a:t>Cons</a:t>
            </a:r>
          </a:p>
          <a:p>
            <a:pPr lvl="1"/>
            <a:r>
              <a:rPr lang="en-US" dirty="0">
                <a:solidFill>
                  <a:srgbClr val="C00000"/>
                </a:solidFill>
              </a:rPr>
              <a:t>Full P2P means: double-spending can be detected (but not avoided)</a:t>
            </a:r>
          </a:p>
          <a:p>
            <a:pPr lvl="1"/>
            <a:r>
              <a:rPr lang="en-US" b="1" i="1" dirty="0">
                <a:solidFill>
                  <a:srgbClr val="C00000"/>
                </a:solidFill>
              </a:rPr>
              <a:t>Avoiding</a:t>
            </a:r>
            <a:r>
              <a:rPr lang="en-US" dirty="0">
                <a:solidFill>
                  <a:srgbClr val="C00000"/>
                </a:solidFill>
              </a:rPr>
              <a:t> double-spending requires the bank to </a:t>
            </a:r>
            <a:r>
              <a:rPr lang="en-US" b="1" i="1" dirty="0">
                <a:solidFill>
                  <a:srgbClr val="C00000"/>
                </a:solidFill>
              </a:rPr>
              <a:t>always</a:t>
            </a:r>
            <a:r>
              <a:rPr lang="en-US" dirty="0">
                <a:solidFill>
                  <a:srgbClr val="C00000"/>
                </a:solidFill>
              </a:rPr>
              <a:t> be online</a:t>
            </a:r>
          </a:p>
          <a:p>
            <a:pPr lvl="1"/>
            <a:r>
              <a:rPr lang="en-US" dirty="0">
                <a:solidFill>
                  <a:srgbClr val="C00000"/>
                </a:solidFill>
              </a:rPr>
              <a:t>The bank can fail, delay payments, or censor altogether</a:t>
            </a:r>
          </a:p>
          <a:p>
            <a:pPr lvl="1"/>
            <a:r>
              <a:rPr lang="en-US" b="1" dirty="0">
                <a:solidFill>
                  <a:srgbClr val="C00000"/>
                </a:solidFill>
              </a:rPr>
              <a:t>Privacy:</a:t>
            </a:r>
            <a:r>
              <a:rPr lang="en-US" dirty="0">
                <a:solidFill>
                  <a:srgbClr val="C00000"/>
                </a:solidFill>
              </a:rPr>
              <a:t> Can the bank identify the payer, payee, or the payment?</a:t>
            </a:r>
          </a:p>
          <a:p>
            <a:pPr lvl="2"/>
            <a:r>
              <a:rPr lang="en-US" dirty="0">
                <a:solidFill>
                  <a:srgbClr val="7030A0"/>
                </a:solidFill>
              </a:rPr>
              <a:t>Think of the serial number (SN), </a:t>
            </a:r>
            <a:r>
              <a:rPr lang="en-US" b="1" i="1" dirty="0">
                <a:solidFill>
                  <a:srgbClr val="7030A0"/>
                </a:solidFill>
              </a:rPr>
              <a:t>which is used to avoid double-spending</a:t>
            </a:r>
          </a:p>
          <a:p>
            <a:pPr lvl="2"/>
            <a:r>
              <a:rPr lang="en-US" dirty="0">
                <a:solidFill>
                  <a:srgbClr val="7030A0"/>
                </a:solidFill>
              </a:rPr>
              <a:t>Knowing the SN, the bank knows who is paying how much to whom!!!</a:t>
            </a:r>
          </a:p>
        </p:txBody>
      </p:sp>
      <p:sp>
        <p:nvSpPr>
          <p:cNvPr id="3" name="Slide Number Placeholder 2">
            <a:extLst>
              <a:ext uri="{FF2B5EF4-FFF2-40B4-BE49-F238E27FC236}">
                <a16:creationId xmlns:a16="http://schemas.microsoft.com/office/drawing/2014/main" id="{BCC0E353-CAE2-BF88-9BBC-1654F0B9FDC9}"/>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1982400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dissolv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dissolv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dissolv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dissolv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dissolv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dissolve">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dissolve">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dissolve">
                                      <p:cBhvr>
                                        <p:cTn id="47" dur="500"/>
                                        <p:tgtEl>
                                          <p:spTgt spid="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
                                            <p:txEl>
                                              <p:pRg st="10" end="10"/>
                                            </p:txEl>
                                          </p:spTgt>
                                        </p:tgtEl>
                                        <p:attrNameLst>
                                          <p:attrName>style.visibility</p:attrName>
                                        </p:attrNameLst>
                                      </p:cBhvr>
                                      <p:to>
                                        <p:strVal val="visible"/>
                                      </p:to>
                                    </p:set>
                                    <p:animEffect transition="in" filter="dissolve">
                                      <p:cBhvr>
                                        <p:cTn id="5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C7A3-7FB5-C8C3-B42D-D67D48CB9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FDC6B-F727-4CF4-017D-642AEB5475AC}"/>
              </a:ext>
            </a:extLst>
          </p:cNvPr>
          <p:cNvSpPr>
            <a:spLocks noGrp="1"/>
          </p:cNvSpPr>
          <p:nvPr>
            <p:ph type="title"/>
          </p:nvPr>
        </p:nvSpPr>
        <p:spPr/>
        <p:txBody>
          <a:bodyPr/>
          <a:lstStyle/>
          <a:p>
            <a:r>
              <a:rPr lang="en-PK" dirty="0"/>
              <a:t>Chaumian E-Cash using blinded signatures</a:t>
            </a:r>
          </a:p>
        </p:txBody>
      </p:sp>
      <p:sp>
        <p:nvSpPr>
          <p:cNvPr id="3" name="Slide Number Placeholder 2">
            <a:extLst>
              <a:ext uri="{FF2B5EF4-FFF2-40B4-BE49-F238E27FC236}">
                <a16:creationId xmlns:a16="http://schemas.microsoft.com/office/drawing/2014/main" id="{DF67F54F-B991-4C13-27BB-A40D0072924F}"/>
              </a:ext>
            </a:extLst>
          </p:cNvPr>
          <p:cNvSpPr>
            <a:spLocks noGrp="1"/>
          </p:cNvSpPr>
          <p:nvPr>
            <p:ph type="sldNum" sz="quarter" idx="12"/>
          </p:nvPr>
        </p:nvSpPr>
        <p:spPr/>
        <p:txBody>
          <a:bodyPr/>
          <a:lstStyle/>
          <a:p>
            <a:fld id="{D57F1E4F-1CFF-5643-939E-217C01CDF565}" type="slidenum">
              <a:rPr lang="en-US" smtClean="0"/>
              <a:pPr/>
              <a:t>25</a:t>
            </a:fld>
            <a:endParaRPr lang="en-US" dirty="0"/>
          </a:p>
        </p:txBody>
      </p:sp>
      <p:pic>
        <p:nvPicPr>
          <p:cNvPr id="5" name="Picture 4" descr="A yellow building with columns and blue text&#10;&#10;AI-generated content may be incorrect.">
            <a:extLst>
              <a:ext uri="{FF2B5EF4-FFF2-40B4-BE49-F238E27FC236}">
                <a16:creationId xmlns:a16="http://schemas.microsoft.com/office/drawing/2014/main" id="{507A9002-5716-0A66-595D-EF09578517F7}"/>
              </a:ext>
            </a:extLst>
          </p:cNvPr>
          <p:cNvPicPr>
            <a:picLocks noChangeAspect="1"/>
          </p:cNvPicPr>
          <p:nvPr/>
        </p:nvPicPr>
        <p:blipFill>
          <a:blip r:embed="rId3"/>
          <a:stretch>
            <a:fillRect/>
          </a:stretch>
        </p:blipFill>
        <p:spPr>
          <a:xfrm>
            <a:off x="4836000" y="1087120"/>
            <a:ext cx="2520000" cy="2520000"/>
          </a:xfrm>
          <a:prstGeom prst="rect">
            <a:avLst/>
          </a:prstGeom>
        </p:spPr>
      </p:pic>
      <p:pic>
        <p:nvPicPr>
          <p:cNvPr id="13" name="Picture 12" descr="A cartoon of a person&#10;&#10;AI-generated content may be incorrect.">
            <a:extLst>
              <a:ext uri="{FF2B5EF4-FFF2-40B4-BE49-F238E27FC236}">
                <a16:creationId xmlns:a16="http://schemas.microsoft.com/office/drawing/2014/main" id="{72B67B80-8C6C-A5E6-B6B8-F66D52A3DEBC}"/>
              </a:ext>
            </a:extLst>
          </p:cNvPr>
          <p:cNvPicPr>
            <a:picLocks noChangeAspect="1"/>
          </p:cNvPicPr>
          <p:nvPr/>
        </p:nvPicPr>
        <p:blipFill>
          <a:blip r:embed="rId4"/>
          <a:stretch>
            <a:fillRect/>
          </a:stretch>
        </p:blipFill>
        <p:spPr>
          <a:xfrm>
            <a:off x="9332327" y="4342616"/>
            <a:ext cx="1091903" cy="1800000"/>
          </a:xfrm>
          <a:prstGeom prst="rect">
            <a:avLst/>
          </a:prstGeom>
        </p:spPr>
      </p:pic>
      <p:pic>
        <p:nvPicPr>
          <p:cNvPr id="15" name="Picture 14">
            <a:extLst>
              <a:ext uri="{FF2B5EF4-FFF2-40B4-BE49-F238E27FC236}">
                <a16:creationId xmlns:a16="http://schemas.microsoft.com/office/drawing/2014/main" id="{7C78328A-E025-B5D3-EFA9-7469E3C1C0E8}"/>
              </a:ext>
            </a:extLst>
          </p:cNvPr>
          <p:cNvPicPr>
            <a:picLocks noChangeAspect="1"/>
          </p:cNvPicPr>
          <p:nvPr/>
        </p:nvPicPr>
        <p:blipFill>
          <a:blip r:embed="rId5"/>
          <a:stretch>
            <a:fillRect/>
          </a:stretch>
        </p:blipFill>
        <p:spPr>
          <a:xfrm>
            <a:off x="1767770" y="4342616"/>
            <a:ext cx="1091903" cy="1800000"/>
          </a:xfrm>
          <a:prstGeom prst="rect">
            <a:avLst/>
          </a:prstGeom>
        </p:spPr>
      </p:pic>
      <p:sp>
        <p:nvSpPr>
          <p:cNvPr id="18" name="Arc 17">
            <a:extLst>
              <a:ext uri="{FF2B5EF4-FFF2-40B4-BE49-F238E27FC236}">
                <a16:creationId xmlns:a16="http://schemas.microsoft.com/office/drawing/2014/main" id="{ABDB4386-2A1E-CE8D-5A0C-49C3C3F1781F}"/>
              </a:ext>
            </a:extLst>
          </p:cNvPr>
          <p:cNvSpPr/>
          <p:nvPr/>
        </p:nvSpPr>
        <p:spPr>
          <a:xfrm>
            <a:off x="2313721" y="2750088"/>
            <a:ext cx="6640372" cy="3020791"/>
          </a:xfrm>
          <a:prstGeom prst="arc">
            <a:avLst>
              <a:gd name="adj1" fmla="val 10808775"/>
              <a:gd name="adj2" fmla="val 14960412"/>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23" name="TextBox 22">
            <a:extLst>
              <a:ext uri="{FF2B5EF4-FFF2-40B4-BE49-F238E27FC236}">
                <a16:creationId xmlns:a16="http://schemas.microsoft.com/office/drawing/2014/main" id="{05E967B0-392A-3830-572F-20E931D1422B}"/>
              </a:ext>
            </a:extLst>
          </p:cNvPr>
          <p:cNvSpPr txBox="1"/>
          <p:nvPr/>
        </p:nvSpPr>
        <p:spPr>
          <a:xfrm>
            <a:off x="1686367" y="2273379"/>
            <a:ext cx="1843786" cy="923330"/>
          </a:xfrm>
          <a:prstGeom prst="rect">
            <a:avLst/>
          </a:prstGeom>
          <a:noFill/>
        </p:spPr>
        <p:txBody>
          <a:bodyPr wrap="square" rtlCol="0">
            <a:spAutoFit/>
          </a:bodyPr>
          <a:lstStyle/>
          <a:p>
            <a:r>
              <a:rPr lang="en-PK" dirty="0"/>
              <a:t>I would like to get a $5 digital coin and here is </a:t>
            </a:r>
            <a:r>
              <a:rPr lang="en-PK" dirty="0">
                <a:highlight>
                  <a:srgbClr val="FFFF00"/>
                </a:highlight>
              </a:rPr>
              <a:t>b(SN)</a:t>
            </a:r>
          </a:p>
        </p:txBody>
      </p:sp>
      <p:cxnSp>
        <p:nvCxnSpPr>
          <p:cNvPr id="30" name="Straight Arrow Connector 29">
            <a:extLst>
              <a:ext uri="{FF2B5EF4-FFF2-40B4-BE49-F238E27FC236}">
                <a16:creationId xmlns:a16="http://schemas.microsoft.com/office/drawing/2014/main" id="{1FA7A134-D4E7-0EBB-E8EC-18FA0C6092F7}"/>
              </a:ext>
            </a:extLst>
          </p:cNvPr>
          <p:cNvCxnSpPr/>
          <p:nvPr/>
        </p:nvCxnSpPr>
        <p:spPr>
          <a:xfrm>
            <a:off x="3237906" y="5770879"/>
            <a:ext cx="5548285" cy="0"/>
          </a:xfrm>
          <a:prstGeom prst="straightConnector1">
            <a:avLst/>
          </a:prstGeom>
          <a:ln w="285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2" name="Arc 31">
            <a:extLst>
              <a:ext uri="{FF2B5EF4-FFF2-40B4-BE49-F238E27FC236}">
                <a16:creationId xmlns:a16="http://schemas.microsoft.com/office/drawing/2014/main" id="{061B0191-369F-66BD-BD39-148876A1AE8D}"/>
              </a:ext>
            </a:extLst>
          </p:cNvPr>
          <p:cNvSpPr/>
          <p:nvPr/>
        </p:nvSpPr>
        <p:spPr>
          <a:xfrm>
            <a:off x="3237906" y="2750089"/>
            <a:ext cx="6640372" cy="3020791"/>
          </a:xfrm>
          <a:prstGeom prst="arc">
            <a:avLst>
              <a:gd name="adj1" fmla="val 17575612"/>
              <a:gd name="adj2" fmla="val 0"/>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44" name="Picture 43" descr="A sandwich with meat and vegetables&#10;&#10;AI-generated content may be incorrect.">
            <a:extLst>
              <a:ext uri="{FF2B5EF4-FFF2-40B4-BE49-F238E27FC236}">
                <a16:creationId xmlns:a16="http://schemas.microsoft.com/office/drawing/2014/main" id="{5185C8CC-4ACE-FF46-BFAE-1F1C5B9F4312}"/>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5271666" y="4592639"/>
            <a:ext cx="1648665" cy="1080000"/>
          </a:xfrm>
          <a:prstGeom prst="rect">
            <a:avLst/>
          </a:prstGeom>
        </p:spPr>
      </p:pic>
      <p:cxnSp>
        <p:nvCxnSpPr>
          <p:cNvPr id="45" name="Straight Arrow Connector 44">
            <a:extLst>
              <a:ext uri="{FF2B5EF4-FFF2-40B4-BE49-F238E27FC236}">
                <a16:creationId xmlns:a16="http://schemas.microsoft.com/office/drawing/2014/main" id="{2F09D6EA-29B8-8EBF-3831-03937E528F8B}"/>
              </a:ext>
            </a:extLst>
          </p:cNvPr>
          <p:cNvCxnSpPr/>
          <p:nvPr/>
        </p:nvCxnSpPr>
        <p:spPr>
          <a:xfrm>
            <a:off x="3206002" y="5770879"/>
            <a:ext cx="5548285" cy="0"/>
          </a:xfrm>
          <a:prstGeom prst="straightConnector1">
            <a:avLst/>
          </a:prstGeom>
          <a:ln w="28575">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sp>
        <p:nvSpPr>
          <p:cNvPr id="4" name="Arc 3">
            <a:extLst>
              <a:ext uri="{FF2B5EF4-FFF2-40B4-BE49-F238E27FC236}">
                <a16:creationId xmlns:a16="http://schemas.microsoft.com/office/drawing/2014/main" id="{56861649-4B6B-5CA0-A84B-36D88FEE37AB}"/>
              </a:ext>
            </a:extLst>
          </p:cNvPr>
          <p:cNvSpPr/>
          <p:nvPr/>
        </p:nvSpPr>
        <p:spPr>
          <a:xfrm>
            <a:off x="2313721" y="2750088"/>
            <a:ext cx="6640372" cy="3020791"/>
          </a:xfrm>
          <a:prstGeom prst="arc">
            <a:avLst>
              <a:gd name="adj1" fmla="val 10808775"/>
              <a:gd name="adj2" fmla="val 14960412"/>
            </a:avLst>
          </a:prstGeom>
          <a:ln w="254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9" name="Picture 8" descr="A letter c made of circuit board&#10;&#10;AI-generated content may be incorrect.">
            <a:extLst>
              <a:ext uri="{FF2B5EF4-FFF2-40B4-BE49-F238E27FC236}">
                <a16:creationId xmlns:a16="http://schemas.microsoft.com/office/drawing/2014/main" id="{685268B2-E4DE-0EA6-43D9-7AACF20F04BE}"/>
              </a:ext>
            </a:extLst>
          </p:cNvPr>
          <p:cNvPicPr>
            <a:picLocks noChangeAspect="1"/>
          </p:cNvPicPr>
          <p:nvPr/>
        </p:nvPicPr>
        <p:blipFill>
          <a:blip r:embed="rId8"/>
          <a:stretch>
            <a:fillRect/>
          </a:stretch>
        </p:blipFill>
        <p:spPr>
          <a:xfrm>
            <a:off x="2781766" y="3406658"/>
            <a:ext cx="1080000" cy="1080000"/>
          </a:xfrm>
          <a:prstGeom prst="rect">
            <a:avLst/>
          </a:prstGeom>
        </p:spPr>
      </p:pic>
      <p:pic>
        <p:nvPicPr>
          <p:cNvPr id="11" name="Picture 10" descr="A close-up of a paper money&#10;&#10;AI-generated content may be incorrect.">
            <a:extLst>
              <a:ext uri="{FF2B5EF4-FFF2-40B4-BE49-F238E27FC236}">
                <a16:creationId xmlns:a16="http://schemas.microsoft.com/office/drawing/2014/main" id="{407CF6B6-87E7-FE91-D6B8-6CA4C49DC9E5}"/>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188519" y="3161680"/>
            <a:ext cx="2088000" cy="890880"/>
          </a:xfrm>
          <a:prstGeom prst="rect">
            <a:avLst/>
          </a:prstGeom>
        </p:spPr>
      </p:pic>
      <p:pic>
        <p:nvPicPr>
          <p:cNvPr id="14" name="Picture 13" descr="A letter c made of circuit board&#10;&#10;AI-generated content may be incorrect.">
            <a:extLst>
              <a:ext uri="{FF2B5EF4-FFF2-40B4-BE49-F238E27FC236}">
                <a16:creationId xmlns:a16="http://schemas.microsoft.com/office/drawing/2014/main" id="{3CF4BD77-880B-C8F1-808E-63BF7FA0EDDE}"/>
              </a:ext>
            </a:extLst>
          </p:cNvPr>
          <p:cNvPicPr>
            <a:picLocks noChangeAspect="1"/>
          </p:cNvPicPr>
          <p:nvPr/>
        </p:nvPicPr>
        <p:blipFill>
          <a:blip r:embed="rId8"/>
          <a:stretch>
            <a:fillRect/>
          </a:stretch>
        </p:blipFill>
        <p:spPr>
          <a:xfrm>
            <a:off x="5555998" y="4592639"/>
            <a:ext cx="1080000" cy="1080000"/>
          </a:xfrm>
          <a:prstGeom prst="rect">
            <a:avLst/>
          </a:prstGeom>
        </p:spPr>
      </p:pic>
      <p:pic>
        <p:nvPicPr>
          <p:cNvPr id="16" name="Picture 15" descr="A letter c made of circuit board&#10;&#10;AI-generated content may be incorrect.">
            <a:extLst>
              <a:ext uri="{FF2B5EF4-FFF2-40B4-BE49-F238E27FC236}">
                <a16:creationId xmlns:a16="http://schemas.microsoft.com/office/drawing/2014/main" id="{25B9C6B9-3964-C609-1693-4F8FD20299DE}"/>
              </a:ext>
            </a:extLst>
          </p:cNvPr>
          <p:cNvPicPr>
            <a:picLocks noChangeAspect="1"/>
          </p:cNvPicPr>
          <p:nvPr/>
        </p:nvPicPr>
        <p:blipFill>
          <a:blip r:embed="rId8"/>
          <a:stretch>
            <a:fillRect/>
          </a:stretch>
        </p:blipFill>
        <p:spPr>
          <a:xfrm>
            <a:off x="7421998" y="3027910"/>
            <a:ext cx="1080000" cy="1080000"/>
          </a:xfrm>
          <a:prstGeom prst="rect">
            <a:avLst/>
          </a:prstGeom>
        </p:spPr>
      </p:pic>
      <p:sp>
        <p:nvSpPr>
          <p:cNvPr id="17" name="Arc 16">
            <a:extLst>
              <a:ext uri="{FF2B5EF4-FFF2-40B4-BE49-F238E27FC236}">
                <a16:creationId xmlns:a16="http://schemas.microsoft.com/office/drawing/2014/main" id="{73C51102-4E8C-E5FC-B993-3300CA0D9809}"/>
              </a:ext>
            </a:extLst>
          </p:cNvPr>
          <p:cNvSpPr/>
          <p:nvPr/>
        </p:nvSpPr>
        <p:spPr>
          <a:xfrm>
            <a:off x="3237906" y="2750088"/>
            <a:ext cx="6640372" cy="3020791"/>
          </a:xfrm>
          <a:prstGeom prst="arc">
            <a:avLst>
              <a:gd name="adj1" fmla="val 17575612"/>
              <a:gd name="adj2" fmla="val 0"/>
            </a:avLst>
          </a:prstGeom>
          <a:ln w="25400">
            <a:solidFill>
              <a:schemeClr val="tx1"/>
            </a:solidFill>
            <a:headEnd type="none" w="lg" len="lg"/>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pic>
        <p:nvPicPr>
          <p:cNvPr id="19" name="Picture 18" descr="A close-up of a paper money&#10;&#10;AI-generated content may be incorrect.">
            <a:extLst>
              <a:ext uri="{FF2B5EF4-FFF2-40B4-BE49-F238E27FC236}">
                <a16:creationId xmlns:a16="http://schemas.microsoft.com/office/drawing/2014/main" id="{9FB0EB23-C6CA-F83C-D816-BD1F0E70F7FB}"/>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9062238" y="2289604"/>
            <a:ext cx="2088000" cy="890880"/>
          </a:xfrm>
          <a:prstGeom prst="rect">
            <a:avLst/>
          </a:prstGeom>
        </p:spPr>
      </p:pic>
      <p:sp>
        <p:nvSpPr>
          <p:cNvPr id="6" name="Snip Single Corner of Rectangle 5">
            <a:extLst>
              <a:ext uri="{FF2B5EF4-FFF2-40B4-BE49-F238E27FC236}">
                <a16:creationId xmlns:a16="http://schemas.microsoft.com/office/drawing/2014/main" id="{98AF3E89-A57D-2DC1-6A2E-D42A56BC1EBE}"/>
              </a:ext>
            </a:extLst>
          </p:cNvPr>
          <p:cNvSpPr/>
          <p:nvPr/>
        </p:nvSpPr>
        <p:spPr>
          <a:xfrm rot="5400000">
            <a:off x="7474778" y="1134342"/>
            <a:ext cx="1233376" cy="1254642"/>
          </a:xfrm>
          <a:prstGeom prst="snip1Rect">
            <a:avLst>
              <a:gd name="adj" fmla="val 1899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b" anchorCtr="0">
            <a:scene3d>
              <a:camera prst="orthographicFront">
                <a:rot lat="0" lon="0" rev="5400000"/>
              </a:camera>
              <a:lightRig rig="threePt" dir="t"/>
            </a:scene3d>
          </a:bodyPr>
          <a:lstStyle/>
          <a:p>
            <a:r>
              <a:rPr lang="en-PK" sz="2000" b="1" dirty="0">
                <a:solidFill>
                  <a:srgbClr val="7030A0"/>
                </a:solidFill>
              </a:rPr>
              <a:t>SN</a:t>
            </a:r>
          </a:p>
        </p:txBody>
      </p:sp>
      <p:sp>
        <p:nvSpPr>
          <p:cNvPr id="7" name="Rounded Rectangle 6">
            <a:extLst>
              <a:ext uri="{FF2B5EF4-FFF2-40B4-BE49-F238E27FC236}">
                <a16:creationId xmlns:a16="http://schemas.microsoft.com/office/drawing/2014/main" id="{510C0FCC-72DA-405A-5A56-7B051D3763AB}"/>
              </a:ext>
            </a:extLst>
          </p:cNvPr>
          <p:cNvSpPr/>
          <p:nvPr/>
        </p:nvSpPr>
        <p:spPr>
          <a:xfrm>
            <a:off x="95171" y="999202"/>
            <a:ext cx="3110831" cy="919401"/>
          </a:xfrm>
          <a:prstGeom prst="round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PK" sz="2400" dirty="0"/>
              <a:t>Solves the privacy issue in Simple E-cash</a:t>
            </a:r>
          </a:p>
        </p:txBody>
      </p:sp>
      <p:sp>
        <p:nvSpPr>
          <p:cNvPr id="8" name="Rounded Rectangle 7">
            <a:extLst>
              <a:ext uri="{FF2B5EF4-FFF2-40B4-BE49-F238E27FC236}">
                <a16:creationId xmlns:a16="http://schemas.microsoft.com/office/drawing/2014/main" id="{85E6EC96-7140-9EFE-A19B-A4899B241447}"/>
              </a:ext>
            </a:extLst>
          </p:cNvPr>
          <p:cNvSpPr/>
          <p:nvPr/>
        </p:nvSpPr>
        <p:spPr>
          <a:xfrm>
            <a:off x="32693" y="4592639"/>
            <a:ext cx="1626932" cy="91940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GB" sz="1600" dirty="0">
                <a:solidFill>
                  <a:srgbClr val="7030A0"/>
                </a:solidFill>
              </a:rPr>
              <a:t>Alice chooses a serial number </a:t>
            </a:r>
            <a:r>
              <a:rPr lang="en-GB" sz="1600" b="1" dirty="0">
                <a:solidFill>
                  <a:srgbClr val="7030A0"/>
                </a:solidFill>
              </a:rPr>
              <a:t>SN</a:t>
            </a:r>
            <a:r>
              <a:rPr lang="en-GB" sz="1600" dirty="0">
                <a:solidFill>
                  <a:srgbClr val="7030A0"/>
                </a:solidFill>
              </a:rPr>
              <a:t> and </a:t>
            </a:r>
            <a:r>
              <a:rPr lang="en-GB" sz="1600" b="1" dirty="0">
                <a:solidFill>
                  <a:srgbClr val="7030A0"/>
                </a:solidFill>
              </a:rPr>
              <a:t>blinds</a:t>
            </a:r>
            <a:r>
              <a:rPr lang="en-GB" sz="1600" dirty="0">
                <a:solidFill>
                  <a:srgbClr val="7030A0"/>
                </a:solidFill>
              </a:rPr>
              <a:t> it</a:t>
            </a:r>
          </a:p>
        </p:txBody>
      </p:sp>
      <p:sp>
        <p:nvSpPr>
          <p:cNvPr id="10" name="TextBox 9">
            <a:extLst>
              <a:ext uri="{FF2B5EF4-FFF2-40B4-BE49-F238E27FC236}">
                <a16:creationId xmlns:a16="http://schemas.microsoft.com/office/drawing/2014/main" id="{8EDD4F6E-D29D-176C-5D0A-3900E9D114CE}"/>
              </a:ext>
            </a:extLst>
          </p:cNvPr>
          <p:cNvSpPr txBox="1"/>
          <p:nvPr/>
        </p:nvSpPr>
        <p:spPr>
          <a:xfrm>
            <a:off x="3698491" y="3070689"/>
            <a:ext cx="1220643" cy="671935"/>
          </a:xfrm>
          <a:prstGeom prst="rect">
            <a:avLst/>
          </a:prstGeom>
          <a:noFill/>
        </p:spPr>
        <p:txBody>
          <a:bodyPr wrap="square" rtlCol="0">
            <a:spAutoFit/>
          </a:bodyPr>
          <a:lstStyle/>
          <a:p>
            <a:pPr algn="ctr"/>
            <a:r>
              <a:rPr lang="en-PK" dirty="0"/>
              <a:t>Bank signs sig(b(SN))</a:t>
            </a:r>
          </a:p>
        </p:txBody>
      </p:sp>
      <p:sp>
        <p:nvSpPr>
          <p:cNvPr id="12" name="Rounded Rectangle 11">
            <a:extLst>
              <a:ext uri="{FF2B5EF4-FFF2-40B4-BE49-F238E27FC236}">
                <a16:creationId xmlns:a16="http://schemas.microsoft.com/office/drawing/2014/main" id="{2F7D266D-014B-66AC-098E-21A321B144A9}"/>
              </a:ext>
            </a:extLst>
          </p:cNvPr>
          <p:cNvSpPr/>
          <p:nvPr/>
        </p:nvSpPr>
        <p:spPr>
          <a:xfrm>
            <a:off x="1128286" y="6167301"/>
            <a:ext cx="2296466" cy="37457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GB" sz="1600" dirty="0">
                <a:solidFill>
                  <a:srgbClr val="7030A0"/>
                </a:solidFill>
              </a:rPr>
              <a:t>Alice can retrieve </a:t>
            </a:r>
            <a:r>
              <a:rPr lang="en-GB" sz="1600" b="1" dirty="0">
                <a:solidFill>
                  <a:srgbClr val="7030A0"/>
                </a:solidFill>
              </a:rPr>
              <a:t>sig(SN)</a:t>
            </a:r>
            <a:endParaRPr lang="en-GB" sz="1600" dirty="0">
              <a:solidFill>
                <a:srgbClr val="7030A0"/>
              </a:solidFill>
            </a:endParaRPr>
          </a:p>
        </p:txBody>
      </p:sp>
      <p:sp>
        <p:nvSpPr>
          <p:cNvPr id="21" name="TextBox 20">
            <a:extLst>
              <a:ext uri="{FF2B5EF4-FFF2-40B4-BE49-F238E27FC236}">
                <a16:creationId xmlns:a16="http://schemas.microsoft.com/office/drawing/2014/main" id="{4889C884-75FB-F4C3-4C75-AA33AC99DEAE}"/>
              </a:ext>
            </a:extLst>
          </p:cNvPr>
          <p:cNvSpPr txBox="1"/>
          <p:nvPr/>
        </p:nvSpPr>
        <p:spPr>
          <a:xfrm>
            <a:off x="4465072" y="6026268"/>
            <a:ext cx="3261855" cy="369332"/>
          </a:xfrm>
          <a:prstGeom prst="rect">
            <a:avLst/>
          </a:prstGeom>
          <a:noFill/>
        </p:spPr>
        <p:txBody>
          <a:bodyPr wrap="none" rtlCol="0">
            <a:spAutoFit/>
          </a:bodyPr>
          <a:lstStyle/>
          <a:p>
            <a:pPr algn="ctr"/>
            <a:r>
              <a:rPr lang="en-PK" dirty="0"/>
              <a:t>Alice provided sig(SN), SN to Bob</a:t>
            </a:r>
          </a:p>
        </p:txBody>
      </p:sp>
      <p:sp>
        <p:nvSpPr>
          <p:cNvPr id="24" name="TextBox 23">
            <a:extLst>
              <a:ext uri="{FF2B5EF4-FFF2-40B4-BE49-F238E27FC236}">
                <a16:creationId xmlns:a16="http://schemas.microsoft.com/office/drawing/2014/main" id="{E21996CE-9DA6-00B2-6F3C-A5EEFDB50B9D}"/>
              </a:ext>
            </a:extLst>
          </p:cNvPr>
          <p:cNvSpPr txBox="1"/>
          <p:nvPr/>
        </p:nvSpPr>
        <p:spPr>
          <a:xfrm>
            <a:off x="8394760" y="3818374"/>
            <a:ext cx="1250662" cy="646331"/>
          </a:xfrm>
          <a:prstGeom prst="rect">
            <a:avLst/>
          </a:prstGeom>
          <a:noFill/>
        </p:spPr>
        <p:txBody>
          <a:bodyPr wrap="none" rtlCol="0">
            <a:spAutoFit/>
          </a:bodyPr>
          <a:lstStyle/>
          <a:p>
            <a:pPr algn="ctr"/>
            <a:r>
              <a:rPr lang="en-PK" dirty="0"/>
              <a:t> sig(SN), SN</a:t>
            </a:r>
          </a:p>
          <a:p>
            <a:pPr algn="ctr"/>
            <a:r>
              <a:rPr lang="en-GB" dirty="0"/>
              <a:t>V</a:t>
            </a:r>
            <a:r>
              <a:rPr lang="en-PK" dirty="0"/>
              <a:t>erifies?</a:t>
            </a:r>
          </a:p>
        </p:txBody>
      </p:sp>
      <p:sp>
        <p:nvSpPr>
          <p:cNvPr id="20" name="Rounded Rectangle 19">
            <a:extLst>
              <a:ext uri="{FF2B5EF4-FFF2-40B4-BE49-F238E27FC236}">
                <a16:creationId xmlns:a16="http://schemas.microsoft.com/office/drawing/2014/main" id="{A6E6FBFE-C28C-DA4F-5530-6458ADD13A16}"/>
              </a:ext>
            </a:extLst>
          </p:cNvPr>
          <p:cNvSpPr/>
          <p:nvPr/>
        </p:nvSpPr>
        <p:spPr>
          <a:xfrm>
            <a:off x="3391482" y="1526593"/>
            <a:ext cx="1565447" cy="715089"/>
          </a:xfrm>
          <a:prstGeom prst="roundRect">
            <a:avLst/>
          </a:prstGeom>
          <a:solidFill>
            <a:schemeClr val="accent4">
              <a:lumMod val="60000"/>
              <a:lumOff val="4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none" rtlCol="0" anchor="ctr">
            <a:spAutoFit/>
          </a:bodyPr>
          <a:lstStyle/>
          <a:p>
            <a:pPr algn="ctr"/>
            <a:r>
              <a:rPr lang="en-GB" dirty="0">
                <a:solidFill>
                  <a:srgbClr val="C00000"/>
                </a:solidFill>
                <a:latin typeface="Candara" panose="020E0502030303020204" pitchFamily="34" charset="0"/>
              </a:rPr>
              <a:t>Bank doesn’t </a:t>
            </a:r>
          </a:p>
          <a:p>
            <a:pPr algn="ctr"/>
            <a:r>
              <a:rPr lang="en-GB" dirty="0">
                <a:solidFill>
                  <a:srgbClr val="C00000"/>
                </a:solidFill>
                <a:latin typeface="Candara" panose="020E0502030303020204" pitchFamily="34" charset="0"/>
              </a:rPr>
              <a:t>see the SN</a:t>
            </a:r>
          </a:p>
        </p:txBody>
      </p:sp>
      <p:sp>
        <p:nvSpPr>
          <p:cNvPr id="22" name="Rounded Rectangle 21">
            <a:extLst>
              <a:ext uri="{FF2B5EF4-FFF2-40B4-BE49-F238E27FC236}">
                <a16:creationId xmlns:a16="http://schemas.microsoft.com/office/drawing/2014/main" id="{42954773-A97A-3049-B5E7-28F36647167C}"/>
              </a:ext>
            </a:extLst>
          </p:cNvPr>
          <p:cNvSpPr/>
          <p:nvPr/>
        </p:nvSpPr>
        <p:spPr>
          <a:xfrm>
            <a:off x="5070761" y="3619863"/>
            <a:ext cx="2115004" cy="783193"/>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GB" sz="2000" dirty="0">
                <a:solidFill>
                  <a:schemeClr val="accent4">
                    <a:lumMod val="20000"/>
                    <a:lumOff val="80000"/>
                  </a:schemeClr>
                </a:solidFill>
              </a:rPr>
              <a:t>What about</a:t>
            </a:r>
          </a:p>
          <a:p>
            <a:pPr algn="ctr"/>
            <a:r>
              <a:rPr lang="en-GB" sz="2000" dirty="0">
                <a:solidFill>
                  <a:schemeClr val="accent4">
                    <a:lumMod val="20000"/>
                    <a:lumOff val="80000"/>
                  </a:schemeClr>
                </a:solidFill>
              </a:rPr>
              <a:t>double-spending?</a:t>
            </a:r>
          </a:p>
        </p:txBody>
      </p:sp>
    </p:spTree>
    <p:extLst>
      <p:ext uri="{BB962C8B-B14F-4D97-AF65-F5344CB8AC3E}">
        <p14:creationId xmlns:p14="http://schemas.microsoft.com/office/powerpoint/2010/main" val="320779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dissolve">
                                      <p:cBhvr>
                                        <p:cTn id="12" dur="500"/>
                                        <p:tgtEl>
                                          <p:spTgt spid="2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dissolve">
                                      <p:cBhvr>
                                        <p:cTn id="15" dur="500"/>
                                        <p:tgtEl>
                                          <p:spTgt spid="18"/>
                                        </p:tgtEl>
                                      </p:cBhvr>
                                    </p:animEffect>
                                  </p:childTnLst>
                                </p:cTn>
                              </p:par>
                              <p:par>
                                <p:cTn id="16" presetID="9"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dissolv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dissolv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grpId="1" nodeType="clickEffect">
                                  <p:stCondLst>
                                    <p:cond delay="0"/>
                                  </p:stCondLst>
                                  <p:childTnLst>
                                    <p:animEffect transition="out" filter="dissolve">
                                      <p:cBhvr>
                                        <p:cTn id="27" dur="500"/>
                                        <p:tgtEl>
                                          <p:spTgt spid="23"/>
                                        </p:tgtEl>
                                      </p:cBhvr>
                                    </p:animEffect>
                                    <p:set>
                                      <p:cBhvr>
                                        <p:cTn id="28" dur="1" fill="hold">
                                          <p:stCondLst>
                                            <p:cond delay="499"/>
                                          </p:stCondLst>
                                        </p:cTn>
                                        <p:tgtEl>
                                          <p:spTgt spid="23"/>
                                        </p:tgtEl>
                                        <p:attrNameLst>
                                          <p:attrName>style.visibility</p:attrName>
                                        </p:attrNameLst>
                                      </p:cBhvr>
                                      <p:to>
                                        <p:strVal val="hidden"/>
                                      </p:to>
                                    </p:set>
                                  </p:childTnLst>
                                </p:cTn>
                              </p:par>
                              <p:par>
                                <p:cTn id="29" presetID="9" presetClass="exit" presetSubtype="0" fill="hold" grpId="1" nodeType="withEffect">
                                  <p:stCondLst>
                                    <p:cond delay="0"/>
                                  </p:stCondLst>
                                  <p:childTnLst>
                                    <p:animEffect transition="out" filter="dissolve">
                                      <p:cBhvr>
                                        <p:cTn id="30" dur="500"/>
                                        <p:tgtEl>
                                          <p:spTgt spid="18"/>
                                        </p:tgtEl>
                                      </p:cBhvr>
                                    </p:animEffect>
                                    <p:set>
                                      <p:cBhvr>
                                        <p:cTn id="31" dur="1" fill="hold">
                                          <p:stCondLst>
                                            <p:cond delay="499"/>
                                          </p:stCondLst>
                                        </p:cTn>
                                        <p:tgtEl>
                                          <p:spTgt spid="18"/>
                                        </p:tgtEl>
                                        <p:attrNameLst>
                                          <p:attrName>style.visibility</p:attrName>
                                        </p:attrNameLst>
                                      </p:cBhvr>
                                      <p:to>
                                        <p:strVal val="hidden"/>
                                      </p:to>
                                    </p:set>
                                  </p:childTnLst>
                                </p:cTn>
                              </p:par>
                              <p:par>
                                <p:cTn id="32" presetID="9" presetClass="exit" presetSubtype="0" fill="hold" nodeType="withEffect">
                                  <p:stCondLst>
                                    <p:cond delay="0"/>
                                  </p:stCondLst>
                                  <p:childTnLst>
                                    <p:animEffect transition="out" filter="dissolve">
                                      <p:cBhvr>
                                        <p:cTn id="33" dur="500"/>
                                        <p:tgtEl>
                                          <p:spTgt spid="11"/>
                                        </p:tgtEl>
                                      </p:cBhvr>
                                    </p:animEffect>
                                    <p:set>
                                      <p:cBhvr>
                                        <p:cTn id="34" dur="1" fill="hold">
                                          <p:stCondLst>
                                            <p:cond delay="499"/>
                                          </p:stCondLst>
                                        </p:cTn>
                                        <p:tgtEl>
                                          <p:spTgt spid="11"/>
                                        </p:tgtEl>
                                        <p:attrNameLst>
                                          <p:attrName>style.visibility</p:attrName>
                                        </p:attrNameLst>
                                      </p:cBhvr>
                                      <p:to>
                                        <p:strVal val="hidden"/>
                                      </p:to>
                                    </p:se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dissolve">
                                      <p:cBhvr>
                                        <p:cTn id="38" dur="500"/>
                                        <p:tgtEl>
                                          <p:spTgt spid="4"/>
                                        </p:tgtEl>
                                      </p:cBhvr>
                                    </p:animEffect>
                                  </p:childTnLst>
                                </p:cTn>
                              </p:par>
                            </p:childTnLst>
                          </p:cTn>
                        </p:par>
                        <p:par>
                          <p:cTn id="39" fill="hold">
                            <p:stCondLst>
                              <p:cond delay="1000"/>
                            </p:stCondLst>
                            <p:childTnLst>
                              <p:par>
                                <p:cTn id="40" presetID="1" presetClass="entr" presetSubtype="0" fill="hold" nodeType="afterEffect">
                                  <p:stCondLst>
                                    <p:cond delay="0"/>
                                  </p:stCondLst>
                                  <p:childTnLst>
                                    <p:set>
                                      <p:cBhvr>
                                        <p:cTn id="41" dur="1" fill="hold">
                                          <p:stCondLst>
                                            <p:cond delay="0"/>
                                          </p:stCondLst>
                                        </p:cTn>
                                        <p:tgtEl>
                                          <p:spTgt spid="9"/>
                                        </p:tgtEl>
                                        <p:attrNameLst>
                                          <p:attrName>style.visibility</p:attrName>
                                        </p:attrNameLst>
                                      </p:cBhvr>
                                      <p:to>
                                        <p:strVal val="visible"/>
                                      </p:to>
                                    </p:set>
                                  </p:childTnLst>
                                </p:cTn>
                              </p:par>
                              <p:par>
                                <p:cTn id="42" presetID="9"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dissolve">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dissolve">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dissolve">
                                      <p:cBhvr>
                                        <p:cTn id="54" dur="500"/>
                                        <p:tgtEl>
                                          <p:spTgt spid="30"/>
                                        </p:tgtEl>
                                      </p:cBhvr>
                                    </p:animEffect>
                                  </p:childTnLst>
                                </p:cTn>
                              </p:par>
                              <p:par>
                                <p:cTn id="55" presetID="9"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dissolve">
                                      <p:cBhvr>
                                        <p:cTn id="57" dur="500"/>
                                        <p:tgtEl>
                                          <p:spTgt spid="14"/>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dissolve">
                                      <p:cBhvr>
                                        <p:cTn id="60" dur="500"/>
                                        <p:tgtEl>
                                          <p:spTgt spid="21"/>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xit" presetSubtype="0" fill="hold" nodeType="clickEffect">
                                  <p:stCondLst>
                                    <p:cond delay="0"/>
                                  </p:stCondLst>
                                  <p:childTnLst>
                                    <p:animEffect transition="out" filter="dissolve">
                                      <p:cBhvr>
                                        <p:cTn id="64" dur="500"/>
                                        <p:tgtEl>
                                          <p:spTgt spid="14"/>
                                        </p:tgtEl>
                                      </p:cBhvr>
                                    </p:animEffect>
                                    <p:set>
                                      <p:cBhvr>
                                        <p:cTn id="65" dur="1" fill="hold">
                                          <p:stCondLst>
                                            <p:cond delay="499"/>
                                          </p:stCondLst>
                                        </p:cTn>
                                        <p:tgtEl>
                                          <p:spTgt spid="14"/>
                                        </p:tgtEl>
                                        <p:attrNameLst>
                                          <p:attrName>style.visibility</p:attrName>
                                        </p:attrNameLst>
                                      </p:cBhvr>
                                      <p:to>
                                        <p:strVal val="hidden"/>
                                      </p:to>
                                    </p:set>
                                  </p:childTnLst>
                                </p:cTn>
                              </p:par>
                            </p:childTnLst>
                          </p:cTn>
                        </p:par>
                        <p:par>
                          <p:cTn id="66" fill="hold">
                            <p:stCondLst>
                              <p:cond delay="500"/>
                            </p:stCondLst>
                            <p:childTnLst>
                              <p:par>
                                <p:cTn id="67" presetID="9" presetClass="exit" presetSubtype="0" fill="hold" nodeType="afterEffect">
                                  <p:stCondLst>
                                    <p:cond delay="0"/>
                                  </p:stCondLst>
                                  <p:childTnLst>
                                    <p:animEffect transition="out" filter="dissolve">
                                      <p:cBhvr>
                                        <p:cTn id="68" dur="500"/>
                                        <p:tgtEl>
                                          <p:spTgt spid="30"/>
                                        </p:tgtEl>
                                      </p:cBhvr>
                                    </p:animEffect>
                                    <p:set>
                                      <p:cBhvr>
                                        <p:cTn id="69" dur="1" fill="hold">
                                          <p:stCondLst>
                                            <p:cond delay="499"/>
                                          </p:stCondLst>
                                        </p:cTn>
                                        <p:tgtEl>
                                          <p:spTgt spid="30"/>
                                        </p:tgtEl>
                                        <p:attrNameLst>
                                          <p:attrName>style.visibility</p:attrName>
                                        </p:attrNameLst>
                                      </p:cBhvr>
                                      <p:to>
                                        <p:strVal val="hidden"/>
                                      </p:to>
                                    </p:set>
                                  </p:childTnLst>
                                </p:cTn>
                              </p:par>
                            </p:childTnLst>
                          </p:cTn>
                        </p:par>
                        <p:par>
                          <p:cTn id="70" fill="hold">
                            <p:stCondLst>
                              <p:cond delay="1000"/>
                            </p:stCondLst>
                            <p:childTnLst>
                              <p:par>
                                <p:cTn id="71" presetID="9" presetClass="entr" presetSubtype="0" fill="hold"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dissolve">
                                      <p:cBhvr>
                                        <p:cTn id="73" dur="500"/>
                                        <p:tgtEl>
                                          <p:spTgt spid="45"/>
                                        </p:tgtEl>
                                      </p:cBhvr>
                                    </p:animEffect>
                                  </p:childTnLst>
                                </p:cTn>
                              </p:par>
                            </p:childTnLst>
                          </p:cTn>
                        </p:par>
                        <p:par>
                          <p:cTn id="74" fill="hold">
                            <p:stCondLst>
                              <p:cond delay="1500"/>
                            </p:stCondLst>
                            <p:childTnLst>
                              <p:par>
                                <p:cTn id="75" presetID="9" presetClass="entr" presetSubtype="0" fill="hold" nodeType="after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dissolve">
                                      <p:cBhvr>
                                        <p:cTn id="77" dur="500"/>
                                        <p:tgtEl>
                                          <p:spTgt spid="44"/>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dissolve">
                                      <p:cBhvr>
                                        <p:cTn id="82" dur="500"/>
                                        <p:tgtEl>
                                          <p:spTgt spid="32"/>
                                        </p:tgtEl>
                                      </p:cBhvr>
                                    </p:animEffect>
                                  </p:childTnLst>
                                </p:cTn>
                              </p:par>
                              <p:par>
                                <p:cTn id="83" presetID="9" presetClass="entr" presetSubtype="0" fill="hold" nodeType="with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dissolve">
                                      <p:cBhvr>
                                        <p:cTn id="85" dur="500"/>
                                        <p:tgtEl>
                                          <p:spTgt spid="16"/>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dissolve">
                                      <p:cBhvr>
                                        <p:cTn id="88" dur="500"/>
                                        <p:tgtEl>
                                          <p:spTgt spid="24"/>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6">
                                            <p:bg/>
                                          </p:spTgt>
                                        </p:tgtEl>
                                        <p:attrNameLst>
                                          <p:attrName>style.visibility</p:attrName>
                                        </p:attrNameLst>
                                      </p:cBhvr>
                                      <p:to>
                                        <p:strVal val="visible"/>
                                      </p:to>
                                    </p:set>
                                    <p:animEffect transition="in" filter="dissolve">
                                      <p:cBhvr>
                                        <p:cTn id="93" dur="500"/>
                                        <p:tgtEl>
                                          <p:spTgt spid="6">
                                            <p:bg/>
                                          </p:spTgt>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6">
                                            <p:txEl>
                                              <p:pRg st="0" end="0"/>
                                            </p:txEl>
                                          </p:spTgt>
                                        </p:tgtEl>
                                        <p:attrNameLst>
                                          <p:attrName>style.visibility</p:attrName>
                                        </p:attrNameLst>
                                      </p:cBhvr>
                                      <p:to>
                                        <p:strVal val="visible"/>
                                      </p:to>
                                    </p:set>
                                    <p:animEffect transition="in" filter="dissolve">
                                      <p:cBhvr>
                                        <p:cTn id="96" dur="500"/>
                                        <p:tgtEl>
                                          <p:spTgt spid="6">
                                            <p:txEl>
                                              <p:pRg st="0" end="0"/>
                                            </p:txEl>
                                          </p:spTgt>
                                        </p:tgtEl>
                                      </p:cBhvr>
                                    </p:animEffect>
                                  </p:childTnLst>
                                </p:cTn>
                              </p:par>
                            </p:childTnLst>
                          </p:cTn>
                        </p:par>
                        <p:par>
                          <p:cTn id="97" fill="hold">
                            <p:stCondLst>
                              <p:cond delay="500"/>
                            </p:stCondLst>
                            <p:childTnLst>
                              <p:par>
                                <p:cTn id="98" presetID="9" presetClass="exit" presetSubtype="0" fill="hold" grpId="1" nodeType="afterEffect">
                                  <p:stCondLst>
                                    <p:cond delay="0"/>
                                  </p:stCondLst>
                                  <p:childTnLst>
                                    <p:animEffect transition="out" filter="dissolve">
                                      <p:cBhvr>
                                        <p:cTn id="99" dur="500"/>
                                        <p:tgtEl>
                                          <p:spTgt spid="32"/>
                                        </p:tgtEl>
                                      </p:cBhvr>
                                    </p:animEffect>
                                    <p:set>
                                      <p:cBhvr>
                                        <p:cTn id="100" dur="1" fill="hold">
                                          <p:stCondLst>
                                            <p:cond delay="499"/>
                                          </p:stCondLst>
                                        </p:cTn>
                                        <p:tgtEl>
                                          <p:spTgt spid="32"/>
                                        </p:tgtEl>
                                        <p:attrNameLst>
                                          <p:attrName>style.visibility</p:attrName>
                                        </p:attrNameLst>
                                      </p:cBhvr>
                                      <p:to>
                                        <p:strVal val="hidden"/>
                                      </p:to>
                                    </p:set>
                                  </p:childTnLst>
                                </p:cTn>
                              </p:par>
                              <p:par>
                                <p:cTn id="101" presetID="9" presetClass="exit" presetSubtype="0" fill="hold" nodeType="withEffect">
                                  <p:stCondLst>
                                    <p:cond delay="0"/>
                                  </p:stCondLst>
                                  <p:childTnLst>
                                    <p:animEffect transition="out" filter="dissolve">
                                      <p:cBhvr>
                                        <p:cTn id="102" dur="500"/>
                                        <p:tgtEl>
                                          <p:spTgt spid="16"/>
                                        </p:tgtEl>
                                      </p:cBhvr>
                                    </p:animEffect>
                                    <p:set>
                                      <p:cBhvr>
                                        <p:cTn id="103" dur="1" fill="hold">
                                          <p:stCondLst>
                                            <p:cond delay="499"/>
                                          </p:stCondLst>
                                        </p:cTn>
                                        <p:tgtEl>
                                          <p:spTgt spid="16"/>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24"/>
                                        </p:tgtEl>
                                        <p:attrNameLst>
                                          <p:attrName>style.visibility</p:attrName>
                                        </p:attrNameLst>
                                      </p:cBhvr>
                                      <p:to>
                                        <p:strVal val="hidden"/>
                                      </p:to>
                                    </p:set>
                                  </p:childTnLst>
                                </p:cTn>
                              </p:par>
                            </p:childTnLst>
                          </p:cTn>
                        </p:par>
                        <p:par>
                          <p:cTn id="106" fill="hold">
                            <p:stCondLst>
                              <p:cond delay="1000"/>
                            </p:stCondLst>
                            <p:childTnLst>
                              <p:par>
                                <p:cTn id="107" presetID="9" presetClass="entr" presetSubtype="0" fill="hold" grpId="0" nodeType="afterEffect">
                                  <p:stCondLst>
                                    <p:cond delay="0"/>
                                  </p:stCondLst>
                                  <p:childTnLst>
                                    <p:set>
                                      <p:cBhvr>
                                        <p:cTn id="108" dur="1" fill="hold">
                                          <p:stCondLst>
                                            <p:cond delay="0"/>
                                          </p:stCondLst>
                                        </p:cTn>
                                        <p:tgtEl>
                                          <p:spTgt spid="17"/>
                                        </p:tgtEl>
                                        <p:attrNameLst>
                                          <p:attrName>style.visibility</p:attrName>
                                        </p:attrNameLst>
                                      </p:cBhvr>
                                      <p:to>
                                        <p:strVal val="visible"/>
                                      </p:to>
                                    </p:set>
                                    <p:animEffect transition="in" filter="dissolve">
                                      <p:cBhvr>
                                        <p:cTn id="109" dur="500"/>
                                        <p:tgtEl>
                                          <p:spTgt spid="17"/>
                                        </p:tgtEl>
                                      </p:cBhvr>
                                    </p:animEffect>
                                  </p:childTnLst>
                                </p:cTn>
                              </p:par>
                            </p:childTnLst>
                          </p:cTn>
                        </p:par>
                        <p:par>
                          <p:cTn id="110" fill="hold">
                            <p:stCondLst>
                              <p:cond delay="1500"/>
                            </p:stCondLst>
                            <p:childTnLst>
                              <p:par>
                                <p:cTn id="111" presetID="9" presetClass="entr" presetSubtype="0" fill="hold" nodeType="afterEffect">
                                  <p:stCondLst>
                                    <p:cond delay="0"/>
                                  </p:stCondLst>
                                  <p:childTnLst>
                                    <p:set>
                                      <p:cBhvr>
                                        <p:cTn id="112" dur="1" fill="hold">
                                          <p:stCondLst>
                                            <p:cond delay="0"/>
                                          </p:stCondLst>
                                        </p:cTn>
                                        <p:tgtEl>
                                          <p:spTgt spid="19"/>
                                        </p:tgtEl>
                                        <p:attrNameLst>
                                          <p:attrName>style.visibility</p:attrName>
                                        </p:attrNameLst>
                                      </p:cBhvr>
                                      <p:to>
                                        <p:strVal val="visible"/>
                                      </p:to>
                                    </p:set>
                                    <p:animEffect transition="in" filter="dissolve">
                                      <p:cBhvr>
                                        <p:cTn id="113" dur="500"/>
                                        <p:tgtEl>
                                          <p:spTgt spid="19"/>
                                        </p:tgtEl>
                                      </p:cBhvr>
                                    </p:animEffect>
                                  </p:childTnLst>
                                </p:cTn>
                              </p:par>
                            </p:childTnLst>
                          </p:cTn>
                        </p:par>
                      </p:childTnLst>
                    </p:cTn>
                  </p:par>
                  <p:par>
                    <p:cTn id="114" fill="hold">
                      <p:stCondLst>
                        <p:cond delay="indefinite"/>
                      </p:stCondLst>
                      <p:childTnLst>
                        <p:par>
                          <p:cTn id="115" fill="hold">
                            <p:stCondLst>
                              <p:cond delay="0"/>
                            </p:stCondLst>
                            <p:childTnLst>
                              <p:par>
                                <p:cTn id="116" presetID="9" presetClass="entr" presetSubtype="0" fill="hold" grpId="0" nodeType="clickEffect">
                                  <p:stCondLst>
                                    <p:cond delay="0"/>
                                  </p:stCondLst>
                                  <p:childTnLst>
                                    <p:set>
                                      <p:cBhvr>
                                        <p:cTn id="117" dur="1" fill="hold">
                                          <p:stCondLst>
                                            <p:cond delay="0"/>
                                          </p:stCondLst>
                                        </p:cTn>
                                        <p:tgtEl>
                                          <p:spTgt spid="22"/>
                                        </p:tgtEl>
                                        <p:attrNameLst>
                                          <p:attrName>style.visibility</p:attrName>
                                        </p:attrNameLst>
                                      </p:cBhvr>
                                      <p:to>
                                        <p:strVal val="visible"/>
                                      </p:to>
                                    </p:set>
                                    <p:animEffect transition="in" filter="dissolve">
                                      <p:cBhvr>
                                        <p:cTn id="1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3" grpId="0"/>
      <p:bldP spid="23" grpId="1"/>
      <p:bldP spid="32" grpId="0" animBg="1"/>
      <p:bldP spid="32" grpId="1" animBg="1"/>
      <p:bldP spid="4" grpId="0" animBg="1"/>
      <p:bldP spid="17" grpId="0" animBg="1"/>
      <p:bldP spid="6" grpId="0" build="allAtOnce" animBg="1"/>
      <p:bldP spid="8" grpId="0" animBg="1"/>
      <p:bldP spid="10" grpId="0"/>
      <p:bldP spid="12" grpId="0" animBg="1"/>
      <p:bldP spid="21" grpId="0"/>
      <p:bldP spid="24" grpId="0"/>
      <p:bldP spid="24" grpId="1"/>
      <p:bldP spid="20"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A1EA-9C2C-7DBB-7BE3-9B8A2CD4B85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2A3884-6DA2-B526-7D04-B7CB06C46B4A}"/>
              </a:ext>
            </a:extLst>
          </p:cNvPr>
          <p:cNvSpPr>
            <a:spLocks noGrp="1"/>
          </p:cNvSpPr>
          <p:nvPr>
            <p:ph type="title"/>
          </p:nvPr>
        </p:nvSpPr>
        <p:spPr/>
        <p:txBody>
          <a:bodyPr/>
          <a:lstStyle/>
          <a:p>
            <a:r>
              <a:rPr lang="en-PK" dirty="0"/>
              <a:t>Chaumian E-Cash</a:t>
            </a:r>
          </a:p>
        </p:txBody>
      </p:sp>
      <p:sp>
        <p:nvSpPr>
          <p:cNvPr id="5" name="Content Placeholder 4">
            <a:extLst>
              <a:ext uri="{FF2B5EF4-FFF2-40B4-BE49-F238E27FC236}">
                <a16:creationId xmlns:a16="http://schemas.microsoft.com/office/drawing/2014/main" id="{34881522-2821-252C-158B-97BFC5A7D3C7}"/>
              </a:ext>
            </a:extLst>
          </p:cNvPr>
          <p:cNvSpPr>
            <a:spLocks noGrp="1"/>
          </p:cNvSpPr>
          <p:nvPr>
            <p:ph idx="1"/>
          </p:nvPr>
        </p:nvSpPr>
        <p:spPr/>
        <p:txBody>
          <a:bodyPr>
            <a:normAutofit lnSpcReduction="10000"/>
          </a:bodyPr>
          <a:lstStyle/>
          <a:p>
            <a:r>
              <a:rPr lang="en-US" dirty="0">
                <a:solidFill>
                  <a:srgbClr val="7030A0"/>
                </a:solidFill>
              </a:rPr>
              <a:t>Pros</a:t>
            </a:r>
          </a:p>
          <a:p>
            <a:pPr lvl="1"/>
            <a:r>
              <a:rPr lang="en-US" dirty="0">
                <a:solidFill>
                  <a:srgbClr val="308D3E"/>
                </a:solidFill>
              </a:rPr>
              <a:t>Payment is digital</a:t>
            </a:r>
          </a:p>
          <a:p>
            <a:pPr lvl="1"/>
            <a:r>
              <a:rPr lang="en-US" dirty="0">
                <a:solidFill>
                  <a:srgbClr val="308D3E"/>
                </a:solidFill>
              </a:rPr>
              <a:t>Payer and Payee can be at different locations</a:t>
            </a:r>
          </a:p>
          <a:p>
            <a:pPr lvl="1"/>
            <a:r>
              <a:rPr lang="en-US" dirty="0">
                <a:solidFill>
                  <a:srgbClr val="308D3E"/>
                </a:solidFill>
              </a:rPr>
              <a:t>Peer to Peer (which is great!)</a:t>
            </a:r>
          </a:p>
          <a:p>
            <a:pPr lvl="1"/>
            <a:r>
              <a:rPr lang="en-US" b="1" dirty="0">
                <a:solidFill>
                  <a:srgbClr val="308D3E"/>
                </a:solidFill>
              </a:rPr>
              <a:t>Privacy</a:t>
            </a:r>
            <a:r>
              <a:rPr lang="en-US" dirty="0">
                <a:solidFill>
                  <a:srgbClr val="308D3E"/>
                </a:solidFill>
              </a:rPr>
              <a:t> is maintained: SN is known to Alice, but not to the bank</a:t>
            </a:r>
          </a:p>
          <a:p>
            <a:pPr lvl="1"/>
            <a:r>
              <a:rPr lang="en-US" dirty="0"/>
              <a:t>Same privacy guarantee as the physical paper money!</a:t>
            </a:r>
          </a:p>
          <a:p>
            <a:r>
              <a:rPr lang="en-US" dirty="0">
                <a:solidFill>
                  <a:srgbClr val="7030A0"/>
                </a:solidFill>
              </a:rPr>
              <a:t>Cons</a:t>
            </a:r>
          </a:p>
          <a:p>
            <a:pPr lvl="1"/>
            <a:r>
              <a:rPr lang="en-US" dirty="0">
                <a:solidFill>
                  <a:srgbClr val="C00000"/>
                </a:solidFill>
              </a:rPr>
              <a:t>The bank is still the middle party that everyone is forced to trust</a:t>
            </a:r>
          </a:p>
          <a:p>
            <a:pPr lvl="1"/>
            <a:r>
              <a:rPr lang="en-US" dirty="0">
                <a:solidFill>
                  <a:srgbClr val="C00000"/>
                </a:solidFill>
              </a:rPr>
              <a:t>The bank can censor payments</a:t>
            </a:r>
          </a:p>
          <a:p>
            <a:r>
              <a:rPr lang="en-US" b="1" dirty="0">
                <a:solidFill>
                  <a:srgbClr val="C00000"/>
                </a:solidFill>
              </a:rPr>
              <a:t>What about double-spending?</a:t>
            </a:r>
          </a:p>
          <a:p>
            <a:pPr lvl="1"/>
            <a:r>
              <a:rPr lang="en-US" dirty="0">
                <a:solidFill>
                  <a:srgbClr val="7030A0"/>
                </a:solidFill>
              </a:rPr>
              <a:t>Detection and identification possible (only after the fact!)</a:t>
            </a:r>
          </a:p>
        </p:txBody>
      </p:sp>
      <p:sp>
        <p:nvSpPr>
          <p:cNvPr id="3" name="Slide Number Placeholder 2">
            <a:extLst>
              <a:ext uri="{FF2B5EF4-FFF2-40B4-BE49-F238E27FC236}">
                <a16:creationId xmlns:a16="http://schemas.microsoft.com/office/drawing/2014/main" id="{D7F68930-6C50-012A-6B8A-B1B8B7AF7C54}"/>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3590228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dissolv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dissolv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dissolv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dissolv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dissolv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dissolve">
                                      <p:cBhvr>
                                        <p:cTn id="37" dur="500"/>
                                        <p:tgtEl>
                                          <p:spTgt spid="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dissolve">
                                      <p:cBhvr>
                                        <p:cTn id="42" dur="500"/>
                                        <p:tgtEl>
                                          <p:spTgt spid="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
                                            <p:txEl>
                                              <p:pRg st="9" end="9"/>
                                            </p:txEl>
                                          </p:spTgt>
                                        </p:tgtEl>
                                        <p:attrNameLst>
                                          <p:attrName>style.visibility</p:attrName>
                                        </p:attrNameLst>
                                      </p:cBhvr>
                                      <p:to>
                                        <p:strVal val="visible"/>
                                      </p:to>
                                    </p:set>
                                    <p:animEffect transition="in" filter="dissolve">
                                      <p:cBhvr>
                                        <p:cTn id="47" dur="500"/>
                                        <p:tgtEl>
                                          <p:spTgt spid="5">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
                                            <p:txEl>
                                              <p:pRg st="10" end="10"/>
                                            </p:txEl>
                                          </p:spTgt>
                                        </p:tgtEl>
                                        <p:attrNameLst>
                                          <p:attrName>style.visibility</p:attrName>
                                        </p:attrNameLst>
                                      </p:cBhvr>
                                      <p:to>
                                        <p:strVal val="visible"/>
                                      </p:to>
                                    </p:set>
                                    <p:animEffect transition="in" filter="dissolve">
                                      <p:cBhvr>
                                        <p:cTn id="52"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B931F-EA08-3712-BA55-9CFD88CBC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093F7-7A4D-61DB-95FD-598D91DB2304}"/>
              </a:ext>
            </a:extLst>
          </p:cNvPr>
          <p:cNvSpPr>
            <a:spLocks noGrp="1"/>
          </p:cNvSpPr>
          <p:nvPr>
            <p:ph type="title"/>
          </p:nvPr>
        </p:nvSpPr>
        <p:spPr/>
        <p:txBody>
          <a:bodyPr/>
          <a:lstStyle/>
          <a:p>
            <a:r>
              <a:rPr lang="en-PK" dirty="0"/>
              <a:t>Recap: Money</a:t>
            </a:r>
          </a:p>
        </p:txBody>
      </p:sp>
      <p:sp>
        <p:nvSpPr>
          <p:cNvPr id="4" name="Content Placeholder 3">
            <a:extLst>
              <a:ext uri="{FF2B5EF4-FFF2-40B4-BE49-F238E27FC236}">
                <a16:creationId xmlns:a16="http://schemas.microsoft.com/office/drawing/2014/main" id="{3D86A7E0-B763-84C3-63C4-855FBCFEFC18}"/>
              </a:ext>
            </a:extLst>
          </p:cNvPr>
          <p:cNvSpPr>
            <a:spLocks noGrp="1"/>
          </p:cNvSpPr>
          <p:nvPr>
            <p:ph idx="1"/>
          </p:nvPr>
        </p:nvSpPr>
        <p:spPr/>
        <p:txBody>
          <a:bodyPr>
            <a:normAutofit fontScale="92500" lnSpcReduction="10000"/>
          </a:bodyPr>
          <a:lstStyle/>
          <a:p>
            <a:r>
              <a:rPr lang="en-US" dirty="0">
                <a:solidFill>
                  <a:srgbClr val="0432FF"/>
                </a:solidFill>
              </a:rPr>
              <a:t>Barter, Representative, Fiat</a:t>
            </a:r>
          </a:p>
          <a:p>
            <a:r>
              <a:rPr lang="en-US" dirty="0"/>
              <a:t>Banks</a:t>
            </a:r>
          </a:p>
          <a:p>
            <a:pPr lvl="1"/>
            <a:r>
              <a:rPr lang="en-US" dirty="0">
                <a:solidFill>
                  <a:srgbClr val="C00000"/>
                </a:solidFill>
              </a:rPr>
              <a:t>Always are in-the-way</a:t>
            </a:r>
          </a:p>
          <a:p>
            <a:r>
              <a:rPr lang="en-US" dirty="0"/>
              <a:t>Simple E-cash</a:t>
            </a:r>
          </a:p>
          <a:p>
            <a:pPr lvl="1"/>
            <a:r>
              <a:rPr lang="en-US" dirty="0">
                <a:solidFill>
                  <a:srgbClr val="C00000"/>
                </a:solidFill>
              </a:rPr>
              <a:t>Privacy is violated</a:t>
            </a:r>
          </a:p>
          <a:p>
            <a:r>
              <a:rPr lang="en-US" dirty="0" err="1"/>
              <a:t>Chaumian</a:t>
            </a:r>
            <a:r>
              <a:rPr lang="en-US" dirty="0"/>
              <a:t> e-cash</a:t>
            </a:r>
          </a:p>
          <a:p>
            <a:pPr lvl="1"/>
            <a:r>
              <a:rPr lang="en-US" dirty="0">
                <a:solidFill>
                  <a:srgbClr val="308D3E"/>
                </a:solidFill>
              </a:rPr>
              <a:t>Maintains privacy (via blinding factor)</a:t>
            </a:r>
          </a:p>
          <a:p>
            <a:pPr lvl="1"/>
            <a:r>
              <a:rPr lang="en-US" dirty="0">
                <a:solidFill>
                  <a:srgbClr val="7030A0"/>
                </a:solidFill>
              </a:rPr>
              <a:t>Can even </a:t>
            </a:r>
            <a:r>
              <a:rPr lang="en-US" strike="sngStrike" dirty="0">
                <a:solidFill>
                  <a:srgbClr val="7030A0"/>
                </a:solidFill>
              </a:rPr>
              <a:t>avoid</a:t>
            </a:r>
            <a:r>
              <a:rPr lang="en-US" dirty="0">
                <a:solidFill>
                  <a:srgbClr val="7030A0"/>
                </a:solidFill>
              </a:rPr>
              <a:t> deter from double spending</a:t>
            </a:r>
          </a:p>
          <a:p>
            <a:pPr lvl="1"/>
            <a:endParaRPr lang="en-US" dirty="0"/>
          </a:p>
          <a:p>
            <a:r>
              <a:rPr lang="en-US" dirty="0">
                <a:solidFill>
                  <a:srgbClr val="0432FF"/>
                </a:solidFill>
              </a:rPr>
              <a:t>Getting rid of the central entity (bank) requires decentralization</a:t>
            </a:r>
          </a:p>
          <a:p>
            <a:pPr lvl="1"/>
            <a:r>
              <a:rPr lang="en-US" dirty="0"/>
              <a:t>Case for blockchain? (leads to cryptocurrency)</a:t>
            </a:r>
          </a:p>
        </p:txBody>
      </p:sp>
      <p:sp>
        <p:nvSpPr>
          <p:cNvPr id="3" name="Slide Number Placeholder 2">
            <a:extLst>
              <a:ext uri="{FF2B5EF4-FFF2-40B4-BE49-F238E27FC236}">
                <a16:creationId xmlns:a16="http://schemas.microsoft.com/office/drawing/2014/main" id="{58EFA21B-2581-2BA3-6A7F-A92E26FEFF5E}"/>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368381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dissolv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dissolve">
                                      <p:cBhvr>
                                        <p:cTn id="21" dur="500"/>
                                        <p:tgtEl>
                                          <p:spTgt spid="4">
                                            <p:txEl>
                                              <p:pRg st="3" end="3"/>
                                            </p:txEl>
                                          </p:spTgt>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dissolve">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dissolve">
                                      <p:cBhvr>
                                        <p:cTn id="30" dur="500"/>
                                        <p:tgtEl>
                                          <p:spTgt spid="4">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dissolve">
                                      <p:cBhvr>
                                        <p:cTn id="35" dur="500"/>
                                        <p:tgtEl>
                                          <p:spTgt spid="4">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dissolve">
                                      <p:cBhvr>
                                        <p:cTn id="40" dur="500"/>
                                        <p:tgtEl>
                                          <p:spTgt spid="4">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animEffect transition="in" filter="dissolve">
                                      <p:cBhvr>
                                        <p:cTn id="45" dur="500"/>
                                        <p:tgtEl>
                                          <p:spTgt spid="4">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dissolve">
                                      <p:cBhvr>
                                        <p:cTn id="50"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FEB3-1B48-3213-7994-04544AE35F19}"/>
              </a:ext>
            </a:extLst>
          </p:cNvPr>
          <p:cNvSpPr>
            <a:spLocks noGrp="1"/>
          </p:cNvSpPr>
          <p:nvPr>
            <p:ph type="title"/>
          </p:nvPr>
        </p:nvSpPr>
        <p:spPr/>
        <p:txBody>
          <a:bodyPr/>
          <a:lstStyle/>
          <a:p>
            <a:r>
              <a:rPr lang="en-PK" dirty="0"/>
              <a:t>Acceptability of Chaumian E-Cash</a:t>
            </a:r>
          </a:p>
        </p:txBody>
      </p:sp>
      <p:sp>
        <p:nvSpPr>
          <p:cNvPr id="3" name="Content Placeholder 2">
            <a:extLst>
              <a:ext uri="{FF2B5EF4-FFF2-40B4-BE49-F238E27FC236}">
                <a16:creationId xmlns:a16="http://schemas.microsoft.com/office/drawing/2014/main" id="{98686F4A-291F-B57F-40D5-0B53C8556803}"/>
              </a:ext>
            </a:extLst>
          </p:cNvPr>
          <p:cNvSpPr>
            <a:spLocks noGrp="1"/>
          </p:cNvSpPr>
          <p:nvPr>
            <p:ph idx="1"/>
          </p:nvPr>
        </p:nvSpPr>
        <p:spPr/>
        <p:txBody>
          <a:bodyPr>
            <a:normAutofit/>
          </a:bodyPr>
          <a:lstStyle/>
          <a:p>
            <a:r>
              <a:rPr lang="en-PK" dirty="0"/>
              <a:t>Why did Chaumian E-Cash not fly commercially?</a:t>
            </a:r>
          </a:p>
          <a:p>
            <a:r>
              <a:rPr lang="en-PK" dirty="0">
                <a:solidFill>
                  <a:srgbClr val="0432FF"/>
                </a:solidFill>
              </a:rPr>
              <a:t>It was considered too private</a:t>
            </a:r>
          </a:p>
          <a:p>
            <a:pPr lvl="1"/>
            <a:r>
              <a:rPr lang="en-GB" dirty="0">
                <a:solidFill>
                  <a:srgbClr val="0432FF"/>
                </a:solidFill>
              </a:rPr>
              <a:t>A</a:t>
            </a:r>
            <a:r>
              <a:rPr lang="en-PK" dirty="0">
                <a:solidFill>
                  <a:srgbClr val="0432FF"/>
                </a:solidFill>
              </a:rPr>
              <a:t>non digital payments lead to tax evasion, money laundering, etc.</a:t>
            </a:r>
          </a:p>
          <a:p>
            <a:r>
              <a:rPr lang="en-PK" dirty="0">
                <a:solidFill>
                  <a:srgbClr val="C00000"/>
                </a:solidFill>
              </a:rPr>
              <a:t>Online verification required: poor user experience</a:t>
            </a:r>
          </a:p>
          <a:p>
            <a:pPr lvl="1"/>
            <a:r>
              <a:rPr lang="en-PK" dirty="0">
                <a:solidFill>
                  <a:srgbClr val="C00000"/>
                </a:solidFill>
              </a:rPr>
              <a:t>Over a possibly unreliable or unavailable (1990s) network</a:t>
            </a:r>
          </a:p>
          <a:p>
            <a:pPr lvl="1"/>
            <a:r>
              <a:rPr lang="en-PK" dirty="0">
                <a:solidFill>
                  <a:srgbClr val="C00000"/>
                </a:solidFill>
              </a:rPr>
              <a:t>Cash and credit card</a:t>
            </a:r>
            <a:r>
              <a:rPr lang="en-GB" dirty="0">
                <a:solidFill>
                  <a:srgbClr val="C00000"/>
                </a:solidFill>
              </a:rPr>
              <a:t>s</a:t>
            </a:r>
            <a:r>
              <a:rPr lang="en-PK" dirty="0">
                <a:solidFill>
                  <a:srgbClr val="C00000"/>
                </a:solidFill>
              </a:rPr>
              <a:t> remained the champions!</a:t>
            </a:r>
          </a:p>
          <a:p>
            <a:r>
              <a:rPr lang="en-PK" dirty="0">
                <a:solidFill>
                  <a:srgbClr val="7030A0"/>
                </a:solidFill>
              </a:rPr>
              <a:t>Business Model issues: no incentive for banks</a:t>
            </a:r>
          </a:p>
          <a:p>
            <a:pPr lvl="1"/>
            <a:r>
              <a:rPr lang="en-PK" dirty="0">
                <a:solidFill>
                  <a:srgbClr val="7030A0"/>
                </a:solidFill>
              </a:rPr>
              <a:t>Less control to banks, more privacy to customers</a:t>
            </a:r>
          </a:p>
        </p:txBody>
      </p:sp>
      <p:sp>
        <p:nvSpPr>
          <p:cNvPr id="4" name="Slide Number Placeholder 3">
            <a:extLst>
              <a:ext uri="{FF2B5EF4-FFF2-40B4-BE49-F238E27FC236}">
                <a16:creationId xmlns:a16="http://schemas.microsoft.com/office/drawing/2014/main" id="{D6D0085C-E7B6-D3F4-FBC8-44749377760A}"/>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
        <p:nvSpPr>
          <p:cNvPr id="5" name="Rounded Rectangle 4">
            <a:extLst>
              <a:ext uri="{FF2B5EF4-FFF2-40B4-BE49-F238E27FC236}">
                <a16:creationId xmlns:a16="http://schemas.microsoft.com/office/drawing/2014/main" id="{55E2B05F-EB05-0543-773D-037F979E37F7}"/>
              </a:ext>
            </a:extLst>
          </p:cNvPr>
          <p:cNvSpPr/>
          <p:nvPr/>
        </p:nvSpPr>
        <p:spPr>
          <a:xfrm>
            <a:off x="1640958" y="5232916"/>
            <a:ext cx="8910084" cy="105560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GB" sz="2800" dirty="0">
                <a:solidFill>
                  <a:srgbClr val="0432FF"/>
                </a:solidFill>
              </a:rPr>
              <a:t>Too private for the government,</a:t>
            </a:r>
            <a:r>
              <a:rPr lang="en-GB" sz="2800" dirty="0">
                <a:solidFill>
                  <a:srgbClr val="C00000"/>
                </a:solidFill>
              </a:rPr>
              <a:t> too inconvenient for users,</a:t>
            </a:r>
          </a:p>
          <a:p>
            <a:pPr algn="ctr"/>
            <a:r>
              <a:rPr lang="en-GB" sz="2800" dirty="0">
                <a:solidFill>
                  <a:srgbClr val="7030A0"/>
                </a:solidFill>
              </a:rPr>
              <a:t>too unattractive for banks</a:t>
            </a:r>
          </a:p>
        </p:txBody>
      </p:sp>
    </p:spTree>
    <p:extLst>
      <p:ext uri="{BB962C8B-B14F-4D97-AF65-F5344CB8AC3E}">
        <p14:creationId xmlns:p14="http://schemas.microsoft.com/office/powerpoint/2010/main" val="348887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dissolv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dissolv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dissolve">
                                      <p:cBhvr>
                                        <p:cTn id="34" dur="500"/>
                                        <p:tgtEl>
                                          <p:spTgt spid="3">
                                            <p:txEl>
                                              <p:pRg st="6" end="6"/>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188C9-DAF9-C0EE-A8D5-47EF7FE87A4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D7CC0BD-DC31-8FC3-2884-84D390FD867C}"/>
              </a:ext>
            </a:extLst>
          </p:cNvPr>
          <p:cNvSpPr>
            <a:spLocks noGrp="1"/>
          </p:cNvSpPr>
          <p:nvPr>
            <p:ph type="title"/>
          </p:nvPr>
        </p:nvSpPr>
        <p:spPr/>
        <p:txBody>
          <a:bodyPr/>
          <a:lstStyle/>
          <a:p>
            <a:r>
              <a:rPr lang="en-PK" dirty="0"/>
              <a:t>Desirable Features of Money</a:t>
            </a:r>
          </a:p>
        </p:txBody>
      </p:sp>
      <p:sp>
        <p:nvSpPr>
          <p:cNvPr id="5" name="Content Placeholder 4">
            <a:extLst>
              <a:ext uri="{FF2B5EF4-FFF2-40B4-BE49-F238E27FC236}">
                <a16:creationId xmlns:a16="http://schemas.microsoft.com/office/drawing/2014/main" id="{29259825-EA4E-FCD7-9DEA-BDEA0E32CC58}"/>
              </a:ext>
            </a:extLst>
          </p:cNvPr>
          <p:cNvSpPr>
            <a:spLocks noGrp="1"/>
          </p:cNvSpPr>
          <p:nvPr>
            <p:ph idx="1"/>
          </p:nvPr>
        </p:nvSpPr>
        <p:spPr/>
        <p:txBody>
          <a:bodyPr>
            <a:normAutofit/>
          </a:bodyPr>
          <a:lstStyle/>
          <a:p>
            <a:r>
              <a:rPr lang="en-US" dirty="0">
                <a:solidFill>
                  <a:srgbClr val="C00000"/>
                </a:solidFill>
              </a:rPr>
              <a:t>What do we need the money to be?</a:t>
            </a:r>
            <a:endParaRPr lang="en-US" dirty="0">
              <a:solidFill>
                <a:srgbClr val="24469D"/>
              </a:solidFill>
            </a:endParaRPr>
          </a:p>
          <a:p>
            <a:r>
              <a:rPr lang="en-US" dirty="0">
                <a:solidFill>
                  <a:srgbClr val="24469D"/>
                </a:solidFill>
              </a:rPr>
              <a:t>Durable</a:t>
            </a:r>
          </a:p>
          <a:p>
            <a:r>
              <a:rPr lang="en-US" dirty="0">
                <a:solidFill>
                  <a:srgbClr val="24469D"/>
                </a:solidFill>
              </a:rPr>
              <a:t>Portable</a:t>
            </a:r>
          </a:p>
          <a:p>
            <a:r>
              <a:rPr lang="en-US" dirty="0">
                <a:solidFill>
                  <a:srgbClr val="24469D"/>
                </a:solidFill>
              </a:rPr>
              <a:t>Divisible</a:t>
            </a:r>
          </a:p>
          <a:p>
            <a:r>
              <a:rPr lang="en-US" dirty="0">
                <a:solidFill>
                  <a:srgbClr val="24469D"/>
                </a:solidFill>
              </a:rPr>
              <a:t>Fungible</a:t>
            </a:r>
          </a:p>
          <a:p>
            <a:r>
              <a:rPr lang="en-US" dirty="0">
                <a:solidFill>
                  <a:srgbClr val="24469D"/>
                </a:solidFill>
              </a:rPr>
              <a:t>Acceptable</a:t>
            </a:r>
          </a:p>
          <a:p>
            <a:r>
              <a:rPr lang="en-US" dirty="0">
                <a:solidFill>
                  <a:srgbClr val="24469D"/>
                </a:solidFill>
              </a:rPr>
              <a:t>Stable – limited Supply – hard to counterfeit</a:t>
            </a:r>
          </a:p>
          <a:p>
            <a:r>
              <a:rPr lang="en-US" dirty="0">
                <a:solidFill>
                  <a:srgbClr val="C00000"/>
                </a:solidFill>
              </a:rPr>
              <a:t>Are these features desirable for Non-digital or digital money?</a:t>
            </a:r>
          </a:p>
        </p:txBody>
      </p:sp>
      <p:sp>
        <p:nvSpPr>
          <p:cNvPr id="3" name="Slide Number Placeholder 2">
            <a:extLst>
              <a:ext uri="{FF2B5EF4-FFF2-40B4-BE49-F238E27FC236}">
                <a16:creationId xmlns:a16="http://schemas.microsoft.com/office/drawing/2014/main" id="{0AA9B80E-9880-359B-7050-7D5A68F13FFC}"/>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272783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1A374-1D6F-D587-E445-2A3403F4CC6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12431B0-9E9B-0D18-D597-BC1EBA0DF2F6}"/>
              </a:ext>
            </a:extLst>
          </p:cNvPr>
          <p:cNvSpPr>
            <a:spLocks noGrp="1"/>
          </p:cNvSpPr>
          <p:nvPr>
            <p:ph type="title"/>
          </p:nvPr>
        </p:nvSpPr>
        <p:spPr/>
        <p:txBody>
          <a:bodyPr/>
          <a:lstStyle/>
          <a:p>
            <a:r>
              <a:rPr lang="en-PK" dirty="0"/>
              <a:t>Early Digital Currencies: Shortcomings</a:t>
            </a:r>
          </a:p>
        </p:txBody>
      </p:sp>
      <p:sp>
        <p:nvSpPr>
          <p:cNvPr id="5" name="Content Placeholder 4">
            <a:extLst>
              <a:ext uri="{FF2B5EF4-FFF2-40B4-BE49-F238E27FC236}">
                <a16:creationId xmlns:a16="http://schemas.microsoft.com/office/drawing/2014/main" id="{026BE8AD-CA57-7951-799B-FF2F13767492}"/>
              </a:ext>
            </a:extLst>
          </p:cNvPr>
          <p:cNvSpPr>
            <a:spLocks noGrp="1"/>
          </p:cNvSpPr>
          <p:nvPr>
            <p:ph idx="1"/>
          </p:nvPr>
        </p:nvSpPr>
        <p:spPr/>
        <p:txBody>
          <a:bodyPr>
            <a:normAutofit/>
          </a:bodyPr>
          <a:lstStyle/>
          <a:p>
            <a:pPr marL="0" indent="0">
              <a:buNone/>
            </a:pPr>
            <a:r>
              <a:rPr lang="en-US" b="1" dirty="0"/>
              <a:t>Why did the earlier digital currencies fail? </a:t>
            </a:r>
            <a:r>
              <a:rPr lang="en-US" sz="2800" i="1" dirty="0">
                <a:solidFill>
                  <a:srgbClr val="7030A0"/>
                </a:solidFill>
              </a:rPr>
              <a:t>In other words:</a:t>
            </a:r>
            <a:br>
              <a:rPr lang="en-US" sz="2800" i="1" dirty="0">
                <a:solidFill>
                  <a:srgbClr val="7030A0"/>
                </a:solidFill>
              </a:rPr>
            </a:br>
            <a:r>
              <a:rPr lang="en-US" sz="2800" i="1" dirty="0">
                <a:solidFill>
                  <a:srgbClr val="7030A0"/>
                </a:solidFill>
              </a:rPr>
              <a:t>What shortcomings of digital payments did Bitcoin address?</a:t>
            </a:r>
          </a:p>
          <a:p>
            <a:r>
              <a:rPr lang="en-US" dirty="0">
                <a:solidFill>
                  <a:srgbClr val="24469D"/>
                </a:solidFill>
              </a:rPr>
              <a:t>Is it Peer-to-peer?</a:t>
            </a:r>
          </a:p>
          <a:p>
            <a:r>
              <a:rPr lang="en-US" dirty="0"/>
              <a:t>Does it avoid stealing?</a:t>
            </a:r>
          </a:p>
          <a:p>
            <a:r>
              <a:rPr lang="en-US" dirty="0">
                <a:solidFill>
                  <a:srgbClr val="C00000"/>
                </a:solidFill>
              </a:rPr>
              <a:t>Is it widely accepted by the merchants?</a:t>
            </a:r>
          </a:p>
          <a:p>
            <a:r>
              <a:rPr lang="en-US" dirty="0"/>
              <a:t>Is there a well-defined process for minting/creation?</a:t>
            </a:r>
          </a:p>
          <a:p>
            <a:r>
              <a:rPr lang="en-US" dirty="0">
                <a:solidFill>
                  <a:srgbClr val="009900"/>
                </a:solidFill>
              </a:rPr>
              <a:t>Does it offer an agreeable form of a record book/ledger?</a:t>
            </a:r>
          </a:p>
          <a:p>
            <a:r>
              <a:rPr lang="en-US" dirty="0">
                <a:solidFill>
                  <a:srgbClr val="C00000"/>
                </a:solidFill>
              </a:rPr>
              <a:t>Does it allow the transacting parties to remain private?</a:t>
            </a:r>
          </a:p>
          <a:p>
            <a:r>
              <a:rPr lang="en-US" dirty="0">
                <a:solidFill>
                  <a:srgbClr val="24469D"/>
                </a:solidFill>
              </a:rPr>
              <a:t>Does it avoid double-spending?</a:t>
            </a:r>
          </a:p>
        </p:txBody>
      </p:sp>
      <p:sp>
        <p:nvSpPr>
          <p:cNvPr id="3" name="Slide Number Placeholder 2">
            <a:extLst>
              <a:ext uri="{FF2B5EF4-FFF2-40B4-BE49-F238E27FC236}">
                <a16:creationId xmlns:a16="http://schemas.microsoft.com/office/drawing/2014/main" id="{98A4E62E-F290-02DF-39A3-5A3214081C76}"/>
              </a:ext>
            </a:extLst>
          </p:cNvPr>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351320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dissolv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dissolv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dissolv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dissolv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dissolv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dissolve">
                                      <p:cBhvr>
                                        <p:cTn id="3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0281B-202B-DF16-3D9D-EF2137EC41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95908EA-DA13-ABF9-EABB-B83E33CFAE34}"/>
              </a:ext>
            </a:extLst>
          </p:cNvPr>
          <p:cNvSpPr>
            <a:spLocks noGrp="1"/>
          </p:cNvSpPr>
          <p:nvPr>
            <p:ph type="title"/>
          </p:nvPr>
        </p:nvSpPr>
        <p:spPr/>
        <p:txBody>
          <a:bodyPr/>
          <a:lstStyle/>
          <a:p>
            <a:r>
              <a:rPr lang="en-PK" dirty="0"/>
              <a:t>(Crypto)currency Chall</a:t>
            </a:r>
            <a:r>
              <a:rPr lang="en-GB" dirty="0"/>
              <a:t>e</a:t>
            </a:r>
            <a:r>
              <a:rPr lang="en-PK" dirty="0"/>
              <a:t>nges</a:t>
            </a:r>
          </a:p>
        </p:txBody>
      </p:sp>
      <p:sp>
        <p:nvSpPr>
          <p:cNvPr id="5" name="Content Placeholder 4">
            <a:extLst>
              <a:ext uri="{FF2B5EF4-FFF2-40B4-BE49-F238E27FC236}">
                <a16:creationId xmlns:a16="http://schemas.microsoft.com/office/drawing/2014/main" id="{65F5DF77-2675-DFB0-ADBE-A7637F20AAAB}"/>
              </a:ext>
            </a:extLst>
          </p:cNvPr>
          <p:cNvSpPr>
            <a:spLocks noGrp="1"/>
          </p:cNvSpPr>
          <p:nvPr>
            <p:ph idx="1"/>
          </p:nvPr>
        </p:nvSpPr>
        <p:spPr/>
        <p:txBody>
          <a:bodyPr>
            <a:normAutofit fontScale="92500" lnSpcReduction="10000"/>
          </a:bodyPr>
          <a:lstStyle/>
          <a:p>
            <a:r>
              <a:rPr lang="en-US" b="1" dirty="0"/>
              <a:t>No stealing</a:t>
            </a:r>
          </a:p>
          <a:p>
            <a:pPr lvl="1"/>
            <a:r>
              <a:rPr lang="en-US" dirty="0">
                <a:solidFill>
                  <a:srgbClr val="24469D"/>
                </a:solidFill>
              </a:rPr>
              <a:t>Only Alice can move her money. Solution?</a:t>
            </a:r>
          </a:p>
          <a:p>
            <a:pPr lvl="1"/>
            <a:r>
              <a:rPr lang="en-US" dirty="0">
                <a:solidFill>
                  <a:srgbClr val="24469D"/>
                </a:solidFill>
              </a:rPr>
              <a:t>Cryptographic digital signatures</a:t>
            </a:r>
          </a:p>
          <a:p>
            <a:pPr lvl="1"/>
            <a:r>
              <a:rPr lang="en-US" dirty="0">
                <a:solidFill>
                  <a:srgbClr val="C00000"/>
                </a:solidFill>
              </a:rPr>
              <a:t>Who runs the PKI?</a:t>
            </a:r>
            <a:endParaRPr lang="en-US" dirty="0"/>
          </a:p>
          <a:p>
            <a:r>
              <a:rPr lang="en-US" b="1" dirty="0"/>
              <a:t>No double-spending</a:t>
            </a:r>
          </a:p>
          <a:p>
            <a:pPr lvl="1"/>
            <a:r>
              <a:rPr lang="en-US" dirty="0">
                <a:solidFill>
                  <a:srgbClr val="24469D"/>
                </a:solidFill>
              </a:rPr>
              <a:t>Alice can not duplicate her money. Solution?</a:t>
            </a:r>
          </a:p>
          <a:p>
            <a:pPr lvl="1"/>
            <a:r>
              <a:rPr lang="en-US" dirty="0">
                <a:solidFill>
                  <a:srgbClr val="24469D"/>
                </a:solidFill>
              </a:rPr>
              <a:t>Global ledger</a:t>
            </a:r>
          </a:p>
          <a:p>
            <a:pPr lvl="1"/>
            <a:r>
              <a:rPr lang="en-US" dirty="0">
                <a:solidFill>
                  <a:srgbClr val="C00000"/>
                </a:solidFill>
              </a:rPr>
              <a:t>Who maintains the public view?</a:t>
            </a:r>
            <a:endParaRPr lang="en-US" dirty="0"/>
          </a:p>
          <a:p>
            <a:r>
              <a:rPr lang="en-US" b="1" dirty="0"/>
              <a:t>Minting</a:t>
            </a:r>
          </a:p>
          <a:p>
            <a:pPr lvl="1"/>
            <a:r>
              <a:rPr lang="en-US" dirty="0">
                <a:solidFill>
                  <a:srgbClr val="24469D"/>
                </a:solidFill>
              </a:rPr>
              <a:t>Fair money creation. Solution?</a:t>
            </a:r>
          </a:p>
          <a:p>
            <a:pPr lvl="1"/>
            <a:r>
              <a:rPr lang="en-US" dirty="0">
                <a:solidFill>
                  <a:srgbClr val="24469D"/>
                </a:solidFill>
              </a:rPr>
              <a:t>Proof of Work</a:t>
            </a:r>
          </a:p>
          <a:p>
            <a:pPr lvl="1"/>
            <a:r>
              <a:rPr lang="en-US" dirty="0">
                <a:solidFill>
                  <a:srgbClr val="C00000"/>
                </a:solidFill>
              </a:rPr>
              <a:t>Who hands out money for solving puzzles?</a:t>
            </a:r>
          </a:p>
        </p:txBody>
      </p:sp>
      <p:sp>
        <p:nvSpPr>
          <p:cNvPr id="3" name="Slide Number Placeholder 2">
            <a:extLst>
              <a:ext uri="{FF2B5EF4-FFF2-40B4-BE49-F238E27FC236}">
                <a16:creationId xmlns:a16="http://schemas.microsoft.com/office/drawing/2014/main" id="{8372ADD6-24C9-CC81-5575-2D93D1437BA1}"/>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342140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dissolv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dissolve">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dissolve">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dissolve">
                                      <p:cBhvr>
                                        <p:cTn id="25" dur="500"/>
                                        <p:tgtEl>
                                          <p:spTgt spid="5">
                                            <p:txEl>
                                              <p:pRg st="4" end="4"/>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dissolve">
                                      <p:cBhvr>
                                        <p:cTn id="28" dur="500"/>
                                        <p:tgtEl>
                                          <p:spTgt spid="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dissolve">
                                      <p:cBhvr>
                                        <p:cTn id="33" dur="500"/>
                                        <p:tgtEl>
                                          <p:spTgt spid="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dissolve">
                                      <p:cBhvr>
                                        <p:cTn id="38" dur="500"/>
                                        <p:tgtEl>
                                          <p:spTgt spid="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Effect transition="in" filter="dissolve">
                                      <p:cBhvr>
                                        <p:cTn id="43" dur="500"/>
                                        <p:tgtEl>
                                          <p:spTgt spid="5">
                                            <p:txEl>
                                              <p:pRg st="8" end="8"/>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5">
                                            <p:txEl>
                                              <p:pRg st="9" end="9"/>
                                            </p:txEl>
                                          </p:spTgt>
                                        </p:tgtEl>
                                        <p:attrNameLst>
                                          <p:attrName>style.visibility</p:attrName>
                                        </p:attrNameLst>
                                      </p:cBhvr>
                                      <p:to>
                                        <p:strVal val="visible"/>
                                      </p:to>
                                    </p:set>
                                    <p:animEffect transition="in" filter="dissolve">
                                      <p:cBhvr>
                                        <p:cTn id="46" dur="500"/>
                                        <p:tgtEl>
                                          <p:spTgt spid="5">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5">
                                            <p:txEl>
                                              <p:pRg st="10" end="10"/>
                                            </p:txEl>
                                          </p:spTgt>
                                        </p:tgtEl>
                                        <p:attrNameLst>
                                          <p:attrName>style.visibility</p:attrName>
                                        </p:attrNameLst>
                                      </p:cBhvr>
                                      <p:to>
                                        <p:strVal val="visible"/>
                                      </p:to>
                                    </p:set>
                                    <p:animEffect transition="in" filter="dissolve">
                                      <p:cBhvr>
                                        <p:cTn id="51" dur="500"/>
                                        <p:tgtEl>
                                          <p:spTgt spid="5">
                                            <p:txEl>
                                              <p:pRg st="10" end="1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5">
                                            <p:txEl>
                                              <p:pRg st="11" end="11"/>
                                            </p:txEl>
                                          </p:spTgt>
                                        </p:tgtEl>
                                        <p:attrNameLst>
                                          <p:attrName>style.visibility</p:attrName>
                                        </p:attrNameLst>
                                      </p:cBhvr>
                                      <p:to>
                                        <p:strVal val="visible"/>
                                      </p:to>
                                    </p:set>
                                    <p:animEffect transition="in" filter="dissolve">
                                      <p:cBhvr>
                                        <p:cTn id="56"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3E2FF-9253-F71B-7E82-549691E40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E79C5-28A9-FC91-C8A1-0878FD338CE6}"/>
              </a:ext>
            </a:extLst>
          </p:cNvPr>
          <p:cNvSpPr>
            <a:spLocks noGrp="1"/>
          </p:cNvSpPr>
          <p:nvPr>
            <p:ph type="title"/>
          </p:nvPr>
        </p:nvSpPr>
        <p:spPr/>
        <p:txBody>
          <a:bodyPr/>
          <a:lstStyle/>
          <a:p>
            <a:r>
              <a:rPr lang="en-PK" dirty="0"/>
              <a:t>CBDC, Bitcoin, Chaumian E-cash</a:t>
            </a:r>
          </a:p>
        </p:txBody>
      </p:sp>
      <p:sp>
        <p:nvSpPr>
          <p:cNvPr id="4" name="Slide Number Placeholder 3">
            <a:extLst>
              <a:ext uri="{FF2B5EF4-FFF2-40B4-BE49-F238E27FC236}">
                <a16:creationId xmlns:a16="http://schemas.microsoft.com/office/drawing/2014/main" id="{A59D578D-61C7-9DAF-6350-40301A05F46F}"/>
              </a:ext>
            </a:extLst>
          </p:cNvPr>
          <p:cNvSpPr>
            <a:spLocks noGrp="1"/>
          </p:cNvSpPr>
          <p:nvPr>
            <p:ph type="sldNum" sz="quarter" idx="12"/>
          </p:nvPr>
        </p:nvSpPr>
        <p:spPr/>
        <p:txBody>
          <a:bodyPr/>
          <a:lstStyle/>
          <a:p>
            <a:fld id="{D57F1E4F-1CFF-5643-939E-217C01CDF565}" type="slidenum">
              <a:rPr lang="en-US" smtClean="0"/>
              <a:pPr/>
              <a:t>32</a:t>
            </a:fld>
            <a:endParaRPr lang="en-US" dirty="0"/>
          </a:p>
        </p:txBody>
      </p:sp>
      <p:graphicFrame>
        <p:nvGraphicFramePr>
          <p:cNvPr id="14" name="Table 13">
            <a:extLst>
              <a:ext uri="{FF2B5EF4-FFF2-40B4-BE49-F238E27FC236}">
                <a16:creationId xmlns:a16="http://schemas.microsoft.com/office/drawing/2014/main" id="{95DD4F7D-1D77-50BA-C94D-3B845B5A5307}"/>
              </a:ext>
            </a:extLst>
          </p:cNvPr>
          <p:cNvGraphicFramePr>
            <a:graphicFrameLocks noGrp="1"/>
          </p:cNvGraphicFramePr>
          <p:nvPr>
            <p:extLst>
              <p:ext uri="{D42A27DB-BD31-4B8C-83A1-F6EECF244321}">
                <p14:modId xmlns:p14="http://schemas.microsoft.com/office/powerpoint/2010/main" val="3520786096"/>
              </p:ext>
            </p:extLst>
          </p:nvPr>
        </p:nvGraphicFramePr>
        <p:xfrm>
          <a:off x="201011" y="1087120"/>
          <a:ext cx="11789978" cy="5446662"/>
        </p:xfrm>
        <a:graphic>
          <a:graphicData uri="http://schemas.openxmlformats.org/drawingml/2006/table">
            <a:tbl>
              <a:tblPr firstRow="1">
                <a:tableStyleId>{5C22544A-7EE6-4342-B048-85BDC9FD1C3A}</a:tableStyleId>
              </a:tblPr>
              <a:tblGrid>
                <a:gridCol w="1610452">
                  <a:extLst>
                    <a:ext uri="{9D8B030D-6E8A-4147-A177-3AD203B41FA5}">
                      <a16:colId xmlns:a16="http://schemas.microsoft.com/office/drawing/2014/main" val="913813642"/>
                    </a:ext>
                  </a:extLst>
                </a:gridCol>
                <a:gridCol w="3230720">
                  <a:extLst>
                    <a:ext uri="{9D8B030D-6E8A-4147-A177-3AD203B41FA5}">
                      <a16:colId xmlns:a16="http://schemas.microsoft.com/office/drawing/2014/main" val="566438135"/>
                    </a:ext>
                  </a:extLst>
                </a:gridCol>
                <a:gridCol w="3525496">
                  <a:extLst>
                    <a:ext uri="{9D8B030D-6E8A-4147-A177-3AD203B41FA5}">
                      <a16:colId xmlns:a16="http://schemas.microsoft.com/office/drawing/2014/main" val="2471566305"/>
                    </a:ext>
                  </a:extLst>
                </a:gridCol>
                <a:gridCol w="3423310">
                  <a:extLst>
                    <a:ext uri="{9D8B030D-6E8A-4147-A177-3AD203B41FA5}">
                      <a16:colId xmlns:a16="http://schemas.microsoft.com/office/drawing/2014/main" val="3481606922"/>
                    </a:ext>
                  </a:extLst>
                </a:gridCol>
              </a:tblGrid>
              <a:tr h="298944">
                <a:tc>
                  <a:txBody>
                    <a:bodyPr/>
                    <a:lstStyle/>
                    <a:p>
                      <a:pPr>
                        <a:buNone/>
                      </a:pPr>
                      <a:r>
                        <a:rPr lang="en-GB" sz="1600" b="1" dirty="0">
                          <a:solidFill>
                            <a:schemeClr val="bg1"/>
                          </a:solidFill>
                        </a:rPr>
                        <a:t>Feature</a:t>
                      </a:r>
                    </a:p>
                  </a:txBody>
                  <a:tcPr marL="59765" marR="59765" marT="29882" marB="29882" anchor="ctr"/>
                </a:tc>
                <a:tc>
                  <a:txBody>
                    <a:bodyPr/>
                    <a:lstStyle/>
                    <a:p>
                      <a:pPr>
                        <a:buNone/>
                      </a:pPr>
                      <a:r>
                        <a:rPr lang="en-GB" sz="1600" b="1" dirty="0" err="1">
                          <a:solidFill>
                            <a:schemeClr val="bg1"/>
                          </a:solidFill>
                        </a:rPr>
                        <a:t>Chaumian</a:t>
                      </a:r>
                      <a:r>
                        <a:rPr lang="en-GB" sz="1600" b="1" dirty="0">
                          <a:solidFill>
                            <a:schemeClr val="bg1"/>
                          </a:solidFill>
                        </a:rPr>
                        <a:t> e-cash</a:t>
                      </a:r>
                      <a:endParaRPr lang="en-GB" sz="1600" dirty="0">
                        <a:solidFill>
                          <a:schemeClr val="bg1"/>
                        </a:solidFill>
                      </a:endParaRPr>
                    </a:p>
                  </a:txBody>
                  <a:tcPr marL="59765" marR="59765" marT="29882" marB="29882" anchor="ctr"/>
                </a:tc>
                <a:tc>
                  <a:txBody>
                    <a:bodyPr/>
                    <a:lstStyle/>
                    <a:p>
                      <a:pPr>
                        <a:buNone/>
                      </a:pPr>
                      <a:r>
                        <a:rPr lang="en-GB" sz="1600" b="1">
                          <a:solidFill>
                            <a:schemeClr val="bg1"/>
                          </a:solidFill>
                        </a:rPr>
                        <a:t>Bitcoin</a:t>
                      </a:r>
                      <a:endParaRPr lang="en-GB" sz="1600">
                        <a:solidFill>
                          <a:schemeClr val="bg1"/>
                        </a:solidFill>
                      </a:endParaRPr>
                    </a:p>
                  </a:txBody>
                  <a:tcPr marL="59765" marR="59765" marT="29882" marB="29882" anchor="ctr"/>
                </a:tc>
                <a:tc>
                  <a:txBody>
                    <a:bodyPr/>
                    <a:lstStyle/>
                    <a:p>
                      <a:pPr>
                        <a:buNone/>
                      </a:pPr>
                      <a:r>
                        <a:rPr lang="en-GB" sz="1600" b="1" dirty="0">
                          <a:solidFill>
                            <a:schemeClr val="bg1"/>
                          </a:solidFill>
                        </a:rPr>
                        <a:t>CBDCs</a:t>
                      </a:r>
                      <a:endParaRPr lang="en-GB" sz="1600" dirty="0">
                        <a:solidFill>
                          <a:schemeClr val="bg1"/>
                        </a:solidFill>
                      </a:endParaRPr>
                    </a:p>
                  </a:txBody>
                  <a:tcPr marL="59765" marR="59765" marT="29882" marB="29882" anchor="ctr"/>
                </a:tc>
                <a:extLst>
                  <a:ext uri="{0D108BD9-81ED-4DB2-BD59-A6C34878D82A}">
                    <a16:rowId xmlns:a16="http://schemas.microsoft.com/office/drawing/2014/main" val="349340453"/>
                  </a:ext>
                </a:extLst>
              </a:tr>
              <a:tr h="539041">
                <a:tc>
                  <a:txBody>
                    <a:bodyPr/>
                    <a:lstStyle/>
                    <a:p>
                      <a:pPr>
                        <a:buNone/>
                      </a:pPr>
                      <a:r>
                        <a:rPr lang="en-GB" sz="1600" b="1" dirty="0">
                          <a:solidFill>
                            <a:srgbClr val="308D3E"/>
                          </a:solidFill>
                        </a:rPr>
                        <a:t>Introduced</a:t>
                      </a:r>
                      <a:endParaRPr lang="en-GB" sz="1600" dirty="0">
                        <a:solidFill>
                          <a:srgbClr val="308D3E"/>
                        </a:solidFill>
                      </a:endParaRPr>
                    </a:p>
                  </a:txBody>
                  <a:tcPr marL="59765" marR="59765" marT="29882" marB="29882" anchor="ctr"/>
                </a:tc>
                <a:tc>
                  <a:txBody>
                    <a:bodyPr/>
                    <a:lstStyle/>
                    <a:p>
                      <a:pPr>
                        <a:buNone/>
                      </a:pPr>
                      <a:r>
                        <a:rPr lang="en-GB" sz="1600" dirty="0">
                          <a:solidFill>
                            <a:srgbClr val="308D3E"/>
                          </a:solidFill>
                        </a:rPr>
                        <a:t>1980s–1990s (</a:t>
                      </a:r>
                      <a:r>
                        <a:rPr lang="en-GB" sz="1600" dirty="0" err="1">
                          <a:solidFill>
                            <a:srgbClr val="308D3E"/>
                          </a:solidFill>
                        </a:rPr>
                        <a:t>DigiCash</a:t>
                      </a:r>
                      <a:r>
                        <a:rPr lang="en-GB" sz="1600" dirty="0">
                          <a:solidFill>
                            <a:srgbClr val="308D3E"/>
                          </a:solidFill>
                        </a:rPr>
                        <a:t> by David </a:t>
                      </a:r>
                      <a:r>
                        <a:rPr lang="en-GB" sz="1600" dirty="0" err="1">
                          <a:solidFill>
                            <a:srgbClr val="308D3E"/>
                          </a:solidFill>
                        </a:rPr>
                        <a:t>Chaum</a:t>
                      </a:r>
                      <a:r>
                        <a:rPr lang="en-GB" sz="1600" dirty="0">
                          <a:solidFill>
                            <a:srgbClr val="308D3E"/>
                          </a:solidFill>
                        </a:rPr>
                        <a:t>)</a:t>
                      </a:r>
                    </a:p>
                  </a:txBody>
                  <a:tcPr marL="59765" marR="59765" marT="29882" marB="29882" anchor="ctr"/>
                </a:tc>
                <a:tc>
                  <a:txBody>
                    <a:bodyPr/>
                    <a:lstStyle/>
                    <a:p>
                      <a:pPr>
                        <a:buNone/>
                      </a:pPr>
                      <a:r>
                        <a:rPr lang="en-GB" sz="1600">
                          <a:solidFill>
                            <a:srgbClr val="308D3E"/>
                          </a:solidFill>
                        </a:rPr>
                        <a:t>2009 (Satoshi Nakamoto)</a:t>
                      </a:r>
                    </a:p>
                  </a:txBody>
                  <a:tcPr marL="59765" marR="59765" marT="29882" marB="29882" anchor="ctr"/>
                </a:tc>
                <a:tc>
                  <a:txBody>
                    <a:bodyPr/>
                    <a:lstStyle/>
                    <a:p>
                      <a:pPr>
                        <a:buNone/>
                      </a:pPr>
                      <a:r>
                        <a:rPr lang="en-GB" sz="1600" dirty="0">
                          <a:solidFill>
                            <a:srgbClr val="308D3E"/>
                          </a:solidFill>
                        </a:rPr>
                        <a:t>2020s (various pilots: China, EU, etc.)</a:t>
                      </a:r>
                    </a:p>
                  </a:txBody>
                  <a:tcPr marL="59765" marR="59765" marT="29882" marB="29882" anchor="ctr"/>
                </a:tc>
                <a:extLst>
                  <a:ext uri="{0D108BD9-81ED-4DB2-BD59-A6C34878D82A}">
                    <a16:rowId xmlns:a16="http://schemas.microsoft.com/office/drawing/2014/main" val="2838753727"/>
                  </a:ext>
                </a:extLst>
              </a:tr>
              <a:tr h="342191">
                <a:tc>
                  <a:txBody>
                    <a:bodyPr/>
                    <a:lstStyle/>
                    <a:p>
                      <a:pPr>
                        <a:buNone/>
                      </a:pPr>
                      <a:r>
                        <a:rPr lang="en-GB" sz="1600" b="1" dirty="0">
                          <a:solidFill>
                            <a:srgbClr val="7030A0"/>
                          </a:solidFill>
                        </a:rPr>
                        <a:t>Issuer</a:t>
                      </a:r>
                      <a:endParaRPr lang="en-GB" sz="1600" dirty="0">
                        <a:solidFill>
                          <a:srgbClr val="7030A0"/>
                        </a:solidFill>
                      </a:endParaRPr>
                    </a:p>
                  </a:txBody>
                  <a:tcPr marL="59765" marR="59765" marT="29882" marB="29882" anchor="ctr"/>
                </a:tc>
                <a:tc>
                  <a:txBody>
                    <a:bodyPr/>
                    <a:lstStyle/>
                    <a:p>
                      <a:pPr>
                        <a:buNone/>
                      </a:pPr>
                      <a:r>
                        <a:rPr lang="en-GB" sz="1600" dirty="0">
                          <a:solidFill>
                            <a:srgbClr val="7030A0"/>
                          </a:solidFill>
                        </a:rPr>
                        <a:t>Central bank or licensed bank</a:t>
                      </a:r>
                    </a:p>
                  </a:txBody>
                  <a:tcPr marL="59765" marR="59765" marT="29882" marB="29882" anchor="ctr"/>
                </a:tc>
                <a:tc>
                  <a:txBody>
                    <a:bodyPr/>
                    <a:lstStyle/>
                    <a:p>
                      <a:pPr>
                        <a:buNone/>
                      </a:pPr>
                      <a:r>
                        <a:rPr lang="en-GB" sz="1600">
                          <a:solidFill>
                            <a:srgbClr val="7030A0"/>
                          </a:solidFill>
                        </a:rPr>
                        <a:t>No issuer (decentralized network)</a:t>
                      </a:r>
                    </a:p>
                  </a:txBody>
                  <a:tcPr marL="59765" marR="59765" marT="29882" marB="29882" anchor="ctr"/>
                </a:tc>
                <a:tc>
                  <a:txBody>
                    <a:bodyPr/>
                    <a:lstStyle/>
                    <a:p>
                      <a:pPr>
                        <a:buNone/>
                      </a:pPr>
                      <a:r>
                        <a:rPr lang="en-GB" sz="1600" dirty="0">
                          <a:solidFill>
                            <a:srgbClr val="7030A0"/>
                          </a:solidFill>
                        </a:rPr>
                        <a:t>Central bank</a:t>
                      </a:r>
                    </a:p>
                  </a:txBody>
                  <a:tcPr marL="59765" marR="59765" marT="29882" marB="29882" anchor="ctr"/>
                </a:tc>
                <a:extLst>
                  <a:ext uri="{0D108BD9-81ED-4DB2-BD59-A6C34878D82A}">
                    <a16:rowId xmlns:a16="http://schemas.microsoft.com/office/drawing/2014/main" val="3832933618"/>
                  </a:ext>
                </a:extLst>
              </a:tr>
              <a:tr h="782151">
                <a:tc>
                  <a:txBody>
                    <a:bodyPr/>
                    <a:lstStyle/>
                    <a:p>
                      <a:pPr>
                        <a:buNone/>
                      </a:pPr>
                      <a:r>
                        <a:rPr lang="en-GB" sz="1600" b="1" dirty="0">
                          <a:solidFill>
                            <a:srgbClr val="C00000"/>
                          </a:solidFill>
                        </a:rPr>
                        <a:t>Privacy</a:t>
                      </a:r>
                      <a:endParaRPr lang="en-GB" sz="1600" dirty="0">
                        <a:solidFill>
                          <a:srgbClr val="C00000"/>
                        </a:solidFill>
                      </a:endParaRPr>
                    </a:p>
                  </a:txBody>
                  <a:tcPr marL="59765" marR="59765" marT="29882" marB="29882" anchor="ctr"/>
                </a:tc>
                <a:tc>
                  <a:txBody>
                    <a:bodyPr/>
                    <a:lstStyle/>
                    <a:p>
                      <a:pPr>
                        <a:buNone/>
                      </a:pPr>
                      <a:r>
                        <a:rPr lang="en-PK" sz="1600" dirty="0">
                          <a:solidFill>
                            <a:srgbClr val="C00000"/>
                          </a:solidFill>
                        </a:rPr>
                        <a:t>✅ </a:t>
                      </a:r>
                      <a:r>
                        <a:rPr lang="en-GB" sz="1600" dirty="0">
                          <a:solidFill>
                            <a:srgbClr val="C00000"/>
                          </a:solidFill>
                        </a:rPr>
                        <a:t>Strong — blind signatures unlink withdrawal from spending (cash-like anonymity)</a:t>
                      </a:r>
                    </a:p>
                  </a:txBody>
                  <a:tcPr marL="59765" marR="59765" marT="29882" marB="29882" anchor="ctr"/>
                </a:tc>
                <a:tc>
                  <a:txBody>
                    <a:bodyPr/>
                    <a:lstStyle/>
                    <a:p>
                      <a:pPr>
                        <a:buNone/>
                      </a:pPr>
                      <a:r>
                        <a:rPr lang="en-GB" sz="1600">
                          <a:solidFill>
                            <a:srgbClr val="C00000"/>
                          </a:solidFill>
                        </a:rPr>
                        <a:t>⚖️ Pseudonymous — transactions are public, but identities can be hidden unless addresses are deanonymized</a:t>
                      </a:r>
                    </a:p>
                  </a:txBody>
                  <a:tcPr marL="59765" marR="59765" marT="29882" marB="29882" anchor="ctr"/>
                </a:tc>
                <a:tc>
                  <a:txBody>
                    <a:bodyPr/>
                    <a:lstStyle/>
                    <a:p>
                      <a:pPr>
                        <a:buNone/>
                      </a:pPr>
                      <a:r>
                        <a:rPr lang="en-PK" sz="1600" dirty="0">
                          <a:solidFill>
                            <a:srgbClr val="C00000"/>
                          </a:solidFill>
                        </a:rPr>
                        <a:t>❌ </a:t>
                      </a:r>
                      <a:r>
                        <a:rPr lang="en-GB" sz="1600" dirty="0">
                          <a:solidFill>
                            <a:srgbClr val="C00000"/>
                          </a:solidFill>
                        </a:rPr>
                        <a:t>None — transactions are fully traceable by the central bank</a:t>
                      </a:r>
                    </a:p>
                  </a:txBody>
                  <a:tcPr marL="59765" marR="59765" marT="29882" marB="29882" anchor="ctr"/>
                </a:tc>
                <a:extLst>
                  <a:ext uri="{0D108BD9-81ED-4DB2-BD59-A6C34878D82A}">
                    <a16:rowId xmlns:a16="http://schemas.microsoft.com/office/drawing/2014/main" val="3755758022"/>
                  </a:ext>
                </a:extLst>
              </a:tr>
              <a:tr h="539041">
                <a:tc>
                  <a:txBody>
                    <a:bodyPr/>
                    <a:lstStyle/>
                    <a:p>
                      <a:pPr>
                        <a:buNone/>
                      </a:pPr>
                      <a:r>
                        <a:rPr lang="en-GB" sz="1600" b="1" dirty="0">
                          <a:solidFill>
                            <a:srgbClr val="0432FF"/>
                          </a:solidFill>
                        </a:rPr>
                        <a:t>Double spending solution</a:t>
                      </a:r>
                      <a:endParaRPr lang="en-GB" sz="1600" dirty="0">
                        <a:solidFill>
                          <a:srgbClr val="0432FF"/>
                        </a:solidFill>
                      </a:endParaRPr>
                    </a:p>
                  </a:txBody>
                  <a:tcPr marL="59765" marR="59765" marT="29882" marB="29882" anchor="ctr"/>
                </a:tc>
                <a:tc>
                  <a:txBody>
                    <a:bodyPr/>
                    <a:lstStyle/>
                    <a:p>
                      <a:pPr>
                        <a:buNone/>
                      </a:pPr>
                      <a:r>
                        <a:rPr lang="en-GB" sz="1600">
                          <a:solidFill>
                            <a:srgbClr val="0432FF"/>
                          </a:solidFill>
                        </a:rPr>
                        <a:t>Bank’s spent-coin database + cheater-revealing protocol</a:t>
                      </a:r>
                    </a:p>
                  </a:txBody>
                  <a:tcPr marL="59765" marR="59765" marT="29882" marB="29882" anchor="ctr"/>
                </a:tc>
                <a:tc>
                  <a:txBody>
                    <a:bodyPr/>
                    <a:lstStyle/>
                    <a:p>
                      <a:pPr>
                        <a:buNone/>
                      </a:pPr>
                      <a:r>
                        <a:rPr lang="en-GB" sz="1600">
                          <a:solidFill>
                            <a:srgbClr val="0432FF"/>
                          </a:solidFill>
                        </a:rPr>
                        <a:t>Public blockchain consensus (proof-of-work, miners)</a:t>
                      </a:r>
                    </a:p>
                  </a:txBody>
                  <a:tcPr marL="59765" marR="59765" marT="29882" marB="29882" anchor="ctr"/>
                </a:tc>
                <a:tc>
                  <a:txBody>
                    <a:bodyPr/>
                    <a:lstStyle/>
                    <a:p>
                      <a:pPr>
                        <a:buNone/>
                      </a:pPr>
                      <a:r>
                        <a:rPr lang="en-GB" sz="1600" dirty="0">
                          <a:solidFill>
                            <a:srgbClr val="0432FF"/>
                          </a:solidFill>
                        </a:rPr>
                        <a:t>Central bank’s centralized ledger</a:t>
                      </a:r>
                    </a:p>
                  </a:txBody>
                  <a:tcPr marL="59765" marR="59765" marT="29882" marB="29882" anchor="ctr"/>
                </a:tc>
                <a:extLst>
                  <a:ext uri="{0D108BD9-81ED-4DB2-BD59-A6C34878D82A}">
                    <a16:rowId xmlns:a16="http://schemas.microsoft.com/office/drawing/2014/main" val="3467367577"/>
                  </a:ext>
                </a:extLst>
              </a:tr>
              <a:tr h="539041">
                <a:tc>
                  <a:txBody>
                    <a:bodyPr/>
                    <a:lstStyle/>
                    <a:p>
                      <a:pPr>
                        <a:buNone/>
                      </a:pPr>
                      <a:r>
                        <a:rPr lang="en-GB" sz="1600" b="1" dirty="0">
                          <a:solidFill>
                            <a:srgbClr val="308D3E"/>
                          </a:solidFill>
                        </a:rPr>
                        <a:t>Centralization</a:t>
                      </a:r>
                      <a:endParaRPr lang="en-GB" sz="1600" dirty="0">
                        <a:solidFill>
                          <a:srgbClr val="308D3E"/>
                        </a:solidFill>
                      </a:endParaRPr>
                    </a:p>
                  </a:txBody>
                  <a:tcPr marL="59765" marR="59765" marT="29882" marB="29882" anchor="ctr"/>
                </a:tc>
                <a:tc>
                  <a:txBody>
                    <a:bodyPr/>
                    <a:lstStyle/>
                    <a:p>
                      <a:pPr>
                        <a:buNone/>
                      </a:pPr>
                      <a:r>
                        <a:rPr lang="en-GB" sz="1600" dirty="0">
                          <a:solidFill>
                            <a:srgbClr val="308D3E"/>
                          </a:solidFill>
                        </a:rPr>
                        <a:t>Centralized (depends on a single issuer)</a:t>
                      </a:r>
                    </a:p>
                  </a:txBody>
                  <a:tcPr marL="59765" marR="59765" marT="29882" marB="29882" anchor="ctr"/>
                </a:tc>
                <a:tc>
                  <a:txBody>
                    <a:bodyPr/>
                    <a:lstStyle/>
                    <a:p>
                      <a:pPr>
                        <a:buNone/>
                      </a:pPr>
                      <a:r>
                        <a:rPr lang="en-GB" sz="1600" dirty="0">
                          <a:solidFill>
                            <a:srgbClr val="308D3E"/>
                          </a:solidFill>
                        </a:rPr>
                        <a:t>Decentralized (peer-to-peer nodes)</a:t>
                      </a:r>
                    </a:p>
                  </a:txBody>
                  <a:tcPr marL="59765" marR="59765" marT="29882" marB="29882" anchor="ctr"/>
                </a:tc>
                <a:tc>
                  <a:txBody>
                    <a:bodyPr/>
                    <a:lstStyle/>
                    <a:p>
                      <a:pPr>
                        <a:buNone/>
                      </a:pPr>
                      <a:r>
                        <a:rPr lang="en-GB" sz="1600" dirty="0">
                          <a:solidFill>
                            <a:srgbClr val="308D3E"/>
                          </a:solidFill>
                        </a:rPr>
                        <a:t>Centralized (one official ledger)</a:t>
                      </a:r>
                    </a:p>
                  </a:txBody>
                  <a:tcPr marL="59765" marR="59765" marT="29882" marB="29882" anchor="ctr"/>
                </a:tc>
                <a:extLst>
                  <a:ext uri="{0D108BD9-81ED-4DB2-BD59-A6C34878D82A}">
                    <a16:rowId xmlns:a16="http://schemas.microsoft.com/office/drawing/2014/main" val="783694279"/>
                  </a:ext>
                </a:extLst>
              </a:tr>
              <a:tr h="779138">
                <a:tc>
                  <a:txBody>
                    <a:bodyPr/>
                    <a:lstStyle/>
                    <a:p>
                      <a:pPr>
                        <a:buNone/>
                      </a:pPr>
                      <a:r>
                        <a:rPr lang="en-GB" sz="1600" b="1" dirty="0">
                          <a:solidFill>
                            <a:srgbClr val="7030A0"/>
                          </a:solidFill>
                        </a:rPr>
                        <a:t>Government stance</a:t>
                      </a:r>
                      <a:endParaRPr lang="en-GB" sz="1600" dirty="0">
                        <a:solidFill>
                          <a:srgbClr val="7030A0"/>
                        </a:solidFill>
                      </a:endParaRPr>
                    </a:p>
                  </a:txBody>
                  <a:tcPr marL="59765" marR="59765" marT="29882" marB="29882" anchor="ctr"/>
                </a:tc>
                <a:tc>
                  <a:txBody>
                    <a:bodyPr/>
                    <a:lstStyle/>
                    <a:p>
                      <a:pPr>
                        <a:buNone/>
                      </a:pPr>
                      <a:r>
                        <a:rPr lang="en-PK" sz="1600" dirty="0">
                          <a:solidFill>
                            <a:srgbClr val="7030A0"/>
                          </a:solidFill>
                        </a:rPr>
                        <a:t>🚫 </a:t>
                      </a:r>
                      <a:r>
                        <a:rPr lang="en-GB" sz="1600" dirty="0">
                          <a:solidFill>
                            <a:srgbClr val="7030A0"/>
                          </a:solidFill>
                        </a:rPr>
                        <a:t>Rejected — too much privacy, undermines AML/KYC</a:t>
                      </a:r>
                    </a:p>
                  </a:txBody>
                  <a:tcPr marL="59765" marR="59765" marT="29882" marB="29882" anchor="ctr"/>
                </a:tc>
                <a:tc>
                  <a:txBody>
                    <a:bodyPr/>
                    <a:lstStyle/>
                    <a:p>
                      <a:pPr>
                        <a:buNone/>
                      </a:pPr>
                      <a:r>
                        <a:rPr lang="en-GB" sz="1600">
                          <a:solidFill>
                            <a:srgbClr val="7030A0"/>
                          </a:solidFill>
                        </a:rPr>
                        <a:t>⚖️ Tolerated but regulated — transparent enough for surveillance via exchanges</a:t>
                      </a:r>
                    </a:p>
                  </a:txBody>
                  <a:tcPr marL="59765" marR="59765" marT="29882" marB="29882" anchor="ctr"/>
                </a:tc>
                <a:tc>
                  <a:txBody>
                    <a:bodyPr/>
                    <a:lstStyle/>
                    <a:p>
                      <a:pPr>
                        <a:buNone/>
                      </a:pPr>
                      <a:r>
                        <a:rPr lang="en-PK" sz="1600" dirty="0">
                          <a:solidFill>
                            <a:srgbClr val="7030A0"/>
                          </a:solidFill>
                        </a:rPr>
                        <a:t>✅ </a:t>
                      </a:r>
                      <a:r>
                        <a:rPr lang="en-GB" sz="1600" dirty="0">
                          <a:solidFill>
                            <a:srgbClr val="7030A0"/>
                          </a:solidFill>
                        </a:rPr>
                        <a:t>Actively promoted — governments want control &amp; oversight</a:t>
                      </a:r>
                    </a:p>
                  </a:txBody>
                  <a:tcPr marL="59765" marR="59765" marT="29882" marB="29882" anchor="ctr"/>
                </a:tc>
                <a:extLst>
                  <a:ext uri="{0D108BD9-81ED-4DB2-BD59-A6C34878D82A}">
                    <a16:rowId xmlns:a16="http://schemas.microsoft.com/office/drawing/2014/main" val="2390706465"/>
                  </a:ext>
                </a:extLst>
              </a:tr>
              <a:tr h="539041">
                <a:tc>
                  <a:txBody>
                    <a:bodyPr/>
                    <a:lstStyle/>
                    <a:p>
                      <a:pPr>
                        <a:buNone/>
                      </a:pPr>
                      <a:r>
                        <a:rPr lang="en-GB" sz="1600" b="1" dirty="0">
                          <a:solidFill>
                            <a:srgbClr val="C00000"/>
                          </a:solidFill>
                        </a:rPr>
                        <a:t>Adoption outcome</a:t>
                      </a:r>
                      <a:endParaRPr lang="en-GB" sz="1600" dirty="0">
                        <a:solidFill>
                          <a:srgbClr val="C00000"/>
                        </a:solidFill>
                      </a:endParaRPr>
                    </a:p>
                  </a:txBody>
                  <a:tcPr marL="59765" marR="59765" marT="29882" marB="29882" anchor="ctr"/>
                </a:tc>
                <a:tc>
                  <a:txBody>
                    <a:bodyPr/>
                    <a:lstStyle/>
                    <a:p>
                      <a:pPr>
                        <a:buNone/>
                      </a:pPr>
                      <a:r>
                        <a:rPr lang="en-GB" sz="1600">
                          <a:solidFill>
                            <a:srgbClr val="C00000"/>
                          </a:solidFill>
                        </a:rPr>
                        <a:t>Failed commercially (DigiCash bankrupt in 1998)</a:t>
                      </a:r>
                    </a:p>
                  </a:txBody>
                  <a:tcPr marL="59765" marR="59765" marT="29882" marB="29882" anchor="ctr"/>
                </a:tc>
                <a:tc>
                  <a:txBody>
                    <a:bodyPr/>
                    <a:lstStyle/>
                    <a:p>
                      <a:pPr>
                        <a:buNone/>
                      </a:pPr>
                      <a:r>
                        <a:rPr lang="en-GB" sz="1600">
                          <a:solidFill>
                            <a:srgbClr val="C00000"/>
                          </a:solidFill>
                        </a:rPr>
                        <a:t>Global adoption, large ecosystem</a:t>
                      </a:r>
                    </a:p>
                  </a:txBody>
                  <a:tcPr marL="59765" marR="59765" marT="29882" marB="29882" anchor="ctr"/>
                </a:tc>
                <a:tc>
                  <a:txBody>
                    <a:bodyPr/>
                    <a:lstStyle/>
                    <a:p>
                      <a:pPr>
                        <a:buNone/>
                      </a:pPr>
                      <a:r>
                        <a:rPr lang="en-GB" sz="1600" dirty="0">
                          <a:solidFill>
                            <a:srgbClr val="C00000"/>
                          </a:solidFill>
                        </a:rPr>
                        <a:t>Pilots and rollouts ongoing (e-CNY, digital euro, etc.)</a:t>
                      </a:r>
                    </a:p>
                  </a:txBody>
                  <a:tcPr marL="59765" marR="59765" marT="29882" marB="29882" anchor="ctr"/>
                </a:tc>
                <a:extLst>
                  <a:ext uri="{0D108BD9-81ED-4DB2-BD59-A6C34878D82A}">
                    <a16:rowId xmlns:a16="http://schemas.microsoft.com/office/drawing/2014/main" val="2887735579"/>
                  </a:ext>
                </a:extLst>
              </a:tr>
              <a:tr h="481079">
                <a:tc>
                  <a:txBody>
                    <a:bodyPr/>
                    <a:lstStyle/>
                    <a:p>
                      <a:pPr>
                        <a:buNone/>
                      </a:pPr>
                      <a:r>
                        <a:rPr lang="en-GB" sz="1600" b="1" dirty="0">
                          <a:solidFill>
                            <a:srgbClr val="0432FF"/>
                          </a:solidFill>
                        </a:rPr>
                        <a:t>Main strength</a:t>
                      </a:r>
                      <a:endParaRPr lang="en-GB" sz="1600" dirty="0">
                        <a:solidFill>
                          <a:srgbClr val="0432FF"/>
                        </a:solidFill>
                      </a:endParaRPr>
                    </a:p>
                  </a:txBody>
                  <a:tcPr marL="59765" marR="59765" marT="29882" marB="29882" anchor="ctr"/>
                </a:tc>
                <a:tc>
                  <a:txBody>
                    <a:bodyPr/>
                    <a:lstStyle/>
                    <a:p>
                      <a:pPr>
                        <a:buNone/>
                      </a:pPr>
                      <a:r>
                        <a:rPr lang="en-GB" sz="1600">
                          <a:solidFill>
                            <a:srgbClr val="0432FF"/>
                          </a:solidFill>
                        </a:rPr>
                        <a:t>Cash-like anonymity online</a:t>
                      </a:r>
                    </a:p>
                  </a:txBody>
                  <a:tcPr marL="59765" marR="59765" marT="29882" marB="29882" anchor="ctr"/>
                </a:tc>
                <a:tc>
                  <a:txBody>
                    <a:bodyPr/>
                    <a:lstStyle/>
                    <a:p>
                      <a:pPr>
                        <a:buNone/>
                      </a:pPr>
                      <a:r>
                        <a:rPr lang="en-GB" sz="1600">
                          <a:solidFill>
                            <a:srgbClr val="0432FF"/>
                          </a:solidFill>
                        </a:rPr>
                        <a:t>Decentralization, censorship resistance</a:t>
                      </a:r>
                    </a:p>
                  </a:txBody>
                  <a:tcPr marL="59765" marR="59765" marT="29882" marB="29882" anchor="ctr"/>
                </a:tc>
                <a:tc>
                  <a:txBody>
                    <a:bodyPr/>
                    <a:lstStyle/>
                    <a:p>
                      <a:pPr>
                        <a:buNone/>
                      </a:pPr>
                      <a:r>
                        <a:rPr lang="en-GB" sz="1600" dirty="0">
                          <a:solidFill>
                            <a:srgbClr val="0432FF"/>
                          </a:solidFill>
                        </a:rPr>
                        <a:t>Efficiency, surveillance, policy control</a:t>
                      </a:r>
                    </a:p>
                  </a:txBody>
                  <a:tcPr marL="59765" marR="59765" marT="29882" marB="29882" anchor="ctr"/>
                </a:tc>
                <a:extLst>
                  <a:ext uri="{0D108BD9-81ED-4DB2-BD59-A6C34878D82A}">
                    <a16:rowId xmlns:a16="http://schemas.microsoft.com/office/drawing/2014/main" val="1894570492"/>
                  </a:ext>
                </a:extLst>
              </a:tr>
              <a:tr h="539041">
                <a:tc>
                  <a:txBody>
                    <a:bodyPr/>
                    <a:lstStyle/>
                    <a:p>
                      <a:pPr>
                        <a:buNone/>
                      </a:pPr>
                      <a:r>
                        <a:rPr lang="en-GB" sz="1600" b="1" dirty="0">
                          <a:solidFill>
                            <a:srgbClr val="308D3E"/>
                          </a:solidFill>
                        </a:rPr>
                        <a:t>Main weakness</a:t>
                      </a:r>
                      <a:endParaRPr lang="en-GB" sz="1600" dirty="0">
                        <a:solidFill>
                          <a:srgbClr val="308D3E"/>
                        </a:solidFill>
                      </a:endParaRPr>
                    </a:p>
                  </a:txBody>
                  <a:tcPr marL="59765" marR="59765" marT="29882" marB="29882" anchor="ctr"/>
                </a:tc>
                <a:tc>
                  <a:txBody>
                    <a:bodyPr/>
                    <a:lstStyle/>
                    <a:p>
                      <a:pPr>
                        <a:buNone/>
                      </a:pPr>
                      <a:r>
                        <a:rPr lang="en-GB" sz="1600">
                          <a:solidFill>
                            <a:srgbClr val="308D3E"/>
                          </a:solidFill>
                        </a:rPr>
                        <a:t>Needed banks to cooperate; governments disliked its privacy</a:t>
                      </a:r>
                    </a:p>
                  </a:txBody>
                  <a:tcPr marL="59765" marR="59765" marT="29882" marB="29882" anchor="ctr"/>
                </a:tc>
                <a:tc>
                  <a:txBody>
                    <a:bodyPr/>
                    <a:lstStyle/>
                    <a:p>
                      <a:pPr>
                        <a:buNone/>
                      </a:pPr>
                      <a:r>
                        <a:rPr lang="en-GB" sz="1600">
                          <a:solidFill>
                            <a:srgbClr val="308D3E"/>
                          </a:solidFill>
                        </a:rPr>
                        <a:t>Price volatility, scalability, partial privacy</a:t>
                      </a:r>
                    </a:p>
                  </a:txBody>
                  <a:tcPr marL="59765" marR="59765" marT="29882" marB="29882" anchor="ctr"/>
                </a:tc>
                <a:tc>
                  <a:txBody>
                    <a:bodyPr/>
                    <a:lstStyle/>
                    <a:p>
                      <a:pPr>
                        <a:buNone/>
                      </a:pPr>
                      <a:r>
                        <a:rPr lang="en-GB" sz="1600" dirty="0">
                          <a:solidFill>
                            <a:srgbClr val="308D3E"/>
                          </a:solidFill>
                        </a:rPr>
                        <a:t>Raises privacy concerns, potential for abuse of control</a:t>
                      </a:r>
                    </a:p>
                  </a:txBody>
                  <a:tcPr marL="59765" marR="59765" marT="29882" marB="29882" anchor="ctr"/>
                </a:tc>
                <a:extLst>
                  <a:ext uri="{0D108BD9-81ED-4DB2-BD59-A6C34878D82A}">
                    <a16:rowId xmlns:a16="http://schemas.microsoft.com/office/drawing/2014/main" val="1389583298"/>
                  </a:ext>
                </a:extLst>
              </a:tr>
            </a:tbl>
          </a:graphicData>
        </a:graphic>
      </p:graphicFrame>
    </p:spTree>
    <p:extLst>
      <p:ext uri="{BB962C8B-B14F-4D97-AF65-F5344CB8AC3E}">
        <p14:creationId xmlns:p14="http://schemas.microsoft.com/office/powerpoint/2010/main" val="20561007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23223-9167-FE4D-2325-F2D573D1E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10660B-0176-37C7-DC4B-6DE065B0DC12}"/>
              </a:ext>
            </a:extLst>
          </p:cNvPr>
          <p:cNvSpPr>
            <a:spLocks noGrp="1"/>
          </p:cNvSpPr>
          <p:nvPr>
            <p:ph type="title"/>
          </p:nvPr>
        </p:nvSpPr>
        <p:spPr/>
        <p:txBody>
          <a:bodyPr/>
          <a:lstStyle/>
          <a:p>
            <a:r>
              <a:rPr lang="en-PK" dirty="0">
                <a:latin typeface="+mn-lt"/>
              </a:rPr>
              <a:t>Lecture 08</a:t>
            </a:r>
            <a:br>
              <a:rPr lang="en-PK" dirty="0">
                <a:latin typeface="+mn-lt"/>
              </a:rPr>
            </a:br>
            <a:r>
              <a:rPr lang="en-US" dirty="0">
                <a:latin typeface="+mn-lt"/>
              </a:rPr>
              <a:t>Thursday</a:t>
            </a:r>
            <a:r>
              <a:rPr lang="en-PK" dirty="0">
                <a:latin typeface="+mn-lt"/>
              </a:rPr>
              <a:t>, </a:t>
            </a:r>
            <a:r>
              <a:rPr lang="en-US" dirty="0">
                <a:latin typeface="+mn-lt"/>
              </a:rPr>
              <a:t>Feb</a:t>
            </a:r>
            <a:r>
              <a:rPr lang="en-PK" dirty="0">
                <a:latin typeface="+mn-lt"/>
              </a:rPr>
              <a:t> </a:t>
            </a:r>
            <a:r>
              <a:rPr lang="en-US" dirty="0">
                <a:latin typeface="+mn-lt"/>
              </a:rPr>
              <a:t>12</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D4373010-014B-C182-1905-A27C5BF54450}"/>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3488771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D7F08-656C-34C9-0FB5-B73DE24C1ED1}"/>
              </a:ext>
            </a:extLst>
          </p:cNvPr>
          <p:cNvSpPr>
            <a:spLocks noGrp="1"/>
          </p:cNvSpPr>
          <p:nvPr>
            <p:ph type="title"/>
          </p:nvPr>
        </p:nvSpPr>
        <p:spPr/>
        <p:txBody>
          <a:bodyPr/>
          <a:lstStyle/>
          <a:p>
            <a:r>
              <a:rPr lang="en-PK" dirty="0"/>
              <a:t>Consensus in Blockchains</a:t>
            </a:r>
          </a:p>
        </p:txBody>
      </p:sp>
      <p:sp>
        <p:nvSpPr>
          <p:cNvPr id="3" name="Content Placeholder 2">
            <a:extLst>
              <a:ext uri="{FF2B5EF4-FFF2-40B4-BE49-F238E27FC236}">
                <a16:creationId xmlns:a16="http://schemas.microsoft.com/office/drawing/2014/main" id="{964ADC62-9069-87BE-0353-BBE93A945E4B}"/>
              </a:ext>
            </a:extLst>
          </p:cNvPr>
          <p:cNvSpPr>
            <a:spLocks noGrp="1"/>
          </p:cNvSpPr>
          <p:nvPr>
            <p:ph idx="1"/>
          </p:nvPr>
        </p:nvSpPr>
        <p:spPr/>
        <p:txBody>
          <a:bodyPr>
            <a:normAutofit/>
          </a:bodyPr>
          <a:lstStyle/>
          <a:p>
            <a:r>
              <a:rPr lang="en-US" b="1" dirty="0"/>
              <a:t>What is consensus?</a:t>
            </a:r>
          </a:p>
          <a:p>
            <a:pPr lvl="1"/>
            <a:r>
              <a:rPr lang="en-US" dirty="0">
                <a:solidFill>
                  <a:srgbClr val="7030A0"/>
                </a:solidFill>
              </a:rPr>
              <a:t>Reaching an agreement in a group</a:t>
            </a:r>
          </a:p>
          <a:p>
            <a:pPr lvl="1"/>
            <a:r>
              <a:rPr lang="en-US" dirty="0">
                <a:solidFill>
                  <a:srgbClr val="308D3E"/>
                </a:solidFill>
              </a:rPr>
              <a:t>Blockchain requires it to be done dynamically, on-the-fly</a:t>
            </a:r>
          </a:p>
          <a:p>
            <a:pPr lvl="1"/>
            <a:r>
              <a:rPr lang="en-US" b="1" i="1" dirty="0">
                <a:solidFill>
                  <a:srgbClr val="C00000"/>
                </a:solidFill>
              </a:rPr>
              <a:t>Practical constraint:</a:t>
            </a:r>
            <a:r>
              <a:rPr lang="en-US" dirty="0">
                <a:solidFill>
                  <a:srgbClr val="C00000"/>
                </a:solidFill>
              </a:rPr>
              <a:t> Can not take forever to reach an agreement</a:t>
            </a:r>
            <a:endParaRPr lang="en-US" dirty="0">
              <a:solidFill>
                <a:srgbClr val="0432FF"/>
              </a:solidFill>
            </a:endParaRPr>
          </a:p>
          <a:p>
            <a:r>
              <a:rPr lang="en-US" b="1" dirty="0"/>
              <a:t>Why is consensus needed?</a:t>
            </a:r>
          </a:p>
          <a:p>
            <a:pPr lvl="1"/>
            <a:r>
              <a:rPr lang="en-US" dirty="0">
                <a:solidFill>
                  <a:srgbClr val="308D3E"/>
                </a:solidFill>
              </a:rPr>
              <a:t>Avoids conflicting transactions T1 and T2</a:t>
            </a:r>
          </a:p>
          <a:p>
            <a:pPr lvl="1"/>
            <a:r>
              <a:rPr lang="en-US" dirty="0">
                <a:solidFill>
                  <a:srgbClr val="0432FF"/>
                </a:solidFill>
              </a:rPr>
              <a:t>Say T1 and T2 are conflicting (double spending, for example)</a:t>
            </a:r>
          </a:p>
          <a:p>
            <a:pPr lvl="1"/>
            <a:r>
              <a:rPr lang="en-US" dirty="0">
                <a:solidFill>
                  <a:srgbClr val="7030A0"/>
                </a:solidFill>
              </a:rPr>
              <a:t>Assume that T1 and T2 are in separate journals</a:t>
            </a:r>
          </a:p>
          <a:p>
            <a:pPr lvl="1"/>
            <a:r>
              <a:rPr lang="en-US" dirty="0">
                <a:solidFill>
                  <a:srgbClr val="C00000"/>
                </a:solidFill>
              </a:rPr>
              <a:t>What assures that T1 and T2 can’t be part of the same ledger?</a:t>
            </a:r>
          </a:p>
          <a:p>
            <a:r>
              <a:rPr lang="en-US" b="1" i="1" dirty="0"/>
              <a:t>Dishonest nodes may not reach consensus, and that’s okay!</a:t>
            </a:r>
            <a:endParaRPr lang="en-US" b="1" i="1" dirty="0">
              <a:solidFill>
                <a:srgbClr val="7030A0"/>
              </a:solidFill>
            </a:endParaRPr>
          </a:p>
        </p:txBody>
      </p:sp>
      <p:sp>
        <p:nvSpPr>
          <p:cNvPr id="4" name="Slide Number Placeholder 3">
            <a:extLst>
              <a:ext uri="{FF2B5EF4-FFF2-40B4-BE49-F238E27FC236}">
                <a16:creationId xmlns:a16="http://schemas.microsoft.com/office/drawing/2014/main" id="{DC5A942E-4F0E-DE07-F56E-DDDAECE5B8CF}"/>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334846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5BDB-E7E9-C7A7-D7CA-43EA6C35E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57984-964A-21A4-D747-DCC85DB96DCE}"/>
              </a:ext>
            </a:extLst>
          </p:cNvPr>
          <p:cNvSpPr>
            <a:spLocks noGrp="1"/>
          </p:cNvSpPr>
          <p:nvPr>
            <p:ph type="title"/>
          </p:nvPr>
        </p:nvSpPr>
        <p:spPr/>
        <p:txBody>
          <a:bodyPr/>
          <a:lstStyle/>
          <a:p>
            <a:r>
              <a:rPr lang="en-PK" dirty="0"/>
              <a:t>Consensus via Majority</a:t>
            </a:r>
          </a:p>
        </p:txBody>
      </p:sp>
      <p:sp>
        <p:nvSpPr>
          <p:cNvPr id="3" name="Content Placeholder 2">
            <a:extLst>
              <a:ext uri="{FF2B5EF4-FFF2-40B4-BE49-F238E27FC236}">
                <a16:creationId xmlns:a16="http://schemas.microsoft.com/office/drawing/2014/main" id="{FE3D3CA2-4CB3-E20E-4907-4661577A30AA}"/>
              </a:ext>
            </a:extLst>
          </p:cNvPr>
          <p:cNvSpPr>
            <a:spLocks noGrp="1"/>
          </p:cNvSpPr>
          <p:nvPr>
            <p:ph idx="1"/>
          </p:nvPr>
        </p:nvSpPr>
        <p:spPr/>
        <p:txBody>
          <a:bodyPr>
            <a:normAutofit lnSpcReduction="10000"/>
          </a:bodyPr>
          <a:lstStyle/>
          <a:p>
            <a:r>
              <a:rPr lang="en-US" dirty="0"/>
              <a:t>How is consensus reached</a:t>
            </a:r>
          </a:p>
          <a:p>
            <a:pPr lvl="1"/>
            <a:r>
              <a:rPr lang="en-US" dirty="0">
                <a:solidFill>
                  <a:srgbClr val="308D3E"/>
                </a:solidFill>
              </a:rPr>
              <a:t>For two nodes: if both are honest</a:t>
            </a:r>
          </a:p>
          <a:p>
            <a:pPr lvl="1"/>
            <a:r>
              <a:rPr lang="en-US" dirty="0">
                <a:solidFill>
                  <a:srgbClr val="0432FF"/>
                </a:solidFill>
              </a:rPr>
              <a:t>For many nodes: ???</a:t>
            </a:r>
          </a:p>
          <a:p>
            <a:r>
              <a:rPr lang="en-US" dirty="0"/>
              <a:t>Unified and correct view (ledger) evolves:</a:t>
            </a:r>
          </a:p>
          <a:p>
            <a:pPr lvl="1"/>
            <a:r>
              <a:rPr lang="en-US" dirty="0">
                <a:solidFill>
                  <a:srgbClr val="308D3E"/>
                </a:solidFill>
              </a:rPr>
              <a:t>If the </a:t>
            </a:r>
            <a:r>
              <a:rPr lang="en-US" b="1" i="1" u="sng" dirty="0">
                <a:solidFill>
                  <a:srgbClr val="308D3E"/>
                </a:solidFill>
              </a:rPr>
              <a:t>majority</a:t>
            </a:r>
            <a:r>
              <a:rPr lang="en-US" dirty="0">
                <a:solidFill>
                  <a:srgbClr val="308D3E"/>
                </a:solidFill>
              </a:rPr>
              <a:t> of the nodes are honest</a:t>
            </a:r>
          </a:p>
          <a:p>
            <a:pPr lvl="1"/>
            <a:r>
              <a:rPr lang="en-US" dirty="0">
                <a:solidFill>
                  <a:srgbClr val="0432FF"/>
                </a:solidFill>
              </a:rPr>
              <a:t>Double-spending (conflicting transactions, in general) is avoided</a:t>
            </a:r>
          </a:p>
          <a:p>
            <a:r>
              <a:rPr lang="en-US" dirty="0">
                <a:solidFill>
                  <a:srgbClr val="C00000"/>
                </a:solidFill>
              </a:rPr>
              <a:t>What is “Majority”?</a:t>
            </a:r>
          </a:p>
          <a:p>
            <a:pPr lvl="1"/>
            <a:r>
              <a:rPr lang="en-US" dirty="0"/>
              <a:t>An individual?</a:t>
            </a:r>
          </a:p>
          <a:p>
            <a:pPr lvl="1"/>
            <a:r>
              <a:rPr lang="en-US" dirty="0"/>
              <a:t>A computer?</a:t>
            </a:r>
          </a:p>
          <a:p>
            <a:pPr lvl="1"/>
            <a:r>
              <a:rPr lang="en-US" dirty="0"/>
              <a:t>What about one user creating multiple (dishonest) nodes?</a:t>
            </a:r>
          </a:p>
          <a:p>
            <a:pPr lvl="1"/>
            <a:r>
              <a:rPr lang="en-US" dirty="0"/>
              <a:t>A </a:t>
            </a:r>
            <a:r>
              <a:rPr lang="en-US" i="1" u="sng" dirty="0"/>
              <a:t>weighted</a:t>
            </a:r>
            <a:r>
              <a:rPr lang="en-US" dirty="0"/>
              <a:t> majority is considered – each node is assigned a weight</a:t>
            </a:r>
          </a:p>
        </p:txBody>
      </p:sp>
      <p:sp>
        <p:nvSpPr>
          <p:cNvPr id="4" name="Slide Number Placeholder 3">
            <a:extLst>
              <a:ext uri="{FF2B5EF4-FFF2-40B4-BE49-F238E27FC236}">
                <a16:creationId xmlns:a16="http://schemas.microsoft.com/office/drawing/2014/main" id="{6DBE8D27-807A-0222-0867-05403CAB31E1}"/>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122824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dissolv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dissolv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A3AD-B0F8-0629-2F54-BB6070D24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F5ACE-55F0-468E-FD3E-1EDE70832E89}"/>
              </a:ext>
            </a:extLst>
          </p:cNvPr>
          <p:cNvSpPr>
            <a:spLocks noGrp="1"/>
          </p:cNvSpPr>
          <p:nvPr>
            <p:ph type="title"/>
          </p:nvPr>
        </p:nvSpPr>
        <p:spPr/>
        <p:txBody>
          <a:bodyPr/>
          <a:lstStyle/>
          <a:p>
            <a:r>
              <a:rPr lang="en-PK" dirty="0"/>
              <a:t>Proof of Work (PoW) Consensus</a:t>
            </a:r>
          </a:p>
        </p:txBody>
      </p:sp>
      <p:sp>
        <p:nvSpPr>
          <p:cNvPr id="3" name="Content Placeholder 2">
            <a:extLst>
              <a:ext uri="{FF2B5EF4-FFF2-40B4-BE49-F238E27FC236}">
                <a16:creationId xmlns:a16="http://schemas.microsoft.com/office/drawing/2014/main" id="{527F8898-D27E-354D-AB00-41D203B52B63}"/>
              </a:ext>
            </a:extLst>
          </p:cNvPr>
          <p:cNvSpPr>
            <a:spLocks noGrp="1"/>
          </p:cNvSpPr>
          <p:nvPr>
            <p:ph idx="1"/>
          </p:nvPr>
        </p:nvSpPr>
        <p:spPr/>
        <p:txBody>
          <a:bodyPr>
            <a:normAutofit/>
          </a:bodyPr>
          <a:lstStyle/>
          <a:p>
            <a:r>
              <a:rPr lang="en-US" b="1" dirty="0"/>
              <a:t>Roots in SPAM filtering</a:t>
            </a:r>
          </a:p>
          <a:p>
            <a:pPr lvl="1"/>
            <a:r>
              <a:rPr lang="en-US" dirty="0">
                <a:solidFill>
                  <a:srgbClr val="0432FF"/>
                </a:solidFill>
              </a:rPr>
              <a:t>A moderately expensive, but not intractable, puzzle to solve</a:t>
            </a:r>
          </a:p>
          <a:p>
            <a:pPr lvl="1"/>
            <a:r>
              <a:rPr lang="en-US" dirty="0">
                <a:solidFill>
                  <a:srgbClr val="308D3E"/>
                </a:solidFill>
              </a:rPr>
              <a:t>No impact on good users, </a:t>
            </a:r>
            <a:r>
              <a:rPr lang="en-US" dirty="0">
                <a:solidFill>
                  <a:srgbClr val="C00000"/>
                </a:solidFill>
              </a:rPr>
              <a:t>but disincentivizes spammers</a:t>
            </a:r>
          </a:p>
          <a:p>
            <a:r>
              <a:rPr lang="en-US" b="1" dirty="0"/>
              <a:t>How is it used in Blockchain?</a:t>
            </a:r>
          </a:p>
          <a:p>
            <a:pPr lvl="1"/>
            <a:r>
              <a:rPr lang="en-US" dirty="0">
                <a:solidFill>
                  <a:srgbClr val="7030A0"/>
                </a:solidFill>
              </a:rPr>
              <a:t>A node that solves a computationally intensive puzzle first </a:t>
            </a:r>
            <a:r>
              <a:rPr lang="en-US" b="1" i="1" dirty="0">
                <a:solidFill>
                  <a:srgbClr val="7030A0"/>
                </a:solidFill>
              </a:rPr>
              <a:t>wins</a:t>
            </a:r>
          </a:p>
          <a:p>
            <a:pPr lvl="1"/>
            <a:r>
              <a:rPr lang="en-US" dirty="0">
                <a:solidFill>
                  <a:srgbClr val="308D3E"/>
                </a:solidFill>
              </a:rPr>
              <a:t> It is telling the truth (i.e., all transactions are valid) </a:t>
            </a:r>
          </a:p>
          <a:p>
            <a:pPr lvl="1"/>
            <a:r>
              <a:rPr lang="en-US" dirty="0">
                <a:solidFill>
                  <a:srgbClr val="C00000"/>
                </a:solidFill>
              </a:rPr>
              <a:t>The result of the computation is easy to verify by other nodes</a:t>
            </a:r>
          </a:p>
          <a:p>
            <a:pPr lvl="1"/>
            <a:r>
              <a:rPr lang="en-US" dirty="0">
                <a:solidFill>
                  <a:srgbClr val="0432FF"/>
                </a:solidFill>
              </a:rPr>
              <a:t>The block of the winner node is added to the blockchain</a:t>
            </a:r>
          </a:p>
          <a:p>
            <a:r>
              <a:rPr lang="en-US" b="1" dirty="0"/>
              <a:t>Food for thought</a:t>
            </a:r>
          </a:p>
          <a:p>
            <a:pPr lvl="1"/>
            <a:r>
              <a:rPr lang="en-US" dirty="0">
                <a:solidFill>
                  <a:srgbClr val="7030A0"/>
                </a:solidFill>
              </a:rPr>
              <a:t>What if the “work” is minimal (or none!) in a PoW blockchain?</a:t>
            </a:r>
          </a:p>
        </p:txBody>
      </p:sp>
      <p:sp>
        <p:nvSpPr>
          <p:cNvPr id="4" name="Slide Number Placeholder 3">
            <a:extLst>
              <a:ext uri="{FF2B5EF4-FFF2-40B4-BE49-F238E27FC236}">
                <a16:creationId xmlns:a16="http://schemas.microsoft.com/office/drawing/2014/main" id="{A448437B-1160-E18B-4054-AD87987E7EA2}"/>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403147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dissolv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81CFF-3973-1442-5339-A4840A280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82ED8-0065-F19D-B9FF-4601BA673268}"/>
              </a:ext>
            </a:extLst>
          </p:cNvPr>
          <p:cNvSpPr>
            <a:spLocks noGrp="1"/>
          </p:cNvSpPr>
          <p:nvPr>
            <p:ph type="title"/>
          </p:nvPr>
        </p:nvSpPr>
        <p:spPr/>
        <p:txBody>
          <a:bodyPr/>
          <a:lstStyle/>
          <a:p>
            <a:r>
              <a:rPr lang="en-PK" dirty="0"/>
              <a:t>Proof of Stake (PoS) Consensus</a:t>
            </a:r>
          </a:p>
        </p:txBody>
      </p:sp>
      <p:sp>
        <p:nvSpPr>
          <p:cNvPr id="3" name="Content Placeholder 2">
            <a:extLst>
              <a:ext uri="{FF2B5EF4-FFF2-40B4-BE49-F238E27FC236}">
                <a16:creationId xmlns:a16="http://schemas.microsoft.com/office/drawing/2014/main" id="{A34A4C08-BE0C-1F5F-77F2-219F25E99D31}"/>
              </a:ext>
            </a:extLst>
          </p:cNvPr>
          <p:cNvSpPr>
            <a:spLocks noGrp="1"/>
          </p:cNvSpPr>
          <p:nvPr>
            <p:ph idx="1"/>
          </p:nvPr>
        </p:nvSpPr>
        <p:spPr/>
        <p:txBody>
          <a:bodyPr>
            <a:normAutofit lnSpcReduction="10000"/>
          </a:bodyPr>
          <a:lstStyle/>
          <a:p>
            <a:r>
              <a:rPr lang="en-US" dirty="0"/>
              <a:t>Designed to address high energy consumption in PoW</a:t>
            </a:r>
          </a:p>
          <a:p>
            <a:pPr lvl="1"/>
            <a:r>
              <a:rPr lang="en-US" dirty="0">
                <a:solidFill>
                  <a:srgbClr val="308D3E"/>
                </a:solidFill>
              </a:rPr>
              <a:t>Initially, both Bitcoin (BTC) and Ethereum (ETH) used PoW</a:t>
            </a:r>
          </a:p>
          <a:p>
            <a:pPr lvl="1"/>
            <a:r>
              <a:rPr lang="en-US" dirty="0">
                <a:solidFill>
                  <a:srgbClr val="C00000"/>
                </a:solidFill>
              </a:rPr>
              <a:t>ETH switched from PoW to </a:t>
            </a:r>
            <a:r>
              <a:rPr lang="en-US" dirty="0" err="1">
                <a:solidFill>
                  <a:srgbClr val="C00000"/>
                </a:solidFill>
              </a:rPr>
              <a:t>PoS</a:t>
            </a:r>
            <a:endParaRPr lang="en-US" dirty="0">
              <a:solidFill>
                <a:srgbClr val="C00000"/>
              </a:solidFill>
            </a:endParaRPr>
          </a:p>
          <a:p>
            <a:r>
              <a:rPr lang="en-US" dirty="0"/>
              <a:t>Process (specific to Ethereum)</a:t>
            </a:r>
          </a:p>
          <a:p>
            <a:pPr lvl="1"/>
            <a:r>
              <a:rPr lang="en-US" dirty="0">
                <a:solidFill>
                  <a:srgbClr val="0432FF"/>
                </a:solidFill>
              </a:rPr>
              <a:t>Validators (miners!) “</a:t>
            </a:r>
            <a:r>
              <a:rPr lang="en-US" b="1" u="sng" dirty="0">
                <a:solidFill>
                  <a:srgbClr val="0432FF"/>
                </a:solidFill>
              </a:rPr>
              <a:t>stake</a:t>
            </a:r>
            <a:r>
              <a:rPr lang="en-US" dirty="0">
                <a:solidFill>
                  <a:srgbClr val="0432FF"/>
                </a:solidFill>
              </a:rPr>
              <a:t>” their ETH to participate</a:t>
            </a:r>
          </a:p>
          <a:p>
            <a:pPr lvl="1"/>
            <a:r>
              <a:rPr lang="en-US" dirty="0">
                <a:solidFill>
                  <a:srgbClr val="308D3E"/>
                </a:solidFill>
              </a:rPr>
              <a:t>The system chooses a random validator node to create new blocks</a:t>
            </a:r>
          </a:p>
          <a:p>
            <a:pPr lvl="1"/>
            <a:r>
              <a:rPr lang="en-US" dirty="0"/>
              <a:t>A node with a higher stake is more likely to be chosen</a:t>
            </a:r>
          </a:p>
          <a:p>
            <a:pPr lvl="1"/>
            <a:r>
              <a:rPr lang="en-US" dirty="0">
                <a:solidFill>
                  <a:srgbClr val="7030A0"/>
                </a:solidFill>
              </a:rPr>
              <a:t>The chosen validator shares the block with the network</a:t>
            </a:r>
          </a:p>
          <a:p>
            <a:pPr lvl="1"/>
            <a:r>
              <a:rPr lang="en-US" dirty="0">
                <a:solidFill>
                  <a:srgbClr val="0432FF"/>
                </a:solidFill>
              </a:rPr>
              <a:t>No heavy computation is needed – staking is required</a:t>
            </a:r>
          </a:p>
          <a:p>
            <a:pPr lvl="1"/>
            <a:r>
              <a:rPr lang="en-US" dirty="0">
                <a:solidFill>
                  <a:srgbClr val="C00000"/>
                </a:solidFill>
              </a:rPr>
              <a:t>If the node is found to be cheating, it will lose its security deposit</a:t>
            </a:r>
            <a:endParaRPr lang="en-US" dirty="0"/>
          </a:p>
          <a:p>
            <a:pPr lvl="1"/>
            <a:r>
              <a:rPr lang="en-US" dirty="0">
                <a:solidFill>
                  <a:srgbClr val="C00000"/>
                </a:solidFill>
              </a:rPr>
              <a:t>51% or more of staked ETH is needed to defraud the system</a:t>
            </a:r>
          </a:p>
        </p:txBody>
      </p:sp>
      <p:sp>
        <p:nvSpPr>
          <p:cNvPr id="4" name="Slide Number Placeholder 3">
            <a:extLst>
              <a:ext uri="{FF2B5EF4-FFF2-40B4-BE49-F238E27FC236}">
                <a16:creationId xmlns:a16="http://schemas.microsoft.com/office/drawing/2014/main" id="{F74AE55C-E53F-B564-7224-88E1E24E229C}"/>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304782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dissolv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dissolv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dissolv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5F311-1EE2-7C61-1825-42E845788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CC5132-29BB-28A2-142A-C983F7C731D7}"/>
              </a:ext>
            </a:extLst>
          </p:cNvPr>
          <p:cNvSpPr>
            <a:spLocks noGrp="1"/>
          </p:cNvSpPr>
          <p:nvPr>
            <p:ph type="title"/>
          </p:nvPr>
        </p:nvSpPr>
        <p:spPr/>
        <p:txBody>
          <a:bodyPr/>
          <a:lstStyle/>
          <a:p>
            <a:r>
              <a:rPr lang="en-PK" dirty="0"/>
              <a:t>Other Consensus Mechanisms</a:t>
            </a:r>
          </a:p>
        </p:txBody>
      </p:sp>
      <p:sp>
        <p:nvSpPr>
          <p:cNvPr id="3" name="Content Placeholder 2">
            <a:extLst>
              <a:ext uri="{FF2B5EF4-FFF2-40B4-BE49-F238E27FC236}">
                <a16:creationId xmlns:a16="http://schemas.microsoft.com/office/drawing/2014/main" id="{2465C87F-9B61-807E-1A39-54B77C79E2AD}"/>
              </a:ext>
            </a:extLst>
          </p:cNvPr>
          <p:cNvSpPr>
            <a:spLocks noGrp="1"/>
          </p:cNvSpPr>
          <p:nvPr>
            <p:ph idx="1"/>
          </p:nvPr>
        </p:nvSpPr>
        <p:spPr/>
        <p:txBody>
          <a:bodyPr>
            <a:normAutofit/>
          </a:bodyPr>
          <a:lstStyle/>
          <a:p>
            <a:r>
              <a:rPr lang="en-US" dirty="0"/>
              <a:t>Proof of Activity</a:t>
            </a:r>
          </a:p>
          <a:p>
            <a:pPr lvl="1"/>
            <a:r>
              <a:rPr lang="en-US" dirty="0">
                <a:solidFill>
                  <a:srgbClr val="0432FF"/>
                </a:solidFill>
              </a:rPr>
              <a:t>A hybrid of PoW (for header only) and </a:t>
            </a:r>
            <a:r>
              <a:rPr lang="en-US" dirty="0" err="1">
                <a:solidFill>
                  <a:srgbClr val="0432FF"/>
                </a:solidFill>
              </a:rPr>
              <a:t>PoS</a:t>
            </a:r>
            <a:endParaRPr lang="en-US" dirty="0">
              <a:solidFill>
                <a:srgbClr val="0432FF"/>
              </a:solidFill>
            </a:endParaRPr>
          </a:p>
          <a:p>
            <a:r>
              <a:rPr lang="en-US" dirty="0"/>
              <a:t>Proof of Storage</a:t>
            </a:r>
          </a:p>
          <a:p>
            <a:pPr lvl="1"/>
            <a:r>
              <a:rPr lang="en-US" dirty="0">
                <a:solidFill>
                  <a:srgbClr val="0432FF"/>
                </a:solidFill>
              </a:rPr>
              <a:t>Node importance is proportional to the storage capacity</a:t>
            </a:r>
          </a:p>
          <a:p>
            <a:r>
              <a:rPr lang="en-US" dirty="0"/>
              <a:t>And many others: Proof of …</a:t>
            </a:r>
          </a:p>
          <a:p>
            <a:pPr lvl="1"/>
            <a:r>
              <a:rPr lang="en-US" dirty="0">
                <a:solidFill>
                  <a:srgbClr val="0432FF"/>
                </a:solidFill>
              </a:rPr>
              <a:t>Authority, Burn, Capacity, Assignment, Transfer, Elapsed Time</a:t>
            </a:r>
          </a:p>
          <a:p>
            <a:r>
              <a:rPr lang="en-US" dirty="0">
                <a:solidFill>
                  <a:srgbClr val="C00000"/>
                </a:solidFill>
              </a:rPr>
              <a:t>Practical Byzantine Fault Tolerance (PBFT)</a:t>
            </a:r>
          </a:p>
          <a:p>
            <a:pPr lvl="1"/>
            <a:r>
              <a:rPr lang="en-US" dirty="0"/>
              <a:t>A 3-phase protocol</a:t>
            </a:r>
          </a:p>
          <a:p>
            <a:pPr lvl="1"/>
            <a:r>
              <a:rPr lang="en-US" dirty="0">
                <a:solidFill>
                  <a:srgbClr val="308D3E"/>
                </a:solidFill>
              </a:rPr>
              <a:t>Consensus reached if more than 2/3 nodes are honest</a:t>
            </a:r>
          </a:p>
          <a:p>
            <a:pPr lvl="1"/>
            <a:r>
              <a:rPr lang="en-US" dirty="0">
                <a:solidFill>
                  <a:srgbClr val="7030A0"/>
                </a:solidFill>
              </a:rPr>
              <a:t>Used when the number of participating nodes is known</a:t>
            </a:r>
          </a:p>
        </p:txBody>
      </p:sp>
      <p:sp>
        <p:nvSpPr>
          <p:cNvPr id="4" name="Slide Number Placeholder 3">
            <a:extLst>
              <a:ext uri="{FF2B5EF4-FFF2-40B4-BE49-F238E27FC236}">
                <a16:creationId xmlns:a16="http://schemas.microsoft.com/office/drawing/2014/main" id="{D9208AAF-8041-FAC8-F93C-5541863E4059}"/>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371782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dissolv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dissolve">
                                      <p:cBhvr>
                                        <p:cTn id="42" dur="500"/>
                                        <p:tgtEl>
                                          <p:spTgt spid="3">
                                            <p:txEl>
                                              <p:pRg st="7" end="7"/>
                                            </p:txEl>
                                          </p:spTgt>
                                        </p:tgtEl>
                                      </p:cBhvr>
                                    </p:animEffect>
                                  </p:childTnLst>
                                </p:cTn>
                              </p:par>
                            </p:childTnLst>
                          </p:cTn>
                        </p:par>
                        <p:par>
                          <p:cTn id="43" fill="hold">
                            <p:stCondLst>
                              <p:cond delay="500"/>
                            </p:stCondLst>
                            <p:childTnLst>
                              <p:par>
                                <p:cTn id="44" presetID="9" presetClass="entr" presetSubtype="0" fill="hold" nodeType="after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dissolve">
                                      <p:cBhvr>
                                        <p:cTn id="46" dur="500"/>
                                        <p:tgtEl>
                                          <p:spTgt spid="3">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dissolve">
                                      <p:cBhvr>
                                        <p:cTn id="5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F26DA-CDF0-5E48-101A-49CEF1687FB8}"/>
              </a:ext>
            </a:extLst>
          </p:cNvPr>
          <p:cNvSpPr>
            <a:spLocks noGrp="1"/>
          </p:cNvSpPr>
          <p:nvPr>
            <p:ph type="title"/>
          </p:nvPr>
        </p:nvSpPr>
        <p:spPr/>
        <p:txBody>
          <a:bodyPr/>
          <a:lstStyle/>
          <a:p>
            <a:r>
              <a:rPr lang="en-PK" dirty="0"/>
              <a:t>Popular and Recent Topics</a:t>
            </a:r>
            <a:br>
              <a:rPr lang="en-PK" dirty="0"/>
            </a:br>
            <a:r>
              <a:rPr lang="en-PK" dirty="0"/>
              <a:t>Smart Contracts, Stablecoins, and Tokenization</a:t>
            </a:r>
          </a:p>
        </p:txBody>
      </p:sp>
      <p:sp>
        <p:nvSpPr>
          <p:cNvPr id="5" name="Slide Number Placeholder 4">
            <a:extLst>
              <a:ext uri="{FF2B5EF4-FFF2-40B4-BE49-F238E27FC236}">
                <a16:creationId xmlns:a16="http://schemas.microsoft.com/office/drawing/2014/main" id="{A523C2DB-C0B6-5162-5065-16ED6FEE70B7}"/>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1478827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478E5-9577-F36B-E0D7-53CE95B28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EE559-C4FC-487C-4FD8-12185F8CCB9B}"/>
              </a:ext>
            </a:extLst>
          </p:cNvPr>
          <p:cNvSpPr>
            <a:spLocks noGrp="1"/>
          </p:cNvSpPr>
          <p:nvPr>
            <p:ph type="title"/>
          </p:nvPr>
        </p:nvSpPr>
        <p:spPr/>
        <p:txBody>
          <a:bodyPr/>
          <a:lstStyle/>
          <a:p>
            <a:r>
              <a:rPr lang="en-PK" dirty="0"/>
              <a:t>Smart Contracts</a:t>
            </a:r>
          </a:p>
        </p:txBody>
      </p:sp>
      <p:sp>
        <p:nvSpPr>
          <p:cNvPr id="3" name="Content Placeholder 2">
            <a:extLst>
              <a:ext uri="{FF2B5EF4-FFF2-40B4-BE49-F238E27FC236}">
                <a16:creationId xmlns:a16="http://schemas.microsoft.com/office/drawing/2014/main" id="{97F6F9A1-E6A0-FF9A-E0F3-5A14CAA04A90}"/>
              </a:ext>
            </a:extLst>
          </p:cNvPr>
          <p:cNvSpPr>
            <a:spLocks noGrp="1"/>
          </p:cNvSpPr>
          <p:nvPr>
            <p:ph idx="1"/>
          </p:nvPr>
        </p:nvSpPr>
        <p:spPr/>
        <p:txBody>
          <a:bodyPr>
            <a:normAutofit/>
          </a:bodyPr>
          <a:lstStyle/>
          <a:p>
            <a:r>
              <a:rPr lang="en-GB" dirty="0">
                <a:solidFill>
                  <a:srgbClr val="7030A0"/>
                </a:solidFill>
              </a:rPr>
              <a:t>A program that runs on the blockchain</a:t>
            </a:r>
          </a:p>
          <a:p>
            <a:pPr lvl="1"/>
            <a:r>
              <a:rPr lang="en-GB" dirty="0">
                <a:solidFill>
                  <a:srgbClr val="308D3E"/>
                </a:solidFill>
              </a:rPr>
              <a:t>Encodes a self-executing agreement based on predefined events</a:t>
            </a:r>
          </a:p>
          <a:p>
            <a:pPr lvl="1"/>
            <a:r>
              <a:rPr lang="en-GB" b="1" dirty="0">
                <a:solidFill>
                  <a:srgbClr val="C00000"/>
                </a:solidFill>
              </a:rPr>
              <a:t>Settlements</a:t>
            </a:r>
            <a:r>
              <a:rPr lang="en-GB" dirty="0">
                <a:solidFill>
                  <a:srgbClr val="C00000"/>
                </a:solidFill>
              </a:rPr>
              <a:t> in a smart contract are automatically triggered</a:t>
            </a:r>
          </a:p>
          <a:p>
            <a:pPr lvl="1"/>
            <a:r>
              <a:rPr lang="en-GB" dirty="0">
                <a:solidFill>
                  <a:srgbClr val="0432FF"/>
                </a:solidFill>
              </a:rPr>
              <a:t>When the pre-agreed conditions in the contract are met</a:t>
            </a:r>
          </a:p>
          <a:p>
            <a:pPr marL="0" indent="0">
              <a:buNone/>
            </a:pPr>
            <a:endParaRPr lang="en-GB" sz="4400" dirty="0"/>
          </a:p>
          <a:p>
            <a:r>
              <a:rPr lang="en-GB" b="1" dirty="0"/>
              <a:t>Example:</a:t>
            </a:r>
            <a:r>
              <a:rPr lang="en-GB" dirty="0"/>
              <a:t> </a:t>
            </a:r>
            <a:r>
              <a:rPr lang="en-GB" i="1" dirty="0">
                <a:solidFill>
                  <a:srgbClr val="C00000"/>
                </a:solidFill>
              </a:rPr>
              <a:t>Crop insurance for weather risk protection</a:t>
            </a:r>
          </a:p>
          <a:p>
            <a:pPr lvl="1"/>
            <a:r>
              <a:rPr lang="en-GB" b="1" dirty="0"/>
              <a:t>Typical terms:</a:t>
            </a:r>
            <a:r>
              <a:rPr lang="en-GB" dirty="0"/>
              <a:t> </a:t>
            </a:r>
            <a:r>
              <a:rPr lang="en-GB" dirty="0">
                <a:solidFill>
                  <a:srgbClr val="0432FF"/>
                </a:solidFill>
              </a:rPr>
              <a:t>if rainfall is below a certain level, payout is made</a:t>
            </a:r>
          </a:p>
          <a:p>
            <a:pPr lvl="1"/>
            <a:r>
              <a:rPr lang="en-GB" dirty="0">
                <a:solidFill>
                  <a:srgbClr val="C00000"/>
                </a:solidFill>
              </a:rPr>
              <a:t>Farmer(s): </a:t>
            </a:r>
            <a:r>
              <a:rPr lang="en-GB" dirty="0">
                <a:solidFill>
                  <a:srgbClr val="308D3E"/>
                </a:solidFill>
              </a:rPr>
              <a:t>premium (in crypto) locked in the smart contract</a:t>
            </a:r>
          </a:p>
          <a:p>
            <a:pPr lvl="1"/>
            <a:r>
              <a:rPr lang="en-GB" dirty="0">
                <a:solidFill>
                  <a:srgbClr val="C00000"/>
                </a:solidFill>
              </a:rPr>
              <a:t>Investor(s):</a:t>
            </a:r>
            <a:r>
              <a:rPr lang="en-GB" dirty="0"/>
              <a:t> </a:t>
            </a:r>
            <a:r>
              <a:rPr lang="en-GB" dirty="0">
                <a:solidFill>
                  <a:srgbClr val="308D3E"/>
                </a:solidFill>
              </a:rPr>
              <a:t>payout (also in crypto) locked in the same contract</a:t>
            </a:r>
          </a:p>
        </p:txBody>
      </p:sp>
      <p:sp>
        <p:nvSpPr>
          <p:cNvPr id="4" name="Title 1">
            <a:extLst>
              <a:ext uri="{FF2B5EF4-FFF2-40B4-BE49-F238E27FC236}">
                <a16:creationId xmlns:a16="http://schemas.microsoft.com/office/drawing/2014/main" id="{CE246F67-7CBA-CF8E-3D3B-56C64D38E688}"/>
              </a:ext>
            </a:extLst>
          </p:cNvPr>
          <p:cNvSpPr txBox="1">
            <a:spLocks/>
          </p:cNvSpPr>
          <p:nvPr/>
        </p:nvSpPr>
        <p:spPr>
          <a:xfrm>
            <a:off x="1710266" y="3000179"/>
            <a:ext cx="8771467" cy="503556"/>
          </a:xfrm>
          <a:prstGeom prst="roundRect">
            <a:avLst/>
          </a:prstGeom>
          <a:solidFill>
            <a:srgbClr val="308D3E"/>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800" dirty="0">
                <a:solidFill>
                  <a:schemeClr val="bg1"/>
                </a:solidFill>
              </a:rPr>
              <a:t>Result: Automatic Transactions without intermediary</a:t>
            </a:r>
            <a:endParaRPr lang="en-PK" sz="2800" b="1" dirty="0">
              <a:solidFill>
                <a:schemeClr val="bg1"/>
              </a:solidFill>
            </a:endParaRPr>
          </a:p>
        </p:txBody>
      </p:sp>
      <p:sp>
        <p:nvSpPr>
          <p:cNvPr id="5" name="Title 1">
            <a:extLst>
              <a:ext uri="{FF2B5EF4-FFF2-40B4-BE49-F238E27FC236}">
                <a16:creationId xmlns:a16="http://schemas.microsoft.com/office/drawing/2014/main" id="{89DEAD24-3F34-9388-54C9-6D118E1F5D2C}"/>
              </a:ext>
            </a:extLst>
          </p:cNvPr>
          <p:cNvSpPr txBox="1">
            <a:spLocks/>
          </p:cNvSpPr>
          <p:nvPr/>
        </p:nvSpPr>
        <p:spPr>
          <a:xfrm>
            <a:off x="1434979" y="5655821"/>
            <a:ext cx="9291562" cy="503556"/>
          </a:xfrm>
          <a:prstGeom prst="roundRect">
            <a:avLst/>
          </a:prstGeom>
          <a:solidFill>
            <a:srgbClr val="7030A0"/>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800" dirty="0">
                <a:solidFill>
                  <a:schemeClr val="bg1"/>
                </a:solidFill>
              </a:rPr>
              <a:t>Rainfall determined externally; instant payment transfers</a:t>
            </a:r>
            <a:endParaRPr lang="en-PK" sz="2800" b="1" dirty="0">
              <a:solidFill>
                <a:schemeClr val="bg1"/>
              </a:solidFill>
            </a:endParaRPr>
          </a:p>
        </p:txBody>
      </p:sp>
      <p:sp>
        <p:nvSpPr>
          <p:cNvPr id="7" name="Slide Number Placeholder 6">
            <a:extLst>
              <a:ext uri="{FF2B5EF4-FFF2-40B4-BE49-F238E27FC236}">
                <a16:creationId xmlns:a16="http://schemas.microsoft.com/office/drawing/2014/main" id="{042C5C11-1070-7D70-35B2-BD7298BC26B3}"/>
              </a:ext>
            </a:extLst>
          </p:cNvPr>
          <p:cNvSpPr>
            <a:spLocks noGrp="1"/>
          </p:cNvSpPr>
          <p:nvPr>
            <p:ph type="sldNum" sz="quarter" idx="12"/>
          </p:nvPr>
        </p:nvSpPr>
        <p:spPr/>
        <p:txBody>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4244241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5EAD9-3602-B90C-2839-FAC0193D0259}"/>
              </a:ext>
            </a:extLst>
          </p:cNvPr>
          <p:cNvSpPr>
            <a:spLocks noGrp="1"/>
          </p:cNvSpPr>
          <p:nvPr>
            <p:ph type="title"/>
          </p:nvPr>
        </p:nvSpPr>
        <p:spPr/>
        <p:txBody>
          <a:bodyPr/>
          <a:lstStyle/>
          <a:p>
            <a:r>
              <a:rPr lang="en-PK" dirty="0"/>
              <a:t>Smart Contracts: Example</a:t>
            </a:r>
          </a:p>
        </p:txBody>
      </p:sp>
      <p:pic>
        <p:nvPicPr>
          <p:cNvPr id="3" name="Picture 8" descr="Dollar Money Icon Cash Sign Bill Symbol Flat Payment Dollar Currency Icon  Stock Illustration - Download Image Now - iStock">
            <a:extLst>
              <a:ext uri="{FF2B5EF4-FFF2-40B4-BE49-F238E27FC236}">
                <a16:creationId xmlns:a16="http://schemas.microsoft.com/office/drawing/2014/main" id="{005D95D8-4EC4-4162-E5FB-9139CED5E2A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8094" r="9443" b="18094"/>
          <a:stretch/>
        </p:blipFill>
        <p:spPr bwMode="auto">
          <a:xfrm>
            <a:off x="9480368" y="2253884"/>
            <a:ext cx="944891" cy="6658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DAE2F14-7726-D54A-078B-5B03A7DF96C1}"/>
              </a:ext>
            </a:extLst>
          </p:cNvPr>
          <p:cNvSpPr txBox="1"/>
          <p:nvPr/>
        </p:nvSpPr>
        <p:spPr>
          <a:xfrm rot="1652087">
            <a:off x="8868640" y="4095131"/>
            <a:ext cx="1462144" cy="400110"/>
          </a:xfrm>
          <a:prstGeom prst="rect">
            <a:avLst/>
          </a:prstGeom>
          <a:solidFill>
            <a:schemeClr val="bg1"/>
          </a:solid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rPr>
              <a:t>end of term</a:t>
            </a:r>
          </a:p>
        </p:txBody>
      </p:sp>
      <p:sp>
        <p:nvSpPr>
          <p:cNvPr id="5" name="TextBox 4">
            <a:extLst>
              <a:ext uri="{FF2B5EF4-FFF2-40B4-BE49-F238E27FC236}">
                <a16:creationId xmlns:a16="http://schemas.microsoft.com/office/drawing/2014/main" id="{F85C6083-50E0-C68F-74A0-24318CE59F05}"/>
              </a:ext>
            </a:extLst>
          </p:cNvPr>
          <p:cNvSpPr txBox="1"/>
          <p:nvPr/>
        </p:nvSpPr>
        <p:spPr>
          <a:xfrm>
            <a:off x="6237275" y="3569595"/>
            <a:ext cx="1652793" cy="707886"/>
          </a:xfrm>
          <a:prstGeom prst="rect">
            <a:avLst/>
          </a:prstGeom>
          <a:solidFill>
            <a:schemeClr val="bg1"/>
          </a:solid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rPr>
              <a:t>smart contract</a:t>
            </a:r>
          </a:p>
        </p:txBody>
      </p:sp>
      <p:pic>
        <p:nvPicPr>
          <p:cNvPr id="6" name="Picture 22" descr="Simple business flat vector of cash money icon design template Vector and  PNG | Money icons, Money cash, Logo design free templates">
            <a:extLst>
              <a:ext uri="{FF2B5EF4-FFF2-40B4-BE49-F238E27FC236}">
                <a16:creationId xmlns:a16="http://schemas.microsoft.com/office/drawing/2014/main" id="{E87F9A1F-0BF8-D6E5-7888-1DECF44DA1E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312" b="27484"/>
          <a:stretch/>
        </p:blipFill>
        <p:spPr bwMode="auto">
          <a:xfrm>
            <a:off x="5480377" y="2866749"/>
            <a:ext cx="1326668" cy="58643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lip Art Library">
            <a:extLst>
              <a:ext uri="{FF2B5EF4-FFF2-40B4-BE49-F238E27FC236}">
                <a16:creationId xmlns:a16="http://schemas.microsoft.com/office/drawing/2014/main" id="{8041C591-2F36-22B1-622B-62A4D59A74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9316" y="1081821"/>
            <a:ext cx="1626425" cy="131415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Smart contracts - Free interface icons">
            <a:extLst>
              <a:ext uri="{FF2B5EF4-FFF2-40B4-BE49-F238E27FC236}">
                <a16:creationId xmlns:a16="http://schemas.microsoft.com/office/drawing/2014/main" id="{D83D5B5C-99CA-3F41-3944-621450BF166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10105" y="2597008"/>
            <a:ext cx="1061334" cy="1061334"/>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E81EF659-8300-A9D5-A89F-CCD89FFA7F67}"/>
              </a:ext>
            </a:extLst>
          </p:cNvPr>
          <p:cNvCxnSpPr>
            <a:cxnSpLocks/>
          </p:cNvCxnSpPr>
          <p:nvPr/>
        </p:nvCxnSpPr>
        <p:spPr>
          <a:xfrm>
            <a:off x="7240771" y="3928083"/>
            <a:ext cx="16335" cy="910810"/>
          </a:xfrm>
          <a:prstGeom prst="straightConnector1">
            <a:avLst/>
          </a:prstGeom>
          <a:ln>
            <a:tailEnd type="stealth" w="lg" len="lg"/>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BCED0B07-FF49-85B6-16AA-574874CF8F2F}"/>
              </a:ext>
            </a:extLst>
          </p:cNvPr>
          <p:cNvCxnSpPr>
            <a:cxnSpLocks/>
          </p:cNvCxnSpPr>
          <p:nvPr/>
        </p:nvCxnSpPr>
        <p:spPr>
          <a:xfrm flipH="1">
            <a:off x="4465248" y="5418892"/>
            <a:ext cx="2111399" cy="1"/>
          </a:xfrm>
          <a:prstGeom prst="straightConnector1">
            <a:avLst/>
          </a:prstGeom>
          <a:ln>
            <a:headEnd w="lg" len="lg"/>
            <a:tailEnd type="stealth" w="lg" len="lg"/>
          </a:ln>
        </p:spPr>
        <p:style>
          <a:lnRef idx="1">
            <a:schemeClr val="dk1"/>
          </a:lnRef>
          <a:fillRef idx="0">
            <a:schemeClr val="dk1"/>
          </a:fillRef>
          <a:effectRef idx="0">
            <a:schemeClr val="dk1"/>
          </a:effectRef>
          <a:fontRef idx="minor">
            <a:schemeClr val="tx1"/>
          </a:fontRef>
        </p:style>
      </p:cxnSp>
      <p:cxnSp>
        <p:nvCxnSpPr>
          <p:cNvPr id="11" name="Connector: Elbow 61">
            <a:extLst>
              <a:ext uri="{FF2B5EF4-FFF2-40B4-BE49-F238E27FC236}">
                <a16:creationId xmlns:a16="http://schemas.microsoft.com/office/drawing/2014/main" id="{AF9E2F86-0AD0-4244-4782-25B121490DA7}"/>
              </a:ext>
            </a:extLst>
          </p:cNvPr>
          <p:cNvCxnSpPr>
            <a:cxnSpLocks/>
          </p:cNvCxnSpPr>
          <p:nvPr/>
        </p:nvCxnSpPr>
        <p:spPr>
          <a:xfrm flipV="1">
            <a:off x="7938421" y="2697163"/>
            <a:ext cx="3291840" cy="777240"/>
          </a:xfrm>
          <a:prstGeom prst="bentConnector3">
            <a:avLst>
              <a:gd name="adj1" fmla="val 99974"/>
            </a:avLst>
          </a:prstGeom>
          <a:ln>
            <a:tailEnd type="stealth" w="lg" len="lg"/>
          </a:ln>
        </p:spPr>
        <p:style>
          <a:lnRef idx="1">
            <a:schemeClr val="dk1"/>
          </a:lnRef>
          <a:fillRef idx="0">
            <a:schemeClr val="dk1"/>
          </a:fillRef>
          <a:effectRef idx="0">
            <a:schemeClr val="dk1"/>
          </a:effectRef>
          <a:fontRef idx="minor">
            <a:schemeClr val="tx1"/>
          </a:fontRef>
        </p:style>
      </p:cxnSp>
      <p:pic>
        <p:nvPicPr>
          <p:cNvPr id="12" name="Picture 4" descr="Library of investors black and white stock png files ▻▻▻ Clipart Art 2019">
            <a:extLst>
              <a:ext uri="{FF2B5EF4-FFF2-40B4-BE49-F238E27FC236}">
                <a16:creationId xmlns:a16="http://schemas.microsoft.com/office/drawing/2014/main" id="{448EC4F5-42FD-A617-1DED-8F3A52D591E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496" t="22760" r="24132" b="23963"/>
          <a:stretch/>
        </p:blipFill>
        <p:spPr bwMode="auto">
          <a:xfrm>
            <a:off x="3689328" y="1327648"/>
            <a:ext cx="1353993" cy="124393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B3C5C51-0F0F-6759-70A0-EFBB77568EA8}"/>
              </a:ext>
            </a:extLst>
          </p:cNvPr>
          <p:cNvSpPr txBox="1"/>
          <p:nvPr/>
        </p:nvSpPr>
        <p:spPr>
          <a:xfrm>
            <a:off x="10776300" y="2327246"/>
            <a:ext cx="1060269" cy="400110"/>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rPr>
              <a:t>Farmer</a:t>
            </a:r>
          </a:p>
        </p:txBody>
      </p:sp>
      <p:sp>
        <p:nvSpPr>
          <p:cNvPr id="14" name="TextBox 13">
            <a:extLst>
              <a:ext uri="{FF2B5EF4-FFF2-40B4-BE49-F238E27FC236}">
                <a16:creationId xmlns:a16="http://schemas.microsoft.com/office/drawing/2014/main" id="{E743EA09-F438-0115-E871-6EE19EA3A681}"/>
              </a:ext>
            </a:extLst>
          </p:cNvPr>
          <p:cNvSpPr txBox="1"/>
          <p:nvPr/>
        </p:nvSpPr>
        <p:spPr>
          <a:xfrm>
            <a:off x="3876663" y="2494029"/>
            <a:ext cx="1151990" cy="400110"/>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rPr>
              <a:t>Investor</a:t>
            </a:r>
          </a:p>
        </p:txBody>
      </p:sp>
      <p:sp>
        <p:nvSpPr>
          <p:cNvPr id="15" name="TextBox 14">
            <a:extLst>
              <a:ext uri="{FF2B5EF4-FFF2-40B4-BE49-F238E27FC236}">
                <a16:creationId xmlns:a16="http://schemas.microsoft.com/office/drawing/2014/main" id="{65DD751D-534D-698F-372C-4A7BDC76C57C}"/>
              </a:ext>
            </a:extLst>
          </p:cNvPr>
          <p:cNvSpPr txBox="1"/>
          <p:nvPr/>
        </p:nvSpPr>
        <p:spPr>
          <a:xfrm>
            <a:off x="2690446" y="5751418"/>
            <a:ext cx="3425283" cy="707886"/>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rPr>
              <a:t>rainfall levels below 75% of the 30-year historical average</a:t>
            </a:r>
          </a:p>
        </p:txBody>
      </p:sp>
      <p:pic>
        <p:nvPicPr>
          <p:cNvPr id="16" name="Picture 14" descr="No Rain Icon">
            <a:extLst>
              <a:ext uri="{FF2B5EF4-FFF2-40B4-BE49-F238E27FC236}">
                <a16:creationId xmlns:a16="http://schemas.microsoft.com/office/drawing/2014/main" id="{98F9D84D-C991-5A31-455E-D1770EABFCB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03058" y="4993350"/>
            <a:ext cx="751153" cy="751153"/>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13F27CFF-AC50-3073-7DA0-977C690608EA}"/>
              </a:ext>
            </a:extLst>
          </p:cNvPr>
          <p:cNvSpPr txBox="1"/>
          <p:nvPr/>
        </p:nvSpPr>
        <p:spPr>
          <a:xfrm>
            <a:off x="9847742" y="6059194"/>
            <a:ext cx="1539204" cy="369332"/>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ndara" panose="020E0502030303020204" pitchFamily="34" charset="0"/>
              </a:rPr>
              <a:t>low crop yield</a:t>
            </a:r>
          </a:p>
        </p:txBody>
      </p:sp>
      <p:cxnSp>
        <p:nvCxnSpPr>
          <p:cNvPr id="18" name="Straight Arrow Connector 17">
            <a:extLst>
              <a:ext uri="{FF2B5EF4-FFF2-40B4-BE49-F238E27FC236}">
                <a16:creationId xmlns:a16="http://schemas.microsoft.com/office/drawing/2014/main" id="{12367588-6BB0-CF12-A2B9-2249B3156E30}"/>
              </a:ext>
            </a:extLst>
          </p:cNvPr>
          <p:cNvCxnSpPr>
            <a:cxnSpLocks/>
          </p:cNvCxnSpPr>
          <p:nvPr/>
        </p:nvCxnSpPr>
        <p:spPr>
          <a:xfrm>
            <a:off x="7854929" y="3587404"/>
            <a:ext cx="2570330" cy="1340577"/>
          </a:xfrm>
          <a:prstGeom prst="straightConnector1">
            <a:avLst/>
          </a:prstGeom>
          <a:ln>
            <a:tailEnd type="stealth" w="lg" len="lg"/>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DFCD9622-339C-9684-EAC6-076898C82711}"/>
              </a:ext>
            </a:extLst>
          </p:cNvPr>
          <p:cNvSpPr txBox="1"/>
          <p:nvPr/>
        </p:nvSpPr>
        <p:spPr>
          <a:xfrm>
            <a:off x="8540039" y="3437097"/>
            <a:ext cx="2052202" cy="400110"/>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02124"/>
                </a:solidFill>
                <a:effectLst/>
                <a:uLnTx/>
                <a:uFillTx/>
                <a:latin typeface="Candara" panose="020E0502030303020204" pitchFamily="34" charset="0"/>
              </a:rPr>
              <a:t>receives payout</a:t>
            </a:r>
            <a:endParaRPr kumimoji="0" lang="en-US" sz="2000" b="0" i="0" u="none" strike="noStrike" kern="1200" cap="none" spc="0" normalizeH="0" baseline="0" noProof="0" dirty="0">
              <a:ln>
                <a:noFill/>
              </a:ln>
              <a:solidFill>
                <a:prstClr val="black"/>
              </a:solidFill>
              <a:effectLst/>
              <a:uLnTx/>
              <a:uFillTx/>
              <a:latin typeface="Candara" panose="020E0502030303020204" pitchFamily="34" charset="0"/>
            </a:endParaRPr>
          </a:p>
        </p:txBody>
      </p:sp>
      <p:sp>
        <p:nvSpPr>
          <p:cNvPr id="20" name="TextBox 19">
            <a:extLst>
              <a:ext uri="{FF2B5EF4-FFF2-40B4-BE49-F238E27FC236}">
                <a16:creationId xmlns:a16="http://schemas.microsoft.com/office/drawing/2014/main" id="{AA3B6B0C-4FD9-9797-BFBC-D1114E080A51}"/>
              </a:ext>
            </a:extLst>
          </p:cNvPr>
          <p:cNvSpPr txBox="1"/>
          <p:nvPr/>
        </p:nvSpPr>
        <p:spPr>
          <a:xfrm>
            <a:off x="6557433" y="6005120"/>
            <a:ext cx="1614469" cy="400110"/>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ndara" panose="020E0502030303020204" pitchFamily="34" charset="0"/>
              </a:rPr>
              <a:t>weather API</a:t>
            </a:r>
          </a:p>
        </p:txBody>
      </p:sp>
      <p:pic>
        <p:nvPicPr>
          <p:cNvPr id="21" name="Picture 8" descr="Texas: Disaster Relief for Crop Losses Due to 2018, 19 Droughts – AgFax">
            <a:extLst>
              <a:ext uri="{FF2B5EF4-FFF2-40B4-BE49-F238E27FC236}">
                <a16:creationId xmlns:a16="http://schemas.microsoft.com/office/drawing/2014/main" id="{0C0FAEEF-A96C-44ED-8490-05543A3DC11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797453" y="4987846"/>
            <a:ext cx="1614469" cy="110169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4" descr="National Weather Service - Wikipedia">
            <a:extLst>
              <a:ext uri="{FF2B5EF4-FFF2-40B4-BE49-F238E27FC236}">
                <a16:creationId xmlns:a16="http://schemas.microsoft.com/office/drawing/2014/main" id="{BFE124B0-7700-0CB1-CF55-52055CC6F2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71677" y="4964431"/>
            <a:ext cx="1099762" cy="109976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8102F28-62F7-44B3-2EEC-30BE0330D815}"/>
              </a:ext>
            </a:extLst>
          </p:cNvPr>
          <p:cNvSpPr txBox="1"/>
          <p:nvPr/>
        </p:nvSpPr>
        <p:spPr>
          <a:xfrm>
            <a:off x="4537239" y="3393824"/>
            <a:ext cx="1809835" cy="707886"/>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02124"/>
                </a:solidFill>
                <a:effectLst/>
                <a:uLnTx/>
                <a:uFillTx/>
                <a:latin typeface="Candara" panose="020E0502030303020204" pitchFamily="34" charset="0"/>
              </a:rPr>
              <a:t>Payout</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02124"/>
                </a:solidFill>
                <a:effectLst/>
                <a:uLnTx/>
                <a:uFillTx/>
                <a:latin typeface="Candara" panose="020E0502030303020204" pitchFamily="34" charset="0"/>
              </a:rPr>
              <a:t>deposit</a:t>
            </a:r>
            <a:endParaRPr kumimoji="0" lang="en-US" sz="2000" b="1" i="0" u="none" strike="noStrike" kern="1200" cap="none" spc="0" normalizeH="0" baseline="0" noProof="0" dirty="0">
              <a:ln>
                <a:noFill/>
              </a:ln>
              <a:solidFill>
                <a:prstClr val="black"/>
              </a:solidFill>
              <a:effectLst/>
              <a:uLnTx/>
              <a:uFillTx/>
              <a:latin typeface="Candara" panose="020E0502030303020204" pitchFamily="34" charset="0"/>
            </a:endParaRPr>
          </a:p>
        </p:txBody>
      </p:sp>
      <p:sp>
        <p:nvSpPr>
          <p:cNvPr id="24" name="TextBox 23">
            <a:extLst>
              <a:ext uri="{FF2B5EF4-FFF2-40B4-BE49-F238E27FC236}">
                <a16:creationId xmlns:a16="http://schemas.microsoft.com/office/drawing/2014/main" id="{92A143CB-533B-988C-E9A9-CEA26AA51EE6}"/>
              </a:ext>
            </a:extLst>
          </p:cNvPr>
          <p:cNvSpPr txBox="1"/>
          <p:nvPr/>
        </p:nvSpPr>
        <p:spPr>
          <a:xfrm>
            <a:off x="7332559" y="2435643"/>
            <a:ext cx="1809835" cy="400110"/>
          </a:xfrm>
          <a:prstGeom prst="rect">
            <a:avLst/>
          </a:prstGeom>
          <a:noFill/>
        </p:spPr>
        <p:txBody>
          <a:bodyPr wrap="squar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02124"/>
                </a:solidFill>
                <a:effectLst/>
                <a:uLnTx/>
                <a:uFillTx/>
                <a:latin typeface="Candara" panose="020E0502030303020204" pitchFamily="34" charset="0"/>
              </a:rPr>
              <a:t>premium</a:t>
            </a:r>
            <a:endParaRPr kumimoji="0" lang="en-US" sz="2000" b="1" i="0" u="none" strike="noStrike" kern="1200" cap="none" spc="0" normalizeH="0" baseline="0" noProof="0" dirty="0">
              <a:ln>
                <a:noFill/>
              </a:ln>
              <a:solidFill>
                <a:prstClr val="black"/>
              </a:solidFill>
              <a:effectLst/>
              <a:uLnTx/>
              <a:uFillTx/>
              <a:latin typeface="Candara" panose="020E0502030303020204" pitchFamily="34" charset="0"/>
            </a:endParaRPr>
          </a:p>
        </p:txBody>
      </p:sp>
      <p:sp>
        <p:nvSpPr>
          <p:cNvPr id="27" name="Title 1">
            <a:extLst>
              <a:ext uri="{FF2B5EF4-FFF2-40B4-BE49-F238E27FC236}">
                <a16:creationId xmlns:a16="http://schemas.microsoft.com/office/drawing/2014/main" id="{11606D25-850A-D05B-A96A-CFB55DCB63A2}"/>
              </a:ext>
            </a:extLst>
          </p:cNvPr>
          <p:cNvSpPr txBox="1">
            <a:spLocks/>
          </p:cNvSpPr>
          <p:nvPr/>
        </p:nvSpPr>
        <p:spPr>
          <a:xfrm>
            <a:off x="327781" y="2778701"/>
            <a:ext cx="2404263" cy="2002250"/>
          </a:xfrm>
          <a:prstGeom prst="roundRect">
            <a:avLst/>
          </a:prstGeom>
          <a:solidFill>
            <a:schemeClr val="bg1">
              <a:lumMod val="85000"/>
            </a:schemeClr>
          </a:solidFill>
          <a:ln>
            <a:noFill/>
          </a:ln>
        </p:spPr>
        <p:txBody>
          <a:bodyPr vert="horz" wrap="square" lIns="91440" tIns="45720" rIns="91440" bIns="45720" rtlCol="0" anchor="ctr">
            <a:sp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000" dirty="0">
                <a:solidFill>
                  <a:srgbClr val="7030A0"/>
                </a:solidFill>
              </a:rPr>
              <a:t>Real-world data to smart contracts</a:t>
            </a:r>
          </a:p>
          <a:p>
            <a:endParaRPr lang="en-US" sz="2000" dirty="0">
              <a:solidFill>
                <a:srgbClr val="7030A0"/>
              </a:solidFill>
            </a:endParaRPr>
          </a:p>
          <a:p>
            <a:r>
              <a:rPr lang="en-US" sz="2400" b="1" dirty="0" err="1">
                <a:solidFill>
                  <a:srgbClr val="7030A0"/>
                </a:solidFill>
              </a:rPr>
              <a:t>Chainlink</a:t>
            </a:r>
            <a:endParaRPr lang="en-US" sz="2000" b="1" dirty="0">
              <a:solidFill>
                <a:srgbClr val="7030A0"/>
              </a:solidFill>
            </a:endParaRPr>
          </a:p>
          <a:p>
            <a:r>
              <a:rPr lang="en-US" sz="2000" dirty="0">
                <a:solidFill>
                  <a:srgbClr val="7030A0"/>
                </a:solidFill>
              </a:rPr>
              <a:t>decentralized oracle network</a:t>
            </a:r>
          </a:p>
        </p:txBody>
      </p:sp>
      <p:sp>
        <p:nvSpPr>
          <p:cNvPr id="26" name="Slide Number Placeholder 25">
            <a:extLst>
              <a:ext uri="{FF2B5EF4-FFF2-40B4-BE49-F238E27FC236}">
                <a16:creationId xmlns:a16="http://schemas.microsoft.com/office/drawing/2014/main" id="{2089F245-A13C-CBC4-EB74-2670ABAE05AF}"/>
              </a:ext>
            </a:extLst>
          </p:cNvPr>
          <p:cNvSpPr>
            <a:spLocks noGrp="1"/>
          </p:cNvSpPr>
          <p:nvPr>
            <p:ph type="sldNum" sz="quarter" idx="12"/>
          </p:nvPr>
        </p:nvSpPr>
        <p:spPr/>
        <p:txBody>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43946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0" presetClass="path" presetSubtype="0" accel="50000" decel="50000" fill="hold" nodeType="withEffect">
                                  <p:stCondLst>
                                    <p:cond delay="0"/>
                                  </p:stCondLst>
                                  <p:childTnLst>
                                    <p:animMotion origin="layout" path="M -0.03386 -0.11366 L -0.03386 -0.11343 C -0.03334 -0.11158 -0.03269 -0.10857 -0.03138 -0.10463 C -0.03073 -0.10347 -0.02982 -0.10093 -0.02904 -0.09861 C -0.02709 -0.09097 -0.02878 -0.09769 -0.02565 -0.08704 C -0.02487 -0.08565 -0.02409 -0.08403 -0.02357 -0.08241 C -0.0224 -0.07824 -0.02357 -0.07894 -0.02175 -0.07454 C -0.02123 -0.07269 -0.02019 -0.07153 -0.0194 -0.07014 C -0.01823 -0.0581 -0.01993 -0.07014 -0.01719 -0.06134 C -0.01628 -0.05972 -0.01628 -0.05787 -0.01576 -0.05625 C -0.01511 -0.05347 -0.01394 -0.05185 -0.01342 -0.04954 C -0.01263 -0.04653 -0.0125 -0.04329 -0.01133 -0.04051 C -0.00795 -0.02639 -0.00886 -0.03472 -0.0056 -0.01875 C -0.00482 -0.01644 -0.00456 -0.0125 -0.0043 -0.01019 C -0.00378 -0.00718 -0.00352 -0.00486 -0.00313 -0.00255 C -0.00261 -0.00023 -0.00222 0.00185 -0.00196 0.00463 C -0.00144 0.00625 3.75E-6 0.00995 3.75E-6 0.01157 " pathEditMode="relative" rAng="0" ptsTypes="AAAAAAAAAAAAAAAAA">
                                      <p:cBhvr>
                                        <p:cTn id="24" dur="2000" fill="hold"/>
                                        <p:tgtEl>
                                          <p:spTgt spid="6"/>
                                        </p:tgtEl>
                                        <p:attrNameLst>
                                          <p:attrName>ppt_x</p:attrName>
                                          <p:attrName>ppt_y</p:attrName>
                                        </p:attrNameLst>
                                      </p:cBhvr>
                                      <p:rCtr x="1693" y="6250"/>
                                    </p:animMotion>
                                  </p:childTnLst>
                                </p:cTn>
                              </p:par>
                              <p:par>
                                <p:cTn id="25" presetID="0" presetClass="path" presetSubtype="0" accel="50000" decel="50000" fill="hold" nodeType="withEffect">
                                  <p:stCondLst>
                                    <p:cond delay="0"/>
                                  </p:stCondLst>
                                  <p:childTnLst>
                                    <p:animMotion origin="layout" path="M 3.95833E-6 -3.33333E-6 L 3.95833E-6 0.00023 C -0.00625 0.0007 -0.01133 0.00209 -0.01654 0.00371 C -0.03581 0.00996 -0.0168 0.01042 -0.05039 0.01505 C -0.0543 0.01528 -0.06342 0.01621 -0.06771 0.0176 C -0.08321 0.02269 -0.06407 0.01898 -0.08334 0.02199 C -0.09154 0.02477 -0.08282 0.02153 -0.09271 0.02593 C -0.0948 0.02686 -0.09701 0.02801 -0.09896 0.02917 C -0.10144 0.0301 -0.10326 0.03195 -0.10573 0.03334 C -0.10821 0.03449 -0.11107 0.03496 -0.11368 0.03588 C -0.1155 0.03658 -0.1168 0.03797 -0.11875 0.03889 C -0.12227 0.03982 -0.12618 0.04028 -0.1293 0.04167 C -0.13269 0.04306 -0.13659 0.04422 -0.13972 0.04607 C -0.14271 0.04746 -0.14545 0.05023 -0.14792 0.05324 C -0.1517 0.05834 -0.14948 0.05973 -0.15821 0.06297 C -0.15938 0.06343 -0.16081 0.06366 -0.16198 0.06459 C -0.16967 0.06644 -0.16719 0.06482 -0.17357 0.06713 C -0.17657 0.06806 -0.17904 0.06945 -0.18177 0.07014 C -0.18438 0.07037 -0.19467 0.07246 -0.19623 0.07431 L -0.19792 0.07778 " pathEditMode="relative" rAng="0" ptsTypes="AAAAAAAAAAAAAAAAAAAA">
                                      <p:cBhvr>
                                        <p:cTn id="26" dur="2000" fill="hold"/>
                                        <p:tgtEl>
                                          <p:spTgt spid="3"/>
                                        </p:tgtEl>
                                        <p:attrNameLst>
                                          <p:attrName>ppt_x</p:attrName>
                                          <p:attrName>ppt_y</p:attrName>
                                        </p:attrNameLst>
                                      </p:cBhvr>
                                      <p:rCtr x="-9896" y="3889"/>
                                    </p:animMotion>
                                  </p:childTnLst>
                                </p:cTn>
                              </p:par>
                            </p:childTnLst>
                          </p:cTn>
                        </p:par>
                        <p:par>
                          <p:cTn id="27" fill="hold">
                            <p:stCondLst>
                              <p:cond delay="2000"/>
                            </p:stCondLst>
                            <p:childTnLst>
                              <p:par>
                                <p:cTn id="28" presetID="1" presetClass="entr" presetSubtype="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childTnLst>
                          </p:cTn>
                        </p:par>
                        <p:par>
                          <p:cTn id="30" fill="hold">
                            <p:stCondLst>
                              <p:cond delay="2000"/>
                            </p:stCondLst>
                            <p:childTnLst>
                              <p:par>
                                <p:cTn id="31" presetID="1" presetClass="entr" presetSubtype="0" fill="hold" grpId="1" nodeType="after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0" presetClass="path" presetSubtype="0" accel="50000" decel="50000" fill="hold" nodeType="withEffect">
                                  <p:stCondLst>
                                    <p:cond delay="0"/>
                                  </p:stCondLst>
                                  <p:childTnLst>
                                    <p:animMotion origin="layout" path="M 3.75E-6 0.01157 L 3.75E-6 0.0118 C 0.03437 0.0162 0.0608 0.01204 0.07825 0.01157 C 0.09583 0.01134 0.09231 0.01111 0.1052 0.00972 C 0.11653 0.00856 0.14062 0.00324 0.15481 0.00231 C 0.16679 0.00208 0.16966 0.00023 0.18815 -0.00139 C 0.20377 -0.00463 0.24492 -0.00533 0.26549 -0.00834 C 0.28541 -0.01134 0.29466 -0.01551 0.30885 -0.01991 C 0.32304 -0.02408 0.32552 -0.02847 0.35117 -0.03403 C 0.3526 -0.03264 0.45976 -0.06459 0.46237 -0.06296 " pathEditMode="relative" rAng="0" ptsTypes="AAAAAAAAAA">
                                      <p:cBhvr>
                                        <p:cTn id="62" dur="2000" fill="hold"/>
                                        <p:tgtEl>
                                          <p:spTgt spid="6"/>
                                        </p:tgtEl>
                                        <p:attrNameLst>
                                          <p:attrName>ppt_x</p:attrName>
                                          <p:attrName>ppt_y</p:attrName>
                                        </p:attrNameLst>
                                      </p:cBhvr>
                                      <p:rCtr x="23112" y="-3634"/>
                                    </p:animMotion>
                                  </p:childTnLst>
                                </p:cTn>
                              </p:par>
                              <p:par>
                                <p:cTn id="63" presetID="1" presetClass="exit"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24"/>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3"/>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3" grpId="0"/>
      <p:bldP spid="14" grpId="0"/>
      <p:bldP spid="15" grpId="0"/>
      <p:bldP spid="17" grpId="0"/>
      <p:bldP spid="19" grpId="0"/>
      <p:bldP spid="20" grpId="0"/>
      <p:bldP spid="23" grpId="0"/>
      <p:bldP spid="23" grpId="1"/>
      <p:bldP spid="24" grpId="0"/>
      <p:bldP spid="24" grpId="1"/>
      <p:bldP spid="2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A0F06-4304-FAB8-9EA3-66863DB20CBC}"/>
              </a:ext>
            </a:extLst>
          </p:cNvPr>
          <p:cNvSpPr>
            <a:spLocks noGrp="1"/>
          </p:cNvSpPr>
          <p:nvPr>
            <p:ph type="title"/>
          </p:nvPr>
        </p:nvSpPr>
        <p:spPr/>
        <p:txBody>
          <a:bodyPr/>
          <a:lstStyle/>
          <a:p>
            <a:r>
              <a:rPr lang="en-PK" dirty="0"/>
              <a:t>[Digit</a:t>
            </a:r>
            <a:r>
              <a:rPr lang="en-GB" dirty="0"/>
              <a:t>a</a:t>
            </a:r>
            <a:r>
              <a:rPr lang="en-PK" dirty="0"/>
              <a:t>l] Assets Across Multiple Systems</a:t>
            </a:r>
          </a:p>
        </p:txBody>
      </p:sp>
      <p:sp>
        <p:nvSpPr>
          <p:cNvPr id="3" name="Content Placeholder 2">
            <a:extLst>
              <a:ext uri="{FF2B5EF4-FFF2-40B4-BE49-F238E27FC236}">
                <a16:creationId xmlns:a16="http://schemas.microsoft.com/office/drawing/2014/main" id="{F9C2A9AA-EEB8-624B-379E-D8C17D2C4317}"/>
              </a:ext>
            </a:extLst>
          </p:cNvPr>
          <p:cNvSpPr>
            <a:spLocks noGrp="1"/>
          </p:cNvSpPr>
          <p:nvPr>
            <p:ph idx="1"/>
          </p:nvPr>
        </p:nvSpPr>
        <p:spPr/>
        <p:txBody>
          <a:bodyPr>
            <a:normAutofit/>
          </a:bodyPr>
          <a:lstStyle/>
          <a:p>
            <a:r>
              <a:rPr lang="en-PK" b="1" dirty="0"/>
              <a:t>Trend: </a:t>
            </a:r>
            <a:r>
              <a:rPr lang="en-PK" dirty="0"/>
              <a:t>Representing assets of value in different systems</a:t>
            </a:r>
          </a:p>
          <a:p>
            <a:r>
              <a:rPr lang="en-PK" dirty="0"/>
              <a:t>Why needed?</a:t>
            </a:r>
          </a:p>
          <a:p>
            <a:pPr lvl="1"/>
            <a:r>
              <a:rPr lang="en-PK" dirty="0">
                <a:solidFill>
                  <a:srgbClr val="308D3E"/>
                </a:solidFill>
              </a:rPr>
              <a:t>Some things can be done better in the new system</a:t>
            </a:r>
          </a:p>
          <a:p>
            <a:pPr lvl="1"/>
            <a:endParaRPr lang="en-PK" dirty="0"/>
          </a:p>
          <a:p>
            <a:r>
              <a:rPr lang="en-PK" dirty="0"/>
              <a:t>Examples</a:t>
            </a:r>
          </a:p>
          <a:p>
            <a:pPr lvl="1"/>
            <a:r>
              <a:rPr lang="en-PK" dirty="0">
                <a:solidFill>
                  <a:srgbClr val="C00000"/>
                </a:solidFill>
              </a:rPr>
              <a:t>Why wBTC for BTC?</a:t>
            </a:r>
          </a:p>
          <a:p>
            <a:pPr lvl="1"/>
            <a:r>
              <a:rPr lang="en-PK" dirty="0">
                <a:solidFill>
                  <a:srgbClr val="0432FF"/>
                </a:solidFill>
              </a:rPr>
              <a:t>Why create USDC pegged to USD?</a:t>
            </a:r>
          </a:p>
          <a:p>
            <a:pPr lvl="1"/>
            <a:r>
              <a:rPr lang="en-PK" dirty="0">
                <a:solidFill>
                  <a:srgbClr val="308D3E"/>
                </a:solidFill>
              </a:rPr>
              <a:t>Why tokenize the stock of Apple?</a:t>
            </a:r>
          </a:p>
          <a:p>
            <a:pPr lvl="1"/>
            <a:r>
              <a:rPr lang="en-PK" dirty="0">
                <a:solidFill>
                  <a:srgbClr val="7030A0"/>
                </a:solidFill>
              </a:rPr>
              <a:t>Why tokenize </a:t>
            </a:r>
            <a:r>
              <a:rPr lang="en-GB" dirty="0">
                <a:solidFill>
                  <a:srgbClr val="7030A0"/>
                </a:solidFill>
              </a:rPr>
              <a:t>the </a:t>
            </a:r>
            <a:r>
              <a:rPr lang="en-PK" dirty="0">
                <a:solidFill>
                  <a:srgbClr val="7030A0"/>
                </a:solidFill>
              </a:rPr>
              <a:t>Roosevelt Hotel?</a:t>
            </a:r>
          </a:p>
          <a:p>
            <a:pPr lvl="1"/>
            <a:r>
              <a:rPr lang="en-PK" dirty="0"/>
              <a:t>Why tokenize gold?</a:t>
            </a:r>
          </a:p>
        </p:txBody>
      </p:sp>
      <p:sp>
        <p:nvSpPr>
          <p:cNvPr id="5" name="Slide Number Placeholder 4">
            <a:extLst>
              <a:ext uri="{FF2B5EF4-FFF2-40B4-BE49-F238E27FC236}">
                <a16:creationId xmlns:a16="http://schemas.microsoft.com/office/drawing/2014/main" id="{9CE2A5ED-EBC6-5CAB-C036-3C142F4FD2D2}"/>
              </a:ext>
            </a:extLst>
          </p:cNvPr>
          <p:cNvSpPr>
            <a:spLocks noGrp="1"/>
          </p:cNvSpPr>
          <p:nvPr>
            <p:ph type="sldNum" sz="quarter" idx="12"/>
          </p:nvPr>
        </p:nvSpPr>
        <p:spPr/>
        <p:txBody>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14691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6576-CF30-6A82-D5CB-850696BA4BAF}"/>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635D04C-63A0-985D-9D32-8592C4D51074}"/>
              </a:ext>
            </a:extLst>
          </p:cNvPr>
          <p:cNvSpPr txBox="1">
            <a:spLocks/>
          </p:cNvSpPr>
          <p:nvPr/>
        </p:nvSpPr>
        <p:spPr>
          <a:xfrm>
            <a:off x="494606" y="1104206"/>
            <a:ext cx="11186160" cy="50796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32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System Font Regular"/>
              <a:buChar char="−"/>
              <a:defRPr sz="28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24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sz="1400" dirty="0">
              <a:solidFill>
                <a:schemeClr val="bg1"/>
              </a:solidFill>
            </a:endParaRPr>
          </a:p>
          <a:p>
            <a:pPr lvl="1"/>
            <a:r>
              <a:rPr lang="en-PK" dirty="0">
                <a:solidFill>
                  <a:srgbClr val="C00000"/>
                </a:solidFill>
              </a:rPr>
              <a:t>Why </a:t>
            </a:r>
            <a:r>
              <a:rPr lang="en-PK" dirty="0" err="1">
                <a:solidFill>
                  <a:srgbClr val="C00000"/>
                </a:solidFill>
              </a:rPr>
              <a:t>wBTC</a:t>
            </a:r>
            <a:r>
              <a:rPr lang="en-PK" dirty="0">
                <a:solidFill>
                  <a:srgbClr val="C00000"/>
                </a:solidFill>
              </a:rPr>
              <a:t> for BTC?</a:t>
            </a:r>
            <a:endParaRPr lang="en-PK" i="1" u="sng" dirty="0">
              <a:solidFill>
                <a:srgbClr val="C00000"/>
              </a:solidFill>
            </a:endParaRPr>
          </a:p>
          <a:p>
            <a:pPr lvl="1"/>
            <a:r>
              <a:rPr lang="en-PK" dirty="0">
                <a:solidFill>
                  <a:srgbClr val="0432FF"/>
                </a:solidFill>
              </a:rPr>
              <a:t>Why create USDC pegged to USD?</a:t>
            </a:r>
            <a:endParaRPr lang="en-PK" i="1" u="sng" dirty="0">
              <a:solidFill>
                <a:srgbClr val="0432FF"/>
              </a:solidFill>
            </a:endParaRPr>
          </a:p>
          <a:p>
            <a:pPr lvl="1"/>
            <a:r>
              <a:rPr lang="en-PK" dirty="0">
                <a:solidFill>
                  <a:srgbClr val="308D3E"/>
                </a:solidFill>
              </a:rPr>
              <a:t>Why tokenize the stock of Apple?</a:t>
            </a:r>
            <a:endParaRPr lang="en-PK" i="1" u="sng" dirty="0">
              <a:solidFill>
                <a:srgbClr val="308D3E"/>
              </a:solidFill>
            </a:endParaRPr>
          </a:p>
          <a:p>
            <a:pPr lvl="1"/>
            <a:r>
              <a:rPr lang="en-PK" dirty="0">
                <a:solidFill>
                  <a:srgbClr val="7030A0"/>
                </a:solidFill>
              </a:rPr>
              <a:t>Why tokenize </a:t>
            </a:r>
            <a:r>
              <a:rPr lang="en-GB" dirty="0">
                <a:solidFill>
                  <a:srgbClr val="7030A0"/>
                </a:solidFill>
              </a:rPr>
              <a:t>the </a:t>
            </a:r>
            <a:r>
              <a:rPr lang="en-PK" dirty="0">
                <a:solidFill>
                  <a:srgbClr val="7030A0"/>
                </a:solidFill>
              </a:rPr>
              <a:t>Roosevelt Hotel?</a:t>
            </a:r>
            <a:endParaRPr lang="en-PK" i="1" u="sng" dirty="0">
              <a:solidFill>
                <a:srgbClr val="7030A0"/>
              </a:solidFill>
            </a:endParaRPr>
          </a:p>
          <a:p>
            <a:pPr lvl="1"/>
            <a:r>
              <a:rPr lang="en-PK" dirty="0"/>
              <a:t>Why tokenize gold?</a:t>
            </a:r>
            <a:endParaRPr lang="en-PK" i="1" u="sng" dirty="0"/>
          </a:p>
        </p:txBody>
      </p:sp>
      <p:sp>
        <p:nvSpPr>
          <p:cNvPr id="3" name="Content Placeholder 2">
            <a:extLst>
              <a:ext uri="{FF2B5EF4-FFF2-40B4-BE49-F238E27FC236}">
                <a16:creationId xmlns:a16="http://schemas.microsoft.com/office/drawing/2014/main" id="{6A8617FE-BA3A-5E25-7AD3-8067DF243A84}"/>
              </a:ext>
            </a:extLst>
          </p:cNvPr>
          <p:cNvSpPr>
            <a:spLocks noGrp="1"/>
          </p:cNvSpPr>
          <p:nvPr>
            <p:ph idx="1"/>
          </p:nvPr>
        </p:nvSpPr>
        <p:spPr/>
        <p:txBody>
          <a:bodyPr>
            <a:normAutofit/>
          </a:bodyPr>
          <a:lstStyle/>
          <a:p>
            <a:r>
              <a:rPr lang="en-PK" b="1" dirty="0"/>
              <a:t>Trend: </a:t>
            </a:r>
            <a:r>
              <a:rPr lang="en-PK" dirty="0"/>
              <a:t>Representing assets of value in different systems</a:t>
            </a:r>
          </a:p>
          <a:p>
            <a:r>
              <a:rPr lang="en-PK" dirty="0"/>
              <a:t>Why needed?</a:t>
            </a:r>
          </a:p>
          <a:p>
            <a:pPr lvl="1"/>
            <a:r>
              <a:rPr lang="en-PK" dirty="0">
                <a:solidFill>
                  <a:srgbClr val="308D3E"/>
                </a:solidFill>
              </a:rPr>
              <a:t>Some things can be done better in the new system</a:t>
            </a:r>
          </a:p>
          <a:p>
            <a:pPr lvl="1"/>
            <a:endParaRPr lang="en-PK" dirty="0"/>
          </a:p>
          <a:p>
            <a:r>
              <a:rPr lang="en-PK" dirty="0"/>
              <a:t>Examples</a:t>
            </a:r>
          </a:p>
          <a:p>
            <a:pPr marL="457200" lvl="1" indent="0">
              <a:buNone/>
            </a:pPr>
            <a:r>
              <a:rPr lang="en-GB" i="1" dirty="0">
                <a:solidFill>
                  <a:srgbClr val="C00000"/>
                </a:solidFill>
              </a:rPr>
              <a:t>                                             </a:t>
            </a:r>
            <a:r>
              <a:rPr lang="en-GB" i="1" u="sng" dirty="0">
                <a:solidFill>
                  <a:srgbClr val="C00000"/>
                </a:solidFill>
              </a:rPr>
              <a:t>U</a:t>
            </a:r>
            <a:r>
              <a:rPr lang="en-PK" i="1" u="sng" dirty="0" err="1">
                <a:solidFill>
                  <a:srgbClr val="C00000"/>
                </a:solidFill>
              </a:rPr>
              <a:t>nlock</a:t>
            </a:r>
            <a:r>
              <a:rPr lang="en-PK" i="1" u="sng" dirty="0">
                <a:solidFill>
                  <a:srgbClr val="C00000"/>
                </a:solidFill>
              </a:rPr>
              <a:t> huge value and use programmatically</a:t>
            </a:r>
          </a:p>
          <a:p>
            <a:pPr marL="457200" lvl="1" indent="0">
              <a:buNone/>
            </a:pPr>
            <a:r>
              <a:rPr lang="en-US" i="1" dirty="0">
                <a:solidFill>
                  <a:srgbClr val="0432FF"/>
                </a:solidFill>
              </a:rPr>
              <a:t>                                                                           </a:t>
            </a:r>
            <a:r>
              <a:rPr lang="en-PK" i="1" u="sng" dirty="0">
                <a:solidFill>
                  <a:srgbClr val="0432FF"/>
                </a:solidFill>
              </a:rPr>
              <a:t>P2P transactions, fast and cheap</a:t>
            </a:r>
          </a:p>
          <a:p>
            <a:pPr marL="457200" lvl="1" indent="0">
              <a:buNone/>
            </a:pPr>
            <a:r>
              <a:rPr lang="en-US" i="1" dirty="0">
                <a:solidFill>
                  <a:srgbClr val="308D3E"/>
                </a:solidFill>
              </a:rPr>
              <a:t>                                                                         </a:t>
            </a:r>
            <a:r>
              <a:rPr lang="en-PK" i="1" u="sng" dirty="0">
                <a:solidFill>
                  <a:srgbClr val="308D3E"/>
                </a:solidFill>
              </a:rPr>
              <a:t>Access to those who don’t have it</a:t>
            </a:r>
          </a:p>
          <a:p>
            <a:pPr marL="457200" lvl="1" indent="0">
              <a:buNone/>
            </a:pPr>
            <a:r>
              <a:rPr lang="en-US" i="1" dirty="0">
                <a:solidFill>
                  <a:srgbClr val="7030A0"/>
                </a:solidFill>
              </a:rPr>
              <a:t>                                                                             </a:t>
            </a:r>
            <a:r>
              <a:rPr lang="en-PK" i="1" u="sng" dirty="0">
                <a:solidFill>
                  <a:srgbClr val="7030A0"/>
                </a:solidFill>
              </a:rPr>
              <a:t>Allow fractional ownership</a:t>
            </a:r>
          </a:p>
          <a:p>
            <a:pPr marL="457200" lvl="1" indent="0">
              <a:buNone/>
            </a:pPr>
            <a:r>
              <a:rPr lang="en-US" i="1" dirty="0"/>
              <a:t>                                             </a:t>
            </a:r>
            <a:r>
              <a:rPr lang="en-PK" i="1" u="sng" dirty="0"/>
              <a:t>Convenience in gold trading</a:t>
            </a:r>
          </a:p>
        </p:txBody>
      </p:sp>
      <p:sp>
        <p:nvSpPr>
          <p:cNvPr id="2" name="Title 1">
            <a:extLst>
              <a:ext uri="{FF2B5EF4-FFF2-40B4-BE49-F238E27FC236}">
                <a16:creationId xmlns:a16="http://schemas.microsoft.com/office/drawing/2014/main" id="{CE4FC507-5797-4046-C57A-86D63CC38FCB}"/>
              </a:ext>
            </a:extLst>
          </p:cNvPr>
          <p:cNvSpPr>
            <a:spLocks noGrp="1"/>
          </p:cNvSpPr>
          <p:nvPr>
            <p:ph type="title"/>
          </p:nvPr>
        </p:nvSpPr>
        <p:spPr/>
        <p:txBody>
          <a:bodyPr/>
          <a:lstStyle/>
          <a:p>
            <a:r>
              <a:rPr lang="en-PK" dirty="0"/>
              <a:t>[Digit</a:t>
            </a:r>
            <a:r>
              <a:rPr lang="en-GB" dirty="0"/>
              <a:t>a</a:t>
            </a:r>
            <a:r>
              <a:rPr lang="en-PK" dirty="0"/>
              <a:t>l] Assets Across Multiple Systems</a:t>
            </a:r>
          </a:p>
        </p:txBody>
      </p:sp>
      <p:sp>
        <p:nvSpPr>
          <p:cNvPr id="5" name="Slide Number Placeholder 4">
            <a:extLst>
              <a:ext uri="{FF2B5EF4-FFF2-40B4-BE49-F238E27FC236}">
                <a16:creationId xmlns:a16="http://schemas.microsoft.com/office/drawing/2014/main" id="{CAFFAB22-13EC-0B70-4BF9-954687AAD6A8}"/>
              </a:ext>
            </a:extLst>
          </p:cNvPr>
          <p:cNvSpPr>
            <a:spLocks noGrp="1"/>
          </p:cNvSpPr>
          <p:nvPr>
            <p:ph type="sldNum" sz="quarter" idx="12"/>
          </p:nvPr>
        </p:nvSpPr>
        <p:spPr/>
        <p:txBody>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224452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30327-D603-DEC0-5483-1D042B692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D52C-9C13-B7B0-240D-DA807F5E748F}"/>
              </a:ext>
            </a:extLst>
          </p:cNvPr>
          <p:cNvSpPr>
            <a:spLocks noGrp="1"/>
          </p:cNvSpPr>
          <p:nvPr>
            <p:ph type="title"/>
          </p:nvPr>
        </p:nvSpPr>
        <p:spPr/>
        <p:txBody>
          <a:bodyPr/>
          <a:lstStyle/>
          <a:p>
            <a:r>
              <a:rPr lang="en-PK" dirty="0"/>
              <a:t>Representing digital assets across systems</a:t>
            </a:r>
          </a:p>
        </p:txBody>
      </p:sp>
      <p:sp>
        <p:nvSpPr>
          <p:cNvPr id="3" name="Content Placeholder 2">
            <a:extLst>
              <a:ext uri="{FF2B5EF4-FFF2-40B4-BE49-F238E27FC236}">
                <a16:creationId xmlns:a16="http://schemas.microsoft.com/office/drawing/2014/main" id="{9FDE3627-73F1-4159-3303-7A5183D2ADBB}"/>
              </a:ext>
            </a:extLst>
          </p:cNvPr>
          <p:cNvSpPr>
            <a:spLocks noGrp="1"/>
          </p:cNvSpPr>
          <p:nvPr>
            <p:ph idx="1"/>
          </p:nvPr>
        </p:nvSpPr>
        <p:spPr/>
        <p:txBody>
          <a:bodyPr>
            <a:normAutofit/>
          </a:bodyPr>
          <a:lstStyle/>
          <a:p>
            <a:r>
              <a:rPr lang="en-PK" dirty="0">
                <a:solidFill>
                  <a:srgbClr val="7030A0"/>
                </a:solidFill>
              </a:rPr>
              <a:t>Does a stock exchange do the same?</a:t>
            </a:r>
          </a:p>
          <a:p>
            <a:r>
              <a:rPr lang="en-PK" dirty="0">
                <a:solidFill>
                  <a:srgbClr val="C00000"/>
                </a:solidFill>
              </a:rPr>
              <a:t>Does a stock exchange bring transfer of value across systems?</a:t>
            </a:r>
          </a:p>
          <a:p>
            <a:pPr lvl="1"/>
            <a:r>
              <a:rPr lang="en-PK" dirty="0">
                <a:solidFill>
                  <a:srgbClr val="0432FF"/>
                </a:solidFill>
              </a:rPr>
              <a:t>Value of </a:t>
            </a:r>
            <a:r>
              <a:rPr lang="en-GB" dirty="0">
                <a:solidFill>
                  <a:srgbClr val="0432FF"/>
                </a:solidFill>
              </a:rPr>
              <a:t>the </a:t>
            </a:r>
            <a:r>
              <a:rPr lang="en-PK" dirty="0">
                <a:solidFill>
                  <a:srgbClr val="0432FF"/>
                </a:solidFill>
              </a:rPr>
              <a:t>company represented as stocks</a:t>
            </a:r>
          </a:p>
          <a:p>
            <a:pPr lvl="1"/>
            <a:r>
              <a:rPr lang="en-PK" dirty="0"/>
              <a:t>Purpose: Public fundraising</a:t>
            </a:r>
          </a:p>
          <a:p>
            <a:r>
              <a:rPr lang="en-PK" dirty="0">
                <a:solidFill>
                  <a:srgbClr val="308D3E"/>
                </a:solidFill>
              </a:rPr>
              <a:t>What </a:t>
            </a:r>
            <a:r>
              <a:rPr lang="en-GB" dirty="0">
                <a:solidFill>
                  <a:srgbClr val="308D3E"/>
                </a:solidFill>
              </a:rPr>
              <a:t>does </a:t>
            </a:r>
            <a:r>
              <a:rPr lang="en-PK" dirty="0">
                <a:solidFill>
                  <a:srgbClr val="308D3E"/>
                </a:solidFill>
              </a:rPr>
              <a:t>tokenization of stocks bring to the table?</a:t>
            </a:r>
          </a:p>
          <a:p>
            <a:pPr lvl="1"/>
            <a:r>
              <a:rPr lang="en-GB" dirty="0">
                <a:solidFill>
                  <a:srgbClr val="7030A0"/>
                </a:solidFill>
              </a:rPr>
              <a:t>T</a:t>
            </a:r>
            <a:r>
              <a:rPr lang="en-PK" dirty="0">
                <a:solidFill>
                  <a:srgbClr val="7030A0"/>
                </a:solidFill>
              </a:rPr>
              <a:t>rading and transactions made P2P</a:t>
            </a:r>
          </a:p>
          <a:p>
            <a:endParaRPr lang="en-PK" dirty="0"/>
          </a:p>
          <a:p>
            <a:r>
              <a:rPr lang="en-PK" dirty="0"/>
              <a:t>Can the stock exchange b</a:t>
            </a:r>
            <a:r>
              <a:rPr lang="en-GB" dirty="0"/>
              <a:t>e</a:t>
            </a:r>
            <a:r>
              <a:rPr lang="en-PK" dirty="0"/>
              <a:t> bypassed?</a:t>
            </a:r>
          </a:p>
        </p:txBody>
      </p:sp>
      <p:sp>
        <p:nvSpPr>
          <p:cNvPr id="5" name="Slide Number Placeholder 4">
            <a:extLst>
              <a:ext uri="{FF2B5EF4-FFF2-40B4-BE49-F238E27FC236}">
                <a16:creationId xmlns:a16="http://schemas.microsoft.com/office/drawing/2014/main" id="{6DB911FE-2400-60B1-BD43-6658E059D7B7}"/>
              </a:ext>
            </a:extLst>
          </p:cNvPr>
          <p:cNvSpPr>
            <a:spLocks noGrp="1"/>
          </p:cNvSpPr>
          <p:nvPr>
            <p:ph type="sldNum" sz="quarter" idx="12"/>
          </p:nvPr>
        </p:nvSpPr>
        <p:spPr/>
        <p:txBody>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30607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675A3-AF12-8439-EB88-D699CC000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756EF-A601-6332-D574-D7B43B2ACD41}"/>
              </a:ext>
            </a:extLst>
          </p:cNvPr>
          <p:cNvSpPr>
            <a:spLocks noGrp="1"/>
          </p:cNvSpPr>
          <p:nvPr>
            <p:ph type="title"/>
          </p:nvPr>
        </p:nvSpPr>
        <p:spPr/>
        <p:txBody>
          <a:bodyPr/>
          <a:lstStyle/>
          <a:p>
            <a:r>
              <a:rPr lang="en-PK" dirty="0"/>
              <a:t>Example: Buying Tokenized Stock</a:t>
            </a:r>
          </a:p>
        </p:txBody>
      </p:sp>
      <p:pic>
        <p:nvPicPr>
          <p:cNvPr id="4" name="Picture 4" descr="Generated image">
            <a:extLst>
              <a:ext uri="{FF2B5EF4-FFF2-40B4-BE49-F238E27FC236}">
                <a16:creationId xmlns:a16="http://schemas.microsoft.com/office/drawing/2014/main" id="{129EA9EB-72E2-D8FF-9702-E572DB9134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76221" y="4892166"/>
            <a:ext cx="1190625" cy="11906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213A720-11FD-99A1-A634-6AB8ABE53F8A}"/>
              </a:ext>
            </a:extLst>
          </p:cNvPr>
          <p:cNvPicPr>
            <a:picLocks noChangeAspect="1"/>
          </p:cNvPicPr>
          <p:nvPr/>
        </p:nvPicPr>
        <p:blipFill>
          <a:blip r:embed="rId3"/>
          <a:stretch>
            <a:fillRect/>
          </a:stretch>
        </p:blipFill>
        <p:spPr>
          <a:xfrm>
            <a:off x="1980962" y="1087121"/>
            <a:ext cx="1668211" cy="1668211"/>
          </a:xfrm>
          <a:prstGeom prst="rect">
            <a:avLst/>
          </a:prstGeom>
        </p:spPr>
      </p:pic>
      <p:pic>
        <p:nvPicPr>
          <p:cNvPr id="7" name="Picture 6">
            <a:extLst>
              <a:ext uri="{FF2B5EF4-FFF2-40B4-BE49-F238E27FC236}">
                <a16:creationId xmlns:a16="http://schemas.microsoft.com/office/drawing/2014/main" id="{40A7B955-B619-36DD-EF30-0E864701CA9C}"/>
              </a:ext>
            </a:extLst>
          </p:cNvPr>
          <p:cNvPicPr>
            <a:picLocks noChangeAspect="1"/>
          </p:cNvPicPr>
          <p:nvPr/>
        </p:nvPicPr>
        <p:blipFill>
          <a:blip r:embed="rId4"/>
          <a:stretch>
            <a:fillRect/>
          </a:stretch>
        </p:blipFill>
        <p:spPr>
          <a:xfrm>
            <a:off x="495443" y="4024312"/>
            <a:ext cx="1257409" cy="1463167"/>
          </a:xfrm>
          <a:prstGeom prst="rect">
            <a:avLst/>
          </a:prstGeom>
        </p:spPr>
      </p:pic>
      <p:pic>
        <p:nvPicPr>
          <p:cNvPr id="8" name="Picture 7">
            <a:extLst>
              <a:ext uri="{FF2B5EF4-FFF2-40B4-BE49-F238E27FC236}">
                <a16:creationId xmlns:a16="http://schemas.microsoft.com/office/drawing/2014/main" id="{607E30FC-04FB-DA4A-113E-BBEFE0AECC19}"/>
              </a:ext>
            </a:extLst>
          </p:cNvPr>
          <p:cNvPicPr>
            <a:picLocks noChangeAspect="1"/>
          </p:cNvPicPr>
          <p:nvPr/>
        </p:nvPicPr>
        <p:blipFill>
          <a:blip r:embed="rId5"/>
          <a:stretch>
            <a:fillRect/>
          </a:stretch>
        </p:blipFill>
        <p:spPr>
          <a:xfrm>
            <a:off x="7325951" y="1087120"/>
            <a:ext cx="1668212" cy="1668212"/>
          </a:xfrm>
          <a:prstGeom prst="rect">
            <a:avLst/>
          </a:prstGeom>
        </p:spPr>
      </p:pic>
      <p:sp>
        <p:nvSpPr>
          <p:cNvPr id="23" name="TextBox 22">
            <a:extLst>
              <a:ext uri="{FF2B5EF4-FFF2-40B4-BE49-F238E27FC236}">
                <a16:creationId xmlns:a16="http://schemas.microsoft.com/office/drawing/2014/main" id="{68F6B40C-E502-13F0-E988-DB6EC549DD7E}"/>
              </a:ext>
            </a:extLst>
          </p:cNvPr>
          <p:cNvSpPr txBox="1"/>
          <p:nvPr/>
        </p:nvSpPr>
        <p:spPr>
          <a:xfrm>
            <a:off x="8971913" y="1087120"/>
            <a:ext cx="2648370" cy="707886"/>
          </a:xfrm>
          <a:prstGeom prst="rect">
            <a:avLst/>
          </a:prstGeom>
          <a:noFill/>
        </p:spPr>
        <p:txBody>
          <a:bodyPr wrap="square" rtlCol="0">
            <a:spAutoFit/>
          </a:bodyPr>
          <a:lstStyle/>
          <a:p>
            <a:r>
              <a:rPr lang="en-PK" sz="2000" dirty="0">
                <a:solidFill>
                  <a:srgbClr val="308D3E"/>
                </a:solidFill>
              </a:rPr>
              <a:t>SEC-regulated safe custodian of securities</a:t>
            </a:r>
          </a:p>
        </p:txBody>
      </p:sp>
      <p:pic>
        <p:nvPicPr>
          <p:cNvPr id="24" name="Picture 23">
            <a:extLst>
              <a:ext uri="{FF2B5EF4-FFF2-40B4-BE49-F238E27FC236}">
                <a16:creationId xmlns:a16="http://schemas.microsoft.com/office/drawing/2014/main" id="{6FA92D30-88D3-D4DE-34D9-13D8E2271F92}"/>
              </a:ext>
            </a:extLst>
          </p:cNvPr>
          <p:cNvPicPr>
            <a:picLocks noChangeAspect="1"/>
          </p:cNvPicPr>
          <p:nvPr/>
        </p:nvPicPr>
        <p:blipFill>
          <a:blip r:embed="rId6"/>
          <a:stretch>
            <a:fillRect/>
          </a:stretch>
        </p:blipFill>
        <p:spPr>
          <a:xfrm>
            <a:off x="10903051" y="4024312"/>
            <a:ext cx="1179763" cy="1228027"/>
          </a:xfrm>
          <a:prstGeom prst="rect">
            <a:avLst/>
          </a:prstGeom>
        </p:spPr>
      </p:pic>
      <p:sp>
        <p:nvSpPr>
          <p:cNvPr id="25" name="TextBox 24">
            <a:extLst>
              <a:ext uri="{FF2B5EF4-FFF2-40B4-BE49-F238E27FC236}">
                <a16:creationId xmlns:a16="http://schemas.microsoft.com/office/drawing/2014/main" id="{3B52F8DD-7133-17EB-B0F1-0401FBBE4969}"/>
              </a:ext>
            </a:extLst>
          </p:cNvPr>
          <p:cNvSpPr txBox="1"/>
          <p:nvPr/>
        </p:nvSpPr>
        <p:spPr>
          <a:xfrm>
            <a:off x="280185" y="1507847"/>
            <a:ext cx="1435797" cy="1323439"/>
          </a:xfrm>
          <a:prstGeom prst="rect">
            <a:avLst/>
          </a:prstGeom>
          <a:noFill/>
        </p:spPr>
        <p:txBody>
          <a:bodyPr wrap="square" rtlCol="0">
            <a:spAutoFit/>
          </a:bodyPr>
          <a:lstStyle/>
          <a:p>
            <a:r>
              <a:rPr lang="en-PK" sz="2000" dirty="0">
                <a:solidFill>
                  <a:srgbClr val="308D3E"/>
                </a:solidFill>
              </a:rPr>
              <a:t>Buy me $50 worth of Apple stock</a:t>
            </a:r>
          </a:p>
          <a:p>
            <a:r>
              <a:rPr lang="en-PK" sz="2000" dirty="0">
                <a:solidFill>
                  <a:srgbClr val="C00000"/>
                </a:solidFill>
              </a:rPr>
              <a:t>(in tokens)</a:t>
            </a:r>
          </a:p>
        </p:txBody>
      </p:sp>
      <p:pic>
        <p:nvPicPr>
          <p:cNvPr id="31" name="Picture 30" descr="A close-up of a document&#10;&#10;AI-generated content may be incorrect.">
            <a:extLst>
              <a:ext uri="{FF2B5EF4-FFF2-40B4-BE49-F238E27FC236}">
                <a16:creationId xmlns:a16="http://schemas.microsoft.com/office/drawing/2014/main" id="{55214203-D33B-15BF-373C-4D04B06EB138}"/>
              </a:ext>
            </a:extLst>
          </p:cNvPr>
          <p:cNvPicPr>
            <a:picLocks noChangeAspect="1"/>
          </p:cNvPicPr>
          <p:nvPr/>
        </p:nvPicPr>
        <p:blipFill>
          <a:blip r:embed="rId7"/>
          <a:stretch>
            <a:fillRect/>
          </a:stretch>
        </p:blipFill>
        <p:spPr>
          <a:xfrm>
            <a:off x="4483393" y="1087120"/>
            <a:ext cx="2348693" cy="1565795"/>
          </a:xfrm>
          <a:prstGeom prst="rect">
            <a:avLst/>
          </a:prstGeom>
        </p:spPr>
      </p:pic>
      <p:sp>
        <p:nvSpPr>
          <p:cNvPr id="52" name="Arc 51">
            <a:extLst>
              <a:ext uri="{FF2B5EF4-FFF2-40B4-BE49-F238E27FC236}">
                <a16:creationId xmlns:a16="http://schemas.microsoft.com/office/drawing/2014/main" id="{D183FBBA-CEC4-800A-73AC-04D8DD9FA194}"/>
              </a:ext>
            </a:extLst>
          </p:cNvPr>
          <p:cNvSpPr/>
          <p:nvPr/>
        </p:nvSpPr>
        <p:spPr>
          <a:xfrm>
            <a:off x="5628280" y="1877764"/>
            <a:ext cx="1945877" cy="992166"/>
          </a:xfrm>
          <a:prstGeom prst="arc">
            <a:avLst>
              <a:gd name="adj1" fmla="val 735070"/>
              <a:gd name="adj2" fmla="val 9997214"/>
            </a:avLst>
          </a:prstGeom>
          <a:ln w="38100">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53" name="Arc 52">
            <a:extLst>
              <a:ext uri="{FF2B5EF4-FFF2-40B4-BE49-F238E27FC236}">
                <a16:creationId xmlns:a16="http://schemas.microsoft.com/office/drawing/2014/main" id="{4E67ACB8-0849-CC64-3738-3E9B2E19E5B3}"/>
              </a:ext>
            </a:extLst>
          </p:cNvPr>
          <p:cNvSpPr/>
          <p:nvPr/>
        </p:nvSpPr>
        <p:spPr>
          <a:xfrm rot="895654">
            <a:off x="1285136" y="1914895"/>
            <a:ext cx="1257409" cy="3653633"/>
          </a:xfrm>
          <a:prstGeom prst="arc">
            <a:avLst>
              <a:gd name="adj1" fmla="val 9015285"/>
              <a:gd name="adj2" fmla="val 15648209"/>
            </a:avLst>
          </a:prstGeom>
          <a:ln w="38100">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55" name="Arc 54">
            <a:extLst>
              <a:ext uri="{FF2B5EF4-FFF2-40B4-BE49-F238E27FC236}">
                <a16:creationId xmlns:a16="http://schemas.microsoft.com/office/drawing/2014/main" id="{A8368E1D-3E36-309E-C77A-92A3BA6A8FF3}"/>
              </a:ext>
            </a:extLst>
          </p:cNvPr>
          <p:cNvSpPr/>
          <p:nvPr/>
        </p:nvSpPr>
        <p:spPr>
          <a:xfrm flipH="1" flipV="1">
            <a:off x="3424174" y="1240798"/>
            <a:ext cx="1710241" cy="595312"/>
          </a:xfrm>
          <a:prstGeom prst="arc">
            <a:avLst>
              <a:gd name="adj1" fmla="val 735070"/>
              <a:gd name="adj2" fmla="val 9997214"/>
            </a:avLst>
          </a:prstGeom>
          <a:ln w="38100">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56" name="Arc 55">
            <a:extLst>
              <a:ext uri="{FF2B5EF4-FFF2-40B4-BE49-F238E27FC236}">
                <a16:creationId xmlns:a16="http://schemas.microsoft.com/office/drawing/2014/main" id="{52D0F1D7-EDDA-1EAF-1FF3-286A708F07F1}"/>
              </a:ext>
            </a:extLst>
          </p:cNvPr>
          <p:cNvSpPr/>
          <p:nvPr/>
        </p:nvSpPr>
        <p:spPr>
          <a:xfrm flipH="1" flipV="1">
            <a:off x="6044749" y="1137923"/>
            <a:ext cx="1710241" cy="595312"/>
          </a:xfrm>
          <a:prstGeom prst="arc">
            <a:avLst>
              <a:gd name="adj1" fmla="val 735070"/>
              <a:gd name="adj2" fmla="val 9997214"/>
            </a:avLst>
          </a:prstGeom>
          <a:ln w="38100">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57" name="Arc 56">
            <a:extLst>
              <a:ext uri="{FF2B5EF4-FFF2-40B4-BE49-F238E27FC236}">
                <a16:creationId xmlns:a16="http://schemas.microsoft.com/office/drawing/2014/main" id="{0D85DA0F-BE10-B46F-7AA1-FFE94A2530E1}"/>
              </a:ext>
            </a:extLst>
          </p:cNvPr>
          <p:cNvSpPr/>
          <p:nvPr/>
        </p:nvSpPr>
        <p:spPr>
          <a:xfrm rot="3383503" flipH="1" flipV="1">
            <a:off x="7477541" y="2900749"/>
            <a:ext cx="4754787" cy="1709169"/>
          </a:xfrm>
          <a:prstGeom prst="arc">
            <a:avLst>
              <a:gd name="adj1" fmla="val 812501"/>
              <a:gd name="adj2" fmla="val 8518106"/>
            </a:avLst>
          </a:prstGeom>
          <a:ln w="38100">
            <a:solidFill>
              <a:srgbClr val="7030A0"/>
            </a:solidFill>
            <a:tailEnd type="triangle" w="med"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59" name="TextBox 58">
            <a:extLst>
              <a:ext uri="{FF2B5EF4-FFF2-40B4-BE49-F238E27FC236}">
                <a16:creationId xmlns:a16="http://schemas.microsoft.com/office/drawing/2014/main" id="{312E8E36-90A9-635E-1AB1-49D49041375B}"/>
              </a:ext>
            </a:extLst>
          </p:cNvPr>
          <p:cNvSpPr txBox="1"/>
          <p:nvPr/>
        </p:nvSpPr>
        <p:spPr>
          <a:xfrm>
            <a:off x="2168054" y="2708135"/>
            <a:ext cx="1668211" cy="707886"/>
          </a:xfrm>
          <a:prstGeom prst="rect">
            <a:avLst/>
          </a:prstGeom>
          <a:noFill/>
        </p:spPr>
        <p:txBody>
          <a:bodyPr wrap="square" rtlCol="0">
            <a:spAutoFit/>
          </a:bodyPr>
          <a:lstStyle/>
          <a:p>
            <a:r>
              <a:rPr lang="en-PK" sz="2000" dirty="0">
                <a:solidFill>
                  <a:srgbClr val="308D3E"/>
                </a:solidFill>
              </a:rPr>
              <a:t>Typically: Not SEC regulated</a:t>
            </a:r>
          </a:p>
        </p:txBody>
      </p:sp>
      <p:sp>
        <p:nvSpPr>
          <p:cNvPr id="60" name="TextBox 59">
            <a:extLst>
              <a:ext uri="{FF2B5EF4-FFF2-40B4-BE49-F238E27FC236}">
                <a16:creationId xmlns:a16="http://schemas.microsoft.com/office/drawing/2014/main" id="{7832B67F-7740-5AFB-BD2E-C2A565BF7081}"/>
              </a:ext>
            </a:extLst>
          </p:cNvPr>
          <p:cNvSpPr txBox="1"/>
          <p:nvPr/>
        </p:nvSpPr>
        <p:spPr>
          <a:xfrm>
            <a:off x="4826789" y="3062078"/>
            <a:ext cx="2156143" cy="1015663"/>
          </a:xfrm>
          <a:prstGeom prst="rect">
            <a:avLst/>
          </a:prstGeom>
          <a:noFill/>
        </p:spPr>
        <p:txBody>
          <a:bodyPr wrap="square" rtlCol="0">
            <a:spAutoFit/>
          </a:bodyPr>
          <a:lstStyle/>
          <a:p>
            <a:r>
              <a:rPr lang="en-PK" sz="2000" b="1" dirty="0">
                <a:solidFill>
                  <a:srgbClr val="0432FF"/>
                </a:solidFill>
              </a:rPr>
              <a:t>Order Fulfilled</a:t>
            </a:r>
          </a:p>
          <a:p>
            <a:r>
              <a:rPr lang="en-PK" sz="2000" b="1" dirty="0">
                <a:solidFill>
                  <a:srgbClr val="0432FF"/>
                </a:solidFill>
              </a:rPr>
              <a:t>Mint a Token</a:t>
            </a:r>
          </a:p>
          <a:p>
            <a:r>
              <a:rPr lang="en-PK" sz="2000" b="1" dirty="0">
                <a:solidFill>
                  <a:srgbClr val="0432FF"/>
                </a:solidFill>
              </a:rPr>
              <a:t>Release payments</a:t>
            </a:r>
          </a:p>
        </p:txBody>
      </p:sp>
      <p:sp>
        <p:nvSpPr>
          <p:cNvPr id="5" name="Slide Number Placeholder 4">
            <a:extLst>
              <a:ext uri="{FF2B5EF4-FFF2-40B4-BE49-F238E27FC236}">
                <a16:creationId xmlns:a16="http://schemas.microsoft.com/office/drawing/2014/main" id="{17E5CCBB-D753-47F8-182C-D51E016E5B30}"/>
              </a:ext>
            </a:extLst>
          </p:cNvPr>
          <p:cNvSpPr>
            <a:spLocks noGrp="1"/>
          </p:cNvSpPr>
          <p:nvPr>
            <p:ph type="sldNum" sz="quarter" idx="12"/>
          </p:nvPr>
        </p:nvSpPr>
        <p:spPr/>
        <p:txBody>
          <a:bodyPr/>
          <a:lstStyle/>
          <a:p>
            <a:fld id="{D57F1E4F-1CFF-5643-939E-217C01CDF565}" type="slidenum">
              <a:rPr lang="en-US" smtClean="0"/>
              <a:pPr/>
              <a:t>45</a:t>
            </a:fld>
            <a:endParaRPr lang="en-US" dirty="0"/>
          </a:p>
        </p:txBody>
      </p:sp>
      <p:sp>
        <p:nvSpPr>
          <p:cNvPr id="9" name="Title 1">
            <a:extLst>
              <a:ext uri="{FF2B5EF4-FFF2-40B4-BE49-F238E27FC236}">
                <a16:creationId xmlns:a16="http://schemas.microsoft.com/office/drawing/2014/main" id="{E431DCB1-8AC8-5C54-DD53-7C694338D37C}"/>
              </a:ext>
            </a:extLst>
          </p:cNvPr>
          <p:cNvSpPr txBox="1">
            <a:spLocks/>
          </p:cNvSpPr>
          <p:nvPr/>
        </p:nvSpPr>
        <p:spPr>
          <a:xfrm>
            <a:off x="2144600" y="4555334"/>
            <a:ext cx="3900149" cy="1021556"/>
          </a:xfrm>
          <a:prstGeom prst="roundRect">
            <a:avLst/>
          </a:prstGeom>
          <a:solidFill>
            <a:schemeClr val="accent5">
              <a:lumMod val="20000"/>
              <a:lumOff val="80000"/>
            </a:schemeClr>
          </a:solidFill>
          <a:ln>
            <a:noFill/>
          </a:ln>
        </p:spPr>
        <p:txBody>
          <a:bodyPr vert="horz" wrap="square" lIns="91440" tIns="45720" rIns="91440" bIns="45720" rtlCol="0" anchor="ctr">
            <a:sp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000" dirty="0">
                <a:solidFill>
                  <a:srgbClr val="C00000"/>
                </a:solidFill>
              </a:rPr>
              <a:t>An end user gets </a:t>
            </a:r>
            <a:r>
              <a:rPr lang="en-US" sz="2000" b="1" i="1" dirty="0">
                <a:solidFill>
                  <a:srgbClr val="C00000"/>
                </a:solidFill>
              </a:rPr>
              <a:t>access to the stock</a:t>
            </a:r>
            <a:r>
              <a:rPr lang="en-US" sz="2000" dirty="0">
                <a:solidFill>
                  <a:srgbClr val="C00000"/>
                </a:solidFill>
              </a:rPr>
              <a:t> AND can also</a:t>
            </a:r>
            <a:r>
              <a:rPr lang="en-US" sz="2000" b="1" i="1" dirty="0">
                <a:solidFill>
                  <a:srgbClr val="C00000"/>
                </a:solidFill>
              </a:rPr>
              <a:t> perform direct trades</a:t>
            </a:r>
            <a:r>
              <a:rPr lang="en-US" sz="2000" dirty="0">
                <a:solidFill>
                  <a:srgbClr val="C00000"/>
                </a:solidFill>
              </a:rPr>
              <a:t> with other users</a:t>
            </a:r>
          </a:p>
        </p:txBody>
      </p:sp>
    </p:spTree>
    <p:extLst>
      <p:ext uri="{BB962C8B-B14F-4D97-AF65-F5344CB8AC3E}">
        <p14:creationId xmlns:p14="http://schemas.microsoft.com/office/powerpoint/2010/main" val="411786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50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5"/>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5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57"/>
                                        </p:tgtEl>
                                        <p:attrNameLst>
                                          <p:attrName>style.visibility</p:attrName>
                                        </p:attrNameLst>
                                      </p:cBhvr>
                                      <p:to>
                                        <p:strVal val="visible"/>
                                      </p:to>
                                    </p:set>
                                  </p:childTnLst>
                                </p:cTn>
                              </p:par>
                            </p:childTnLst>
                          </p:cTn>
                        </p:par>
                        <p:par>
                          <p:cTn id="44" fill="hold">
                            <p:stCondLst>
                              <p:cond delay="0"/>
                            </p:stCondLst>
                            <p:childTnLst>
                              <p:par>
                                <p:cTn id="45" presetID="9" presetClass="entr" presetSubtype="0"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dissolve">
                                      <p:cBhvr>
                                        <p:cTn id="47" dur="500"/>
                                        <p:tgtEl>
                                          <p:spTgt spid="24"/>
                                        </p:tgtEl>
                                      </p:cBhvr>
                                    </p:animEffect>
                                  </p:childTnLst>
                                </p:cTn>
                              </p:par>
                            </p:childTnLst>
                          </p:cTn>
                        </p:par>
                        <p:par>
                          <p:cTn id="48" fill="hold">
                            <p:stCondLst>
                              <p:cond delay="500"/>
                            </p:stCondLst>
                            <p:childTnLst>
                              <p:par>
                                <p:cTn id="49" presetID="1" presetClass="entr" presetSubtype="0" fill="hold" nodeType="afterEffect">
                                  <p:stCondLst>
                                    <p:cond delay="50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nodeType="clickEffect">
                                  <p:stCondLst>
                                    <p:cond delay="0"/>
                                  </p:stCondLst>
                                  <p:childTnLst>
                                    <p:animMotion origin="layout" path="M -1.04167E-6 -1.48148E-6 L -0.0832 -0.39838 " pathEditMode="relative" rAng="0" ptsTypes="AA">
                                      <p:cBhvr>
                                        <p:cTn id="54" dur="2000" fill="hold"/>
                                        <p:tgtEl>
                                          <p:spTgt spid="4"/>
                                        </p:tgtEl>
                                        <p:attrNameLst>
                                          <p:attrName>ppt_x</p:attrName>
                                          <p:attrName>ppt_y</p:attrName>
                                        </p:attrNameLst>
                                      </p:cBhvr>
                                      <p:rCtr x="-4167" y="-19931"/>
                                    </p:animMotion>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dissolve">
                                      <p:cBhvr>
                                        <p:cTn id="59" dur="500"/>
                                        <p:tgtEl>
                                          <p:spTgt spid="52"/>
                                        </p:tgtEl>
                                      </p:cBhvr>
                                    </p:animEffect>
                                  </p:childTnLst>
                                </p:cTn>
                              </p:par>
                            </p:childTnLst>
                          </p:cTn>
                        </p:par>
                        <p:par>
                          <p:cTn id="60" fill="hold">
                            <p:stCondLst>
                              <p:cond delay="500"/>
                            </p:stCondLst>
                            <p:childTnLst>
                              <p:par>
                                <p:cTn id="61" presetID="9" presetClass="entr" presetSubtype="0" fill="hold" grpId="0" nodeType="afterEffect">
                                  <p:stCondLst>
                                    <p:cond delay="0"/>
                                  </p:stCondLst>
                                  <p:childTnLst>
                                    <p:set>
                                      <p:cBhvr>
                                        <p:cTn id="62" dur="1" fill="hold">
                                          <p:stCondLst>
                                            <p:cond delay="0"/>
                                          </p:stCondLst>
                                        </p:cTn>
                                        <p:tgtEl>
                                          <p:spTgt spid="60"/>
                                        </p:tgtEl>
                                        <p:attrNameLst>
                                          <p:attrName>style.visibility</p:attrName>
                                        </p:attrNameLst>
                                      </p:cBhvr>
                                      <p:to>
                                        <p:strVal val="visible"/>
                                      </p:to>
                                    </p:set>
                                    <p:animEffect transition="in" filter="dissolve">
                                      <p:cBhvr>
                                        <p:cTn id="63" dur="500"/>
                                        <p:tgtEl>
                                          <p:spTgt spid="60"/>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9">
                                            <p:bg/>
                                          </p:spTgt>
                                        </p:tgtEl>
                                        <p:attrNameLst>
                                          <p:attrName>style.visibility</p:attrName>
                                        </p:attrNameLst>
                                      </p:cBhvr>
                                      <p:to>
                                        <p:strVal val="visible"/>
                                      </p:to>
                                    </p:set>
                                    <p:animEffect transition="in" filter="dissolve">
                                      <p:cBhvr>
                                        <p:cTn id="68" dur="500"/>
                                        <p:tgtEl>
                                          <p:spTgt spid="9">
                                            <p:bg/>
                                          </p:spTgt>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9">
                                            <p:txEl>
                                              <p:pRg st="0" end="0"/>
                                            </p:txEl>
                                          </p:spTgt>
                                        </p:tgtEl>
                                        <p:attrNameLst>
                                          <p:attrName>style.visibility</p:attrName>
                                        </p:attrNameLst>
                                      </p:cBhvr>
                                      <p:to>
                                        <p:strVal val="visible"/>
                                      </p:to>
                                    </p:set>
                                    <p:animEffect transition="in" filter="dissolve">
                                      <p:cBhvr>
                                        <p:cTn id="71"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52" grpId="0" animBg="1"/>
      <p:bldP spid="53" grpId="0" animBg="1"/>
      <p:bldP spid="55" grpId="0" animBg="1"/>
      <p:bldP spid="56" grpId="0" animBg="1"/>
      <p:bldP spid="57" grpId="0" animBg="1"/>
      <p:bldP spid="59" grpId="0"/>
      <p:bldP spid="60" grpId="0"/>
      <p:bldP spid="9" grpId="0" build="allAtOnce"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120B-F3E5-32D0-596A-99C74F410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5FC5A-6C02-EE4F-BAF1-59556BBDC5CC}"/>
              </a:ext>
            </a:extLst>
          </p:cNvPr>
          <p:cNvSpPr>
            <a:spLocks noGrp="1"/>
          </p:cNvSpPr>
          <p:nvPr>
            <p:ph type="title"/>
          </p:nvPr>
        </p:nvSpPr>
        <p:spPr/>
        <p:txBody>
          <a:bodyPr/>
          <a:lstStyle/>
          <a:p>
            <a:r>
              <a:rPr lang="en-PK" dirty="0"/>
              <a:t>Layer 2</a:t>
            </a:r>
          </a:p>
        </p:txBody>
      </p:sp>
      <p:sp>
        <p:nvSpPr>
          <p:cNvPr id="3" name="Content Placeholder 2">
            <a:extLst>
              <a:ext uri="{FF2B5EF4-FFF2-40B4-BE49-F238E27FC236}">
                <a16:creationId xmlns:a16="http://schemas.microsoft.com/office/drawing/2014/main" id="{04D7F8AC-30DD-557C-DD56-B1AE81C60857}"/>
              </a:ext>
            </a:extLst>
          </p:cNvPr>
          <p:cNvSpPr>
            <a:spLocks noGrp="1"/>
          </p:cNvSpPr>
          <p:nvPr>
            <p:ph idx="1"/>
          </p:nvPr>
        </p:nvSpPr>
        <p:spPr/>
        <p:txBody>
          <a:bodyPr>
            <a:normAutofit/>
          </a:bodyPr>
          <a:lstStyle/>
          <a:p>
            <a:r>
              <a:rPr lang="en-PK" dirty="0"/>
              <a:t>What is Layer 2?</a:t>
            </a:r>
          </a:p>
          <a:p>
            <a:pPr lvl="1"/>
            <a:r>
              <a:rPr lang="en-GB" dirty="0">
                <a:solidFill>
                  <a:srgbClr val="C00000"/>
                </a:solidFill>
              </a:rPr>
              <a:t>Secondary protocol built on top of an existing blockchain system</a:t>
            </a:r>
          </a:p>
          <a:p>
            <a:pPr lvl="1"/>
            <a:endParaRPr lang="en-PK" dirty="0"/>
          </a:p>
          <a:p>
            <a:r>
              <a:rPr lang="en-PK" dirty="0"/>
              <a:t>Main goal(s) of Layer 2?</a:t>
            </a:r>
          </a:p>
          <a:p>
            <a:pPr lvl="1"/>
            <a:r>
              <a:rPr lang="en-GB" dirty="0">
                <a:solidFill>
                  <a:srgbClr val="308D3E"/>
                </a:solidFill>
              </a:rPr>
              <a:t>Provision of higher transaction speeds</a:t>
            </a:r>
          </a:p>
          <a:p>
            <a:pPr lvl="1"/>
            <a:r>
              <a:rPr lang="en-GB" dirty="0">
                <a:solidFill>
                  <a:srgbClr val="7030A0"/>
                </a:solidFill>
              </a:rPr>
              <a:t>Possibly bringing in functionality that the mainchain may not offer</a:t>
            </a:r>
          </a:p>
          <a:p>
            <a:pPr lvl="1"/>
            <a:endParaRPr lang="en-PK" dirty="0">
              <a:solidFill>
                <a:srgbClr val="7030A0"/>
              </a:solidFill>
            </a:endParaRPr>
          </a:p>
          <a:p>
            <a:r>
              <a:rPr lang="en-PK" dirty="0">
                <a:solidFill>
                  <a:srgbClr val="7030A0"/>
                </a:solidFill>
              </a:rPr>
              <a:t>Examples of Layer 2?</a:t>
            </a:r>
          </a:p>
          <a:p>
            <a:pPr lvl="1"/>
            <a:r>
              <a:rPr lang="en-PK" dirty="0">
                <a:solidFill>
                  <a:srgbClr val="C00000"/>
                </a:solidFill>
              </a:rPr>
              <a:t>Stacks for Bitcoin</a:t>
            </a:r>
          </a:p>
          <a:p>
            <a:pPr lvl="1"/>
            <a:r>
              <a:rPr lang="en-US" dirty="0">
                <a:solidFill>
                  <a:srgbClr val="0432FF"/>
                </a:solidFill>
              </a:rPr>
              <a:t>Polygon for Ethereum</a:t>
            </a:r>
            <a:endParaRPr lang="en-PK" dirty="0">
              <a:solidFill>
                <a:srgbClr val="0432FF"/>
              </a:solidFill>
            </a:endParaRPr>
          </a:p>
        </p:txBody>
      </p:sp>
      <p:sp>
        <p:nvSpPr>
          <p:cNvPr id="5" name="Slide Number Placeholder 4">
            <a:extLst>
              <a:ext uri="{FF2B5EF4-FFF2-40B4-BE49-F238E27FC236}">
                <a16:creationId xmlns:a16="http://schemas.microsoft.com/office/drawing/2014/main" id="{CCE2B35F-FBDC-7F41-89CE-60C3B1575FFA}"/>
              </a:ext>
            </a:extLst>
          </p:cNvPr>
          <p:cNvSpPr>
            <a:spLocks noGrp="1"/>
          </p:cNvSpPr>
          <p:nvPr>
            <p:ph type="sldNum" sz="quarter" idx="12"/>
          </p:nvPr>
        </p:nvSpPr>
        <p:spPr/>
        <p:txBody>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39461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88A10-ED98-8A03-C43E-3E0F8CA997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38D83-56AD-19D9-6461-6019C1B8CE9C}"/>
              </a:ext>
            </a:extLst>
          </p:cNvPr>
          <p:cNvSpPr>
            <a:spLocks noGrp="1"/>
          </p:cNvSpPr>
          <p:nvPr>
            <p:ph type="title"/>
          </p:nvPr>
        </p:nvSpPr>
        <p:spPr/>
        <p:txBody>
          <a:bodyPr/>
          <a:lstStyle/>
          <a:p>
            <a:r>
              <a:rPr lang="en-PK" dirty="0"/>
              <a:t>CBDC</a:t>
            </a:r>
          </a:p>
        </p:txBody>
      </p:sp>
      <p:sp>
        <p:nvSpPr>
          <p:cNvPr id="3" name="Content Placeholder 2">
            <a:extLst>
              <a:ext uri="{FF2B5EF4-FFF2-40B4-BE49-F238E27FC236}">
                <a16:creationId xmlns:a16="http://schemas.microsoft.com/office/drawing/2014/main" id="{EE7BC4BC-DEEA-82AA-4588-9223E30284DC}"/>
              </a:ext>
            </a:extLst>
          </p:cNvPr>
          <p:cNvSpPr>
            <a:spLocks noGrp="1"/>
          </p:cNvSpPr>
          <p:nvPr>
            <p:ph idx="1"/>
          </p:nvPr>
        </p:nvSpPr>
        <p:spPr/>
        <p:txBody>
          <a:bodyPr/>
          <a:lstStyle/>
          <a:p>
            <a:r>
              <a:rPr lang="en-PK" dirty="0"/>
              <a:t>A government-issued stablecoin</a:t>
            </a:r>
          </a:p>
          <a:p>
            <a:pPr lvl="1"/>
            <a:r>
              <a:rPr lang="en-PK" dirty="0">
                <a:solidFill>
                  <a:srgbClr val="C00000"/>
                </a:solidFill>
              </a:rPr>
              <a:t>Recall: Stablecoin is a token (modern-day representative money)</a:t>
            </a:r>
          </a:p>
          <a:p>
            <a:pPr lvl="1"/>
            <a:endParaRPr lang="en-PK" dirty="0"/>
          </a:p>
          <a:p>
            <a:r>
              <a:rPr lang="en-PK" dirty="0">
                <a:solidFill>
                  <a:srgbClr val="7030A0"/>
                </a:solidFill>
              </a:rPr>
              <a:t>Noting: Most fiat is NOT printed (only a small percentage!)</a:t>
            </a:r>
          </a:p>
          <a:p>
            <a:pPr lvl="1"/>
            <a:r>
              <a:rPr lang="en-PK" dirty="0">
                <a:solidFill>
                  <a:srgbClr val="7030A0"/>
                </a:solidFill>
              </a:rPr>
              <a:t>It is already “digital”</a:t>
            </a:r>
          </a:p>
          <a:p>
            <a:r>
              <a:rPr lang="en-PK" dirty="0">
                <a:solidFill>
                  <a:srgbClr val="C00000"/>
                </a:solidFill>
              </a:rPr>
              <a:t>Why then use CBDC instead of digital fiat?</a:t>
            </a:r>
          </a:p>
          <a:p>
            <a:pPr lvl="1"/>
            <a:r>
              <a:rPr lang="en-PK" dirty="0">
                <a:solidFill>
                  <a:srgbClr val="0432FF"/>
                </a:solidFill>
              </a:rPr>
              <a:t>CBDC </a:t>
            </a:r>
            <a:r>
              <a:rPr lang="en-GB" dirty="0">
                <a:solidFill>
                  <a:srgbClr val="0432FF"/>
                </a:solidFill>
              </a:rPr>
              <a:t>is </a:t>
            </a:r>
            <a:r>
              <a:rPr lang="en-PK" dirty="0">
                <a:solidFill>
                  <a:srgbClr val="0432FF"/>
                </a:solidFill>
              </a:rPr>
              <a:t>governed by the central bank</a:t>
            </a:r>
          </a:p>
          <a:p>
            <a:pPr lvl="1"/>
            <a:r>
              <a:rPr lang="en-PK" dirty="0">
                <a:solidFill>
                  <a:srgbClr val="308D3E"/>
                </a:solidFill>
              </a:rPr>
              <a:t>Digital fiat by commercial banks</a:t>
            </a:r>
          </a:p>
        </p:txBody>
      </p:sp>
      <p:sp>
        <p:nvSpPr>
          <p:cNvPr id="5" name="Slide Number Placeholder 4">
            <a:extLst>
              <a:ext uri="{FF2B5EF4-FFF2-40B4-BE49-F238E27FC236}">
                <a16:creationId xmlns:a16="http://schemas.microsoft.com/office/drawing/2014/main" id="{EEADA330-6235-4FCE-A45B-57CCE0596CCD}"/>
              </a:ext>
            </a:extLst>
          </p:cNvPr>
          <p:cNvSpPr>
            <a:spLocks noGrp="1"/>
          </p:cNvSpPr>
          <p:nvPr>
            <p:ph type="sldNum" sz="quarter" idx="12"/>
          </p:nvPr>
        </p:nvSpPr>
        <p:spPr/>
        <p:txBody>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331240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64575</TotalTime>
  <Words>3627</Words>
  <Application>Microsoft Office PowerPoint</Application>
  <PresentationFormat>Widescreen</PresentationFormat>
  <Paragraphs>538</Paragraphs>
  <Slides>47</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Candara</vt:lpstr>
      <vt:lpstr>System Font Regular</vt:lpstr>
      <vt:lpstr>verdana</vt:lpstr>
      <vt:lpstr>Wingdings</vt:lpstr>
      <vt:lpstr>Office Theme</vt:lpstr>
      <vt:lpstr>Introduction to Blockchain  CSE-355</vt:lpstr>
      <vt:lpstr>Lecture 07 Tuesday, Feb 10, 2026</vt:lpstr>
      <vt:lpstr>Recap: Money</vt:lpstr>
      <vt:lpstr>Does Fiat always work?</vt:lpstr>
      <vt:lpstr>Hyperinflation of Germany 1923</vt:lpstr>
      <vt:lpstr>Hyperinflation of Germany 1923</vt:lpstr>
      <vt:lpstr>Hyperinflation of Germany 1923</vt:lpstr>
      <vt:lpstr>Hyperinflation of Germany 1923</vt:lpstr>
      <vt:lpstr>Hyperinflation of Germany 1923</vt:lpstr>
      <vt:lpstr>Hyperinflation of Germany 1923</vt:lpstr>
      <vt:lpstr>Hyperinflation of Germany 1923</vt:lpstr>
      <vt:lpstr>Hyperinflation of Germany 1923</vt:lpstr>
      <vt:lpstr>Hyperinflation of Germany 1923</vt:lpstr>
      <vt:lpstr>Hyperinflation of Germany 1923</vt:lpstr>
      <vt:lpstr>Digital Currency and ePayments</vt:lpstr>
      <vt:lpstr>Digital Currency Requirements</vt:lpstr>
      <vt:lpstr>Traditional ePayments</vt:lpstr>
      <vt:lpstr>Traditional ePayments</vt:lpstr>
      <vt:lpstr>The banks can fail</vt:lpstr>
      <vt:lpstr>The banks can fail in the real world</vt:lpstr>
      <vt:lpstr>The banks can deny or censor</vt:lpstr>
      <vt:lpstr>First Attempt on P2P Payments: Simple E-Cash</vt:lpstr>
      <vt:lpstr>Simple E-Cash without double spending</vt:lpstr>
      <vt:lpstr>Simple E-Cash</vt:lpstr>
      <vt:lpstr>Chaumian E-Cash using blinded signatures</vt:lpstr>
      <vt:lpstr>Chaumian E-Cash</vt:lpstr>
      <vt:lpstr>Recap: Money</vt:lpstr>
      <vt:lpstr>Acceptability of Chaumian E-Cash</vt:lpstr>
      <vt:lpstr>Desirable Features of Money</vt:lpstr>
      <vt:lpstr>Early Digital Currencies: Shortcomings</vt:lpstr>
      <vt:lpstr>(Crypto)currency Challenges</vt:lpstr>
      <vt:lpstr>CBDC, Bitcoin, Chaumian E-cash</vt:lpstr>
      <vt:lpstr>Lecture 08 Thursday, Feb 12, 2026</vt:lpstr>
      <vt:lpstr>Consensus in Blockchains</vt:lpstr>
      <vt:lpstr>Consensus via Majority</vt:lpstr>
      <vt:lpstr>Proof of Work (PoW) Consensus</vt:lpstr>
      <vt:lpstr>Proof of Stake (PoS) Consensus</vt:lpstr>
      <vt:lpstr>Other Consensus Mechanisms</vt:lpstr>
      <vt:lpstr>Popular and Recent Topics Smart Contracts, Stablecoins, and Tokenization</vt:lpstr>
      <vt:lpstr>Smart Contracts</vt:lpstr>
      <vt:lpstr>Smart Contracts: Example</vt:lpstr>
      <vt:lpstr>[Digital] Assets Across Multiple Systems</vt:lpstr>
      <vt:lpstr>[Digital] Assets Across Multiple Systems</vt:lpstr>
      <vt:lpstr>Representing digital assets across systems</vt:lpstr>
      <vt:lpstr>Example: Buying Tokenized Stock</vt:lpstr>
      <vt:lpstr>Layer 2</vt:lpstr>
      <vt:lpstr>CBDC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dc:title>
  <dc:creator>Ihsan Ayyub Qazi</dc:creator>
  <cp:lastModifiedBy>Dr. Ahmed Akhtar / Assistant Professor</cp:lastModifiedBy>
  <cp:revision>1001</cp:revision>
  <dcterms:created xsi:type="dcterms:W3CDTF">2022-06-22T11:04:43Z</dcterms:created>
  <dcterms:modified xsi:type="dcterms:W3CDTF">2026-02-16T23:02:14Z</dcterms:modified>
</cp:coreProperties>
</file>