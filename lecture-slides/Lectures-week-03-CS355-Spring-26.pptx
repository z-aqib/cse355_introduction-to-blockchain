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668" r:id="rId1"/>
  </p:sldMasterIdLst>
  <p:notesMasterIdLst>
    <p:notesMasterId r:id="rId27"/>
  </p:notesMasterIdLst>
  <p:sldIdLst>
    <p:sldId id="1539" r:id="rId2"/>
    <p:sldId id="1495" r:id="rId3"/>
    <p:sldId id="1421" r:id="rId4"/>
    <p:sldId id="1473" r:id="rId5"/>
    <p:sldId id="1484" r:id="rId6"/>
    <p:sldId id="1478" r:id="rId7"/>
    <p:sldId id="1497" r:id="rId8"/>
    <p:sldId id="1480" r:id="rId9"/>
    <p:sldId id="1482" r:id="rId10"/>
    <p:sldId id="1489" r:id="rId11"/>
    <p:sldId id="1488" r:id="rId12"/>
    <p:sldId id="1538" r:id="rId13"/>
    <p:sldId id="1490" r:id="rId14"/>
    <p:sldId id="1525" r:id="rId15"/>
    <p:sldId id="1526" r:id="rId16"/>
    <p:sldId id="1529" r:id="rId17"/>
    <p:sldId id="1530" r:id="rId18"/>
    <p:sldId id="1500" r:id="rId19"/>
    <p:sldId id="1499" r:id="rId20"/>
    <p:sldId id="1502" r:id="rId21"/>
    <p:sldId id="1501" r:id="rId22"/>
    <p:sldId id="1518" r:id="rId23"/>
    <p:sldId id="1504" r:id="rId24"/>
    <p:sldId id="1523" r:id="rId25"/>
    <p:sldId id="1506" r:id="rId26"/>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432FF"/>
    <a:srgbClr val="308D3E"/>
    <a:srgbClr val="FFD579"/>
    <a:srgbClr val="C5FFFC"/>
    <a:srgbClr val="D5FC79"/>
    <a:srgbClr val="9437FF"/>
    <a:srgbClr val="FF40FF"/>
    <a:srgbClr val="1BA05F"/>
    <a:srgbClr val="FFECE5"/>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611A76-2B7C-4B77-8BCC-0C2918D7F0C9}" v="1" dt="2026-02-09T11:00:18.98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E8B1032C-EA38-4F05-BA0D-38AFFFC7BED3}" styleName="Light Style 3 - Accent 6">
    <a:wholeTbl>
      <a:tcTxStyle>
        <a:fontRef idx="minor">
          <a:scrgbClr r="0" g="0" b="0"/>
        </a:fontRef>
        <a:schemeClr val="tx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noFill/>
        </a:fill>
      </a:tcStyle>
    </a:wholeTbl>
    <a:band1H>
      <a:tcStyle>
        <a:tcBdr/>
        <a:fill>
          <a:solidFill>
            <a:schemeClr val="accent6">
              <a:alpha val="20000"/>
            </a:schemeClr>
          </a:solidFill>
        </a:fill>
      </a:tcStyle>
    </a:band1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noFill/>
        </a:fill>
      </a:tcStyle>
    </a:lastRow>
    <a:firstRow>
      <a:tcTxStyle b="on"/>
      <a:tcStyle>
        <a:tcBdr>
          <a:bottom>
            <a:ln w="25400" cmpd="sng">
              <a:solidFill>
                <a:schemeClr val="accent6"/>
              </a:solidFill>
            </a:ln>
          </a:bottom>
        </a:tcBdr>
        <a:fill>
          <a:no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28" autoAdjust="0"/>
    <p:restoredTop sz="82470"/>
  </p:normalViewPr>
  <p:slideViewPr>
    <p:cSldViewPr snapToGrid="0" snapToObjects="1">
      <p:cViewPr varScale="1">
        <p:scale>
          <a:sx n="88" d="100"/>
          <a:sy n="88" d="100"/>
        </p:scale>
        <p:origin x="108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hmed Akhtar" userId="24df8cbf-c4bb-4b0f-990a-c34b46f32809" providerId="ADAL" clId="{7B603757-AF4F-447D-9CF3-5B3B3781D1BD}"/>
    <pc:docChg chg="custSel addSld delSld modSld modMainMaster">
      <pc:chgData name="Ahmed Akhtar" userId="24df8cbf-c4bb-4b0f-990a-c34b46f32809" providerId="ADAL" clId="{7B603757-AF4F-447D-9CF3-5B3B3781D1BD}" dt="2026-02-10T09:22:37.332" v="45" actId="20577"/>
      <pc:docMkLst>
        <pc:docMk/>
      </pc:docMkLst>
      <pc:sldChg chg="addAnim delAnim modAnim">
        <pc:chgData name="Ahmed Akhtar" userId="24df8cbf-c4bb-4b0f-990a-c34b46f32809" providerId="ADAL" clId="{7B603757-AF4F-447D-9CF3-5B3B3781D1BD}" dt="2026-02-09T11:00:18.983" v="42"/>
        <pc:sldMkLst>
          <pc:docMk/>
          <pc:sldMk cId="2540148132" sldId="1473"/>
        </pc:sldMkLst>
      </pc:sldChg>
      <pc:sldChg chg="modNotesTx">
        <pc:chgData name="Ahmed Akhtar" userId="24df8cbf-c4bb-4b0f-990a-c34b46f32809" providerId="ADAL" clId="{7B603757-AF4F-447D-9CF3-5B3B3781D1BD}" dt="2026-02-10T09:22:37.332" v="45" actId="20577"/>
        <pc:sldMkLst>
          <pc:docMk/>
          <pc:sldMk cId="1648889882" sldId="1480"/>
        </pc:sldMkLst>
      </pc:sldChg>
      <pc:sldChg chg="delSp modSp mod">
        <pc:chgData name="Ahmed Akhtar" userId="24df8cbf-c4bb-4b0f-990a-c34b46f32809" providerId="ADAL" clId="{7B603757-AF4F-447D-9CF3-5B3B3781D1BD}" dt="2026-02-03T03:24:08.514" v="22" actId="2711"/>
        <pc:sldMkLst>
          <pc:docMk/>
          <pc:sldMk cId="3932124533" sldId="1495"/>
        </pc:sldMkLst>
        <pc:spChg chg="mod">
          <ac:chgData name="Ahmed Akhtar" userId="24df8cbf-c4bb-4b0f-990a-c34b46f32809" providerId="ADAL" clId="{7B603757-AF4F-447D-9CF3-5B3B3781D1BD}" dt="2026-02-03T03:24:08.514" v="22" actId="2711"/>
          <ac:spMkLst>
            <pc:docMk/>
            <pc:sldMk cId="3932124533" sldId="1495"/>
            <ac:spMk id="2" creationId="{CB2E6598-1BCC-12E5-089B-4CB08DC18AE2}"/>
          </ac:spMkLst>
        </pc:spChg>
      </pc:sldChg>
      <pc:sldChg chg="modNotesTx">
        <pc:chgData name="Ahmed Akhtar" userId="24df8cbf-c4bb-4b0f-990a-c34b46f32809" providerId="ADAL" clId="{7B603757-AF4F-447D-9CF3-5B3B3781D1BD}" dt="2026-02-10T09:22:30.984" v="44" actId="20577"/>
        <pc:sldMkLst>
          <pc:docMk/>
          <pc:sldMk cId="1225581879" sldId="1497"/>
        </pc:sldMkLst>
      </pc:sldChg>
      <pc:sldChg chg="delSp mod">
        <pc:chgData name="Ahmed Akhtar" userId="24df8cbf-c4bb-4b0f-990a-c34b46f32809" providerId="ADAL" clId="{7B603757-AF4F-447D-9CF3-5B3B3781D1BD}" dt="2026-02-03T03:28:55.455" v="40" actId="478"/>
        <pc:sldMkLst>
          <pc:docMk/>
          <pc:sldMk cId="2450911109" sldId="1500"/>
        </pc:sldMkLst>
      </pc:sldChg>
      <pc:sldChg chg="del">
        <pc:chgData name="Ahmed Akhtar" userId="24df8cbf-c4bb-4b0f-990a-c34b46f32809" providerId="ADAL" clId="{7B603757-AF4F-447D-9CF3-5B3B3781D1BD}" dt="2026-02-09T12:39:11.389" v="43" actId="47"/>
        <pc:sldMkLst>
          <pc:docMk/>
          <pc:sldMk cId="1360549083" sldId="1507"/>
        </pc:sldMkLst>
      </pc:sldChg>
      <pc:sldChg chg="del">
        <pc:chgData name="Ahmed Akhtar" userId="24df8cbf-c4bb-4b0f-990a-c34b46f32809" providerId="ADAL" clId="{7B603757-AF4F-447D-9CF3-5B3B3781D1BD}" dt="2026-02-09T12:39:11.389" v="43" actId="47"/>
        <pc:sldMkLst>
          <pc:docMk/>
          <pc:sldMk cId="71265679" sldId="1508"/>
        </pc:sldMkLst>
      </pc:sldChg>
      <pc:sldChg chg="del">
        <pc:chgData name="Ahmed Akhtar" userId="24df8cbf-c4bb-4b0f-990a-c34b46f32809" providerId="ADAL" clId="{7B603757-AF4F-447D-9CF3-5B3B3781D1BD}" dt="2026-02-09T12:39:11.389" v="43" actId="47"/>
        <pc:sldMkLst>
          <pc:docMk/>
          <pc:sldMk cId="4088338737" sldId="1509"/>
        </pc:sldMkLst>
      </pc:sldChg>
      <pc:sldChg chg="del">
        <pc:chgData name="Ahmed Akhtar" userId="24df8cbf-c4bb-4b0f-990a-c34b46f32809" providerId="ADAL" clId="{7B603757-AF4F-447D-9CF3-5B3B3781D1BD}" dt="2026-02-09T12:39:11.389" v="43" actId="47"/>
        <pc:sldMkLst>
          <pc:docMk/>
          <pc:sldMk cId="1767733776" sldId="1515"/>
        </pc:sldMkLst>
      </pc:sldChg>
      <pc:sldChg chg="del">
        <pc:chgData name="Ahmed Akhtar" userId="24df8cbf-c4bb-4b0f-990a-c34b46f32809" providerId="ADAL" clId="{7B603757-AF4F-447D-9CF3-5B3B3781D1BD}" dt="2026-02-09T12:39:11.389" v="43" actId="47"/>
        <pc:sldMkLst>
          <pc:docMk/>
          <pc:sldMk cId="3684748762" sldId="1521"/>
        </pc:sldMkLst>
      </pc:sldChg>
      <pc:sldChg chg="del">
        <pc:chgData name="Ahmed Akhtar" userId="24df8cbf-c4bb-4b0f-990a-c34b46f32809" providerId="ADAL" clId="{7B603757-AF4F-447D-9CF3-5B3B3781D1BD}" dt="2026-02-09T12:39:11.389" v="43" actId="47"/>
        <pc:sldMkLst>
          <pc:docMk/>
          <pc:sldMk cId="2991990499" sldId="1531"/>
        </pc:sldMkLst>
      </pc:sldChg>
      <pc:sldChg chg="del">
        <pc:chgData name="Ahmed Akhtar" userId="24df8cbf-c4bb-4b0f-990a-c34b46f32809" providerId="ADAL" clId="{7B603757-AF4F-447D-9CF3-5B3B3781D1BD}" dt="2026-02-09T12:39:11.389" v="43" actId="47"/>
        <pc:sldMkLst>
          <pc:docMk/>
          <pc:sldMk cId="156952764" sldId="1532"/>
        </pc:sldMkLst>
      </pc:sldChg>
      <pc:sldChg chg="delSp modSp mod">
        <pc:chgData name="Ahmed Akhtar" userId="24df8cbf-c4bb-4b0f-990a-c34b46f32809" providerId="ADAL" clId="{7B603757-AF4F-447D-9CF3-5B3B3781D1BD}" dt="2026-02-03T03:26:34.640" v="39" actId="2711"/>
        <pc:sldMkLst>
          <pc:docMk/>
          <pc:sldMk cId="1604299052" sldId="1538"/>
        </pc:sldMkLst>
        <pc:spChg chg="mod">
          <ac:chgData name="Ahmed Akhtar" userId="24df8cbf-c4bb-4b0f-990a-c34b46f32809" providerId="ADAL" clId="{7B603757-AF4F-447D-9CF3-5B3B3781D1BD}" dt="2026-02-03T03:26:34.640" v="39" actId="2711"/>
          <ac:spMkLst>
            <pc:docMk/>
            <pc:sldMk cId="1604299052" sldId="1538"/>
            <ac:spMk id="2" creationId="{464B1AA8-6171-1531-F5A6-A2B6AEE16818}"/>
          </ac:spMkLst>
        </pc:spChg>
      </pc:sldChg>
      <pc:sldChg chg="add">
        <pc:chgData name="Ahmed Akhtar" userId="24df8cbf-c4bb-4b0f-990a-c34b46f32809" providerId="ADAL" clId="{7B603757-AF4F-447D-9CF3-5B3B3781D1BD}" dt="2026-02-03T03:21:00.808" v="0"/>
        <pc:sldMkLst>
          <pc:docMk/>
          <pc:sldMk cId="2183615406" sldId="1539"/>
        </pc:sldMkLst>
      </pc:sldChg>
      <pc:sldMasterChg chg="modSp">
        <pc:chgData name="Ahmed Akhtar" userId="24df8cbf-c4bb-4b0f-990a-c34b46f32809" providerId="ADAL" clId="{7B603757-AF4F-447D-9CF3-5B3B3781D1BD}" dt="2026-02-03T03:21:48.154" v="3"/>
        <pc:sldMasterMkLst>
          <pc:docMk/>
          <pc:sldMasterMk cId="2926153553" sldId="2147483668"/>
        </pc:sldMasterMkLst>
        <pc:spChg chg="mod">
          <ac:chgData name="Ahmed Akhtar" userId="24df8cbf-c4bb-4b0f-990a-c34b46f32809" providerId="ADAL" clId="{7B603757-AF4F-447D-9CF3-5B3B3781D1BD}" dt="2026-02-03T03:21:48.154" v="3"/>
          <ac:spMkLst>
            <pc:docMk/>
            <pc:sldMasterMk cId="2926153553" sldId="2147483668"/>
            <ac:spMk id="9" creationId="{CB69E88A-7B5E-60E0-B736-7FCE9C47388C}"/>
          </ac:spMkLst>
        </pc:sp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613B30-E6E3-CF4E-BBFC-C0D557DB9A15}" type="datetimeFigureOut">
              <a:rPr lang="en-PK" smtClean="0"/>
              <a:t>09/02/2026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007DBF7-D854-5948-86B6-07B87F1D8E96}" type="slidenum">
              <a:rPr lang="en-PK" smtClean="0"/>
              <a:t>‹#›</a:t>
            </a:fld>
            <a:endParaRPr lang="en-PK"/>
          </a:p>
        </p:txBody>
      </p:sp>
    </p:spTree>
    <p:extLst>
      <p:ext uri="{BB962C8B-B14F-4D97-AF65-F5344CB8AC3E}">
        <p14:creationId xmlns:p14="http://schemas.microsoft.com/office/powerpoint/2010/main" val="14142814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1B9441-6582-E7F9-4722-23CA10EF93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36AECBD-37BA-320F-0498-2FBDDF25A4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140E71-C87A-0B56-00D5-27F7BEAA3768}"/>
              </a:ext>
            </a:extLst>
          </p:cNvPr>
          <p:cNvSpPr>
            <a:spLocks noGrp="1"/>
          </p:cNvSpPr>
          <p:nvPr>
            <p:ph type="body" idx="1"/>
          </p:nvPr>
        </p:nvSpPr>
        <p:spPr/>
        <p:txBody>
          <a:bodyPr/>
          <a:lstStyle/>
          <a:p>
            <a:endParaRPr lang="en-PK" dirty="0"/>
          </a:p>
        </p:txBody>
      </p:sp>
      <p:sp>
        <p:nvSpPr>
          <p:cNvPr id="4" name="Slide Number Placeholder 3">
            <a:extLst>
              <a:ext uri="{FF2B5EF4-FFF2-40B4-BE49-F238E27FC236}">
                <a16:creationId xmlns:a16="http://schemas.microsoft.com/office/drawing/2014/main" id="{BF5946C2-ED0D-D3F0-737B-0299160800D4}"/>
              </a:ext>
            </a:extLst>
          </p:cNvPr>
          <p:cNvSpPr>
            <a:spLocks noGrp="1"/>
          </p:cNvSpPr>
          <p:nvPr>
            <p:ph type="sldNum" sz="quarter" idx="5"/>
          </p:nvPr>
        </p:nvSpPr>
        <p:spPr/>
        <p:txBody>
          <a:bodyPr/>
          <a:lstStyle/>
          <a:p>
            <a:fld id="{8007DBF7-D854-5948-86B6-07B87F1D8E96}" type="slidenum">
              <a:rPr lang="en-PK" smtClean="0"/>
              <a:t>1</a:t>
            </a:fld>
            <a:endParaRPr lang="en-PK"/>
          </a:p>
        </p:txBody>
      </p:sp>
    </p:spTree>
    <p:extLst>
      <p:ext uri="{BB962C8B-B14F-4D97-AF65-F5344CB8AC3E}">
        <p14:creationId xmlns:p14="http://schemas.microsoft.com/office/powerpoint/2010/main" val="31632322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t>AND CAN ALSO OPTIONALLY (why?): If Alice does not want anyone else, other than Bob, to read the message!</a:t>
            </a:r>
          </a:p>
          <a:p>
            <a:endParaRPr lang="en-US" sz="1200" b="1" dirty="0"/>
          </a:p>
          <a:p>
            <a:r>
              <a:rPr lang="en-US" sz="1200" b="1" dirty="0"/>
              <a:t>Is Bob now sure about a message that he may receive as coming from Alice? Still NO!</a:t>
            </a:r>
          </a:p>
        </p:txBody>
      </p:sp>
      <p:sp>
        <p:nvSpPr>
          <p:cNvPr id="4" name="Slide Number Placeholder 3"/>
          <p:cNvSpPr>
            <a:spLocks noGrp="1"/>
          </p:cNvSpPr>
          <p:nvPr>
            <p:ph type="sldNum" sz="quarter" idx="5"/>
          </p:nvPr>
        </p:nvSpPr>
        <p:spPr/>
        <p:txBody>
          <a:bodyPr/>
          <a:lstStyle/>
          <a:p>
            <a:fld id="{8007DBF7-D854-5948-86B6-07B87F1D8E96}" type="slidenum">
              <a:rPr lang="en-PK" smtClean="0"/>
              <a:t>3</a:t>
            </a:fld>
            <a:endParaRPr lang="en-PK"/>
          </a:p>
        </p:txBody>
      </p:sp>
    </p:spTree>
    <p:extLst>
      <p:ext uri="{BB962C8B-B14F-4D97-AF65-F5344CB8AC3E}">
        <p14:creationId xmlns:p14="http://schemas.microsoft.com/office/powerpoint/2010/main" val="17955568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8007DBF7-D854-5948-86B6-07B87F1D8E96}" type="slidenum">
              <a:rPr lang="en-PK" smtClean="0"/>
              <a:t>6</a:t>
            </a:fld>
            <a:endParaRPr lang="en-PK"/>
          </a:p>
        </p:txBody>
      </p:sp>
    </p:spTree>
    <p:extLst>
      <p:ext uri="{BB962C8B-B14F-4D97-AF65-F5344CB8AC3E}">
        <p14:creationId xmlns:p14="http://schemas.microsoft.com/office/powerpoint/2010/main" val="34811377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b="1" dirty="0"/>
          </a:p>
        </p:txBody>
      </p:sp>
      <p:sp>
        <p:nvSpPr>
          <p:cNvPr id="4" name="Slide Number Placeholder 3"/>
          <p:cNvSpPr>
            <a:spLocks noGrp="1"/>
          </p:cNvSpPr>
          <p:nvPr>
            <p:ph type="sldNum" sz="quarter" idx="5"/>
          </p:nvPr>
        </p:nvSpPr>
        <p:spPr/>
        <p:txBody>
          <a:bodyPr/>
          <a:lstStyle/>
          <a:p>
            <a:fld id="{8007DBF7-D854-5948-86B6-07B87F1D8E96}" type="slidenum">
              <a:rPr lang="en-PK" smtClean="0"/>
              <a:t>7</a:t>
            </a:fld>
            <a:endParaRPr lang="en-PK"/>
          </a:p>
        </p:txBody>
      </p:sp>
    </p:spTree>
    <p:extLst>
      <p:ext uri="{BB962C8B-B14F-4D97-AF65-F5344CB8AC3E}">
        <p14:creationId xmlns:p14="http://schemas.microsoft.com/office/powerpoint/2010/main" val="297840595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PK" sz="1200" b="1" dirty="0">
              <a:solidFill>
                <a:srgbClr val="7030A0"/>
              </a:solidFill>
            </a:endParaRPr>
          </a:p>
        </p:txBody>
      </p:sp>
      <p:sp>
        <p:nvSpPr>
          <p:cNvPr id="4" name="Slide Number Placeholder 3"/>
          <p:cNvSpPr>
            <a:spLocks noGrp="1"/>
          </p:cNvSpPr>
          <p:nvPr>
            <p:ph type="sldNum" sz="quarter" idx="5"/>
          </p:nvPr>
        </p:nvSpPr>
        <p:spPr/>
        <p:txBody>
          <a:bodyPr/>
          <a:lstStyle/>
          <a:p>
            <a:fld id="{8007DBF7-D854-5948-86B6-07B87F1D8E96}" type="slidenum">
              <a:rPr lang="en-PK" smtClean="0"/>
              <a:t>8</a:t>
            </a:fld>
            <a:endParaRPr lang="en-PK"/>
          </a:p>
        </p:txBody>
      </p:sp>
    </p:spTree>
    <p:extLst>
      <p:ext uri="{BB962C8B-B14F-4D97-AF65-F5344CB8AC3E}">
        <p14:creationId xmlns:p14="http://schemas.microsoft.com/office/powerpoint/2010/main" val="5583049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K" sz="1200" dirty="0"/>
              <a:t>What happens to the transaction in which the malicious miner had spent? Does it go back to the mempool?</a:t>
            </a:r>
          </a:p>
          <a:p>
            <a:r>
              <a:rPr lang="en-PK" dirty="0"/>
              <a:t>Multiple possibilities:</a:t>
            </a:r>
          </a:p>
          <a:p>
            <a:pPr marL="228600" indent="-228600">
              <a:buAutoNum type="arabicParenR"/>
            </a:pPr>
            <a:r>
              <a:rPr lang="en-PK" dirty="0"/>
              <a:t>Malicious miner had only kept it in his mempool (not broadcasted) and had mined that block himself. After that block becomes RED (not part of the longest chain), the transaction goes back to the mempool of the malicious miner who simply removes the transaction from t</a:t>
            </a:r>
            <a:r>
              <a:rPr lang="en-GB" dirty="0"/>
              <a:t>he</a:t>
            </a:r>
            <a:r>
              <a:rPr lang="en-PK" dirty="0"/>
              <a:t> mempool</a:t>
            </a:r>
          </a:p>
          <a:p>
            <a:pPr marL="228600" indent="-228600">
              <a:buAutoNum type="arabicParenR"/>
            </a:pPr>
            <a:r>
              <a:rPr lang="en-PK" dirty="0"/>
              <a:t>If the said transaction was broadcasted and added in a block mined by someone else, it would go back to the pool and potentially could be mined again – the malicious guy can just repeat the same stuff</a:t>
            </a:r>
          </a:p>
          <a:p>
            <a:pPr marL="228600" indent="-228600">
              <a:buAutoNum type="arabicParenR"/>
            </a:pPr>
            <a:r>
              <a:rPr lang="en-PK" dirty="0"/>
              <a:t>Immediately after the block with said transaction turns RED, the malicious miner spends that money (and may well choose to pay himself)</a:t>
            </a:r>
          </a:p>
        </p:txBody>
      </p:sp>
      <p:sp>
        <p:nvSpPr>
          <p:cNvPr id="4" name="Slide Number Placeholder 3"/>
          <p:cNvSpPr>
            <a:spLocks noGrp="1"/>
          </p:cNvSpPr>
          <p:nvPr>
            <p:ph type="sldNum" sz="quarter" idx="5"/>
          </p:nvPr>
        </p:nvSpPr>
        <p:spPr/>
        <p:txBody>
          <a:bodyPr/>
          <a:lstStyle/>
          <a:p>
            <a:fld id="{8007DBF7-D854-5948-86B6-07B87F1D8E96}" type="slidenum">
              <a:rPr lang="en-PK" smtClean="0"/>
              <a:t>17</a:t>
            </a:fld>
            <a:endParaRPr lang="en-PK"/>
          </a:p>
        </p:txBody>
      </p:sp>
    </p:spTree>
    <p:extLst>
      <p:ext uri="{BB962C8B-B14F-4D97-AF65-F5344CB8AC3E}">
        <p14:creationId xmlns:p14="http://schemas.microsoft.com/office/powerpoint/2010/main" val="34169458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PK" b="1" dirty="0"/>
              <a:t>In the last 10 years (Preceding Sept 16, 2025)</a:t>
            </a:r>
          </a:p>
          <a:p>
            <a:r>
              <a:rPr lang="en-PK" dirty="0"/>
              <a:t>Slightly less than 3x increase in Gold Price</a:t>
            </a:r>
          </a:p>
          <a:p>
            <a:r>
              <a:rPr lang="en-PK" dirty="0"/>
              <a:t>Slightly more than 300x increase in NVDA stock price</a:t>
            </a:r>
          </a:p>
        </p:txBody>
      </p:sp>
      <p:sp>
        <p:nvSpPr>
          <p:cNvPr id="4" name="Slide Number Placeholder 3"/>
          <p:cNvSpPr>
            <a:spLocks noGrp="1"/>
          </p:cNvSpPr>
          <p:nvPr>
            <p:ph type="sldNum" sz="quarter" idx="5"/>
          </p:nvPr>
        </p:nvSpPr>
        <p:spPr/>
        <p:txBody>
          <a:bodyPr/>
          <a:lstStyle/>
          <a:p>
            <a:fld id="{8007DBF7-D854-5948-86B6-07B87F1D8E96}" type="slidenum">
              <a:rPr lang="en-PK" smtClean="0"/>
              <a:t>24</a:t>
            </a:fld>
            <a:endParaRPr lang="en-PK"/>
          </a:p>
        </p:txBody>
      </p:sp>
    </p:spTree>
    <p:extLst>
      <p:ext uri="{BB962C8B-B14F-4D97-AF65-F5344CB8AC3E}">
        <p14:creationId xmlns:p14="http://schemas.microsoft.com/office/powerpoint/2010/main" val="386232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CC7858-D394-1DF3-8548-66CE55288883}"/>
              </a:ext>
            </a:extLst>
          </p:cNvPr>
          <p:cNvSpPr>
            <a:spLocks noGrp="1"/>
          </p:cNvSpPr>
          <p:nvPr>
            <p:ph type="ctrTitle"/>
          </p:nvPr>
        </p:nvSpPr>
        <p:spPr>
          <a:xfrm>
            <a:off x="1524000" y="1894523"/>
            <a:ext cx="9144000" cy="2387600"/>
          </a:xfrm>
        </p:spPr>
        <p:txBody>
          <a:bodyPr anchor="b">
            <a:normAutofit/>
          </a:bodyPr>
          <a:lstStyle>
            <a:lvl1pPr algn="ctr">
              <a:defRPr sz="5400">
                <a:solidFill>
                  <a:srgbClr val="0432FF"/>
                </a:solidFill>
              </a:defRPr>
            </a:lvl1pPr>
          </a:lstStyle>
          <a:p>
            <a:r>
              <a:rPr lang="en-GB" dirty="0"/>
              <a:t>Click to edit Master title style</a:t>
            </a:r>
            <a:endParaRPr lang="en-PK" dirty="0"/>
          </a:p>
        </p:txBody>
      </p:sp>
      <p:sp>
        <p:nvSpPr>
          <p:cNvPr id="3" name="Subtitle 2">
            <a:extLst>
              <a:ext uri="{FF2B5EF4-FFF2-40B4-BE49-F238E27FC236}">
                <a16:creationId xmlns:a16="http://schemas.microsoft.com/office/drawing/2014/main" id="{0676C1A2-C823-594D-0305-E762FC21A848}"/>
              </a:ext>
            </a:extLst>
          </p:cNvPr>
          <p:cNvSpPr>
            <a:spLocks noGrp="1"/>
          </p:cNvSpPr>
          <p:nvPr>
            <p:ph type="subTitle" idx="1"/>
          </p:nvPr>
        </p:nvSpPr>
        <p:spPr>
          <a:xfrm>
            <a:off x="1524000" y="4561840"/>
            <a:ext cx="9144000" cy="158496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PK" dirty="0"/>
          </a:p>
        </p:txBody>
      </p:sp>
      <p:sp>
        <p:nvSpPr>
          <p:cNvPr id="4" name="Date Placeholder 3">
            <a:extLst>
              <a:ext uri="{FF2B5EF4-FFF2-40B4-BE49-F238E27FC236}">
                <a16:creationId xmlns:a16="http://schemas.microsoft.com/office/drawing/2014/main" id="{D21EADBC-FC3A-F6AB-47B4-2E47609F86F4}"/>
              </a:ext>
            </a:extLst>
          </p:cNvPr>
          <p:cNvSpPr>
            <a:spLocks noGrp="1"/>
          </p:cNvSpPr>
          <p:nvPr>
            <p:ph type="dt" sz="half" idx="10"/>
          </p:nvPr>
        </p:nvSpPr>
        <p:spPr/>
        <p:txBody>
          <a:bodyPr/>
          <a:lstStyle/>
          <a:p>
            <a:fld id="{C3849243-4112-7B47-A574-2D273E35D5BF}" type="datetime1">
              <a:rPr lang="en-US" smtClean="0"/>
              <a:t>2/9/2026</a:t>
            </a:fld>
            <a:endParaRPr lang="en-US" dirty="0"/>
          </a:p>
        </p:txBody>
      </p:sp>
      <p:sp>
        <p:nvSpPr>
          <p:cNvPr id="5" name="Footer Placeholder 4">
            <a:extLst>
              <a:ext uri="{FF2B5EF4-FFF2-40B4-BE49-F238E27FC236}">
                <a16:creationId xmlns:a16="http://schemas.microsoft.com/office/drawing/2014/main" id="{A40CD5FA-CF77-D285-681E-29E6811E87F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A101942-960C-299C-A498-C3ED2A47A96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55410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C2BD9A-E09E-27C0-F440-9D83036CB997}"/>
              </a:ext>
            </a:extLst>
          </p:cNvPr>
          <p:cNvSpPr>
            <a:spLocks noGrp="1"/>
          </p:cNvSpPr>
          <p:nvPr>
            <p:ph type="title"/>
          </p:nvPr>
        </p:nvSpPr>
        <p:spPr>
          <a:xfrm>
            <a:off x="487680" y="101601"/>
            <a:ext cx="11186160" cy="985519"/>
          </a:xfrm>
        </p:spPr>
        <p:txBody>
          <a:bodyPr/>
          <a:lstStyle>
            <a:lvl1pPr>
              <a:defRPr>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5E8317A4-8BBD-54EB-8341-6A6B099145E6}"/>
              </a:ext>
            </a:extLst>
          </p:cNvPr>
          <p:cNvSpPr>
            <a:spLocks noGrp="1"/>
          </p:cNvSpPr>
          <p:nvPr>
            <p:ph idx="1"/>
          </p:nvPr>
        </p:nvSpPr>
        <p:spPr>
          <a:xfrm>
            <a:off x="487680" y="1097280"/>
            <a:ext cx="11186160" cy="5079683"/>
          </a:xfrm>
        </p:spPr>
        <p:txBody>
          <a:bodyPr>
            <a:normAutofit/>
          </a:bodyPr>
          <a:lstStyle>
            <a:lvl1pPr>
              <a:defRPr sz="3200"/>
            </a:lvl1pPr>
            <a:lvl2pPr marL="685800" indent="-228600">
              <a:buFont typeface="System Font Regular"/>
              <a:buChar char="−"/>
              <a:defRPr sz="2800"/>
            </a:lvl2pPr>
            <a:lvl3pPr marL="1143000" indent="-228600">
              <a:buFont typeface="Wingdings" pitchFamily="2" charset="2"/>
              <a:buChar char="§"/>
              <a:defRPr sz="2400"/>
            </a:lvl3pPr>
            <a:lvl4pPr>
              <a:defRPr sz="2000"/>
            </a:lvl4pPr>
            <a:lvl5pPr>
              <a:defRPr sz="20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PK" dirty="0"/>
          </a:p>
        </p:txBody>
      </p:sp>
      <p:sp>
        <p:nvSpPr>
          <p:cNvPr id="10" name="Date Placeholder 9">
            <a:extLst>
              <a:ext uri="{FF2B5EF4-FFF2-40B4-BE49-F238E27FC236}">
                <a16:creationId xmlns:a16="http://schemas.microsoft.com/office/drawing/2014/main" id="{5348C2E2-1287-A287-C5A8-249139348A29}"/>
              </a:ext>
            </a:extLst>
          </p:cNvPr>
          <p:cNvSpPr>
            <a:spLocks noGrp="1"/>
          </p:cNvSpPr>
          <p:nvPr>
            <p:ph type="dt" sz="half" idx="10"/>
          </p:nvPr>
        </p:nvSpPr>
        <p:spPr/>
        <p:txBody>
          <a:bodyPr/>
          <a:lstStyle/>
          <a:p>
            <a:fld id="{817CC187-CAD7-6048-8C63-99BBB8908136}" type="datetime1">
              <a:rPr lang="en-US" smtClean="0"/>
              <a:t>2/9/2026</a:t>
            </a:fld>
            <a:endParaRPr lang="en-US" dirty="0"/>
          </a:p>
        </p:txBody>
      </p:sp>
      <p:sp>
        <p:nvSpPr>
          <p:cNvPr id="11" name="Footer Placeholder 10">
            <a:extLst>
              <a:ext uri="{FF2B5EF4-FFF2-40B4-BE49-F238E27FC236}">
                <a16:creationId xmlns:a16="http://schemas.microsoft.com/office/drawing/2014/main" id="{1DC7CB26-524D-696E-CC83-507688F1F030}"/>
              </a:ext>
            </a:extLst>
          </p:cNvPr>
          <p:cNvSpPr>
            <a:spLocks noGrp="1"/>
          </p:cNvSpPr>
          <p:nvPr>
            <p:ph type="ftr" sz="quarter" idx="11"/>
          </p:nvPr>
        </p:nvSpPr>
        <p:spPr/>
        <p:txBody>
          <a:bodyPr/>
          <a:lstStyle/>
          <a:p>
            <a:endParaRPr lang="en-US" dirty="0"/>
          </a:p>
        </p:txBody>
      </p:sp>
      <p:sp>
        <p:nvSpPr>
          <p:cNvPr id="12" name="Slide Number Placeholder 11">
            <a:extLst>
              <a:ext uri="{FF2B5EF4-FFF2-40B4-BE49-F238E27FC236}">
                <a16:creationId xmlns:a16="http://schemas.microsoft.com/office/drawing/2014/main" id="{C5E6A54D-DC81-738E-1BEE-B237D69CCA82}"/>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7728594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4648-4538-750C-7EE1-223668DCD0E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K"/>
          </a:p>
        </p:txBody>
      </p:sp>
      <p:sp>
        <p:nvSpPr>
          <p:cNvPr id="3" name="Text Placeholder 2">
            <a:extLst>
              <a:ext uri="{FF2B5EF4-FFF2-40B4-BE49-F238E27FC236}">
                <a16:creationId xmlns:a16="http://schemas.microsoft.com/office/drawing/2014/main" id="{5600F2E1-ECAA-4DD2-425F-64F40CAD30E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DBE963A2-C90D-F927-6660-D043609CC6B9}"/>
              </a:ext>
            </a:extLst>
          </p:cNvPr>
          <p:cNvSpPr>
            <a:spLocks noGrp="1"/>
          </p:cNvSpPr>
          <p:nvPr>
            <p:ph type="dt" sz="half" idx="10"/>
          </p:nvPr>
        </p:nvSpPr>
        <p:spPr/>
        <p:txBody>
          <a:bodyPr/>
          <a:lstStyle/>
          <a:p>
            <a:fld id="{AB3EF2E6-6629-DA43-81BC-EC712F4B5466}" type="datetime1">
              <a:rPr lang="en-US" smtClean="0"/>
              <a:t>2/9/2026</a:t>
            </a:fld>
            <a:endParaRPr lang="en-US" dirty="0"/>
          </a:p>
        </p:txBody>
      </p:sp>
      <p:sp>
        <p:nvSpPr>
          <p:cNvPr id="5" name="Footer Placeholder 4">
            <a:extLst>
              <a:ext uri="{FF2B5EF4-FFF2-40B4-BE49-F238E27FC236}">
                <a16:creationId xmlns:a16="http://schemas.microsoft.com/office/drawing/2014/main" id="{38BFE049-0473-B4C2-1291-C73354AD41D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1731B0E-4E34-EAD8-A1D1-57CBD5CE222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0064700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AC6983-ACF4-D2FF-550D-7521D9C10608}"/>
              </a:ext>
            </a:extLst>
          </p:cNvPr>
          <p:cNvSpPr>
            <a:spLocks noGrp="1"/>
          </p:cNvSpPr>
          <p:nvPr>
            <p:ph type="title"/>
          </p:nvPr>
        </p:nvSpPr>
        <p:spPr/>
        <p:txBody>
          <a:bodyPr/>
          <a:lstStyle>
            <a:lvl1pPr>
              <a:defRPr baseline="0">
                <a:solidFill>
                  <a:schemeClr val="tx1"/>
                </a:solidFill>
              </a:defRPr>
            </a:lvl1pPr>
          </a:lstStyle>
          <a:p>
            <a:r>
              <a:rPr lang="en-GB" dirty="0"/>
              <a:t>Click to edit Master title style</a:t>
            </a:r>
            <a:endParaRPr lang="en-PK" dirty="0"/>
          </a:p>
        </p:txBody>
      </p:sp>
      <p:sp>
        <p:nvSpPr>
          <p:cNvPr id="3" name="Content Placeholder 2">
            <a:extLst>
              <a:ext uri="{FF2B5EF4-FFF2-40B4-BE49-F238E27FC236}">
                <a16:creationId xmlns:a16="http://schemas.microsoft.com/office/drawing/2014/main" id="{867760F6-F485-781B-D79F-C026B432F21F}"/>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Content Placeholder 3">
            <a:extLst>
              <a:ext uri="{FF2B5EF4-FFF2-40B4-BE49-F238E27FC236}">
                <a16:creationId xmlns:a16="http://schemas.microsoft.com/office/drawing/2014/main" id="{0C0A9B31-1608-966B-6FF9-D180F6BA70E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Date Placeholder 4">
            <a:extLst>
              <a:ext uri="{FF2B5EF4-FFF2-40B4-BE49-F238E27FC236}">
                <a16:creationId xmlns:a16="http://schemas.microsoft.com/office/drawing/2014/main" id="{AE4E9F2A-B43F-F0D4-3F76-27FB4DE7B7DA}"/>
              </a:ext>
            </a:extLst>
          </p:cNvPr>
          <p:cNvSpPr>
            <a:spLocks noGrp="1"/>
          </p:cNvSpPr>
          <p:nvPr>
            <p:ph type="dt" sz="half" idx="10"/>
          </p:nvPr>
        </p:nvSpPr>
        <p:spPr/>
        <p:txBody>
          <a:bodyPr/>
          <a:lstStyle/>
          <a:p>
            <a:fld id="{36F14FDE-C188-ED4A-8904-90C7377CA55E}" type="datetime1">
              <a:rPr lang="en-US" smtClean="0"/>
              <a:t>2/9/2026</a:t>
            </a:fld>
            <a:endParaRPr lang="en-US" dirty="0"/>
          </a:p>
        </p:txBody>
      </p:sp>
      <p:sp>
        <p:nvSpPr>
          <p:cNvPr id="6" name="Footer Placeholder 5">
            <a:extLst>
              <a:ext uri="{FF2B5EF4-FFF2-40B4-BE49-F238E27FC236}">
                <a16:creationId xmlns:a16="http://schemas.microsoft.com/office/drawing/2014/main" id="{8C05907C-697C-ED08-3F75-E31B2EE3DBD2}"/>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CAA1F3D-78B2-4FF0-F5DB-76EFAA2F7941}"/>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553636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C5B2D-0C64-FBAF-5593-D97CF801A3C1}"/>
              </a:ext>
            </a:extLst>
          </p:cNvPr>
          <p:cNvSpPr>
            <a:spLocks noGrp="1"/>
          </p:cNvSpPr>
          <p:nvPr>
            <p:ph type="title"/>
          </p:nvPr>
        </p:nvSpPr>
        <p:spPr>
          <a:xfrm>
            <a:off x="839788" y="365125"/>
            <a:ext cx="10515600" cy="1325563"/>
          </a:xfrm>
        </p:spPr>
        <p:txBody>
          <a:bodyPr/>
          <a:lstStyle/>
          <a:p>
            <a:r>
              <a:rPr lang="en-GB"/>
              <a:t>Click to edit Master title style</a:t>
            </a:r>
            <a:endParaRPr lang="en-PK"/>
          </a:p>
        </p:txBody>
      </p:sp>
      <p:sp>
        <p:nvSpPr>
          <p:cNvPr id="3" name="Text Placeholder 2">
            <a:extLst>
              <a:ext uri="{FF2B5EF4-FFF2-40B4-BE49-F238E27FC236}">
                <a16:creationId xmlns:a16="http://schemas.microsoft.com/office/drawing/2014/main" id="{F451EA66-FAC3-3698-6220-1A94F8A4284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BCA302E-0245-F0D0-D052-B1D8D82B27C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5" name="Text Placeholder 4">
            <a:extLst>
              <a:ext uri="{FF2B5EF4-FFF2-40B4-BE49-F238E27FC236}">
                <a16:creationId xmlns:a16="http://schemas.microsoft.com/office/drawing/2014/main" id="{15CA6952-B46D-38B4-F728-B77FC99602E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00D0A727-B6BA-1E0C-A4A4-CEAA10F30FCF}"/>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7" name="Date Placeholder 6">
            <a:extLst>
              <a:ext uri="{FF2B5EF4-FFF2-40B4-BE49-F238E27FC236}">
                <a16:creationId xmlns:a16="http://schemas.microsoft.com/office/drawing/2014/main" id="{6297075C-8C1E-2AE7-1628-AE106A293753}"/>
              </a:ext>
            </a:extLst>
          </p:cNvPr>
          <p:cNvSpPr>
            <a:spLocks noGrp="1"/>
          </p:cNvSpPr>
          <p:nvPr>
            <p:ph type="dt" sz="half" idx="10"/>
          </p:nvPr>
        </p:nvSpPr>
        <p:spPr/>
        <p:txBody>
          <a:bodyPr/>
          <a:lstStyle/>
          <a:p>
            <a:fld id="{731959A2-FD1F-D047-9B71-2099CD96FB05}" type="datetime1">
              <a:rPr lang="en-US" smtClean="0"/>
              <a:t>2/9/2026</a:t>
            </a:fld>
            <a:endParaRPr lang="en-US" dirty="0"/>
          </a:p>
        </p:txBody>
      </p:sp>
      <p:sp>
        <p:nvSpPr>
          <p:cNvPr id="8" name="Footer Placeholder 7">
            <a:extLst>
              <a:ext uri="{FF2B5EF4-FFF2-40B4-BE49-F238E27FC236}">
                <a16:creationId xmlns:a16="http://schemas.microsoft.com/office/drawing/2014/main" id="{B32270EF-DDC8-5339-C583-77D74079374A}"/>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880C3B1F-1426-32FD-9474-94C0B22380CF}"/>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190646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1D32E3-B42B-8881-ECBD-DD87B0837FE7}"/>
              </a:ext>
            </a:extLst>
          </p:cNvPr>
          <p:cNvSpPr>
            <a:spLocks noGrp="1"/>
          </p:cNvSpPr>
          <p:nvPr>
            <p:ph type="title"/>
          </p:nvPr>
        </p:nvSpPr>
        <p:spPr/>
        <p:txBody>
          <a:bodyPr/>
          <a:lstStyle>
            <a:lvl1pPr>
              <a:defRPr>
                <a:solidFill>
                  <a:schemeClr val="tx1"/>
                </a:solidFill>
              </a:defRPr>
            </a:lvl1pPr>
          </a:lstStyle>
          <a:p>
            <a:r>
              <a:rPr lang="en-GB" dirty="0"/>
              <a:t>Click to edit Master title style</a:t>
            </a:r>
            <a:endParaRPr lang="en-PK" dirty="0"/>
          </a:p>
        </p:txBody>
      </p:sp>
      <p:sp>
        <p:nvSpPr>
          <p:cNvPr id="3" name="Date Placeholder 2">
            <a:extLst>
              <a:ext uri="{FF2B5EF4-FFF2-40B4-BE49-F238E27FC236}">
                <a16:creationId xmlns:a16="http://schemas.microsoft.com/office/drawing/2014/main" id="{02BCC8C1-CDF5-4584-D4F9-21C17A750A43}"/>
              </a:ext>
            </a:extLst>
          </p:cNvPr>
          <p:cNvSpPr>
            <a:spLocks noGrp="1"/>
          </p:cNvSpPr>
          <p:nvPr>
            <p:ph type="dt" sz="half" idx="10"/>
          </p:nvPr>
        </p:nvSpPr>
        <p:spPr/>
        <p:txBody>
          <a:bodyPr/>
          <a:lstStyle/>
          <a:p>
            <a:fld id="{1A5421AD-14B7-AB4F-B42E-6335F98BEAFF}" type="datetime1">
              <a:rPr lang="en-US" smtClean="0"/>
              <a:t>2/9/2026</a:t>
            </a:fld>
            <a:endParaRPr lang="en-US" dirty="0"/>
          </a:p>
        </p:txBody>
      </p:sp>
      <p:sp>
        <p:nvSpPr>
          <p:cNvPr id="4" name="Footer Placeholder 3">
            <a:extLst>
              <a:ext uri="{FF2B5EF4-FFF2-40B4-BE49-F238E27FC236}">
                <a16:creationId xmlns:a16="http://schemas.microsoft.com/office/drawing/2014/main" id="{5CC88A07-7922-BC79-0A35-EFFA19918CEA}"/>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1CF73C74-5D1C-ADB6-FF80-7000D00307DC}"/>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936886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F5375D4-3AF6-A58E-051F-58D7D1235B76}"/>
              </a:ext>
            </a:extLst>
          </p:cNvPr>
          <p:cNvSpPr>
            <a:spLocks noGrp="1"/>
          </p:cNvSpPr>
          <p:nvPr>
            <p:ph type="dt" sz="half" idx="10"/>
          </p:nvPr>
        </p:nvSpPr>
        <p:spPr/>
        <p:txBody>
          <a:bodyPr/>
          <a:lstStyle/>
          <a:p>
            <a:fld id="{AF87A72A-0C74-6E44-A7EE-CA74955F1256}" type="datetime1">
              <a:rPr lang="en-US" smtClean="0"/>
              <a:t>2/9/2026</a:t>
            </a:fld>
            <a:endParaRPr lang="en-US" dirty="0"/>
          </a:p>
        </p:txBody>
      </p:sp>
      <p:sp>
        <p:nvSpPr>
          <p:cNvPr id="3" name="Footer Placeholder 2">
            <a:extLst>
              <a:ext uri="{FF2B5EF4-FFF2-40B4-BE49-F238E27FC236}">
                <a16:creationId xmlns:a16="http://schemas.microsoft.com/office/drawing/2014/main" id="{5F7B3ECF-6748-2655-F77F-E8CA4016310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5F60ABE-8C6A-9352-A215-6EBF86F837B6}"/>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938920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DA5DAC-4002-01D9-6457-D37C5DF97F8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Content Placeholder 2">
            <a:extLst>
              <a:ext uri="{FF2B5EF4-FFF2-40B4-BE49-F238E27FC236}">
                <a16:creationId xmlns:a16="http://schemas.microsoft.com/office/drawing/2014/main" id="{DC7FBE91-7D8E-3944-5569-40E8D6B74DE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Text Placeholder 3">
            <a:extLst>
              <a:ext uri="{FF2B5EF4-FFF2-40B4-BE49-F238E27FC236}">
                <a16:creationId xmlns:a16="http://schemas.microsoft.com/office/drawing/2014/main" id="{D0E325B0-27F2-9710-58F6-0C07626C23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F7CBABE-1AE7-D70C-7708-85020C73E59E}"/>
              </a:ext>
            </a:extLst>
          </p:cNvPr>
          <p:cNvSpPr>
            <a:spLocks noGrp="1"/>
          </p:cNvSpPr>
          <p:nvPr>
            <p:ph type="dt" sz="half" idx="10"/>
          </p:nvPr>
        </p:nvSpPr>
        <p:spPr/>
        <p:txBody>
          <a:bodyPr/>
          <a:lstStyle/>
          <a:p>
            <a:fld id="{A09B1005-574F-D344-BCB1-9D2AB269A3EC}" type="datetime1">
              <a:rPr lang="en-US" smtClean="0"/>
              <a:t>2/9/2026</a:t>
            </a:fld>
            <a:endParaRPr lang="en-US" dirty="0"/>
          </a:p>
        </p:txBody>
      </p:sp>
      <p:sp>
        <p:nvSpPr>
          <p:cNvPr id="6" name="Footer Placeholder 5">
            <a:extLst>
              <a:ext uri="{FF2B5EF4-FFF2-40B4-BE49-F238E27FC236}">
                <a16:creationId xmlns:a16="http://schemas.microsoft.com/office/drawing/2014/main" id="{78A73628-77BC-4A24-08E2-D57F3D53AD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8605F63F-7883-63AF-C6F9-B3BC8A2E159B}"/>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65037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30EB26-001F-167A-6BA0-DCD22D59140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K"/>
          </a:p>
        </p:txBody>
      </p:sp>
      <p:sp>
        <p:nvSpPr>
          <p:cNvPr id="3" name="Picture Placeholder 2">
            <a:extLst>
              <a:ext uri="{FF2B5EF4-FFF2-40B4-BE49-F238E27FC236}">
                <a16:creationId xmlns:a16="http://schemas.microsoft.com/office/drawing/2014/main" id="{67DCA67E-ABF8-043E-F669-25D35A32AAE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B21ED5B5-8357-7928-0AFB-A855388E38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1A618A2-5986-F9BA-EC13-3460B7AB14B2}"/>
              </a:ext>
            </a:extLst>
          </p:cNvPr>
          <p:cNvSpPr>
            <a:spLocks noGrp="1"/>
          </p:cNvSpPr>
          <p:nvPr>
            <p:ph type="dt" sz="half" idx="10"/>
          </p:nvPr>
        </p:nvSpPr>
        <p:spPr/>
        <p:txBody>
          <a:bodyPr/>
          <a:lstStyle/>
          <a:p>
            <a:fld id="{C818EC7F-129E-B04A-94CE-A0E8D5F704B5}" type="datetime1">
              <a:rPr lang="en-US" smtClean="0"/>
              <a:t>2/9/2026</a:t>
            </a:fld>
            <a:endParaRPr lang="en-US" dirty="0"/>
          </a:p>
        </p:txBody>
      </p:sp>
      <p:sp>
        <p:nvSpPr>
          <p:cNvPr id="6" name="Footer Placeholder 5">
            <a:extLst>
              <a:ext uri="{FF2B5EF4-FFF2-40B4-BE49-F238E27FC236}">
                <a16:creationId xmlns:a16="http://schemas.microsoft.com/office/drawing/2014/main" id="{C9607585-1E53-29E6-E14C-D4E5C685D00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BF9FB97-D9C9-FC78-3D39-E81B1517740E}"/>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428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5B7194-44EF-7006-9E4C-D94DF8394AB2}"/>
              </a:ext>
            </a:extLst>
          </p:cNvPr>
          <p:cNvSpPr>
            <a:spLocks noGrp="1"/>
          </p:cNvSpPr>
          <p:nvPr>
            <p:ph type="title"/>
          </p:nvPr>
        </p:nvSpPr>
        <p:spPr/>
        <p:txBody>
          <a:bodyPr/>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A9D5E83A-839B-9260-0A21-8B997EE526D2}"/>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039D60F5-F487-9F40-578A-E36732D3A2B4}"/>
              </a:ext>
            </a:extLst>
          </p:cNvPr>
          <p:cNvSpPr>
            <a:spLocks noGrp="1"/>
          </p:cNvSpPr>
          <p:nvPr>
            <p:ph type="dt" sz="half" idx="10"/>
          </p:nvPr>
        </p:nvSpPr>
        <p:spPr/>
        <p:txBody>
          <a:bodyPr/>
          <a:lstStyle/>
          <a:p>
            <a:fld id="{BADEC171-6AFE-CA49-AAE9-DDDD51BDA4CC}" type="datetime1">
              <a:rPr lang="en-US" smtClean="0"/>
              <a:t>2/9/2026</a:t>
            </a:fld>
            <a:endParaRPr lang="en-US" dirty="0"/>
          </a:p>
        </p:txBody>
      </p:sp>
      <p:sp>
        <p:nvSpPr>
          <p:cNvPr id="5" name="Footer Placeholder 4">
            <a:extLst>
              <a:ext uri="{FF2B5EF4-FFF2-40B4-BE49-F238E27FC236}">
                <a16:creationId xmlns:a16="http://schemas.microsoft.com/office/drawing/2014/main" id="{D6694D0E-FEF0-3CE4-88E0-9B5CC1342B3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43A42E7-F5E7-2271-1D3F-3BB0DA5FBCC4}"/>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64636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B7BDCBF-90E9-B6D4-B1BD-BB6439AE412F}"/>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K"/>
          </a:p>
        </p:txBody>
      </p:sp>
      <p:sp>
        <p:nvSpPr>
          <p:cNvPr id="3" name="Vertical Text Placeholder 2">
            <a:extLst>
              <a:ext uri="{FF2B5EF4-FFF2-40B4-BE49-F238E27FC236}">
                <a16:creationId xmlns:a16="http://schemas.microsoft.com/office/drawing/2014/main" id="{F30AB2C1-4897-983B-2FB9-BD11C271D06E}"/>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5B12C104-D518-1AB2-0F63-977F49D661E8}"/>
              </a:ext>
            </a:extLst>
          </p:cNvPr>
          <p:cNvSpPr>
            <a:spLocks noGrp="1"/>
          </p:cNvSpPr>
          <p:nvPr>
            <p:ph type="dt" sz="half" idx="10"/>
          </p:nvPr>
        </p:nvSpPr>
        <p:spPr/>
        <p:txBody>
          <a:bodyPr/>
          <a:lstStyle/>
          <a:p>
            <a:fld id="{7A7BC7AE-E3C9-5846-8CAD-0E757E344CB1}" type="datetime1">
              <a:rPr lang="en-US" smtClean="0"/>
              <a:t>2/9/2026</a:t>
            </a:fld>
            <a:endParaRPr lang="en-US" dirty="0"/>
          </a:p>
        </p:txBody>
      </p:sp>
      <p:sp>
        <p:nvSpPr>
          <p:cNvPr id="5" name="Footer Placeholder 4">
            <a:extLst>
              <a:ext uri="{FF2B5EF4-FFF2-40B4-BE49-F238E27FC236}">
                <a16:creationId xmlns:a16="http://schemas.microsoft.com/office/drawing/2014/main" id="{0C66A4A2-8093-06BB-B2C2-65BC1329E46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64C8E6A-87A5-42E0-E66E-73CA8E9847B8}"/>
              </a:ext>
            </a:extLst>
          </p:cNvPr>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909452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0F3F57-E6B6-8186-2E62-9C692D195B24}"/>
              </a:ext>
            </a:extLst>
          </p:cNvPr>
          <p:cNvSpPr>
            <a:spLocks noGrp="1"/>
          </p:cNvSpPr>
          <p:nvPr>
            <p:ph type="title"/>
          </p:nvPr>
        </p:nvSpPr>
        <p:spPr>
          <a:xfrm>
            <a:off x="518160" y="101601"/>
            <a:ext cx="11104880" cy="985519"/>
          </a:xfrm>
          <a:prstGeom prst="rect">
            <a:avLst/>
          </a:prstGeom>
        </p:spPr>
        <p:txBody>
          <a:bodyPr vert="horz" lIns="91440" tIns="45720" rIns="91440" bIns="45720" rtlCol="0" anchor="ctr">
            <a:normAutofit/>
          </a:bodyPr>
          <a:lstStyle/>
          <a:p>
            <a:r>
              <a:rPr lang="en-GB" dirty="0"/>
              <a:t>Click to edit Master title style</a:t>
            </a:r>
            <a:endParaRPr lang="en-PK" dirty="0"/>
          </a:p>
        </p:txBody>
      </p:sp>
      <p:sp>
        <p:nvSpPr>
          <p:cNvPr id="3" name="Text Placeholder 2">
            <a:extLst>
              <a:ext uri="{FF2B5EF4-FFF2-40B4-BE49-F238E27FC236}">
                <a16:creationId xmlns:a16="http://schemas.microsoft.com/office/drawing/2014/main" id="{A2111C77-CC50-A510-3609-2D8F9FCB7313}"/>
              </a:ext>
            </a:extLst>
          </p:cNvPr>
          <p:cNvSpPr>
            <a:spLocks noGrp="1"/>
          </p:cNvSpPr>
          <p:nvPr>
            <p:ph type="body" idx="1"/>
          </p:nvPr>
        </p:nvSpPr>
        <p:spPr>
          <a:xfrm>
            <a:off x="518160" y="1097280"/>
            <a:ext cx="11104880" cy="507968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K"/>
          </a:p>
        </p:txBody>
      </p:sp>
      <p:sp>
        <p:nvSpPr>
          <p:cNvPr id="4" name="Date Placeholder 3">
            <a:extLst>
              <a:ext uri="{FF2B5EF4-FFF2-40B4-BE49-F238E27FC236}">
                <a16:creationId xmlns:a16="http://schemas.microsoft.com/office/drawing/2014/main" id="{FDA1BAA1-DC72-3CD1-7F89-2EE55E23774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b="0" i="0">
                <a:solidFill>
                  <a:schemeClr val="tx1">
                    <a:tint val="75000"/>
                  </a:schemeClr>
                </a:solidFill>
                <a:latin typeface="Candara" panose="020E0502030303020204" pitchFamily="34" charset="0"/>
              </a:defRPr>
            </a:lvl1pPr>
          </a:lstStyle>
          <a:p>
            <a:fld id="{2A23580C-EA65-AC41-9F7C-B6439987B4B7}" type="datetime1">
              <a:rPr lang="en-US" smtClean="0"/>
              <a:t>2/9/2026</a:t>
            </a:fld>
            <a:endParaRPr lang="en-US" dirty="0"/>
          </a:p>
        </p:txBody>
      </p:sp>
      <p:sp>
        <p:nvSpPr>
          <p:cNvPr id="5" name="Footer Placeholder 4">
            <a:extLst>
              <a:ext uri="{FF2B5EF4-FFF2-40B4-BE49-F238E27FC236}">
                <a16:creationId xmlns:a16="http://schemas.microsoft.com/office/drawing/2014/main" id="{37D29EAC-E423-483D-525E-9C75A569542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b="0" i="0">
                <a:solidFill>
                  <a:schemeClr val="tx1">
                    <a:tint val="75000"/>
                  </a:schemeClr>
                </a:solidFill>
                <a:latin typeface="Candara" panose="020E0502030303020204" pitchFamily="34" charset="0"/>
              </a:defRPr>
            </a:lvl1pPr>
          </a:lstStyle>
          <a:p>
            <a:endParaRPr lang="en-US" dirty="0"/>
          </a:p>
        </p:txBody>
      </p:sp>
      <p:cxnSp>
        <p:nvCxnSpPr>
          <p:cNvPr id="8" name="Straight Connector 7">
            <a:extLst>
              <a:ext uri="{FF2B5EF4-FFF2-40B4-BE49-F238E27FC236}">
                <a16:creationId xmlns:a16="http://schemas.microsoft.com/office/drawing/2014/main" id="{37901939-8975-2548-1296-9C55C71BB2BA}"/>
              </a:ext>
            </a:extLst>
          </p:cNvPr>
          <p:cNvCxnSpPr>
            <a:cxnSpLocks/>
          </p:cNvCxnSpPr>
          <p:nvPr userDrawn="1"/>
        </p:nvCxnSpPr>
        <p:spPr>
          <a:xfrm>
            <a:off x="518160" y="924560"/>
            <a:ext cx="1110488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CB69E88A-7B5E-60E0-B736-7FCE9C47388C}"/>
              </a:ext>
            </a:extLst>
          </p:cNvPr>
          <p:cNvSpPr/>
          <p:nvPr userDrawn="1"/>
        </p:nvSpPr>
        <p:spPr>
          <a:xfrm>
            <a:off x="0" y="6581940"/>
            <a:ext cx="12192000" cy="279070"/>
          </a:xfrm>
          <a:prstGeom prst="rect">
            <a:avLst/>
          </a:prstGeom>
          <a:solidFill>
            <a:srgbClr val="C5FFF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l"/>
            <a:r>
              <a:rPr lang="en-US" sz="1400" dirty="0">
                <a:solidFill>
                  <a:schemeClr val="tx1"/>
                </a:solidFill>
                <a:latin typeface="+mn-lt"/>
              </a:rPr>
              <a:t>Spring</a:t>
            </a:r>
            <a:r>
              <a:rPr lang="en-PK" sz="1400" dirty="0">
                <a:solidFill>
                  <a:schemeClr val="tx1"/>
                </a:solidFill>
                <a:latin typeface="+mn-lt"/>
              </a:rPr>
              <a:t> 2026 | CS</a:t>
            </a:r>
            <a:r>
              <a:rPr lang="en-US" sz="1400" dirty="0">
                <a:solidFill>
                  <a:schemeClr val="tx1"/>
                </a:solidFill>
                <a:latin typeface="+mn-lt"/>
              </a:rPr>
              <a:t>E-355</a:t>
            </a:r>
            <a:r>
              <a:rPr lang="en-PK" sz="1400" dirty="0">
                <a:solidFill>
                  <a:schemeClr val="tx1"/>
                </a:solidFill>
                <a:latin typeface="+mn-lt"/>
              </a:rPr>
              <a:t> | Introduction to Blockchain</a:t>
            </a:r>
          </a:p>
        </p:txBody>
      </p:sp>
      <p:sp>
        <p:nvSpPr>
          <p:cNvPr id="6" name="Slide Number Placeholder 5">
            <a:extLst>
              <a:ext uri="{FF2B5EF4-FFF2-40B4-BE49-F238E27FC236}">
                <a16:creationId xmlns:a16="http://schemas.microsoft.com/office/drawing/2014/main" id="{E65A1E25-5EFC-07B9-34A4-FC84A6B0A118}"/>
              </a:ext>
            </a:extLst>
          </p:cNvPr>
          <p:cNvSpPr>
            <a:spLocks noGrp="1"/>
          </p:cNvSpPr>
          <p:nvPr>
            <p:ph type="sldNum" sz="quarter" idx="4"/>
          </p:nvPr>
        </p:nvSpPr>
        <p:spPr>
          <a:xfrm>
            <a:off x="10620104" y="6578930"/>
            <a:ext cx="1060269" cy="279070"/>
          </a:xfrm>
          <a:prstGeom prst="rect">
            <a:avLst/>
          </a:prstGeom>
        </p:spPr>
        <p:txBody>
          <a:bodyPr vert="horz" lIns="91440" tIns="45720" rIns="91440" bIns="45720" rtlCol="0" anchor="ctr"/>
          <a:lstStyle>
            <a:lvl1pPr algn="r">
              <a:defRPr sz="1400" b="1" i="0" baseline="0">
                <a:solidFill>
                  <a:schemeClr val="tx1"/>
                </a:solidFill>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6153553"/>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hdr="0" ftr="0" dt="0"/>
  <p:txStyles>
    <p:titleStyle>
      <a:lvl1pPr algn="ctr" defTabSz="914400" rtl="0" eaLnBrk="1" latinLnBrk="0" hangingPunct="1">
        <a:lnSpc>
          <a:spcPct val="90000"/>
        </a:lnSpc>
        <a:spcBef>
          <a:spcPct val="0"/>
        </a:spcBef>
        <a:buNone/>
        <a:defRPr sz="4400" b="0" i="0" kern="1200">
          <a:solidFill>
            <a:srgbClr val="0432FF"/>
          </a:solidFill>
          <a:latin typeface="Candara" panose="020E0502030303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0" i="0" kern="1200">
          <a:solidFill>
            <a:schemeClr val="tx1"/>
          </a:solidFill>
          <a:latin typeface="Candara" panose="020E0502030303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b="0" i="0" kern="1200">
          <a:solidFill>
            <a:schemeClr val="tx1"/>
          </a:solidFill>
          <a:latin typeface="Candara" panose="020E0502030303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b="0" i="0" kern="1200">
          <a:solidFill>
            <a:schemeClr val="tx1"/>
          </a:solidFill>
          <a:latin typeface="Candara" panose="020E0502030303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b="0" i="0" kern="1200">
          <a:solidFill>
            <a:schemeClr val="tx1"/>
          </a:solidFill>
          <a:latin typeface="Candara" panose="020E0502030303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microsoft.com/office/2007/relationships/hdphoto" Target="../media/hdphoto1.wdp"/><Relationship Id="rId7" Type="http://schemas.microsoft.com/office/2007/relationships/hdphoto" Target="../media/hdphoto4.wdp"/><Relationship Id="rId2" Type="http://schemas.openxmlformats.org/officeDocument/2006/relationships/image" Target="../media/image5.png"/><Relationship Id="rId1" Type="http://schemas.openxmlformats.org/officeDocument/2006/relationships/slideLayout" Target="../slideLayouts/slideLayout6.xml"/><Relationship Id="rId6" Type="http://schemas.microsoft.com/office/2007/relationships/hdphoto" Target="../media/hdphoto3.wdp"/><Relationship Id="rId5" Type="http://schemas.microsoft.com/office/2007/relationships/hdphoto" Target="../media/hdphoto2.wdp"/><Relationship Id="rId4" Type="http://schemas.openxmlformats.org/officeDocument/2006/relationships/hyperlink" Target="https://pixabay.com/en/stick-figure-red-man-isolated-304090/" TargetMode="External"/></Relationships>
</file>

<file path=ppt/slides/_rels/slide14.xml.rels><?xml version="1.0" encoding="UTF-8" standalone="yes"?>
<Relationships xmlns="http://schemas.openxmlformats.org/package/2006/relationships"><Relationship Id="rId3" Type="http://schemas.microsoft.com/office/2007/relationships/hdphoto" Target="../media/hdphoto5.wdp"/><Relationship Id="rId7" Type="http://schemas.microsoft.com/office/2007/relationships/hdphoto" Target="../media/hdphoto7.wdp"/><Relationship Id="rId2" Type="http://schemas.openxmlformats.org/officeDocument/2006/relationships/image" Target="../media/image5.png"/><Relationship Id="rId1" Type="http://schemas.openxmlformats.org/officeDocument/2006/relationships/slideLayout" Target="../slideLayouts/slideLayout6.xml"/><Relationship Id="rId6" Type="http://schemas.microsoft.com/office/2007/relationships/hdphoto" Target="../media/hdphoto6.wdp"/><Relationship Id="rId5" Type="http://schemas.microsoft.com/office/2007/relationships/hdphoto" Target="../media/hdphoto1.wdp"/><Relationship Id="rId4" Type="http://schemas.openxmlformats.org/officeDocument/2006/relationships/hyperlink" Target="https://pixabay.com/en/stick-figure-red-man-isolated-304090/" TargetMode="External"/></Relationships>
</file>

<file path=ppt/slides/_rels/slide15.xml.rels><?xml version="1.0" encoding="UTF-8" standalone="yes"?>
<Relationships xmlns="http://schemas.openxmlformats.org/package/2006/relationships"><Relationship Id="rId8" Type="http://schemas.openxmlformats.org/officeDocument/2006/relationships/image" Target="../media/image6.png"/><Relationship Id="rId3" Type="http://schemas.microsoft.com/office/2007/relationships/hdphoto" Target="../media/hdphoto8.wdp"/><Relationship Id="rId7" Type="http://schemas.microsoft.com/office/2007/relationships/hdphoto" Target="../media/hdphoto11.wdp"/><Relationship Id="rId12" Type="http://schemas.microsoft.com/office/2007/relationships/hdphoto" Target="../media/hdphoto13.wdp"/><Relationship Id="rId2" Type="http://schemas.openxmlformats.org/officeDocument/2006/relationships/image" Target="../media/image5.png"/><Relationship Id="rId1" Type="http://schemas.openxmlformats.org/officeDocument/2006/relationships/slideLayout" Target="../slideLayouts/slideLayout6.xml"/><Relationship Id="rId6" Type="http://schemas.microsoft.com/office/2007/relationships/hdphoto" Target="../media/hdphoto10.wdp"/><Relationship Id="rId11" Type="http://schemas.microsoft.com/office/2007/relationships/hdphoto" Target="../media/hdphoto12.wdp"/><Relationship Id="rId5" Type="http://schemas.microsoft.com/office/2007/relationships/hdphoto" Target="../media/hdphoto9.wdp"/><Relationship Id="rId10" Type="http://schemas.openxmlformats.org/officeDocument/2006/relationships/image" Target="../media/image7.png"/><Relationship Id="rId4" Type="http://schemas.openxmlformats.org/officeDocument/2006/relationships/hyperlink" Target="https://pixabay.com/en/stick-figure-red-man-isolated-304090/" TargetMode="External"/><Relationship Id="rId9" Type="http://schemas.openxmlformats.org/officeDocument/2006/relationships/hyperlink" Target="https://openclipart.org/detail/17065" TargetMode="External"/></Relationships>
</file>

<file path=ppt/slides/_rels/slide16.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8.png"/><Relationship Id="rId3" Type="http://schemas.microsoft.com/office/2007/relationships/hdphoto" Target="../media/hdphoto14.wdp"/><Relationship Id="rId7" Type="http://schemas.microsoft.com/office/2007/relationships/hdphoto" Target="../media/hdphoto16.wdp"/><Relationship Id="rId12" Type="http://schemas.microsoft.com/office/2007/relationships/hdphoto" Target="../media/hdphoto13.wdp"/><Relationship Id="rId2" Type="http://schemas.openxmlformats.org/officeDocument/2006/relationships/image" Target="../media/image5.png"/><Relationship Id="rId1" Type="http://schemas.openxmlformats.org/officeDocument/2006/relationships/slideLayout" Target="../slideLayouts/slideLayout6.xml"/><Relationship Id="rId6" Type="http://schemas.microsoft.com/office/2007/relationships/hdphoto" Target="../media/hdphoto1.wdp"/><Relationship Id="rId11" Type="http://schemas.microsoft.com/office/2007/relationships/hdphoto" Target="../media/hdphoto17.wdp"/><Relationship Id="rId5" Type="http://schemas.microsoft.com/office/2007/relationships/hdphoto" Target="../media/hdphoto15.wdp"/><Relationship Id="rId10" Type="http://schemas.openxmlformats.org/officeDocument/2006/relationships/image" Target="../media/image7.png"/><Relationship Id="rId4" Type="http://schemas.openxmlformats.org/officeDocument/2006/relationships/hyperlink" Target="https://pixabay.com/en/stick-figure-red-man-isolated-304090/" TargetMode="External"/><Relationship Id="rId9" Type="http://schemas.openxmlformats.org/officeDocument/2006/relationships/hyperlink" Target="https://openclipart.org/detail/17065" TargetMode="External"/><Relationship Id="rId14" Type="http://schemas.openxmlformats.org/officeDocument/2006/relationships/hyperlink" Target="https://svgsilh.com/image/297183.html" TargetMode="External"/></Relationships>
</file>

<file path=ppt/slides/_rels/slide17.xml.rels><?xml version="1.0" encoding="UTF-8" standalone="yes"?>
<Relationships xmlns="http://schemas.openxmlformats.org/package/2006/relationships"><Relationship Id="rId8" Type="http://schemas.microsoft.com/office/2007/relationships/hdphoto" Target="../media/hdphoto20.wdp"/><Relationship Id="rId3" Type="http://schemas.openxmlformats.org/officeDocument/2006/relationships/image" Target="../media/image5.png"/><Relationship Id="rId7" Type="http://schemas.microsoft.com/office/2007/relationships/hdphoto" Target="../media/hdphoto19.wdp"/><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microsoft.com/office/2007/relationships/hdphoto" Target="../media/hdphoto1.wdp"/><Relationship Id="rId5" Type="http://schemas.openxmlformats.org/officeDocument/2006/relationships/hyperlink" Target="https://pixabay.com/en/stick-figure-red-man-isolated-304090/" TargetMode="External"/><Relationship Id="rId4" Type="http://schemas.microsoft.com/office/2007/relationships/hdphoto" Target="../media/hdphoto18.wdp"/></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A532F2-2275-3F6B-82B8-1B0CA52FBDFC}"/>
            </a:ext>
          </a:extLst>
        </p:cNvPr>
        <p:cNvGrpSpPr/>
        <p:nvPr/>
      </p:nvGrpSpPr>
      <p:grpSpPr>
        <a:xfrm>
          <a:off x="0" y="0"/>
          <a:ext cx="0" cy="0"/>
          <a:chOff x="0" y="0"/>
          <a:chExt cx="0" cy="0"/>
        </a:xfrm>
      </p:grpSpPr>
      <p:sp>
        <p:nvSpPr>
          <p:cNvPr id="9" name="Rounded Rectangle 8">
            <a:extLst>
              <a:ext uri="{FF2B5EF4-FFF2-40B4-BE49-F238E27FC236}">
                <a16:creationId xmlns:a16="http://schemas.microsoft.com/office/drawing/2014/main" id="{980EC572-1CE7-598F-9FA4-5062F84F9CA5}"/>
              </a:ext>
            </a:extLst>
          </p:cNvPr>
          <p:cNvSpPr/>
          <p:nvPr/>
        </p:nvSpPr>
        <p:spPr>
          <a:xfrm>
            <a:off x="384313" y="3016490"/>
            <a:ext cx="10846671" cy="1446550"/>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dirty="0">
              <a:latin typeface="Candara" panose="020E0502030303020204" pitchFamily="34" charset="0"/>
            </a:endParaRPr>
          </a:p>
        </p:txBody>
      </p:sp>
      <p:sp>
        <p:nvSpPr>
          <p:cNvPr id="10" name="Rectangle 9">
            <a:extLst>
              <a:ext uri="{FF2B5EF4-FFF2-40B4-BE49-F238E27FC236}">
                <a16:creationId xmlns:a16="http://schemas.microsoft.com/office/drawing/2014/main" id="{B4170A78-22DF-BCD5-825B-B0A7F8375E55}"/>
              </a:ext>
            </a:extLst>
          </p:cNvPr>
          <p:cNvSpPr/>
          <p:nvPr/>
        </p:nvSpPr>
        <p:spPr>
          <a:xfrm>
            <a:off x="252663" y="637674"/>
            <a:ext cx="11555024" cy="4317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6" name="Picture 2">
            <a:extLst>
              <a:ext uri="{FF2B5EF4-FFF2-40B4-BE49-F238E27FC236}">
                <a16:creationId xmlns:a16="http://schemas.microsoft.com/office/drawing/2014/main" id="{A92A327C-08C1-4A0B-3853-4BC7F0718664}"/>
              </a:ext>
            </a:extLst>
          </p:cNvPr>
          <p:cNvPicPr>
            <a:picLocks noChangeAspect="1" noChangeArrowheads="1"/>
          </p:cNvPicPr>
          <p:nvPr/>
        </p:nvPicPr>
        <p:blipFill>
          <a:blip r:embed="rId3"/>
          <a:srcRect/>
          <a:stretch/>
        </p:blipFill>
        <p:spPr bwMode="auto">
          <a:xfrm>
            <a:off x="5401750" y="440958"/>
            <a:ext cx="1256849" cy="1256849"/>
          </a:xfrm>
          <a:prstGeom prst="rect">
            <a:avLst/>
          </a:prstGeom>
          <a:noFill/>
          <a:extLst>
            <a:ext uri="{909E8E84-426E-40DD-AFC4-6F175D3DCCD1}">
              <a14:hiddenFill xmlns:a14="http://schemas.microsoft.com/office/drawing/2010/main">
                <a:solidFill>
                  <a:srgbClr val="FFFFFF"/>
                </a:solidFill>
              </a14:hiddenFill>
            </a:ext>
          </a:extLst>
        </p:spPr>
      </p:pic>
      <p:sp>
        <p:nvSpPr>
          <p:cNvPr id="3" name="Title 2">
            <a:extLst>
              <a:ext uri="{FF2B5EF4-FFF2-40B4-BE49-F238E27FC236}">
                <a16:creationId xmlns:a16="http://schemas.microsoft.com/office/drawing/2014/main" id="{F13B4093-EDEB-88AD-105E-DD4B298CCEEA}"/>
              </a:ext>
            </a:extLst>
          </p:cNvPr>
          <p:cNvSpPr>
            <a:spLocks noGrp="1"/>
          </p:cNvSpPr>
          <p:nvPr>
            <p:ph type="ctrTitle"/>
          </p:nvPr>
        </p:nvSpPr>
        <p:spPr/>
        <p:txBody>
          <a:bodyPr>
            <a:normAutofit/>
          </a:bodyPr>
          <a:lstStyle/>
          <a:p>
            <a:r>
              <a:rPr lang="en-GB" dirty="0">
                <a:latin typeface="+mn-lt"/>
              </a:rPr>
              <a:t>Introduction to Blockchain</a:t>
            </a:r>
            <a:br>
              <a:rPr lang="en-GB" dirty="0">
                <a:latin typeface="+mn-lt"/>
              </a:rPr>
            </a:br>
            <a:br>
              <a:rPr lang="en-GB" dirty="0">
                <a:latin typeface="+mn-lt"/>
              </a:rPr>
            </a:br>
            <a:r>
              <a:rPr lang="en-GB" sz="4000" dirty="0">
                <a:solidFill>
                  <a:srgbClr val="C00000"/>
                </a:solidFill>
                <a:latin typeface="+mn-lt"/>
              </a:rPr>
              <a:t>CSE-355</a:t>
            </a:r>
            <a:endParaRPr lang="en-PK" dirty="0">
              <a:solidFill>
                <a:srgbClr val="C00000"/>
              </a:solidFill>
              <a:latin typeface="+mn-lt"/>
            </a:endParaRPr>
          </a:p>
        </p:txBody>
      </p:sp>
      <p:sp>
        <p:nvSpPr>
          <p:cNvPr id="7" name="Subtitle 6">
            <a:extLst>
              <a:ext uri="{FF2B5EF4-FFF2-40B4-BE49-F238E27FC236}">
                <a16:creationId xmlns:a16="http://schemas.microsoft.com/office/drawing/2014/main" id="{B02CF6C0-F187-BF6B-6A7A-C82247549081}"/>
              </a:ext>
            </a:extLst>
          </p:cNvPr>
          <p:cNvSpPr>
            <a:spLocks noGrp="1"/>
          </p:cNvSpPr>
          <p:nvPr>
            <p:ph type="subTitle" idx="1"/>
          </p:nvPr>
        </p:nvSpPr>
        <p:spPr/>
        <p:txBody>
          <a:bodyPr>
            <a:normAutofit fontScale="92500" lnSpcReduction="10000"/>
          </a:bodyPr>
          <a:lstStyle/>
          <a:p>
            <a:r>
              <a:rPr lang="en-GB" dirty="0"/>
              <a:t>Ahmed Akhtar</a:t>
            </a:r>
          </a:p>
          <a:p>
            <a:r>
              <a:rPr lang="en-GB" dirty="0"/>
              <a:t>Department of Computer Science</a:t>
            </a:r>
          </a:p>
          <a:p>
            <a:r>
              <a:rPr lang="en-GB" dirty="0"/>
              <a:t>SMCS, IBA Karachi</a:t>
            </a:r>
          </a:p>
          <a:p>
            <a:r>
              <a:rPr lang="en-GB" dirty="0"/>
              <a:t>Spring 2026</a:t>
            </a:r>
          </a:p>
        </p:txBody>
      </p:sp>
    </p:spTree>
    <p:extLst>
      <p:ext uri="{BB962C8B-B14F-4D97-AF65-F5344CB8AC3E}">
        <p14:creationId xmlns:p14="http://schemas.microsoft.com/office/powerpoint/2010/main" val="21836154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C3ABB25-3CDC-577B-366C-0EE74ABDEE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2E6598-1BCC-12E5-089B-4CB08DC18AE2}"/>
              </a:ext>
            </a:extLst>
          </p:cNvPr>
          <p:cNvSpPr>
            <a:spLocks noGrp="1"/>
          </p:cNvSpPr>
          <p:nvPr>
            <p:ph type="title"/>
          </p:nvPr>
        </p:nvSpPr>
        <p:spPr/>
        <p:txBody>
          <a:bodyPr/>
          <a:lstStyle/>
          <a:p>
            <a:r>
              <a:rPr lang="en-PK" dirty="0">
                <a:latin typeface="+mn-lt"/>
              </a:rPr>
              <a:t>Lecture 05</a:t>
            </a:r>
            <a:br>
              <a:rPr lang="en-PK" dirty="0">
                <a:latin typeface="+mn-lt"/>
              </a:rPr>
            </a:br>
            <a:r>
              <a:rPr lang="en-US" dirty="0">
                <a:latin typeface="+mn-lt"/>
              </a:rPr>
              <a:t>Tuesday</a:t>
            </a:r>
            <a:r>
              <a:rPr lang="en-PK" dirty="0">
                <a:latin typeface="+mn-lt"/>
              </a:rPr>
              <a:t>, </a:t>
            </a:r>
            <a:r>
              <a:rPr lang="en-US" dirty="0">
                <a:latin typeface="+mn-lt"/>
              </a:rPr>
              <a:t>Feb 03</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A4FEC122-0FAA-2571-B334-7916F6240CC7}"/>
              </a:ext>
            </a:extLst>
          </p:cNvPr>
          <p:cNvSpPr>
            <a:spLocks noGrp="1"/>
          </p:cNvSpPr>
          <p:nvPr>
            <p:ph type="sldNum" sz="quarter" idx="12"/>
          </p:nvPr>
        </p:nvSpPr>
        <p:spPr/>
        <p:txBody>
          <a:bodyPr/>
          <a:lstStyle/>
          <a:p>
            <a:fld id="{D57F1E4F-1CFF-5643-939E-217C01CDF565}" type="slidenum">
              <a:rPr lang="en-US" smtClean="0"/>
              <a:pPr/>
              <a:t>2</a:t>
            </a:fld>
            <a:endParaRPr lang="en-US" dirty="0"/>
          </a:p>
        </p:txBody>
      </p:sp>
    </p:spTree>
    <p:extLst>
      <p:ext uri="{BB962C8B-B14F-4D97-AF65-F5344CB8AC3E}">
        <p14:creationId xmlns:p14="http://schemas.microsoft.com/office/powerpoint/2010/main" val="3932124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Content Placeholder 5" descr="Timeline&#10;&#10;Description automatically generated">
            <a:extLst>
              <a:ext uri="{FF2B5EF4-FFF2-40B4-BE49-F238E27FC236}">
                <a16:creationId xmlns:a16="http://schemas.microsoft.com/office/drawing/2014/main" id="{179755B0-7524-756F-E76C-EE77F7A7D9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90825" y="1091726"/>
            <a:ext cx="6610350" cy="3864806"/>
          </a:xfrm>
          <a:prstGeom prst="rect">
            <a:avLst/>
          </a:prstGeom>
        </p:spPr>
      </p:pic>
      <p:sp>
        <p:nvSpPr>
          <p:cNvPr id="2" name="Title 1">
            <a:extLst>
              <a:ext uri="{FF2B5EF4-FFF2-40B4-BE49-F238E27FC236}">
                <a16:creationId xmlns:a16="http://schemas.microsoft.com/office/drawing/2014/main" id="{4B57DABC-2EA9-C659-C8A2-64A4972B58C7}"/>
              </a:ext>
            </a:extLst>
          </p:cNvPr>
          <p:cNvSpPr>
            <a:spLocks noGrp="1"/>
          </p:cNvSpPr>
          <p:nvPr>
            <p:ph type="title"/>
          </p:nvPr>
        </p:nvSpPr>
        <p:spPr/>
        <p:txBody>
          <a:bodyPr/>
          <a:lstStyle/>
          <a:p>
            <a:r>
              <a:rPr lang="en-PK" dirty="0"/>
              <a:t>Public Key Cryptography</a:t>
            </a:r>
          </a:p>
        </p:txBody>
      </p:sp>
      <p:sp>
        <p:nvSpPr>
          <p:cNvPr id="4" name="TextBox 3">
            <a:extLst>
              <a:ext uri="{FF2B5EF4-FFF2-40B4-BE49-F238E27FC236}">
                <a16:creationId xmlns:a16="http://schemas.microsoft.com/office/drawing/2014/main" id="{91DD6406-A2FD-9DC2-AE33-79FD8307C3E7}"/>
              </a:ext>
            </a:extLst>
          </p:cNvPr>
          <p:cNvSpPr txBox="1"/>
          <p:nvPr/>
        </p:nvSpPr>
        <p:spPr>
          <a:xfrm>
            <a:off x="2224250" y="1548721"/>
            <a:ext cx="1058302" cy="707886"/>
          </a:xfrm>
          <a:prstGeom prst="rect">
            <a:avLst/>
          </a:prstGeom>
          <a:noFill/>
        </p:spPr>
        <p:txBody>
          <a:bodyPr wrap="none" rtlCol="0">
            <a:spAutoFit/>
          </a:bodyPr>
          <a:lstStyle/>
          <a:p>
            <a:pPr algn="ctr"/>
            <a:r>
              <a:rPr lang="en-PK" sz="2000" b="1" dirty="0"/>
              <a:t>Alice</a:t>
            </a:r>
          </a:p>
          <a:p>
            <a:pPr algn="ctr"/>
            <a:r>
              <a:rPr lang="en-PK" sz="2000" dirty="0"/>
              <a:t>(sender)</a:t>
            </a:r>
          </a:p>
        </p:txBody>
      </p:sp>
      <p:sp>
        <p:nvSpPr>
          <p:cNvPr id="5" name="TextBox 4">
            <a:extLst>
              <a:ext uri="{FF2B5EF4-FFF2-40B4-BE49-F238E27FC236}">
                <a16:creationId xmlns:a16="http://schemas.microsoft.com/office/drawing/2014/main" id="{ADE9D602-8738-2957-6468-961F9FDD8068}"/>
              </a:ext>
            </a:extLst>
          </p:cNvPr>
          <p:cNvSpPr txBox="1"/>
          <p:nvPr/>
        </p:nvSpPr>
        <p:spPr>
          <a:xfrm>
            <a:off x="8569080" y="1548721"/>
            <a:ext cx="1183850" cy="707886"/>
          </a:xfrm>
          <a:prstGeom prst="rect">
            <a:avLst/>
          </a:prstGeom>
          <a:noFill/>
        </p:spPr>
        <p:txBody>
          <a:bodyPr wrap="none" rtlCol="0">
            <a:spAutoFit/>
          </a:bodyPr>
          <a:lstStyle/>
          <a:p>
            <a:pPr algn="ctr"/>
            <a:r>
              <a:rPr lang="en-PK" sz="2000" b="1" dirty="0"/>
              <a:t>Bob</a:t>
            </a:r>
          </a:p>
          <a:p>
            <a:pPr algn="ctr"/>
            <a:r>
              <a:rPr lang="en-PK" sz="2000" dirty="0"/>
              <a:t>(receiver)</a:t>
            </a:r>
          </a:p>
        </p:txBody>
      </p:sp>
      <p:sp>
        <p:nvSpPr>
          <p:cNvPr id="6" name="TextBox 5">
            <a:extLst>
              <a:ext uri="{FF2B5EF4-FFF2-40B4-BE49-F238E27FC236}">
                <a16:creationId xmlns:a16="http://schemas.microsoft.com/office/drawing/2014/main" id="{E01D3349-C58E-ED6C-55DB-3CFA538A2C47}"/>
              </a:ext>
            </a:extLst>
          </p:cNvPr>
          <p:cNvSpPr txBox="1"/>
          <p:nvPr/>
        </p:nvSpPr>
        <p:spPr>
          <a:xfrm>
            <a:off x="3870928" y="4754325"/>
            <a:ext cx="2032159" cy="400110"/>
          </a:xfrm>
          <a:prstGeom prst="rect">
            <a:avLst/>
          </a:prstGeom>
          <a:noFill/>
        </p:spPr>
        <p:txBody>
          <a:bodyPr wrap="none" rtlCol="0">
            <a:spAutoFit/>
          </a:bodyPr>
          <a:lstStyle/>
          <a:p>
            <a:pPr algn="ctr"/>
            <a:r>
              <a:rPr lang="en-GB" sz="2000" dirty="0"/>
              <a:t>Alice’s P</a:t>
            </a:r>
            <a:r>
              <a:rPr lang="en-PK" sz="2000" dirty="0"/>
              <a:t>rivate key</a:t>
            </a:r>
          </a:p>
        </p:txBody>
      </p:sp>
      <p:sp>
        <p:nvSpPr>
          <p:cNvPr id="7" name="TextBox 6">
            <a:extLst>
              <a:ext uri="{FF2B5EF4-FFF2-40B4-BE49-F238E27FC236}">
                <a16:creationId xmlns:a16="http://schemas.microsoft.com/office/drawing/2014/main" id="{2E6EF20E-9CD4-B794-D902-11A9FA5D7715}"/>
              </a:ext>
            </a:extLst>
          </p:cNvPr>
          <p:cNvSpPr txBox="1"/>
          <p:nvPr/>
        </p:nvSpPr>
        <p:spPr>
          <a:xfrm>
            <a:off x="6337366" y="4754325"/>
            <a:ext cx="1935274" cy="400110"/>
          </a:xfrm>
          <a:prstGeom prst="rect">
            <a:avLst/>
          </a:prstGeom>
          <a:noFill/>
        </p:spPr>
        <p:txBody>
          <a:bodyPr wrap="none" rtlCol="0">
            <a:spAutoFit/>
          </a:bodyPr>
          <a:lstStyle/>
          <a:p>
            <a:pPr algn="ctr"/>
            <a:r>
              <a:rPr lang="en-GB" sz="2000" dirty="0"/>
              <a:t>Alice’s P</a:t>
            </a:r>
            <a:r>
              <a:rPr lang="en-PK" sz="2000" dirty="0"/>
              <a:t>ublic key</a:t>
            </a:r>
          </a:p>
        </p:txBody>
      </p:sp>
      <p:sp>
        <p:nvSpPr>
          <p:cNvPr id="8" name="Title 1">
            <a:extLst>
              <a:ext uri="{FF2B5EF4-FFF2-40B4-BE49-F238E27FC236}">
                <a16:creationId xmlns:a16="http://schemas.microsoft.com/office/drawing/2014/main" id="{48C0BA41-1AB8-942B-7204-215EA76E336B}"/>
              </a:ext>
            </a:extLst>
          </p:cNvPr>
          <p:cNvSpPr txBox="1">
            <a:spLocks/>
          </p:cNvSpPr>
          <p:nvPr/>
        </p:nvSpPr>
        <p:spPr>
          <a:xfrm>
            <a:off x="1686679" y="5145205"/>
            <a:ext cx="8818641" cy="1391055"/>
          </a:xfrm>
          <a:prstGeom prst="roundRect">
            <a:avLst/>
          </a:prstGeom>
          <a:solidFill>
            <a:schemeClr val="accent5">
              <a:lumMod val="20000"/>
              <a:lumOff val="80000"/>
            </a:schemeClr>
          </a:solidFill>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r>
              <a:rPr lang="en-US" sz="2400" dirty="0">
                <a:solidFill>
                  <a:srgbClr val="C00000"/>
                </a:solidFill>
              </a:rPr>
              <a:t>Alice (encrypts) or </a:t>
            </a:r>
            <a:r>
              <a:rPr lang="en-US" sz="2400" b="1" dirty="0">
                <a:solidFill>
                  <a:srgbClr val="C00000"/>
                </a:solidFill>
              </a:rPr>
              <a:t>locks</a:t>
            </a:r>
            <a:r>
              <a:rPr lang="en-US" sz="2400" dirty="0">
                <a:solidFill>
                  <a:srgbClr val="C00000"/>
                </a:solidFill>
              </a:rPr>
              <a:t> the transaction</a:t>
            </a:r>
          </a:p>
          <a:p>
            <a:r>
              <a:rPr lang="en-US" sz="2400" dirty="0">
                <a:solidFill>
                  <a:srgbClr val="C00000"/>
                </a:solidFill>
              </a:rPr>
              <a:t>1) Using her </a:t>
            </a:r>
            <a:r>
              <a:rPr lang="en-US" sz="2400" dirty="0">
                <a:solidFill>
                  <a:srgbClr val="308D3E"/>
                </a:solidFill>
              </a:rPr>
              <a:t>private</a:t>
            </a:r>
            <a:r>
              <a:rPr lang="en-US" sz="2400" dirty="0">
                <a:solidFill>
                  <a:srgbClr val="C00000"/>
                </a:solidFill>
              </a:rPr>
              <a:t> key – Only her </a:t>
            </a:r>
            <a:r>
              <a:rPr lang="en-US" sz="2400" dirty="0">
                <a:solidFill>
                  <a:srgbClr val="308D3E"/>
                </a:solidFill>
              </a:rPr>
              <a:t>public</a:t>
            </a:r>
            <a:r>
              <a:rPr lang="en-US" sz="2400" dirty="0">
                <a:solidFill>
                  <a:srgbClr val="C00000"/>
                </a:solidFill>
              </a:rPr>
              <a:t> key can </a:t>
            </a:r>
            <a:r>
              <a:rPr lang="en-US" sz="2400" b="1" dirty="0">
                <a:solidFill>
                  <a:srgbClr val="C00000"/>
                </a:solidFill>
              </a:rPr>
              <a:t>unlock</a:t>
            </a:r>
            <a:endParaRPr lang="en-US" sz="2400" dirty="0">
              <a:solidFill>
                <a:srgbClr val="C00000"/>
              </a:solidFill>
            </a:endParaRPr>
          </a:p>
          <a:p>
            <a:r>
              <a:rPr lang="en-US" sz="2400" dirty="0"/>
              <a:t>In </a:t>
            </a:r>
            <a:r>
              <a:rPr lang="en-US" sz="2400" b="1" i="1" dirty="0"/>
              <a:t>addition</a:t>
            </a:r>
            <a:r>
              <a:rPr lang="en-US" sz="2400" dirty="0"/>
              <a:t>, Alice can </a:t>
            </a:r>
            <a:r>
              <a:rPr lang="en-US" sz="2400" b="1" dirty="0"/>
              <a:t>ALSO </a:t>
            </a:r>
            <a:r>
              <a:rPr lang="en-US" sz="2400" dirty="0"/>
              <a:t>OPTIONALLY</a:t>
            </a:r>
            <a:r>
              <a:rPr lang="en-US" sz="2400" b="1" dirty="0"/>
              <a:t> (why?)</a:t>
            </a:r>
          </a:p>
          <a:p>
            <a:r>
              <a:rPr lang="en-US" sz="2400" dirty="0">
                <a:solidFill>
                  <a:srgbClr val="7030A0"/>
                </a:solidFill>
              </a:rPr>
              <a:t>2) Use Bob’s public key – Only Bob’s private key can </a:t>
            </a:r>
            <a:r>
              <a:rPr lang="en-US" sz="2400" b="1" dirty="0">
                <a:solidFill>
                  <a:srgbClr val="7030A0"/>
                </a:solidFill>
              </a:rPr>
              <a:t>unlock</a:t>
            </a:r>
          </a:p>
        </p:txBody>
      </p:sp>
      <p:sp>
        <p:nvSpPr>
          <p:cNvPr id="10" name="TextBox 9">
            <a:extLst>
              <a:ext uri="{FF2B5EF4-FFF2-40B4-BE49-F238E27FC236}">
                <a16:creationId xmlns:a16="http://schemas.microsoft.com/office/drawing/2014/main" id="{D606A2C8-BEAD-816C-1907-AA8D968A7493}"/>
              </a:ext>
            </a:extLst>
          </p:cNvPr>
          <p:cNvSpPr txBox="1"/>
          <p:nvPr/>
        </p:nvSpPr>
        <p:spPr>
          <a:xfrm>
            <a:off x="3311307" y="2474341"/>
            <a:ext cx="828000" cy="720000"/>
          </a:xfrm>
          <a:prstGeom prst="rect">
            <a:avLst/>
          </a:prstGeom>
          <a:solidFill>
            <a:schemeClr val="bg1"/>
          </a:solidFill>
        </p:spPr>
        <p:txBody>
          <a:bodyPr wrap="square" rtlCol="0">
            <a:spAutoFit/>
          </a:bodyPr>
          <a:lstStyle/>
          <a:p>
            <a:pPr algn="ctr"/>
            <a:r>
              <a:rPr lang="en-PK" sz="1400" dirty="0"/>
              <a:t>May the force be with you</a:t>
            </a:r>
          </a:p>
        </p:txBody>
      </p:sp>
      <p:sp>
        <p:nvSpPr>
          <p:cNvPr id="11" name="TextBox 10">
            <a:extLst>
              <a:ext uri="{FF2B5EF4-FFF2-40B4-BE49-F238E27FC236}">
                <a16:creationId xmlns:a16="http://schemas.microsoft.com/office/drawing/2014/main" id="{4614A790-4DA2-AB6C-73BB-3C91B1CA4CA1}"/>
              </a:ext>
            </a:extLst>
          </p:cNvPr>
          <p:cNvSpPr txBox="1"/>
          <p:nvPr/>
        </p:nvSpPr>
        <p:spPr>
          <a:xfrm>
            <a:off x="8101494" y="2497345"/>
            <a:ext cx="828000" cy="720000"/>
          </a:xfrm>
          <a:prstGeom prst="rect">
            <a:avLst/>
          </a:prstGeom>
          <a:solidFill>
            <a:schemeClr val="bg1"/>
          </a:solidFill>
        </p:spPr>
        <p:txBody>
          <a:bodyPr wrap="square" rtlCol="0">
            <a:spAutoFit/>
          </a:bodyPr>
          <a:lstStyle/>
          <a:p>
            <a:pPr algn="ctr"/>
            <a:r>
              <a:rPr lang="en-PK" sz="1400" dirty="0"/>
              <a:t>May the force be with you</a:t>
            </a:r>
          </a:p>
        </p:txBody>
      </p:sp>
      <p:sp>
        <p:nvSpPr>
          <p:cNvPr id="12" name="Slide Number Placeholder 11">
            <a:extLst>
              <a:ext uri="{FF2B5EF4-FFF2-40B4-BE49-F238E27FC236}">
                <a16:creationId xmlns:a16="http://schemas.microsoft.com/office/drawing/2014/main" id="{2CA56EA2-31D7-122D-A906-2748BB4E1039}"/>
              </a:ext>
            </a:extLst>
          </p:cNvPr>
          <p:cNvSpPr>
            <a:spLocks noGrp="1"/>
          </p:cNvSpPr>
          <p:nvPr>
            <p:ph type="sldNum" sz="quarter" idx="12"/>
          </p:nvPr>
        </p:nvSpPr>
        <p:spPr/>
        <p:txBody>
          <a:bodyPr/>
          <a:lstStyle/>
          <a:p>
            <a:fld id="{D57F1E4F-1CFF-5643-939E-217C01CDF565}" type="slidenum">
              <a:rPr lang="en-US" smtClean="0"/>
              <a:pPr/>
              <a:t>3</a:t>
            </a:fld>
            <a:endParaRPr lang="en-US" dirty="0"/>
          </a:p>
        </p:txBody>
      </p:sp>
      <p:sp>
        <p:nvSpPr>
          <p:cNvPr id="9" name="TextBox 8">
            <a:extLst>
              <a:ext uri="{FF2B5EF4-FFF2-40B4-BE49-F238E27FC236}">
                <a16:creationId xmlns:a16="http://schemas.microsoft.com/office/drawing/2014/main" id="{BDCA2E6A-1B70-313C-A944-B8914724D2C7}"/>
              </a:ext>
            </a:extLst>
          </p:cNvPr>
          <p:cNvSpPr txBox="1"/>
          <p:nvPr/>
        </p:nvSpPr>
        <p:spPr>
          <a:xfrm>
            <a:off x="3849127" y="1197776"/>
            <a:ext cx="4651484" cy="537315"/>
          </a:xfrm>
          <a:prstGeom prst="rect">
            <a:avLst/>
          </a:prstGeom>
          <a:solidFill>
            <a:schemeClr val="bg1"/>
          </a:solidFill>
        </p:spPr>
        <p:txBody>
          <a:bodyPr wrap="square" rtlCol="0">
            <a:spAutoFit/>
          </a:bodyPr>
          <a:lstStyle/>
          <a:p>
            <a:endParaRPr lang="en-PK" dirty="0"/>
          </a:p>
        </p:txBody>
      </p:sp>
      <p:sp>
        <p:nvSpPr>
          <p:cNvPr id="13" name="Title 1">
            <a:extLst>
              <a:ext uri="{FF2B5EF4-FFF2-40B4-BE49-F238E27FC236}">
                <a16:creationId xmlns:a16="http://schemas.microsoft.com/office/drawing/2014/main" id="{4C42B41E-6C51-4ED3-7F99-254DF493464F}"/>
              </a:ext>
            </a:extLst>
          </p:cNvPr>
          <p:cNvSpPr txBox="1">
            <a:spLocks/>
          </p:cNvSpPr>
          <p:nvPr/>
        </p:nvSpPr>
        <p:spPr>
          <a:xfrm>
            <a:off x="2507536" y="973409"/>
            <a:ext cx="7176925" cy="573009"/>
          </a:xfrm>
          <a:prstGeom prst="roundRect">
            <a:avLst/>
          </a:prstGeom>
          <a:solidFill>
            <a:srgbClr val="FFECE5"/>
          </a:solidFill>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r>
              <a:rPr lang="en-US" sz="2400" dirty="0">
                <a:solidFill>
                  <a:srgbClr val="C00000"/>
                </a:solidFill>
              </a:rPr>
              <a:t>Each user generates a </a:t>
            </a:r>
            <a:r>
              <a:rPr lang="en-US" sz="2400" b="1" dirty="0">
                <a:solidFill>
                  <a:srgbClr val="C00000"/>
                </a:solidFill>
              </a:rPr>
              <a:t>public-private</a:t>
            </a:r>
            <a:r>
              <a:rPr lang="en-US" sz="2400" dirty="0">
                <a:solidFill>
                  <a:srgbClr val="C00000"/>
                </a:solidFill>
              </a:rPr>
              <a:t> key </a:t>
            </a:r>
            <a:r>
              <a:rPr lang="en-US" sz="2400" b="1" dirty="0">
                <a:solidFill>
                  <a:srgbClr val="C00000"/>
                </a:solidFill>
              </a:rPr>
              <a:t>pair</a:t>
            </a:r>
          </a:p>
          <a:p>
            <a:r>
              <a:rPr lang="en-US" sz="2400" dirty="0">
                <a:solidFill>
                  <a:srgbClr val="0432FF"/>
                </a:solidFill>
              </a:rPr>
              <a:t>Public keys: </a:t>
            </a:r>
            <a:r>
              <a:rPr lang="en-US" sz="2400" b="1" dirty="0">
                <a:solidFill>
                  <a:srgbClr val="0432FF"/>
                </a:solidFill>
              </a:rPr>
              <a:t>very</a:t>
            </a:r>
            <a:r>
              <a:rPr lang="en-US" sz="2400" dirty="0">
                <a:solidFill>
                  <a:srgbClr val="0432FF"/>
                </a:solidFill>
              </a:rPr>
              <a:t> public	Private keys: </a:t>
            </a:r>
            <a:r>
              <a:rPr lang="en-US" sz="2400" b="1" dirty="0">
                <a:solidFill>
                  <a:srgbClr val="0432FF"/>
                </a:solidFill>
              </a:rPr>
              <a:t>very</a:t>
            </a:r>
            <a:r>
              <a:rPr lang="en-US" sz="2400" dirty="0">
                <a:solidFill>
                  <a:srgbClr val="0432FF"/>
                </a:solidFill>
              </a:rPr>
              <a:t> private</a:t>
            </a:r>
          </a:p>
        </p:txBody>
      </p:sp>
      <p:sp>
        <p:nvSpPr>
          <p:cNvPr id="14" name="TextBox 13">
            <a:extLst>
              <a:ext uri="{FF2B5EF4-FFF2-40B4-BE49-F238E27FC236}">
                <a16:creationId xmlns:a16="http://schemas.microsoft.com/office/drawing/2014/main" id="{3469DB25-624C-9C33-AEC3-93556BD6EABD}"/>
              </a:ext>
            </a:extLst>
          </p:cNvPr>
          <p:cNvSpPr txBox="1"/>
          <p:nvPr/>
        </p:nvSpPr>
        <p:spPr>
          <a:xfrm>
            <a:off x="8908152" y="3421656"/>
            <a:ext cx="3283848" cy="1723549"/>
          </a:xfrm>
          <a:prstGeom prst="rect">
            <a:avLst/>
          </a:prstGeom>
          <a:solidFill>
            <a:schemeClr val="accent6">
              <a:lumMod val="20000"/>
              <a:lumOff val="80000"/>
            </a:schemeClr>
          </a:solidFill>
        </p:spPr>
        <p:txBody>
          <a:bodyPr wrap="none" rtlCol="0">
            <a:spAutoFit/>
          </a:bodyPr>
          <a:lstStyle/>
          <a:p>
            <a:pPr algn="ctr"/>
            <a:r>
              <a:rPr lang="en-PK" sz="2400" b="1" dirty="0">
                <a:solidFill>
                  <a:srgbClr val="0432FF"/>
                </a:solidFill>
              </a:rPr>
              <a:t>Thought Question: </a:t>
            </a:r>
          </a:p>
          <a:p>
            <a:pPr algn="ctr"/>
            <a:r>
              <a:rPr lang="en-PK" sz="2400" b="1" dirty="0">
                <a:solidFill>
                  <a:srgbClr val="7030A0"/>
                </a:solidFill>
              </a:rPr>
              <a:t>Bob receives some data</a:t>
            </a:r>
          </a:p>
          <a:p>
            <a:pPr algn="ctr"/>
            <a:endParaRPr lang="en-PK" sz="1000" b="1" dirty="0"/>
          </a:p>
          <a:p>
            <a:pPr algn="ctr"/>
            <a:r>
              <a:rPr lang="en-PK" sz="2400" b="1" dirty="0">
                <a:solidFill>
                  <a:srgbClr val="C00000"/>
                </a:solidFill>
              </a:rPr>
              <a:t>Can he now be sure it </a:t>
            </a:r>
          </a:p>
          <a:p>
            <a:pPr algn="ctr"/>
            <a:r>
              <a:rPr lang="en-PK" sz="2400" b="1" dirty="0">
                <a:solidFill>
                  <a:srgbClr val="C00000"/>
                </a:solidFill>
              </a:rPr>
              <a:t>came from Alice?</a:t>
            </a:r>
          </a:p>
        </p:txBody>
      </p:sp>
      <p:sp>
        <p:nvSpPr>
          <p:cNvPr id="15" name="Oval 14">
            <a:extLst>
              <a:ext uri="{FF2B5EF4-FFF2-40B4-BE49-F238E27FC236}">
                <a16:creationId xmlns:a16="http://schemas.microsoft.com/office/drawing/2014/main" id="{956C7E0B-2A9E-280D-BBED-61B617F7D465}"/>
              </a:ext>
            </a:extLst>
          </p:cNvPr>
          <p:cNvSpPr/>
          <p:nvPr/>
        </p:nvSpPr>
        <p:spPr>
          <a:xfrm>
            <a:off x="4422596" y="2284063"/>
            <a:ext cx="914400" cy="2281589"/>
          </a:xfrm>
          <a:prstGeom prst="ellipse">
            <a:avLst/>
          </a:prstGeom>
          <a:noFill/>
          <a:ln w="317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6" name="Oval 15">
            <a:extLst>
              <a:ext uri="{FF2B5EF4-FFF2-40B4-BE49-F238E27FC236}">
                <a16:creationId xmlns:a16="http://schemas.microsoft.com/office/drawing/2014/main" id="{751C79AB-D8C8-2A70-AF9A-3F012FD23E84}"/>
              </a:ext>
            </a:extLst>
          </p:cNvPr>
          <p:cNvSpPr/>
          <p:nvPr/>
        </p:nvSpPr>
        <p:spPr>
          <a:xfrm>
            <a:off x="3870928" y="4511018"/>
            <a:ext cx="2053960" cy="720000"/>
          </a:xfrm>
          <a:prstGeom prst="ellipse">
            <a:avLst/>
          </a:prstGeom>
          <a:noFill/>
          <a:ln w="317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7" name="Oval 16">
            <a:extLst>
              <a:ext uri="{FF2B5EF4-FFF2-40B4-BE49-F238E27FC236}">
                <a16:creationId xmlns:a16="http://schemas.microsoft.com/office/drawing/2014/main" id="{B120C0B4-A7C1-2136-871F-5DBFB142BAD2}"/>
              </a:ext>
            </a:extLst>
          </p:cNvPr>
          <p:cNvSpPr/>
          <p:nvPr/>
        </p:nvSpPr>
        <p:spPr>
          <a:xfrm>
            <a:off x="6278023" y="4511018"/>
            <a:ext cx="2053960" cy="720000"/>
          </a:xfrm>
          <a:prstGeom prst="ellipse">
            <a:avLst/>
          </a:prstGeom>
          <a:noFill/>
          <a:ln w="3175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8" name="Title 1">
            <a:extLst>
              <a:ext uri="{FF2B5EF4-FFF2-40B4-BE49-F238E27FC236}">
                <a16:creationId xmlns:a16="http://schemas.microsoft.com/office/drawing/2014/main" id="{18ACE8D8-05EA-0354-621A-A83114E55939}"/>
              </a:ext>
            </a:extLst>
          </p:cNvPr>
          <p:cNvSpPr txBox="1">
            <a:spLocks/>
          </p:cNvSpPr>
          <p:nvPr/>
        </p:nvSpPr>
        <p:spPr>
          <a:xfrm>
            <a:off x="5760000" y="5544000"/>
            <a:ext cx="4239484" cy="285052"/>
          </a:xfrm>
          <a:prstGeom prst="roundRect">
            <a:avLst/>
          </a:prstGeom>
          <a:solidFill>
            <a:schemeClr val="accent5">
              <a:lumMod val="20000"/>
              <a:lumOff val="80000"/>
            </a:schemeClr>
          </a:solidFill>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endParaRPr lang="en-US" sz="2400" b="1" dirty="0">
              <a:solidFill>
                <a:srgbClr val="7030A0"/>
              </a:solidFill>
            </a:endParaRPr>
          </a:p>
        </p:txBody>
      </p:sp>
    </p:spTree>
    <p:extLst>
      <p:ext uri="{BB962C8B-B14F-4D97-AF65-F5344CB8AC3E}">
        <p14:creationId xmlns:p14="http://schemas.microsoft.com/office/powerpoint/2010/main" val="653366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dissolve">
                                      <p:cBhvr>
                                        <p:cTn id="7" dur="500"/>
                                        <p:tgtEl>
                                          <p:spTgt spid="1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8">
                                            <p:txEl>
                                              <p:pRg st="0" end="0"/>
                                            </p:txEl>
                                          </p:spTgt>
                                        </p:tgtEl>
                                        <p:attrNameLst>
                                          <p:attrName>style.visibility</p:attrName>
                                        </p:attrNameLst>
                                      </p:cBhvr>
                                      <p:to>
                                        <p:strVal val="visible"/>
                                      </p:to>
                                    </p:set>
                                  </p:childTnLst>
                                </p:cTn>
                              </p:par>
                            </p:childTnLst>
                          </p:cTn>
                        </p:par>
                        <p:par>
                          <p:cTn id="14" fill="hold">
                            <p:stCondLst>
                              <p:cond delay="0"/>
                            </p:stCondLst>
                            <p:childTnLst>
                              <p:par>
                                <p:cTn id="15" presetID="9" presetClass="entr" presetSubtype="0" fill="hold" grpId="0" nodeType="after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dissolve">
                                      <p:cBhvr>
                                        <p:cTn id="17" dur="500"/>
                                        <p:tgtEl>
                                          <p:spTgt spid="15"/>
                                        </p:tgtEl>
                                      </p:cBhvr>
                                    </p:animEffect>
                                  </p:childTnLst>
                                </p:cTn>
                              </p:par>
                            </p:childTnLst>
                          </p:cTn>
                        </p:par>
                        <p:par>
                          <p:cTn id="18" fill="hold">
                            <p:stCondLst>
                              <p:cond delay="500"/>
                            </p:stCondLst>
                            <p:childTnLst>
                              <p:par>
                                <p:cTn id="19" presetID="1" presetClass="entr" presetSubtype="0" fill="hold" grpId="0" nodeType="afterEffect">
                                  <p:stCondLst>
                                    <p:cond delay="0"/>
                                  </p:stCondLst>
                                  <p:childTnLst>
                                    <p:set>
                                      <p:cBhvr>
                                        <p:cTn id="20" dur="1" fill="hold">
                                          <p:stCondLst>
                                            <p:cond delay="0"/>
                                          </p:stCondLst>
                                        </p:cTn>
                                        <p:tgtEl>
                                          <p:spTgt spid="18"/>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8">
                                            <p:txEl>
                                              <p:pRg st="1" end="1"/>
                                            </p:txEl>
                                          </p:spTgt>
                                        </p:tgtEl>
                                        <p:attrNameLst>
                                          <p:attrName>style.visibility</p:attrName>
                                        </p:attrNameLst>
                                      </p:cBhvr>
                                      <p:to>
                                        <p:strVal val="visible"/>
                                      </p:to>
                                    </p:set>
                                  </p:childTnLst>
                                </p:cTn>
                              </p:par>
                            </p:childTnLst>
                          </p:cTn>
                        </p:par>
                        <p:par>
                          <p:cTn id="25" fill="hold">
                            <p:stCondLst>
                              <p:cond delay="0"/>
                            </p:stCondLst>
                            <p:childTnLst>
                              <p:par>
                                <p:cTn id="26" presetID="9" presetClass="entr" presetSubtype="0" fill="hold" grpId="0" nodeType="after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dissolve">
                                      <p:cBhvr>
                                        <p:cTn id="28" dur="500"/>
                                        <p:tgtEl>
                                          <p:spTgt spid="6"/>
                                        </p:tgtEl>
                                      </p:cBhvr>
                                    </p:animEffect>
                                  </p:childTnLst>
                                </p:cTn>
                              </p:par>
                            </p:childTnLst>
                          </p:cTn>
                        </p:par>
                        <p:par>
                          <p:cTn id="29" fill="hold">
                            <p:stCondLst>
                              <p:cond delay="500"/>
                            </p:stCondLst>
                            <p:childTnLst>
                              <p:par>
                                <p:cTn id="30" presetID="1" presetClass="entr" presetSubtype="0" fill="hold" grpId="0" nodeType="afterEffect">
                                  <p:stCondLst>
                                    <p:cond delay="0"/>
                                  </p:stCondLst>
                                  <p:childTnLst>
                                    <p:set>
                                      <p:cBhvr>
                                        <p:cTn id="31" dur="1" fill="hold">
                                          <p:stCondLst>
                                            <p:cond delay="0"/>
                                          </p:stCondLst>
                                        </p:cTn>
                                        <p:tgtEl>
                                          <p:spTgt spid="16"/>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5" presetClass="entr" presetSubtype="10" fill="hold" grpId="0"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checkerboard(across)">
                                      <p:cBhvr>
                                        <p:cTn id="36" dur="500"/>
                                        <p:tgtEl>
                                          <p:spTgt spid="7"/>
                                        </p:tgtEl>
                                      </p:cBhvr>
                                    </p:animEffect>
                                  </p:childTnLst>
                                </p:cTn>
                              </p:par>
                            </p:childTnLst>
                          </p:cTn>
                        </p:par>
                        <p:par>
                          <p:cTn id="37" fill="hold">
                            <p:stCondLst>
                              <p:cond delay="500"/>
                            </p:stCondLst>
                            <p:childTnLst>
                              <p:par>
                                <p:cTn id="38" presetID="9" presetClass="exit" presetSubtype="0" fill="hold" grpId="1" nodeType="afterEffect">
                                  <p:stCondLst>
                                    <p:cond delay="0"/>
                                  </p:stCondLst>
                                  <p:childTnLst>
                                    <p:animEffect transition="out" filter="dissolve">
                                      <p:cBhvr>
                                        <p:cTn id="39" dur="500"/>
                                        <p:tgtEl>
                                          <p:spTgt spid="18"/>
                                        </p:tgtEl>
                                      </p:cBhvr>
                                    </p:animEffect>
                                    <p:set>
                                      <p:cBhvr>
                                        <p:cTn id="40" dur="1" fill="hold">
                                          <p:stCondLst>
                                            <p:cond delay="499"/>
                                          </p:stCondLst>
                                        </p:cTn>
                                        <p:tgtEl>
                                          <p:spTgt spid="18"/>
                                        </p:tgtEl>
                                        <p:attrNameLst>
                                          <p:attrName>style.visibility</p:attrName>
                                        </p:attrNameLst>
                                      </p:cBhvr>
                                      <p:to>
                                        <p:strVal val="hidden"/>
                                      </p:to>
                                    </p:set>
                                  </p:childTnLst>
                                </p:cTn>
                              </p:par>
                            </p:childTnLst>
                          </p:cTn>
                        </p:par>
                        <p:par>
                          <p:cTn id="41" fill="hold">
                            <p:stCondLst>
                              <p:cond delay="1000"/>
                            </p:stCondLst>
                            <p:childTnLst>
                              <p:par>
                                <p:cTn id="42" presetID="1" presetClass="entr" presetSubtype="0" fill="hold" grpId="0" nodeType="afterEffect">
                                  <p:stCondLst>
                                    <p:cond delay="0"/>
                                  </p:stCondLst>
                                  <p:childTnLst>
                                    <p:set>
                                      <p:cBhvr>
                                        <p:cTn id="43" dur="1" fill="hold">
                                          <p:stCondLst>
                                            <p:cond delay="0"/>
                                          </p:stCondLst>
                                        </p:cTn>
                                        <p:tgtEl>
                                          <p:spTgt spid="17"/>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1" presetClass="entr" presetSubtype="0" fill="hold" nodeType="clickEffect">
                                  <p:stCondLst>
                                    <p:cond delay="0"/>
                                  </p:stCondLst>
                                  <p:childTnLst>
                                    <p:set>
                                      <p:cBhvr>
                                        <p:cTn id="47" dur="1" fill="hold">
                                          <p:stCondLst>
                                            <p:cond delay="0"/>
                                          </p:stCondLst>
                                        </p:cTn>
                                        <p:tgtEl>
                                          <p:spTgt spid="8">
                                            <p:txEl>
                                              <p:pRg st="2" end="2"/>
                                            </p:txEl>
                                          </p:spTgt>
                                        </p:tgtEl>
                                        <p:attrNameLst>
                                          <p:attrName>style.visibility</p:attrName>
                                        </p:attrNameLst>
                                      </p:cBhvr>
                                      <p:to>
                                        <p:strVal val="visible"/>
                                      </p:to>
                                    </p:set>
                                  </p:childTnLst>
                                </p:cTn>
                              </p:par>
                            </p:childTnLst>
                          </p:cTn>
                        </p:par>
                      </p:childTnLst>
                    </p:cTn>
                  </p:par>
                  <p:par>
                    <p:cTn id="48" fill="hold">
                      <p:stCondLst>
                        <p:cond delay="indefinite"/>
                      </p:stCondLst>
                      <p:childTnLst>
                        <p:par>
                          <p:cTn id="49" fill="hold">
                            <p:stCondLst>
                              <p:cond delay="0"/>
                            </p:stCondLst>
                            <p:childTnLst>
                              <p:par>
                                <p:cTn id="50" presetID="1" presetClass="entr" presetSubtype="0" fill="hold" nodeType="clickEffect">
                                  <p:stCondLst>
                                    <p:cond delay="0"/>
                                  </p:stCondLst>
                                  <p:childTnLst>
                                    <p:set>
                                      <p:cBhvr>
                                        <p:cTn id="51"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8" grpId="0" animBg="1"/>
      <p:bldP spid="13" grpId="0" animBg="1"/>
      <p:bldP spid="14" grpId="0" animBg="1"/>
      <p:bldP spid="15" grpId="0" animBg="1"/>
      <p:bldP spid="16" grpId="0" animBg="1"/>
      <p:bldP spid="17" grpId="0" animBg="1"/>
      <p:bldP spid="18" grpId="0" animBg="1"/>
      <p:bldP spid="18"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5AECF-5983-2D37-AE5C-8E61D0ACD685}"/>
              </a:ext>
            </a:extLst>
          </p:cNvPr>
          <p:cNvSpPr>
            <a:spLocks noGrp="1"/>
          </p:cNvSpPr>
          <p:nvPr>
            <p:ph type="title"/>
          </p:nvPr>
        </p:nvSpPr>
        <p:spPr/>
        <p:txBody>
          <a:bodyPr/>
          <a:lstStyle/>
          <a:p>
            <a:r>
              <a:rPr lang="en-GB" dirty="0"/>
              <a:t>Digital Signatures: A simple-minded approach</a:t>
            </a:r>
            <a:endParaRPr lang="en-PK" dirty="0"/>
          </a:p>
        </p:txBody>
      </p:sp>
      <p:sp>
        <p:nvSpPr>
          <p:cNvPr id="3" name="Content Placeholder 2">
            <a:extLst>
              <a:ext uri="{FF2B5EF4-FFF2-40B4-BE49-F238E27FC236}">
                <a16:creationId xmlns:a16="http://schemas.microsoft.com/office/drawing/2014/main" id="{D3652C47-38D7-551B-978C-0CBAC359B5B0}"/>
              </a:ext>
            </a:extLst>
          </p:cNvPr>
          <p:cNvSpPr>
            <a:spLocks noGrp="1"/>
          </p:cNvSpPr>
          <p:nvPr>
            <p:ph idx="1"/>
          </p:nvPr>
        </p:nvSpPr>
        <p:spPr/>
        <p:txBody>
          <a:bodyPr>
            <a:normAutofit fontScale="92500" lnSpcReduction="20000"/>
          </a:bodyPr>
          <a:lstStyle/>
          <a:p>
            <a:r>
              <a:rPr lang="en-US" dirty="0"/>
              <a:t>Alice “signs” with her own private key</a:t>
            </a:r>
          </a:p>
          <a:p>
            <a:pPr lvl="1"/>
            <a:r>
              <a:rPr lang="en-US" dirty="0">
                <a:solidFill>
                  <a:srgbClr val="C00000"/>
                </a:solidFill>
              </a:rPr>
              <a:t>Signing is the same process as encrypting/encoding</a:t>
            </a:r>
          </a:p>
          <a:p>
            <a:r>
              <a:rPr lang="en-US" dirty="0"/>
              <a:t>Alice sends to Bob – a signed document</a:t>
            </a:r>
          </a:p>
          <a:p>
            <a:pPr lvl="1"/>
            <a:r>
              <a:rPr lang="en-US" dirty="0">
                <a:solidFill>
                  <a:srgbClr val="308D3E"/>
                </a:solidFill>
              </a:rPr>
              <a:t>The original document</a:t>
            </a:r>
          </a:p>
          <a:p>
            <a:pPr lvl="1"/>
            <a:r>
              <a:rPr lang="en-US" dirty="0">
                <a:solidFill>
                  <a:srgbClr val="308D3E"/>
                </a:solidFill>
              </a:rPr>
              <a:t>The signatures</a:t>
            </a:r>
          </a:p>
          <a:p>
            <a:r>
              <a:rPr lang="en-US" dirty="0">
                <a:solidFill>
                  <a:srgbClr val="7030A0"/>
                </a:solidFill>
              </a:rPr>
              <a:t>Bob uses Alice’s public key to decode the signature and compares</a:t>
            </a:r>
          </a:p>
          <a:p>
            <a:r>
              <a:rPr lang="en-US" dirty="0"/>
              <a:t>If comparison works, this [</a:t>
            </a:r>
            <a:r>
              <a:rPr lang="en-US" dirty="0">
                <a:solidFill>
                  <a:srgbClr val="C00000"/>
                </a:solidFill>
              </a:rPr>
              <a:t>probably?</a:t>
            </a:r>
            <a:r>
              <a:rPr lang="en-US" dirty="0"/>
              <a:t>] verifies:</a:t>
            </a:r>
          </a:p>
          <a:p>
            <a:pPr lvl="1"/>
            <a:r>
              <a:rPr lang="en-US" dirty="0">
                <a:solidFill>
                  <a:srgbClr val="0432FF"/>
                </a:solidFill>
              </a:rPr>
              <a:t>It was Alice who sent the message</a:t>
            </a:r>
            <a:r>
              <a:rPr lang="en-US" dirty="0"/>
              <a:t> (</a:t>
            </a:r>
            <a:r>
              <a:rPr lang="en-US" dirty="0">
                <a:solidFill>
                  <a:srgbClr val="308D3E"/>
                </a:solidFill>
              </a:rPr>
              <a:t>authentication/non-repudiation</a:t>
            </a:r>
            <a:r>
              <a:rPr lang="en-US" dirty="0"/>
              <a:t>)</a:t>
            </a:r>
          </a:p>
          <a:p>
            <a:pPr lvl="1"/>
            <a:r>
              <a:rPr lang="en-US" dirty="0">
                <a:solidFill>
                  <a:srgbClr val="0432FF"/>
                </a:solidFill>
              </a:rPr>
              <a:t>The message was not forged </a:t>
            </a:r>
            <a:r>
              <a:rPr lang="en-US" dirty="0"/>
              <a:t>(</a:t>
            </a:r>
            <a:r>
              <a:rPr lang="en-US" dirty="0">
                <a:solidFill>
                  <a:srgbClr val="308D3E"/>
                </a:solidFill>
              </a:rPr>
              <a:t>integrity</a:t>
            </a:r>
            <a:r>
              <a:rPr lang="en-US" dirty="0"/>
              <a:t>)</a:t>
            </a:r>
          </a:p>
          <a:p>
            <a:r>
              <a:rPr lang="en-US" dirty="0"/>
              <a:t>Anyone else can also decode the message</a:t>
            </a:r>
          </a:p>
          <a:p>
            <a:pPr lvl="1"/>
            <a:r>
              <a:rPr lang="en-US" dirty="0">
                <a:solidFill>
                  <a:srgbClr val="308D3E"/>
                </a:solidFill>
              </a:rPr>
              <a:t>And that may also be ok</a:t>
            </a:r>
          </a:p>
          <a:p>
            <a:pPr lvl="1"/>
            <a:r>
              <a:rPr lang="en-US" dirty="0">
                <a:solidFill>
                  <a:srgbClr val="C00000"/>
                </a:solidFill>
              </a:rPr>
              <a:t>What if we don’t want anyone else to decode the message?</a:t>
            </a:r>
          </a:p>
        </p:txBody>
      </p:sp>
      <p:sp>
        <p:nvSpPr>
          <p:cNvPr id="4" name="Slide Number Placeholder 3">
            <a:extLst>
              <a:ext uri="{FF2B5EF4-FFF2-40B4-BE49-F238E27FC236}">
                <a16:creationId xmlns:a16="http://schemas.microsoft.com/office/drawing/2014/main" id="{92D4FFD1-0AB4-FE31-75D3-349E16C39776}"/>
              </a:ext>
            </a:extLst>
          </p:cNvPr>
          <p:cNvSpPr>
            <a:spLocks noGrp="1"/>
          </p:cNvSpPr>
          <p:nvPr>
            <p:ph type="sldNum" sz="quarter" idx="12"/>
          </p:nvPr>
        </p:nvSpPr>
        <p:spPr/>
        <p:txBody>
          <a:bodyPr/>
          <a:lstStyle/>
          <a:p>
            <a:fld id="{D57F1E4F-1CFF-5643-939E-217C01CDF565}" type="slidenum">
              <a:rPr lang="en-US" smtClean="0"/>
              <a:pPr/>
              <a:t>4</a:t>
            </a:fld>
            <a:endParaRPr lang="en-US" dirty="0"/>
          </a:p>
        </p:txBody>
      </p:sp>
    </p:spTree>
    <p:extLst>
      <p:ext uri="{BB962C8B-B14F-4D97-AF65-F5344CB8AC3E}">
        <p14:creationId xmlns:p14="http://schemas.microsoft.com/office/powerpoint/2010/main" val="25401481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par>
                                <p:cTn id="19" presetID="9"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dissolve">
                                      <p:cBhvr>
                                        <p:cTn id="21" dur="500"/>
                                        <p:tgtEl>
                                          <p:spTgt spid="3">
                                            <p:txEl>
                                              <p:pRg st="4" end="4"/>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dissolve">
                                      <p:cBhvr>
                                        <p:cTn id="26" dur="500"/>
                                        <p:tgtEl>
                                          <p:spTgt spid="3">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dissolve">
                                      <p:cBhvr>
                                        <p:cTn id="31" dur="500"/>
                                        <p:tgtEl>
                                          <p:spTgt spid="3">
                                            <p:txEl>
                                              <p:pRg st="6" end="6"/>
                                            </p:txEl>
                                          </p:spTgt>
                                        </p:tgtEl>
                                      </p:cBhvr>
                                    </p:animEffect>
                                  </p:childTnLst>
                                </p:cTn>
                              </p:par>
                              <p:par>
                                <p:cTn id="32" presetID="9" presetClass="entr" presetSubtype="0" fill="hold" nodeType="withEffect">
                                  <p:stCondLst>
                                    <p:cond delay="0"/>
                                  </p:stCondLst>
                                  <p:childTnLst>
                                    <p:set>
                                      <p:cBhvr>
                                        <p:cTn id="33" dur="1" fill="hold">
                                          <p:stCondLst>
                                            <p:cond delay="0"/>
                                          </p:stCondLst>
                                        </p:cTn>
                                        <p:tgtEl>
                                          <p:spTgt spid="3">
                                            <p:txEl>
                                              <p:pRg st="7" end="7"/>
                                            </p:txEl>
                                          </p:spTgt>
                                        </p:tgtEl>
                                        <p:attrNameLst>
                                          <p:attrName>style.visibility</p:attrName>
                                        </p:attrNameLst>
                                      </p:cBhvr>
                                      <p:to>
                                        <p:strVal val="visible"/>
                                      </p:to>
                                    </p:set>
                                    <p:animEffect transition="in" filter="dissolve">
                                      <p:cBhvr>
                                        <p:cTn id="34" dur="500"/>
                                        <p:tgtEl>
                                          <p:spTgt spid="3">
                                            <p:txEl>
                                              <p:pRg st="7" end="7"/>
                                            </p:txEl>
                                          </p:spTgt>
                                        </p:tgtEl>
                                      </p:cBhvr>
                                    </p:animEffect>
                                  </p:childTnLst>
                                </p:cTn>
                              </p:par>
                              <p:par>
                                <p:cTn id="35" presetID="9" presetClass="entr" presetSubtype="0" fill="hold" nodeType="with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dissolv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dissolve">
                                      <p:cBhvr>
                                        <p:cTn id="42" dur="500"/>
                                        <p:tgtEl>
                                          <p:spTgt spid="3">
                                            <p:txEl>
                                              <p:pRg st="9" end="9"/>
                                            </p:txEl>
                                          </p:spTgt>
                                        </p:tgtEl>
                                      </p:cBhvr>
                                    </p:animEffect>
                                  </p:childTnLst>
                                </p:cTn>
                              </p:par>
                              <p:par>
                                <p:cTn id="43" presetID="9" presetClass="entr" presetSubtype="0" fill="hold" nodeType="withEffect">
                                  <p:stCondLst>
                                    <p:cond delay="0"/>
                                  </p:stCondLst>
                                  <p:childTnLst>
                                    <p:set>
                                      <p:cBhvr>
                                        <p:cTn id="44" dur="1" fill="hold">
                                          <p:stCondLst>
                                            <p:cond delay="0"/>
                                          </p:stCondLst>
                                        </p:cTn>
                                        <p:tgtEl>
                                          <p:spTgt spid="3">
                                            <p:txEl>
                                              <p:pRg st="10" end="10"/>
                                            </p:txEl>
                                          </p:spTgt>
                                        </p:tgtEl>
                                        <p:attrNameLst>
                                          <p:attrName>style.visibility</p:attrName>
                                        </p:attrNameLst>
                                      </p:cBhvr>
                                      <p:to>
                                        <p:strVal val="visible"/>
                                      </p:to>
                                    </p:set>
                                    <p:animEffect transition="in" filter="dissolve">
                                      <p:cBhvr>
                                        <p:cTn id="45" dur="500"/>
                                        <p:tgtEl>
                                          <p:spTgt spid="3">
                                            <p:txEl>
                                              <p:pRg st="10" end="10"/>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447B9B-B909-AB4E-7973-74A39CA498F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F4913-D677-B700-39DC-0E73C3927F41}"/>
              </a:ext>
            </a:extLst>
          </p:cNvPr>
          <p:cNvSpPr>
            <a:spLocks noGrp="1"/>
          </p:cNvSpPr>
          <p:nvPr>
            <p:ph type="title"/>
          </p:nvPr>
        </p:nvSpPr>
        <p:spPr/>
        <p:txBody>
          <a:bodyPr/>
          <a:lstStyle/>
          <a:p>
            <a:r>
              <a:rPr lang="en-GB" dirty="0"/>
              <a:t>PKI and Transactions on Bitcoin Blockchain</a:t>
            </a:r>
            <a:endParaRPr lang="en-PK" dirty="0"/>
          </a:p>
        </p:txBody>
      </p:sp>
      <p:sp>
        <p:nvSpPr>
          <p:cNvPr id="3" name="Content Placeholder 2">
            <a:extLst>
              <a:ext uri="{FF2B5EF4-FFF2-40B4-BE49-F238E27FC236}">
                <a16:creationId xmlns:a16="http://schemas.microsoft.com/office/drawing/2014/main" id="{29B93ED1-3F29-2C3B-6419-73787BFA6291}"/>
              </a:ext>
            </a:extLst>
          </p:cNvPr>
          <p:cNvSpPr>
            <a:spLocks noGrp="1"/>
          </p:cNvSpPr>
          <p:nvPr>
            <p:ph idx="1"/>
          </p:nvPr>
        </p:nvSpPr>
        <p:spPr/>
        <p:txBody>
          <a:bodyPr>
            <a:normAutofit lnSpcReduction="10000"/>
          </a:bodyPr>
          <a:lstStyle/>
          <a:p>
            <a:r>
              <a:rPr lang="en-US" dirty="0"/>
              <a:t>Cryptocurrency owned by Alice</a:t>
            </a:r>
          </a:p>
          <a:p>
            <a:pPr lvl="1"/>
            <a:r>
              <a:rPr lang="en-US" dirty="0">
                <a:solidFill>
                  <a:srgbClr val="C00000"/>
                </a:solidFill>
              </a:rPr>
              <a:t>From a previous transaction [</a:t>
            </a:r>
            <a:r>
              <a:rPr lang="en-US" dirty="0">
                <a:solidFill>
                  <a:srgbClr val="308D3E"/>
                </a:solidFill>
              </a:rPr>
              <a:t>by someone who paid her</a:t>
            </a:r>
            <a:r>
              <a:rPr lang="en-US" dirty="0">
                <a:solidFill>
                  <a:srgbClr val="C00000"/>
                </a:solidFill>
              </a:rPr>
              <a:t>]</a:t>
            </a:r>
          </a:p>
          <a:p>
            <a:pPr lvl="1"/>
            <a:r>
              <a:rPr lang="en-US" dirty="0">
                <a:solidFill>
                  <a:srgbClr val="C00000"/>
                </a:solidFill>
              </a:rPr>
              <a:t>Value locked [</a:t>
            </a:r>
            <a:r>
              <a:rPr lang="en-US" dirty="0">
                <a:solidFill>
                  <a:srgbClr val="7030A0"/>
                </a:solidFill>
              </a:rPr>
              <a:t>previously</a:t>
            </a:r>
            <a:r>
              <a:rPr lang="en-US" dirty="0">
                <a:solidFill>
                  <a:srgbClr val="C00000"/>
                </a:solidFill>
              </a:rPr>
              <a:t>] to Alice’s PUBLIC key</a:t>
            </a:r>
          </a:p>
          <a:p>
            <a:r>
              <a:rPr lang="en-US" dirty="0"/>
              <a:t>Alice unlocks the entire value in the transaction</a:t>
            </a:r>
          </a:p>
          <a:p>
            <a:pPr lvl="1"/>
            <a:r>
              <a:rPr lang="en-US" dirty="0">
                <a:solidFill>
                  <a:srgbClr val="308D3E"/>
                </a:solidFill>
              </a:rPr>
              <a:t>Using her PRIVATE key</a:t>
            </a:r>
          </a:p>
          <a:p>
            <a:pPr lvl="1"/>
            <a:r>
              <a:rPr lang="en-US" dirty="0">
                <a:solidFill>
                  <a:srgbClr val="308D3E"/>
                </a:solidFill>
              </a:rPr>
              <a:t>No one else can do it</a:t>
            </a:r>
          </a:p>
          <a:p>
            <a:r>
              <a:rPr lang="en-US" dirty="0"/>
              <a:t>Alice makes the transaction</a:t>
            </a:r>
          </a:p>
          <a:p>
            <a:pPr lvl="1"/>
            <a:r>
              <a:rPr lang="en-US" dirty="0">
                <a:solidFill>
                  <a:srgbClr val="7030A0"/>
                </a:solidFill>
              </a:rPr>
              <a:t>Locks some value to Bob’s PUBLIC key (pays to public key!)</a:t>
            </a:r>
          </a:p>
          <a:p>
            <a:pPr lvl="1"/>
            <a:r>
              <a:rPr lang="en-US" dirty="0">
                <a:solidFill>
                  <a:srgbClr val="7030A0"/>
                </a:solidFill>
              </a:rPr>
              <a:t>Only Bob will be able to unlock using his PRIVATE key</a:t>
            </a:r>
          </a:p>
          <a:p>
            <a:pPr lvl="1"/>
            <a:r>
              <a:rPr lang="en-US" b="1" dirty="0">
                <a:solidFill>
                  <a:srgbClr val="308D3E"/>
                </a:solidFill>
              </a:rPr>
              <a:t>Important:</a:t>
            </a:r>
            <a:r>
              <a:rPr lang="en-US" dirty="0">
                <a:solidFill>
                  <a:srgbClr val="308D3E"/>
                </a:solidFill>
              </a:rPr>
              <a:t> Alice locks the remaining value to her own PUBLIC key</a:t>
            </a:r>
          </a:p>
          <a:p>
            <a:pPr lvl="1"/>
            <a:r>
              <a:rPr lang="en-US" b="1" dirty="0">
                <a:solidFill>
                  <a:srgbClr val="C00000"/>
                </a:solidFill>
              </a:rPr>
              <a:t>Important:</a:t>
            </a:r>
            <a:r>
              <a:rPr lang="en-US" dirty="0">
                <a:solidFill>
                  <a:srgbClr val="C00000"/>
                </a:solidFill>
              </a:rPr>
              <a:t> Alice can’t deny making the transaction later on. Why?</a:t>
            </a:r>
          </a:p>
        </p:txBody>
      </p:sp>
      <p:sp>
        <p:nvSpPr>
          <p:cNvPr id="4" name="Slide Number Placeholder 3">
            <a:extLst>
              <a:ext uri="{FF2B5EF4-FFF2-40B4-BE49-F238E27FC236}">
                <a16:creationId xmlns:a16="http://schemas.microsoft.com/office/drawing/2014/main" id="{BB6A6E1F-3AA5-AFE5-F181-84BA44FC146D}"/>
              </a:ext>
            </a:extLst>
          </p:cNvPr>
          <p:cNvSpPr>
            <a:spLocks noGrp="1"/>
          </p:cNvSpPr>
          <p:nvPr>
            <p:ph type="sldNum" sz="quarter" idx="12"/>
          </p:nvPr>
        </p:nvSpPr>
        <p:spPr/>
        <p:txBody>
          <a:bodyPr/>
          <a:lstStyle/>
          <a:p>
            <a:fld id="{D57F1E4F-1CFF-5643-939E-217C01CDF565}" type="slidenum">
              <a:rPr lang="en-US" smtClean="0"/>
              <a:pPr/>
              <a:t>5</a:t>
            </a:fld>
            <a:endParaRPr lang="en-US" dirty="0"/>
          </a:p>
        </p:txBody>
      </p:sp>
    </p:spTree>
    <p:extLst>
      <p:ext uri="{BB962C8B-B14F-4D97-AF65-F5344CB8AC3E}">
        <p14:creationId xmlns:p14="http://schemas.microsoft.com/office/powerpoint/2010/main" val="3810754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dissolve">
                                      <p:cBhvr>
                                        <p:cTn id="20" dur="500"/>
                                        <p:tgtEl>
                                          <p:spTgt spid="3">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dissolv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
                                            <p:txEl>
                                              <p:pRg st="5" end="5"/>
                                            </p:txEl>
                                          </p:spTgt>
                                        </p:tgtEl>
                                        <p:attrNameLst>
                                          <p:attrName>style.visibility</p:attrName>
                                        </p:attrNameLst>
                                      </p:cBhvr>
                                      <p:to>
                                        <p:strVal val="visible"/>
                                      </p:to>
                                    </p:set>
                                    <p:animEffect transition="in" filter="dissolve">
                                      <p:cBhvr>
                                        <p:cTn id="30" dur="500"/>
                                        <p:tgtEl>
                                          <p:spTgt spid="3">
                                            <p:txEl>
                                              <p:pRg st="5" end="5"/>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xEl>
                                              <p:pRg st="6" end="6"/>
                                            </p:txEl>
                                          </p:spTgt>
                                        </p:tgtEl>
                                        <p:attrNameLst>
                                          <p:attrName>style.visibility</p:attrName>
                                        </p:attrNameLst>
                                      </p:cBhvr>
                                      <p:to>
                                        <p:strVal val="visible"/>
                                      </p:to>
                                    </p:set>
                                    <p:animEffect transition="in" filter="dissolve">
                                      <p:cBhvr>
                                        <p:cTn id="35" dur="500"/>
                                        <p:tgtEl>
                                          <p:spTgt spid="3">
                                            <p:txEl>
                                              <p:pRg st="6" end="6"/>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3">
                                            <p:txEl>
                                              <p:pRg st="7" end="7"/>
                                            </p:txEl>
                                          </p:spTgt>
                                        </p:tgtEl>
                                        <p:attrNameLst>
                                          <p:attrName>style.visibility</p:attrName>
                                        </p:attrNameLst>
                                      </p:cBhvr>
                                      <p:to>
                                        <p:strVal val="visible"/>
                                      </p:to>
                                    </p:set>
                                    <p:animEffect transition="in" filter="dissolve">
                                      <p:cBhvr>
                                        <p:cTn id="40" dur="500"/>
                                        <p:tgtEl>
                                          <p:spTgt spid="3">
                                            <p:txEl>
                                              <p:pRg st="7" end="7"/>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
                                            <p:txEl>
                                              <p:pRg st="8" end="8"/>
                                            </p:txEl>
                                          </p:spTgt>
                                        </p:tgtEl>
                                        <p:attrNameLst>
                                          <p:attrName>style.visibility</p:attrName>
                                        </p:attrNameLst>
                                      </p:cBhvr>
                                      <p:to>
                                        <p:strVal val="visible"/>
                                      </p:to>
                                    </p:set>
                                    <p:animEffect transition="in" filter="dissolve">
                                      <p:cBhvr>
                                        <p:cTn id="45" dur="500"/>
                                        <p:tgtEl>
                                          <p:spTgt spid="3">
                                            <p:txEl>
                                              <p:pRg st="8" end="8"/>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9" presetClass="entr" presetSubtype="0" fill="hold" nodeType="clickEffect">
                                  <p:stCondLst>
                                    <p:cond delay="0"/>
                                  </p:stCondLst>
                                  <p:childTnLst>
                                    <p:set>
                                      <p:cBhvr>
                                        <p:cTn id="49" dur="1" fill="hold">
                                          <p:stCondLst>
                                            <p:cond delay="0"/>
                                          </p:stCondLst>
                                        </p:cTn>
                                        <p:tgtEl>
                                          <p:spTgt spid="3">
                                            <p:txEl>
                                              <p:pRg st="9" end="9"/>
                                            </p:txEl>
                                          </p:spTgt>
                                        </p:tgtEl>
                                        <p:attrNameLst>
                                          <p:attrName>style.visibility</p:attrName>
                                        </p:attrNameLst>
                                      </p:cBhvr>
                                      <p:to>
                                        <p:strVal val="visible"/>
                                      </p:to>
                                    </p:set>
                                    <p:animEffect transition="in" filter="dissolve">
                                      <p:cBhvr>
                                        <p:cTn id="50" dur="500"/>
                                        <p:tgtEl>
                                          <p:spTgt spid="3">
                                            <p:txEl>
                                              <p:pRg st="9" end="9"/>
                                            </p:txEl>
                                          </p:spTgt>
                                        </p:tgtEl>
                                      </p:cBhvr>
                                    </p:animEffect>
                                  </p:childTnLst>
                                </p:cTn>
                              </p:par>
                            </p:childTnLst>
                          </p:cTn>
                        </p:par>
                      </p:childTnLst>
                    </p:cTn>
                  </p:par>
                  <p:par>
                    <p:cTn id="51" fill="hold">
                      <p:stCondLst>
                        <p:cond delay="indefinite"/>
                      </p:stCondLst>
                      <p:childTnLst>
                        <p:par>
                          <p:cTn id="52" fill="hold">
                            <p:stCondLst>
                              <p:cond delay="0"/>
                            </p:stCondLst>
                            <p:childTnLst>
                              <p:par>
                                <p:cTn id="53" presetID="9" presetClass="entr" presetSubtype="0" fill="hold" nodeType="clickEffect">
                                  <p:stCondLst>
                                    <p:cond delay="0"/>
                                  </p:stCondLst>
                                  <p:childTnLst>
                                    <p:set>
                                      <p:cBhvr>
                                        <p:cTn id="54" dur="1" fill="hold">
                                          <p:stCondLst>
                                            <p:cond delay="0"/>
                                          </p:stCondLst>
                                        </p:cTn>
                                        <p:tgtEl>
                                          <p:spTgt spid="3">
                                            <p:txEl>
                                              <p:pRg st="10" end="10"/>
                                            </p:txEl>
                                          </p:spTgt>
                                        </p:tgtEl>
                                        <p:attrNameLst>
                                          <p:attrName>style.visibility</p:attrName>
                                        </p:attrNameLst>
                                      </p:cBhvr>
                                      <p:to>
                                        <p:strVal val="visible"/>
                                      </p:to>
                                    </p:set>
                                    <p:animEffect transition="in" filter="dissolve">
                                      <p:cBhvr>
                                        <p:cTn id="55"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2A2F6-025F-3948-4A2E-9465CA771928}"/>
              </a:ext>
            </a:extLst>
          </p:cNvPr>
          <p:cNvSpPr>
            <a:spLocks noGrp="1"/>
          </p:cNvSpPr>
          <p:nvPr>
            <p:ph type="title"/>
          </p:nvPr>
        </p:nvSpPr>
        <p:spPr/>
        <p:txBody>
          <a:bodyPr>
            <a:normAutofit/>
          </a:bodyPr>
          <a:lstStyle/>
          <a:p>
            <a:r>
              <a:rPr lang="en-PK" dirty="0"/>
              <a:t>Digital Signatures: Integrity + Authentication</a:t>
            </a:r>
          </a:p>
        </p:txBody>
      </p:sp>
      <p:sp>
        <p:nvSpPr>
          <p:cNvPr id="3" name="Slide Number Placeholder 2">
            <a:extLst>
              <a:ext uri="{FF2B5EF4-FFF2-40B4-BE49-F238E27FC236}">
                <a16:creationId xmlns:a16="http://schemas.microsoft.com/office/drawing/2014/main" id="{638CB29E-7E8C-6BC6-4882-C9AD8EEF2A26}"/>
              </a:ext>
            </a:extLst>
          </p:cNvPr>
          <p:cNvSpPr>
            <a:spLocks noGrp="1"/>
          </p:cNvSpPr>
          <p:nvPr>
            <p:ph type="sldNum" sz="quarter" idx="12"/>
          </p:nvPr>
        </p:nvSpPr>
        <p:spPr/>
        <p:txBody>
          <a:bodyPr/>
          <a:lstStyle/>
          <a:p>
            <a:fld id="{D57F1E4F-1CFF-5643-939E-217C01CDF565}" type="slidenum">
              <a:rPr lang="en-US" smtClean="0"/>
              <a:pPr/>
              <a:t>6</a:t>
            </a:fld>
            <a:endParaRPr lang="en-US" dirty="0"/>
          </a:p>
        </p:txBody>
      </p:sp>
      <p:sp>
        <p:nvSpPr>
          <p:cNvPr id="7" name="TextBox 6">
            <a:extLst>
              <a:ext uri="{FF2B5EF4-FFF2-40B4-BE49-F238E27FC236}">
                <a16:creationId xmlns:a16="http://schemas.microsoft.com/office/drawing/2014/main" id="{E92B8E7A-F638-7E3B-FF5F-58A028B7BF62}"/>
              </a:ext>
            </a:extLst>
          </p:cNvPr>
          <p:cNvSpPr txBox="1"/>
          <p:nvPr/>
        </p:nvSpPr>
        <p:spPr>
          <a:xfrm>
            <a:off x="17597" y="1872000"/>
            <a:ext cx="1672253" cy="461665"/>
          </a:xfrm>
          <a:prstGeom prst="rect">
            <a:avLst/>
          </a:prstGeom>
          <a:noFill/>
        </p:spPr>
        <p:txBody>
          <a:bodyPr wrap="none" rtlCol="0">
            <a:spAutoFit/>
          </a:bodyPr>
          <a:lstStyle/>
          <a:p>
            <a:r>
              <a:rPr lang="en-GB" sz="2400" dirty="0">
                <a:latin typeface="Candara" panose="020E0502030303020204" pitchFamily="34" charset="0"/>
              </a:rPr>
              <a:t>M</a:t>
            </a:r>
            <a:r>
              <a:rPr lang="en-PK" sz="2400" dirty="0">
                <a:latin typeface="Candara" panose="020E0502030303020204" pitchFamily="34" charset="0"/>
              </a:rPr>
              <a:t>essage </a:t>
            </a:r>
            <a:r>
              <a:rPr lang="en-PK" sz="2400" b="1" dirty="0">
                <a:solidFill>
                  <a:srgbClr val="C00000"/>
                </a:solidFill>
                <a:latin typeface="Candara" panose="020E0502030303020204" pitchFamily="34" charset="0"/>
              </a:rPr>
              <a:t>M</a:t>
            </a:r>
          </a:p>
        </p:txBody>
      </p:sp>
      <p:sp>
        <p:nvSpPr>
          <p:cNvPr id="8" name="TextBox 7">
            <a:extLst>
              <a:ext uri="{FF2B5EF4-FFF2-40B4-BE49-F238E27FC236}">
                <a16:creationId xmlns:a16="http://schemas.microsoft.com/office/drawing/2014/main" id="{0B4A4D40-5C75-EF1E-AA6D-51C867EB7CAD}"/>
              </a:ext>
            </a:extLst>
          </p:cNvPr>
          <p:cNvSpPr txBox="1"/>
          <p:nvPr/>
        </p:nvSpPr>
        <p:spPr>
          <a:xfrm>
            <a:off x="1460372" y="2988000"/>
            <a:ext cx="1543884" cy="830997"/>
          </a:xfrm>
          <a:prstGeom prst="rect">
            <a:avLst/>
          </a:prstGeom>
          <a:noFill/>
        </p:spPr>
        <p:txBody>
          <a:bodyPr wrap="none" rtlCol="0">
            <a:spAutoFit/>
          </a:bodyPr>
          <a:lstStyle/>
          <a:p>
            <a:r>
              <a:rPr lang="en-US" sz="2400" dirty="0"/>
              <a:t>Alice’s</a:t>
            </a:r>
          </a:p>
          <a:p>
            <a:r>
              <a:rPr lang="en-US" sz="2400" dirty="0"/>
              <a:t>Private key</a:t>
            </a:r>
            <a:endParaRPr lang="en-PK" sz="2400" dirty="0"/>
          </a:p>
        </p:txBody>
      </p:sp>
      <p:sp>
        <p:nvSpPr>
          <p:cNvPr id="9" name="TextBox 8">
            <a:extLst>
              <a:ext uri="{FF2B5EF4-FFF2-40B4-BE49-F238E27FC236}">
                <a16:creationId xmlns:a16="http://schemas.microsoft.com/office/drawing/2014/main" id="{173436C0-227C-5284-E112-CA6DFD0BDFAF}"/>
              </a:ext>
            </a:extLst>
          </p:cNvPr>
          <p:cNvSpPr txBox="1"/>
          <p:nvPr/>
        </p:nvSpPr>
        <p:spPr>
          <a:xfrm>
            <a:off x="3218774" y="1872000"/>
            <a:ext cx="1673856" cy="461665"/>
          </a:xfrm>
          <a:prstGeom prst="rect">
            <a:avLst/>
          </a:prstGeom>
          <a:noFill/>
        </p:spPr>
        <p:txBody>
          <a:bodyPr wrap="none" rtlCol="0">
            <a:spAutoFit/>
          </a:bodyPr>
          <a:lstStyle/>
          <a:p>
            <a:r>
              <a:rPr lang="en-US" sz="2400" dirty="0">
                <a:latin typeface="Candara" panose="020E0502030303020204" pitchFamily="34" charset="0"/>
              </a:rPr>
              <a:t>Signature </a:t>
            </a:r>
            <a:r>
              <a:rPr lang="en-US" sz="2400" b="1" dirty="0">
                <a:solidFill>
                  <a:srgbClr val="C00000"/>
                </a:solidFill>
                <a:latin typeface="Candara" panose="020E0502030303020204" pitchFamily="34" charset="0"/>
              </a:rPr>
              <a:t>Y</a:t>
            </a:r>
            <a:endParaRPr lang="en-PK" sz="2400" b="1" dirty="0">
              <a:solidFill>
                <a:srgbClr val="C00000"/>
              </a:solidFill>
              <a:latin typeface="Candara" panose="020E0502030303020204" pitchFamily="34" charset="0"/>
            </a:endParaRPr>
          </a:p>
        </p:txBody>
      </p:sp>
      <p:sp>
        <p:nvSpPr>
          <p:cNvPr id="11" name="TextBox 10">
            <a:extLst>
              <a:ext uri="{FF2B5EF4-FFF2-40B4-BE49-F238E27FC236}">
                <a16:creationId xmlns:a16="http://schemas.microsoft.com/office/drawing/2014/main" id="{D2817EC6-BABB-39AE-4A17-349AAB79AC3C}"/>
              </a:ext>
            </a:extLst>
          </p:cNvPr>
          <p:cNvSpPr txBox="1"/>
          <p:nvPr/>
        </p:nvSpPr>
        <p:spPr>
          <a:xfrm>
            <a:off x="3239818" y="2880000"/>
            <a:ext cx="3632726" cy="1200329"/>
          </a:xfrm>
          <a:prstGeom prst="rect">
            <a:avLst/>
          </a:prstGeom>
          <a:noFill/>
        </p:spPr>
        <p:txBody>
          <a:bodyPr wrap="none" rtlCol="0">
            <a:spAutoFit/>
          </a:bodyPr>
          <a:lstStyle/>
          <a:p>
            <a:pPr algn="ctr"/>
            <a:r>
              <a:rPr lang="en-PK" sz="2400" b="1" dirty="0">
                <a:highlight>
                  <a:srgbClr val="C5FFFC"/>
                </a:highlight>
                <a:latin typeface="Candara" panose="020E0502030303020204" pitchFamily="34" charset="0"/>
              </a:rPr>
              <a:t>Transfer </a:t>
            </a:r>
            <a:r>
              <a:rPr lang="en-PK" sz="2400" b="1" dirty="0">
                <a:solidFill>
                  <a:srgbClr val="C00000"/>
                </a:solidFill>
                <a:highlight>
                  <a:srgbClr val="C5FFFC"/>
                </a:highlight>
                <a:latin typeface="Candara" panose="020E0502030303020204" pitchFamily="34" charset="0"/>
              </a:rPr>
              <a:t>Y</a:t>
            </a:r>
            <a:r>
              <a:rPr lang="en-PK" sz="2400" b="1" dirty="0">
                <a:highlight>
                  <a:srgbClr val="C5FFFC"/>
                </a:highlight>
                <a:latin typeface="Candara" panose="020E0502030303020204" pitchFamily="34" charset="0"/>
              </a:rPr>
              <a:t> and </a:t>
            </a:r>
            <a:r>
              <a:rPr lang="en-PK" sz="2400" b="1" dirty="0">
                <a:solidFill>
                  <a:srgbClr val="C00000"/>
                </a:solidFill>
                <a:highlight>
                  <a:srgbClr val="C5FFFC"/>
                </a:highlight>
                <a:latin typeface="Candara" panose="020E0502030303020204" pitchFamily="34" charset="0"/>
              </a:rPr>
              <a:t>M</a:t>
            </a:r>
          </a:p>
          <a:p>
            <a:pPr algn="ctr"/>
            <a:r>
              <a:rPr lang="en-PK" sz="2400" b="1" dirty="0">
                <a:highlight>
                  <a:srgbClr val="FFFF00"/>
                </a:highlight>
                <a:latin typeface="Candara" panose="020E0502030303020204" pitchFamily="34" charset="0"/>
              </a:rPr>
              <a:t>Claim: </a:t>
            </a:r>
            <a:r>
              <a:rPr lang="en-PK" sz="2400" dirty="0">
                <a:highlight>
                  <a:srgbClr val="FFFF00"/>
                </a:highlight>
                <a:latin typeface="Candara" panose="020E0502030303020204" pitchFamily="34" charset="0"/>
              </a:rPr>
              <a:t>I am Alice and</a:t>
            </a:r>
          </a:p>
          <a:p>
            <a:pPr algn="ctr"/>
            <a:r>
              <a:rPr lang="en-PK" sz="2400" dirty="0">
                <a:highlight>
                  <a:srgbClr val="FFFF00"/>
                </a:highlight>
                <a:latin typeface="Candara" panose="020E0502030303020204" pitchFamily="34" charset="0"/>
              </a:rPr>
              <a:t>I made signature </a:t>
            </a:r>
            <a:r>
              <a:rPr lang="en-PK" sz="2400" b="1" dirty="0">
                <a:solidFill>
                  <a:srgbClr val="C00000"/>
                </a:solidFill>
                <a:highlight>
                  <a:srgbClr val="FFFF00"/>
                </a:highlight>
                <a:latin typeface="Candara" panose="020E0502030303020204" pitchFamily="34" charset="0"/>
              </a:rPr>
              <a:t>Y</a:t>
            </a:r>
            <a:r>
              <a:rPr lang="en-PK" sz="2400" dirty="0">
                <a:highlight>
                  <a:srgbClr val="FFFF00"/>
                </a:highlight>
                <a:latin typeface="Candara" panose="020E0502030303020204" pitchFamily="34" charset="0"/>
              </a:rPr>
              <a:t> from </a:t>
            </a:r>
            <a:r>
              <a:rPr lang="en-PK" sz="2400" b="1" dirty="0">
                <a:solidFill>
                  <a:srgbClr val="C00000"/>
                </a:solidFill>
                <a:highlight>
                  <a:srgbClr val="FFFF00"/>
                </a:highlight>
                <a:latin typeface="Candara" panose="020E0502030303020204" pitchFamily="34" charset="0"/>
              </a:rPr>
              <a:t>M</a:t>
            </a:r>
          </a:p>
        </p:txBody>
      </p:sp>
      <p:sp>
        <p:nvSpPr>
          <p:cNvPr id="16" name="TextBox 15">
            <a:extLst>
              <a:ext uri="{FF2B5EF4-FFF2-40B4-BE49-F238E27FC236}">
                <a16:creationId xmlns:a16="http://schemas.microsoft.com/office/drawing/2014/main" id="{DDCCC44A-9211-2E02-5841-656D1BFB2E92}"/>
              </a:ext>
            </a:extLst>
          </p:cNvPr>
          <p:cNvSpPr txBox="1"/>
          <p:nvPr/>
        </p:nvSpPr>
        <p:spPr>
          <a:xfrm>
            <a:off x="5778514" y="1872000"/>
            <a:ext cx="1608133" cy="461665"/>
          </a:xfrm>
          <a:prstGeom prst="rect">
            <a:avLst/>
          </a:prstGeom>
          <a:noFill/>
        </p:spPr>
        <p:txBody>
          <a:bodyPr wrap="none" rtlCol="0">
            <a:spAutoFit/>
          </a:bodyPr>
          <a:lstStyle/>
          <a:p>
            <a:r>
              <a:rPr lang="en-PK" sz="2400" dirty="0">
                <a:latin typeface="Candara" panose="020E0502030303020204" pitchFamily="34" charset="0"/>
              </a:rPr>
              <a:t>Received </a:t>
            </a:r>
            <a:r>
              <a:rPr lang="en-PK" sz="2400" b="1" dirty="0">
                <a:solidFill>
                  <a:srgbClr val="C00000"/>
                </a:solidFill>
                <a:latin typeface="Candara" panose="020E0502030303020204" pitchFamily="34" charset="0"/>
              </a:rPr>
              <a:t>Y</a:t>
            </a:r>
          </a:p>
        </p:txBody>
      </p:sp>
      <p:sp>
        <p:nvSpPr>
          <p:cNvPr id="17" name="TextBox 16">
            <a:extLst>
              <a:ext uri="{FF2B5EF4-FFF2-40B4-BE49-F238E27FC236}">
                <a16:creationId xmlns:a16="http://schemas.microsoft.com/office/drawing/2014/main" id="{50B2183C-56A8-65C5-F267-10E13451189A}"/>
              </a:ext>
            </a:extLst>
          </p:cNvPr>
          <p:cNvSpPr txBox="1"/>
          <p:nvPr/>
        </p:nvSpPr>
        <p:spPr>
          <a:xfrm>
            <a:off x="7235738" y="3008194"/>
            <a:ext cx="1427955" cy="830997"/>
          </a:xfrm>
          <a:prstGeom prst="rect">
            <a:avLst/>
          </a:prstGeom>
          <a:noFill/>
        </p:spPr>
        <p:txBody>
          <a:bodyPr wrap="none" rtlCol="0">
            <a:spAutoFit/>
          </a:bodyPr>
          <a:lstStyle/>
          <a:p>
            <a:r>
              <a:rPr lang="en-US" sz="2400" dirty="0"/>
              <a:t>Alice’s</a:t>
            </a:r>
          </a:p>
          <a:p>
            <a:r>
              <a:rPr lang="en-US" sz="2400" dirty="0"/>
              <a:t>Public key</a:t>
            </a:r>
            <a:endParaRPr lang="en-PK" sz="2400" dirty="0"/>
          </a:p>
        </p:txBody>
      </p:sp>
      <p:sp>
        <p:nvSpPr>
          <p:cNvPr id="18" name="TextBox 17">
            <a:extLst>
              <a:ext uri="{FF2B5EF4-FFF2-40B4-BE49-F238E27FC236}">
                <a16:creationId xmlns:a16="http://schemas.microsoft.com/office/drawing/2014/main" id="{7AF51513-F48C-953D-91BD-A0812E79503B}"/>
              </a:ext>
            </a:extLst>
          </p:cNvPr>
          <p:cNvSpPr txBox="1"/>
          <p:nvPr/>
        </p:nvSpPr>
        <p:spPr>
          <a:xfrm>
            <a:off x="9104952" y="1872000"/>
            <a:ext cx="453970" cy="461665"/>
          </a:xfrm>
          <a:prstGeom prst="rect">
            <a:avLst/>
          </a:prstGeom>
          <a:noFill/>
        </p:spPr>
        <p:txBody>
          <a:bodyPr wrap="none" rtlCol="0">
            <a:spAutoFit/>
          </a:bodyPr>
          <a:lstStyle/>
          <a:p>
            <a:r>
              <a:rPr lang="en-US" sz="2400" b="1" dirty="0">
                <a:solidFill>
                  <a:srgbClr val="C00000"/>
                </a:solidFill>
                <a:latin typeface="Candara" panose="020E0502030303020204" pitchFamily="34" charset="0"/>
              </a:rPr>
              <a:t>M</a:t>
            </a:r>
            <a:endParaRPr lang="en-PK" sz="2400" b="1" dirty="0">
              <a:solidFill>
                <a:srgbClr val="C00000"/>
              </a:solidFill>
              <a:latin typeface="Candara" panose="020E0502030303020204" pitchFamily="34" charset="0"/>
            </a:endParaRPr>
          </a:p>
        </p:txBody>
      </p:sp>
      <p:sp>
        <p:nvSpPr>
          <p:cNvPr id="20" name="TextBox 19">
            <a:extLst>
              <a:ext uri="{FF2B5EF4-FFF2-40B4-BE49-F238E27FC236}">
                <a16:creationId xmlns:a16="http://schemas.microsoft.com/office/drawing/2014/main" id="{128BD7CD-617C-2CE5-D6DE-FF934CA09AD8}"/>
              </a:ext>
            </a:extLst>
          </p:cNvPr>
          <p:cNvSpPr txBox="1"/>
          <p:nvPr/>
        </p:nvSpPr>
        <p:spPr>
          <a:xfrm>
            <a:off x="2285498" y="4268837"/>
            <a:ext cx="7620997" cy="1200329"/>
          </a:xfrm>
          <a:prstGeom prst="rect">
            <a:avLst/>
          </a:prstGeom>
          <a:solidFill>
            <a:schemeClr val="accent4">
              <a:lumMod val="20000"/>
              <a:lumOff val="80000"/>
            </a:schemeClr>
          </a:solidFill>
        </p:spPr>
        <p:txBody>
          <a:bodyPr wrap="none" rtlCol="0">
            <a:spAutoFit/>
          </a:bodyPr>
          <a:lstStyle/>
          <a:p>
            <a:r>
              <a:rPr lang="en-PK" sz="2400" dirty="0">
                <a:latin typeface="Candara" panose="020E0502030303020204" pitchFamily="34" charset="0"/>
              </a:rPr>
              <a:t>If what Bob decodes </a:t>
            </a:r>
            <a:r>
              <a:rPr lang="en-PK" sz="2400" b="1" dirty="0">
                <a:solidFill>
                  <a:srgbClr val="C00000"/>
                </a:solidFill>
                <a:latin typeface="Candara" panose="020E0502030303020204" pitchFamily="34" charset="0"/>
              </a:rPr>
              <a:t>(M)</a:t>
            </a:r>
            <a:r>
              <a:rPr lang="en-PK" sz="2400" dirty="0">
                <a:latin typeface="Candara" panose="020E0502030303020204" pitchFamily="34" charset="0"/>
              </a:rPr>
              <a:t> matches,</a:t>
            </a:r>
          </a:p>
          <a:p>
            <a:pPr algn="ctr"/>
            <a:r>
              <a:rPr lang="en-PK" sz="2400" dirty="0">
                <a:latin typeface="Candara" panose="020E0502030303020204" pitchFamily="34" charset="0"/>
              </a:rPr>
              <a:t>then it’s legit (integrity) and </a:t>
            </a:r>
            <a:r>
              <a:rPr lang="en-PK" sz="2400" b="1" dirty="0">
                <a:solidFill>
                  <a:srgbClr val="C00000"/>
                </a:solidFill>
                <a:latin typeface="Candara" panose="020E0502030303020204" pitchFamily="34" charset="0"/>
              </a:rPr>
              <a:t>Y</a:t>
            </a:r>
            <a:r>
              <a:rPr lang="en-PK" sz="2400" dirty="0">
                <a:latin typeface="Candara" panose="020E0502030303020204" pitchFamily="34" charset="0"/>
              </a:rPr>
              <a:t> is also fine (authenticity)…</a:t>
            </a:r>
          </a:p>
          <a:p>
            <a:pPr algn="r"/>
            <a:r>
              <a:rPr lang="en-PK" sz="2400" b="1" dirty="0">
                <a:solidFill>
                  <a:srgbClr val="7030A0"/>
                </a:solidFill>
                <a:latin typeface="Candara" panose="020E0502030303020204" pitchFamily="34" charset="0"/>
              </a:rPr>
              <a:t>			authentication and integrity verified?</a:t>
            </a:r>
          </a:p>
        </p:txBody>
      </p:sp>
      <p:sp>
        <p:nvSpPr>
          <p:cNvPr id="21" name="Rounded Rectangle 20">
            <a:extLst>
              <a:ext uri="{FF2B5EF4-FFF2-40B4-BE49-F238E27FC236}">
                <a16:creationId xmlns:a16="http://schemas.microsoft.com/office/drawing/2014/main" id="{991293F5-936B-B95F-224B-2F3AE95C2C25}"/>
              </a:ext>
            </a:extLst>
          </p:cNvPr>
          <p:cNvSpPr/>
          <p:nvPr/>
        </p:nvSpPr>
        <p:spPr>
          <a:xfrm>
            <a:off x="1357851" y="1045023"/>
            <a:ext cx="9476295" cy="559764"/>
          </a:xfrm>
          <a:prstGeom prst="roundRect">
            <a:avLst/>
          </a:prstGeom>
          <a:solidFill>
            <a:schemeClr val="accent6">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2800" b="1" dirty="0"/>
              <a:t>GOAL:</a:t>
            </a:r>
            <a:r>
              <a:rPr lang="en-PK" sz="2800" dirty="0"/>
              <a:t> Check for Message integrity and Sender’s Authenticity</a:t>
            </a:r>
          </a:p>
        </p:txBody>
      </p:sp>
      <p:sp>
        <p:nvSpPr>
          <p:cNvPr id="22" name="TextBox 21">
            <a:extLst>
              <a:ext uri="{FF2B5EF4-FFF2-40B4-BE49-F238E27FC236}">
                <a16:creationId xmlns:a16="http://schemas.microsoft.com/office/drawing/2014/main" id="{75B8EF12-6100-DD6C-56E8-FE7A41A54AA9}"/>
              </a:ext>
            </a:extLst>
          </p:cNvPr>
          <p:cNvSpPr txBox="1"/>
          <p:nvPr/>
        </p:nvSpPr>
        <p:spPr>
          <a:xfrm>
            <a:off x="2448204" y="5647133"/>
            <a:ext cx="7295587" cy="830997"/>
          </a:xfrm>
          <a:prstGeom prst="rect">
            <a:avLst/>
          </a:prstGeom>
          <a:solidFill>
            <a:schemeClr val="accent6">
              <a:lumMod val="20000"/>
              <a:lumOff val="80000"/>
            </a:schemeClr>
          </a:solidFill>
        </p:spPr>
        <p:txBody>
          <a:bodyPr wrap="square" rtlCol="0">
            <a:spAutoFit/>
          </a:bodyPr>
          <a:lstStyle/>
          <a:p>
            <a:pPr algn="ctr"/>
            <a:r>
              <a:rPr lang="en-PK" sz="2400" b="1" dirty="0">
                <a:solidFill>
                  <a:srgbClr val="0432FF"/>
                </a:solidFill>
              </a:rPr>
              <a:t>Thought Question:  </a:t>
            </a:r>
            <a:r>
              <a:rPr lang="en-PK" sz="2400" b="1" dirty="0">
                <a:solidFill>
                  <a:srgbClr val="7030A0"/>
                </a:solidFill>
              </a:rPr>
              <a:t>Bob receives “some” data</a:t>
            </a:r>
          </a:p>
          <a:p>
            <a:pPr algn="ctr"/>
            <a:r>
              <a:rPr lang="en-PK" sz="2400" b="1" dirty="0">
                <a:solidFill>
                  <a:srgbClr val="C00000"/>
                </a:solidFill>
              </a:rPr>
              <a:t>Can he now be sure it came from Alice?</a:t>
            </a:r>
          </a:p>
        </p:txBody>
      </p:sp>
      <p:sp>
        <p:nvSpPr>
          <p:cNvPr id="23" name="Rectangle 22">
            <a:extLst>
              <a:ext uri="{FF2B5EF4-FFF2-40B4-BE49-F238E27FC236}">
                <a16:creationId xmlns:a16="http://schemas.microsoft.com/office/drawing/2014/main" id="{D33671A1-55A5-F049-28A9-B925F8B81976}"/>
              </a:ext>
            </a:extLst>
          </p:cNvPr>
          <p:cNvSpPr>
            <a:spLocks noChangeAspect="1"/>
          </p:cNvSpPr>
          <p:nvPr/>
        </p:nvSpPr>
        <p:spPr>
          <a:xfrm rot="2700000">
            <a:off x="10089700" y="1952324"/>
            <a:ext cx="884593" cy="88459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700000"/>
              </a:camera>
              <a:lightRig rig="threePt" dir="t"/>
            </a:scene3d>
          </a:bodyPr>
          <a:lstStyle/>
          <a:p>
            <a:pPr algn="ctr"/>
            <a:r>
              <a:rPr lang="en-PK" sz="2000" dirty="0">
                <a:solidFill>
                  <a:srgbClr val="0432FF"/>
                </a:solidFill>
                <a:latin typeface="Candara" panose="020E0502030303020204" pitchFamily="34" charset="0"/>
              </a:rPr>
              <a:t>Same?</a:t>
            </a:r>
          </a:p>
        </p:txBody>
      </p:sp>
      <p:sp>
        <p:nvSpPr>
          <p:cNvPr id="28" name="Oval 27">
            <a:extLst>
              <a:ext uri="{FF2B5EF4-FFF2-40B4-BE49-F238E27FC236}">
                <a16:creationId xmlns:a16="http://schemas.microsoft.com/office/drawing/2014/main" id="{162C89C0-DAFD-5D8D-5E36-7270AE0C6CE2}"/>
              </a:ext>
            </a:extLst>
          </p:cNvPr>
          <p:cNvSpPr>
            <a:spLocks noChangeAspect="1"/>
          </p:cNvSpPr>
          <p:nvPr/>
        </p:nvSpPr>
        <p:spPr>
          <a:xfrm>
            <a:off x="6444000" y="3636506"/>
            <a:ext cx="432000" cy="432000"/>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cxnSp>
        <p:nvCxnSpPr>
          <p:cNvPr id="44" name="Straight Arrow Connector 43">
            <a:extLst>
              <a:ext uri="{FF2B5EF4-FFF2-40B4-BE49-F238E27FC236}">
                <a16:creationId xmlns:a16="http://schemas.microsoft.com/office/drawing/2014/main" id="{24265022-CA72-4FA3-257B-26292AE7BAA2}"/>
              </a:ext>
            </a:extLst>
          </p:cNvPr>
          <p:cNvCxnSpPr>
            <a:cxnSpLocks/>
          </p:cNvCxnSpPr>
          <p:nvPr/>
        </p:nvCxnSpPr>
        <p:spPr>
          <a:xfrm>
            <a:off x="3191002" y="2412000"/>
            <a:ext cx="981115" cy="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27701E66-01A8-977B-15DA-25BF1FBA2525}"/>
              </a:ext>
            </a:extLst>
          </p:cNvPr>
          <p:cNvCxnSpPr>
            <a:cxnSpLocks/>
          </p:cNvCxnSpPr>
          <p:nvPr/>
        </p:nvCxnSpPr>
        <p:spPr>
          <a:xfrm>
            <a:off x="396000" y="2412000"/>
            <a:ext cx="1243218" cy="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97D6DB0-3D85-5D45-7D51-8F8DF26784A2}"/>
              </a:ext>
            </a:extLst>
          </p:cNvPr>
          <p:cNvCxnSpPr>
            <a:cxnSpLocks/>
          </p:cNvCxnSpPr>
          <p:nvPr/>
        </p:nvCxnSpPr>
        <p:spPr>
          <a:xfrm flipV="1">
            <a:off x="2450920" y="2822399"/>
            <a:ext cx="0" cy="566475"/>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9708E8C-8669-C734-4119-4C23C0363A66}"/>
              </a:ext>
            </a:extLst>
          </p:cNvPr>
          <p:cNvCxnSpPr>
            <a:cxnSpLocks/>
          </p:cNvCxnSpPr>
          <p:nvPr/>
        </p:nvCxnSpPr>
        <p:spPr>
          <a:xfrm flipV="1">
            <a:off x="8228348" y="2822400"/>
            <a:ext cx="0" cy="566475"/>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2E829D90-015A-B138-A5E0-C7D69CEA9DEE}"/>
              </a:ext>
            </a:extLst>
          </p:cNvPr>
          <p:cNvCxnSpPr>
            <a:cxnSpLocks/>
          </p:cNvCxnSpPr>
          <p:nvPr/>
        </p:nvCxnSpPr>
        <p:spPr>
          <a:xfrm>
            <a:off x="6397054" y="2412000"/>
            <a:ext cx="981115" cy="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E7B10CC3-1A30-3CB5-0A0B-9DB53FF9514F}"/>
              </a:ext>
            </a:extLst>
          </p:cNvPr>
          <p:cNvCxnSpPr>
            <a:cxnSpLocks/>
          </p:cNvCxnSpPr>
          <p:nvPr/>
        </p:nvCxnSpPr>
        <p:spPr>
          <a:xfrm>
            <a:off x="8935193" y="2412000"/>
            <a:ext cx="971302" cy="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D531F23-B0D4-BAA9-9625-95FA3889EADA}"/>
              </a:ext>
            </a:extLst>
          </p:cNvPr>
          <p:cNvCxnSpPr>
            <a:cxnSpLocks/>
          </p:cNvCxnSpPr>
          <p:nvPr/>
        </p:nvCxnSpPr>
        <p:spPr>
          <a:xfrm>
            <a:off x="3796195" y="2661465"/>
            <a:ext cx="3091416" cy="0"/>
          </a:xfrm>
          <a:prstGeom prst="straightConnector1">
            <a:avLst/>
          </a:prstGeom>
          <a:ln w="85725" cmpd="dbl">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64" name="Arc 63">
            <a:extLst>
              <a:ext uri="{FF2B5EF4-FFF2-40B4-BE49-F238E27FC236}">
                <a16:creationId xmlns:a16="http://schemas.microsoft.com/office/drawing/2014/main" id="{BC7AD865-C8D0-18BD-283C-4E86094EA9FA}"/>
              </a:ext>
            </a:extLst>
          </p:cNvPr>
          <p:cNvSpPr/>
          <p:nvPr/>
        </p:nvSpPr>
        <p:spPr>
          <a:xfrm rot="4229672">
            <a:off x="6725011" y="174221"/>
            <a:ext cx="3064189" cy="4579201"/>
          </a:xfrm>
          <a:prstGeom prst="arc">
            <a:avLst>
              <a:gd name="adj1" fmla="val 17873949"/>
              <a:gd name="adj2" fmla="val 3795485"/>
            </a:avLst>
          </a:prstGeom>
          <a:ln w="3810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65" name="Rounded Rectangle 64">
            <a:extLst>
              <a:ext uri="{FF2B5EF4-FFF2-40B4-BE49-F238E27FC236}">
                <a16:creationId xmlns:a16="http://schemas.microsoft.com/office/drawing/2014/main" id="{1A70500F-22D4-4CE6-D010-227E650128B8}"/>
              </a:ext>
            </a:extLst>
          </p:cNvPr>
          <p:cNvSpPr/>
          <p:nvPr/>
        </p:nvSpPr>
        <p:spPr>
          <a:xfrm>
            <a:off x="1633978" y="1908000"/>
            <a:ext cx="1557024" cy="91440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2400" dirty="0"/>
              <a:t>Alice</a:t>
            </a:r>
          </a:p>
          <a:p>
            <a:pPr algn="ctr"/>
            <a:r>
              <a:rPr lang="en-PK" sz="2400" dirty="0"/>
              <a:t>Processes</a:t>
            </a:r>
          </a:p>
        </p:txBody>
      </p:sp>
      <p:sp>
        <p:nvSpPr>
          <p:cNvPr id="66" name="Rounded Rectangle 65">
            <a:extLst>
              <a:ext uri="{FF2B5EF4-FFF2-40B4-BE49-F238E27FC236}">
                <a16:creationId xmlns:a16="http://schemas.microsoft.com/office/drawing/2014/main" id="{C73D95E1-84E0-8FEA-C0B7-A439E4E6A052}"/>
              </a:ext>
            </a:extLst>
          </p:cNvPr>
          <p:cNvSpPr/>
          <p:nvPr/>
        </p:nvSpPr>
        <p:spPr>
          <a:xfrm>
            <a:off x="7378169" y="1908000"/>
            <a:ext cx="1557024" cy="91440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2400" dirty="0"/>
              <a:t>Bob</a:t>
            </a:r>
          </a:p>
          <a:p>
            <a:pPr algn="ctr"/>
            <a:r>
              <a:rPr lang="en-PK" sz="2400" dirty="0"/>
              <a:t>Processes</a:t>
            </a:r>
          </a:p>
        </p:txBody>
      </p:sp>
    </p:spTree>
    <p:extLst>
      <p:ext uri="{BB962C8B-B14F-4D97-AF65-F5344CB8AC3E}">
        <p14:creationId xmlns:p14="http://schemas.microsoft.com/office/powerpoint/2010/main" val="25919321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par>
                          <p:cTn id="11" fill="hold">
                            <p:stCondLst>
                              <p:cond delay="0"/>
                            </p:stCondLst>
                            <p:childTnLst>
                              <p:par>
                                <p:cTn id="12" presetID="9" presetClass="entr" presetSubtype="0" fill="hold" nodeType="after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dissolve">
                                      <p:cBhvr>
                                        <p:cTn id="14" dur="500"/>
                                        <p:tgtEl>
                                          <p:spTgt spid="46"/>
                                        </p:tgtEl>
                                      </p:cBhvr>
                                    </p:animEffect>
                                  </p:childTnLst>
                                </p:cTn>
                              </p:par>
                            </p:childTnLst>
                          </p:cTn>
                        </p:par>
                        <p:par>
                          <p:cTn id="15" fill="hold">
                            <p:stCondLst>
                              <p:cond delay="500"/>
                            </p:stCondLst>
                            <p:childTnLst>
                              <p:par>
                                <p:cTn id="16" presetID="1"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childTnLst>
                                </p:cTn>
                              </p:par>
                            </p:childTnLst>
                          </p:cTn>
                        </p:par>
                        <p:par>
                          <p:cTn id="18" fill="hold">
                            <p:stCondLst>
                              <p:cond delay="500"/>
                            </p:stCondLst>
                            <p:childTnLst>
                              <p:par>
                                <p:cTn id="19" presetID="9" presetClass="entr" presetSubtype="0" fill="hold" nodeType="afterEffect">
                                  <p:stCondLst>
                                    <p:cond delay="0"/>
                                  </p:stCondLst>
                                  <p:childTnLst>
                                    <p:set>
                                      <p:cBhvr>
                                        <p:cTn id="20" dur="1" fill="hold">
                                          <p:stCondLst>
                                            <p:cond delay="0"/>
                                          </p:stCondLst>
                                        </p:cTn>
                                        <p:tgtEl>
                                          <p:spTgt spid="48"/>
                                        </p:tgtEl>
                                        <p:attrNameLst>
                                          <p:attrName>style.visibility</p:attrName>
                                        </p:attrNameLst>
                                      </p:cBhvr>
                                      <p:to>
                                        <p:strVal val="visible"/>
                                      </p:to>
                                    </p:set>
                                    <p:animEffect transition="in" filter="dissolve">
                                      <p:cBhvr>
                                        <p:cTn id="21" dur="500"/>
                                        <p:tgtEl>
                                          <p:spTgt spid="48"/>
                                        </p:tgtEl>
                                      </p:cBhvr>
                                    </p:animEffec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9"/>
                                        </p:tgtEl>
                                        <p:attrNameLst>
                                          <p:attrName>style.visibility</p:attrName>
                                        </p:attrNameLst>
                                      </p:cBhvr>
                                      <p:to>
                                        <p:strVal val="visible"/>
                                      </p:to>
                                    </p:set>
                                  </p:childTnLst>
                                </p:cTn>
                              </p:par>
                            </p:childTnLst>
                          </p:cTn>
                        </p:par>
                        <p:par>
                          <p:cTn id="26" fill="hold">
                            <p:stCondLst>
                              <p:cond delay="0"/>
                            </p:stCondLst>
                            <p:childTnLst>
                              <p:par>
                                <p:cTn id="27" presetID="9" presetClass="entr" presetSubtype="0" fill="hold" nodeType="afterEffect">
                                  <p:stCondLst>
                                    <p:cond delay="0"/>
                                  </p:stCondLst>
                                  <p:childTnLst>
                                    <p:set>
                                      <p:cBhvr>
                                        <p:cTn id="28" dur="1" fill="hold">
                                          <p:stCondLst>
                                            <p:cond delay="0"/>
                                          </p:stCondLst>
                                        </p:cTn>
                                        <p:tgtEl>
                                          <p:spTgt spid="44"/>
                                        </p:tgtEl>
                                        <p:attrNameLst>
                                          <p:attrName>style.visibility</p:attrName>
                                        </p:attrNameLst>
                                      </p:cBhvr>
                                      <p:to>
                                        <p:strVal val="visible"/>
                                      </p:to>
                                    </p:set>
                                    <p:animEffect transition="in" filter="dissolve">
                                      <p:cBhvr>
                                        <p:cTn id="29" dur="500"/>
                                        <p:tgtEl>
                                          <p:spTgt spid="44"/>
                                        </p:tgtEl>
                                      </p:cBhvr>
                                    </p:animEffect>
                                  </p:childTnLst>
                                </p:cTn>
                              </p:par>
                            </p:childTnLst>
                          </p:cTn>
                        </p:par>
                      </p:childTnLst>
                    </p:cTn>
                  </p:par>
                  <p:par>
                    <p:cTn id="30" fill="hold">
                      <p:stCondLst>
                        <p:cond delay="indefinite"/>
                      </p:stCondLst>
                      <p:childTnLst>
                        <p:par>
                          <p:cTn id="31" fill="hold">
                            <p:stCondLst>
                              <p:cond delay="0"/>
                            </p:stCondLst>
                            <p:childTnLst>
                              <p:par>
                                <p:cTn id="32" presetID="1" presetClass="entr" presetSubtype="0" fill="hold" grpId="0" nodeType="clickEffect">
                                  <p:stCondLst>
                                    <p:cond delay="0"/>
                                  </p:stCondLst>
                                  <p:childTnLst>
                                    <p:set>
                                      <p:cBhvr>
                                        <p:cTn id="33" dur="1" fill="hold">
                                          <p:stCondLst>
                                            <p:cond delay="0"/>
                                          </p:stCondLst>
                                        </p:cTn>
                                        <p:tgtEl>
                                          <p:spTgt spid="11"/>
                                        </p:tgtEl>
                                        <p:attrNameLst>
                                          <p:attrName>style.visibility</p:attrName>
                                        </p:attrNameLst>
                                      </p:cBhvr>
                                      <p:to>
                                        <p:strVal val="visible"/>
                                      </p:to>
                                    </p:set>
                                  </p:childTnLst>
                                </p:cTn>
                              </p:par>
                              <p:par>
                                <p:cTn id="34" presetID="9" presetClass="entr" presetSubtype="0" fill="hold" nodeType="withEffect">
                                  <p:stCondLst>
                                    <p:cond delay="0"/>
                                  </p:stCondLst>
                                  <p:childTnLst>
                                    <p:set>
                                      <p:cBhvr>
                                        <p:cTn id="35" dur="1" fill="hold">
                                          <p:stCondLst>
                                            <p:cond delay="0"/>
                                          </p:stCondLst>
                                        </p:cTn>
                                        <p:tgtEl>
                                          <p:spTgt spid="60"/>
                                        </p:tgtEl>
                                        <p:attrNameLst>
                                          <p:attrName>style.visibility</p:attrName>
                                        </p:attrNameLst>
                                      </p:cBhvr>
                                      <p:to>
                                        <p:strVal val="visible"/>
                                      </p:to>
                                    </p:set>
                                    <p:animEffect transition="in" filter="dissolve">
                                      <p:cBhvr>
                                        <p:cTn id="36" dur="500"/>
                                        <p:tgtEl>
                                          <p:spTgt spid="60"/>
                                        </p:tgtEl>
                                      </p:cBhvr>
                                    </p:animEffect>
                                  </p:childTnLst>
                                </p:cTn>
                              </p:par>
                            </p:childTnLst>
                          </p:cTn>
                        </p:par>
                      </p:childTnLst>
                    </p:cTn>
                  </p:par>
                  <p:par>
                    <p:cTn id="37" fill="hold">
                      <p:stCondLst>
                        <p:cond delay="indefinite"/>
                      </p:stCondLst>
                      <p:childTnLst>
                        <p:par>
                          <p:cTn id="38" fill="hold">
                            <p:stCondLst>
                              <p:cond delay="0"/>
                            </p:stCondLst>
                            <p:childTnLst>
                              <p:par>
                                <p:cTn id="39" presetID="9" presetClass="entr" presetSubtype="0" fill="hold" grpId="0" nodeType="click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dissolve">
                                      <p:cBhvr>
                                        <p:cTn id="41" dur="500"/>
                                        <p:tgtEl>
                                          <p:spTgt spid="21"/>
                                        </p:tgtEl>
                                      </p:cBhvr>
                                    </p:animEffect>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grpId="0" nodeType="clickEffect">
                                  <p:stCondLst>
                                    <p:cond delay="0"/>
                                  </p:stCondLst>
                                  <p:childTnLst>
                                    <p:set>
                                      <p:cBhvr>
                                        <p:cTn id="45" dur="1" fill="hold">
                                          <p:stCondLst>
                                            <p:cond delay="0"/>
                                          </p:stCondLst>
                                        </p:cTn>
                                        <p:tgtEl>
                                          <p:spTgt spid="16"/>
                                        </p:tgtEl>
                                        <p:attrNameLst>
                                          <p:attrName>style.visibility</p:attrName>
                                        </p:attrNameLst>
                                      </p:cBhvr>
                                      <p:to>
                                        <p:strVal val="visible"/>
                                      </p:to>
                                    </p:set>
                                  </p:childTnLst>
                                </p:cTn>
                              </p:par>
                            </p:childTnLst>
                          </p:cTn>
                        </p:par>
                        <p:par>
                          <p:cTn id="46" fill="hold">
                            <p:stCondLst>
                              <p:cond delay="0"/>
                            </p:stCondLst>
                            <p:childTnLst>
                              <p:par>
                                <p:cTn id="47" presetID="9" presetClass="entr" presetSubtype="0" fill="hold" nodeType="afterEffect">
                                  <p:stCondLst>
                                    <p:cond delay="0"/>
                                  </p:stCondLst>
                                  <p:childTnLst>
                                    <p:set>
                                      <p:cBhvr>
                                        <p:cTn id="48" dur="1" fill="hold">
                                          <p:stCondLst>
                                            <p:cond delay="0"/>
                                          </p:stCondLst>
                                        </p:cTn>
                                        <p:tgtEl>
                                          <p:spTgt spid="52"/>
                                        </p:tgtEl>
                                        <p:attrNameLst>
                                          <p:attrName>style.visibility</p:attrName>
                                        </p:attrNameLst>
                                      </p:cBhvr>
                                      <p:to>
                                        <p:strVal val="visible"/>
                                      </p:to>
                                    </p:set>
                                    <p:animEffect transition="in" filter="dissolve">
                                      <p:cBhvr>
                                        <p:cTn id="49" dur="500"/>
                                        <p:tgtEl>
                                          <p:spTgt spid="52"/>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grpId="0" nodeType="clickEffect">
                                  <p:stCondLst>
                                    <p:cond delay="0"/>
                                  </p:stCondLst>
                                  <p:childTnLst>
                                    <p:set>
                                      <p:cBhvr>
                                        <p:cTn id="53" dur="1" fill="hold">
                                          <p:stCondLst>
                                            <p:cond delay="0"/>
                                          </p:stCondLst>
                                        </p:cTn>
                                        <p:tgtEl>
                                          <p:spTgt spid="66"/>
                                        </p:tgtEl>
                                        <p:attrNameLst>
                                          <p:attrName>style.visibility</p:attrName>
                                        </p:attrNameLst>
                                      </p:cBhvr>
                                      <p:to>
                                        <p:strVal val="visible"/>
                                      </p:to>
                                    </p:set>
                                    <p:animEffect transition="in" filter="dissolve">
                                      <p:cBhvr>
                                        <p:cTn id="54" dur="500"/>
                                        <p:tgtEl>
                                          <p:spTgt spid="66"/>
                                        </p:tgtEl>
                                      </p:cBhvr>
                                    </p:animEffect>
                                  </p:childTnLst>
                                </p:cTn>
                              </p:par>
                              <p:par>
                                <p:cTn id="55" presetID="1" presetClass="entr" presetSubtype="0" fill="hold" grpId="0" nodeType="withEffect">
                                  <p:stCondLst>
                                    <p:cond delay="0"/>
                                  </p:stCondLst>
                                  <p:childTnLst>
                                    <p:set>
                                      <p:cBhvr>
                                        <p:cTn id="56" dur="1" fill="hold">
                                          <p:stCondLst>
                                            <p:cond delay="0"/>
                                          </p:stCondLst>
                                        </p:cTn>
                                        <p:tgtEl>
                                          <p:spTgt spid="17"/>
                                        </p:tgtEl>
                                        <p:attrNameLst>
                                          <p:attrName>style.visibility</p:attrName>
                                        </p:attrNameLst>
                                      </p:cBhvr>
                                      <p:to>
                                        <p:strVal val="visible"/>
                                      </p:to>
                                    </p:set>
                                  </p:childTnLst>
                                </p:cTn>
                              </p:par>
                            </p:childTnLst>
                          </p:cTn>
                        </p:par>
                        <p:par>
                          <p:cTn id="57" fill="hold">
                            <p:stCondLst>
                              <p:cond delay="500"/>
                            </p:stCondLst>
                            <p:childTnLst>
                              <p:par>
                                <p:cTn id="58" presetID="9" presetClass="entr" presetSubtype="0" fill="hold" nodeType="afterEffect">
                                  <p:stCondLst>
                                    <p:cond delay="0"/>
                                  </p:stCondLst>
                                  <p:childTnLst>
                                    <p:set>
                                      <p:cBhvr>
                                        <p:cTn id="59" dur="1" fill="hold">
                                          <p:stCondLst>
                                            <p:cond delay="0"/>
                                          </p:stCondLst>
                                        </p:cTn>
                                        <p:tgtEl>
                                          <p:spTgt spid="51"/>
                                        </p:tgtEl>
                                        <p:attrNameLst>
                                          <p:attrName>style.visibility</p:attrName>
                                        </p:attrNameLst>
                                      </p:cBhvr>
                                      <p:to>
                                        <p:strVal val="visible"/>
                                      </p:to>
                                    </p:set>
                                    <p:animEffect transition="in" filter="dissolve">
                                      <p:cBhvr>
                                        <p:cTn id="60" dur="500"/>
                                        <p:tgtEl>
                                          <p:spTgt spid="51"/>
                                        </p:tgtEl>
                                      </p:cBhvr>
                                    </p:animEffec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18"/>
                                        </p:tgtEl>
                                        <p:attrNameLst>
                                          <p:attrName>style.visibility</p:attrName>
                                        </p:attrNameLst>
                                      </p:cBhvr>
                                      <p:to>
                                        <p:strVal val="visible"/>
                                      </p:to>
                                    </p:set>
                                  </p:childTnLst>
                                </p:cTn>
                              </p:par>
                            </p:childTnLst>
                          </p:cTn>
                        </p:par>
                        <p:par>
                          <p:cTn id="65" fill="hold">
                            <p:stCondLst>
                              <p:cond delay="0"/>
                            </p:stCondLst>
                            <p:childTnLst>
                              <p:par>
                                <p:cTn id="66" presetID="9" presetClass="entr" presetSubtype="0" fill="hold" nodeType="afterEffect">
                                  <p:stCondLst>
                                    <p:cond delay="0"/>
                                  </p:stCondLst>
                                  <p:childTnLst>
                                    <p:set>
                                      <p:cBhvr>
                                        <p:cTn id="67" dur="1" fill="hold">
                                          <p:stCondLst>
                                            <p:cond delay="0"/>
                                          </p:stCondLst>
                                        </p:cTn>
                                        <p:tgtEl>
                                          <p:spTgt spid="53"/>
                                        </p:tgtEl>
                                        <p:attrNameLst>
                                          <p:attrName>style.visibility</p:attrName>
                                        </p:attrNameLst>
                                      </p:cBhvr>
                                      <p:to>
                                        <p:strVal val="visible"/>
                                      </p:to>
                                    </p:set>
                                    <p:animEffect transition="in" filter="dissolve">
                                      <p:cBhvr>
                                        <p:cTn id="68" dur="500"/>
                                        <p:tgtEl>
                                          <p:spTgt spid="53"/>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28"/>
                                        </p:tgtEl>
                                        <p:attrNameLst>
                                          <p:attrName>style.visibility</p:attrName>
                                        </p:attrNameLst>
                                      </p:cBhvr>
                                      <p:to>
                                        <p:strVal val="visible"/>
                                      </p:to>
                                    </p:set>
                                  </p:childTnLst>
                                </p:cTn>
                              </p:par>
                              <p:par>
                                <p:cTn id="73" presetID="9" presetClass="entr" presetSubtype="0" fill="hold" grpId="0" nodeType="withEffect">
                                  <p:stCondLst>
                                    <p:cond delay="0"/>
                                  </p:stCondLst>
                                  <p:childTnLst>
                                    <p:set>
                                      <p:cBhvr>
                                        <p:cTn id="74" dur="1" fill="hold">
                                          <p:stCondLst>
                                            <p:cond delay="0"/>
                                          </p:stCondLst>
                                        </p:cTn>
                                        <p:tgtEl>
                                          <p:spTgt spid="64"/>
                                        </p:tgtEl>
                                        <p:attrNameLst>
                                          <p:attrName>style.visibility</p:attrName>
                                        </p:attrNameLst>
                                      </p:cBhvr>
                                      <p:to>
                                        <p:strVal val="visible"/>
                                      </p:to>
                                    </p:set>
                                    <p:animEffect transition="in" filter="dissolve">
                                      <p:cBhvr>
                                        <p:cTn id="75" dur="500"/>
                                        <p:tgtEl>
                                          <p:spTgt spid="64"/>
                                        </p:tgtEl>
                                      </p:cBhvr>
                                    </p:animEffect>
                                  </p:childTnLst>
                                </p:cTn>
                              </p:par>
                            </p:childTnLst>
                          </p:cTn>
                        </p:par>
                        <p:par>
                          <p:cTn id="76" fill="hold">
                            <p:stCondLst>
                              <p:cond delay="500"/>
                            </p:stCondLst>
                            <p:childTnLst>
                              <p:par>
                                <p:cTn id="77" presetID="9" presetClass="entr" presetSubtype="0" fill="hold" grpId="0" nodeType="afterEffect">
                                  <p:stCondLst>
                                    <p:cond delay="0"/>
                                  </p:stCondLst>
                                  <p:childTnLst>
                                    <p:set>
                                      <p:cBhvr>
                                        <p:cTn id="78" dur="1" fill="hold">
                                          <p:stCondLst>
                                            <p:cond delay="0"/>
                                          </p:stCondLst>
                                        </p:cTn>
                                        <p:tgtEl>
                                          <p:spTgt spid="23"/>
                                        </p:tgtEl>
                                        <p:attrNameLst>
                                          <p:attrName>style.visibility</p:attrName>
                                        </p:attrNameLst>
                                      </p:cBhvr>
                                      <p:to>
                                        <p:strVal val="visible"/>
                                      </p:to>
                                    </p:set>
                                    <p:animEffect transition="in" filter="dissolve">
                                      <p:cBhvr>
                                        <p:cTn id="79" dur="500"/>
                                        <p:tgtEl>
                                          <p:spTgt spid="23"/>
                                        </p:tgtEl>
                                      </p:cBhvr>
                                    </p:animEffect>
                                  </p:childTnLst>
                                </p:cTn>
                              </p:par>
                            </p:childTnLst>
                          </p:cTn>
                        </p:par>
                      </p:childTnLst>
                    </p:cTn>
                  </p:par>
                  <p:par>
                    <p:cTn id="80" fill="hold">
                      <p:stCondLst>
                        <p:cond delay="indefinite"/>
                      </p:stCondLst>
                      <p:childTnLst>
                        <p:par>
                          <p:cTn id="81" fill="hold">
                            <p:stCondLst>
                              <p:cond delay="0"/>
                            </p:stCondLst>
                            <p:childTnLst>
                              <p:par>
                                <p:cTn id="82" presetID="9" presetClass="entr" presetSubtype="0" fill="hold" grpId="0" nodeType="clickEffect">
                                  <p:stCondLst>
                                    <p:cond delay="0"/>
                                  </p:stCondLst>
                                  <p:childTnLst>
                                    <p:set>
                                      <p:cBhvr>
                                        <p:cTn id="83" dur="1" fill="hold">
                                          <p:stCondLst>
                                            <p:cond delay="0"/>
                                          </p:stCondLst>
                                        </p:cTn>
                                        <p:tgtEl>
                                          <p:spTgt spid="20"/>
                                        </p:tgtEl>
                                        <p:attrNameLst>
                                          <p:attrName>style.visibility</p:attrName>
                                        </p:attrNameLst>
                                      </p:cBhvr>
                                      <p:to>
                                        <p:strVal val="visible"/>
                                      </p:to>
                                    </p:set>
                                    <p:animEffect transition="in" filter="dissolve">
                                      <p:cBhvr>
                                        <p:cTn id="84" dur="500"/>
                                        <p:tgtEl>
                                          <p:spTgt spid="20"/>
                                        </p:tgtEl>
                                      </p:cBhvr>
                                    </p:animEffect>
                                  </p:childTnLst>
                                </p:cTn>
                              </p:par>
                            </p:childTnLst>
                          </p:cTn>
                        </p:par>
                      </p:childTnLst>
                    </p:cTn>
                  </p:par>
                  <p:par>
                    <p:cTn id="85" fill="hold">
                      <p:stCondLst>
                        <p:cond delay="indefinite"/>
                      </p:stCondLst>
                      <p:childTnLst>
                        <p:par>
                          <p:cTn id="86" fill="hold">
                            <p:stCondLst>
                              <p:cond delay="0"/>
                            </p:stCondLst>
                            <p:childTnLst>
                              <p:par>
                                <p:cTn id="87" presetID="1" presetClass="entr" presetSubtype="0" fill="hold" grpId="0" nodeType="clickEffect">
                                  <p:stCondLst>
                                    <p:cond delay="0"/>
                                  </p:stCondLst>
                                  <p:childTnLst>
                                    <p:set>
                                      <p:cBhvr>
                                        <p:cTn id="8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6" grpId="0"/>
      <p:bldP spid="17" grpId="0"/>
      <p:bldP spid="18" grpId="0"/>
      <p:bldP spid="20" grpId="0" animBg="1"/>
      <p:bldP spid="21" grpId="0" animBg="1"/>
      <p:bldP spid="22" grpId="0" animBg="1"/>
      <p:bldP spid="23" grpId="0" animBg="1"/>
      <p:bldP spid="28" grpId="0" animBg="1"/>
      <p:bldP spid="64" grpId="0" animBg="1"/>
      <p:bldP spid="65" grpId="0" animBg="1"/>
      <p:bldP spid="6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2E9D7-2F8E-97F5-C8E7-6296E42E6F8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15C9458-4F3E-5B54-7B30-7EE7371106F7}"/>
              </a:ext>
            </a:extLst>
          </p:cNvPr>
          <p:cNvSpPr>
            <a:spLocks noGrp="1"/>
          </p:cNvSpPr>
          <p:nvPr>
            <p:ph type="title"/>
          </p:nvPr>
        </p:nvSpPr>
        <p:spPr/>
        <p:txBody>
          <a:bodyPr>
            <a:normAutofit/>
          </a:bodyPr>
          <a:lstStyle/>
          <a:p>
            <a:r>
              <a:rPr lang="en-PK" dirty="0"/>
              <a:t>Kevin can claim to be Alice</a:t>
            </a:r>
          </a:p>
        </p:txBody>
      </p:sp>
      <p:sp>
        <p:nvSpPr>
          <p:cNvPr id="3" name="Slide Number Placeholder 2">
            <a:extLst>
              <a:ext uri="{FF2B5EF4-FFF2-40B4-BE49-F238E27FC236}">
                <a16:creationId xmlns:a16="http://schemas.microsoft.com/office/drawing/2014/main" id="{C9121B6F-52DE-7E08-8296-7416578EA878}"/>
              </a:ext>
            </a:extLst>
          </p:cNvPr>
          <p:cNvSpPr>
            <a:spLocks noGrp="1"/>
          </p:cNvSpPr>
          <p:nvPr>
            <p:ph type="sldNum" sz="quarter" idx="12"/>
          </p:nvPr>
        </p:nvSpPr>
        <p:spPr/>
        <p:txBody>
          <a:bodyPr/>
          <a:lstStyle/>
          <a:p>
            <a:fld id="{D57F1E4F-1CFF-5643-939E-217C01CDF565}" type="slidenum">
              <a:rPr lang="en-US" smtClean="0"/>
              <a:pPr/>
              <a:t>7</a:t>
            </a:fld>
            <a:endParaRPr lang="en-US" dirty="0"/>
          </a:p>
        </p:txBody>
      </p:sp>
      <p:sp>
        <p:nvSpPr>
          <p:cNvPr id="7" name="TextBox 6">
            <a:extLst>
              <a:ext uri="{FF2B5EF4-FFF2-40B4-BE49-F238E27FC236}">
                <a16:creationId xmlns:a16="http://schemas.microsoft.com/office/drawing/2014/main" id="{0C409EC2-E5D6-801C-E7CD-AC473F73EC52}"/>
              </a:ext>
            </a:extLst>
          </p:cNvPr>
          <p:cNvSpPr txBox="1"/>
          <p:nvPr/>
        </p:nvSpPr>
        <p:spPr>
          <a:xfrm>
            <a:off x="442897" y="1872000"/>
            <a:ext cx="996811" cy="461665"/>
          </a:xfrm>
          <a:prstGeom prst="rect">
            <a:avLst/>
          </a:prstGeom>
          <a:noFill/>
        </p:spPr>
        <p:txBody>
          <a:bodyPr wrap="none" rtlCol="0">
            <a:spAutoFit/>
          </a:bodyPr>
          <a:lstStyle/>
          <a:p>
            <a:r>
              <a:rPr lang="en-GB" sz="2400" dirty="0">
                <a:latin typeface="Candara" panose="020E0502030303020204" pitchFamily="34" charset="0"/>
              </a:rPr>
              <a:t>Text</a:t>
            </a:r>
            <a:r>
              <a:rPr lang="en-PK" sz="2400" dirty="0">
                <a:latin typeface="Candara" panose="020E0502030303020204" pitchFamily="34" charset="0"/>
              </a:rPr>
              <a:t> </a:t>
            </a:r>
            <a:r>
              <a:rPr lang="en-PK" sz="2400" b="1" dirty="0">
                <a:solidFill>
                  <a:srgbClr val="C00000"/>
                </a:solidFill>
                <a:latin typeface="Candara" panose="020E0502030303020204" pitchFamily="34" charset="0"/>
              </a:rPr>
              <a:t>K</a:t>
            </a:r>
          </a:p>
        </p:txBody>
      </p:sp>
      <p:sp>
        <p:nvSpPr>
          <p:cNvPr id="8" name="TextBox 7">
            <a:extLst>
              <a:ext uri="{FF2B5EF4-FFF2-40B4-BE49-F238E27FC236}">
                <a16:creationId xmlns:a16="http://schemas.microsoft.com/office/drawing/2014/main" id="{08793E86-B190-F716-6D35-107D5481DC23}"/>
              </a:ext>
            </a:extLst>
          </p:cNvPr>
          <p:cNvSpPr txBox="1"/>
          <p:nvPr/>
        </p:nvSpPr>
        <p:spPr>
          <a:xfrm>
            <a:off x="1460372" y="2988000"/>
            <a:ext cx="1427955" cy="830997"/>
          </a:xfrm>
          <a:prstGeom prst="rect">
            <a:avLst/>
          </a:prstGeom>
          <a:noFill/>
        </p:spPr>
        <p:txBody>
          <a:bodyPr wrap="none" rtlCol="0">
            <a:spAutoFit/>
          </a:bodyPr>
          <a:lstStyle/>
          <a:p>
            <a:r>
              <a:rPr lang="en-US" sz="2400" dirty="0"/>
              <a:t>Alice’s</a:t>
            </a:r>
          </a:p>
          <a:p>
            <a:r>
              <a:rPr lang="en-US" sz="2400" dirty="0">
                <a:highlight>
                  <a:srgbClr val="00FF00"/>
                </a:highlight>
              </a:rPr>
              <a:t>Public</a:t>
            </a:r>
            <a:r>
              <a:rPr lang="en-US" sz="2400" dirty="0"/>
              <a:t> key</a:t>
            </a:r>
            <a:endParaRPr lang="en-PK" sz="2400" dirty="0"/>
          </a:p>
        </p:txBody>
      </p:sp>
      <p:sp>
        <p:nvSpPr>
          <p:cNvPr id="9" name="TextBox 8">
            <a:extLst>
              <a:ext uri="{FF2B5EF4-FFF2-40B4-BE49-F238E27FC236}">
                <a16:creationId xmlns:a16="http://schemas.microsoft.com/office/drawing/2014/main" id="{E09E3CA0-5854-5E22-C66C-730042076CDA}"/>
              </a:ext>
            </a:extLst>
          </p:cNvPr>
          <p:cNvSpPr txBox="1"/>
          <p:nvPr/>
        </p:nvSpPr>
        <p:spPr>
          <a:xfrm>
            <a:off x="3218774" y="1872000"/>
            <a:ext cx="964751" cy="461665"/>
          </a:xfrm>
          <a:prstGeom prst="rect">
            <a:avLst/>
          </a:prstGeom>
          <a:noFill/>
        </p:spPr>
        <p:txBody>
          <a:bodyPr wrap="none" rtlCol="0">
            <a:spAutoFit/>
          </a:bodyPr>
          <a:lstStyle/>
          <a:p>
            <a:r>
              <a:rPr lang="en-US" sz="2400" dirty="0">
                <a:latin typeface="Candara" panose="020E0502030303020204" pitchFamily="34" charset="0"/>
              </a:rPr>
              <a:t>Text </a:t>
            </a:r>
            <a:r>
              <a:rPr lang="en-US" sz="2400" b="1" dirty="0">
                <a:solidFill>
                  <a:srgbClr val="C00000"/>
                </a:solidFill>
                <a:latin typeface="Candara" panose="020E0502030303020204" pitchFamily="34" charset="0"/>
              </a:rPr>
              <a:t>L</a:t>
            </a:r>
            <a:endParaRPr lang="en-PK" sz="2400" b="1" dirty="0">
              <a:solidFill>
                <a:srgbClr val="C00000"/>
              </a:solidFill>
              <a:latin typeface="Candara" panose="020E0502030303020204" pitchFamily="34" charset="0"/>
            </a:endParaRPr>
          </a:p>
        </p:txBody>
      </p:sp>
      <p:sp>
        <p:nvSpPr>
          <p:cNvPr id="11" name="TextBox 10">
            <a:extLst>
              <a:ext uri="{FF2B5EF4-FFF2-40B4-BE49-F238E27FC236}">
                <a16:creationId xmlns:a16="http://schemas.microsoft.com/office/drawing/2014/main" id="{FDB50D0B-AA0D-3C8D-ED36-4C26A4341EBB}"/>
              </a:ext>
            </a:extLst>
          </p:cNvPr>
          <p:cNvSpPr txBox="1"/>
          <p:nvPr/>
        </p:nvSpPr>
        <p:spPr>
          <a:xfrm>
            <a:off x="3146844" y="2880000"/>
            <a:ext cx="3818674" cy="1200329"/>
          </a:xfrm>
          <a:prstGeom prst="rect">
            <a:avLst/>
          </a:prstGeom>
          <a:noFill/>
        </p:spPr>
        <p:txBody>
          <a:bodyPr wrap="none" rtlCol="0">
            <a:spAutoFit/>
          </a:bodyPr>
          <a:lstStyle/>
          <a:p>
            <a:pPr algn="ctr"/>
            <a:r>
              <a:rPr lang="en-PK" sz="2400" b="1" dirty="0">
                <a:highlight>
                  <a:srgbClr val="C5FFFC"/>
                </a:highlight>
                <a:latin typeface="Candara" panose="020E0502030303020204" pitchFamily="34" charset="0"/>
              </a:rPr>
              <a:t>Transfer </a:t>
            </a:r>
            <a:r>
              <a:rPr lang="en-PK" sz="2400" b="1" dirty="0">
                <a:solidFill>
                  <a:srgbClr val="C00000"/>
                </a:solidFill>
                <a:highlight>
                  <a:srgbClr val="C5FFFC"/>
                </a:highlight>
                <a:latin typeface="Candara" panose="020E0502030303020204" pitchFamily="34" charset="0"/>
              </a:rPr>
              <a:t>K</a:t>
            </a:r>
            <a:r>
              <a:rPr lang="en-PK" sz="2400" b="1" dirty="0">
                <a:highlight>
                  <a:srgbClr val="C5FFFC"/>
                </a:highlight>
                <a:latin typeface="Candara" panose="020E0502030303020204" pitchFamily="34" charset="0"/>
              </a:rPr>
              <a:t> and </a:t>
            </a:r>
            <a:r>
              <a:rPr lang="en-PK" sz="2400" b="1" dirty="0">
                <a:solidFill>
                  <a:srgbClr val="C00000"/>
                </a:solidFill>
                <a:highlight>
                  <a:srgbClr val="C5FFFC"/>
                </a:highlight>
                <a:latin typeface="Candara" panose="020E0502030303020204" pitchFamily="34" charset="0"/>
              </a:rPr>
              <a:t>L</a:t>
            </a:r>
          </a:p>
          <a:p>
            <a:pPr algn="ctr"/>
            <a:r>
              <a:rPr lang="en-PK" sz="2400" b="1" dirty="0">
                <a:highlight>
                  <a:srgbClr val="FFFF00"/>
                </a:highlight>
                <a:latin typeface="Candara" panose="020E0502030303020204" pitchFamily="34" charset="0"/>
              </a:rPr>
              <a:t>(False) Claim: </a:t>
            </a:r>
            <a:r>
              <a:rPr lang="en-PK" sz="2400" dirty="0">
                <a:highlight>
                  <a:srgbClr val="FFFF00"/>
                </a:highlight>
                <a:latin typeface="Candara" panose="020E0502030303020204" pitchFamily="34" charset="0"/>
              </a:rPr>
              <a:t>I am Alice and</a:t>
            </a:r>
          </a:p>
          <a:p>
            <a:pPr algn="ctr"/>
            <a:r>
              <a:rPr lang="en-PK" sz="2400" dirty="0">
                <a:highlight>
                  <a:srgbClr val="FFFF00"/>
                </a:highlight>
                <a:latin typeface="Candara" panose="020E0502030303020204" pitchFamily="34" charset="0"/>
              </a:rPr>
              <a:t>I made signature </a:t>
            </a:r>
            <a:r>
              <a:rPr lang="en-PK" sz="2400" b="1" dirty="0">
                <a:solidFill>
                  <a:srgbClr val="C00000"/>
                </a:solidFill>
                <a:highlight>
                  <a:srgbClr val="FFFF00"/>
                </a:highlight>
                <a:latin typeface="Candara" panose="020E0502030303020204" pitchFamily="34" charset="0"/>
              </a:rPr>
              <a:t>K</a:t>
            </a:r>
            <a:r>
              <a:rPr lang="en-PK" sz="2400" dirty="0">
                <a:highlight>
                  <a:srgbClr val="FFFF00"/>
                </a:highlight>
                <a:latin typeface="Candara" panose="020E0502030303020204" pitchFamily="34" charset="0"/>
              </a:rPr>
              <a:t> from </a:t>
            </a:r>
            <a:r>
              <a:rPr lang="en-PK" sz="2400" b="1" dirty="0">
                <a:solidFill>
                  <a:srgbClr val="C00000"/>
                </a:solidFill>
                <a:highlight>
                  <a:srgbClr val="FFFF00"/>
                </a:highlight>
                <a:latin typeface="Candara" panose="020E0502030303020204" pitchFamily="34" charset="0"/>
              </a:rPr>
              <a:t>L</a:t>
            </a:r>
          </a:p>
        </p:txBody>
      </p:sp>
      <p:sp>
        <p:nvSpPr>
          <p:cNvPr id="16" name="TextBox 15">
            <a:extLst>
              <a:ext uri="{FF2B5EF4-FFF2-40B4-BE49-F238E27FC236}">
                <a16:creationId xmlns:a16="http://schemas.microsoft.com/office/drawing/2014/main" id="{B1A2A171-6406-EF73-A098-D3BF2F832026}"/>
              </a:ext>
            </a:extLst>
          </p:cNvPr>
          <p:cNvSpPr txBox="1"/>
          <p:nvPr/>
        </p:nvSpPr>
        <p:spPr>
          <a:xfrm>
            <a:off x="6246344" y="1872000"/>
            <a:ext cx="996811" cy="461665"/>
          </a:xfrm>
          <a:prstGeom prst="rect">
            <a:avLst/>
          </a:prstGeom>
          <a:noFill/>
        </p:spPr>
        <p:txBody>
          <a:bodyPr wrap="none" rtlCol="0">
            <a:spAutoFit/>
          </a:bodyPr>
          <a:lstStyle/>
          <a:p>
            <a:r>
              <a:rPr lang="en-PK" sz="2400" dirty="0">
                <a:latin typeface="Candara" panose="020E0502030303020204" pitchFamily="34" charset="0"/>
              </a:rPr>
              <a:t>Text </a:t>
            </a:r>
            <a:r>
              <a:rPr lang="en-PK" sz="2400" b="1" dirty="0">
                <a:solidFill>
                  <a:srgbClr val="C00000"/>
                </a:solidFill>
                <a:latin typeface="Candara" panose="020E0502030303020204" pitchFamily="34" charset="0"/>
              </a:rPr>
              <a:t>K</a:t>
            </a:r>
          </a:p>
        </p:txBody>
      </p:sp>
      <p:sp>
        <p:nvSpPr>
          <p:cNvPr id="17" name="TextBox 16">
            <a:extLst>
              <a:ext uri="{FF2B5EF4-FFF2-40B4-BE49-F238E27FC236}">
                <a16:creationId xmlns:a16="http://schemas.microsoft.com/office/drawing/2014/main" id="{A6913CA6-CB13-92CD-768D-C2CEEA8C0E67}"/>
              </a:ext>
            </a:extLst>
          </p:cNvPr>
          <p:cNvSpPr txBox="1"/>
          <p:nvPr/>
        </p:nvSpPr>
        <p:spPr>
          <a:xfrm>
            <a:off x="7235738" y="3008194"/>
            <a:ext cx="1427955" cy="830997"/>
          </a:xfrm>
          <a:prstGeom prst="rect">
            <a:avLst/>
          </a:prstGeom>
          <a:noFill/>
        </p:spPr>
        <p:txBody>
          <a:bodyPr wrap="none" rtlCol="0">
            <a:spAutoFit/>
          </a:bodyPr>
          <a:lstStyle/>
          <a:p>
            <a:r>
              <a:rPr lang="en-US" sz="2400" dirty="0"/>
              <a:t>Alice’s</a:t>
            </a:r>
          </a:p>
          <a:p>
            <a:r>
              <a:rPr lang="en-US" sz="2400" dirty="0"/>
              <a:t>Public key</a:t>
            </a:r>
            <a:endParaRPr lang="en-PK" sz="2400" dirty="0"/>
          </a:p>
        </p:txBody>
      </p:sp>
      <p:sp>
        <p:nvSpPr>
          <p:cNvPr id="18" name="TextBox 17">
            <a:extLst>
              <a:ext uri="{FF2B5EF4-FFF2-40B4-BE49-F238E27FC236}">
                <a16:creationId xmlns:a16="http://schemas.microsoft.com/office/drawing/2014/main" id="{DDA408AB-4662-FFA3-832F-FF464AD10C22}"/>
              </a:ext>
            </a:extLst>
          </p:cNvPr>
          <p:cNvSpPr txBox="1"/>
          <p:nvPr/>
        </p:nvSpPr>
        <p:spPr>
          <a:xfrm>
            <a:off x="9104952" y="1872000"/>
            <a:ext cx="333746" cy="461665"/>
          </a:xfrm>
          <a:prstGeom prst="rect">
            <a:avLst/>
          </a:prstGeom>
          <a:noFill/>
        </p:spPr>
        <p:txBody>
          <a:bodyPr wrap="none" rtlCol="0">
            <a:spAutoFit/>
          </a:bodyPr>
          <a:lstStyle/>
          <a:p>
            <a:r>
              <a:rPr lang="en-US" sz="2400" b="1" dirty="0">
                <a:solidFill>
                  <a:srgbClr val="C00000"/>
                </a:solidFill>
                <a:latin typeface="Candara" panose="020E0502030303020204" pitchFamily="34" charset="0"/>
              </a:rPr>
              <a:t>L</a:t>
            </a:r>
            <a:endParaRPr lang="en-PK" sz="2400" b="1" dirty="0">
              <a:solidFill>
                <a:srgbClr val="C00000"/>
              </a:solidFill>
              <a:latin typeface="Candara" panose="020E0502030303020204" pitchFamily="34" charset="0"/>
            </a:endParaRPr>
          </a:p>
        </p:txBody>
      </p:sp>
      <p:sp>
        <p:nvSpPr>
          <p:cNvPr id="20" name="TextBox 19">
            <a:extLst>
              <a:ext uri="{FF2B5EF4-FFF2-40B4-BE49-F238E27FC236}">
                <a16:creationId xmlns:a16="http://schemas.microsoft.com/office/drawing/2014/main" id="{FB2A7AE4-743B-9F29-59FD-B773FDB2AE6B}"/>
              </a:ext>
            </a:extLst>
          </p:cNvPr>
          <p:cNvSpPr txBox="1"/>
          <p:nvPr/>
        </p:nvSpPr>
        <p:spPr>
          <a:xfrm>
            <a:off x="1469573" y="4318452"/>
            <a:ext cx="9252854" cy="2123658"/>
          </a:xfrm>
          <a:prstGeom prst="rect">
            <a:avLst/>
          </a:prstGeom>
          <a:solidFill>
            <a:schemeClr val="accent4">
              <a:lumMod val="20000"/>
              <a:lumOff val="80000"/>
            </a:schemeClr>
          </a:solidFill>
        </p:spPr>
        <p:txBody>
          <a:bodyPr wrap="none" rtlCol="0">
            <a:spAutoFit/>
          </a:bodyPr>
          <a:lstStyle/>
          <a:p>
            <a:r>
              <a:rPr lang="en-PK" sz="2400" b="1" dirty="0">
                <a:latin typeface="Candara" panose="020E0502030303020204" pitchFamily="34" charset="0"/>
              </a:rPr>
              <a:t>Since </a:t>
            </a:r>
            <a:r>
              <a:rPr lang="en-PK" sz="2400" b="1" dirty="0">
                <a:solidFill>
                  <a:srgbClr val="C00000"/>
                </a:solidFill>
                <a:latin typeface="Candara" panose="020E0502030303020204" pitchFamily="34" charset="0"/>
              </a:rPr>
              <a:t>L</a:t>
            </a:r>
            <a:r>
              <a:rPr lang="en-PK" sz="2400" b="1" dirty="0">
                <a:latin typeface="Candara" panose="020E0502030303020204" pitchFamily="34" charset="0"/>
              </a:rPr>
              <a:t> matches, Bob thinks </a:t>
            </a:r>
            <a:r>
              <a:rPr lang="en-PK" sz="2400" b="1" dirty="0">
                <a:solidFill>
                  <a:srgbClr val="C00000"/>
                </a:solidFill>
                <a:latin typeface="Candara" panose="020E0502030303020204" pitchFamily="34" charset="0"/>
              </a:rPr>
              <a:t>L</a:t>
            </a:r>
            <a:r>
              <a:rPr lang="en-PK" sz="2400" b="1" dirty="0">
                <a:latin typeface="Candara" panose="020E0502030303020204" pitchFamily="34" charset="0"/>
              </a:rPr>
              <a:t> is a legit message and… sender is Alice</a:t>
            </a:r>
          </a:p>
          <a:p>
            <a:endParaRPr lang="en-PK" sz="1600" b="1" dirty="0">
              <a:latin typeface="Candara" panose="020E0502030303020204" pitchFamily="34" charset="0"/>
            </a:endParaRPr>
          </a:p>
          <a:p>
            <a:r>
              <a:rPr lang="en-PK" sz="2400" b="1" dirty="0">
                <a:solidFill>
                  <a:srgbClr val="308D3E"/>
                </a:solidFill>
                <a:latin typeface="Candara" panose="020E0502030303020204" pitchFamily="34" charset="0"/>
              </a:rPr>
              <a:t>(A little bit of) Good News: </a:t>
            </a:r>
            <a:r>
              <a:rPr lang="en-PK" sz="2400" b="1" dirty="0">
                <a:latin typeface="Candara" panose="020E0502030303020204" pitchFamily="34" charset="0"/>
              </a:rPr>
              <a:t>Kevin can control </a:t>
            </a:r>
            <a:r>
              <a:rPr lang="en-PK" sz="2400" b="1" dirty="0">
                <a:solidFill>
                  <a:srgbClr val="C00000"/>
                </a:solidFill>
                <a:latin typeface="Candara" panose="020E0502030303020204" pitchFamily="34" charset="0"/>
              </a:rPr>
              <a:t>K</a:t>
            </a:r>
            <a:r>
              <a:rPr lang="en-PK" sz="2400" b="1" dirty="0">
                <a:latin typeface="Candara" panose="020E0502030303020204" pitchFamily="34" charset="0"/>
              </a:rPr>
              <a:t> but not </a:t>
            </a:r>
            <a:r>
              <a:rPr lang="en-PK" sz="2400" b="1" dirty="0">
                <a:solidFill>
                  <a:srgbClr val="C00000"/>
                </a:solidFill>
                <a:latin typeface="Candara" panose="020E0502030303020204" pitchFamily="34" charset="0"/>
              </a:rPr>
              <a:t>L</a:t>
            </a:r>
            <a:endParaRPr lang="en-PK" sz="2400" b="1" dirty="0">
              <a:latin typeface="Candara" panose="020E0502030303020204" pitchFamily="34" charset="0"/>
            </a:endParaRPr>
          </a:p>
          <a:p>
            <a:r>
              <a:rPr lang="en-PK" sz="2400" b="1" dirty="0">
                <a:solidFill>
                  <a:srgbClr val="C00000"/>
                </a:solidFill>
                <a:latin typeface="Candara" panose="020E0502030303020204" pitchFamily="34" charset="0"/>
              </a:rPr>
              <a:t>(Still some) Bad News: </a:t>
            </a:r>
            <a:r>
              <a:rPr lang="en-PK" sz="2400" b="1" dirty="0">
                <a:latin typeface="Candara" panose="020E0502030303020204" pitchFamily="34" charset="0"/>
              </a:rPr>
              <a:t>It’s </a:t>
            </a:r>
            <a:r>
              <a:rPr lang="en-GB" sz="2400" b="1" dirty="0">
                <a:latin typeface="Candara" panose="020E0502030303020204" pitchFamily="34" charset="0"/>
              </a:rPr>
              <a:t>an </a:t>
            </a:r>
            <a:r>
              <a:rPr lang="en-PK" sz="2400" b="1" dirty="0">
                <a:latin typeface="Candara" panose="020E0502030303020204" pitchFamily="34" charset="0"/>
              </a:rPr>
              <a:t>injection of garbage data</a:t>
            </a:r>
          </a:p>
          <a:p>
            <a:endParaRPr lang="en-PK" sz="1600" b="1" dirty="0">
              <a:latin typeface="Candara" panose="020E0502030303020204" pitchFamily="34" charset="0"/>
            </a:endParaRPr>
          </a:p>
          <a:p>
            <a:r>
              <a:rPr lang="en-PK" sz="2400" b="1" dirty="0">
                <a:solidFill>
                  <a:srgbClr val="308D3E"/>
                </a:solidFill>
                <a:latin typeface="Candara" panose="020E0502030303020204" pitchFamily="34" charset="0"/>
              </a:rPr>
              <a:t>How to avoid this? </a:t>
            </a:r>
            <a:r>
              <a:rPr lang="en-PK" sz="2400" b="1" dirty="0">
                <a:solidFill>
                  <a:srgbClr val="7030A0"/>
                </a:solidFill>
                <a:latin typeface="Candara" panose="020E0502030303020204" pitchFamily="34" charset="0"/>
              </a:rPr>
              <a:t>Try hashing before signing</a:t>
            </a:r>
          </a:p>
        </p:txBody>
      </p:sp>
      <p:sp>
        <p:nvSpPr>
          <p:cNvPr id="21" name="Rounded Rectangle 20">
            <a:extLst>
              <a:ext uri="{FF2B5EF4-FFF2-40B4-BE49-F238E27FC236}">
                <a16:creationId xmlns:a16="http://schemas.microsoft.com/office/drawing/2014/main" id="{99048C9C-BE55-2E6B-F14C-7B914E48B851}"/>
              </a:ext>
            </a:extLst>
          </p:cNvPr>
          <p:cNvSpPr/>
          <p:nvPr/>
        </p:nvSpPr>
        <p:spPr>
          <a:xfrm>
            <a:off x="1113751" y="1055174"/>
            <a:ext cx="10265186" cy="578882"/>
          </a:xfrm>
          <a:prstGeom prst="round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spAutoFit/>
          </a:bodyPr>
          <a:lstStyle/>
          <a:p>
            <a:pPr algn="ctr"/>
            <a:r>
              <a:rPr lang="en-PK" sz="2800" b="1" dirty="0"/>
              <a:t>Kevin has no access to Alice’s private key – can still cause </a:t>
            </a:r>
            <a:r>
              <a:rPr lang="en-PK" sz="2800" b="1" dirty="0">
                <a:solidFill>
                  <a:srgbClr val="FFFF00"/>
                </a:solidFill>
              </a:rPr>
              <a:t>trouble</a:t>
            </a:r>
            <a:r>
              <a:rPr lang="en-PK" sz="2800" b="1" dirty="0"/>
              <a:t>!</a:t>
            </a:r>
            <a:endParaRPr lang="en-PK" sz="2800" dirty="0"/>
          </a:p>
        </p:txBody>
      </p:sp>
      <p:sp>
        <p:nvSpPr>
          <p:cNvPr id="23" name="Rectangle 22">
            <a:extLst>
              <a:ext uri="{FF2B5EF4-FFF2-40B4-BE49-F238E27FC236}">
                <a16:creationId xmlns:a16="http://schemas.microsoft.com/office/drawing/2014/main" id="{8190CB63-0F0B-2F17-AA26-0DA3C0C51FA0}"/>
              </a:ext>
            </a:extLst>
          </p:cNvPr>
          <p:cNvSpPr>
            <a:spLocks noChangeAspect="1"/>
          </p:cNvSpPr>
          <p:nvPr/>
        </p:nvSpPr>
        <p:spPr>
          <a:xfrm rot="2700000">
            <a:off x="10089700" y="1952324"/>
            <a:ext cx="884593" cy="884593"/>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scene3d>
              <a:camera prst="orthographicFront">
                <a:rot lat="0" lon="0" rev="2700000"/>
              </a:camera>
              <a:lightRig rig="threePt" dir="t"/>
            </a:scene3d>
          </a:bodyPr>
          <a:lstStyle/>
          <a:p>
            <a:pPr algn="ctr"/>
            <a:r>
              <a:rPr lang="en-PK" sz="2000" dirty="0">
                <a:solidFill>
                  <a:srgbClr val="0432FF"/>
                </a:solidFill>
                <a:latin typeface="Candara" panose="020E0502030303020204" pitchFamily="34" charset="0"/>
              </a:rPr>
              <a:t>Same?</a:t>
            </a:r>
          </a:p>
        </p:txBody>
      </p:sp>
      <p:sp>
        <p:nvSpPr>
          <p:cNvPr id="28" name="Oval 27">
            <a:extLst>
              <a:ext uri="{FF2B5EF4-FFF2-40B4-BE49-F238E27FC236}">
                <a16:creationId xmlns:a16="http://schemas.microsoft.com/office/drawing/2014/main" id="{E3D90116-2B24-8526-A019-D671AE1CD1B1}"/>
              </a:ext>
            </a:extLst>
          </p:cNvPr>
          <p:cNvSpPr>
            <a:spLocks noChangeAspect="1"/>
          </p:cNvSpPr>
          <p:nvPr/>
        </p:nvSpPr>
        <p:spPr>
          <a:xfrm>
            <a:off x="6444000" y="3636506"/>
            <a:ext cx="432000" cy="432000"/>
          </a:xfrm>
          <a:prstGeom prst="ellipse">
            <a:avLst/>
          </a:prstGeom>
          <a:noFill/>
          <a:ln w="190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cxnSp>
        <p:nvCxnSpPr>
          <p:cNvPr id="44" name="Straight Arrow Connector 43">
            <a:extLst>
              <a:ext uri="{FF2B5EF4-FFF2-40B4-BE49-F238E27FC236}">
                <a16:creationId xmlns:a16="http://schemas.microsoft.com/office/drawing/2014/main" id="{0C7ED6B0-4C79-0A30-8FB8-35EE9408AE56}"/>
              </a:ext>
            </a:extLst>
          </p:cNvPr>
          <p:cNvCxnSpPr>
            <a:cxnSpLocks/>
          </p:cNvCxnSpPr>
          <p:nvPr/>
        </p:nvCxnSpPr>
        <p:spPr>
          <a:xfrm>
            <a:off x="3191002" y="2412000"/>
            <a:ext cx="981115" cy="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5FEDB548-7861-DBDD-1D07-FC5A955679F3}"/>
              </a:ext>
            </a:extLst>
          </p:cNvPr>
          <p:cNvCxnSpPr>
            <a:cxnSpLocks/>
          </p:cNvCxnSpPr>
          <p:nvPr/>
        </p:nvCxnSpPr>
        <p:spPr>
          <a:xfrm>
            <a:off x="396000" y="2412000"/>
            <a:ext cx="1243218" cy="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E8C6B116-3191-330F-DB84-047298E69D17}"/>
              </a:ext>
            </a:extLst>
          </p:cNvPr>
          <p:cNvCxnSpPr>
            <a:cxnSpLocks/>
          </p:cNvCxnSpPr>
          <p:nvPr/>
        </p:nvCxnSpPr>
        <p:spPr>
          <a:xfrm flipV="1">
            <a:off x="2450920" y="2822399"/>
            <a:ext cx="0" cy="566475"/>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77E19301-CFFC-D460-A983-C0A1EB79AD24}"/>
              </a:ext>
            </a:extLst>
          </p:cNvPr>
          <p:cNvCxnSpPr>
            <a:cxnSpLocks/>
          </p:cNvCxnSpPr>
          <p:nvPr/>
        </p:nvCxnSpPr>
        <p:spPr>
          <a:xfrm flipV="1">
            <a:off x="8228348" y="2822400"/>
            <a:ext cx="0" cy="566475"/>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F207685-D721-8B4A-B5AB-5A50FD6AF290}"/>
              </a:ext>
            </a:extLst>
          </p:cNvPr>
          <p:cNvCxnSpPr>
            <a:cxnSpLocks/>
          </p:cNvCxnSpPr>
          <p:nvPr/>
        </p:nvCxnSpPr>
        <p:spPr>
          <a:xfrm>
            <a:off x="6397054" y="2412000"/>
            <a:ext cx="981115" cy="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A2EF608D-4B0D-7A73-71F6-4242ECACCC58}"/>
              </a:ext>
            </a:extLst>
          </p:cNvPr>
          <p:cNvCxnSpPr>
            <a:cxnSpLocks/>
          </p:cNvCxnSpPr>
          <p:nvPr/>
        </p:nvCxnSpPr>
        <p:spPr>
          <a:xfrm>
            <a:off x="8935193" y="2412000"/>
            <a:ext cx="971302" cy="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C24D1196-6AE5-0DFC-C544-D85E5259455A}"/>
              </a:ext>
            </a:extLst>
          </p:cNvPr>
          <p:cNvCxnSpPr>
            <a:cxnSpLocks/>
          </p:cNvCxnSpPr>
          <p:nvPr/>
        </p:nvCxnSpPr>
        <p:spPr>
          <a:xfrm>
            <a:off x="3796195" y="2661465"/>
            <a:ext cx="3091416" cy="0"/>
          </a:xfrm>
          <a:prstGeom prst="straightConnector1">
            <a:avLst/>
          </a:prstGeom>
          <a:ln w="85725" cmpd="dbl">
            <a:solidFill>
              <a:schemeClr val="tx1"/>
            </a:solidFill>
            <a:tailEnd type="stealth" w="med" len="med"/>
          </a:ln>
        </p:spPr>
        <p:style>
          <a:lnRef idx="1">
            <a:schemeClr val="accent1"/>
          </a:lnRef>
          <a:fillRef idx="0">
            <a:schemeClr val="accent1"/>
          </a:fillRef>
          <a:effectRef idx="0">
            <a:schemeClr val="accent1"/>
          </a:effectRef>
          <a:fontRef idx="minor">
            <a:schemeClr val="tx1"/>
          </a:fontRef>
        </p:style>
      </p:cxnSp>
      <p:sp>
        <p:nvSpPr>
          <p:cNvPr id="64" name="Arc 63">
            <a:extLst>
              <a:ext uri="{FF2B5EF4-FFF2-40B4-BE49-F238E27FC236}">
                <a16:creationId xmlns:a16="http://schemas.microsoft.com/office/drawing/2014/main" id="{FCB61DDA-8278-9587-69F8-93E132DB3FF1}"/>
              </a:ext>
            </a:extLst>
          </p:cNvPr>
          <p:cNvSpPr/>
          <p:nvPr/>
        </p:nvSpPr>
        <p:spPr>
          <a:xfrm rot="4229672">
            <a:off x="6725011" y="174221"/>
            <a:ext cx="3064189" cy="4579201"/>
          </a:xfrm>
          <a:prstGeom prst="arc">
            <a:avLst>
              <a:gd name="adj1" fmla="val 17873949"/>
              <a:gd name="adj2" fmla="val 3795485"/>
            </a:avLst>
          </a:prstGeom>
          <a:ln w="38100">
            <a:solidFill>
              <a:schemeClr val="tx1"/>
            </a:solidFill>
            <a:headEnd type="stealth" w="lg" len="lg"/>
            <a:tailEnd type="none" w="lg" len="lg"/>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PK"/>
          </a:p>
        </p:txBody>
      </p:sp>
      <p:sp>
        <p:nvSpPr>
          <p:cNvPr id="65" name="Rounded Rectangle 64">
            <a:extLst>
              <a:ext uri="{FF2B5EF4-FFF2-40B4-BE49-F238E27FC236}">
                <a16:creationId xmlns:a16="http://schemas.microsoft.com/office/drawing/2014/main" id="{D6505AF6-AEF1-841B-98CD-617EE45C8CF3}"/>
              </a:ext>
            </a:extLst>
          </p:cNvPr>
          <p:cNvSpPr/>
          <p:nvPr/>
        </p:nvSpPr>
        <p:spPr>
          <a:xfrm>
            <a:off x="1633978" y="1908000"/>
            <a:ext cx="1557024" cy="91440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2400" dirty="0"/>
              <a:t>Kevin</a:t>
            </a:r>
          </a:p>
          <a:p>
            <a:pPr algn="ctr"/>
            <a:r>
              <a:rPr lang="en-PK" sz="2400" dirty="0"/>
              <a:t>Processes</a:t>
            </a:r>
          </a:p>
        </p:txBody>
      </p:sp>
      <p:sp>
        <p:nvSpPr>
          <p:cNvPr id="66" name="Rounded Rectangle 65">
            <a:extLst>
              <a:ext uri="{FF2B5EF4-FFF2-40B4-BE49-F238E27FC236}">
                <a16:creationId xmlns:a16="http://schemas.microsoft.com/office/drawing/2014/main" id="{36B4019C-028B-0AAE-0DEA-3B09818DE6C7}"/>
              </a:ext>
            </a:extLst>
          </p:cNvPr>
          <p:cNvSpPr/>
          <p:nvPr/>
        </p:nvSpPr>
        <p:spPr>
          <a:xfrm>
            <a:off x="7378169" y="1908000"/>
            <a:ext cx="1557024" cy="914400"/>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2400" dirty="0"/>
              <a:t>Bob</a:t>
            </a:r>
          </a:p>
          <a:p>
            <a:pPr algn="ctr"/>
            <a:r>
              <a:rPr lang="en-PK" sz="2400" dirty="0"/>
              <a:t>Processes</a:t>
            </a:r>
          </a:p>
        </p:txBody>
      </p:sp>
    </p:spTree>
    <p:extLst>
      <p:ext uri="{BB962C8B-B14F-4D97-AF65-F5344CB8AC3E}">
        <p14:creationId xmlns:p14="http://schemas.microsoft.com/office/powerpoint/2010/main" val="1225581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dissolve">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childTnLst>
                                </p:cTn>
                              </p:par>
                            </p:childTnLst>
                          </p:cTn>
                        </p:par>
                        <p:par>
                          <p:cTn id="12" fill="hold">
                            <p:stCondLst>
                              <p:cond delay="0"/>
                            </p:stCondLst>
                            <p:childTnLst>
                              <p:par>
                                <p:cTn id="13" presetID="1" presetClass="entr" presetSubtype="0" fill="hold" grpId="0" nodeType="afterEffect">
                                  <p:stCondLst>
                                    <p:cond delay="0"/>
                                  </p:stCondLst>
                                  <p:childTnLst>
                                    <p:set>
                                      <p:cBhvr>
                                        <p:cTn id="14" dur="1" fill="hold">
                                          <p:stCondLst>
                                            <p:cond delay="0"/>
                                          </p:stCondLst>
                                        </p:cTn>
                                        <p:tgtEl>
                                          <p:spTgt spid="65"/>
                                        </p:tgtEl>
                                        <p:attrNameLst>
                                          <p:attrName>style.visibility</p:attrName>
                                        </p:attrNameLst>
                                      </p:cBhvr>
                                      <p:to>
                                        <p:strVal val="visible"/>
                                      </p:to>
                                    </p:set>
                                  </p:childTnLst>
                                </p:cTn>
                              </p:par>
                            </p:childTnLst>
                          </p:cTn>
                        </p:par>
                        <p:par>
                          <p:cTn id="15" fill="hold">
                            <p:stCondLst>
                              <p:cond delay="0"/>
                            </p:stCondLst>
                            <p:childTnLst>
                              <p:par>
                                <p:cTn id="16" presetID="9" presetClass="entr" presetSubtype="0" fill="hold" nodeType="afterEffect">
                                  <p:stCondLst>
                                    <p:cond delay="0"/>
                                  </p:stCondLst>
                                  <p:childTnLst>
                                    <p:set>
                                      <p:cBhvr>
                                        <p:cTn id="17" dur="1" fill="hold">
                                          <p:stCondLst>
                                            <p:cond delay="0"/>
                                          </p:stCondLst>
                                        </p:cTn>
                                        <p:tgtEl>
                                          <p:spTgt spid="46"/>
                                        </p:tgtEl>
                                        <p:attrNameLst>
                                          <p:attrName>style.visibility</p:attrName>
                                        </p:attrNameLst>
                                      </p:cBhvr>
                                      <p:to>
                                        <p:strVal val="visible"/>
                                      </p:to>
                                    </p:set>
                                    <p:animEffect transition="in" filter="dissolve">
                                      <p:cBhvr>
                                        <p:cTn id="18" dur="500"/>
                                        <p:tgtEl>
                                          <p:spTgt spid="46"/>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par>
                          <p:cTn id="23" fill="hold">
                            <p:stCondLst>
                              <p:cond delay="0"/>
                            </p:stCondLst>
                            <p:childTnLst>
                              <p:par>
                                <p:cTn id="24" presetID="9" presetClass="entr" presetSubtype="0" fill="hold" nodeType="afterEffect">
                                  <p:stCondLst>
                                    <p:cond delay="0"/>
                                  </p:stCondLst>
                                  <p:childTnLst>
                                    <p:set>
                                      <p:cBhvr>
                                        <p:cTn id="25" dur="1" fill="hold">
                                          <p:stCondLst>
                                            <p:cond delay="0"/>
                                          </p:stCondLst>
                                        </p:cTn>
                                        <p:tgtEl>
                                          <p:spTgt spid="48"/>
                                        </p:tgtEl>
                                        <p:attrNameLst>
                                          <p:attrName>style.visibility</p:attrName>
                                        </p:attrNameLst>
                                      </p:cBhvr>
                                      <p:to>
                                        <p:strVal val="visible"/>
                                      </p:to>
                                    </p:set>
                                    <p:animEffect transition="in" filter="dissolve">
                                      <p:cBhvr>
                                        <p:cTn id="26" dur="500"/>
                                        <p:tgtEl>
                                          <p:spTgt spid="48"/>
                                        </p:tgtEl>
                                      </p:cBhvr>
                                    </p:animEffect>
                                  </p:childTnLst>
                                </p:cTn>
                              </p:par>
                            </p:childTnLst>
                          </p:cTn>
                        </p:par>
                        <p:par>
                          <p:cTn id="27" fill="hold">
                            <p:stCondLst>
                              <p:cond delay="500"/>
                            </p:stCondLst>
                            <p:childTnLst>
                              <p:par>
                                <p:cTn id="28" presetID="1" presetClass="entr" presetSubtype="0" fill="hold" grpId="0" nodeType="afterEffect">
                                  <p:stCondLst>
                                    <p:cond delay="0"/>
                                  </p:stCondLst>
                                  <p:childTnLst>
                                    <p:set>
                                      <p:cBhvr>
                                        <p:cTn id="29" dur="1" fill="hold">
                                          <p:stCondLst>
                                            <p:cond delay="0"/>
                                          </p:stCondLst>
                                        </p:cTn>
                                        <p:tgtEl>
                                          <p:spTgt spid="9"/>
                                        </p:tgtEl>
                                        <p:attrNameLst>
                                          <p:attrName>style.visibility</p:attrName>
                                        </p:attrNameLst>
                                      </p:cBhvr>
                                      <p:to>
                                        <p:strVal val="visible"/>
                                      </p:to>
                                    </p:set>
                                  </p:childTnLst>
                                </p:cTn>
                              </p:par>
                            </p:childTnLst>
                          </p:cTn>
                        </p:par>
                        <p:par>
                          <p:cTn id="30" fill="hold">
                            <p:stCondLst>
                              <p:cond delay="500"/>
                            </p:stCondLst>
                            <p:childTnLst>
                              <p:par>
                                <p:cTn id="31" presetID="9" presetClass="entr" presetSubtype="0" fill="hold" nodeType="afterEffect">
                                  <p:stCondLst>
                                    <p:cond delay="0"/>
                                  </p:stCondLst>
                                  <p:childTnLst>
                                    <p:set>
                                      <p:cBhvr>
                                        <p:cTn id="32" dur="1" fill="hold">
                                          <p:stCondLst>
                                            <p:cond delay="0"/>
                                          </p:stCondLst>
                                        </p:cTn>
                                        <p:tgtEl>
                                          <p:spTgt spid="44"/>
                                        </p:tgtEl>
                                        <p:attrNameLst>
                                          <p:attrName>style.visibility</p:attrName>
                                        </p:attrNameLst>
                                      </p:cBhvr>
                                      <p:to>
                                        <p:strVal val="visible"/>
                                      </p:to>
                                    </p:set>
                                    <p:animEffect transition="in" filter="dissolve">
                                      <p:cBhvr>
                                        <p:cTn id="33" dur="500"/>
                                        <p:tgtEl>
                                          <p:spTgt spid="44"/>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grpId="0" nodeType="clickEffect">
                                  <p:stCondLst>
                                    <p:cond delay="0"/>
                                  </p:stCondLst>
                                  <p:childTnLst>
                                    <p:set>
                                      <p:cBhvr>
                                        <p:cTn id="37" dur="1" fill="hold">
                                          <p:stCondLst>
                                            <p:cond delay="0"/>
                                          </p:stCondLst>
                                        </p:cTn>
                                        <p:tgtEl>
                                          <p:spTgt spid="11"/>
                                        </p:tgtEl>
                                        <p:attrNameLst>
                                          <p:attrName>style.visibility</p:attrName>
                                        </p:attrNameLst>
                                      </p:cBhvr>
                                      <p:to>
                                        <p:strVal val="visible"/>
                                      </p:to>
                                    </p:set>
                                  </p:childTnLst>
                                </p:cTn>
                              </p:par>
                              <p:par>
                                <p:cTn id="38" presetID="9" presetClass="entr" presetSubtype="0" fill="hold" nodeType="withEffect">
                                  <p:stCondLst>
                                    <p:cond delay="0"/>
                                  </p:stCondLst>
                                  <p:childTnLst>
                                    <p:set>
                                      <p:cBhvr>
                                        <p:cTn id="39" dur="1" fill="hold">
                                          <p:stCondLst>
                                            <p:cond delay="0"/>
                                          </p:stCondLst>
                                        </p:cTn>
                                        <p:tgtEl>
                                          <p:spTgt spid="60"/>
                                        </p:tgtEl>
                                        <p:attrNameLst>
                                          <p:attrName>style.visibility</p:attrName>
                                        </p:attrNameLst>
                                      </p:cBhvr>
                                      <p:to>
                                        <p:strVal val="visible"/>
                                      </p:to>
                                    </p:set>
                                    <p:animEffect transition="in" filter="dissolve">
                                      <p:cBhvr>
                                        <p:cTn id="40" dur="500"/>
                                        <p:tgtEl>
                                          <p:spTgt spid="60"/>
                                        </p:tgtEl>
                                      </p:cBhvr>
                                    </p:animEffec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16"/>
                                        </p:tgtEl>
                                        <p:attrNameLst>
                                          <p:attrName>style.visibility</p:attrName>
                                        </p:attrNameLst>
                                      </p:cBhvr>
                                      <p:to>
                                        <p:strVal val="visible"/>
                                      </p:to>
                                    </p:set>
                                  </p:childTnLst>
                                </p:cTn>
                              </p:par>
                            </p:childTnLst>
                          </p:cTn>
                        </p:par>
                        <p:par>
                          <p:cTn id="45" fill="hold">
                            <p:stCondLst>
                              <p:cond delay="0"/>
                            </p:stCondLst>
                            <p:childTnLst>
                              <p:par>
                                <p:cTn id="46" presetID="9" presetClass="entr" presetSubtype="0" fill="hold" nodeType="afterEffect">
                                  <p:stCondLst>
                                    <p:cond delay="0"/>
                                  </p:stCondLst>
                                  <p:childTnLst>
                                    <p:set>
                                      <p:cBhvr>
                                        <p:cTn id="47" dur="1" fill="hold">
                                          <p:stCondLst>
                                            <p:cond delay="0"/>
                                          </p:stCondLst>
                                        </p:cTn>
                                        <p:tgtEl>
                                          <p:spTgt spid="52"/>
                                        </p:tgtEl>
                                        <p:attrNameLst>
                                          <p:attrName>style.visibility</p:attrName>
                                        </p:attrNameLst>
                                      </p:cBhvr>
                                      <p:to>
                                        <p:strVal val="visible"/>
                                      </p:to>
                                    </p:set>
                                    <p:animEffect transition="in" filter="dissolve">
                                      <p:cBhvr>
                                        <p:cTn id="48" dur="500"/>
                                        <p:tgtEl>
                                          <p:spTgt spid="52"/>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grpId="0" nodeType="clickEffect">
                                  <p:stCondLst>
                                    <p:cond delay="0"/>
                                  </p:stCondLst>
                                  <p:childTnLst>
                                    <p:set>
                                      <p:cBhvr>
                                        <p:cTn id="52" dur="1" fill="hold">
                                          <p:stCondLst>
                                            <p:cond delay="0"/>
                                          </p:stCondLst>
                                        </p:cTn>
                                        <p:tgtEl>
                                          <p:spTgt spid="66"/>
                                        </p:tgtEl>
                                        <p:attrNameLst>
                                          <p:attrName>style.visibility</p:attrName>
                                        </p:attrNameLst>
                                      </p:cBhvr>
                                      <p:to>
                                        <p:strVal val="visible"/>
                                      </p:to>
                                    </p:set>
                                    <p:animEffect transition="in" filter="dissolve">
                                      <p:cBhvr>
                                        <p:cTn id="53" dur="500"/>
                                        <p:tgtEl>
                                          <p:spTgt spid="66"/>
                                        </p:tgtEl>
                                      </p:cBhvr>
                                    </p:animEffect>
                                  </p:childTnLst>
                                </p:cTn>
                              </p:par>
                              <p:par>
                                <p:cTn id="54" presetID="1" presetClass="entr" presetSubtype="0" fill="hold" grpId="0" nodeType="withEffect">
                                  <p:stCondLst>
                                    <p:cond delay="0"/>
                                  </p:stCondLst>
                                  <p:childTnLst>
                                    <p:set>
                                      <p:cBhvr>
                                        <p:cTn id="55" dur="1" fill="hold">
                                          <p:stCondLst>
                                            <p:cond delay="0"/>
                                          </p:stCondLst>
                                        </p:cTn>
                                        <p:tgtEl>
                                          <p:spTgt spid="17"/>
                                        </p:tgtEl>
                                        <p:attrNameLst>
                                          <p:attrName>style.visibility</p:attrName>
                                        </p:attrNameLst>
                                      </p:cBhvr>
                                      <p:to>
                                        <p:strVal val="visible"/>
                                      </p:to>
                                    </p:set>
                                  </p:childTnLst>
                                </p:cTn>
                              </p:par>
                            </p:childTnLst>
                          </p:cTn>
                        </p:par>
                        <p:par>
                          <p:cTn id="56" fill="hold">
                            <p:stCondLst>
                              <p:cond delay="500"/>
                            </p:stCondLst>
                            <p:childTnLst>
                              <p:par>
                                <p:cTn id="57" presetID="9" presetClass="entr" presetSubtype="0" fill="hold" nodeType="afterEffect">
                                  <p:stCondLst>
                                    <p:cond delay="0"/>
                                  </p:stCondLst>
                                  <p:childTnLst>
                                    <p:set>
                                      <p:cBhvr>
                                        <p:cTn id="58" dur="1" fill="hold">
                                          <p:stCondLst>
                                            <p:cond delay="0"/>
                                          </p:stCondLst>
                                        </p:cTn>
                                        <p:tgtEl>
                                          <p:spTgt spid="51"/>
                                        </p:tgtEl>
                                        <p:attrNameLst>
                                          <p:attrName>style.visibility</p:attrName>
                                        </p:attrNameLst>
                                      </p:cBhvr>
                                      <p:to>
                                        <p:strVal val="visible"/>
                                      </p:to>
                                    </p:set>
                                    <p:animEffect transition="in" filter="dissolve">
                                      <p:cBhvr>
                                        <p:cTn id="59" dur="500"/>
                                        <p:tgtEl>
                                          <p:spTgt spid="51"/>
                                        </p:tgtEl>
                                      </p:cBhvr>
                                    </p:animEffect>
                                  </p:childTnLst>
                                </p:cTn>
                              </p:par>
                            </p:childTnLst>
                          </p:cTn>
                        </p:par>
                      </p:childTnLst>
                    </p:cTn>
                  </p:par>
                  <p:par>
                    <p:cTn id="60" fill="hold">
                      <p:stCondLst>
                        <p:cond delay="indefinite"/>
                      </p:stCondLst>
                      <p:childTnLst>
                        <p:par>
                          <p:cTn id="61" fill="hold">
                            <p:stCondLst>
                              <p:cond delay="0"/>
                            </p:stCondLst>
                            <p:childTnLst>
                              <p:par>
                                <p:cTn id="62" presetID="1" presetClass="entr" presetSubtype="0" fill="hold" grpId="0" nodeType="clickEffect">
                                  <p:stCondLst>
                                    <p:cond delay="0"/>
                                  </p:stCondLst>
                                  <p:childTnLst>
                                    <p:set>
                                      <p:cBhvr>
                                        <p:cTn id="63" dur="1" fill="hold">
                                          <p:stCondLst>
                                            <p:cond delay="0"/>
                                          </p:stCondLst>
                                        </p:cTn>
                                        <p:tgtEl>
                                          <p:spTgt spid="18"/>
                                        </p:tgtEl>
                                        <p:attrNameLst>
                                          <p:attrName>style.visibility</p:attrName>
                                        </p:attrNameLst>
                                      </p:cBhvr>
                                      <p:to>
                                        <p:strVal val="visible"/>
                                      </p:to>
                                    </p:set>
                                  </p:childTnLst>
                                </p:cTn>
                              </p:par>
                            </p:childTnLst>
                          </p:cTn>
                        </p:par>
                        <p:par>
                          <p:cTn id="64" fill="hold">
                            <p:stCondLst>
                              <p:cond delay="0"/>
                            </p:stCondLst>
                            <p:childTnLst>
                              <p:par>
                                <p:cTn id="65" presetID="9" presetClass="entr" presetSubtype="0" fill="hold" nodeType="afterEffect">
                                  <p:stCondLst>
                                    <p:cond delay="0"/>
                                  </p:stCondLst>
                                  <p:childTnLst>
                                    <p:set>
                                      <p:cBhvr>
                                        <p:cTn id="66" dur="1" fill="hold">
                                          <p:stCondLst>
                                            <p:cond delay="0"/>
                                          </p:stCondLst>
                                        </p:cTn>
                                        <p:tgtEl>
                                          <p:spTgt spid="53"/>
                                        </p:tgtEl>
                                        <p:attrNameLst>
                                          <p:attrName>style.visibility</p:attrName>
                                        </p:attrNameLst>
                                      </p:cBhvr>
                                      <p:to>
                                        <p:strVal val="visible"/>
                                      </p:to>
                                    </p:set>
                                    <p:animEffect transition="in" filter="dissolve">
                                      <p:cBhvr>
                                        <p:cTn id="67" dur="500"/>
                                        <p:tgtEl>
                                          <p:spTgt spid="53"/>
                                        </p:tgtEl>
                                      </p:cBhvr>
                                    </p:animEffect>
                                  </p:childTnLst>
                                </p:cTn>
                              </p:par>
                            </p:childTnLst>
                          </p:cTn>
                        </p:par>
                      </p:childTnLst>
                    </p:cTn>
                  </p:par>
                  <p:par>
                    <p:cTn id="68" fill="hold">
                      <p:stCondLst>
                        <p:cond delay="indefinite"/>
                      </p:stCondLst>
                      <p:childTnLst>
                        <p:par>
                          <p:cTn id="69" fill="hold">
                            <p:stCondLst>
                              <p:cond delay="0"/>
                            </p:stCondLst>
                            <p:childTnLst>
                              <p:par>
                                <p:cTn id="70" presetID="1" presetClass="entr" presetSubtype="0" fill="hold" grpId="0" nodeType="clickEffect">
                                  <p:stCondLst>
                                    <p:cond delay="0"/>
                                  </p:stCondLst>
                                  <p:childTnLst>
                                    <p:set>
                                      <p:cBhvr>
                                        <p:cTn id="71" dur="1" fill="hold">
                                          <p:stCondLst>
                                            <p:cond delay="0"/>
                                          </p:stCondLst>
                                        </p:cTn>
                                        <p:tgtEl>
                                          <p:spTgt spid="28"/>
                                        </p:tgtEl>
                                        <p:attrNameLst>
                                          <p:attrName>style.visibility</p:attrName>
                                        </p:attrNameLst>
                                      </p:cBhvr>
                                      <p:to>
                                        <p:strVal val="visible"/>
                                      </p:to>
                                    </p:set>
                                  </p:childTnLst>
                                </p:cTn>
                              </p:par>
                              <p:par>
                                <p:cTn id="72" presetID="9" presetClass="entr" presetSubtype="0" fill="hold" grpId="0" nodeType="withEffect">
                                  <p:stCondLst>
                                    <p:cond delay="0"/>
                                  </p:stCondLst>
                                  <p:childTnLst>
                                    <p:set>
                                      <p:cBhvr>
                                        <p:cTn id="73" dur="1" fill="hold">
                                          <p:stCondLst>
                                            <p:cond delay="0"/>
                                          </p:stCondLst>
                                        </p:cTn>
                                        <p:tgtEl>
                                          <p:spTgt spid="64"/>
                                        </p:tgtEl>
                                        <p:attrNameLst>
                                          <p:attrName>style.visibility</p:attrName>
                                        </p:attrNameLst>
                                      </p:cBhvr>
                                      <p:to>
                                        <p:strVal val="visible"/>
                                      </p:to>
                                    </p:set>
                                    <p:animEffect transition="in" filter="dissolve">
                                      <p:cBhvr>
                                        <p:cTn id="74" dur="500"/>
                                        <p:tgtEl>
                                          <p:spTgt spid="64"/>
                                        </p:tgtEl>
                                      </p:cBhvr>
                                    </p:animEffect>
                                  </p:childTnLst>
                                </p:cTn>
                              </p:par>
                            </p:childTnLst>
                          </p:cTn>
                        </p:par>
                        <p:par>
                          <p:cTn id="75" fill="hold">
                            <p:stCondLst>
                              <p:cond delay="500"/>
                            </p:stCondLst>
                            <p:childTnLst>
                              <p:par>
                                <p:cTn id="76" presetID="9" presetClass="entr" presetSubtype="0" fill="hold" grpId="0" nodeType="afterEffect">
                                  <p:stCondLst>
                                    <p:cond delay="0"/>
                                  </p:stCondLst>
                                  <p:childTnLst>
                                    <p:set>
                                      <p:cBhvr>
                                        <p:cTn id="77" dur="1" fill="hold">
                                          <p:stCondLst>
                                            <p:cond delay="0"/>
                                          </p:stCondLst>
                                        </p:cTn>
                                        <p:tgtEl>
                                          <p:spTgt spid="23"/>
                                        </p:tgtEl>
                                        <p:attrNameLst>
                                          <p:attrName>style.visibility</p:attrName>
                                        </p:attrNameLst>
                                      </p:cBhvr>
                                      <p:to>
                                        <p:strVal val="visible"/>
                                      </p:to>
                                    </p:set>
                                    <p:animEffect transition="in" filter="dissolve">
                                      <p:cBhvr>
                                        <p:cTn id="78" dur="500"/>
                                        <p:tgtEl>
                                          <p:spTgt spid="23"/>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grpId="0" nodeType="clickEffect">
                                  <p:stCondLst>
                                    <p:cond delay="0"/>
                                  </p:stCondLst>
                                  <p:childTnLst>
                                    <p:set>
                                      <p:cBhvr>
                                        <p:cTn id="82" dur="1" fill="hold">
                                          <p:stCondLst>
                                            <p:cond delay="0"/>
                                          </p:stCondLst>
                                        </p:cTn>
                                        <p:tgtEl>
                                          <p:spTgt spid="20"/>
                                        </p:tgtEl>
                                        <p:attrNameLst>
                                          <p:attrName>style.visibility</p:attrName>
                                        </p:attrNameLst>
                                      </p:cBhvr>
                                      <p:to>
                                        <p:strVal val="visible"/>
                                      </p:to>
                                    </p:set>
                                    <p:animEffect transition="in" filter="dissolve">
                                      <p:cBhvr>
                                        <p:cTn id="83" dur="500"/>
                                        <p:tgtEl>
                                          <p:spTgt spid="20"/>
                                        </p:tgtEl>
                                      </p:cBhvr>
                                    </p:animEffect>
                                  </p:childTnLst>
                                </p:cTn>
                              </p:par>
                              <p:par>
                                <p:cTn id="84" presetID="9" presetClass="entr" presetSubtype="0" fill="hold" nodeType="withEffect">
                                  <p:stCondLst>
                                    <p:cond delay="0"/>
                                  </p:stCondLst>
                                  <p:childTnLst>
                                    <p:set>
                                      <p:cBhvr>
                                        <p:cTn id="85" dur="1" fill="hold">
                                          <p:stCondLst>
                                            <p:cond delay="0"/>
                                          </p:stCondLst>
                                        </p:cTn>
                                        <p:tgtEl>
                                          <p:spTgt spid="20">
                                            <p:txEl>
                                              <p:pRg st="0" end="0"/>
                                            </p:txEl>
                                          </p:spTgt>
                                        </p:tgtEl>
                                        <p:attrNameLst>
                                          <p:attrName>style.visibility</p:attrName>
                                        </p:attrNameLst>
                                      </p:cBhvr>
                                      <p:to>
                                        <p:strVal val="visible"/>
                                      </p:to>
                                    </p:set>
                                    <p:animEffect transition="in" filter="dissolve">
                                      <p:cBhvr>
                                        <p:cTn id="86" dur="500"/>
                                        <p:tgtEl>
                                          <p:spTgt spid="20">
                                            <p:txEl>
                                              <p:pRg st="0" end="0"/>
                                            </p:txEl>
                                          </p:spTgt>
                                        </p:tgtEl>
                                      </p:cBhvr>
                                    </p:animEffect>
                                  </p:childTnLst>
                                </p:cTn>
                              </p:par>
                            </p:childTnLst>
                          </p:cTn>
                        </p:par>
                      </p:childTnLst>
                    </p:cTn>
                  </p:par>
                  <p:par>
                    <p:cTn id="87" fill="hold">
                      <p:stCondLst>
                        <p:cond delay="indefinite"/>
                      </p:stCondLst>
                      <p:childTnLst>
                        <p:par>
                          <p:cTn id="88" fill="hold">
                            <p:stCondLst>
                              <p:cond delay="0"/>
                            </p:stCondLst>
                            <p:childTnLst>
                              <p:par>
                                <p:cTn id="89" presetID="9" presetClass="entr" presetSubtype="0" fill="hold" nodeType="clickEffect">
                                  <p:stCondLst>
                                    <p:cond delay="0"/>
                                  </p:stCondLst>
                                  <p:childTnLst>
                                    <p:set>
                                      <p:cBhvr>
                                        <p:cTn id="90" dur="1" fill="hold">
                                          <p:stCondLst>
                                            <p:cond delay="0"/>
                                          </p:stCondLst>
                                        </p:cTn>
                                        <p:tgtEl>
                                          <p:spTgt spid="20">
                                            <p:txEl>
                                              <p:pRg st="2" end="2"/>
                                            </p:txEl>
                                          </p:spTgt>
                                        </p:tgtEl>
                                        <p:attrNameLst>
                                          <p:attrName>style.visibility</p:attrName>
                                        </p:attrNameLst>
                                      </p:cBhvr>
                                      <p:to>
                                        <p:strVal val="visible"/>
                                      </p:to>
                                    </p:set>
                                    <p:animEffect transition="in" filter="dissolve">
                                      <p:cBhvr>
                                        <p:cTn id="91" dur="500"/>
                                        <p:tgtEl>
                                          <p:spTgt spid="20">
                                            <p:txEl>
                                              <p:pRg st="2" end="2"/>
                                            </p:txEl>
                                          </p:spTgt>
                                        </p:tgtEl>
                                      </p:cBhvr>
                                    </p:animEffect>
                                  </p:childTnLst>
                                </p:cTn>
                              </p:par>
                            </p:childTnLst>
                          </p:cTn>
                        </p:par>
                      </p:childTnLst>
                    </p:cTn>
                  </p:par>
                  <p:par>
                    <p:cTn id="92" fill="hold">
                      <p:stCondLst>
                        <p:cond delay="indefinite"/>
                      </p:stCondLst>
                      <p:childTnLst>
                        <p:par>
                          <p:cTn id="93" fill="hold">
                            <p:stCondLst>
                              <p:cond delay="0"/>
                            </p:stCondLst>
                            <p:childTnLst>
                              <p:par>
                                <p:cTn id="94" presetID="9" presetClass="entr" presetSubtype="0" fill="hold" nodeType="clickEffect">
                                  <p:stCondLst>
                                    <p:cond delay="0"/>
                                  </p:stCondLst>
                                  <p:childTnLst>
                                    <p:set>
                                      <p:cBhvr>
                                        <p:cTn id="95" dur="1" fill="hold">
                                          <p:stCondLst>
                                            <p:cond delay="0"/>
                                          </p:stCondLst>
                                        </p:cTn>
                                        <p:tgtEl>
                                          <p:spTgt spid="20">
                                            <p:txEl>
                                              <p:pRg st="3" end="3"/>
                                            </p:txEl>
                                          </p:spTgt>
                                        </p:tgtEl>
                                        <p:attrNameLst>
                                          <p:attrName>style.visibility</p:attrName>
                                        </p:attrNameLst>
                                      </p:cBhvr>
                                      <p:to>
                                        <p:strVal val="visible"/>
                                      </p:to>
                                    </p:set>
                                    <p:animEffect transition="in" filter="dissolve">
                                      <p:cBhvr>
                                        <p:cTn id="96" dur="500"/>
                                        <p:tgtEl>
                                          <p:spTgt spid="20">
                                            <p:txEl>
                                              <p:pRg st="3" end="3"/>
                                            </p:txEl>
                                          </p:spTgt>
                                        </p:tgtEl>
                                      </p:cBhvr>
                                    </p:animEffect>
                                  </p:childTnLst>
                                </p:cTn>
                              </p:par>
                            </p:childTnLst>
                          </p:cTn>
                        </p:par>
                      </p:childTnLst>
                    </p:cTn>
                  </p:par>
                  <p:par>
                    <p:cTn id="97" fill="hold">
                      <p:stCondLst>
                        <p:cond delay="indefinite"/>
                      </p:stCondLst>
                      <p:childTnLst>
                        <p:par>
                          <p:cTn id="98" fill="hold">
                            <p:stCondLst>
                              <p:cond delay="0"/>
                            </p:stCondLst>
                            <p:childTnLst>
                              <p:par>
                                <p:cTn id="99" presetID="9" presetClass="entr" presetSubtype="0" fill="hold" nodeType="clickEffect">
                                  <p:stCondLst>
                                    <p:cond delay="0"/>
                                  </p:stCondLst>
                                  <p:childTnLst>
                                    <p:set>
                                      <p:cBhvr>
                                        <p:cTn id="100" dur="1" fill="hold">
                                          <p:stCondLst>
                                            <p:cond delay="0"/>
                                          </p:stCondLst>
                                        </p:cTn>
                                        <p:tgtEl>
                                          <p:spTgt spid="20">
                                            <p:txEl>
                                              <p:pRg st="5" end="5"/>
                                            </p:txEl>
                                          </p:spTgt>
                                        </p:tgtEl>
                                        <p:attrNameLst>
                                          <p:attrName>style.visibility</p:attrName>
                                        </p:attrNameLst>
                                      </p:cBhvr>
                                      <p:to>
                                        <p:strVal val="visible"/>
                                      </p:to>
                                    </p:set>
                                    <p:animEffect transition="in" filter="dissolve">
                                      <p:cBhvr>
                                        <p:cTn id="101" dur="500"/>
                                        <p:tgtEl>
                                          <p:spTgt spid="20">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1" grpId="0"/>
      <p:bldP spid="16" grpId="0"/>
      <p:bldP spid="17" grpId="0"/>
      <p:bldP spid="18" grpId="0"/>
      <p:bldP spid="20" grpId="0" animBg="1"/>
      <p:bldP spid="21" grpId="0" animBg="1"/>
      <p:bldP spid="23" grpId="0" animBg="1"/>
      <p:bldP spid="28" grpId="0" animBg="1"/>
      <p:bldP spid="64" grpId="0" animBg="1"/>
      <p:bldP spid="65" grpId="0" animBg="1"/>
      <p:bldP spid="6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94F1FF-B458-01EB-C701-B0E53D7949D6}"/>
            </a:ext>
          </a:extLst>
        </p:cNvPr>
        <p:cNvGrpSpPr/>
        <p:nvPr/>
      </p:nvGrpSpPr>
      <p:grpSpPr>
        <a:xfrm>
          <a:off x="0" y="0"/>
          <a:ext cx="0" cy="0"/>
          <a:chOff x="0" y="0"/>
          <a:chExt cx="0" cy="0"/>
        </a:xfrm>
      </p:grpSpPr>
      <p:cxnSp>
        <p:nvCxnSpPr>
          <p:cNvPr id="48" name="Straight Arrow Connector 47">
            <a:extLst>
              <a:ext uri="{FF2B5EF4-FFF2-40B4-BE49-F238E27FC236}">
                <a16:creationId xmlns:a16="http://schemas.microsoft.com/office/drawing/2014/main" id="{55BA84D6-F05E-58B7-25FA-0C752DAFFE72}"/>
              </a:ext>
            </a:extLst>
          </p:cNvPr>
          <p:cNvCxnSpPr>
            <a:cxnSpLocks/>
          </p:cNvCxnSpPr>
          <p:nvPr/>
        </p:nvCxnSpPr>
        <p:spPr>
          <a:xfrm flipH="1">
            <a:off x="10138482" y="4545886"/>
            <a:ext cx="1" cy="43200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 name="Title 1">
            <a:extLst>
              <a:ext uri="{FF2B5EF4-FFF2-40B4-BE49-F238E27FC236}">
                <a16:creationId xmlns:a16="http://schemas.microsoft.com/office/drawing/2014/main" id="{179733EE-2287-CE8F-BC0D-E7AE85A0AF89}"/>
              </a:ext>
            </a:extLst>
          </p:cNvPr>
          <p:cNvSpPr>
            <a:spLocks noGrp="1"/>
          </p:cNvSpPr>
          <p:nvPr>
            <p:ph type="title"/>
          </p:nvPr>
        </p:nvSpPr>
        <p:spPr>
          <a:xfrm>
            <a:off x="518160" y="101601"/>
            <a:ext cx="11104880" cy="985519"/>
          </a:xfrm>
        </p:spPr>
        <p:txBody>
          <a:bodyPr anchor="ctr">
            <a:normAutofit/>
          </a:bodyPr>
          <a:lstStyle/>
          <a:p>
            <a:r>
              <a:rPr lang="en-PK" dirty="0"/>
              <a:t>Public Key Cryptography</a:t>
            </a:r>
          </a:p>
        </p:txBody>
      </p:sp>
      <p:sp>
        <p:nvSpPr>
          <p:cNvPr id="11" name="Content Placeholder 2">
            <a:extLst>
              <a:ext uri="{FF2B5EF4-FFF2-40B4-BE49-F238E27FC236}">
                <a16:creationId xmlns:a16="http://schemas.microsoft.com/office/drawing/2014/main" id="{76FC5DF6-48B9-488D-5AEA-9AF5F7F8C3DF}"/>
              </a:ext>
            </a:extLst>
          </p:cNvPr>
          <p:cNvSpPr>
            <a:spLocks noGrp="1"/>
          </p:cNvSpPr>
          <p:nvPr>
            <p:ph sz="half" idx="1"/>
          </p:nvPr>
        </p:nvSpPr>
        <p:spPr>
          <a:xfrm>
            <a:off x="429613" y="2634129"/>
            <a:ext cx="6845355" cy="3292568"/>
          </a:xfrm>
        </p:spPr>
        <p:txBody>
          <a:bodyPr>
            <a:normAutofit/>
          </a:bodyPr>
          <a:lstStyle/>
          <a:p>
            <a:r>
              <a:rPr lang="en-US" dirty="0">
                <a:solidFill>
                  <a:srgbClr val="C00000"/>
                </a:solidFill>
              </a:rPr>
              <a:t>At the receiver</a:t>
            </a:r>
          </a:p>
          <a:p>
            <a:pPr lvl="1"/>
            <a:r>
              <a:rPr lang="en-US" dirty="0">
                <a:solidFill>
                  <a:srgbClr val="0432FF"/>
                </a:solidFill>
              </a:rPr>
              <a:t>Decrypt the hash value [using public key]</a:t>
            </a:r>
          </a:p>
          <a:p>
            <a:pPr lvl="1"/>
            <a:r>
              <a:rPr lang="en-US" dirty="0">
                <a:solidFill>
                  <a:srgbClr val="0432FF"/>
                </a:solidFill>
              </a:rPr>
              <a:t>Compute message hash value</a:t>
            </a:r>
          </a:p>
          <a:p>
            <a:pPr lvl="1"/>
            <a:r>
              <a:rPr lang="en-US" b="1" i="1" dirty="0">
                <a:solidFill>
                  <a:srgbClr val="0432FF"/>
                </a:solidFill>
              </a:rPr>
              <a:t>Compare!</a:t>
            </a:r>
            <a:endParaRPr lang="en-US" b="1" i="1" dirty="0">
              <a:solidFill>
                <a:srgbClr val="C00000"/>
              </a:solidFill>
            </a:endParaRPr>
          </a:p>
          <a:p>
            <a:r>
              <a:rPr lang="en-US" dirty="0">
                <a:solidFill>
                  <a:srgbClr val="C00000"/>
                </a:solidFill>
              </a:rPr>
              <a:t>Brings about:</a:t>
            </a:r>
            <a:endParaRPr lang="en-US" b="1" dirty="0">
              <a:solidFill>
                <a:srgbClr val="C00000"/>
              </a:solidFill>
            </a:endParaRPr>
          </a:p>
          <a:p>
            <a:pPr lvl="1"/>
            <a:r>
              <a:rPr lang="en-US" dirty="0">
                <a:solidFill>
                  <a:srgbClr val="308D3E"/>
                </a:solidFill>
              </a:rPr>
              <a:t>Sender authentication</a:t>
            </a:r>
          </a:p>
          <a:p>
            <a:pPr lvl="1"/>
            <a:r>
              <a:rPr lang="en-US" dirty="0">
                <a:solidFill>
                  <a:srgbClr val="308D3E"/>
                </a:solidFill>
              </a:rPr>
              <a:t>Message integrity</a:t>
            </a:r>
          </a:p>
        </p:txBody>
      </p:sp>
      <p:sp>
        <p:nvSpPr>
          <p:cNvPr id="3" name="Slide Number Placeholder 2">
            <a:extLst>
              <a:ext uri="{FF2B5EF4-FFF2-40B4-BE49-F238E27FC236}">
                <a16:creationId xmlns:a16="http://schemas.microsoft.com/office/drawing/2014/main" id="{54A9FEE1-7DA6-69EE-DBC5-5E509F12C2C0}"/>
              </a:ext>
            </a:extLst>
          </p:cNvPr>
          <p:cNvSpPr>
            <a:spLocks noGrp="1"/>
          </p:cNvSpPr>
          <p:nvPr>
            <p:ph type="sldNum" sz="quarter" idx="12"/>
          </p:nvPr>
        </p:nvSpPr>
        <p:spPr>
          <a:xfrm>
            <a:off x="10620104" y="6578930"/>
            <a:ext cx="1060269" cy="279070"/>
          </a:xfrm>
        </p:spPr>
        <p:txBody>
          <a:bodyPr anchor="ctr">
            <a:normAutofit/>
          </a:bodyPr>
          <a:lstStyle/>
          <a:p>
            <a:pPr>
              <a:lnSpc>
                <a:spcPct val="90000"/>
              </a:lnSpc>
              <a:spcAft>
                <a:spcPts val="600"/>
              </a:spcAft>
            </a:pPr>
            <a:fld id="{D57F1E4F-1CFF-5643-939E-217C01CDF565}" type="slidenum">
              <a:rPr lang="en-US" sz="1300" smtClean="0"/>
              <a:pPr>
                <a:lnSpc>
                  <a:spcPct val="90000"/>
                </a:lnSpc>
                <a:spcAft>
                  <a:spcPts val="600"/>
                </a:spcAft>
              </a:pPr>
              <a:t>8</a:t>
            </a:fld>
            <a:endParaRPr lang="en-US" sz="1300"/>
          </a:p>
        </p:txBody>
      </p:sp>
      <p:sp>
        <p:nvSpPr>
          <p:cNvPr id="5" name="Title 1">
            <a:extLst>
              <a:ext uri="{FF2B5EF4-FFF2-40B4-BE49-F238E27FC236}">
                <a16:creationId xmlns:a16="http://schemas.microsoft.com/office/drawing/2014/main" id="{E3EF28D5-8106-2D3F-8A2B-0AF630E2D882}"/>
              </a:ext>
            </a:extLst>
          </p:cNvPr>
          <p:cNvSpPr txBox="1">
            <a:spLocks/>
          </p:cNvSpPr>
          <p:nvPr/>
        </p:nvSpPr>
        <p:spPr>
          <a:xfrm>
            <a:off x="282478" y="1109332"/>
            <a:ext cx="7819531" cy="1229831"/>
          </a:xfrm>
          <a:prstGeom prst="roundRect">
            <a:avLst/>
          </a:prstGeom>
          <a:solidFill>
            <a:schemeClr val="accent5">
              <a:lumMod val="20000"/>
              <a:lumOff val="80000"/>
            </a:schemeClr>
          </a:solidFill>
          <a:ln>
            <a:noFill/>
          </a:ln>
        </p:spPr>
        <p:txBody>
          <a:bodyPr vert="horz" lIns="91440" tIns="45720" rIns="91440" bIns="45720" rtlCol="0" anchor="ctr">
            <a:noAutofit/>
          </a:bodyPr>
          <a:lstStyle>
            <a:defPPr>
              <a:defRPr lang="en-PK"/>
            </a:defPPr>
            <a:lvl1pPr algn="ctr">
              <a:lnSpc>
                <a:spcPct val="90000"/>
              </a:lnSpc>
              <a:spcBef>
                <a:spcPct val="0"/>
              </a:spcBef>
              <a:buNone/>
              <a:defRPr sz="2400" b="0" i="0">
                <a:solidFill>
                  <a:srgbClr val="C00000"/>
                </a:solidFill>
                <a:latin typeface="Candara" panose="020E0502030303020204" pitchFamily="34" charset="0"/>
                <a:ea typeface="+mj-ea"/>
                <a:cs typeface="+mj-cs"/>
              </a:defRPr>
            </a:lvl1pPr>
          </a:lstStyle>
          <a:p>
            <a:pPr marL="457200" indent="-457200" algn="l">
              <a:buAutoNum type="arabicParenR"/>
            </a:pPr>
            <a:r>
              <a:rPr lang="en-US" dirty="0"/>
              <a:t>Create a message digest (using cryptographic hashing)</a:t>
            </a:r>
          </a:p>
          <a:p>
            <a:pPr marL="457200" indent="-457200" algn="l">
              <a:buAutoNum type="arabicParenR"/>
            </a:pPr>
            <a:r>
              <a:rPr lang="en-US" dirty="0"/>
              <a:t>Encrypt the message digest with your private key</a:t>
            </a:r>
          </a:p>
          <a:p>
            <a:pPr marL="457200" indent="-457200" algn="l">
              <a:buAutoNum type="arabicParenR"/>
            </a:pPr>
            <a:r>
              <a:rPr lang="en-US" dirty="0"/>
              <a:t>Send the signatures along with the message</a:t>
            </a:r>
          </a:p>
        </p:txBody>
      </p:sp>
      <p:sp>
        <p:nvSpPr>
          <p:cNvPr id="4" name="Title 1">
            <a:extLst>
              <a:ext uri="{FF2B5EF4-FFF2-40B4-BE49-F238E27FC236}">
                <a16:creationId xmlns:a16="http://schemas.microsoft.com/office/drawing/2014/main" id="{34EC5A98-4A5D-9421-C905-2B85A2348EF8}"/>
              </a:ext>
            </a:extLst>
          </p:cNvPr>
          <p:cNvSpPr txBox="1">
            <a:spLocks/>
          </p:cNvSpPr>
          <p:nvPr/>
        </p:nvSpPr>
        <p:spPr>
          <a:xfrm>
            <a:off x="1251449" y="5653568"/>
            <a:ext cx="6367082" cy="849576"/>
          </a:xfrm>
          <a:prstGeom prst="roundRect">
            <a:avLst/>
          </a:prstGeom>
          <a:solidFill>
            <a:schemeClr val="accent6">
              <a:lumMod val="20000"/>
              <a:lumOff val="80000"/>
            </a:schemeClr>
          </a:solidFill>
          <a:ln>
            <a:noFill/>
          </a:ln>
        </p:spPr>
        <p:txBody>
          <a:bodyPr vert="horz" lIns="91440" tIns="45720" rIns="91440" bIns="45720" rtlCol="0" anchor="ctr">
            <a:noAutofit/>
          </a:bodyPr>
          <a:lstStyle>
            <a:lvl1pPr algn="ctr" defTabSz="914400" rtl="0" eaLnBrk="1" latinLnBrk="0" hangingPunct="1">
              <a:lnSpc>
                <a:spcPct val="90000"/>
              </a:lnSpc>
              <a:spcBef>
                <a:spcPct val="0"/>
              </a:spcBef>
              <a:buNone/>
              <a:defRPr sz="4400" b="0" i="0" kern="1200">
                <a:solidFill>
                  <a:schemeClr val="tx1"/>
                </a:solidFill>
                <a:latin typeface="Candara" panose="020E0502030303020204" pitchFamily="34" charset="0"/>
                <a:ea typeface="+mj-ea"/>
                <a:cs typeface="+mj-cs"/>
              </a:defRPr>
            </a:lvl1pPr>
          </a:lstStyle>
          <a:p>
            <a:r>
              <a:rPr lang="en-US" sz="2400" dirty="0">
                <a:solidFill>
                  <a:srgbClr val="C00000"/>
                </a:solidFill>
              </a:rPr>
              <a:t>Kevin (or anyone else) can’t insert garbage</a:t>
            </a:r>
          </a:p>
          <a:p>
            <a:r>
              <a:rPr lang="en-US" sz="2400" dirty="0">
                <a:solidFill>
                  <a:srgbClr val="7030A0"/>
                </a:solidFill>
              </a:rPr>
              <a:t>Because the hash function is </a:t>
            </a:r>
            <a:r>
              <a:rPr lang="en-US" sz="2400" b="1" dirty="0">
                <a:solidFill>
                  <a:srgbClr val="7030A0"/>
                </a:solidFill>
              </a:rPr>
              <a:t>one-way</a:t>
            </a:r>
          </a:p>
        </p:txBody>
      </p:sp>
      <p:sp>
        <p:nvSpPr>
          <p:cNvPr id="9" name="TextBox 8">
            <a:extLst>
              <a:ext uri="{FF2B5EF4-FFF2-40B4-BE49-F238E27FC236}">
                <a16:creationId xmlns:a16="http://schemas.microsoft.com/office/drawing/2014/main" id="{2A9CE7F5-BEC2-61C1-8DF4-154000CB021E}"/>
              </a:ext>
            </a:extLst>
          </p:cNvPr>
          <p:cNvSpPr txBox="1"/>
          <p:nvPr/>
        </p:nvSpPr>
        <p:spPr>
          <a:xfrm>
            <a:off x="9409107" y="1141146"/>
            <a:ext cx="1146468" cy="400110"/>
          </a:xfrm>
          <a:prstGeom prst="rect">
            <a:avLst/>
          </a:prstGeom>
          <a:noFill/>
        </p:spPr>
        <p:txBody>
          <a:bodyPr wrap="none" rtlCol="0">
            <a:spAutoFit/>
          </a:bodyPr>
          <a:lstStyle/>
          <a:p>
            <a:r>
              <a:rPr lang="en-GB" sz="2000" dirty="0">
                <a:latin typeface="Candara" panose="020E0502030303020204" pitchFamily="34" charset="0"/>
              </a:rPr>
              <a:t>Message</a:t>
            </a:r>
            <a:endParaRPr lang="en-PK" sz="2000" b="1" dirty="0">
              <a:solidFill>
                <a:srgbClr val="C00000"/>
              </a:solidFill>
              <a:latin typeface="Candara" panose="020E0502030303020204" pitchFamily="34" charset="0"/>
            </a:endParaRPr>
          </a:p>
        </p:txBody>
      </p:sp>
      <p:sp>
        <p:nvSpPr>
          <p:cNvPr id="12" name="TextBox 11">
            <a:extLst>
              <a:ext uri="{FF2B5EF4-FFF2-40B4-BE49-F238E27FC236}">
                <a16:creationId xmlns:a16="http://schemas.microsoft.com/office/drawing/2014/main" id="{83383B62-1455-AC76-9D77-8AA156FC90D5}"/>
              </a:ext>
            </a:extLst>
          </p:cNvPr>
          <p:cNvSpPr txBox="1"/>
          <p:nvPr/>
        </p:nvSpPr>
        <p:spPr>
          <a:xfrm>
            <a:off x="11028987" y="3208086"/>
            <a:ext cx="1098378" cy="707886"/>
          </a:xfrm>
          <a:prstGeom prst="rect">
            <a:avLst/>
          </a:prstGeom>
          <a:noFill/>
        </p:spPr>
        <p:txBody>
          <a:bodyPr wrap="square" rtlCol="0">
            <a:spAutoFit/>
          </a:bodyPr>
          <a:lstStyle/>
          <a:p>
            <a:pPr algn="ctr"/>
            <a:r>
              <a:rPr lang="en-US" sz="2000" dirty="0">
                <a:solidFill>
                  <a:srgbClr val="C00000"/>
                </a:solidFill>
                <a:latin typeface="Candara" panose="020E0502030303020204" pitchFamily="34" charset="0"/>
              </a:rPr>
              <a:t>Private</a:t>
            </a:r>
          </a:p>
          <a:p>
            <a:pPr algn="ctr"/>
            <a:r>
              <a:rPr lang="en-US" sz="2000" dirty="0">
                <a:solidFill>
                  <a:srgbClr val="C00000"/>
                </a:solidFill>
                <a:latin typeface="Candara" panose="020E0502030303020204" pitchFamily="34" charset="0"/>
              </a:rPr>
              <a:t>Key</a:t>
            </a:r>
            <a:endParaRPr lang="en-PK" sz="2000" b="1" dirty="0">
              <a:solidFill>
                <a:srgbClr val="C00000"/>
              </a:solidFill>
              <a:latin typeface="Candara" panose="020E0502030303020204" pitchFamily="34" charset="0"/>
            </a:endParaRPr>
          </a:p>
        </p:txBody>
      </p:sp>
      <p:cxnSp>
        <p:nvCxnSpPr>
          <p:cNvPr id="13" name="Straight Arrow Connector 12">
            <a:extLst>
              <a:ext uri="{FF2B5EF4-FFF2-40B4-BE49-F238E27FC236}">
                <a16:creationId xmlns:a16="http://schemas.microsoft.com/office/drawing/2014/main" id="{10E8DC25-9CEE-2B0C-20BA-5969D2DD6E28}"/>
              </a:ext>
            </a:extLst>
          </p:cNvPr>
          <p:cNvCxnSpPr>
            <a:cxnSpLocks/>
          </p:cNvCxnSpPr>
          <p:nvPr/>
        </p:nvCxnSpPr>
        <p:spPr>
          <a:xfrm>
            <a:off x="8959107" y="1924478"/>
            <a:ext cx="0" cy="169243"/>
          </a:xfrm>
          <a:prstGeom prst="straightConnector1">
            <a:avLst/>
          </a:prstGeom>
          <a:ln w="38100">
            <a:solidFill>
              <a:schemeClr val="tx1"/>
            </a:solidFill>
            <a:tailEnd type="none" w="lg" len="lg"/>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3745406-A897-21A9-4FFF-6D57283640F2}"/>
              </a:ext>
            </a:extLst>
          </p:cNvPr>
          <p:cNvCxnSpPr>
            <a:cxnSpLocks/>
          </p:cNvCxnSpPr>
          <p:nvPr/>
        </p:nvCxnSpPr>
        <p:spPr>
          <a:xfrm>
            <a:off x="8959107" y="2093721"/>
            <a:ext cx="0" cy="2134757"/>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17" name="Rounded Rectangle 16">
            <a:extLst>
              <a:ext uri="{FF2B5EF4-FFF2-40B4-BE49-F238E27FC236}">
                <a16:creationId xmlns:a16="http://schemas.microsoft.com/office/drawing/2014/main" id="{C0255DB2-B864-2960-8A08-40D96143A3D1}"/>
              </a:ext>
            </a:extLst>
          </p:cNvPr>
          <p:cNvSpPr/>
          <p:nvPr/>
        </p:nvSpPr>
        <p:spPr>
          <a:xfrm>
            <a:off x="9609675" y="2499555"/>
            <a:ext cx="1057617" cy="442674"/>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PK" sz="2000" dirty="0"/>
              <a:t>Hashing</a:t>
            </a:r>
          </a:p>
        </p:txBody>
      </p:sp>
      <p:sp>
        <p:nvSpPr>
          <p:cNvPr id="18" name="Snip Single Corner of Rectangle 17">
            <a:extLst>
              <a:ext uri="{FF2B5EF4-FFF2-40B4-BE49-F238E27FC236}">
                <a16:creationId xmlns:a16="http://schemas.microsoft.com/office/drawing/2014/main" id="{948C70CB-C237-6D27-9B82-BBB02DB18581}"/>
              </a:ext>
            </a:extLst>
          </p:cNvPr>
          <p:cNvSpPr/>
          <p:nvPr/>
        </p:nvSpPr>
        <p:spPr>
          <a:xfrm>
            <a:off x="8509107" y="1096478"/>
            <a:ext cx="900000" cy="828000"/>
          </a:xfrm>
          <a:prstGeom prst="snip1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en-PK" sz="1400" b="1" dirty="0">
                <a:solidFill>
                  <a:schemeClr val="tx1"/>
                </a:solidFill>
              </a:rPr>
              <a:t>May the force be with you</a:t>
            </a:r>
          </a:p>
        </p:txBody>
      </p:sp>
      <p:cxnSp>
        <p:nvCxnSpPr>
          <p:cNvPr id="22" name="Straight Arrow Connector 21">
            <a:extLst>
              <a:ext uri="{FF2B5EF4-FFF2-40B4-BE49-F238E27FC236}">
                <a16:creationId xmlns:a16="http://schemas.microsoft.com/office/drawing/2014/main" id="{29390339-9F33-07A2-4643-6F2F4365484F}"/>
              </a:ext>
            </a:extLst>
          </p:cNvPr>
          <p:cNvCxnSpPr>
            <a:cxnSpLocks/>
            <a:endCxn id="25" idx="3"/>
          </p:cNvCxnSpPr>
          <p:nvPr/>
        </p:nvCxnSpPr>
        <p:spPr>
          <a:xfrm flipH="1">
            <a:off x="10742699" y="3562029"/>
            <a:ext cx="1085189" cy="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24" name="Elbow Connector 23">
            <a:extLst>
              <a:ext uri="{FF2B5EF4-FFF2-40B4-BE49-F238E27FC236}">
                <a16:creationId xmlns:a16="http://schemas.microsoft.com/office/drawing/2014/main" id="{9A854F47-2848-F29A-5A2B-8B6A3E2412D2}"/>
              </a:ext>
            </a:extLst>
          </p:cNvPr>
          <p:cNvCxnSpPr>
            <a:cxnSpLocks/>
            <a:endCxn id="17" idx="0"/>
          </p:cNvCxnSpPr>
          <p:nvPr/>
        </p:nvCxnSpPr>
        <p:spPr>
          <a:xfrm>
            <a:off x="8959107" y="2093721"/>
            <a:ext cx="1179377" cy="405834"/>
          </a:xfrm>
          <a:prstGeom prst="bentConnector2">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25" name="Rounded Rectangle 24">
            <a:extLst>
              <a:ext uri="{FF2B5EF4-FFF2-40B4-BE49-F238E27FC236}">
                <a16:creationId xmlns:a16="http://schemas.microsoft.com/office/drawing/2014/main" id="{9B107B35-00C5-C09C-5196-C8DC92FB50A3}"/>
              </a:ext>
            </a:extLst>
          </p:cNvPr>
          <p:cNvSpPr/>
          <p:nvPr/>
        </p:nvSpPr>
        <p:spPr>
          <a:xfrm>
            <a:off x="9534266" y="3340692"/>
            <a:ext cx="1208433" cy="442674"/>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PK" sz="2000" dirty="0"/>
              <a:t>Signature</a:t>
            </a:r>
          </a:p>
        </p:txBody>
      </p:sp>
      <p:cxnSp>
        <p:nvCxnSpPr>
          <p:cNvPr id="26" name="Straight Arrow Connector 25">
            <a:extLst>
              <a:ext uri="{FF2B5EF4-FFF2-40B4-BE49-F238E27FC236}">
                <a16:creationId xmlns:a16="http://schemas.microsoft.com/office/drawing/2014/main" id="{CC957F84-A6E5-2CE1-4563-975511E73DCA}"/>
              </a:ext>
            </a:extLst>
          </p:cNvPr>
          <p:cNvCxnSpPr>
            <a:cxnSpLocks/>
            <a:stCxn id="17" idx="2"/>
            <a:endCxn id="25" idx="0"/>
          </p:cNvCxnSpPr>
          <p:nvPr/>
        </p:nvCxnSpPr>
        <p:spPr>
          <a:xfrm flipH="1">
            <a:off x="10138483" y="2942229"/>
            <a:ext cx="1" cy="398463"/>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17896EF4-F865-EE55-AC51-057574FF16F2}"/>
              </a:ext>
            </a:extLst>
          </p:cNvPr>
          <p:cNvCxnSpPr>
            <a:cxnSpLocks/>
            <a:stCxn id="25" idx="2"/>
          </p:cNvCxnSpPr>
          <p:nvPr/>
        </p:nvCxnSpPr>
        <p:spPr>
          <a:xfrm flipH="1">
            <a:off x="10138482" y="3783366"/>
            <a:ext cx="1" cy="43200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42F3E764-FDB3-80DF-BCA4-482C5EE93B21}"/>
              </a:ext>
            </a:extLst>
          </p:cNvPr>
          <p:cNvSpPr txBox="1"/>
          <p:nvPr/>
        </p:nvSpPr>
        <p:spPr>
          <a:xfrm>
            <a:off x="8385873" y="4172210"/>
            <a:ext cx="2975494" cy="646331"/>
          </a:xfrm>
          <a:prstGeom prst="rect">
            <a:avLst/>
          </a:prstGeom>
          <a:noFill/>
        </p:spPr>
        <p:txBody>
          <a:bodyPr wrap="none" rtlCol="0">
            <a:spAutoFit/>
          </a:bodyPr>
          <a:lstStyle/>
          <a:p>
            <a:pPr algn="ctr"/>
            <a:r>
              <a:rPr lang="en-GB" dirty="0">
                <a:latin typeface="Candara" panose="020E0502030303020204" pitchFamily="34" charset="0"/>
              </a:rPr>
              <a:t>Message + Digital Signatures</a:t>
            </a:r>
          </a:p>
          <a:p>
            <a:pPr algn="ctr"/>
            <a:r>
              <a:rPr lang="en-GB" b="1" dirty="0">
                <a:solidFill>
                  <a:srgbClr val="C00000"/>
                </a:solidFill>
                <a:latin typeface="Candara" panose="020E0502030303020204" pitchFamily="34" charset="0"/>
              </a:rPr>
              <a:t>= Signed Message</a:t>
            </a:r>
            <a:endParaRPr lang="en-PK" b="1" dirty="0">
              <a:solidFill>
                <a:srgbClr val="C00000"/>
              </a:solidFill>
              <a:latin typeface="Candara" panose="020E0502030303020204" pitchFamily="34" charset="0"/>
            </a:endParaRPr>
          </a:p>
        </p:txBody>
      </p:sp>
      <p:sp>
        <p:nvSpPr>
          <p:cNvPr id="47" name="TextBox 46">
            <a:extLst>
              <a:ext uri="{FF2B5EF4-FFF2-40B4-BE49-F238E27FC236}">
                <a16:creationId xmlns:a16="http://schemas.microsoft.com/office/drawing/2014/main" id="{F24A42DC-96BD-BDE1-E575-DD6E0627FE7D}"/>
              </a:ext>
            </a:extLst>
          </p:cNvPr>
          <p:cNvSpPr txBox="1"/>
          <p:nvPr/>
        </p:nvSpPr>
        <p:spPr>
          <a:xfrm>
            <a:off x="11204496" y="4871435"/>
            <a:ext cx="837088" cy="707886"/>
          </a:xfrm>
          <a:prstGeom prst="rect">
            <a:avLst/>
          </a:prstGeom>
          <a:noFill/>
        </p:spPr>
        <p:txBody>
          <a:bodyPr wrap="none" rtlCol="0">
            <a:spAutoFit/>
          </a:bodyPr>
          <a:lstStyle/>
          <a:p>
            <a:pPr algn="ctr"/>
            <a:r>
              <a:rPr lang="en-US" sz="2000" dirty="0">
                <a:solidFill>
                  <a:srgbClr val="308D3E"/>
                </a:solidFill>
                <a:latin typeface="Candara" panose="020E0502030303020204" pitchFamily="34" charset="0"/>
              </a:rPr>
              <a:t>Public</a:t>
            </a:r>
          </a:p>
          <a:p>
            <a:pPr algn="ctr"/>
            <a:r>
              <a:rPr lang="en-US" sz="2000" dirty="0">
                <a:solidFill>
                  <a:srgbClr val="308D3E"/>
                </a:solidFill>
                <a:latin typeface="Candara" panose="020E0502030303020204" pitchFamily="34" charset="0"/>
              </a:rPr>
              <a:t>Key</a:t>
            </a:r>
            <a:endParaRPr lang="en-PK" sz="2000" b="1" dirty="0">
              <a:solidFill>
                <a:srgbClr val="308D3E"/>
              </a:solidFill>
              <a:latin typeface="Candara" panose="020E0502030303020204" pitchFamily="34" charset="0"/>
            </a:endParaRPr>
          </a:p>
        </p:txBody>
      </p:sp>
      <p:sp>
        <p:nvSpPr>
          <p:cNvPr id="49" name="Rounded Rectangle 48">
            <a:extLst>
              <a:ext uri="{FF2B5EF4-FFF2-40B4-BE49-F238E27FC236}">
                <a16:creationId xmlns:a16="http://schemas.microsoft.com/office/drawing/2014/main" id="{964CC401-D23C-3E2B-CC9C-04391172135C}"/>
              </a:ext>
            </a:extLst>
          </p:cNvPr>
          <p:cNvSpPr/>
          <p:nvPr/>
        </p:nvSpPr>
        <p:spPr>
          <a:xfrm>
            <a:off x="9616266" y="5004000"/>
            <a:ext cx="1044431" cy="442674"/>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PK" sz="2000" dirty="0"/>
              <a:t>Decrypt</a:t>
            </a:r>
          </a:p>
        </p:txBody>
      </p:sp>
      <p:cxnSp>
        <p:nvCxnSpPr>
          <p:cNvPr id="50" name="Straight Arrow Connector 49">
            <a:extLst>
              <a:ext uri="{FF2B5EF4-FFF2-40B4-BE49-F238E27FC236}">
                <a16:creationId xmlns:a16="http://schemas.microsoft.com/office/drawing/2014/main" id="{B6893FCF-0B14-D145-CB6F-ECFD0162CFFC}"/>
              </a:ext>
            </a:extLst>
          </p:cNvPr>
          <p:cNvCxnSpPr>
            <a:cxnSpLocks/>
            <a:endCxn id="49" idx="3"/>
          </p:cNvCxnSpPr>
          <p:nvPr/>
        </p:nvCxnSpPr>
        <p:spPr>
          <a:xfrm flipH="1">
            <a:off x="10660697" y="5225337"/>
            <a:ext cx="1135423" cy="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5" name="TextBox 64">
            <a:extLst>
              <a:ext uri="{FF2B5EF4-FFF2-40B4-BE49-F238E27FC236}">
                <a16:creationId xmlns:a16="http://schemas.microsoft.com/office/drawing/2014/main" id="{89BB12D0-243A-E087-6DCE-ED3BD4651B7B}"/>
              </a:ext>
            </a:extLst>
          </p:cNvPr>
          <p:cNvSpPr txBox="1"/>
          <p:nvPr/>
        </p:nvSpPr>
        <p:spPr>
          <a:xfrm>
            <a:off x="9898126" y="2918039"/>
            <a:ext cx="1897994" cy="400110"/>
          </a:xfrm>
          <a:prstGeom prst="rect">
            <a:avLst/>
          </a:prstGeom>
          <a:noFill/>
        </p:spPr>
        <p:txBody>
          <a:bodyPr wrap="square" rtlCol="0">
            <a:spAutoFit/>
          </a:bodyPr>
          <a:lstStyle/>
          <a:p>
            <a:pPr algn="ctr"/>
            <a:r>
              <a:rPr lang="en-US" sz="2000" b="1" dirty="0">
                <a:solidFill>
                  <a:srgbClr val="7030A0"/>
                </a:solidFill>
                <a:latin typeface="Candara" panose="020E0502030303020204" pitchFamily="34" charset="0"/>
              </a:rPr>
              <a:t>Hash Value</a:t>
            </a:r>
          </a:p>
        </p:txBody>
      </p:sp>
      <p:cxnSp>
        <p:nvCxnSpPr>
          <p:cNvPr id="67" name="Straight Arrow Connector 66">
            <a:extLst>
              <a:ext uri="{FF2B5EF4-FFF2-40B4-BE49-F238E27FC236}">
                <a16:creationId xmlns:a16="http://schemas.microsoft.com/office/drawing/2014/main" id="{87B64409-7AB8-E028-8329-53A29D3856E5}"/>
              </a:ext>
            </a:extLst>
          </p:cNvPr>
          <p:cNvCxnSpPr>
            <a:cxnSpLocks/>
          </p:cNvCxnSpPr>
          <p:nvPr/>
        </p:nvCxnSpPr>
        <p:spPr>
          <a:xfrm flipH="1">
            <a:off x="8959107" y="4545886"/>
            <a:ext cx="1" cy="432000"/>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68" name="Rounded Rectangle 67">
            <a:extLst>
              <a:ext uri="{FF2B5EF4-FFF2-40B4-BE49-F238E27FC236}">
                <a16:creationId xmlns:a16="http://schemas.microsoft.com/office/drawing/2014/main" id="{24FADF49-E6C6-4242-A495-07E2661292EF}"/>
              </a:ext>
            </a:extLst>
          </p:cNvPr>
          <p:cNvSpPr/>
          <p:nvPr/>
        </p:nvSpPr>
        <p:spPr>
          <a:xfrm>
            <a:off x="8430298" y="5004000"/>
            <a:ext cx="1057617" cy="442674"/>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PK" sz="2000" dirty="0"/>
              <a:t>Hashing</a:t>
            </a:r>
          </a:p>
        </p:txBody>
      </p:sp>
      <p:cxnSp>
        <p:nvCxnSpPr>
          <p:cNvPr id="69" name="Straight Arrow Connector 68">
            <a:extLst>
              <a:ext uri="{FF2B5EF4-FFF2-40B4-BE49-F238E27FC236}">
                <a16:creationId xmlns:a16="http://schemas.microsoft.com/office/drawing/2014/main" id="{A4749947-5801-03C8-1D79-B95FEE791FC1}"/>
              </a:ext>
            </a:extLst>
          </p:cNvPr>
          <p:cNvCxnSpPr>
            <a:cxnSpLocks/>
          </p:cNvCxnSpPr>
          <p:nvPr/>
        </p:nvCxnSpPr>
        <p:spPr>
          <a:xfrm>
            <a:off x="8959107" y="5436000"/>
            <a:ext cx="0" cy="488778"/>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cxnSp>
        <p:nvCxnSpPr>
          <p:cNvPr id="71" name="Straight Arrow Connector 70">
            <a:extLst>
              <a:ext uri="{FF2B5EF4-FFF2-40B4-BE49-F238E27FC236}">
                <a16:creationId xmlns:a16="http://schemas.microsoft.com/office/drawing/2014/main" id="{D3DE2D8F-ADC7-0E2A-87D7-F993A8EC6B37}"/>
              </a:ext>
            </a:extLst>
          </p:cNvPr>
          <p:cNvCxnSpPr>
            <a:cxnSpLocks/>
          </p:cNvCxnSpPr>
          <p:nvPr/>
        </p:nvCxnSpPr>
        <p:spPr>
          <a:xfrm>
            <a:off x="10138481" y="5436000"/>
            <a:ext cx="0" cy="488778"/>
          </a:xfrm>
          <a:prstGeom prst="straightConnector1">
            <a:avLst/>
          </a:prstGeom>
          <a:ln w="38100">
            <a:solidFill>
              <a:schemeClr val="tx1"/>
            </a:solidFill>
            <a:tailEnd type="stealth" w="lg" len="lg"/>
          </a:ln>
        </p:spPr>
        <p:style>
          <a:lnRef idx="1">
            <a:schemeClr val="accent1"/>
          </a:lnRef>
          <a:fillRef idx="0">
            <a:schemeClr val="accent1"/>
          </a:fillRef>
          <a:effectRef idx="0">
            <a:schemeClr val="accent1"/>
          </a:effectRef>
          <a:fontRef idx="minor">
            <a:schemeClr val="tx1"/>
          </a:fontRef>
        </p:style>
      </p:cxnSp>
      <p:sp>
        <p:nvSpPr>
          <p:cNvPr id="72" name="Rounded Rectangle 71">
            <a:extLst>
              <a:ext uri="{FF2B5EF4-FFF2-40B4-BE49-F238E27FC236}">
                <a16:creationId xmlns:a16="http://schemas.microsoft.com/office/drawing/2014/main" id="{7AD332C0-3284-1989-5498-070CD51A8FB7}"/>
              </a:ext>
            </a:extLst>
          </p:cNvPr>
          <p:cNvSpPr/>
          <p:nvPr/>
        </p:nvSpPr>
        <p:spPr>
          <a:xfrm>
            <a:off x="8454511" y="5929004"/>
            <a:ext cx="2159507" cy="442674"/>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PK" sz="2000" dirty="0">
                <a:solidFill>
                  <a:srgbClr val="7030A0"/>
                </a:solidFill>
              </a:rPr>
              <a:t>Comapre the two?</a:t>
            </a:r>
          </a:p>
        </p:txBody>
      </p:sp>
      <p:sp>
        <p:nvSpPr>
          <p:cNvPr id="78" name="Rectangle 77">
            <a:extLst>
              <a:ext uri="{FF2B5EF4-FFF2-40B4-BE49-F238E27FC236}">
                <a16:creationId xmlns:a16="http://schemas.microsoft.com/office/drawing/2014/main" id="{0D93C3A8-2DDA-6B41-3F68-9B99E70F77DA}"/>
              </a:ext>
            </a:extLst>
          </p:cNvPr>
          <p:cNvSpPr/>
          <p:nvPr/>
        </p:nvSpPr>
        <p:spPr>
          <a:xfrm>
            <a:off x="8437225" y="4228478"/>
            <a:ext cx="1097040" cy="30652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Tree>
    <p:extLst>
      <p:ext uri="{BB962C8B-B14F-4D97-AF65-F5344CB8AC3E}">
        <p14:creationId xmlns:p14="http://schemas.microsoft.com/office/powerpoint/2010/main" val="16488898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par>
                          <p:cTn id="7" fill="hold">
                            <p:stCondLst>
                              <p:cond delay="0"/>
                            </p:stCondLst>
                            <p:childTnLst>
                              <p:par>
                                <p:cTn id="8" presetID="1" presetClass="entr" presetSubtype="0" fill="hold" grpId="0" nodeType="afterEffect">
                                  <p:stCondLst>
                                    <p:cond delay="0"/>
                                  </p:stCondLst>
                                  <p:childTnLst>
                                    <p:set>
                                      <p:cBhvr>
                                        <p:cTn id="9" dur="1" fill="hold">
                                          <p:stCondLst>
                                            <p:cond delay="0"/>
                                          </p:stCondLst>
                                        </p:cTn>
                                        <p:tgtEl>
                                          <p:spTgt spid="9"/>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fill="hold" grpId="0" nodeType="clickEffect">
                                  <p:stCondLst>
                                    <p:cond delay="0"/>
                                  </p:stCondLst>
                                  <p:childTnLst>
                                    <p:set>
                                      <p:cBhvr>
                                        <p:cTn id="13" dur="1" fill="hold">
                                          <p:stCondLst>
                                            <p:cond delay="0"/>
                                          </p:stCondLst>
                                        </p:cTn>
                                        <p:tgtEl>
                                          <p:spTgt spid="5"/>
                                        </p:tgtEl>
                                        <p:attrNameLst>
                                          <p:attrName>style.visibility</p:attrName>
                                        </p:attrNameLst>
                                      </p:cBhvr>
                                      <p:to>
                                        <p:strVal val="visible"/>
                                      </p:to>
                                    </p:set>
                                  </p:childTnLst>
                                </p:cTn>
                              </p:par>
                            </p:childTnLst>
                          </p:cTn>
                        </p:par>
                        <p:par>
                          <p:cTn id="14" fill="hold">
                            <p:stCondLst>
                              <p:cond delay="0"/>
                            </p:stCondLst>
                            <p:childTnLst>
                              <p:par>
                                <p:cTn id="15" presetID="9" presetClass="entr" presetSubtype="0" fill="hold" nodeType="afterEffect">
                                  <p:stCondLst>
                                    <p:cond delay="0"/>
                                  </p:stCondLst>
                                  <p:childTnLst>
                                    <p:set>
                                      <p:cBhvr>
                                        <p:cTn id="16" dur="1" fill="hold">
                                          <p:stCondLst>
                                            <p:cond delay="0"/>
                                          </p:stCondLst>
                                        </p:cTn>
                                        <p:tgtEl>
                                          <p:spTgt spid="5">
                                            <p:txEl>
                                              <p:pRg st="0" end="0"/>
                                            </p:txEl>
                                          </p:spTgt>
                                        </p:tgtEl>
                                        <p:attrNameLst>
                                          <p:attrName>style.visibility</p:attrName>
                                        </p:attrNameLst>
                                      </p:cBhvr>
                                      <p:to>
                                        <p:strVal val="visible"/>
                                      </p:to>
                                    </p:set>
                                    <p:animEffect transition="in" filter="dissolve">
                                      <p:cBhvr>
                                        <p:cTn id="17" dur="500"/>
                                        <p:tgtEl>
                                          <p:spTgt spid="5">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dissolve">
                                      <p:cBhvr>
                                        <p:cTn id="22" dur="500"/>
                                        <p:tgtEl>
                                          <p:spTgt spid="13"/>
                                        </p:tgtEl>
                                      </p:cBhvr>
                                    </p:animEffect>
                                  </p:childTnLst>
                                </p:cTn>
                              </p:par>
                            </p:childTnLst>
                          </p:cTn>
                        </p:par>
                        <p:par>
                          <p:cTn id="23" fill="hold">
                            <p:stCondLst>
                              <p:cond delay="500"/>
                            </p:stCondLst>
                            <p:childTnLst>
                              <p:par>
                                <p:cTn id="24" presetID="9" presetClass="entr" presetSubtype="0" fill="hold" nodeType="afterEffect">
                                  <p:stCondLst>
                                    <p:cond delay="0"/>
                                  </p:stCondLst>
                                  <p:childTnLst>
                                    <p:set>
                                      <p:cBhvr>
                                        <p:cTn id="25" dur="1" fill="hold">
                                          <p:stCondLst>
                                            <p:cond delay="0"/>
                                          </p:stCondLst>
                                        </p:cTn>
                                        <p:tgtEl>
                                          <p:spTgt spid="24"/>
                                        </p:tgtEl>
                                        <p:attrNameLst>
                                          <p:attrName>style.visibility</p:attrName>
                                        </p:attrNameLst>
                                      </p:cBhvr>
                                      <p:to>
                                        <p:strVal val="visible"/>
                                      </p:to>
                                    </p:set>
                                    <p:animEffect transition="in" filter="dissolve">
                                      <p:cBhvr>
                                        <p:cTn id="26" dur="500"/>
                                        <p:tgtEl>
                                          <p:spTgt spid="24"/>
                                        </p:tgtEl>
                                      </p:cBhvr>
                                    </p:animEffect>
                                  </p:childTnLst>
                                </p:cTn>
                              </p:par>
                            </p:childTnLst>
                          </p:cTn>
                        </p:par>
                        <p:par>
                          <p:cTn id="27" fill="hold">
                            <p:stCondLst>
                              <p:cond delay="1000"/>
                            </p:stCondLst>
                            <p:childTnLst>
                              <p:par>
                                <p:cTn id="28" presetID="1" presetClass="entr" presetSubtype="0" fill="hold" grpId="0" nodeType="afterEffect">
                                  <p:stCondLst>
                                    <p:cond delay="0"/>
                                  </p:stCondLst>
                                  <p:childTnLst>
                                    <p:set>
                                      <p:cBhvr>
                                        <p:cTn id="29" dur="1" fill="hold">
                                          <p:stCondLst>
                                            <p:cond delay="0"/>
                                          </p:stCondLst>
                                        </p:cTn>
                                        <p:tgtEl>
                                          <p:spTgt spid="17"/>
                                        </p:tgtEl>
                                        <p:attrNameLst>
                                          <p:attrName>style.visibility</p:attrName>
                                        </p:attrNameLst>
                                      </p:cBhvr>
                                      <p:to>
                                        <p:strVal val="visible"/>
                                      </p:to>
                                    </p:set>
                                  </p:childTnLst>
                                </p:cTn>
                              </p:par>
                            </p:childTnLst>
                          </p:cTn>
                        </p:par>
                        <p:par>
                          <p:cTn id="30" fill="hold">
                            <p:stCondLst>
                              <p:cond delay="1000"/>
                            </p:stCondLst>
                            <p:childTnLst>
                              <p:par>
                                <p:cTn id="31" presetID="1" presetClass="entr" presetSubtype="0" fill="hold" grpId="0" nodeType="after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5">
                                            <p:txEl>
                                              <p:pRg st="1" end="1"/>
                                            </p:txEl>
                                          </p:spTgt>
                                        </p:tgtEl>
                                        <p:attrNameLst>
                                          <p:attrName>style.visibility</p:attrName>
                                        </p:attrNameLst>
                                      </p:cBhvr>
                                      <p:to>
                                        <p:strVal val="visible"/>
                                      </p:to>
                                    </p:set>
                                    <p:animEffect transition="in" filter="dissolve">
                                      <p:cBhvr>
                                        <p:cTn id="37" dur="500"/>
                                        <p:tgtEl>
                                          <p:spTgt spid="5">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26"/>
                                        </p:tgtEl>
                                        <p:attrNameLst>
                                          <p:attrName>style.visibility</p:attrName>
                                        </p:attrNameLst>
                                      </p:cBhvr>
                                      <p:to>
                                        <p:strVal val="visible"/>
                                      </p:to>
                                    </p:set>
                                    <p:animEffect transition="in" filter="dissolve">
                                      <p:cBhvr>
                                        <p:cTn id="42" dur="500"/>
                                        <p:tgtEl>
                                          <p:spTgt spid="26"/>
                                        </p:tgtEl>
                                      </p:cBhvr>
                                    </p:animEffect>
                                  </p:childTnLst>
                                </p:cTn>
                              </p:par>
                            </p:childTnLst>
                          </p:cTn>
                        </p:par>
                        <p:par>
                          <p:cTn id="43" fill="hold">
                            <p:stCondLst>
                              <p:cond delay="500"/>
                            </p:stCondLst>
                            <p:childTnLst>
                              <p:par>
                                <p:cTn id="44" presetID="1" presetClass="entr" presetSubtype="0" fill="hold" grpId="0" nodeType="afterEffect">
                                  <p:stCondLst>
                                    <p:cond delay="0"/>
                                  </p:stCondLst>
                                  <p:childTnLst>
                                    <p:set>
                                      <p:cBhvr>
                                        <p:cTn id="45" dur="1" fill="hold">
                                          <p:stCondLst>
                                            <p:cond delay="0"/>
                                          </p:stCondLst>
                                        </p:cTn>
                                        <p:tgtEl>
                                          <p:spTgt spid="25"/>
                                        </p:tgtEl>
                                        <p:attrNameLst>
                                          <p:attrName>style.visibility</p:attrName>
                                        </p:attrNameLst>
                                      </p:cBhvr>
                                      <p:to>
                                        <p:strVal val="visible"/>
                                      </p:to>
                                    </p:set>
                                  </p:childTnLst>
                                </p:cTn>
                              </p:par>
                            </p:childTnLst>
                          </p:cTn>
                        </p:par>
                        <p:par>
                          <p:cTn id="46" fill="hold">
                            <p:stCondLst>
                              <p:cond delay="500"/>
                            </p:stCondLst>
                            <p:childTnLst>
                              <p:par>
                                <p:cTn id="47" presetID="9" presetClass="entr" presetSubtype="0" fill="hold" nodeType="afterEffect">
                                  <p:stCondLst>
                                    <p:cond delay="0"/>
                                  </p:stCondLst>
                                  <p:childTnLst>
                                    <p:set>
                                      <p:cBhvr>
                                        <p:cTn id="48" dur="1" fill="hold">
                                          <p:stCondLst>
                                            <p:cond delay="0"/>
                                          </p:stCondLst>
                                        </p:cTn>
                                        <p:tgtEl>
                                          <p:spTgt spid="22"/>
                                        </p:tgtEl>
                                        <p:attrNameLst>
                                          <p:attrName>style.visibility</p:attrName>
                                        </p:attrNameLst>
                                      </p:cBhvr>
                                      <p:to>
                                        <p:strVal val="visible"/>
                                      </p:to>
                                    </p:set>
                                    <p:animEffect transition="in" filter="dissolve">
                                      <p:cBhvr>
                                        <p:cTn id="49" dur="500"/>
                                        <p:tgtEl>
                                          <p:spTgt spid="22"/>
                                        </p:tgtEl>
                                      </p:cBhvr>
                                    </p:animEffect>
                                  </p:childTnLst>
                                </p:cTn>
                              </p:par>
                            </p:childTnLst>
                          </p:cTn>
                        </p:par>
                        <p:par>
                          <p:cTn id="50" fill="hold">
                            <p:stCondLst>
                              <p:cond delay="1000"/>
                            </p:stCondLst>
                            <p:childTnLst>
                              <p:par>
                                <p:cTn id="51" presetID="1" presetClass="entr" presetSubtype="0"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childTnLst>
                                </p:cTn>
                              </p:par>
                            </p:childTnLst>
                          </p:cTn>
                        </p:par>
                        <p:par>
                          <p:cTn id="53" fill="hold">
                            <p:stCondLst>
                              <p:cond delay="1000"/>
                            </p:stCondLst>
                            <p:childTnLst>
                              <p:par>
                                <p:cTn id="54" presetID="9" presetClass="entr" presetSubtype="0" fill="hold" nodeType="afterEffect">
                                  <p:stCondLst>
                                    <p:cond delay="0"/>
                                  </p:stCondLst>
                                  <p:childTnLst>
                                    <p:set>
                                      <p:cBhvr>
                                        <p:cTn id="55" dur="1" fill="hold">
                                          <p:stCondLst>
                                            <p:cond delay="0"/>
                                          </p:stCondLst>
                                        </p:cTn>
                                        <p:tgtEl>
                                          <p:spTgt spid="31"/>
                                        </p:tgtEl>
                                        <p:attrNameLst>
                                          <p:attrName>style.visibility</p:attrName>
                                        </p:attrNameLst>
                                      </p:cBhvr>
                                      <p:to>
                                        <p:strVal val="visible"/>
                                      </p:to>
                                    </p:set>
                                    <p:animEffect transition="in" filter="dissolve">
                                      <p:cBhvr>
                                        <p:cTn id="56" dur="500"/>
                                        <p:tgtEl>
                                          <p:spTgt spid="31"/>
                                        </p:tgtEl>
                                      </p:cBhvr>
                                    </p:animEffect>
                                  </p:childTnLst>
                                </p:cTn>
                              </p:par>
                            </p:childTnLst>
                          </p:cTn>
                        </p:par>
                        <p:par>
                          <p:cTn id="57" fill="hold">
                            <p:stCondLst>
                              <p:cond delay="1500"/>
                            </p:stCondLst>
                            <p:childTnLst>
                              <p:par>
                                <p:cTn id="58" presetID="9" presetClass="entr" presetSubtype="0" fill="hold" nodeType="afterEffect">
                                  <p:stCondLst>
                                    <p:cond delay="0"/>
                                  </p:stCondLst>
                                  <p:childTnLst>
                                    <p:set>
                                      <p:cBhvr>
                                        <p:cTn id="59" dur="1" fill="hold">
                                          <p:stCondLst>
                                            <p:cond delay="0"/>
                                          </p:stCondLst>
                                        </p:cTn>
                                        <p:tgtEl>
                                          <p:spTgt spid="46">
                                            <p:txEl>
                                              <p:pRg st="0" end="0"/>
                                            </p:txEl>
                                          </p:spTgt>
                                        </p:tgtEl>
                                        <p:attrNameLst>
                                          <p:attrName>style.visibility</p:attrName>
                                        </p:attrNameLst>
                                      </p:cBhvr>
                                      <p:to>
                                        <p:strVal val="visible"/>
                                      </p:to>
                                    </p:set>
                                    <p:animEffect transition="in" filter="dissolve">
                                      <p:cBhvr>
                                        <p:cTn id="60" dur="500"/>
                                        <p:tgtEl>
                                          <p:spTgt spid="46">
                                            <p:txEl>
                                              <p:pRg st="0" end="0"/>
                                            </p:txEl>
                                          </p:spTgt>
                                        </p:tgtEl>
                                      </p:cBhvr>
                                    </p:animEffect>
                                  </p:childTnLst>
                                </p:cTn>
                              </p:par>
                            </p:childTnLst>
                          </p:cTn>
                        </p:par>
                      </p:childTnLst>
                    </p:cTn>
                  </p:par>
                  <p:par>
                    <p:cTn id="61" fill="hold">
                      <p:stCondLst>
                        <p:cond delay="indefinite"/>
                      </p:stCondLst>
                      <p:childTnLst>
                        <p:par>
                          <p:cTn id="62" fill="hold">
                            <p:stCondLst>
                              <p:cond delay="0"/>
                            </p:stCondLst>
                            <p:childTnLst>
                              <p:par>
                                <p:cTn id="63" presetID="9" presetClass="entr" presetSubtype="0" fill="hold" nodeType="clickEffect">
                                  <p:stCondLst>
                                    <p:cond delay="0"/>
                                  </p:stCondLst>
                                  <p:childTnLst>
                                    <p:set>
                                      <p:cBhvr>
                                        <p:cTn id="64" dur="1" fill="hold">
                                          <p:stCondLst>
                                            <p:cond delay="0"/>
                                          </p:stCondLst>
                                        </p:cTn>
                                        <p:tgtEl>
                                          <p:spTgt spid="5">
                                            <p:txEl>
                                              <p:pRg st="2" end="2"/>
                                            </p:txEl>
                                          </p:spTgt>
                                        </p:tgtEl>
                                        <p:attrNameLst>
                                          <p:attrName>style.visibility</p:attrName>
                                        </p:attrNameLst>
                                      </p:cBhvr>
                                      <p:to>
                                        <p:strVal val="visible"/>
                                      </p:to>
                                    </p:set>
                                    <p:animEffect transition="in" filter="dissolve">
                                      <p:cBhvr>
                                        <p:cTn id="65" dur="500"/>
                                        <p:tgtEl>
                                          <p:spTgt spid="5">
                                            <p:txEl>
                                              <p:pRg st="2" end="2"/>
                                            </p:txEl>
                                          </p:spTgt>
                                        </p:tgtEl>
                                      </p:cBhvr>
                                    </p:animEffect>
                                  </p:childTnLst>
                                </p:cTn>
                              </p:par>
                            </p:childTnLst>
                          </p:cTn>
                        </p:par>
                      </p:childTnLst>
                    </p:cTn>
                  </p:par>
                  <p:par>
                    <p:cTn id="66" fill="hold">
                      <p:stCondLst>
                        <p:cond delay="indefinite"/>
                      </p:stCondLst>
                      <p:childTnLst>
                        <p:par>
                          <p:cTn id="67" fill="hold">
                            <p:stCondLst>
                              <p:cond delay="0"/>
                            </p:stCondLst>
                            <p:childTnLst>
                              <p:par>
                                <p:cTn id="68" presetID="9" presetClass="entr" presetSubtype="0" fill="hold" nodeType="clickEffect">
                                  <p:stCondLst>
                                    <p:cond delay="0"/>
                                  </p:stCondLst>
                                  <p:childTnLst>
                                    <p:set>
                                      <p:cBhvr>
                                        <p:cTn id="69" dur="1" fill="hold">
                                          <p:stCondLst>
                                            <p:cond delay="0"/>
                                          </p:stCondLst>
                                        </p:cTn>
                                        <p:tgtEl>
                                          <p:spTgt spid="14"/>
                                        </p:tgtEl>
                                        <p:attrNameLst>
                                          <p:attrName>style.visibility</p:attrName>
                                        </p:attrNameLst>
                                      </p:cBhvr>
                                      <p:to>
                                        <p:strVal val="visible"/>
                                      </p:to>
                                    </p:set>
                                    <p:animEffect transition="in" filter="dissolve">
                                      <p:cBhvr>
                                        <p:cTn id="70" dur="500"/>
                                        <p:tgtEl>
                                          <p:spTgt spid="14"/>
                                        </p:tgtEl>
                                      </p:cBhvr>
                                    </p:animEffect>
                                  </p:childTnLst>
                                </p:cTn>
                              </p:par>
                            </p:childTnLst>
                          </p:cTn>
                        </p:par>
                        <p:par>
                          <p:cTn id="71" fill="hold">
                            <p:stCondLst>
                              <p:cond delay="500"/>
                            </p:stCondLst>
                            <p:childTnLst>
                              <p:par>
                                <p:cTn id="72" presetID="9" presetClass="exit" presetSubtype="0" fill="hold" grpId="0" nodeType="afterEffect">
                                  <p:stCondLst>
                                    <p:cond delay="0"/>
                                  </p:stCondLst>
                                  <p:childTnLst>
                                    <p:animEffect transition="out" filter="dissolve">
                                      <p:cBhvr>
                                        <p:cTn id="73" dur="500"/>
                                        <p:tgtEl>
                                          <p:spTgt spid="78"/>
                                        </p:tgtEl>
                                      </p:cBhvr>
                                    </p:animEffect>
                                    <p:set>
                                      <p:cBhvr>
                                        <p:cTn id="74" dur="1" fill="hold">
                                          <p:stCondLst>
                                            <p:cond delay="499"/>
                                          </p:stCondLst>
                                        </p:cTn>
                                        <p:tgtEl>
                                          <p:spTgt spid="78"/>
                                        </p:tgtEl>
                                        <p:attrNameLst>
                                          <p:attrName>style.visibility</p:attrName>
                                        </p:attrNameLst>
                                      </p:cBhvr>
                                      <p:to>
                                        <p:strVal val="hidden"/>
                                      </p:to>
                                    </p:set>
                                  </p:childTnLst>
                                </p:cTn>
                              </p:par>
                            </p:childTnLst>
                          </p:cTn>
                        </p:par>
                        <p:par>
                          <p:cTn id="75" fill="hold">
                            <p:stCondLst>
                              <p:cond delay="1000"/>
                            </p:stCondLst>
                            <p:childTnLst>
                              <p:par>
                                <p:cTn id="76" presetID="9" presetClass="entr" presetSubtype="0" fill="hold" nodeType="afterEffect">
                                  <p:stCondLst>
                                    <p:cond delay="0"/>
                                  </p:stCondLst>
                                  <p:childTnLst>
                                    <p:set>
                                      <p:cBhvr>
                                        <p:cTn id="77" dur="1" fill="hold">
                                          <p:stCondLst>
                                            <p:cond delay="0"/>
                                          </p:stCondLst>
                                        </p:cTn>
                                        <p:tgtEl>
                                          <p:spTgt spid="46">
                                            <p:txEl>
                                              <p:pRg st="1" end="1"/>
                                            </p:txEl>
                                          </p:spTgt>
                                        </p:tgtEl>
                                        <p:attrNameLst>
                                          <p:attrName>style.visibility</p:attrName>
                                        </p:attrNameLst>
                                      </p:cBhvr>
                                      <p:to>
                                        <p:strVal val="visible"/>
                                      </p:to>
                                    </p:set>
                                    <p:animEffect transition="in" filter="dissolve">
                                      <p:cBhvr>
                                        <p:cTn id="78" dur="500"/>
                                        <p:tgtEl>
                                          <p:spTgt spid="46">
                                            <p:txEl>
                                              <p:pRg st="1" end="1"/>
                                            </p:txEl>
                                          </p:spTgt>
                                        </p:tgtEl>
                                      </p:cBhvr>
                                    </p:animEffect>
                                  </p:childTnLst>
                                </p:cTn>
                              </p:par>
                            </p:childTnLst>
                          </p:cTn>
                        </p:par>
                      </p:childTnLst>
                    </p:cTn>
                  </p:par>
                  <p:par>
                    <p:cTn id="79" fill="hold">
                      <p:stCondLst>
                        <p:cond delay="indefinite"/>
                      </p:stCondLst>
                      <p:childTnLst>
                        <p:par>
                          <p:cTn id="80" fill="hold">
                            <p:stCondLst>
                              <p:cond delay="0"/>
                            </p:stCondLst>
                            <p:childTnLst>
                              <p:par>
                                <p:cTn id="81" presetID="9" presetClass="entr" presetSubtype="0" fill="hold" nodeType="clickEffect">
                                  <p:stCondLst>
                                    <p:cond delay="0"/>
                                  </p:stCondLst>
                                  <p:childTnLst>
                                    <p:set>
                                      <p:cBhvr>
                                        <p:cTn id="82" dur="1" fill="hold">
                                          <p:stCondLst>
                                            <p:cond delay="0"/>
                                          </p:stCondLst>
                                        </p:cTn>
                                        <p:tgtEl>
                                          <p:spTgt spid="11">
                                            <p:txEl>
                                              <p:pRg st="0" end="0"/>
                                            </p:txEl>
                                          </p:spTgt>
                                        </p:tgtEl>
                                        <p:attrNameLst>
                                          <p:attrName>style.visibility</p:attrName>
                                        </p:attrNameLst>
                                      </p:cBhvr>
                                      <p:to>
                                        <p:strVal val="visible"/>
                                      </p:to>
                                    </p:set>
                                    <p:animEffect transition="in" filter="dissolve">
                                      <p:cBhvr>
                                        <p:cTn id="83" dur="500"/>
                                        <p:tgtEl>
                                          <p:spTgt spid="11">
                                            <p:txEl>
                                              <p:pRg st="0" end="0"/>
                                            </p:txEl>
                                          </p:spTgt>
                                        </p:tgtEl>
                                      </p:cBhvr>
                                    </p:animEffect>
                                  </p:childTnLst>
                                </p:cTn>
                              </p:par>
                            </p:childTnLst>
                          </p:cTn>
                        </p:par>
                      </p:childTnLst>
                    </p:cTn>
                  </p:par>
                  <p:par>
                    <p:cTn id="84" fill="hold">
                      <p:stCondLst>
                        <p:cond delay="indefinite"/>
                      </p:stCondLst>
                      <p:childTnLst>
                        <p:par>
                          <p:cTn id="85" fill="hold">
                            <p:stCondLst>
                              <p:cond delay="0"/>
                            </p:stCondLst>
                            <p:childTnLst>
                              <p:par>
                                <p:cTn id="86" presetID="9" presetClass="entr" presetSubtype="0" fill="hold" nodeType="clickEffect">
                                  <p:stCondLst>
                                    <p:cond delay="0"/>
                                  </p:stCondLst>
                                  <p:childTnLst>
                                    <p:set>
                                      <p:cBhvr>
                                        <p:cTn id="87" dur="1" fill="hold">
                                          <p:stCondLst>
                                            <p:cond delay="0"/>
                                          </p:stCondLst>
                                        </p:cTn>
                                        <p:tgtEl>
                                          <p:spTgt spid="11">
                                            <p:txEl>
                                              <p:pRg st="1" end="1"/>
                                            </p:txEl>
                                          </p:spTgt>
                                        </p:tgtEl>
                                        <p:attrNameLst>
                                          <p:attrName>style.visibility</p:attrName>
                                        </p:attrNameLst>
                                      </p:cBhvr>
                                      <p:to>
                                        <p:strVal val="visible"/>
                                      </p:to>
                                    </p:set>
                                    <p:animEffect transition="in" filter="dissolve">
                                      <p:cBhvr>
                                        <p:cTn id="88" dur="500"/>
                                        <p:tgtEl>
                                          <p:spTgt spid="11">
                                            <p:txEl>
                                              <p:pRg st="1" end="1"/>
                                            </p:txEl>
                                          </p:spTgt>
                                        </p:tgtEl>
                                      </p:cBhvr>
                                    </p:animEffect>
                                  </p:childTnLst>
                                </p:cTn>
                              </p:par>
                            </p:childTnLst>
                          </p:cTn>
                        </p:par>
                      </p:childTnLst>
                    </p:cTn>
                  </p:par>
                  <p:par>
                    <p:cTn id="89" fill="hold">
                      <p:stCondLst>
                        <p:cond delay="indefinite"/>
                      </p:stCondLst>
                      <p:childTnLst>
                        <p:par>
                          <p:cTn id="90" fill="hold">
                            <p:stCondLst>
                              <p:cond delay="0"/>
                            </p:stCondLst>
                            <p:childTnLst>
                              <p:par>
                                <p:cTn id="91" presetID="9" presetClass="exit" presetSubtype="0" fill="hold" nodeType="clickEffect">
                                  <p:stCondLst>
                                    <p:cond delay="0"/>
                                  </p:stCondLst>
                                  <p:childTnLst>
                                    <p:animEffect transition="out" filter="dissolve">
                                      <p:cBhvr>
                                        <p:cTn id="92" dur="500"/>
                                        <p:tgtEl>
                                          <p:spTgt spid="46">
                                            <p:txEl>
                                              <p:pRg st="1" end="1"/>
                                            </p:txEl>
                                          </p:spTgt>
                                        </p:tgtEl>
                                      </p:cBhvr>
                                    </p:animEffect>
                                    <p:set>
                                      <p:cBhvr>
                                        <p:cTn id="93" dur="1" fill="hold">
                                          <p:stCondLst>
                                            <p:cond delay="499"/>
                                          </p:stCondLst>
                                        </p:cTn>
                                        <p:tgtEl>
                                          <p:spTgt spid="46">
                                            <p:txEl>
                                              <p:pRg st="1" end="1"/>
                                            </p:txEl>
                                          </p:spTgt>
                                        </p:tgtEl>
                                        <p:attrNameLst>
                                          <p:attrName>style.visibility</p:attrName>
                                        </p:attrNameLst>
                                      </p:cBhvr>
                                      <p:to>
                                        <p:strVal val="hidden"/>
                                      </p:to>
                                    </p:set>
                                  </p:childTnLst>
                                </p:cTn>
                              </p:par>
                            </p:childTnLst>
                          </p:cTn>
                        </p:par>
                        <p:par>
                          <p:cTn id="94" fill="hold">
                            <p:stCondLst>
                              <p:cond delay="500"/>
                            </p:stCondLst>
                            <p:childTnLst>
                              <p:par>
                                <p:cTn id="95" presetID="9" presetClass="entr" presetSubtype="0" fill="hold" nodeType="afterEffect">
                                  <p:stCondLst>
                                    <p:cond delay="0"/>
                                  </p:stCondLst>
                                  <p:childTnLst>
                                    <p:set>
                                      <p:cBhvr>
                                        <p:cTn id="96" dur="1" fill="hold">
                                          <p:stCondLst>
                                            <p:cond delay="0"/>
                                          </p:stCondLst>
                                        </p:cTn>
                                        <p:tgtEl>
                                          <p:spTgt spid="48"/>
                                        </p:tgtEl>
                                        <p:attrNameLst>
                                          <p:attrName>style.visibility</p:attrName>
                                        </p:attrNameLst>
                                      </p:cBhvr>
                                      <p:to>
                                        <p:strVal val="visible"/>
                                      </p:to>
                                    </p:set>
                                    <p:animEffect transition="in" filter="dissolve">
                                      <p:cBhvr>
                                        <p:cTn id="97" dur="500"/>
                                        <p:tgtEl>
                                          <p:spTgt spid="48"/>
                                        </p:tgtEl>
                                      </p:cBhvr>
                                    </p:animEffect>
                                  </p:childTnLst>
                                </p:cTn>
                              </p:par>
                            </p:childTnLst>
                          </p:cTn>
                        </p:par>
                        <p:par>
                          <p:cTn id="98" fill="hold">
                            <p:stCondLst>
                              <p:cond delay="1000"/>
                            </p:stCondLst>
                            <p:childTnLst>
                              <p:par>
                                <p:cTn id="99" presetID="1" presetClass="entr" presetSubtype="0" fill="hold" grpId="0" nodeType="afterEffect">
                                  <p:stCondLst>
                                    <p:cond delay="0"/>
                                  </p:stCondLst>
                                  <p:childTnLst>
                                    <p:set>
                                      <p:cBhvr>
                                        <p:cTn id="100" dur="1" fill="hold">
                                          <p:stCondLst>
                                            <p:cond delay="0"/>
                                          </p:stCondLst>
                                        </p:cTn>
                                        <p:tgtEl>
                                          <p:spTgt spid="49"/>
                                        </p:tgtEl>
                                        <p:attrNameLst>
                                          <p:attrName>style.visibility</p:attrName>
                                        </p:attrNameLst>
                                      </p:cBhvr>
                                      <p:to>
                                        <p:strVal val="visible"/>
                                      </p:to>
                                    </p:set>
                                  </p:childTnLst>
                                </p:cTn>
                              </p:par>
                            </p:childTnLst>
                          </p:cTn>
                        </p:par>
                        <p:par>
                          <p:cTn id="101" fill="hold">
                            <p:stCondLst>
                              <p:cond delay="1000"/>
                            </p:stCondLst>
                            <p:childTnLst>
                              <p:par>
                                <p:cTn id="102" presetID="9" presetClass="entr" presetSubtype="0" fill="hold" nodeType="afterEffect">
                                  <p:stCondLst>
                                    <p:cond delay="0"/>
                                  </p:stCondLst>
                                  <p:childTnLst>
                                    <p:set>
                                      <p:cBhvr>
                                        <p:cTn id="103" dur="1" fill="hold">
                                          <p:stCondLst>
                                            <p:cond delay="0"/>
                                          </p:stCondLst>
                                        </p:cTn>
                                        <p:tgtEl>
                                          <p:spTgt spid="71"/>
                                        </p:tgtEl>
                                        <p:attrNameLst>
                                          <p:attrName>style.visibility</p:attrName>
                                        </p:attrNameLst>
                                      </p:cBhvr>
                                      <p:to>
                                        <p:strVal val="visible"/>
                                      </p:to>
                                    </p:set>
                                    <p:animEffect transition="in" filter="dissolve">
                                      <p:cBhvr>
                                        <p:cTn id="104" dur="500"/>
                                        <p:tgtEl>
                                          <p:spTgt spid="71"/>
                                        </p:tgtEl>
                                      </p:cBhvr>
                                    </p:animEffect>
                                  </p:childTnLst>
                                </p:cTn>
                              </p:par>
                            </p:childTnLst>
                          </p:cTn>
                        </p:par>
                        <p:par>
                          <p:cTn id="105" fill="hold">
                            <p:stCondLst>
                              <p:cond delay="1500"/>
                            </p:stCondLst>
                            <p:childTnLst>
                              <p:par>
                                <p:cTn id="106" presetID="9" presetClass="entr" presetSubtype="0" fill="hold" nodeType="afterEffect">
                                  <p:stCondLst>
                                    <p:cond delay="0"/>
                                  </p:stCondLst>
                                  <p:childTnLst>
                                    <p:set>
                                      <p:cBhvr>
                                        <p:cTn id="107" dur="1" fill="hold">
                                          <p:stCondLst>
                                            <p:cond delay="0"/>
                                          </p:stCondLst>
                                        </p:cTn>
                                        <p:tgtEl>
                                          <p:spTgt spid="50"/>
                                        </p:tgtEl>
                                        <p:attrNameLst>
                                          <p:attrName>style.visibility</p:attrName>
                                        </p:attrNameLst>
                                      </p:cBhvr>
                                      <p:to>
                                        <p:strVal val="visible"/>
                                      </p:to>
                                    </p:set>
                                    <p:animEffect transition="in" filter="dissolve">
                                      <p:cBhvr>
                                        <p:cTn id="108" dur="500"/>
                                        <p:tgtEl>
                                          <p:spTgt spid="50"/>
                                        </p:tgtEl>
                                      </p:cBhvr>
                                    </p:animEffect>
                                  </p:childTnLst>
                                </p:cTn>
                              </p:par>
                            </p:childTnLst>
                          </p:cTn>
                        </p:par>
                        <p:par>
                          <p:cTn id="109" fill="hold">
                            <p:stCondLst>
                              <p:cond delay="2000"/>
                            </p:stCondLst>
                            <p:childTnLst>
                              <p:par>
                                <p:cTn id="110" presetID="1" presetClass="entr" presetSubtype="0" fill="hold" grpId="0" nodeType="afterEffect">
                                  <p:stCondLst>
                                    <p:cond delay="0"/>
                                  </p:stCondLst>
                                  <p:childTnLst>
                                    <p:set>
                                      <p:cBhvr>
                                        <p:cTn id="111" dur="1" fill="hold">
                                          <p:stCondLst>
                                            <p:cond delay="0"/>
                                          </p:stCondLst>
                                        </p:cTn>
                                        <p:tgtEl>
                                          <p:spTgt spid="47"/>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9" presetClass="entr" presetSubtype="0" fill="hold" nodeType="clickEffect">
                                  <p:stCondLst>
                                    <p:cond delay="0"/>
                                  </p:stCondLst>
                                  <p:childTnLst>
                                    <p:set>
                                      <p:cBhvr>
                                        <p:cTn id="115" dur="1" fill="hold">
                                          <p:stCondLst>
                                            <p:cond delay="0"/>
                                          </p:stCondLst>
                                        </p:cTn>
                                        <p:tgtEl>
                                          <p:spTgt spid="11">
                                            <p:txEl>
                                              <p:pRg st="2" end="2"/>
                                            </p:txEl>
                                          </p:spTgt>
                                        </p:tgtEl>
                                        <p:attrNameLst>
                                          <p:attrName>style.visibility</p:attrName>
                                        </p:attrNameLst>
                                      </p:cBhvr>
                                      <p:to>
                                        <p:strVal val="visible"/>
                                      </p:to>
                                    </p:set>
                                    <p:animEffect transition="in" filter="dissolve">
                                      <p:cBhvr>
                                        <p:cTn id="116" dur="500"/>
                                        <p:tgtEl>
                                          <p:spTgt spid="11">
                                            <p:txEl>
                                              <p:pRg st="2" end="2"/>
                                            </p:txEl>
                                          </p:spTgt>
                                        </p:tgtEl>
                                      </p:cBhvr>
                                    </p:animEffect>
                                  </p:childTnLst>
                                </p:cTn>
                              </p:par>
                            </p:childTnLst>
                          </p:cTn>
                        </p:par>
                        <p:par>
                          <p:cTn id="117" fill="hold">
                            <p:stCondLst>
                              <p:cond delay="500"/>
                            </p:stCondLst>
                            <p:childTnLst>
                              <p:par>
                                <p:cTn id="118" presetID="9" presetClass="entr" presetSubtype="0" fill="hold" nodeType="afterEffect">
                                  <p:stCondLst>
                                    <p:cond delay="0"/>
                                  </p:stCondLst>
                                  <p:childTnLst>
                                    <p:set>
                                      <p:cBhvr>
                                        <p:cTn id="119" dur="1" fill="hold">
                                          <p:stCondLst>
                                            <p:cond delay="0"/>
                                          </p:stCondLst>
                                        </p:cTn>
                                        <p:tgtEl>
                                          <p:spTgt spid="67"/>
                                        </p:tgtEl>
                                        <p:attrNameLst>
                                          <p:attrName>style.visibility</p:attrName>
                                        </p:attrNameLst>
                                      </p:cBhvr>
                                      <p:to>
                                        <p:strVal val="visible"/>
                                      </p:to>
                                    </p:set>
                                    <p:animEffect transition="in" filter="dissolve">
                                      <p:cBhvr>
                                        <p:cTn id="120" dur="500"/>
                                        <p:tgtEl>
                                          <p:spTgt spid="67"/>
                                        </p:tgtEl>
                                      </p:cBhvr>
                                    </p:animEffect>
                                  </p:childTnLst>
                                </p:cTn>
                              </p:par>
                            </p:childTnLst>
                          </p:cTn>
                        </p:par>
                        <p:par>
                          <p:cTn id="121" fill="hold">
                            <p:stCondLst>
                              <p:cond delay="1000"/>
                            </p:stCondLst>
                            <p:childTnLst>
                              <p:par>
                                <p:cTn id="122" presetID="1" presetClass="entr" presetSubtype="0" fill="hold" grpId="0" nodeType="afterEffect">
                                  <p:stCondLst>
                                    <p:cond delay="0"/>
                                  </p:stCondLst>
                                  <p:childTnLst>
                                    <p:set>
                                      <p:cBhvr>
                                        <p:cTn id="123" dur="1" fill="hold">
                                          <p:stCondLst>
                                            <p:cond delay="0"/>
                                          </p:stCondLst>
                                        </p:cTn>
                                        <p:tgtEl>
                                          <p:spTgt spid="68"/>
                                        </p:tgtEl>
                                        <p:attrNameLst>
                                          <p:attrName>style.visibility</p:attrName>
                                        </p:attrNameLst>
                                      </p:cBhvr>
                                      <p:to>
                                        <p:strVal val="visible"/>
                                      </p:to>
                                    </p:set>
                                  </p:childTnLst>
                                </p:cTn>
                              </p:par>
                            </p:childTnLst>
                          </p:cTn>
                        </p:par>
                        <p:par>
                          <p:cTn id="124" fill="hold">
                            <p:stCondLst>
                              <p:cond delay="1000"/>
                            </p:stCondLst>
                            <p:childTnLst>
                              <p:par>
                                <p:cTn id="125" presetID="9" presetClass="entr" presetSubtype="0" fill="hold" nodeType="afterEffect">
                                  <p:stCondLst>
                                    <p:cond delay="0"/>
                                  </p:stCondLst>
                                  <p:childTnLst>
                                    <p:set>
                                      <p:cBhvr>
                                        <p:cTn id="126" dur="1" fill="hold">
                                          <p:stCondLst>
                                            <p:cond delay="0"/>
                                          </p:stCondLst>
                                        </p:cTn>
                                        <p:tgtEl>
                                          <p:spTgt spid="69"/>
                                        </p:tgtEl>
                                        <p:attrNameLst>
                                          <p:attrName>style.visibility</p:attrName>
                                        </p:attrNameLst>
                                      </p:cBhvr>
                                      <p:to>
                                        <p:strVal val="visible"/>
                                      </p:to>
                                    </p:set>
                                    <p:animEffect transition="in" filter="dissolve">
                                      <p:cBhvr>
                                        <p:cTn id="127" dur="500"/>
                                        <p:tgtEl>
                                          <p:spTgt spid="69"/>
                                        </p:tgtEl>
                                      </p:cBhvr>
                                    </p:animEffect>
                                  </p:childTnLst>
                                </p:cTn>
                              </p:par>
                            </p:childTnLst>
                          </p:cTn>
                        </p:par>
                      </p:childTnLst>
                    </p:cTn>
                  </p:par>
                  <p:par>
                    <p:cTn id="128" fill="hold">
                      <p:stCondLst>
                        <p:cond delay="indefinite"/>
                      </p:stCondLst>
                      <p:childTnLst>
                        <p:par>
                          <p:cTn id="129" fill="hold">
                            <p:stCondLst>
                              <p:cond delay="0"/>
                            </p:stCondLst>
                            <p:childTnLst>
                              <p:par>
                                <p:cTn id="130" presetID="9" presetClass="entr" presetSubtype="0" fill="hold" nodeType="clickEffect">
                                  <p:stCondLst>
                                    <p:cond delay="0"/>
                                  </p:stCondLst>
                                  <p:childTnLst>
                                    <p:set>
                                      <p:cBhvr>
                                        <p:cTn id="131" dur="1" fill="hold">
                                          <p:stCondLst>
                                            <p:cond delay="0"/>
                                          </p:stCondLst>
                                        </p:cTn>
                                        <p:tgtEl>
                                          <p:spTgt spid="11">
                                            <p:txEl>
                                              <p:pRg st="3" end="3"/>
                                            </p:txEl>
                                          </p:spTgt>
                                        </p:tgtEl>
                                        <p:attrNameLst>
                                          <p:attrName>style.visibility</p:attrName>
                                        </p:attrNameLst>
                                      </p:cBhvr>
                                      <p:to>
                                        <p:strVal val="visible"/>
                                      </p:to>
                                    </p:set>
                                    <p:animEffect transition="in" filter="dissolve">
                                      <p:cBhvr>
                                        <p:cTn id="132" dur="500"/>
                                        <p:tgtEl>
                                          <p:spTgt spid="11">
                                            <p:txEl>
                                              <p:pRg st="3" end="3"/>
                                            </p:txEl>
                                          </p:spTgt>
                                        </p:tgtEl>
                                      </p:cBhvr>
                                    </p:animEffect>
                                  </p:childTnLst>
                                </p:cTn>
                              </p:par>
                            </p:childTnLst>
                          </p:cTn>
                        </p:par>
                        <p:par>
                          <p:cTn id="133" fill="hold">
                            <p:stCondLst>
                              <p:cond delay="500"/>
                            </p:stCondLst>
                            <p:childTnLst>
                              <p:par>
                                <p:cTn id="134" presetID="1" presetClass="entr" presetSubtype="0" fill="hold" grpId="0" nodeType="afterEffect">
                                  <p:stCondLst>
                                    <p:cond delay="0"/>
                                  </p:stCondLst>
                                  <p:childTnLst>
                                    <p:set>
                                      <p:cBhvr>
                                        <p:cTn id="135" dur="1" fill="hold">
                                          <p:stCondLst>
                                            <p:cond delay="0"/>
                                          </p:stCondLst>
                                        </p:cTn>
                                        <p:tgtEl>
                                          <p:spTgt spid="72"/>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9" presetClass="entr" presetSubtype="0" fill="hold" nodeType="clickEffect">
                                  <p:stCondLst>
                                    <p:cond delay="0"/>
                                  </p:stCondLst>
                                  <p:childTnLst>
                                    <p:set>
                                      <p:cBhvr>
                                        <p:cTn id="139" dur="1" fill="hold">
                                          <p:stCondLst>
                                            <p:cond delay="0"/>
                                          </p:stCondLst>
                                        </p:cTn>
                                        <p:tgtEl>
                                          <p:spTgt spid="11">
                                            <p:txEl>
                                              <p:pRg st="4" end="4"/>
                                            </p:txEl>
                                          </p:spTgt>
                                        </p:tgtEl>
                                        <p:attrNameLst>
                                          <p:attrName>style.visibility</p:attrName>
                                        </p:attrNameLst>
                                      </p:cBhvr>
                                      <p:to>
                                        <p:strVal val="visible"/>
                                      </p:to>
                                    </p:set>
                                    <p:animEffect transition="in" filter="dissolve">
                                      <p:cBhvr>
                                        <p:cTn id="140" dur="500"/>
                                        <p:tgtEl>
                                          <p:spTgt spid="11">
                                            <p:txEl>
                                              <p:pRg st="4" end="4"/>
                                            </p:txEl>
                                          </p:spTgt>
                                        </p:tgtEl>
                                      </p:cBhvr>
                                    </p:animEffect>
                                  </p:childTnLst>
                                </p:cTn>
                              </p:par>
                            </p:childTnLst>
                          </p:cTn>
                        </p:par>
                      </p:childTnLst>
                    </p:cTn>
                  </p:par>
                  <p:par>
                    <p:cTn id="141" fill="hold">
                      <p:stCondLst>
                        <p:cond delay="indefinite"/>
                      </p:stCondLst>
                      <p:childTnLst>
                        <p:par>
                          <p:cTn id="142" fill="hold">
                            <p:stCondLst>
                              <p:cond delay="0"/>
                            </p:stCondLst>
                            <p:childTnLst>
                              <p:par>
                                <p:cTn id="143" presetID="9" presetClass="entr" presetSubtype="0" fill="hold" nodeType="clickEffect">
                                  <p:stCondLst>
                                    <p:cond delay="0"/>
                                  </p:stCondLst>
                                  <p:childTnLst>
                                    <p:set>
                                      <p:cBhvr>
                                        <p:cTn id="144" dur="1" fill="hold">
                                          <p:stCondLst>
                                            <p:cond delay="0"/>
                                          </p:stCondLst>
                                        </p:cTn>
                                        <p:tgtEl>
                                          <p:spTgt spid="11">
                                            <p:txEl>
                                              <p:pRg st="5" end="5"/>
                                            </p:txEl>
                                          </p:spTgt>
                                        </p:tgtEl>
                                        <p:attrNameLst>
                                          <p:attrName>style.visibility</p:attrName>
                                        </p:attrNameLst>
                                      </p:cBhvr>
                                      <p:to>
                                        <p:strVal val="visible"/>
                                      </p:to>
                                    </p:set>
                                    <p:animEffect transition="in" filter="dissolve">
                                      <p:cBhvr>
                                        <p:cTn id="145" dur="500"/>
                                        <p:tgtEl>
                                          <p:spTgt spid="11">
                                            <p:txEl>
                                              <p:pRg st="5" end="5"/>
                                            </p:txEl>
                                          </p:spTgt>
                                        </p:tgtEl>
                                      </p:cBhvr>
                                    </p:animEffect>
                                  </p:childTnLst>
                                </p:cTn>
                              </p:par>
                            </p:childTnLst>
                          </p:cTn>
                        </p:par>
                      </p:childTnLst>
                    </p:cTn>
                  </p:par>
                  <p:par>
                    <p:cTn id="146" fill="hold">
                      <p:stCondLst>
                        <p:cond delay="indefinite"/>
                      </p:stCondLst>
                      <p:childTnLst>
                        <p:par>
                          <p:cTn id="147" fill="hold">
                            <p:stCondLst>
                              <p:cond delay="0"/>
                            </p:stCondLst>
                            <p:childTnLst>
                              <p:par>
                                <p:cTn id="148" presetID="9" presetClass="entr" presetSubtype="0" fill="hold" nodeType="clickEffect">
                                  <p:stCondLst>
                                    <p:cond delay="0"/>
                                  </p:stCondLst>
                                  <p:childTnLst>
                                    <p:set>
                                      <p:cBhvr>
                                        <p:cTn id="149" dur="1" fill="hold">
                                          <p:stCondLst>
                                            <p:cond delay="0"/>
                                          </p:stCondLst>
                                        </p:cTn>
                                        <p:tgtEl>
                                          <p:spTgt spid="11">
                                            <p:txEl>
                                              <p:pRg st="6" end="6"/>
                                            </p:txEl>
                                          </p:spTgt>
                                        </p:tgtEl>
                                        <p:attrNameLst>
                                          <p:attrName>style.visibility</p:attrName>
                                        </p:attrNameLst>
                                      </p:cBhvr>
                                      <p:to>
                                        <p:strVal val="visible"/>
                                      </p:to>
                                    </p:set>
                                    <p:animEffect transition="in" filter="dissolve">
                                      <p:cBhvr>
                                        <p:cTn id="150" dur="500"/>
                                        <p:tgtEl>
                                          <p:spTgt spid="11">
                                            <p:txEl>
                                              <p:pRg st="6" end="6"/>
                                            </p:txEl>
                                          </p:spTgt>
                                        </p:tgtEl>
                                      </p:cBhvr>
                                    </p:animEffect>
                                  </p:childTnLst>
                                </p:cTn>
                              </p:par>
                            </p:childTnLst>
                          </p:cTn>
                        </p:par>
                      </p:childTnLst>
                    </p:cTn>
                  </p:par>
                  <p:par>
                    <p:cTn id="151" fill="hold">
                      <p:stCondLst>
                        <p:cond delay="indefinite"/>
                      </p:stCondLst>
                      <p:childTnLst>
                        <p:par>
                          <p:cTn id="152" fill="hold">
                            <p:stCondLst>
                              <p:cond delay="0"/>
                            </p:stCondLst>
                            <p:childTnLst>
                              <p:par>
                                <p:cTn id="153" presetID="9" presetClass="entr" presetSubtype="0" fill="hold" grpId="0" nodeType="clickEffect">
                                  <p:stCondLst>
                                    <p:cond delay="0"/>
                                  </p:stCondLst>
                                  <p:childTnLst>
                                    <p:set>
                                      <p:cBhvr>
                                        <p:cTn id="154" dur="1" fill="hold">
                                          <p:stCondLst>
                                            <p:cond delay="0"/>
                                          </p:stCondLst>
                                        </p:cTn>
                                        <p:tgtEl>
                                          <p:spTgt spid="4">
                                            <p:bg/>
                                          </p:spTgt>
                                        </p:tgtEl>
                                        <p:attrNameLst>
                                          <p:attrName>style.visibility</p:attrName>
                                        </p:attrNameLst>
                                      </p:cBhvr>
                                      <p:to>
                                        <p:strVal val="visible"/>
                                      </p:to>
                                    </p:set>
                                    <p:animEffect transition="in" filter="dissolve">
                                      <p:cBhvr>
                                        <p:cTn id="155" dur="500"/>
                                        <p:tgtEl>
                                          <p:spTgt spid="4">
                                            <p:bg/>
                                          </p:spTgt>
                                        </p:tgtEl>
                                      </p:cBhvr>
                                    </p:animEffect>
                                  </p:childTnLst>
                                </p:cTn>
                              </p:par>
                              <p:par>
                                <p:cTn id="156" presetID="9" presetClass="entr" presetSubtype="0" fill="hold" grpId="0" nodeType="withEffect">
                                  <p:stCondLst>
                                    <p:cond delay="0"/>
                                  </p:stCondLst>
                                  <p:childTnLst>
                                    <p:set>
                                      <p:cBhvr>
                                        <p:cTn id="157" dur="1" fill="hold">
                                          <p:stCondLst>
                                            <p:cond delay="0"/>
                                          </p:stCondLst>
                                        </p:cTn>
                                        <p:tgtEl>
                                          <p:spTgt spid="4">
                                            <p:txEl>
                                              <p:pRg st="0" end="0"/>
                                            </p:txEl>
                                          </p:spTgt>
                                        </p:tgtEl>
                                        <p:attrNameLst>
                                          <p:attrName>style.visibility</p:attrName>
                                        </p:attrNameLst>
                                      </p:cBhvr>
                                      <p:to>
                                        <p:strVal val="visible"/>
                                      </p:to>
                                    </p:set>
                                    <p:animEffect transition="in" filter="dissolve">
                                      <p:cBhvr>
                                        <p:cTn id="158" dur="500"/>
                                        <p:tgtEl>
                                          <p:spTgt spid="4">
                                            <p:txEl>
                                              <p:pRg st="0" end="0"/>
                                            </p:txEl>
                                          </p:spTgt>
                                        </p:tgtEl>
                                      </p:cBhvr>
                                    </p:animEffect>
                                  </p:childTnLst>
                                </p:cTn>
                              </p:par>
                              <p:par>
                                <p:cTn id="159" presetID="9" presetClass="entr" presetSubtype="0" fill="hold" grpId="0" nodeType="withEffect">
                                  <p:stCondLst>
                                    <p:cond delay="0"/>
                                  </p:stCondLst>
                                  <p:childTnLst>
                                    <p:set>
                                      <p:cBhvr>
                                        <p:cTn id="160" dur="1" fill="hold">
                                          <p:stCondLst>
                                            <p:cond delay="0"/>
                                          </p:stCondLst>
                                        </p:cTn>
                                        <p:tgtEl>
                                          <p:spTgt spid="4">
                                            <p:txEl>
                                              <p:pRg st="1" end="1"/>
                                            </p:txEl>
                                          </p:spTgt>
                                        </p:tgtEl>
                                        <p:attrNameLst>
                                          <p:attrName>style.visibility</p:attrName>
                                        </p:attrNameLst>
                                      </p:cBhvr>
                                      <p:to>
                                        <p:strVal val="visible"/>
                                      </p:to>
                                    </p:set>
                                    <p:animEffect transition="in" filter="dissolve">
                                      <p:cBhvr>
                                        <p:cTn id="161"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4" grpId="0" build="allAtOnce" animBg="1"/>
      <p:bldP spid="9" grpId="0"/>
      <p:bldP spid="12" grpId="0"/>
      <p:bldP spid="17" grpId="0" animBg="1"/>
      <p:bldP spid="18" grpId="0" animBg="1"/>
      <p:bldP spid="25" grpId="0" animBg="1"/>
      <p:bldP spid="47" grpId="0"/>
      <p:bldP spid="49" grpId="0" animBg="1"/>
      <p:bldP spid="65" grpId="0"/>
      <p:bldP spid="68" grpId="0" animBg="1"/>
      <p:bldP spid="72" grpId="0" animBg="1"/>
      <p:bldP spid="78"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733C6C-0852-09CB-3396-7A14C0AD014B}"/>
              </a:ext>
            </a:extLst>
          </p:cNvPr>
          <p:cNvSpPr>
            <a:spLocks noGrp="1"/>
          </p:cNvSpPr>
          <p:nvPr>
            <p:ph type="title"/>
          </p:nvPr>
        </p:nvSpPr>
        <p:spPr/>
        <p:txBody>
          <a:bodyPr/>
          <a:lstStyle/>
          <a:p>
            <a:r>
              <a:rPr lang="en-PK" dirty="0"/>
              <a:t>Blockchain Security</a:t>
            </a:r>
          </a:p>
        </p:txBody>
      </p:sp>
      <p:sp>
        <p:nvSpPr>
          <p:cNvPr id="3" name="Content Placeholder 2">
            <a:extLst>
              <a:ext uri="{FF2B5EF4-FFF2-40B4-BE49-F238E27FC236}">
                <a16:creationId xmlns:a16="http://schemas.microsoft.com/office/drawing/2014/main" id="{301FFBC8-0871-09A2-20BF-EAB93AAE5086}"/>
              </a:ext>
            </a:extLst>
          </p:cNvPr>
          <p:cNvSpPr>
            <a:spLocks noGrp="1"/>
          </p:cNvSpPr>
          <p:nvPr>
            <p:ph idx="1"/>
          </p:nvPr>
        </p:nvSpPr>
        <p:spPr/>
        <p:txBody>
          <a:bodyPr>
            <a:normAutofit/>
          </a:bodyPr>
          <a:lstStyle/>
          <a:p>
            <a:r>
              <a:rPr lang="en-US" dirty="0"/>
              <a:t>With all the security, authentication, verification, etc., </a:t>
            </a:r>
            <a:r>
              <a:rPr lang="en-US" dirty="0">
                <a:solidFill>
                  <a:srgbClr val="C00000"/>
                </a:solidFill>
              </a:rPr>
              <a:t>can we still break a blockchain?</a:t>
            </a:r>
          </a:p>
          <a:p>
            <a:pPr lvl="1"/>
            <a:r>
              <a:rPr lang="en-US" dirty="0">
                <a:solidFill>
                  <a:srgbClr val="308D3E"/>
                </a:solidFill>
              </a:rPr>
              <a:t>Before answering this, we need to understand/consider a </a:t>
            </a:r>
            <a:r>
              <a:rPr lang="en-US" b="1" dirty="0">
                <a:solidFill>
                  <a:srgbClr val="308D3E"/>
                </a:solidFill>
              </a:rPr>
              <a:t>fork</a:t>
            </a:r>
          </a:p>
          <a:p>
            <a:pPr lvl="3"/>
            <a:endParaRPr lang="en-US" dirty="0"/>
          </a:p>
          <a:p>
            <a:r>
              <a:rPr lang="en-US" dirty="0"/>
              <a:t>Two miners can almost simultaneously create candidate blocks</a:t>
            </a:r>
          </a:p>
          <a:p>
            <a:pPr lvl="1"/>
            <a:r>
              <a:rPr lang="en-US" dirty="0">
                <a:solidFill>
                  <a:srgbClr val="308D3E"/>
                </a:solidFill>
              </a:rPr>
              <a:t>Broadcasted to all connected nodes – both blocks valid!</a:t>
            </a:r>
          </a:p>
          <a:p>
            <a:pPr lvl="1"/>
            <a:r>
              <a:rPr lang="en-US" dirty="0">
                <a:solidFill>
                  <a:srgbClr val="0432FF"/>
                </a:solidFill>
              </a:rPr>
              <a:t>Added to journals, causing a fork – an </a:t>
            </a:r>
            <a:r>
              <a:rPr lang="en-US" b="1" dirty="0">
                <a:solidFill>
                  <a:srgbClr val="C00000"/>
                </a:solidFill>
              </a:rPr>
              <a:t>accidental</a:t>
            </a:r>
            <a:r>
              <a:rPr lang="en-US" dirty="0">
                <a:solidFill>
                  <a:srgbClr val="0432FF"/>
                </a:solidFill>
              </a:rPr>
              <a:t> or </a:t>
            </a:r>
            <a:r>
              <a:rPr lang="en-US" b="1" dirty="0">
                <a:solidFill>
                  <a:srgbClr val="C00000"/>
                </a:solidFill>
              </a:rPr>
              <a:t>natural</a:t>
            </a:r>
            <a:r>
              <a:rPr lang="en-US" dirty="0">
                <a:solidFill>
                  <a:srgbClr val="0432FF"/>
                </a:solidFill>
              </a:rPr>
              <a:t> fork</a:t>
            </a:r>
          </a:p>
          <a:p>
            <a:pPr lvl="3"/>
            <a:endParaRPr lang="en-US" dirty="0"/>
          </a:p>
          <a:p>
            <a:r>
              <a:rPr lang="en-US" dirty="0"/>
              <a:t>Over time, one will become part of the ledger (longest chain)</a:t>
            </a:r>
          </a:p>
          <a:p>
            <a:pPr lvl="1"/>
            <a:r>
              <a:rPr lang="en-US" dirty="0">
                <a:solidFill>
                  <a:srgbClr val="0432FF"/>
                </a:solidFill>
              </a:rPr>
              <a:t>Naturally occurring forks are </a:t>
            </a:r>
            <a:r>
              <a:rPr lang="en-US" b="1" dirty="0">
                <a:solidFill>
                  <a:srgbClr val="C00000"/>
                </a:solidFill>
              </a:rPr>
              <a:t>frequent</a:t>
            </a:r>
            <a:r>
              <a:rPr lang="en-US" dirty="0">
                <a:solidFill>
                  <a:srgbClr val="0432FF"/>
                </a:solidFill>
              </a:rPr>
              <a:t> and </a:t>
            </a:r>
            <a:r>
              <a:rPr lang="en-US" b="1" dirty="0">
                <a:solidFill>
                  <a:srgbClr val="C00000"/>
                </a:solidFill>
              </a:rPr>
              <a:t>automatically</a:t>
            </a:r>
            <a:r>
              <a:rPr lang="en-US" dirty="0">
                <a:solidFill>
                  <a:srgbClr val="0432FF"/>
                </a:solidFill>
              </a:rPr>
              <a:t> resolved</a:t>
            </a:r>
          </a:p>
          <a:p>
            <a:pPr lvl="1"/>
            <a:r>
              <a:rPr lang="en-US" dirty="0">
                <a:solidFill>
                  <a:srgbClr val="308D3E"/>
                </a:solidFill>
              </a:rPr>
              <a:t>When we talk of forks, we don’t talk of natural/accidental ones</a:t>
            </a:r>
            <a:endParaRPr lang="en-PK" dirty="0">
              <a:solidFill>
                <a:srgbClr val="308D3E"/>
              </a:solidFill>
            </a:endParaRPr>
          </a:p>
        </p:txBody>
      </p:sp>
      <p:sp>
        <p:nvSpPr>
          <p:cNvPr id="4" name="Slide Number Placeholder 3">
            <a:extLst>
              <a:ext uri="{FF2B5EF4-FFF2-40B4-BE49-F238E27FC236}">
                <a16:creationId xmlns:a16="http://schemas.microsoft.com/office/drawing/2014/main" id="{6AD94496-AA1C-5DCA-2DE3-59BB495023F3}"/>
              </a:ext>
            </a:extLst>
          </p:cNvPr>
          <p:cNvSpPr>
            <a:spLocks noGrp="1"/>
          </p:cNvSpPr>
          <p:nvPr>
            <p:ph type="sldNum" sz="quarter" idx="12"/>
          </p:nvPr>
        </p:nvSpPr>
        <p:spPr/>
        <p:txBody>
          <a:bodyPr/>
          <a:lstStyle/>
          <a:p>
            <a:fld id="{D57F1E4F-1CFF-5643-939E-217C01CDF565}" type="slidenum">
              <a:rPr lang="en-US" smtClean="0"/>
              <a:pPr/>
              <a:t>9</a:t>
            </a:fld>
            <a:endParaRPr lang="en-US" dirty="0"/>
          </a:p>
        </p:txBody>
      </p:sp>
    </p:spTree>
    <p:extLst>
      <p:ext uri="{BB962C8B-B14F-4D97-AF65-F5344CB8AC3E}">
        <p14:creationId xmlns:p14="http://schemas.microsoft.com/office/powerpoint/2010/main" val="4223307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dissolve">
                                      <p:cBhvr>
                                        <p:cTn id="17" dur="500"/>
                                        <p:tgtEl>
                                          <p:spTgt spid="3">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9" presetClass="entr" presetSubtype="0" fill="hold" nodeType="clickEffect">
                                  <p:stCondLst>
                                    <p:cond delay="0"/>
                                  </p:stCondLst>
                                  <p:childTnLst>
                                    <p:set>
                                      <p:cBhvr>
                                        <p:cTn id="21" dur="1" fill="hold">
                                          <p:stCondLst>
                                            <p:cond delay="0"/>
                                          </p:stCondLst>
                                        </p:cTn>
                                        <p:tgtEl>
                                          <p:spTgt spid="3">
                                            <p:txEl>
                                              <p:pRg st="4" end="4"/>
                                            </p:txEl>
                                          </p:spTgt>
                                        </p:tgtEl>
                                        <p:attrNameLst>
                                          <p:attrName>style.visibility</p:attrName>
                                        </p:attrNameLst>
                                      </p:cBhvr>
                                      <p:to>
                                        <p:strVal val="visible"/>
                                      </p:to>
                                    </p:set>
                                    <p:animEffect transition="in" filter="dissolve">
                                      <p:cBhvr>
                                        <p:cTn id="22" dur="500"/>
                                        <p:tgtEl>
                                          <p:spTgt spid="3">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9"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dissolv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3">
                                            <p:txEl>
                                              <p:pRg st="7" end="7"/>
                                            </p:txEl>
                                          </p:spTgt>
                                        </p:tgtEl>
                                        <p:attrNameLst>
                                          <p:attrName>style.visibility</p:attrName>
                                        </p:attrNameLst>
                                      </p:cBhvr>
                                      <p:to>
                                        <p:strVal val="visible"/>
                                      </p:to>
                                    </p:set>
                                    <p:animEffect transition="in" filter="dissolve">
                                      <p:cBhvr>
                                        <p:cTn id="32" dur="500"/>
                                        <p:tgtEl>
                                          <p:spTgt spid="3">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9" presetClass="entr" presetSubtype="0"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dissolve">
                                      <p:cBhvr>
                                        <p:cTn id="37" dur="500"/>
                                        <p:tgtEl>
                                          <p:spTgt spid="3">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nodeType="clickEffect">
                                  <p:stCondLst>
                                    <p:cond delay="0"/>
                                  </p:stCondLst>
                                  <p:childTnLst>
                                    <p:set>
                                      <p:cBhvr>
                                        <p:cTn id="41" dur="1" fill="hold">
                                          <p:stCondLst>
                                            <p:cond delay="0"/>
                                          </p:stCondLst>
                                        </p:cTn>
                                        <p:tgtEl>
                                          <p:spTgt spid="3">
                                            <p:txEl>
                                              <p:pRg st="9" end="9"/>
                                            </p:txEl>
                                          </p:spTgt>
                                        </p:tgtEl>
                                        <p:attrNameLst>
                                          <p:attrName>style.visibility</p:attrName>
                                        </p:attrNameLst>
                                      </p:cBhvr>
                                      <p:to>
                                        <p:strVal val="visible"/>
                                      </p:to>
                                    </p:set>
                                    <p:animEffect transition="in" filter="dissolve">
                                      <p:cBhvr>
                                        <p:cTn id="42"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31D205-5E44-81A5-0514-842654C87B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E4B674-F388-34B2-3D4E-74661D83288F}"/>
              </a:ext>
            </a:extLst>
          </p:cNvPr>
          <p:cNvSpPr>
            <a:spLocks noGrp="1"/>
          </p:cNvSpPr>
          <p:nvPr>
            <p:ph type="title"/>
          </p:nvPr>
        </p:nvSpPr>
        <p:spPr/>
        <p:txBody>
          <a:bodyPr/>
          <a:lstStyle/>
          <a:p>
            <a:r>
              <a:rPr lang="en-PK" dirty="0"/>
              <a:t>Forks with a Purpose: Hard Fork</a:t>
            </a:r>
          </a:p>
        </p:txBody>
      </p:sp>
      <p:sp>
        <p:nvSpPr>
          <p:cNvPr id="3" name="Content Placeholder 2">
            <a:extLst>
              <a:ext uri="{FF2B5EF4-FFF2-40B4-BE49-F238E27FC236}">
                <a16:creationId xmlns:a16="http://schemas.microsoft.com/office/drawing/2014/main" id="{466B11A0-AB01-C331-6677-857519DCA156}"/>
              </a:ext>
            </a:extLst>
          </p:cNvPr>
          <p:cNvSpPr>
            <a:spLocks noGrp="1"/>
          </p:cNvSpPr>
          <p:nvPr>
            <p:ph idx="1"/>
          </p:nvPr>
        </p:nvSpPr>
        <p:spPr/>
        <p:txBody>
          <a:bodyPr/>
          <a:lstStyle/>
          <a:p>
            <a:r>
              <a:rPr lang="en-US" dirty="0">
                <a:solidFill>
                  <a:srgbClr val="C00000"/>
                </a:solidFill>
              </a:rPr>
              <a:t>Loosens the rules for newly created blocks (more liberal rules)</a:t>
            </a:r>
          </a:p>
          <a:p>
            <a:r>
              <a:rPr lang="en-US" dirty="0">
                <a:solidFill>
                  <a:srgbClr val="C00000"/>
                </a:solidFill>
              </a:rPr>
              <a:t>Ex: increase mining reward, increase the max block size</a:t>
            </a:r>
          </a:p>
          <a:p>
            <a:r>
              <a:rPr lang="en-US" dirty="0">
                <a:solidFill>
                  <a:srgbClr val="308D3E"/>
                </a:solidFill>
              </a:rPr>
              <a:t>A block invalid under old rules may be valid under new rules</a:t>
            </a:r>
          </a:p>
          <a:p>
            <a:r>
              <a:rPr lang="en-US" dirty="0">
                <a:solidFill>
                  <a:srgbClr val="0432FF"/>
                </a:solidFill>
              </a:rPr>
              <a:t>Only nodes that have upgraded will accept the new blocks</a:t>
            </a:r>
          </a:p>
          <a:p>
            <a:r>
              <a:rPr lang="en-US" dirty="0">
                <a:solidFill>
                  <a:srgbClr val="7030A0"/>
                </a:solidFill>
              </a:rPr>
              <a:t>All nodes MUST upgrade to avoid a “split” (often, they don’t)</a:t>
            </a:r>
          </a:p>
        </p:txBody>
      </p:sp>
      <p:sp>
        <p:nvSpPr>
          <p:cNvPr id="4" name="Slide Number Placeholder 3">
            <a:extLst>
              <a:ext uri="{FF2B5EF4-FFF2-40B4-BE49-F238E27FC236}">
                <a16:creationId xmlns:a16="http://schemas.microsoft.com/office/drawing/2014/main" id="{69A3C461-0682-12AD-8508-9F991CDCF5F0}"/>
              </a:ext>
            </a:extLst>
          </p:cNvPr>
          <p:cNvSpPr>
            <a:spLocks noGrp="1"/>
          </p:cNvSpPr>
          <p:nvPr>
            <p:ph type="sldNum" sz="quarter" idx="12"/>
          </p:nvPr>
        </p:nvSpPr>
        <p:spPr/>
        <p:txBody>
          <a:bodyPr/>
          <a:lstStyle/>
          <a:p>
            <a:fld id="{D57F1E4F-1CFF-5643-939E-217C01CDF565}" type="slidenum">
              <a:rPr lang="en-US" smtClean="0"/>
              <a:pPr/>
              <a:t>10</a:t>
            </a:fld>
            <a:endParaRPr lang="en-US" dirty="0"/>
          </a:p>
        </p:txBody>
      </p:sp>
      <p:pic>
        <p:nvPicPr>
          <p:cNvPr id="5" name="Picture 4" descr="Diagram&#10;&#10;Description automatically generated">
            <a:extLst>
              <a:ext uri="{FF2B5EF4-FFF2-40B4-BE49-F238E27FC236}">
                <a16:creationId xmlns:a16="http://schemas.microsoft.com/office/drawing/2014/main" id="{A463AFF4-F013-8F6A-5926-A5A87D7DFBD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07918" y="4173237"/>
            <a:ext cx="6576164" cy="2003726"/>
          </a:xfrm>
          <a:prstGeom prst="rect">
            <a:avLst/>
          </a:prstGeom>
        </p:spPr>
      </p:pic>
    </p:spTree>
    <p:extLst>
      <p:ext uri="{BB962C8B-B14F-4D97-AF65-F5344CB8AC3E}">
        <p14:creationId xmlns:p14="http://schemas.microsoft.com/office/powerpoint/2010/main" val="32905157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dissolve">
                                      <p:cBhvr>
                                        <p:cTn id="23" dur="500"/>
                                        <p:tgtEl>
                                          <p:spTgt spid="3">
                                            <p:txEl>
                                              <p:pRg st="3" end="3"/>
                                            </p:txEl>
                                          </p:spTgt>
                                        </p:tgtEl>
                                      </p:cBhvr>
                                    </p:animEffect>
                                  </p:childTnLst>
                                </p:cTn>
                              </p:par>
                              <p:par>
                                <p:cTn id="24" presetID="9" presetClass="entr" presetSubtype="0" fill="hold" nodeType="withEffect">
                                  <p:stCondLst>
                                    <p:cond delay="0"/>
                                  </p:stCondLst>
                                  <p:childTnLst>
                                    <p:set>
                                      <p:cBhvr>
                                        <p:cTn id="25" dur="1" fill="hold">
                                          <p:stCondLst>
                                            <p:cond delay="0"/>
                                          </p:stCondLst>
                                        </p:cTn>
                                        <p:tgtEl>
                                          <p:spTgt spid="3">
                                            <p:txEl>
                                              <p:pRg st="4" end="4"/>
                                            </p:txEl>
                                          </p:spTgt>
                                        </p:tgtEl>
                                        <p:attrNameLst>
                                          <p:attrName>style.visibility</p:attrName>
                                        </p:attrNameLst>
                                      </p:cBhvr>
                                      <p:to>
                                        <p:strVal val="visible"/>
                                      </p:to>
                                    </p:set>
                                    <p:animEffect transition="in" filter="dissolve">
                                      <p:cBhvr>
                                        <p:cTn id="2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862355-F115-B6B4-CE07-9D3B43F97132}"/>
              </a:ext>
            </a:extLst>
          </p:cNvPr>
          <p:cNvSpPr>
            <a:spLocks noGrp="1"/>
          </p:cNvSpPr>
          <p:nvPr>
            <p:ph type="title"/>
          </p:nvPr>
        </p:nvSpPr>
        <p:spPr/>
        <p:txBody>
          <a:bodyPr/>
          <a:lstStyle/>
          <a:p>
            <a:r>
              <a:rPr lang="en-PK" dirty="0"/>
              <a:t>Forks with a Purpose: Soft Fork</a:t>
            </a:r>
          </a:p>
        </p:txBody>
      </p:sp>
      <p:sp>
        <p:nvSpPr>
          <p:cNvPr id="3" name="Content Placeholder 2">
            <a:extLst>
              <a:ext uri="{FF2B5EF4-FFF2-40B4-BE49-F238E27FC236}">
                <a16:creationId xmlns:a16="http://schemas.microsoft.com/office/drawing/2014/main" id="{9B5D9B48-B5C2-47BE-A0FA-8685DB5DA4FE}"/>
              </a:ext>
            </a:extLst>
          </p:cNvPr>
          <p:cNvSpPr>
            <a:spLocks noGrp="1"/>
          </p:cNvSpPr>
          <p:nvPr>
            <p:ph idx="1"/>
          </p:nvPr>
        </p:nvSpPr>
        <p:spPr/>
        <p:txBody>
          <a:bodyPr/>
          <a:lstStyle/>
          <a:p>
            <a:r>
              <a:rPr lang="en-US" dirty="0">
                <a:solidFill>
                  <a:srgbClr val="C00000"/>
                </a:solidFill>
              </a:rPr>
              <a:t>Tightens the rules for newly created blocks</a:t>
            </a:r>
          </a:p>
          <a:p>
            <a:r>
              <a:rPr lang="en-US" dirty="0">
                <a:solidFill>
                  <a:srgbClr val="C00000"/>
                </a:solidFill>
              </a:rPr>
              <a:t>Ex: decreasing mining reward, decrease the max block size</a:t>
            </a:r>
          </a:p>
          <a:p>
            <a:r>
              <a:rPr lang="en-US" dirty="0"/>
              <a:t>A block valid under old rules may be invalid under new rules</a:t>
            </a:r>
          </a:p>
          <a:p>
            <a:r>
              <a:rPr lang="en-US" dirty="0"/>
              <a:t>All nodes (upgraded or not) will accept the new blocks</a:t>
            </a:r>
          </a:p>
          <a:p>
            <a:r>
              <a:rPr lang="en-US" dirty="0">
                <a:solidFill>
                  <a:srgbClr val="7030A0"/>
                </a:solidFill>
              </a:rPr>
              <a:t>If majority nodes upgraded, old nodes don’t need to upgrade</a:t>
            </a:r>
          </a:p>
          <a:p>
            <a:r>
              <a:rPr lang="en-US" dirty="0">
                <a:solidFill>
                  <a:srgbClr val="7030A0"/>
                </a:solidFill>
              </a:rPr>
              <a:t>Blockchain is unlikely to “split”</a:t>
            </a:r>
          </a:p>
        </p:txBody>
      </p:sp>
      <p:sp>
        <p:nvSpPr>
          <p:cNvPr id="4" name="Slide Number Placeholder 3">
            <a:extLst>
              <a:ext uri="{FF2B5EF4-FFF2-40B4-BE49-F238E27FC236}">
                <a16:creationId xmlns:a16="http://schemas.microsoft.com/office/drawing/2014/main" id="{86EA0F8B-B877-1AF6-505A-CF1E3A669293}"/>
              </a:ext>
            </a:extLst>
          </p:cNvPr>
          <p:cNvSpPr>
            <a:spLocks noGrp="1"/>
          </p:cNvSpPr>
          <p:nvPr>
            <p:ph type="sldNum" sz="quarter" idx="12"/>
          </p:nvPr>
        </p:nvSpPr>
        <p:spPr/>
        <p:txBody>
          <a:bodyPr/>
          <a:lstStyle/>
          <a:p>
            <a:fld id="{D57F1E4F-1CFF-5643-939E-217C01CDF565}" type="slidenum">
              <a:rPr lang="en-US" smtClean="0"/>
              <a:pPr/>
              <a:t>11</a:t>
            </a:fld>
            <a:endParaRPr lang="en-US" dirty="0"/>
          </a:p>
        </p:txBody>
      </p:sp>
      <p:pic>
        <p:nvPicPr>
          <p:cNvPr id="5" name="Picture 4" descr="Diagram&#10;&#10;Description automatically generated">
            <a:extLst>
              <a:ext uri="{FF2B5EF4-FFF2-40B4-BE49-F238E27FC236}">
                <a16:creationId xmlns:a16="http://schemas.microsoft.com/office/drawing/2014/main" id="{5DB1C748-2720-03BF-06E5-02AC523EAB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81589" y="4592192"/>
            <a:ext cx="5949863" cy="1778586"/>
          </a:xfrm>
          <a:prstGeom prst="rect">
            <a:avLst/>
          </a:prstGeom>
        </p:spPr>
      </p:pic>
      <p:sp>
        <p:nvSpPr>
          <p:cNvPr id="6" name="TextBox 5">
            <a:extLst>
              <a:ext uri="{FF2B5EF4-FFF2-40B4-BE49-F238E27FC236}">
                <a16:creationId xmlns:a16="http://schemas.microsoft.com/office/drawing/2014/main" id="{3E1AF3F1-C7CE-7F8A-4106-B30B35E502E5}"/>
              </a:ext>
            </a:extLst>
          </p:cNvPr>
          <p:cNvSpPr txBox="1"/>
          <p:nvPr/>
        </p:nvSpPr>
        <p:spPr>
          <a:xfrm>
            <a:off x="8653310" y="4004678"/>
            <a:ext cx="1309816" cy="830997"/>
          </a:xfrm>
          <a:prstGeom prst="rect">
            <a:avLst/>
          </a:prstGeom>
          <a:noFill/>
        </p:spPr>
        <p:txBody>
          <a:bodyPr wrap="square" rtlCol="0">
            <a:spAutoFit/>
          </a:bodyPr>
          <a:lstStyle/>
          <a:p>
            <a:r>
              <a:rPr lang="en-PK" sz="1200" dirty="0">
                <a:solidFill>
                  <a:srgbClr val="C00000"/>
                </a:solidFill>
              </a:rPr>
              <a:t>This block will become stale by the upgraded nodes (majority)</a:t>
            </a:r>
          </a:p>
        </p:txBody>
      </p:sp>
      <p:cxnSp>
        <p:nvCxnSpPr>
          <p:cNvPr id="7" name="Curved Connector 6">
            <a:extLst>
              <a:ext uri="{FF2B5EF4-FFF2-40B4-BE49-F238E27FC236}">
                <a16:creationId xmlns:a16="http://schemas.microsoft.com/office/drawing/2014/main" id="{22885AC9-EFEA-C142-E4EA-40659F5C0653}"/>
              </a:ext>
            </a:extLst>
          </p:cNvPr>
          <p:cNvCxnSpPr>
            <a:cxnSpLocks/>
            <a:stCxn id="6" idx="2"/>
          </p:cNvCxnSpPr>
          <p:nvPr/>
        </p:nvCxnSpPr>
        <p:spPr>
          <a:xfrm rot="5400000">
            <a:off x="8812586" y="4610387"/>
            <a:ext cx="270344" cy="720921"/>
          </a:xfrm>
          <a:prstGeom prst="curvedConnector2">
            <a:avLst/>
          </a:prstGeom>
          <a:ln w="158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76623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Effect transition="in" filter="dissolve">
                                      <p:cBhvr>
                                        <p:cTn id="23" dur="500"/>
                                        <p:tgtEl>
                                          <p:spTgt spid="3">
                                            <p:txEl>
                                              <p:pRg st="3" end="3"/>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9" presetClass="entr" presetSubtype="0" fill="hold"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dissolve">
                                      <p:cBhvr>
                                        <p:cTn id="28" dur="500"/>
                                        <p:tgtEl>
                                          <p:spTgt spid="3">
                                            <p:txEl>
                                              <p:pRg st="4" end="4"/>
                                            </p:txEl>
                                          </p:spTgt>
                                        </p:tgtEl>
                                      </p:cBhvr>
                                    </p:animEffect>
                                  </p:childTnLst>
                                </p:cTn>
                              </p:par>
                              <p:par>
                                <p:cTn id="29" presetID="9" presetClass="entr" presetSubtype="0" fill="hold"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Effect transition="in" filter="dissolve">
                                      <p:cBhvr>
                                        <p:cTn id="31" dur="500"/>
                                        <p:tgtEl>
                                          <p:spTgt spid="3">
                                            <p:txEl>
                                              <p:pRg st="5" end="5"/>
                                            </p:txEl>
                                          </p:spTgt>
                                        </p:tgtEl>
                                      </p:cBhvr>
                                    </p:animEffect>
                                  </p:childTnLst>
                                </p:cTn>
                              </p:par>
                            </p:childTnLst>
                          </p:cTn>
                        </p:par>
                        <p:par>
                          <p:cTn id="32" fill="hold">
                            <p:stCondLst>
                              <p:cond delay="500"/>
                            </p:stCondLst>
                            <p:childTnLst>
                              <p:par>
                                <p:cTn id="33" presetID="1" presetClass="entr" presetSubtype="0" fill="hold" grpId="0" nodeType="afterEffect">
                                  <p:stCondLst>
                                    <p:cond delay="1000"/>
                                  </p:stCondLst>
                                  <p:childTnLst>
                                    <p:set>
                                      <p:cBhvr>
                                        <p:cTn id="34" dur="1" fill="hold">
                                          <p:stCondLst>
                                            <p:cond delay="0"/>
                                          </p:stCondLst>
                                        </p:cTn>
                                        <p:tgtEl>
                                          <p:spTgt spid="6"/>
                                        </p:tgtEl>
                                        <p:attrNameLst>
                                          <p:attrName>style.visibility</p:attrName>
                                        </p:attrNameLst>
                                      </p:cBhvr>
                                      <p:to>
                                        <p:strVal val="visible"/>
                                      </p:to>
                                    </p:set>
                                  </p:childTnLst>
                                </p:cTn>
                              </p:par>
                            </p:childTnLst>
                          </p:cTn>
                        </p:par>
                        <p:par>
                          <p:cTn id="35" fill="hold">
                            <p:stCondLst>
                              <p:cond delay="1500"/>
                            </p:stCondLst>
                            <p:childTnLst>
                              <p:par>
                                <p:cTn id="36" presetID="1" presetClass="entr" presetSubtype="0" fill="hold" nodeType="afterEffect">
                                  <p:stCondLst>
                                    <p:cond delay="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819478-C371-3ECA-061C-FD4C6D0E77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64B1AA8-6171-1531-F5A6-A2B6AEE16818}"/>
              </a:ext>
            </a:extLst>
          </p:cNvPr>
          <p:cNvSpPr>
            <a:spLocks noGrp="1"/>
          </p:cNvSpPr>
          <p:nvPr>
            <p:ph type="title"/>
          </p:nvPr>
        </p:nvSpPr>
        <p:spPr/>
        <p:txBody>
          <a:bodyPr/>
          <a:lstStyle/>
          <a:p>
            <a:r>
              <a:rPr lang="en-PK" dirty="0">
                <a:latin typeface="+mn-lt"/>
              </a:rPr>
              <a:t>Lecture 06</a:t>
            </a:r>
            <a:br>
              <a:rPr lang="en-PK" dirty="0">
                <a:latin typeface="+mn-lt"/>
              </a:rPr>
            </a:br>
            <a:r>
              <a:rPr lang="en-US" dirty="0">
                <a:latin typeface="+mn-lt"/>
              </a:rPr>
              <a:t>Thursday</a:t>
            </a:r>
            <a:r>
              <a:rPr lang="en-PK" dirty="0">
                <a:latin typeface="+mn-lt"/>
              </a:rPr>
              <a:t>, </a:t>
            </a:r>
            <a:r>
              <a:rPr lang="en-US" dirty="0">
                <a:latin typeface="+mn-lt"/>
              </a:rPr>
              <a:t>Feb</a:t>
            </a:r>
            <a:r>
              <a:rPr lang="en-PK" dirty="0">
                <a:latin typeface="+mn-lt"/>
              </a:rPr>
              <a:t> </a:t>
            </a:r>
            <a:r>
              <a:rPr lang="en-US" dirty="0">
                <a:latin typeface="+mn-lt"/>
              </a:rPr>
              <a:t>5</a:t>
            </a:r>
            <a:r>
              <a:rPr lang="en-PK" dirty="0">
                <a:latin typeface="+mn-lt"/>
              </a:rPr>
              <a:t>, 202</a:t>
            </a:r>
            <a:r>
              <a:rPr lang="en-US" dirty="0">
                <a:latin typeface="+mn-lt"/>
              </a:rPr>
              <a:t>6</a:t>
            </a:r>
            <a:endParaRPr lang="en-PK" dirty="0">
              <a:latin typeface="+mn-lt"/>
            </a:endParaRPr>
          </a:p>
        </p:txBody>
      </p:sp>
      <p:sp>
        <p:nvSpPr>
          <p:cNvPr id="4" name="Slide Number Placeholder 3">
            <a:extLst>
              <a:ext uri="{FF2B5EF4-FFF2-40B4-BE49-F238E27FC236}">
                <a16:creationId xmlns:a16="http://schemas.microsoft.com/office/drawing/2014/main" id="{DDF6F8D1-1D4A-83DC-1D4F-C9878F306D5F}"/>
              </a:ext>
            </a:extLst>
          </p:cNvPr>
          <p:cNvSpPr>
            <a:spLocks noGrp="1"/>
          </p:cNvSpPr>
          <p:nvPr>
            <p:ph type="sldNum" sz="quarter" idx="12"/>
          </p:nvPr>
        </p:nvSpPr>
        <p:spPr/>
        <p:txBody>
          <a:bodyPr/>
          <a:lstStyle/>
          <a:p>
            <a:fld id="{D57F1E4F-1CFF-5643-939E-217C01CDF565}" type="slidenum">
              <a:rPr lang="en-US" smtClean="0"/>
              <a:pPr/>
              <a:t>12</a:t>
            </a:fld>
            <a:endParaRPr lang="en-US" dirty="0"/>
          </a:p>
        </p:txBody>
      </p:sp>
    </p:spTree>
    <p:extLst>
      <p:ext uri="{BB962C8B-B14F-4D97-AF65-F5344CB8AC3E}">
        <p14:creationId xmlns:p14="http://schemas.microsoft.com/office/powerpoint/2010/main" val="16042990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85016-34B6-9172-68BA-32909C8834EA}"/>
              </a:ext>
            </a:extLst>
          </p:cNvPr>
          <p:cNvSpPr>
            <a:spLocks noGrp="1"/>
          </p:cNvSpPr>
          <p:nvPr>
            <p:ph type="title"/>
          </p:nvPr>
        </p:nvSpPr>
        <p:spPr/>
        <p:txBody>
          <a:bodyPr/>
          <a:lstStyle/>
          <a:p>
            <a:r>
              <a:rPr lang="en-PK" dirty="0"/>
              <a:t>The 51% Attack</a:t>
            </a:r>
          </a:p>
        </p:txBody>
      </p:sp>
      <p:sp>
        <p:nvSpPr>
          <p:cNvPr id="4" name="Slide Number Placeholder 3">
            <a:extLst>
              <a:ext uri="{FF2B5EF4-FFF2-40B4-BE49-F238E27FC236}">
                <a16:creationId xmlns:a16="http://schemas.microsoft.com/office/drawing/2014/main" id="{1E85860E-5E74-53AE-A57D-645BCECDDFB7}"/>
              </a:ext>
            </a:extLst>
          </p:cNvPr>
          <p:cNvSpPr>
            <a:spLocks noGrp="1"/>
          </p:cNvSpPr>
          <p:nvPr>
            <p:ph type="sldNum" sz="quarter" idx="12"/>
          </p:nvPr>
        </p:nvSpPr>
        <p:spPr/>
        <p:txBody>
          <a:bodyPr/>
          <a:lstStyle/>
          <a:p>
            <a:fld id="{D57F1E4F-1CFF-5643-939E-217C01CDF565}" type="slidenum">
              <a:rPr lang="en-US" smtClean="0"/>
              <a:pPr/>
              <a:t>13</a:t>
            </a:fld>
            <a:endParaRPr lang="en-US" dirty="0"/>
          </a:p>
        </p:txBody>
      </p:sp>
      <p:sp>
        <p:nvSpPr>
          <p:cNvPr id="6" name="Rounded Rectangle 5">
            <a:extLst>
              <a:ext uri="{FF2B5EF4-FFF2-40B4-BE49-F238E27FC236}">
                <a16:creationId xmlns:a16="http://schemas.microsoft.com/office/drawing/2014/main" id="{63BE97E0-12F9-2254-9CAC-4B5F05FEE938}"/>
              </a:ext>
            </a:extLst>
          </p:cNvPr>
          <p:cNvSpPr/>
          <p:nvPr/>
        </p:nvSpPr>
        <p:spPr>
          <a:xfrm>
            <a:off x="3918932" y="1418471"/>
            <a:ext cx="4354135" cy="783193"/>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PK" sz="2000" dirty="0">
                <a:latin typeface="Candara" panose="020E0502030303020204" pitchFamily="34" charset="0"/>
              </a:rPr>
              <a:t>Truthful miners are adding blocks to the public chain by broadcasting them</a:t>
            </a:r>
          </a:p>
        </p:txBody>
      </p:sp>
      <p:sp>
        <p:nvSpPr>
          <p:cNvPr id="7" name="Rounded Rectangle 6">
            <a:extLst>
              <a:ext uri="{FF2B5EF4-FFF2-40B4-BE49-F238E27FC236}">
                <a16:creationId xmlns:a16="http://schemas.microsoft.com/office/drawing/2014/main" id="{0BB8DD74-FFE7-693B-58E9-9D39D6E2B2A4}"/>
              </a:ext>
            </a:extLst>
          </p:cNvPr>
          <p:cNvSpPr/>
          <p:nvPr/>
        </p:nvSpPr>
        <p:spPr>
          <a:xfrm>
            <a:off x="3394633" y="5439529"/>
            <a:ext cx="5405822" cy="783193"/>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PK" sz="2000" dirty="0">
                <a:latin typeface="Candara" panose="020E0502030303020204" pitchFamily="34" charset="0"/>
              </a:rPr>
              <a:t>Malicious miner: adding blocks to </a:t>
            </a:r>
            <a:r>
              <a:rPr lang="en-GB" sz="2000" dirty="0">
                <a:latin typeface="Candara" panose="020E0502030303020204" pitchFamily="34" charset="0"/>
              </a:rPr>
              <a:t>the </a:t>
            </a:r>
            <a:r>
              <a:rPr lang="en-PK" sz="2000" dirty="0">
                <a:latin typeface="Candara" panose="020E0502030303020204" pitchFamily="34" charset="0"/>
              </a:rPr>
              <a:t>private chain but </a:t>
            </a:r>
            <a:r>
              <a:rPr lang="en-PK" sz="2000" b="1" dirty="0">
                <a:latin typeface="Candara" panose="020E0502030303020204" pitchFamily="34" charset="0"/>
              </a:rPr>
              <a:t>not broadcasting </a:t>
            </a:r>
            <a:r>
              <a:rPr lang="en-PK" sz="2000" dirty="0">
                <a:latin typeface="Candara" panose="020E0502030303020204" pitchFamily="34" charset="0"/>
              </a:rPr>
              <a:t>to </a:t>
            </a:r>
            <a:r>
              <a:rPr lang="en-GB" sz="2000" dirty="0">
                <a:latin typeface="Candara" panose="020E0502030303020204" pitchFamily="34" charset="0"/>
              </a:rPr>
              <a:t>the </a:t>
            </a:r>
            <a:r>
              <a:rPr lang="en-PK" sz="2000" dirty="0">
                <a:latin typeface="Candara" panose="020E0502030303020204" pitchFamily="34" charset="0"/>
              </a:rPr>
              <a:t>public chain</a:t>
            </a:r>
          </a:p>
        </p:txBody>
      </p:sp>
      <p:sp>
        <p:nvSpPr>
          <p:cNvPr id="3" name="Rectangle 2">
            <a:extLst>
              <a:ext uri="{FF2B5EF4-FFF2-40B4-BE49-F238E27FC236}">
                <a16:creationId xmlns:a16="http://schemas.microsoft.com/office/drawing/2014/main" id="{DB928F36-41FA-F928-4A80-028AEFC158CB}"/>
              </a:ext>
            </a:extLst>
          </p:cNvPr>
          <p:cNvSpPr>
            <a:spLocks noChangeAspect="1"/>
          </p:cNvSpPr>
          <p:nvPr/>
        </p:nvSpPr>
        <p:spPr>
          <a:xfrm>
            <a:off x="22966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38</a:t>
            </a:r>
          </a:p>
        </p:txBody>
      </p:sp>
      <p:sp>
        <p:nvSpPr>
          <p:cNvPr id="8" name="Right Arrow 7">
            <a:extLst>
              <a:ext uri="{FF2B5EF4-FFF2-40B4-BE49-F238E27FC236}">
                <a16:creationId xmlns:a16="http://schemas.microsoft.com/office/drawing/2014/main" id="{E56BDF20-755F-7308-B8DE-A3F4B00A8584}"/>
              </a:ext>
            </a:extLst>
          </p:cNvPr>
          <p:cNvSpPr>
            <a:spLocks noChangeAspect="1"/>
          </p:cNvSpPr>
          <p:nvPr/>
        </p:nvSpPr>
        <p:spPr>
          <a:xfrm>
            <a:off x="30166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Rectangle 8">
            <a:extLst>
              <a:ext uri="{FF2B5EF4-FFF2-40B4-BE49-F238E27FC236}">
                <a16:creationId xmlns:a16="http://schemas.microsoft.com/office/drawing/2014/main" id="{ED4C70F1-E089-9287-3B8A-35FD0E29AFCD}"/>
              </a:ext>
            </a:extLst>
          </p:cNvPr>
          <p:cNvSpPr>
            <a:spLocks noChangeAspect="1"/>
          </p:cNvSpPr>
          <p:nvPr/>
        </p:nvSpPr>
        <p:spPr>
          <a:xfrm>
            <a:off x="34126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39</a:t>
            </a:r>
          </a:p>
        </p:txBody>
      </p:sp>
      <p:sp>
        <p:nvSpPr>
          <p:cNvPr id="10" name="Right Arrow 9">
            <a:extLst>
              <a:ext uri="{FF2B5EF4-FFF2-40B4-BE49-F238E27FC236}">
                <a16:creationId xmlns:a16="http://schemas.microsoft.com/office/drawing/2014/main" id="{E00F3127-D025-6A9E-98CB-3A17715E543F}"/>
              </a:ext>
            </a:extLst>
          </p:cNvPr>
          <p:cNvSpPr>
            <a:spLocks noChangeAspect="1"/>
          </p:cNvSpPr>
          <p:nvPr/>
        </p:nvSpPr>
        <p:spPr>
          <a:xfrm>
            <a:off x="41326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1" name="Rectangle 10">
            <a:extLst>
              <a:ext uri="{FF2B5EF4-FFF2-40B4-BE49-F238E27FC236}">
                <a16:creationId xmlns:a16="http://schemas.microsoft.com/office/drawing/2014/main" id="{4949AD82-4C0E-6A8B-3AD8-05500C24DD8C}"/>
              </a:ext>
            </a:extLst>
          </p:cNvPr>
          <p:cNvSpPr>
            <a:spLocks noChangeAspect="1"/>
          </p:cNvSpPr>
          <p:nvPr/>
        </p:nvSpPr>
        <p:spPr>
          <a:xfrm>
            <a:off x="45358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40</a:t>
            </a:r>
          </a:p>
        </p:txBody>
      </p:sp>
      <p:sp>
        <p:nvSpPr>
          <p:cNvPr id="12" name="Right Arrow 11">
            <a:extLst>
              <a:ext uri="{FF2B5EF4-FFF2-40B4-BE49-F238E27FC236}">
                <a16:creationId xmlns:a16="http://schemas.microsoft.com/office/drawing/2014/main" id="{07A3B7EC-0A57-4CA6-CF13-C5A6EA34B571}"/>
              </a:ext>
            </a:extLst>
          </p:cNvPr>
          <p:cNvSpPr>
            <a:spLocks noChangeAspect="1"/>
          </p:cNvSpPr>
          <p:nvPr/>
        </p:nvSpPr>
        <p:spPr>
          <a:xfrm>
            <a:off x="52558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3" name="Rectangle 12">
            <a:extLst>
              <a:ext uri="{FF2B5EF4-FFF2-40B4-BE49-F238E27FC236}">
                <a16:creationId xmlns:a16="http://schemas.microsoft.com/office/drawing/2014/main" id="{D47882B8-D7A3-9E12-07D7-5F85550D6730}"/>
              </a:ext>
            </a:extLst>
          </p:cNvPr>
          <p:cNvSpPr>
            <a:spLocks noChangeAspect="1"/>
          </p:cNvSpPr>
          <p:nvPr/>
        </p:nvSpPr>
        <p:spPr>
          <a:xfrm>
            <a:off x="56518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41</a:t>
            </a:r>
          </a:p>
        </p:txBody>
      </p:sp>
      <p:sp>
        <p:nvSpPr>
          <p:cNvPr id="14" name="Right Arrow 13">
            <a:extLst>
              <a:ext uri="{FF2B5EF4-FFF2-40B4-BE49-F238E27FC236}">
                <a16:creationId xmlns:a16="http://schemas.microsoft.com/office/drawing/2014/main" id="{66D532F6-6147-3E74-5049-4B0403ED0D1E}"/>
              </a:ext>
            </a:extLst>
          </p:cNvPr>
          <p:cNvSpPr>
            <a:spLocks noChangeAspect="1"/>
          </p:cNvSpPr>
          <p:nvPr/>
        </p:nvSpPr>
        <p:spPr>
          <a:xfrm>
            <a:off x="63718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5" name="Rectangle 14">
            <a:extLst>
              <a:ext uri="{FF2B5EF4-FFF2-40B4-BE49-F238E27FC236}">
                <a16:creationId xmlns:a16="http://schemas.microsoft.com/office/drawing/2014/main" id="{DA837507-83AC-3AC5-41DB-11C79EA4A898}"/>
              </a:ext>
            </a:extLst>
          </p:cNvPr>
          <p:cNvSpPr>
            <a:spLocks noChangeAspect="1"/>
          </p:cNvSpPr>
          <p:nvPr/>
        </p:nvSpPr>
        <p:spPr>
          <a:xfrm>
            <a:off x="6767833" y="2828259"/>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42</a:t>
            </a:r>
          </a:p>
        </p:txBody>
      </p:sp>
      <p:sp>
        <p:nvSpPr>
          <p:cNvPr id="20" name="Right Arrow 19">
            <a:extLst>
              <a:ext uri="{FF2B5EF4-FFF2-40B4-BE49-F238E27FC236}">
                <a16:creationId xmlns:a16="http://schemas.microsoft.com/office/drawing/2014/main" id="{4323A253-67F9-0A63-B917-3E06083F2B46}"/>
              </a:ext>
            </a:extLst>
          </p:cNvPr>
          <p:cNvSpPr>
            <a:spLocks/>
          </p:cNvSpPr>
          <p:nvPr/>
        </p:nvSpPr>
        <p:spPr>
          <a:xfrm>
            <a:off x="2638633" y="4396177"/>
            <a:ext cx="75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1" name="Rectangle 20">
            <a:extLst>
              <a:ext uri="{FF2B5EF4-FFF2-40B4-BE49-F238E27FC236}">
                <a16:creationId xmlns:a16="http://schemas.microsoft.com/office/drawing/2014/main" id="{36F1BCC6-EA8F-454B-17C7-6FB4B0C41A58}"/>
              </a:ext>
            </a:extLst>
          </p:cNvPr>
          <p:cNvSpPr>
            <a:spLocks noChangeAspect="1"/>
          </p:cNvSpPr>
          <p:nvPr/>
        </p:nvSpPr>
        <p:spPr>
          <a:xfrm>
            <a:off x="34126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39</a:t>
            </a:r>
          </a:p>
        </p:txBody>
      </p:sp>
      <p:sp>
        <p:nvSpPr>
          <p:cNvPr id="22" name="Right Arrow 21">
            <a:extLst>
              <a:ext uri="{FF2B5EF4-FFF2-40B4-BE49-F238E27FC236}">
                <a16:creationId xmlns:a16="http://schemas.microsoft.com/office/drawing/2014/main" id="{39EC7F8E-5CB3-CC45-6A8C-CA5C84A9ADBA}"/>
              </a:ext>
            </a:extLst>
          </p:cNvPr>
          <p:cNvSpPr>
            <a:spLocks noChangeAspect="1"/>
          </p:cNvSpPr>
          <p:nvPr/>
        </p:nvSpPr>
        <p:spPr>
          <a:xfrm>
            <a:off x="41326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3" name="Rectangle 22">
            <a:extLst>
              <a:ext uri="{FF2B5EF4-FFF2-40B4-BE49-F238E27FC236}">
                <a16:creationId xmlns:a16="http://schemas.microsoft.com/office/drawing/2014/main" id="{435D586D-38D9-74BA-C16D-68A0FE066283}"/>
              </a:ext>
            </a:extLst>
          </p:cNvPr>
          <p:cNvSpPr>
            <a:spLocks noChangeAspect="1"/>
          </p:cNvSpPr>
          <p:nvPr/>
        </p:nvSpPr>
        <p:spPr>
          <a:xfrm>
            <a:off x="45358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40</a:t>
            </a:r>
          </a:p>
        </p:txBody>
      </p:sp>
      <p:sp>
        <p:nvSpPr>
          <p:cNvPr id="24" name="Right Arrow 23">
            <a:extLst>
              <a:ext uri="{FF2B5EF4-FFF2-40B4-BE49-F238E27FC236}">
                <a16:creationId xmlns:a16="http://schemas.microsoft.com/office/drawing/2014/main" id="{8AA7FE70-D472-391D-154E-BC0D95572579}"/>
              </a:ext>
            </a:extLst>
          </p:cNvPr>
          <p:cNvSpPr>
            <a:spLocks noChangeAspect="1"/>
          </p:cNvSpPr>
          <p:nvPr/>
        </p:nvSpPr>
        <p:spPr>
          <a:xfrm>
            <a:off x="52558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5" name="Rectangle 24">
            <a:extLst>
              <a:ext uri="{FF2B5EF4-FFF2-40B4-BE49-F238E27FC236}">
                <a16:creationId xmlns:a16="http://schemas.microsoft.com/office/drawing/2014/main" id="{B49C6779-658B-ED81-3D0F-F25CC2261F03}"/>
              </a:ext>
            </a:extLst>
          </p:cNvPr>
          <p:cNvSpPr>
            <a:spLocks noChangeAspect="1"/>
          </p:cNvSpPr>
          <p:nvPr/>
        </p:nvSpPr>
        <p:spPr>
          <a:xfrm>
            <a:off x="56518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41</a:t>
            </a:r>
          </a:p>
        </p:txBody>
      </p:sp>
      <p:sp>
        <p:nvSpPr>
          <p:cNvPr id="30" name="Right Arrow 29">
            <a:extLst>
              <a:ext uri="{FF2B5EF4-FFF2-40B4-BE49-F238E27FC236}">
                <a16:creationId xmlns:a16="http://schemas.microsoft.com/office/drawing/2014/main" id="{EA28CACC-6159-1550-D649-A8CF4B58B89E}"/>
              </a:ext>
            </a:extLst>
          </p:cNvPr>
          <p:cNvSpPr>
            <a:spLocks/>
          </p:cNvSpPr>
          <p:nvPr/>
        </p:nvSpPr>
        <p:spPr>
          <a:xfrm rot="5400000">
            <a:off x="2206632" y="3900186"/>
            <a:ext cx="900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31" name="Picture 30" descr="A red person with black background&#10;&#10;AI-generated content may be incorrect.">
            <a:extLst>
              <a:ext uri="{FF2B5EF4-FFF2-40B4-BE49-F238E27FC236}">
                <a16:creationId xmlns:a16="http://schemas.microsoft.com/office/drawing/2014/main" id="{0DE5B338-2905-8C84-9CC4-A3FE5AC2DA5C}"/>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553367" y="4134252"/>
            <a:ext cx="360000" cy="720000"/>
          </a:xfrm>
          <a:prstGeom prst="rect">
            <a:avLst/>
          </a:prstGeom>
        </p:spPr>
      </p:pic>
      <p:pic>
        <p:nvPicPr>
          <p:cNvPr id="32" name="Picture 31" descr="A red person with black background&#10;&#10;AI-generated content may be incorrect.">
            <a:extLst>
              <a:ext uri="{FF2B5EF4-FFF2-40B4-BE49-F238E27FC236}">
                <a16:creationId xmlns:a16="http://schemas.microsoft.com/office/drawing/2014/main" id="{887E8510-2924-884C-64E4-D1F13A2D85EC}"/>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5">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553367" y="2828260"/>
            <a:ext cx="360000" cy="720000"/>
          </a:xfrm>
          <a:prstGeom prst="rect">
            <a:avLst/>
          </a:prstGeom>
          <a:solidFill>
            <a:schemeClr val="bg1"/>
          </a:solidFill>
        </p:spPr>
      </p:pic>
      <p:pic>
        <p:nvPicPr>
          <p:cNvPr id="33" name="Picture 32" descr="A red person with black background&#10;&#10;AI-generated content may be incorrect.">
            <a:extLst>
              <a:ext uri="{FF2B5EF4-FFF2-40B4-BE49-F238E27FC236}">
                <a16:creationId xmlns:a16="http://schemas.microsoft.com/office/drawing/2014/main" id="{84CD8FE2-DE76-D117-45D1-A7E299BF01BE}"/>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913367" y="2828259"/>
            <a:ext cx="360000" cy="720000"/>
          </a:xfrm>
          <a:prstGeom prst="rect">
            <a:avLst/>
          </a:prstGeom>
          <a:solidFill>
            <a:schemeClr val="bg1"/>
          </a:solidFill>
        </p:spPr>
      </p:pic>
      <p:pic>
        <p:nvPicPr>
          <p:cNvPr id="34" name="Picture 33" descr="A red person with black background&#10;&#10;AI-generated content may be incorrect.">
            <a:extLst>
              <a:ext uri="{FF2B5EF4-FFF2-40B4-BE49-F238E27FC236}">
                <a16:creationId xmlns:a16="http://schemas.microsoft.com/office/drawing/2014/main" id="{FFCFBCAF-7036-C66F-52E9-9EE233F5A440}"/>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7">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193367" y="2828259"/>
            <a:ext cx="360000" cy="720000"/>
          </a:xfrm>
          <a:prstGeom prst="rect">
            <a:avLst/>
          </a:prstGeom>
          <a:solidFill>
            <a:schemeClr val="bg1"/>
          </a:solidFill>
        </p:spPr>
      </p:pic>
      <p:sp>
        <p:nvSpPr>
          <p:cNvPr id="37" name="Rounded Rectangle 36">
            <a:extLst>
              <a:ext uri="{FF2B5EF4-FFF2-40B4-BE49-F238E27FC236}">
                <a16:creationId xmlns:a16="http://schemas.microsoft.com/office/drawing/2014/main" id="{717760EE-9DFC-A816-F6CC-750C0FDCEEE1}"/>
              </a:ext>
            </a:extLst>
          </p:cNvPr>
          <p:cNvSpPr/>
          <p:nvPr/>
        </p:nvSpPr>
        <p:spPr>
          <a:xfrm>
            <a:off x="10530728" y="2828259"/>
            <a:ext cx="1147129" cy="783193"/>
          </a:xfrm>
          <a:prstGeom prst="roundRect">
            <a:avLst/>
          </a:prstGeom>
          <a:noFill/>
          <a:ln>
            <a:no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PK" sz="2000" dirty="0">
                <a:latin typeface="Candara" panose="020E0502030303020204" pitchFamily="34" charset="0"/>
              </a:rPr>
              <a:t>Truthful Miners</a:t>
            </a:r>
          </a:p>
        </p:txBody>
      </p:sp>
      <p:sp>
        <p:nvSpPr>
          <p:cNvPr id="38" name="Rounded Rectangle 37">
            <a:extLst>
              <a:ext uri="{FF2B5EF4-FFF2-40B4-BE49-F238E27FC236}">
                <a16:creationId xmlns:a16="http://schemas.microsoft.com/office/drawing/2014/main" id="{1054AF23-7A85-8618-F133-773AAF43CE25}"/>
              </a:ext>
            </a:extLst>
          </p:cNvPr>
          <p:cNvSpPr/>
          <p:nvPr/>
        </p:nvSpPr>
        <p:spPr>
          <a:xfrm>
            <a:off x="10449028" y="4134252"/>
            <a:ext cx="1310527" cy="783193"/>
          </a:xfrm>
          <a:prstGeom prst="roundRect">
            <a:avLst/>
          </a:prstGeom>
          <a:noFill/>
          <a:ln>
            <a:no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PK" sz="2000" dirty="0">
                <a:latin typeface="Candara" panose="020E0502030303020204" pitchFamily="34" charset="0"/>
              </a:rPr>
              <a:t>Malicious Miner</a:t>
            </a:r>
          </a:p>
        </p:txBody>
      </p:sp>
    </p:spTree>
    <p:extLst>
      <p:ext uri="{BB962C8B-B14F-4D97-AF65-F5344CB8AC3E}">
        <p14:creationId xmlns:p14="http://schemas.microsoft.com/office/powerpoint/2010/main" val="3970738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par>
                                <p:cTn id="8" presetID="9"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dissolve">
                                      <p:cBhvr>
                                        <p:cTn id="10" dur="500"/>
                                        <p:tgtEl>
                                          <p:spTgt spid="3"/>
                                        </p:tgtEl>
                                      </p:cBhvr>
                                    </p:animEffect>
                                  </p:childTnLst>
                                </p:cTn>
                              </p:par>
                            </p:childTnLst>
                          </p:cTn>
                        </p:par>
                        <p:par>
                          <p:cTn id="11" fill="hold">
                            <p:stCondLst>
                              <p:cond delay="500"/>
                            </p:stCondLst>
                            <p:childTnLst>
                              <p:par>
                                <p:cTn id="12" presetID="9" presetClass="entr" presetSubtype="0" fill="hold" grpId="0" nodeType="afterEffect">
                                  <p:stCondLst>
                                    <p:cond delay="0"/>
                                  </p:stCondLst>
                                  <p:childTnLst>
                                    <p:set>
                                      <p:cBhvr>
                                        <p:cTn id="13" dur="1" fill="hold">
                                          <p:stCondLst>
                                            <p:cond delay="0"/>
                                          </p:stCondLst>
                                        </p:cTn>
                                        <p:tgtEl>
                                          <p:spTgt spid="8"/>
                                        </p:tgtEl>
                                        <p:attrNameLst>
                                          <p:attrName>style.visibility</p:attrName>
                                        </p:attrNameLst>
                                      </p:cBhvr>
                                      <p:to>
                                        <p:strVal val="visible"/>
                                      </p:to>
                                    </p:set>
                                    <p:animEffect transition="in" filter="dissolve">
                                      <p:cBhvr>
                                        <p:cTn id="14" dur="500"/>
                                        <p:tgtEl>
                                          <p:spTgt spid="8"/>
                                        </p:tgtEl>
                                      </p:cBhvr>
                                    </p:animEffect>
                                  </p:childTnLst>
                                </p:cTn>
                              </p:par>
                              <p:par>
                                <p:cTn id="15" presetID="9" presetClass="entr" presetSubtype="0" fill="hold" grpId="0" nodeType="with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dissolve">
                                      <p:cBhvr>
                                        <p:cTn id="17" dur="500"/>
                                        <p:tgtEl>
                                          <p:spTgt spid="9"/>
                                        </p:tgtEl>
                                      </p:cBhvr>
                                    </p:animEffect>
                                  </p:childTnLst>
                                </p:cTn>
                              </p:par>
                            </p:childTnLst>
                          </p:cTn>
                        </p:par>
                        <p:par>
                          <p:cTn id="18" fill="hold">
                            <p:stCondLst>
                              <p:cond delay="1000"/>
                            </p:stCondLst>
                            <p:childTnLst>
                              <p:par>
                                <p:cTn id="19" presetID="9" presetClass="entr" presetSubtype="0" fill="hold" grpId="0" nodeType="after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dissolve">
                                      <p:cBhvr>
                                        <p:cTn id="21" dur="500"/>
                                        <p:tgtEl>
                                          <p:spTgt spid="10"/>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500"/>
                                        <p:tgtEl>
                                          <p:spTgt spid="11"/>
                                        </p:tgtEl>
                                      </p:cBhvr>
                                    </p:animEffect>
                                  </p:childTnLst>
                                </p:cTn>
                              </p:par>
                            </p:childTnLst>
                          </p:cTn>
                        </p:par>
                        <p:par>
                          <p:cTn id="25" fill="hold">
                            <p:stCondLst>
                              <p:cond delay="1500"/>
                            </p:stCondLst>
                            <p:childTnLst>
                              <p:par>
                                <p:cTn id="26" presetID="9"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dissolve">
                                      <p:cBhvr>
                                        <p:cTn id="28" dur="500"/>
                                        <p:tgtEl>
                                          <p:spTgt spid="12"/>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dissolve">
                                      <p:cBhvr>
                                        <p:cTn id="31" dur="500"/>
                                        <p:tgtEl>
                                          <p:spTgt spid="13"/>
                                        </p:tgtEl>
                                      </p:cBhvr>
                                    </p:animEffect>
                                  </p:childTnLst>
                                </p:cTn>
                              </p:par>
                            </p:childTnLst>
                          </p:cTn>
                        </p:par>
                        <p:par>
                          <p:cTn id="32" fill="hold">
                            <p:stCondLst>
                              <p:cond delay="2000"/>
                            </p:stCondLst>
                            <p:childTnLst>
                              <p:par>
                                <p:cTn id="33" presetID="9" presetClass="entr" presetSubtype="0" fill="hold" grpId="0" nodeType="after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dissolve">
                                      <p:cBhvr>
                                        <p:cTn id="35" dur="500"/>
                                        <p:tgtEl>
                                          <p:spTgt spid="14"/>
                                        </p:tgtEl>
                                      </p:cBhvr>
                                    </p:animEffect>
                                  </p:childTnLst>
                                </p:cTn>
                              </p:par>
                              <p:par>
                                <p:cTn id="36" presetID="9"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dissolve">
                                      <p:cBhvr>
                                        <p:cTn id="38" dur="500"/>
                                        <p:tgtEl>
                                          <p:spTgt spid="15"/>
                                        </p:tgtEl>
                                      </p:cBhvr>
                                    </p:animEffect>
                                  </p:childTnLst>
                                </p:cTn>
                              </p:par>
                            </p:childTnLst>
                          </p:cTn>
                        </p:par>
                      </p:childTnLst>
                    </p:cTn>
                  </p:par>
                  <p:par>
                    <p:cTn id="39" fill="hold">
                      <p:stCondLst>
                        <p:cond delay="indefinite"/>
                      </p:stCondLst>
                      <p:childTnLst>
                        <p:par>
                          <p:cTn id="40" fill="hold">
                            <p:stCondLst>
                              <p:cond delay="0"/>
                            </p:stCondLst>
                            <p:childTnLst>
                              <p:par>
                                <p:cTn id="41" presetID="5" presetClass="entr" presetSubtype="10" fill="hold" grpId="0" nodeType="clickEffect">
                                  <p:stCondLst>
                                    <p:cond delay="0"/>
                                  </p:stCondLst>
                                  <p:childTnLst>
                                    <p:set>
                                      <p:cBhvr>
                                        <p:cTn id="42" dur="1" fill="hold">
                                          <p:stCondLst>
                                            <p:cond delay="0"/>
                                          </p:stCondLst>
                                        </p:cTn>
                                        <p:tgtEl>
                                          <p:spTgt spid="38"/>
                                        </p:tgtEl>
                                        <p:attrNameLst>
                                          <p:attrName>style.visibility</p:attrName>
                                        </p:attrNameLst>
                                      </p:cBhvr>
                                      <p:to>
                                        <p:strVal val="visible"/>
                                      </p:to>
                                    </p:set>
                                    <p:animEffect transition="in" filter="checkerboard(across)">
                                      <p:cBhvr>
                                        <p:cTn id="43" dur="500"/>
                                        <p:tgtEl>
                                          <p:spTgt spid="38"/>
                                        </p:tgtEl>
                                      </p:cBhvr>
                                    </p:animEffect>
                                  </p:childTnLst>
                                </p:cTn>
                              </p:par>
                              <p:par>
                                <p:cTn id="44" presetID="5" presetClass="entr" presetSubtype="10" fill="hold" nodeType="withEffect">
                                  <p:stCondLst>
                                    <p:cond delay="0"/>
                                  </p:stCondLst>
                                  <p:childTnLst>
                                    <p:set>
                                      <p:cBhvr>
                                        <p:cTn id="45" dur="1" fill="hold">
                                          <p:stCondLst>
                                            <p:cond delay="0"/>
                                          </p:stCondLst>
                                        </p:cTn>
                                        <p:tgtEl>
                                          <p:spTgt spid="31"/>
                                        </p:tgtEl>
                                        <p:attrNameLst>
                                          <p:attrName>style.visibility</p:attrName>
                                        </p:attrNameLst>
                                      </p:cBhvr>
                                      <p:to>
                                        <p:strVal val="visible"/>
                                      </p:to>
                                    </p:set>
                                    <p:animEffect transition="in" filter="checkerboard(across)">
                                      <p:cBhvr>
                                        <p:cTn id="46" dur="500"/>
                                        <p:tgtEl>
                                          <p:spTgt spid="31"/>
                                        </p:tgtEl>
                                      </p:cBhvr>
                                    </p:animEffect>
                                  </p:childTnLst>
                                </p:cTn>
                              </p:par>
                            </p:childTnLst>
                          </p:cTn>
                        </p:par>
                      </p:childTnLst>
                    </p:cTn>
                  </p:par>
                  <p:par>
                    <p:cTn id="47" fill="hold">
                      <p:stCondLst>
                        <p:cond delay="indefinite"/>
                      </p:stCondLst>
                      <p:childTnLst>
                        <p:par>
                          <p:cTn id="48" fill="hold">
                            <p:stCondLst>
                              <p:cond delay="0"/>
                            </p:stCondLst>
                            <p:childTnLst>
                              <p:par>
                                <p:cTn id="49" presetID="3" presetClass="entr" presetSubtype="10" fill="hold" grpId="0" nodeType="clickEffect">
                                  <p:stCondLst>
                                    <p:cond delay="0"/>
                                  </p:stCondLst>
                                  <p:childTnLst>
                                    <p:set>
                                      <p:cBhvr>
                                        <p:cTn id="50" dur="1" fill="hold">
                                          <p:stCondLst>
                                            <p:cond delay="0"/>
                                          </p:stCondLst>
                                        </p:cTn>
                                        <p:tgtEl>
                                          <p:spTgt spid="7"/>
                                        </p:tgtEl>
                                        <p:attrNameLst>
                                          <p:attrName>style.visibility</p:attrName>
                                        </p:attrNameLst>
                                      </p:cBhvr>
                                      <p:to>
                                        <p:strVal val="visible"/>
                                      </p:to>
                                    </p:set>
                                    <p:animEffect transition="in" filter="blinds(horizontal)">
                                      <p:cBhvr>
                                        <p:cTn id="51" dur="500"/>
                                        <p:tgtEl>
                                          <p:spTgt spid="7"/>
                                        </p:tgtEl>
                                      </p:cBhvr>
                                    </p:animEffect>
                                  </p:childTnLst>
                                </p:cTn>
                              </p:par>
                            </p:childTnLst>
                          </p:cTn>
                        </p:par>
                        <p:par>
                          <p:cTn id="52" fill="hold">
                            <p:stCondLst>
                              <p:cond delay="500"/>
                            </p:stCondLst>
                            <p:childTnLst>
                              <p:par>
                                <p:cTn id="53" presetID="5" presetClass="entr" presetSubtype="10" fill="hold" grpId="0" nodeType="afterEffect">
                                  <p:stCondLst>
                                    <p:cond delay="0"/>
                                  </p:stCondLst>
                                  <p:childTnLst>
                                    <p:set>
                                      <p:cBhvr>
                                        <p:cTn id="54" dur="1" fill="hold">
                                          <p:stCondLst>
                                            <p:cond delay="0"/>
                                          </p:stCondLst>
                                        </p:cTn>
                                        <p:tgtEl>
                                          <p:spTgt spid="30"/>
                                        </p:tgtEl>
                                        <p:attrNameLst>
                                          <p:attrName>style.visibility</p:attrName>
                                        </p:attrNameLst>
                                      </p:cBhvr>
                                      <p:to>
                                        <p:strVal val="visible"/>
                                      </p:to>
                                    </p:set>
                                    <p:animEffect transition="in" filter="checkerboard(across)">
                                      <p:cBhvr>
                                        <p:cTn id="55" dur="500"/>
                                        <p:tgtEl>
                                          <p:spTgt spid="30"/>
                                        </p:tgtEl>
                                      </p:cBhvr>
                                    </p:animEffect>
                                  </p:childTnLst>
                                </p:cTn>
                              </p:par>
                            </p:childTnLst>
                          </p:cTn>
                        </p:par>
                        <p:par>
                          <p:cTn id="56" fill="hold">
                            <p:stCondLst>
                              <p:cond delay="1000"/>
                            </p:stCondLst>
                            <p:childTnLst>
                              <p:par>
                                <p:cTn id="57" presetID="5" presetClass="entr" presetSubtype="10" fill="hold" grpId="0" nodeType="after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checkerboard(across)">
                                      <p:cBhvr>
                                        <p:cTn id="59" dur="500"/>
                                        <p:tgtEl>
                                          <p:spTgt spid="20"/>
                                        </p:tgtEl>
                                      </p:cBhvr>
                                    </p:animEffect>
                                  </p:childTnLst>
                                </p:cTn>
                              </p:par>
                              <p:par>
                                <p:cTn id="60" presetID="5" presetClass="entr" presetSubtype="10" fill="hold" grpId="0"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checkerboard(across)">
                                      <p:cBhvr>
                                        <p:cTn id="62" dur="500"/>
                                        <p:tgtEl>
                                          <p:spTgt spid="21"/>
                                        </p:tgtEl>
                                      </p:cBhvr>
                                    </p:animEffect>
                                  </p:childTnLst>
                                </p:cTn>
                              </p:par>
                            </p:childTnLst>
                          </p:cTn>
                        </p:par>
                        <p:par>
                          <p:cTn id="63" fill="hold">
                            <p:stCondLst>
                              <p:cond delay="1500"/>
                            </p:stCondLst>
                            <p:childTnLst>
                              <p:par>
                                <p:cTn id="64" presetID="5" presetClass="entr" presetSubtype="10" fill="hold" grpId="0" nodeType="after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checkerboard(across)">
                                      <p:cBhvr>
                                        <p:cTn id="66" dur="500"/>
                                        <p:tgtEl>
                                          <p:spTgt spid="22"/>
                                        </p:tgtEl>
                                      </p:cBhvr>
                                    </p:animEffect>
                                  </p:childTnLst>
                                </p:cTn>
                              </p:par>
                              <p:par>
                                <p:cTn id="67" presetID="5" presetClass="entr" presetSubtype="10" fill="hold" grpId="0" nodeType="withEffect">
                                  <p:stCondLst>
                                    <p:cond delay="0"/>
                                  </p:stCondLst>
                                  <p:childTnLst>
                                    <p:set>
                                      <p:cBhvr>
                                        <p:cTn id="68" dur="1" fill="hold">
                                          <p:stCondLst>
                                            <p:cond delay="0"/>
                                          </p:stCondLst>
                                        </p:cTn>
                                        <p:tgtEl>
                                          <p:spTgt spid="23"/>
                                        </p:tgtEl>
                                        <p:attrNameLst>
                                          <p:attrName>style.visibility</p:attrName>
                                        </p:attrNameLst>
                                      </p:cBhvr>
                                      <p:to>
                                        <p:strVal val="visible"/>
                                      </p:to>
                                    </p:set>
                                    <p:animEffect transition="in" filter="checkerboard(across)">
                                      <p:cBhvr>
                                        <p:cTn id="69" dur="500"/>
                                        <p:tgtEl>
                                          <p:spTgt spid="23"/>
                                        </p:tgtEl>
                                      </p:cBhvr>
                                    </p:animEffect>
                                  </p:childTnLst>
                                </p:cTn>
                              </p:par>
                            </p:childTnLst>
                          </p:cTn>
                        </p:par>
                        <p:par>
                          <p:cTn id="70" fill="hold">
                            <p:stCondLst>
                              <p:cond delay="2000"/>
                            </p:stCondLst>
                            <p:childTnLst>
                              <p:par>
                                <p:cTn id="71" presetID="5" presetClass="entr" presetSubtype="10" fill="hold" grpId="0" nodeType="after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checkerboard(across)">
                                      <p:cBhvr>
                                        <p:cTn id="73" dur="500"/>
                                        <p:tgtEl>
                                          <p:spTgt spid="24"/>
                                        </p:tgtEl>
                                      </p:cBhvr>
                                    </p:animEffect>
                                  </p:childTnLst>
                                </p:cTn>
                              </p:par>
                              <p:par>
                                <p:cTn id="74" presetID="5" presetClass="entr" presetSubtype="10" fill="hold" grpId="0"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checkerboard(across)">
                                      <p:cBhvr>
                                        <p:cTn id="76"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3" grpId="0" animBg="1"/>
      <p:bldP spid="8" grpId="0" animBg="1"/>
      <p:bldP spid="9" grpId="0" animBg="1"/>
      <p:bldP spid="10" grpId="0" animBg="1"/>
      <p:bldP spid="11" grpId="0" animBg="1"/>
      <p:bldP spid="12" grpId="0" animBg="1"/>
      <p:bldP spid="13" grpId="0" animBg="1"/>
      <p:bldP spid="14" grpId="0" animBg="1"/>
      <p:bldP spid="15" grpId="0" animBg="1"/>
      <p:bldP spid="20" grpId="0" animBg="1"/>
      <p:bldP spid="21" grpId="0" animBg="1"/>
      <p:bldP spid="22" grpId="0" animBg="1"/>
      <p:bldP spid="23" grpId="0" animBg="1"/>
      <p:bldP spid="24" grpId="0" animBg="1"/>
      <p:bldP spid="25" grpId="0" animBg="1"/>
      <p:bldP spid="30" grpId="0" animBg="1"/>
      <p:bldP spid="38"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3E01B-B258-F6C3-A013-1FB2F3A1A9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7CBE31-FE9A-A28C-A0D5-9EF853090D8C}"/>
              </a:ext>
            </a:extLst>
          </p:cNvPr>
          <p:cNvSpPr>
            <a:spLocks noGrp="1"/>
          </p:cNvSpPr>
          <p:nvPr>
            <p:ph type="title"/>
          </p:nvPr>
        </p:nvSpPr>
        <p:spPr/>
        <p:txBody>
          <a:bodyPr/>
          <a:lstStyle/>
          <a:p>
            <a:r>
              <a:rPr lang="en-PK" dirty="0"/>
              <a:t>The 51% Attack</a:t>
            </a:r>
          </a:p>
        </p:txBody>
      </p:sp>
      <p:sp>
        <p:nvSpPr>
          <p:cNvPr id="4" name="Slide Number Placeholder 3">
            <a:extLst>
              <a:ext uri="{FF2B5EF4-FFF2-40B4-BE49-F238E27FC236}">
                <a16:creationId xmlns:a16="http://schemas.microsoft.com/office/drawing/2014/main" id="{CF092E0C-232E-3E91-8AA7-2891110B2A64}"/>
              </a:ext>
            </a:extLst>
          </p:cNvPr>
          <p:cNvSpPr>
            <a:spLocks noGrp="1"/>
          </p:cNvSpPr>
          <p:nvPr>
            <p:ph type="sldNum" sz="quarter" idx="12"/>
          </p:nvPr>
        </p:nvSpPr>
        <p:spPr/>
        <p:txBody>
          <a:bodyPr/>
          <a:lstStyle/>
          <a:p>
            <a:fld id="{D57F1E4F-1CFF-5643-939E-217C01CDF565}" type="slidenum">
              <a:rPr lang="en-US" smtClean="0"/>
              <a:pPr/>
              <a:t>14</a:t>
            </a:fld>
            <a:endParaRPr lang="en-US" dirty="0"/>
          </a:p>
        </p:txBody>
      </p:sp>
      <p:sp>
        <p:nvSpPr>
          <p:cNvPr id="6" name="Rounded Rectangle 5">
            <a:extLst>
              <a:ext uri="{FF2B5EF4-FFF2-40B4-BE49-F238E27FC236}">
                <a16:creationId xmlns:a16="http://schemas.microsoft.com/office/drawing/2014/main" id="{8EB8ABFF-5D6E-1C31-C48C-C19A68FB0EF6}"/>
              </a:ext>
            </a:extLst>
          </p:cNvPr>
          <p:cNvSpPr/>
          <p:nvPr/>
        </p:nvSpPr>
        <p:spPr>
          <a:xfrm>
            <a:off x="3462870" y="1436779"/>
            <a:ext cx="5266257" cy="783193"/>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000" dirty="0">
                <a:latin typeface="Candara" panose="020E0502030303020204" pitchFamily="34" charset="0"/>
              </a:rPr>
              <a:t>Malicious miner: spends BTC (for buying items) and records on the truthful public chain</a:t>
            </a:r>
          </a:p>
        </p:txBody>
      </p:sp>
      <p:sp>
        <p:nvSpPr>
          <p:cNvPr id="7" name="Rounded Rectangle 6">
            <a:extLst>
              <a:ext uri="{FF2B5EF4-FFF2-40B4-BE49-F238E27FC236}">
                <a16:creationId xmlns:a16="http://schemas.microsoft.com/office/drawing/2014/main" id="{2805B45F-EE4F-5C6C-15CA-6121C94D6269}"/>
              </a:ext>
            </a:extLst>
          </p:cNvPr>
          <p:cNvSpPr/>
          <p:nvPr/>
        </p:nvSpPr>
        <p:spPr>
          <a:xfrm>
            <a:off x="3504262" y="5439529"/>
            <a:ext cx="5183474" cy="783193"/>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000" dirty="0">
                <a:latin typeface="Candara" panose="020E0502030303020204" pitchFamily="34" charset="0"/>
              </a:rPr>
              <a:t>Malicious miner: excludes these transactions from his private chain – still owns BTC there!</a:t>
            </a:r>
          </a:p>
        </p:txBody>
      </p:sp>
      <p:sp>
        <p:nvSpPr>
          <p:cNvPr id="3" name="Rectangle 2">
            <a:extLst>
              <a:ext uri="{FF2B5EF4-FFF2-40B4-BE49-F238E27FC236}">
                <a16:creationId xmlns:a16="http://schemas.microsoft.com/office/drawing/2014/main" id="{D409817C-AFFD-C300-8931-3683C169493A}"/>
              </a:ext>
            </a:extLst>
          </p:cNvPr>
          <p:cNvSpPr>
            <a:spLocks noChangeAspect="1"/>
          </p:cNvSpPr>
          <p:nvPr/>
        </p:nvSpPr>
        <p:spPr>
          <a:xfrm>
            <a:off x="22966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38</a:t>
            </a:r>
          </a:p>
        </p:txBody>
      </p:sp>
      <p:sp>
        <p:nvSpPr>
          <p:cNvPr id="8" name="Right Arrow 7">
            <a:extLst>
              <a:ext uri="{FF2B5EF4-FFF2-40B4-BE49-F238E27FC236}">
                <a16:creationId xmlns:a16="http://schemas.microsoft.com/office/drawing/2014/main" id="{7A0F96F8-B8FF-0E1A-8FAE-A5F4478DB8E0}"/>
              </a:ext>
            </a:extLst>
          </p:cNvPr>
          <p:cNvSpPr>
            <a:spLocks noChangeAspect="1"/>
          </p:cNvSpPr>
          <p:nvPr/>
        </p:nvSpPr>
        <p:spPr>
          <a:xfrm>
            <a:off x="30166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Rectangle 8">
            <a:extLst>
              <a:ext uri="{FF2B5EF4-FFF2-40B4-BE49-F238E27FC236}">
                <a16:creationId xmlns:a16="http://schemas.microsoft.com/office/drawing/2014/main" id="{C3A87636-B3BD-76EB-1870-3FBEA1C52EB0}"/>
              </a:ext>
            </a:extLst>
          </p:cNvPr>
          <p:cNvSpPr>
            <a:spLocks noChangeAspect="1"/>
          </p:cNvSpPr>
          <p:nvPr/>
        </p:nvSpPr>
        <p:spPr>
          <a:xfrm>
            <a:off x="34126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39</a:t>
            </a:r>
          </a:p>
        </p:txBody>
      </p:sp>
      <p:sp>
        <p:nvSpPr>
          <p:cNvPr id="10" name="Right Arrow 9">
            <a:extLst>
              <a:ext uri="{FF2B5EF4-FFF2-40B4-BE49-F238E27FC236}">
                <a16:creationId xmlns:a16="http://schemas.microsoft.com/office/drawing/2014/main" id="{C3B91CA2-44CD-D866-4B13-DBA984F903E1}"/>
              </a:ext>
            </a:extLst>
          </p:cNvPr>
          <p:cNvSpPr>
            <a:spLocks noChangeAspect="1"/>
          </p:cNvSpPr>
          <p:nvPr/>
        </p:nvSpPr>
        <p:spPr>
          <a:xfrm>
            <a:off x="41326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1" name="Rectangle 10">
            <a:extLst>
              <a:ext uri="{FF2B5EF4-FFF2-40B4-BE49-F238E27FC236}">
                <a16:creationId xmlns:a16="http://schemas.microsoft.com/office/drawing/2014/main" id="{CC7CAF0C-4BEC-4B80-E4A7-23538B6F8AF8}"/>
              </a:ext>
            </a:extLst>
          </p:cNvPr>
          <p:cNvSpPr>
            <a:spLocks noChangeAspect="1"/>
          </p:cNvSpPr>
          <p:nvPr/>
        </p:nvSpPr>
        <p:spPr>
          <a:xfrm>
            <a:off x="45358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1200" dirty="0"/>
              <a:t>Block 40 </a:t>
            </a:r>
            <a:r>
              <a:rPr lang="en-PK" sz="1200" b="1" dirty="0"/>
              <a:t>-16 BTC</a:t>
            </a:r>
          </a:p>
        </p:txBody>
      </p:sp>
      <p:sp>
        <p:nvSpPr>
          <p:cNvPr id="12" name="Right Arrow 11">
            <a:extLst>
              <a:ext uri="{FF2B5EF4-FFF2-40B4-BE49-F238E27FC236}">
                <a16:creationId xmlns:a16="http://schemas.microsoft.com/office/drawing/2014/main" id="{BD913EEC-00A0-BCA2-05E1-3EEF27D5505E}"/>
              </a:ext>
            </a:extLst>
          </p:cNvPr>
          <p:cNvSpPr>
            <a:spLocks noChangeAspect="1"/>
          </p:cNvSpPr>
          <p:nvPr/>
        </p:nvSpPr>
        <p:spPr>
          <a:xfrm>
            <a:off x="52558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3" name="Rectangle 12">
            <a:extLst>
              <a:ext uri="{FF2B5EF4-FFF2-40B4-BE49-F238E27FC236}">
                <a16:creationId xmlns:a16="http://schemas.microsoft.com/office/drawing/2014/main" id="{0BB734AD-79D6-F991-E600-E454509F29FA}"/>
              </a:ext>
            </a:extLst>
          </p:cNvPr>
          <p:cNvSpPr>
            <a:spLocks noChangeAspect="1"/>
          </p:cNvSpPr>
          <p:nvPr/>
        </p:nvSpPr>
        <p:spPr>
          <a:xfrm>
            <a:off x="56518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41</a:t>
            </a:r>
          </a:p>
        </p:txBody>
      </p:sp>
      <p:sp>
        <p:nvSpPr>
          <p:cNvPr id="14" name="Right Arrow 13">
            <a:extLst>
              <a:ext uri="{FF2B5EF4-FFF2-40B4-BE49-F238E27FC236}">
                <a16:creationId xmlns:a16="http://schemas.microsoft.com/office/drawing/2014/main" id="{689454C4-0EAD-FA17-90CF-18B9313A2AA1}"/>
              </a:ext>
            </a:extLst>
          </p:cNvPr>
          <p:cNvSpPr>
            <a:spLocks noChangeAspect="1"/>
          </p:cNvSpPr>
          <p:nvPr/>
        </p:nvSpPr>
        <p:spPr>
          <a:xfrm>
            <a:off x="63718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5" name="Rectangle 14">
            <a:extLst>
              <a:ext uri="{FF2B5EF4-FFF2-40B4-BE49-F238E27FC236}">
                <a16:creationId xmlns:a16="http://schemas.microsoft.com/office/drawing/2014/main" id="{BD080024-A632-263F-3266-3C7C875719A8}"/>
              </a:ext>
            </a:extLst>
          </p:cNvPr>
          <p:cNvSpPr>
            <a:spLocks noChangeAspect="1"/>
          </p:cNvSpPr>
          <p:nvPr/>
        </p:nvSpPr>
        <p:spPr>
          <a:xfrm>
            <a:off x="6768000"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42</a:t>
            </a:r>
          </a:p>
        </p:txBody>
      </p:sp>
      <p:sp>
        <p:nvSpPr>
          <p:cNvPr id="20" name="Right Arrow 19">
            <a:extLst>
              <a:ext uri="{FF2B5EF4-FFF2-40B4-BE49-F238E27FC236}">
                <a16:creationId xmlns:a16="http://schemas.microsoft.com/office/drawing/2014/main" id="{58BA9882-2ED3-B1F3-41F4-875CCECB1E6D}"/>
              </a:ext>
            </a:extLst>
          </p:cNvPr>
          <p:cNvSpPr>
            <a:spLocks/>
          </p:cNvSpPr>
          <p:nvPr/>
        </p:nvSpPr>
        <p:spPr>
          <a:xfrm>
            <a:off x="2638633" y="4396177"/>
            <a:ext cx="75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1" name="Rectangle 20">
            <a:extLst>
              <a:ext uri="{FF2B5EF4-FFF2-40B4-BE49-F238E27FC236}">
                <a16:creationId xmlns:a16="http://schemas.microsoft.com/office/drawing/2014/main" id="{2D929C93-1C9C-33FC-7016-CA1981314E3F}"/>
              </a:ext>
            </a:extLst>
          </p:cNvPr>
          <p:cNvSpPr>
            <a:spLocks noChangeAspect="1"/>
          </p:cNvSpPr>
          <p:nvPr/>
        </p:nvSpPr>
        <p:spPr>
          <a:xfrm>
            <a:off x="34126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39</a:t>
            </a:r>
          </a:p>
        </p:txBody>
      </p:sp>
      <p:sp>
        <p:nvSpPr>
          <p:cNvPr id="22" name="Right Arrow 21">
            <a:extLst>
              <a:ext uri="{FF2B5EF4-FFF2-40B4-BE49-F238E27FC236}">
                <a16:creationId xmlns:a16="http://schemas.microsoft.com/office/drawing/2014/main" id="{B8DCA3D7-68B2-589F-C81D-A12A95F7A0D0}"/>
              </a:ext>
            </a:extLst>
          </p:cNvPr>
          <p:cNvSpPr>
            <a:spLocks noChangeAspect="1"/>
          </p:cNvSpPr>
          <p:nvPr/>
        </p:nvSpPr>
        <p:spPr>
          <a:xfrm>
            <a:off x="41326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3" name="Rectangle 22">
            <a:extLst>
              <a:ext uri="{FF2B5EF4-FFF2-40B4-BE49-F238E27FC236}">
                <a16:creationId xmlns:a16="http://schemas.microsoft.com/office/drawing/2014/main" id="{021F36B6-69D7-8243-55B8-F1C3459F1422}"/>
              </a:ext>
            </a:extLst>
          </p:cNvPr>
          <p:cNvSpPr>
            <a:spLocks noChangeAspect="1"/>
          </p:cNvSpPr>
          <p:nvPr/>
        </p:nvSpPr>
        <p:spPr>
          <a:xfrm>
            <a:off x="45358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sz="1200" dirty="0"/>
              <a:t>Block 40</a:t>
            </a:r>
          </a:p>
        </p:txBody>
      </p:sp>
      <p:sp>
        <p:nvSpPr>
          <p:cNvPr id="24" name="Right Arrow 23">
            <a:extLst>
              <a:ext uri="{FF2B5EF4-FFF2-40B4-BE49-F238E27FC236}">
                <a16:creationId xmlns:a16="http://schemas.microsoft.com/office/drawing/2014/main" id="{89D40421-61C9-383C-798D-4E74271BCC9E}"/>
              </a:ext>
            </a:extLst>
          </p:cNvPr>
          <p:cNvSpPr>
            <a:spLocks noChangeAspect="1"/>
          </p:cNvSpPr>
          <p:nvPr/>
        </p:nvSpPr>
        <p:spPr>
          <a:xfrm>
            <a:off x="52558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5" name="Rectangle 24">
            <a:extLst>
              <a:ext uri="{FF2B5EF4-FFF2-40B4-BE49-F238E27FC236}">
                <a16:creationId xmlns:a16="http://schemas.microsoft.com/office/drawing/2014/main" id="{BBDB5B10-E3D9-136E-6744-0E2A7EA53929}"/>
              </a:ext>
            </a:extLst>
          </p:cNvPr>
          <p:cNvSpPr>
            <a:spLocks noChangeAspect="1"/>
          </p:cNvSpPr>
          <p:nvPr/>
        </p:nvSpPr>
        <p:spPr>
          <a:xfrm>
            <a:off x="56518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41</a:t>
            </a:r>
          </a:p>
        </p:txBody>
      </p:sp>
      <p:sp>
        <p:nvSpPr>
          <p:cNvPr id="30" name="Right Arrow 29">
            <a:extLst>
              <a:ext uri="{FF2B5EF4-FFF2-40B4-BE49-F238E27FC236}">
                <a16:creationId xmlns:a16="http://schemas.microsoft.com/office/drawing/2014/main" id="{9DE4AAE7-6794-ED87-A209-EF22F950EC9D}"/>
              </a:ext>
            </a:extLst>
          </p:cNvPr>
          <p:cNvSpPr>
            <a:spLocks/>
          </p:cNvSpPr>
          <p:nvPr/>
        </p:nvSpPr>
        <p:spPr>
          <a:xfrm rot="5400000">
            <a:off x="2206632" y="3900186"/>
            <a:ext cx="900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31" name="Picture 30" descr="A red person with black background&#10;&#10;AI-generated content may be incorrect.">
            <a:extLst>
              <a:ext uri="{FF2B5EF4-FFF2-40B4-BE49-F238E27FC236}">
                <a16:creationId xmlns:a16="http://schemas.microsoft.com/office/drawing/2014/main" id="{40A19E18-677D-9B3E-8717-4A3564B895DC}"/>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553367" y="4134252"/>
            <a:ext cx="360000" cy="720000"/>
          </a:xfrm>
          <a:prstGeom prst="rect">
            <a:avLst/>
          </a:prstGeom>
        </p:spPr>
      </p:pic>
      <p:pic>
        <p:nvPicPr>
          <p:cNvPr id="5" name="Picture 4" descr="A red person with black background&#10;&#10;AI-generated content may be incorrect.">
            <a:extLst>
              <a:ext uri="{FF2B5EF4-FFF2-40B4-BE49-F238E27FC236}">
                <a16:creationId xmlns:a16="http://schemas.microsoft.com/office/drawing/2014/main" id="{F9DBF60D-F2E3-4A87-3746-F7B570932E3E}"/>
              </a:ext>
            </a:extLst>
          </p:cNvPr>
          <p:cNvPicPr>
            <a:picLocks noChangeAspect="1"/>
          </p:cNvPicPr>
          <p:nvPr/>
        </p:nvPicPr>
        <p:blipFill>
          <a:blip r:embed="rId2">
            <a:extLst>
              <a:ext uri="{BEBA8EAE-BF5A-486C-A8C5-ECC9F3942E4B}">
                <a14:imgProps xmlns:a14="http://schemas.microsoft.com/office/drawing/2010/main">
                  <a14:imgLayer r:embed="rId5">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553367" y="2828259"/>
            <a:ext cx="360000" cy="720000"/>
          </a:xfrm>
          <a:prstGeom prst="rect">
            <a:avLst/>
          </a:prstGeom>
        </p:spPr>
      </p:pic>
      <p:pic>
        <p:nvPicPr>
          <p:cNvPr id="18" name="Picture 17" descr="A red person with black background&#10;&#10;AI-generated content may be incorrect.">
            <a:extLst>
              <a:ext uri="{FF2B5EF4-FFF2-40B4-BE49-F238E27FC236}">
                <a16:creationId xmlns:a16="http://schemas.microsoft.com/office/drawing/2014/main" id="{92794235-063C-1A31-9DED-F22EC6E680E4}"/>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5">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10273367" y="2828260"/>
            <a:ext cx="360000" cy="720000"/>
          </a:xfrm>
          <a:prstGeom prst="rect">
            <a:avLst/>
          </a:prstGeom>
          <a:solidFill>
            <a:schemeClr val="bg1"/>
          </a:solidFill>
        </p:spPr>
      </p:pic>
      <p:pic>
        <p:nvPicPr>
          <p:cNvPr id="19" name="Picture 18" descr="A red person with black background&#10;&#10;AI-generated content may be incorrect.">
            <a:extLst>
              <a:ext uri="{FF2B5EF4-FFF2-40B4-BE49-F238E27FC236}">
                <a16:creationId xmlns:a16="http://schemas.microsoft.com/office/drawing/2014/main" id="{ABAF05EE-AA8C-0606-A99E-9AA8A0F3F224}"/>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10633367" y="2828259"/>
            <a:ext cx="360000" cy="720000"/>
          </a:xfrm>
          <a:prstGeom prst="rect">
            <a:avLst/>
          </a:prstGeom>
          <a:solidFill>
            <a:schemeClr val="bg1"/>
          </a:solidFill>
        </p:spPr>
      </p:pic>
      <p:pic>
        <p:nvPicPr>
          <p:cNvPr id="28" name="Picture 27" descr="A red person with black background&#10;&#10;AI-generated content may be incorrect.">
            <a:extLst>
              <a:ext uri="{FF2B5EF4-FFF2-40B4-BE49-F238E27FC236}">
                <a16:creationId xmlns:a16="http://schemas.microsoft.com/office/drawing/2014/main" id="{A2AC3965-EA90-5F9D-9857-9FCDA6970EF1}"/>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7">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913367" y="2828259"/>
            <a:ext cx="360000" cy="720000"/>
          </a:xfrm>
          <a:prstGeom prst="rect">
            <a:avLst/>
          </a:prstGeom>
          <a:solidFill>
            <a:schemeClr val="bg1"/>
          </a:solidFill>
        </p:spPr>
      </p:pic>
    </p:spTree>
    <p:extLst>
      <p:ext uri="{BB962C8B-B14F-4D97-AF65-F5344CB8AC3E}">
        <p14:creationId xmlns:p14="http://schemas.microsoft.com/office/powerpoint/2010/main" val="3563954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dissolve">
                                      <p:cBhvr>
                                        <p:cTn id="12" dur="500"/>
                                        <p:tgtEl>
                                          <p:spTgt spid="11"/>
                                        </p:tgtEl>
                                      </p:cBhvr>
                                    </p:animEffect>
                                  </p:childTnLst>
                                </p:cTn>
                              </p:par>
                            </p:childTnLst>
                          </p:cTn>
                        </p:par>
                        <p:par>
                          <p:cTn id="13" fill="hold">
                            <p:stCondLst>
                              <p:cond delay="500"/>
                            </p:stCondLst>
                            <p:childTnLst>
                              <p:par>
                                <p:cTn id="14" presetID="1" presetClass="entr" presetSubtype="0" fill="hold" nodeType="afterEffect">
                                  <p:stCondLst>
                                    <p:cond delay="0"/>
                                  </p:stCondLst>
                                  <p:childTnLst>
                                    <p:set>
                                      <p:cBhvr>
                                        <p:cTn id="15" dur="1" fill="hold">
                                          <p:stCondLst>
                                            <p:cond delay="0"/>
                                          </p:stCondLst>
                                        </p:cTn>
                                        <p:tgtEl>
                                          <p:spTgt spid="18"/>
                                        </p:tgtEl>
                                        <p:attrNameLst>
                                          <p:attrName>style.visibility</p:attrName>
                                        </p:attrNameLst>
                                      </p:cBhvr>
                                      <p:to>
                                        <p:strVal val="visible"/>
                                      </p:to>
                                    </p:set>
                                  </p:childTnLst>
                                </p:cTn>
                              </p:par>
                            </p:childTnLst>
                          </p:cTn>
                        </p:par>
                        <p:par>
                          <p:cTn id="16" fill="hold">
                            <p:stCondLst>
                              <p:cond delay="500"/>
                            </p:stCondLst>
                            <p:childTnLst>
                              <p:par>
                                <p:cTn id="17" presetID="1" presetClass="entr" presetSubtype="0" fill="hold" nodeType="afterEffect">
                                  <p:stCondLst>
                                    <p:cond delay="0"/>
                                  </p:stCondLst>
                                  <p:childTnLst>
                                    <p:set>
                                      <p:cBhvr>
                                        <p:cTn id="18" dur="1" fill="hold">
                                          <p:stCondLst>
                                            <p:cond delay="0"/>
                                          </p:stCondLst>
                                        </p:cTn>
                                        <p:tgtEl>
                                          <p:spTgt spid="19"/>
                                        </p:tgtEl>
                                        <p:attrNameLst>
                                          <p:attrName>style.visibility</p:attrName>
                                        </p:attrNameLst>
                                      </p:cBhvr>
                                      <p:to>
                                        <p:strVal val="visible"/>
                                      </p:to>
                                    </p:set>
                                  </p:childTnLst>
                                </p:cTn>
                              </p:par>
                            </p:childTnLst>
                          </p:cTn>
                        </p:par>
                        <p:par>
                          <p:cTn id="19" fill="hold">
                            <p:stCondLst>
                              <p:cond delay="500"/>
                            </p:stCondLst>
                            <p:childTnLst>
                              <p:par>
                                <p:cTn id="20" presetID="1" presetClass="entr" presetSubtype="0" fill="hold" nodeType="afterEffect">
                                  <p:stCondLst>
                                    <p:cond delay="0"/>
                                  </p:stCondLst>
                                  <p:childTnLst>
                                    <p:set>
                                      <p:cBhvr>
                                        <p:cTn id="21" dur="1" fill="hold">
                                          <p:stCondLst>
                                            <p:cond delay="0"/>
                                          </p:stCondLst>
                                        </p:cTn>
                                        <p:tgtEl>
                                          <p:spTgt spid="28"/>
                                        </p:tgtEl>
                                        <p:attrNameLst>
                                          <p:attrName>style.visibility</p:attrName>
                                        </p:attrNameLst>
                                      </p:cBhvr>
                                      <p:to>
                                        <p:strVal val="visible"/>
                                      </p:to>
                                    </p:set>
                                  </p:childTnLst>
                                </p:cTn>
                              </p:par>
                            </p:childTnLst>
                          </p:cTn>
                        </p:par>
                        <p:par>
                          <p:cTn id="22" fill="hold">
                            <p:stCondLst>
                              <p:cond delay="500"/>
                            </p:stCondLst>
                            <p:childTnLst>
                              <p:par>
                                <p:cTn id="23" presetID="9" presetClass="entr" presetSubtype="0" fill="hold" grpId="0" nodeType="afterEffect">
                                  <p:stCondLst>
                                    <p:cond delay="0"/>
                                  </p:stCondLst>
                                  <p:childTnLst>
                                    <p:set>
                                      <p:cBhvr>
                                        <p:cTn id="24" dur="1" fill="hold">
                                          <p:stCondLst>
                                            <p:cond delay="0"/>
                                          </p:stCondLst>
                                        </p:cTn>
                                        <p:tgtEl>
                                          <p:spTgt spid="12"/>
                                        </p:tgtEl>
                                        <p:attrNameLst>
                                          <p:attrName>style.visibility</p:attrName>
                                        </p:attrNameLst>
                                      </p:cBhvr>
                                      <p:to>
                                        <p:strVal val="visible"/>
                                      </p:to>
                                    </p:set>
                                    <p:animEffect transition="in" filter="dissolve">
                                      <p:cBhvr>
                                        <p:cTn id="25" dur="500"/>
                                        <p:tgtEl>
                                          <p:spTgt spid="12"/>
                                        </p:tgtEl>
                                      </p:cBhvr>
                                    </p:animEffect>
                                  </p:childTnLst>
                                </p:cTn>
                              </p:par>
                            </p:childTnLst>
                          </p:cTn>
                        </p:par>
                        <p:par>
                          <p:cTn id="26" fill="hold">
                            <p:stCondLst>
                              <p:cond delay="1000"/>
                            </p:stCondLst>
                            <p:childTnLst>
                              <p:par>
                                <p:cTn id="27" presetID="9" presetClass="entr" presetSubtype="0" fill="hold" grpId="0" nodeType="after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dissolve">
                                      <p:cBhvr>
                                        <p:cTn id="29" dur="500"/>
                                        <p:tgtEl>
                                          <p:spTgt spid="13"/>
                                        </p:tgtEl>
                                      </p:cBhvr>
                                    </p:animEffect>
                                  </p:childTnLst>
                                </p:cTn>
                              </p:par>
                            </p:childTnLst>
                          </p:cTn>
                        </p:par>
                        <p:par>
                          <p:cTn id="30" fill="hold">
                            <p:stCondLst>
                              <p:cond delay="1500"/>
                            </p:stCondLst>
                            <p:childTnLst>
                              <p:par>
                                <p:cTn id="31" presetID="9" presetClass="entr" presetSubtype="0" fill="hold" grpId="0" nodeType="after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dissolve">
                                      <p:cBhvr>
                                        <p:cTn id="33" dur="500"/>
                                        <p:tgtEl>
                                          <p:spTgt spid="14"/>
                                        </p:tgtEl>
                                      </p:cBhvr>
                                    </p:animEffect>
                                  </p:childTnLst>
                                </p:cTn>
                              </p:par>
                            </p:childTnLst>
                          </p:cTn>
                        </p:par>
                        <p:par>
                          <p:cTn id="34" fill="hold">
                            <p:stCondLst>
                              <p:cond delay="2000"/>
                            </p:stCondLst>
                            <p:childTnLst>
                              <p:par>
                                <p:cTn id="35" presetID="9" presetClass="entr" presetSubtype="0"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dissolve">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
                                        </p:tgtEl>
                                        <p:attrNameLst>
                                          <p:attrName>style.visibility</p:attrName>
                                        </p:attrNameLst>
                                      </p:cBhvr>
                                      <p:to>
                                        <p:strVal val="visible"/>
                                      </p:to>
                                    </p:set>
                                    <p:animEffect transition="in" filter="blinds(horizontal)">
                                      <p:cBhvr>
                                        <p:cTn id="42" dur="500"/>
                                        <p:tgtEl>
                                          <p:spTgt spid="7"/>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23"/>
                                        </p:tgtEl>
                                        <p:attrNameLst>
                                          <p:attrName>style.visibility</p:attrName>
                                        </p:attrNameLst>
                                      </p:cBhvr>
                                      <p:to>
                                        <p:strVal val="visible"/>
                                      </p:to>
                                    </p:set>
                                    <p:animEffect transition="in" filter="dissolve">
                                      <p:cBhvr>
                                        <p:cTn id="47" dur="500"/>
                                        <p:tgtEl>
                                          <p:spTgt spid="23"/>
                                        </p:tgtEl>
                                      </p:cBhvr>
                                    </p:animEffect>
                                  </p:childTnLst>
                                </p:cTn>
                              </p:par>
                            </p:childTnLst>
                          </p:cTn>
                        </p:par>
                        <p:par>
                          <p:cTn id="48" fill="hold">
                            <p:stCondLst>
                              <p:cond delay="500"/>
                            </p:stCondLst>
                            <p:childTnLst>
                              <p:par>
                                <p:cTn id="49" presetID="9" presetClass="entr" presetSubtype="0" fill="hold" grpId="0" nodeType="after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dissolve">
                                      <p:cBhvr>
                                        <p:cTn id="51" dur="500"/>
                                        <p:tgtEl>
                                          <p:spTgt spid="24"/>
                                        </p:tgtEl>
                                      </p:cBhvr>
                                    </p:animEffect>
                                  </p:childTnLst>
                                </p:cTn>
                              </p:par>
                            </p:childTnLst>
                          </p:cTn>
                        </p:par>
                        <p:par>
                          <p:cTn id="52" fill="hold">
                            <p:stCondLst>
                              <p:cond delay="1000"/>
                            </p:stCondLst>
                            <p:childTnLst>
                              <p:par>
                                <p:cTn id="53" presetID="9" presetClass="entr" presetSubtype="0"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dissolve">
                                      <p:cBhvr>
                                        <p:cTn id="5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1" grpId="0" animBg="1"/>
      <p:bldP spid="12" grpId="0" animBg="1"/>
      <p:bldP spid="13" grpId="0" animBg="1"/>
      <p:bldP spid="14" grpId="0" animBg="1"/>
      <p:bldP spid="15" grpId="0" animBg="1"/>
      <p:bldP spid="23" grpId="0" animBg="1"/>
      <p:bldP spid="24" grpId="0" animBg="1"/>
      <p:bldP spid="25"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320C9E-A06A-05F7-87D8-1CA25B4C35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BE798F-D12F-3C14-7A88-5547683E4991}"/>
              </a:ext>
            </a:extLst>
          </p:cNvPr>
          <p:cNvSpPr>
            <a:spLocks noGrp="1"/>
          </p:cNvSpPr>
          <p:nvPr>
            <p:ph type="title"/>
          </p:nvPr>
        </p:nvSpPr>
        <p:spPr/>
        <p:txBody>
          <a:bodyPr/>
          <a:lstStyle/>
          <a:p>
            <a:r>
              <a:rPr lang="en-PK" dirty="0"/>
              <a:t>The 51% Attack</a:t>
            </a:r>
          </a:p>
        </p:txBody>
      </p:sp>
      <p:sp>
        <p:nvSpPr>
          <p:cNvPr id="4" name="Slide Number Placeholder 3">
            <a:extLst>
              <a:ext uri="{FF2B5EF4-FFF2-40B4-BE49-F238E27FC236}">
                <a16:creationId xmlns:a16="http://schemas.microsoft.com/office/drawing/2014/main" id="{0C91BBEE-DF55-510B-0F82-78D74F1C3C81}"/>
              </a:ext>
            </a:extLst>
          </p:cNvPr>
          <p:cNvSpPr>
            <a:spLocks noGrp="1"/>
          </p:cNvSpPr>
          <p:nvPr>
            <p:ph type="sldNum" sz="quarter" idx="12"/>
          </p:nvPr>
        </p:nvSpPr>
        <p:spPr/>
        <p:txBody>
          <a:bodyPr/>
          <a:lstStyle/>
          <a:p>
            <a:fld id="{D57F1E4F-1CFF-5643-939E-217C01CDF565}" type="slidenum">
              <a:rPr lang="en-US" smtClean="0"/>
              <a:pPr/>
              <a:t>15</a:t>
            </a:fld>
            <a:endParaRPr lang="en-US" dirty="0"/>
          </a:p>
        </p:txBody>
      </p:sp>
      <p:sp>
        <p:nvSpPr>
          <p:cNvPr id="6" name="Rounded Rectangle 5">
            <a:extLst>
              <a:ext uri="{FF2B5EF4-FFF2-40B4-BE49-F238E27FC236}">
                <a16:creationId xmlns:a16="http://schemas.microsoft.com/office/drawing/2014/main" id="{F6F47DCF-1C4E-46C3-1509-B9B60E8E815E}"/>
              </a:ext>
            </a:extLst>
          </p:cNvPr>
          <p:cNvSpPr/>
          <p:nvPr/>
        </p:nvSpPr>
        <p:spPr>
          <a:xfrm>
            <a:off x="3711596" y="1418470"/>
            <a:ext cx="4768805" cy="783193"/>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000" b="1" dirty="0">
                <a:solidFill>
                  <a:srgbClr val="308D3E"/>
                </a:solidFill>
                <a:latin typeface="Candara" panose="020E0502030303020204" pitchFamily="34" charset="0"/>
              </a:rPr>
              <a:t>Truthful miners: </a:t>
            </a:r>
            <a:r>
              <a:rPr lang="en-GB" sz="2000" dirty="0">
                <a:latin typeface="Candara" panose="020E0502030303020204" pitchFamily="34" charset="0"/>
              </a:rPr>
              <a:t>adding the blocks to the public truthful chain at their own rate</a:t>
            </a:r>
          </a:p>
        </p:txBody>
      </p:sp>
      <p:sp>
        <p:nvSpPr>
          <p:cNvPr id="7" name="Rounded Rectangle 6">
            <a:extLst>
              <a:ext uri="{FF2B5EF4-FFF2-40B4-BE49-F238E27FC236}">
                <a16:creationId xmlns:a16="http://schemas.microsoft.com/office/drawing/2014/main" id="{373F8555-7ED2-5EB8-CF11-783238A024A8}"/>
              </a:ext>
            </a:extLst>
          </p:cNvPr>
          <p:cNvSpPr/>
          <p:nvPr/>
        </p:nvSpPr>
        <p:spPr>
          <a:xfrm>
            <a:off x="3504262" y="5439529"/>
            <a:ext cx="5183474" cy="783193"/>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000" b="1" dirty="0">
                <a:solidFill>
                  <a:srgbClr val="C00000"/>
                </a:solidFill>
                <a:latin typeface="Candara" panose="020E0502030303020204" pitchFamily="34" charset="0"/>
              </a:rPr>
              <a:t>Malicious miner: </a:t>
            </a:r>
            <a:r>
              <a:rPr lang="en-GB" sz="2000" dirty="0">
                <a:latin typeface="Candara" panose="020E0502030303020204" pitchFamily="34" charset="0"/>
              </a:rPr>
              <a:t>adding blocks to the private chain </a:t>
            </a:r>
            <a:r>
              <a:rPr lang="en-GB" sz="2000" b="1" dirty="0">
                <a:solidFill>
                  <a:srgbClr val="C00000"/>
                </a:solidFill>
                <a:latin typeface="Candara" panose="020E0502030303020204" pitchFamily="34" charset="0"/>
              </a:rPr>
              <a:t>faster</a:t>
            </a:r>
            <a:r>
              <a:rPr lang="en-GB" sz="2000" dirty="0">
                <a:latin typeface="Candara" panose="020E0502030303020204" pitchFamily="34" charset="0"/>
              </a:rPr>
              <a:t> owing to higher compute power</a:t>
            </a:r>
          </a:p>
        </p:txBody>
      </p:sp>
      <p:sp>
        <p:nvSpPr>
          <p:cNvPr id="3" name="Rectangle 2">
            <a:extLst>
              <a:ext uri="{FF2B5EF4-FFF2-40B4-BE49-F238E27FC236}">
                <a16:creationId xmlns:a16="http://schemas.microsoft.com/office/drawing/2014/main" id="{75914CC5-4FF8-22C2-6EC9-3F6F2A450ADD}"/>
              </a:ext>
            </a:extLst>
          </p:cNvPr>
          <p:cNvSpPr>
            <a:spLocks noChangeAspect="1"/>
          </p:cNvSpPr>
          <p:nvPr/>
        </p:nvSpPr>
        <p:spPr>
          <a:xfrm>
            <a:off x="22966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38</a:t>
            </a:r>
          </a:p>
        </p:txBody>
      </p:sp>
      <p:sp>
        <p:nvSpPr>
          <p:cNvPr id="8" name="Right Arrow 7">
            <a:extLst>
              <a:ext uri="{FF2B5EF4-FFF2-40B4-BE49-F238E27FC236}">
                <a16:creationId xmlns:a16="http://schemas.microsoft.com/office/drawing/2014/main" id="{7E9E9264-107F-32A2-BE9C-4AB6EDC54677}"/>
              </a:ext>
            </a:extLst>
          </p:cNvPr>
          <p:cNvSpPr>
            <a:spLocks noChangeAspect="1"/>
          </p:cNvSpPr>
          <p:nvPr/>
        </p:nvSpPr>
        <p:spPr>
          <a:xfrm>
            <a:off x="30166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Rectangle 8">
            <a:extLst>
              <a:ext uri="{FF2B5EF4-FFF2-40B4-BE49-F238E27FC236}">
                <a16:creationId xmlns:a16="http://schemas.microsoft.com/office/drawing/2014/main" id="{97696F4A-12B1-D51B-A256-376CE755615D}"/>
              </a:ext>
            </a:extLst>
          </p:cNvPr>
          <p:cNvSpPr>
            <a:spLocks noChangeAspect="1"/>
          </p:cNvSpPr>
          <p:nvPr/>
        </p:nvSpPr>
        <p:spPr>
          <a:xfrm>
            <a:off x="34126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39</a:t>
            </a:r>
          </a:p>
        </p:txBody>
      </p:sp>
      <p:sp>
        <p:nvSpPr>
          <p:cNvPr id="10" name="Right Arrow 9">
            <a:extLst>
              <a:ext uri="{FF2B5EF4-FFF2-40B4-BE49-F238E27FC236}">
                <a16:creationId xmlns:a16="http://schemas.microsoft.com/office/drawing/2014/main" id="{F7810180-1250-B873-2164-8340B183A341}"/>
              </a:ext>
            </a:extLst>
          </p:cNvPr>
          <p:cNvSpPr>
            <a:spLocks noChangeAspect="1"/>
          </p:cNvSpPr>
          <p:nvPr/>
        </p:nvSpPr>
        <p:spPr>
          <a:xfrm>
            <a:off x="41326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1" name="Rectangle 10">
            <a:extLst>
              <a:ext uri="{FF2B5EF4-FFF2-40B4-BE49-F238E27FC236}">
                <a16:creationId xmlns:a16="http://schemas.microsoft.com/office/drawing/2014/main" id="{75F4880A-C2B4-E63E-C901-8D6773C8125E}"/>
              </a:ext>
            </a:extLst>
          </p:cNvPr>
          <p:cNvSpPr>
            <a:spLocks noChangeAspect="1"/>
          </p:cNvSpPr>
          <p:nvPr/>
        </p:nvSpPr>
        <p:spPr>
          <a:xfrm>
            <a:off x="45358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40</a:t>
            </a:r>
          </a:p>
        </p:txBody>
      </p:sp>
      <p:sp>
        <p:nvSpPr>
          <p:cNvPr id="12" name="Right Arrow 11">
            <a:extLst>
              <a:ext uri="{FF2B5EF4-FFF2-40B4-BE49-F238E27FC236}">
                <a16:creationId xmlns:a16="http://schemas.microsoft.com/office/drawing/2014/main" id="{C204C546-9E0C-BD6C-5D6F-6D7BC6A91794}"/>
              </a:ext>
            </a:extLst>
          </p:cNvPr>
          <p:cNvSpPr>
            <a:spLocks noChangeAspect="1"/>
          </p:cNvSpPr>
          <p:nvPr/>
        </p:nvSpPr>
        <p:spPr>
          <a:xfrm>
            <a:off x="52558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3" name="Rectangle 12">
            <a:extLst>
              <a:ext uri="{FF2B5EF4-FFF2-40B4-BE49-F238E27FC236}">
                <a16:creationId xmlns:a16="http://schemas.microsoft.com/office/drawing/2014/main" id="{C65C8FBE-0F52-21C0-26C5-1BBBA60CCD65}"/>
              </a:ext>
            </a:extLst>
          </p:cNvPr>
          <p:cNvSpPr>
            <a:spLocks noChangeAspect="1"/>
          </p:cNvSpPr>
          <p:nvPr/>
        </p:nvSpPr>
        <p:spPr>
          <a:xfrm>
            <a:off x="56518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41</a:t>
            </a:r>
          </a:p>
        </p:txBody>
      </p:sp>
      <p:sp>
        <p:nvSpPr>
          <p:cNvPr id="14" name="Right Arrow 13">
            <a:extLst>
              <a:ext uri="{FF2B5EF4-FFF2-40B4-BE49-F238E27FC236}">
                <a16:creationId xmlns:a16="http://schemas.microsoft.com/office/drawing/2014/main" id="{7566C4FD-3C3C-3856-E2BC-C2A34BD1E3D3}"/>
              </a:ext>
            </a:extLst>
          </p:cNvPr>
          <p:cNvSpPr>
            <a:spLocks noChangeAspect="1"/>
          </p:cNvSpPr>
          <p:nvPr/>
        </p:nvSpPr>
        <p:spPr>
          <a:xfrm>
            <a:off x="63718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5" name="Rectangle 14">
            <a:extLst>
              <a:ext uri="{FF2B5EF4-FFF2-40B4-BE49-F238E27FC236}">
                <a16:creationId xmlns:a16="http://schemas.microsoft.com/office/drawing/2014/main" id="{CD5A3243-22E2-7E43-9338-BBE8D9DA5D1D}"/>
              </a:ext>
            </a:extLst>
          </p:cNvPr>
          <p:cNvSpPr>
            <a:spLocks noChangeAspect="1"/>
          </p:cNvSpPr>
          <p:nvPr/>
        </p:nvSpPr>
        <p:spPr>
          <a:xfrm>
            <a:off x="6768000"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42</a:t>
            </a:r>
          </a:p>
        </p:txBody>
      </p:sp>
      <p:sp>
        <p:nvSpPr>
          <p:cNvPr id="20" name="Right Arrow 19">
            <a:extLst>
              <a:ext uri="{FF2B5EF4-FFF2-40B4-BE49-F238E27FC236}">
                <a16:creationId xmlns:a16="http://schemas.microsoft.com/office/drawing/2014/main" id="{0BFCE03E-30F2-EC84-87B7-83C470121FCA}"/>
              </a:ext>
            </a:extLst>
          </p:cNvPr>
          <p:cNvSpPr>
            <a:spLocks/>
          </p:cNvSpPr>
          <p:nvPr/>
        </p:nvSpPr>
        <p:spPr>
          <a:xfrm>
            <a:off x="2638633" y="4396177"/>
            <a:ext cx="75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1" name="Rectangle 20">
            <a:extLst>
              <a:ext uri="{FF2B5EF4-FFF2-40B4-BE49-F238E27FC236}">
                <a16:creationId xmlns:a16="http://schemas.microsoft.com/office/drawing/2014/main" id="{6CF2CEB2-FDB9-01DD-3FAC-73E57CB0A13A}"/>
              </a:ext>
            </a:extLst>
          </p:cNvPr>
          <p:cNvSpPr>
            <a:spLocks noChangeAspect="1"/>
          </p:cNvSpPr>
          <p:nvPr/>
        </p:nvSpPr>
        <p:spPr>
          <a:xfrm>
            <a:off x="34126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39</a:t>
            </a:r>
          </a:p>
        </p:txBody>
      </p:sp>
      <p:sp>
        <p:nvSpPr>
          <p:cNvPr id="22" name="Right Arrow 21">
            <a:extLst>
              <a:ext uri="{FF2B5EF4-FFF2-40B4-BE49-F238E27FC236}">
                <a16:creationId xmlns:a16="http://schemas.microsoft.com/office/drawing/2014/main" id="{BC38C7D2-2633-076B-B05F-462EF73D90C2}"/>
              </a:ext>
            </a:extLst>
          </p:cNvPr>
          <p:cNvSpPr>
            <a:spLocks noChangeAspect="1"/>
          </p:cNvSpPr>
          <p:nvPr/>
        </p:nvSpPr>
        <p:spPr>
          <a:xfrm>
            <a:off x="41326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3" name="Rectangle 22">
            <a:extLst>
              <a:ext uri="{FF2B5EF4-FFF2-40B4-BE49-F238E27FC236}">
                <a16:creationId xmlns:a16="http://schemas.microsoft.com/office/drawing/2014/main" id="{0A9C040C-E620-D69B-08BE-2D12BDDB8C9F}"/>
              </a:ext>
            </a:extLst>
          </p:cNvPr>
          <p:cNvSpPr>
            <a:spLocks noChangeAspect="1"/>
          </p:cNvSpPr>
          <p:nvPr/>
        </p:nvSpPr>
        <p:spPr>
          <a:xfrm>
            <a:off x="45358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40</a:t>
            </a:r>
          </a:p>
        </p:txBody>
      </p:sp>
      <p:sp>
        <p:nvSpPr>
          <p:cNvPr id="24" name="Right Arrow 23">
            <a:extLst>
              <a:ext uri="{FF2B5EF4-FFF2-40B4-BE49-F238E27FC236}">
                <a16:creationId xmlns:a16="http://schemas.microsoft.com/office/drawing/2014/main" id="{01DA28FC-5A68-C390-3848-4427E8BC0F10}"/>
              </a:ext>
            </a:extLst>
          </p:cNvPr>
          <p:cNvSpPr>
            <a:spLocks noChangeAspect="1"/>
          </p:cNvSpPr>
          <p:nvPr/>
        </p:nvSpPr>
        <p:spPr>
          <a:xfrm>
            <a:off x="52558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5" name="Rectangle 24">
            <a:extLst>
              <a:ext uri="{FF2B5EF4-FFF2-40B4-BE49-F238E27FC236}">
                <a16:creationId xmlns:a16="http://schemas.microsoft.com/office/drawing/2014/main" id="{EB2052EB-2B7E-A540-A443-72ADC7665C8B}"/>
              </a:ext>
            </a:extLst>
          </p:cNvPr>
          <p:cNvSpPr>
            <a:spLocks noChangeAspect="1"/>
          </p:cNvSpPr>
          <p:nvPr/>
        </p:nvSpPr>
        <p:spPr>
          <a:xfrm>
            <a:off x="56518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41</a:t>
            </a:r>
          </a:p>
        </p:txBody>
      </p:sp>
      <p:sp>
        <p:nvSpPr>
          <p:cNvPr id="26" name="Right Arrow 25">
            <a:extLst>
              <a:ext uri="{FF2B5EF4-FFF2-40B4-BE49-F238E27FC236}">
                <a16:creationId xmlns:a16="http://schemas.microsoft.com/office/drawing/2014/main" id="{E64D4DCD-443B-D2AF-A977-7031F182492C}"/>
              </a:ext>
            </a:extLst>
          </p:cNvPr>
          <p:cNvSpPr>
            <a:spLocks noChangeAspect="1"/>
          </p:cNvSpPr>
          <p:nvPr/>
        </p:nvSpPr>
        <p:spPr>
          <a:xfrm>
            <a:off x="63718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7" name="Rectangle 26">
            <a:extLst>
              <a:ext uri="{FF2B5EF4-FFF2-40B4-BE49-F238E27FC236}">
                <a16:creationId xmlns:a16="http://schemas.microsoft.com/office/drawing/2014/main" id="{1E368F9E-93B0-917C-8318-25FAFED298F9}"/>
              </a:ext>
            </a:extLst>
          </p:cNvPr>
          <p:cNvSpPr>
            <a:spLocks noChangeAspect="1"/>
          </p:cNvSpPr>
          <p:nvPr/>
        </p:nvSpPr>
        <p:spPr>
          <a:xfrm>
            <a:off x="6768000"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42</a:t>
            </a:r>
          </a:p>
        </p:txBody>
      </p:sp>
      <p:sp>
        <p:nvSpPr>
          <p:cNvPr id="30" name="Right Arrow 29">
            <a:extLst>
              <a:ext uri="{FF2B5EF4-FFF2-40B4-BE49-F238E27FC236}">
                <a16:creationId xmlns:a16="http://schemas.microsoft.com/office/drawing/2014/main" id="{3D9FA26B-FCD9-6F35-4D28-FFA56CE42941}"/>
              </a:ext>
            </a:extLst>
          </p:cNvPr>
          <p:cNvSpPr>
            <a:spLocks/>
          </p:cNvSpPr>
          <p:nvPr/>
        </p:nvSpPr>
        <p:spPr>
          <a:xfrm rot="5400000">
            <a:off x="2206632" y="3900186"/>
            <a:ext cx="900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31" name="Picture 30" descr="A red person with black background&#10;&#10;AI-generated content may be incorrect.">
            <a:extLst>
              <a:ext uri="{FF2B5EF4-FFF2-40B4-BE49-F238E27FC236}">
                <a16:creationId xmlns:a16="http://schemas.microsoft.com/office/drawing/2014/main" id="{0AF9DB90-D486-5E1A-CFC0-655B536BBA2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553367" y="4134252"/>
            <a:ext cx="360000" cy="720000"/>
          </a:xfrm>
          <a:prstGeom prst="rect">
            <a:avLst/>
          </a:prstGeom>
        </p:spPr>
      </p:pic>
      <p:pic>
        <p:nvPicPr>
          <p:cNvPr id="32" name="Picture 31" descr="A red person with black background&#10;&#10;AI-generated content may be incorrect.">
            <a:extLst>
              <a:ext uri="{FF2B5EF4-FFF2-40B4-BE49-F238E27FC236}">
                <a16:creationId xmlns:a16="http://schemas.microsoft.com/office/drawing/2014/main" id="{1D3470C1-8158-AC6C-5EDE-25D47BB9F036}"/>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5">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553367" y="2828260"/>
            <a:ext cx="360000" cy="720000"/>
          </a:xfrm>
          <a:prstGeom prst="rect">
            <a:avLst/>
          </a:prstGeom>
          <a:solidFill>
            <a:schemeClr val="bg1"/>
          </a:solidFill>
        </p:spPr>
      </p:pic>
      <p:pic>
        <p:nvPicPr>
          <p:cNvPr id="33" name="Picture 32" descr="A red person with black background&#10;&#10;AI-generated content may be incorrect.">
            <a:extLst>
              <a:ext uri="{FF2B5EF4-FFF2-40B4-BE49-F238E27FC236}">
                <a16:creationId xmlns:a16="http://schemas.microsoft.com/office/drawing/2014/main" id="{9ACF2095-7F31-D922-F011-DDB5619DD402}"/>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913367" y="2828259"/>
            <a:ext cx="360000" cy="720000"/>
          </a:xfrm>
          <a:prstGeom prst="rect">
            <a:avLst/>
          </a:prstGeom>
          <a:solidFill>
            <a:schemeClr val="bg1"/>
          </a:solidFill>
        </p:spPr>
      </p:pic>
      <p:pic>
        <p:nvPicPr>
          <p:cNvPr id="34" name="Picture 33" descr="A red person with black background&#10;&#10;AI-generated content may be incorrect.">
            <a:extLst>
              <a:ext uri="{FF2B5EF4-FFF2-40B4-BE49-F238E27FC236}">
                <a16:creationId xmlns:a16="http://schemas.microsoft.com/office/drawing/2014/main" id="{6EAA09F5-44D9-9069-CD8D-1F893AB16102}"/>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7">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193367" y="2828259"/>
            <a:ext cx="360000" cy="720000"/>
          </a:xfrm>
          <a:prstGeom prst="rect">
            <a:avLst/>
          </a:prstGeom>
          <a:solidFill>
            <a:schemeClr val="bg1"/>
          </a:solidFill>
        </p:spPr>
      </p:pic>
      <p:pic>
        <p:nvPicPr>
          <p:cNvPr id="5" name="Picture 4" descr="A computer with a green screen&#10;&#10;AI-generated content may be incorrect.">
            <a:extLst>
              <a:ext uri="{FF2B5EF4-FFF2-40B4-BE49-F238E27FC236}">
                <a16:creationId xmlns:a16="http://schemas.microsoft.com/office/drawing/2014/main" id="{6DCADFDD-C8A4-8234-AC8C-5B3CC0E27E0A}"/>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9373367" y="1481664"/>
            <a:ext cx="720000" cy="720000"/>
          </a:xfrm>
          <a:prstGeom prst="rect">
            <a:avLst/>
          </a:prstGeom>
        </p:spPr>
      </p:pic>
      <p:pic>
        <p:nvPicPr>
          <p:cNvPr id="16" name="Picture 15" descr="A computer with a green screen&#10;&#10;AI-generated content may be incorrect.">
            <a:extLst>
              <a:ext uri="{FF2B5EF4-FFF2-40B4-BE49-F238E27FC236}">
                <a16:creationId xmlns:a16="http://schemas.microsoft.com/office/drawing/2014/main" id="{77A46816-B594-D790-E74C-7DCE7A066D4F}"/>
              </a:ext>
            </a:extLst>
          </p:cNvPr>
          <p:cNvPicPr>
            <a:picLocks noChangeAspect="1"/>
          </p:cNvPicPr>
          <p:nvPr/>
        </p:nvPicPr>
        <p:blipFill>
          <a:blip r:embed="rId10">
            <a:duotone>
              <a:schemeClr val="accent2">
                <a:shade val="45000"/>
                <a:satMod val="135000"/>
              </a:schemeClr>
              <a:prstClr val="white"/>
            </a:duotone>
            <a:extLst>
              <a:ext uri="{BEBA8EAE-BF5A-486C-A8C5-ECC9F3942E4B}">
                <a14:imgProps xmlns:a14="http://schemas.microsoft.com/office/drawing/2010/main">
                  <a14:imgLayer r:embed="rId11">
                    <a14:imgEffect>
                      <a14:colorTemperature colorTemp="11500"/>
                    </a14:imgEffect>
                    <a14:imgEffect>
                      <a14:saturation sat="400000"/>
                    </a14:imgEffect>
                  </a14:imgLayer>
                </a14:imgProps>
              </a:ext>
              <a:ext uri="{837473B0-CC2E-450A-ABE3-18F120FF3D39}">
                <a1611:picAttrSrcUrl xmlns:a1611="http://schemas.microsoft.com/office/drawing/2016/11/main" r:id="rId9"/>
              </a:ext>
            </a:extLst>
          </a:blip>
          <a:stretch>
            <a:fillRect/>
          </a:stretch>
        </p:blipFill>
        <p:spPr>
          <a:xfrm>
            <a:off x="9090153" y="5464675"/>
            <a:ext cx="720000" cy="720000"/>
          </a:xfrm>
          <a:prstGeom prst="rect">
            <a:avLst/>
          </a:prstGeom>
        </p:spPr>
      </p:pic>
      <p:pic>
        <p:nvPicPr>
          <p:cNvPr id="17" name="Picture 16" descr="A computer with a green screen&#10;&#10;AI-generated content may be incorrect.">
            <a:extLst>
              <a:ext uri="{FF2B5EF4-FFF2-40B4-BE49-F238E27FC236}">
                <a16:creationId xmlns:a16="http://schemas.microsoft.com/office/drawing/2014/main" id="{07F90D53-EDB7-ABF4-287C-F6B73013F953}"/>
              </a:ext>
            </a:extLst>
          </p:cNvPr>
          <p:cNvPicPr>
            <a:picLocks noChangeAspect="1"/>
          </p:cNvPicPr>
          <p:nvPr/>
        </p:nvPicPr>
        <p:blipFill>
          <a:blip r:embed="rId10">
            <a:duotone>
              <a:schemeClr val="accent2">
                <a:shade val="45000"/>
                <a:satMod val="135000"/>
              </a:schemeClr>
              <a:prstClr val="white"/>
            </a:duotone>
            <a:extLst>
              <a:ext uri="{BEBA8EAE-BF5A-486C-A8C5-ECC9F3942E4B}">
                <a14:imgProps xmlns:a14="http://schemas.microsoft.com/office/drawing/2010/main">
                  <a14:imgLayer r:embed="rId12">
                    <a14:imgEffect>
                      <a14:colorTemperature colorTemp="11500"/>
                    </a14:imgEffect>
                    <a14:imgEffect>
                      <a14:saturation sat="400000"/>
                    </a14:imgEffect>
                  </a14:imgLayer>
                </a14:imgProps>
              </a:ext>
              <a:ext uri="{837473B0-CC2E-450A-ABE3-18F120FF3D39}">
                <a1611:picAttrSrcUrl xmlns:a1611="http://schemas.microsoft.com/office/drawing/2016/11/main" r:id="rId9"/>
              </a:ext>
            </a:extLst>
          </a:blip>
          <a:stretch>
            <a:fillRect/>
          </a:stretch>
        </p:blipFill>
        <p:spPr>
          <a:xfrm>
            <a:off x="9887650" y="5464675"/>
            <a:ext cx="720000" cy="720000"/>
          </a:xfrm>
          <a:prstGeom prst="rect">
            <a:avLst/>
          </a:prstGeom>
        </p:spPr>
      </p:pic>
      <p:sp>
        <p:nvSpPr>
          <p:cNvPr id="18" name="Rounded Rectangle 17">
            <a:extLst>
              <a:ext uri="{FF2B5EF4-FFF2-40B4-BE49-F238E27FC236}">
                <a16:creationId xmlns:a16="http://schemas.microsoft.com/office/drawing/2014/main" id="{99806263-44E0-A42E-EDC7-205304C52287}"/>
              </a:ext>
            </a:extLst>
          </p:cNvPr>
          <p:cNvSpPr/>
          <p:nvPr/>
        </p:nvSpPr>
        <p:spPr>
          <a:xfrm>
            <a:off x="10685147" y="1418471"/>
            <a:ext cx="1147129" cy="783193"/>
          </a:xfrm>
          <a:prstGeom prst="roundRect">
            <a:avLst/>
          </a:prstGeom>
          <a:noFill/>
          <a:ln>
            <a:no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PK" sz="2000" dirty="0">
                <a:latin typeface="Candara" panose="020E0502030303020204" pitchFamily="34" charset="0"/>
              </a:rPr>
              <a:t>Hashing</a:t>
            </a:r>
          </a:p>
          <a:p>
            <a:pPr algn="ctr"/>
            <a:r>
              <a:rPr lang="en-PK" sz="2000" dirty="0">
                <a:latin typeface="Candara" panose="020E0502030303020204" pitchFamily="34" charset="0"/>
              </a:rPr>
              <a:t>Power</a:t>
            </a:r>
          </a:p>
        </p:txBody>
      </p:sp>
      <p:sp>
        <p:nvSpPr>
          <p:cNvPr id="19" name="Rounded Rectangle 18">
            <a:extLst>
              <a:ext uri="{FF2B5EF4-FFF2-40B4-BE49-F238E27FC236}">
                <a16:creationId xmlns:a16="http://schemas.microsoft.com/office/drawing/2014/main" id="{9B836DB9-E9CC-0BDE-40C8-5E7C4D507CDA}"/>
              </a:ext>
            </a:extLst>
          </p:cNvPr>
          <p:cNvSpPr/>
          <p:nvPr/>
        </p:nvSpPr>
        <p:spPr>
          <a:xfrm>
            <a:off x="10685147" y="5262819"/>
            <a:ext cx="1308379" cy="1123712"/>
          </a:xfrm>
          <a:prstGeom prst="roundRect">
            <a:avLst/>
          </a:prstGeom>
          <a:noFill/>
          <a:ln>
            <a:no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PK" sz="2000" dirty="0">
                <a:latin typeface="Candara" panose="020E0502030303020204" pitchFamily="34" charset="0"/>
              </a:rPr>
              <a:t>Higher Hashing</a:t>
            </a:r>
          </a:p>
          <a:p>
            <a:pPr algn="ctr"/>
            <a:r>
              <a:rPr lang="en-PK" sz="2000" dirty="0">
                <a:latin typeface="Candara" panose="020E0502030303020204" pitchFamily="34" charset="0"/>
              </a:rPr>
              <a:t>Power</a:t>
            </a:r>
          </a:p>
        </p:txBody>
      </p:sp>
      <p:sp>
        <p:nvSpPr>
          <p:cNvPr id="28" name="Right Arrow 27">
            <a:extLst>
              <a:ext uri="{FF2B5EF4-FFF2-40B4-BE49-F238E27FC236}">
                <a16:creationId xmlns:a16="http://schemas.microsoft.com/office/drawing/2014/main" id="{C89A39E1-E153-8F73-1A7D-022469EC6FBF}"/>
              </a:ext>
            </a:extLst>
          </p:cNvPr>
          <p:cNvSpPr>
            <a:spLocks noChangeAspect="1"/>
          </p:cNvSpPr>
          <p:nvPr/>
        </p:nvSpPr>
        <p:spPr>
          <a:xfrm>
            <a:off x="7488000" y="4395820"/>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9" name="Rectangle 28">
            <a:extLst>
              <a:ext uri="{FF2B5EF4-FFF2-40B4-BE49-F238E27FC236}">
                <a16:creationId xmlns:a16="http://schemas.microsoft.com/office/drawing/2014/main" id="{AC0BE534-0909-0D26-CDF6-D1DFF3C79CE4}"/>
              </a:ext>
            </a:extLst>
          </p:cNvPr>
          <p:cNvSpPr>
            <a:spLocks noChangeAspect="1"/>
          </p:cNvSpPr>
          <p:nvPr/>
        </p:nvSpPr>
        <p:spPr>
          <a:xfrm>
            <a:off x="7884000" y="4133895"/>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43</a:t>
            </a:r>
          </a:p>
        </p:txBody>
      </p:sp>
    </p:spTree>
    <p:extLst>
      <p:ext uri="{BB962C8B-B14F-4D97-AF65-F5344CB8AC3E}">
        <p14:creationId xmlns:p14="http://schemas.microsoft.com/office/powerpoint/2010/main" val="2259820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5" presetClass="entr" presetSubtype="1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childTnLst>
                          </p:cTn>
                        </p:par>
                        <p:par>
                          <p:cTn id="14" fill="hold">
                            <p:stCondLst>
                              <p:cond delay="500"/>
                            </p:stCondLst>
                            <p:childTnLst>
                              <p:par>
                                <p:cTn id="15" presetID="9" presetClass="entr" presetSubtype="0" fill="hold" grpId="0" nodeType="afterEffect">
                                  <p:stCondLst>
                                    <p:cond delay="0"/>
                                  </p:stCondLst>
                                  <p:childTnLst>
                                    <p:set>
                                      <p:cBhvr>
                                        <p:cTn id="16" dur="1" fill="hold">
                                          <p:stCondLst>
                                            <p:cond delay="0"/>
                                          </p:stCondLst>
                                        </p:cTn>
                                        <p:tgtEl>
                                          <p:spTgt spid="3"/>
                                        </p:tgtEl>
                                        <p:attrNameLst>
                                          <p:attrName>style.visibility</p:attrName>
                                        </p:attrNameLst>
                                      </p:cBhvr>
                                      <p:to>
                                        <p:strVal val="visible"/>
                                      </p:to>
                                    </p:set>
                                    <p:animEffect transition="in" filter="dissolve">
                                      <p:cBhvr>
                                        <p:cTn id="17" dur="500"/>
                                        <p:tgtEl>
                                          <p:spTgt spid="3"/>
                                        </p:tgtEl>
                                      </p:cBhvr>
                                    </p:animEffect>
                                  </p:childTnLst>
                                </p:cTn>
                              </p:par>
                            </p:childTnLst>
                          </p:cTn>
                        </p:par>
                        <p:par>
                          <p:cTn id="18" fill="hold">
                            <p:stCondLst>
                              <p:cond delay="1000"/>
                            </p:stCondLst>
                            <p:childTnLst>
                              <p:par>
                                <p:cTn id="19" presetID="9" presetClass="entr" presetSubtype="0" fill="hold" grpId="0" nodeType="after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dissolve">
                                      <p:cBhvr>
                                        <p:cTn id="21" dur="500"/>
                                        <p:tgtEl>
                                          <p:spTgt spid="8"/>
                                        </p:tgtEl>
                                      </p:cBhvr>
                                    </p:animEffect>
                                  </p:childTnLst>
                                </p:cTn>
                              </p:par>
                            </p:childTnLst>
                          </p:cTn>
                        </p:par>
                        <p:par>
                          <p:cTn id="22" fill="hold">
                            <p:stCondLst>
                              <p:cond delay="1500"/>
                            </p:stCondLst>
                            <p:childTnLst>
                              <p:par>
                                <p:cTn id="23" presetID="9" presetClass="entr" presetSubtype="0" fill="hold" grpId="0" nodeType="after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childTnLst>
                          </p:cTn>
                        </p:par>
                        <p:par>
                          <p:cTn id="26" fill="hold">
                            <p:stCondLst>
                              <p:cond delay="2000"/>
                            </p:stCondLst>
                            <p:childTnLst>
                              <p:par>
                                <p:cTn id="27" presetID="9" presetClass="entr" presetSubtype="0" fill="hold" grpId="0"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dissolve">
                                      <p:cBhvr>
                                        <p:cTn id="29" dur="500"/>
                                        <p:tgtEl>
                                          <p:spTgt spid="10"/>
                                        </p:tgtEl>
                                      </p:cBhvr>
                                    </p:animEffect>
                                  </p:childTnLst>
                                </p:cTn>
                              </p:par>
                            </p:childTnLst>
                          </p:cTn>
                        </p:par>
                        <p:par>
                          <p:cTn id="30" fill="hold">
                            <p:stCondLst>
                              <p:cond delay="2500"/>
                            </p:stCondLst>
                            <p:childTnLst>
                              <p:par>
                                <p:cTn id="31" presetID="9" presetClass="entr" presetSubtype="0"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dissolve">
                                      <p:cBhvr>
                                        <p:cTn id="33" dur="500"/>
                                        <p:tgtEl>
                                          <p:spTgt spid="11"/>
                                        </p:tgtEl>
                                      </p:cBhvr>
                                    </p:animEffect>
                                  </p:childTnLst>
                                </p:cTn>
                              </p:par>
                            </p:childTnLst>
                          </p:cTn>
                        </p:par>
                        <p:par>
                          <p:cTn id="34" fill="hold">
                            <p:stCondLst>
                              <p:cond delay="3000"/>
                            </p:stCondLst>
                            <p:childTnLst>
                              <p:par>
                                <p:cTn id="35" presetID="9" presetClass="entr" presetSubtype="0" fill="hold" grpId="0" nodeType="after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dissolve">
                                      <p:cBhvr>
                                        <p:cTn id="37" dur="500"/>
                                        <p:tgtEl>
                                          <p:spTgt spid="12"/>
                                        </p:tgtEl>
                                      </p:cBhvr>
                                    </p:animEffect>
                                  </p:childTnLst>
                                </p:cTn>
                              </p:par>
                            </p:childTnLst>
                          </p:cTn>
                        </p:par>
                        <p:par>
                          <p:cTn id="38" fill="hold">
                            <p:stCondLst>
                              <p:cond delay="3500"/>
                            </p:stCondLst>
                            <p:childTnLst>
                              <p:par>
                                <p:cTn id="39" presetID="9" presetClass="entr" presetSubtype="0" fill="hold" grpId="0" nodeType="afterEffect">
                                  <p:stCondLst>
                                    <p:cond delay="0"/>
                                  </p:stCondLst>
                                  <p:childTnLst>
                                    <p:set>
                                      <p:cBhvr>
                                        <p:cTn id="40" dur="1" fill="hold">
                                          <p:stCondLst>
                                            <p:cond delay="0"/>
                                          </p:stCondLst>
                                        </p:cTn>
                                        <p:tgtEl>
                                          <p:spTgt spid="13"/>
                                        </p:tgtEl>
                                        <p:attrNameLst>
                                          <p:attrName>style.visibility</p:attrName>
                                        </p:attrNameLst>
                                      </p:cBhvr>
                                      <p:to>
                                        <p:strVal val="visible"/>
                                      </p:to>
                                    </p:set>
                                    <p:animEffect transition="in" filter="dissolve">
                                      <p:cBhvr>
                                        <p:cTn id="41" dur="500"/>
                                        <p:tgtEl>
                                          <p:spTgt spid="13"/>
                                        </p:tgtEl>
                                      </p:cBhvr>
                                    </p:animEffect>
                                  </p:childTnLst>
                                </p:cTn>
                              </p:par>
                            </p:childTnLst>
                          </p:cTn>
                        </p:par>
                        <p:par>
                          <p:cTn id="42" fill="hold">
                            <p:stCondLst>
                              <p:cond delay="4000"/>
                            </p:stCondLst>
                            <p:childTnLst>
                              <p:par>
                                <p:cTn id="43" presetID="9" presetClass="entr" presetSubtype="0" fill="hold" grpId="0" nodeType="afterEffect">
                                  <p:stCondLst>
                                    <p:cond delay="0"/>
                                  </p:stCondLst>
                                  <p:childTnLst>
                                    <p:set>
                                      <p:cBhvr>
                                        <p:cTn id="44" dur="1" fill="hold">
                                          <p:stCondLst>
                                            <p:cond delay="0"/>
                                          </p:stCondLst>
                                        </p:cTn>
                                        <p:tgtEl>
                                          <p:spTgt spid="14"/>
                                        </p:tgtEl>
                                        <p:attrNameLst>
                                          <p:attrName>style.visibility</p:attrName>
                                        </p:attrNameLst>
                                      </p:cBhvr>
                                      <p:to>
                                        <p:strVal val="visible"/>
                                      </p:to>
                                    </p:set>
                                    <p:animEffect transition="in" filter="dissolve">
                                      <p:cBhvr>
                                        <p:cTn id="45" dur="500"/>
                                        <p:tgtEl>
                                          <p:spTgt spid="14"/>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5"/>
                                        </p:tgtEl>
                                        <p:attrNameLst>
                                          <p:attrName>style.visibility</p:attrName>
                                        </p:attrNameLst>
                                      </p:cBhvr>
                                      <p:to>
                                        <p:strVal val="visible"/>
                                      </p:to>
                                    </p:set>
                                    <p:animEffect transition="in" filter="dissolve">
                                      <p:cBhvr>
                                        <p:cTn id="48" dur="500"/>
                                        <p:tgtEl>
                                          <p:spTgt spid="15"/>
                                        </p:tgtEl>
                                      </p:cBhvr>
                                    </p:animEffect>
                                  </p:childTnLst>
                                </p:cTn>
                              </p:par>
                            </p:childTnLst>
                          </p:cTn>
                        </p:par>
                      </p:childTnLst>
                    </p:cTn>
                  </p:par>
                  <p:par>
                    <p:cTn id="49" fill="hold">
                      <p:stCondLst>
                        <p:cond delay="indefinite"/>
                      </p:stCondLst>
                      <p:childTnLst>
                        <p:par>
                          <p:cTn id="50" fill="hold">
                            <p:stCondLst>
                              <p:cond delay="0"/>
                            </p:stCondLst>
                            <p:childTnLst>
                              <p:par>
                                <p:cTn id="51" presetID="9" presetClass="entr" presetSubtype="0" fill="hold" nodeType="clickEffect">
                                  <p:stCondLst>
                                    <p:cond delay="0"/>
                                  </p:stCondLst>
                                  <p:childTnLst>
                                    <p:set>
                                      <p:cBhvr>
                                        <p:cTn id="52" dur="1" fill="hold">
                                          <p:stCondLst>
                                            <p:cond delay="0"/>
                                          </p:stCondLst>
                                        </p:cTn>
                                        <p:tgtEl>
                                          <p:spTgt spid="31"/>
                                        </p:tgtEl>
                                        <p:attrNameLst>
                                          <p:attrName>style.visibility</p:attrName>
                                        </p:attrNameLst>
                                      </p:cBhvr>
                                      <p:to>
                                        <p:strVal val="visible"/>
                                      </p:to>
                                    </p:set>
                                    <p:animEffect transition="in" filter="dissolve">
                                      <p:cBhvr>
                                        <p:cTn id="53" dur="500"/>
                                        <p:tgtEl>
                                          <p:spTgt spid="31"/>
                                        </p:tgtEl>
                                      </p:cBhvr>
                                    </p:animEffect>
                                  </p:childTnLst>
                                </p:cTn>
                              </p:par>
                            </p:childTnLst>
                          </p:cTn>
                        </p:par>
                        <p:par>
                          <p:cTn id="54" fill="hold">
                            <p:stCondLst>
                              <p:cond delay="500"/>
                            </p:stCondLst>
                            <p:childTnLst>
                              <p:par>
                                <p:cTn id="55" presetID="5" presetClass="entr" presetSubtype="10" fill="hold" grpId="0" nodeType="after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checkerboard(across)">
                                      <p:cBhvr>
                                        <p:cTn id="57" dur="500"/>
                                        <p:tgtEl>
                                          <p:spTgt spid="19"/>
                                        </p:tgtEl>
                                      </p:cBhvr>
                                    </p:animEffect>
                                  </p:childTnLst>
                                </p:cTn>
                              </p:par>
                              <p:par>
                                <p:cTn id="58" presetID="9" presetClass="entr" presetSubtype="0" fill="hold" nodeType="withEffect">
                                  <p:stCondLst>
                                    <p:cond delay="0"/>
                                  </p:stCondLst>
                                  <p:childTnLst>
                                    <p:set>
                                      <p:cBhvr>
                                        <p:cTn id="59" dur="1" fill="hold">
                                          <p:stCondLst>
                                            <p:cond delay="0"/>
                                          </p:stCondLst>
                                        </p:cTn>
                                        <p:tgtEl>
                                          <p:spTgt spid="16"/>
                                        </p:tgtEl>
                                        <p:attrNameLst>
                                          <p:attrName>style.visibility</p:attrName>
                                        </p:attrNameLst>
                                      </p:cBhvr>
                                      <p:to>
                                        <p:strVal val="visible"/>
                                      </p:to>
                                    </p:set>
                                    <p:animEffect transition="in" filter="dissolve">
                                      <p:cBhvr>
                                        <p:cTn id="60" dur="500"/>
                                        <p:tgtEl>
                                          <p:spTgt spid="16"/>
                                        </p:tgtEl>
                                      </p:cBhvr>
                                    </p:animEffect>
                                  </p:childTnLst>
                                </p:cTn>
                              </p:par>
                              <p:par>
                                <p:cTn id="61" presetID="9" presetClass="entr" presetSubtype="0" fill="hold" nodeType="withEffect">
                                  <p:stCondLst>
                                    <p:cond delay="0"/>
                                  </p:stCondLst>
                                  <p:childTnLst>
                                    <p:set>
                                      <p:cBhvr>
                                        <p:cTn id="62" dur="1" fill="hold">
                                          <p:stCondLst>
                                            <p:cond delay="0"/>
                                          </p:stCondLst>
                                        </p:cTn>
                                        <p:tgtEl>
                                          <p:spTgt spid="17"/>
                                        </p:tgtEl>
                                        <p:attrNameLst>
                                          <p:attrName>style.visibility</p:attrName>
                                        </p:attrNameLst>
                                      </p:cBhvr>
                                      <p:to>
                                        <p:strVal val="visible"/>
                                      </p:to>
                                    </p:set>
                                    <p:animEffect transition="in" filter="dissolve">
                                      <p:cBhvr>
                                        <p:cTn id="63" dur="500"/>
                                        <p:tgtEl>
                                          <p:spTgt spid="17"/>
                                        </p:tgtEl>
                                      </p:cBhvr>
                                    </p:animEffect>
                                  </p:childTnLst>
                                </p:cTn>
                              </p:par>
                            </p:childTnLst>
                          </p:cTn>
                        </p:par>
                      </p:childTnLst>
                    </p:cTn>
                  </p:par>
                  <p:par>
                    <p:cTn id="64" fill="hold">
                      <p:stCondLst>
                        <p:cond delay="indefinite"/>
                      </p:stCondLst>
                      <p:childTnLst>
                        <p:par>
                          <p:cTn id="65" fill="hold">
                            <p:stCondLst>
                              <p:cond delay="0"/>
                            </p:stCondLst>
                            <p:childTnLst>
                              <p:par>
                                <p:cTn id="66" presetID="3" presetClass="entr" presetSubtype="10" fill="hold" grpId="0" nodeType="clickEffect">
                                  <p:stCondLst>
                                    <p:cond delay="0"/>
                                  </p:stCondLst>
                                  <p:childTnLst>
                                    <p:set>
                                      <p:cBhvr>
                                        <p:cTn id="67" dur="1" fill="hold">
                                          <p:stCondLst>
                                            <p:cond delay="0"/>
                                          </p:stCondLst>
                                        </p:cTn>
                                        <p:tgtEl>
                                          <p:spTgt spid="7"/>
                                        </p:tgtEl>
                                        <p:attrNameLst>
                                          <p:attrName>style.visibility</p:attrName>
                                        </p:attrNameLst>
                                      </p:cBhvr>
                                      <p:to>
                                        <p:strVal val="visible"/>
                                      </p:to>
                                    </p:set>
                                    <p:animEffect transition="in" filter="blinds(horizontal)">
                                      <p:cBhvr>
                                        <p:cTn id="68" dur="500"/>
                                        <p:tgtEl>
                                          <p:spTgt spid="7"/>
                                        </p:tgtEl>
                                      </p:cBhvr>
                                    </p:animEffect>
                                  </p:childTnLst>
                                </p:cTn>
                              </p:par>
                            </p:childTnLst>
                          </p:cTn>
                        </p:par>
                        <p:par>
                          <p:cTn id="69" fill="hold">
                            <p:stCondLst>
                              <p:cond delay="500"/>
                            </p:stCondLst>
                            <p:childTnLst>
                              <p:par>
                                <p:cTn id="70" presetID="9" presetClass="entr" presetSubtype="0" fill="hold" grpId="0" nodeType="after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dissolve">
                                      <p:cBhvr>
                                        <p:cTn id="72" dur="500"/>
                                        <p:tgtEl>
                                          <p:spTgt spid="30"/>
                                        </p:tgtEl>
                                      </p:cBhvr>
                                    </p:animEffect>
                                  </p:childTnLst>
                                </p:cTn>
                              </p:par>
                            </p:childTnLst>
                          </p:cTn>
                        </p:par>
                        <p:par>
                          <p:cTn id="73" fill="hold">
                            <p:stCondLst>
                              <p:cond delay="1000"/>
                            </p:stCondLst>
                            <p:childTnLst>
                              <p:par>
                                <p:cTn id="74" presetID="9" presetClass="entr" presetSubtype="0" fill="hold" grpId="0" nodeType="afterEffect">
                                  <p:stCondLst>
                                    <p:cond delay="0"/>
                                  </p:stCondLst>
                                  <p:childTnLst>
                                    <p:set>
                                      <p:cBhvr>
                                        <p:cTn id="75" dur="1" fill="hold">
                                          <p:stCondLst>
                                            <p:cond delay="0"/>
                                          </p:stCondLst>
                                        </p:cTn>
                                        <p:tgtEl>
                                          <p:spTgt spid="20"/>
                                        </p:tgtEl>
                                        <p:attrNameLst>
                                          <p:attrName>style.visibility</p:attrName>
                                        </p:attrNameLst>
                                      </p:cBhvr>
                                      <p:to>
                                        <p:strVal val="visible"/>
                                      </p:to>
                                    </p:set>
                                    <p:animEffect transition="in" filter="dissolve">
                                      <p:cBhvr>
                                        <p:cTn id="76" dur="500"/>
                                        <p:tgtEl>
                                          <p:spTgt spid="20"/>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21"/>
                                        </p:tgtEl>
                                        <p:attrNameLst>
                                          <p:attrName>style.visibility</p:attrName>
                                        </p:attrNameLst>
                                      </p:cBhvr>
                                      <p:to>
                                        <p:strVal val="visible"/>
                                      </p:to>
                                    </p:set>
                                    <p:animEffect transition="in" filter="dissolve">
                                      <p:cBhvr>
                                        <p:cTn id="79" dur="500"/>
                                        <p:tgtEl>
                                          <p:spTgt spid="21"/>
                                        </p:tgtEl>
                                      </p:cBhvr>
                                    </p:animEffect>
                                  </p:childTnLst>
                                </p:cTn>
                              </p:par>
                            </p:childTnLst>
                          </p:cTn>
                        </p:par>
                        <p:par>
                          <p:cTn id="80" fill="hold">
                            <p:stCondLst>
                              <p:cond delay="1500"/>
                            </p:stCondLst>
                            <p:childTnLst>
                              <p:par>
                                <p:cTn id="81" presetID="9" presetClass="entr" presetSubtype="0" fill="hold" grpId="0" nodeType="afterEffect">
                                  <p:stCondLst>
                                    <p:cond delay="0"/>
                                  </p:stCondLst>
                                  <p:childTnLst>
                                    <p:set>
                                      <p:cBhvr>
                                        <p:cTn id="82" dur="1" fill="hold">
                                          <p:stCondLst>
                                            <p:cond delay="0"/>
                                          </p:stCondLst>
                                        </p:cTn>
                                        <p:tgtEl>
                                          <p:spTgt spid="22"/>
                                        </p:tgtEl>
                                        <p:attrNameLst>
                                          <p:attrName>style.visibility</p:attrName>
                                        </p:attrNameLst>
                                      </p:cBhvr>
                                      <p:to>
                                        <p:strVal val="visible"/>
                                      </p:to>
                                    </p:set>
                                    <p:animEffect transition="in" filter="dissolve">
                                      <p:cBhvr>
                                        <p:cTn id="83" dur="500"/>
                                        <p:tgtEl>
                                          <p:spTgt spid="22"/>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23"/>
                                        </p:tgtEl>
                                        <p:attrNameLst>
                                          <p:attrName>style.visibility</p:attrName>
                                        </p:attrNameLst>
                                      </p:cBhvr>
                                      <p:to>
                                        <p:strVal val="visible"/>
                                      </p:to>
                                    </p:set>
                                    <p:animEffect transition="in" filter="dissolve">
                                      <p:cBhvr>
                                        <p:cTn id="86" dur="500"/>
                                        <p:tgtEl>
                                          <p:spTgt spid="23"/>
                                        </p:tgtEl>
                                      </p:cBhvr>
                                    </p:animEffect>
                                  </p:childTnLst>
                                </p:cTn>
                              </p:par>
                            </p:childTnLst>
                          </p:cTn>
                        </p:par>
                        <p:par>
                          <p:cTn id="87" fill="hold">
                            <p:stCondLst>
                              <p:cond delay="2000"/>
                            </p:stCondLst>
                            <p:childTnLst>
                              <p:par>
                                <p:cTn id="88" presetID="9" presetClass="entr" presetSubtype="0" fill="hold" grpId="0" nodeType="afterEffect">
                                  <p:stCondLst>
                                    <p:cond delay="0"/>
                                  </p:stCondLst>
                                  <p:childTnLst>
                                    <p:set>
                                      <p:cBhvr>
                                        <p:cTn id="89" dur="1" fill="hold">
                                          <p:stCondLst>
                                            <p:cond delay="0"/>
                                          </p:stCondLst>
                                        </p:cTn>
                                        <p:tgtEl>
                                          <p:spTgt spid="24"/>
                                        </p:tgtEl>
                                        <p:attrNameLst>
                                          <p:attrName>style.visibility</p:attrName>
                                        </p:attrNameLst>
                                      </p:cBhvr>
                                      <p:to>
                                        <p:strVal val="visible"/>
                                      </p:to>
                                    </p:set>
                                    <p:animEffect transition="in" filter="dissolve">
                                      <p:cBhvr>
                                        <p:cTn id="90" dur="500"/>
                                        <p:tgtEl>
                                          <p:spTgt spid="24"/>
                                        </p:tgtEl>
                                      </p:cBhvr>
                                    </p:animEffect>
                                  </p:childTnLst>
                                </p:cTn>
                              </p:par>
                              <p:par>
                                <p:cTn id="91" presetID="9" presetClass="entr" presetSubtype="0" fill="hold" grpId="0" nodeType="withEffect">
                                  <p:stCondLst>
                                    <p:cond delay="0"/>
                                  </p:stCondLst>
                                  <p:childTnLst>
                                    <p:set>
                                      <p:cBhvr>
                                        <p:cTn id="92" dur="1" fill="hold">
                                          <p:stCondLst>
                                            <p:cond delay="0"/>
                                          </p:stCondLst>
                                        </p:cTn>
                                        <p:tgtEl>
                                          <p:spTgt spid="25"/>
                                        </p:tgtEl>
                                        <p:attrNameLst>
                                          <p:attrName>style.visibility</p:attrName>
                                        </p:attrNameLst>
                                      </p:cBhvr>
                                      <p:to>
                                        <p:strVal val="visible"/>
                                      </p:to>
                                    </p:set>
                                    <p:animEffect transition="in" filter="dissolve">
                                      <p:cBhvr>
                                        <p:cTn id="93" dur="500"/>
                                        <p:tgtEl>
                                          <p:spTgt spid="25"/>
                                        </p:tgtEl>
                                      </p:cBhvr>
                                    </p:animEffect>
                                  </p:childTnLst>
                                </p:cTn>
                              </p:par>
                            </p:childTnLst>
                          </p:cTn>
                        </p:par>
                        <p:par>
                          <p:cTn id="94" fill="hold">
                            <p:stCondLst>
                              <p:cond delay="2500"/>
                            </p:stCondLst>
                            <p:childTnLst>
                              <p:par>
                                <p:cTn id="95" presetID="9" presetClass="entr" presetSubtype="0" fill="hold" grpId="0" nodeType="afterEffect">
                                  <p:stCondLst>
                                    <p:cond delay="0"/>
                                  </p:stCondLst>
                                  <p:childTnLst>
                                    <p:set>
                                      <p:cBhvr>
                                        <p:cTn id="96" dur="1" fill="hold">
                                          <p:stCondLst>
                                            <p:cond delay="0"/>
                                          </p:stCondLst>
                                        </p:cTn>
                                        <p:tgtEl>
                                          <p:spTgt spid="26"/>
                                        </p:tgtEl>
                                        <p:attrNameLst>
                                          <p:attrName>style.visibility</p:attrName>
                                        </p:attrNameLst>
                                      </p:cBhvr>
                                      <p:to>
                                        <p:strVal val="visible"/>
                                      </p:to>
                                    </p:set>
                                    <p:animEffect transition="in" filter="dissolve">
                                      <p:cBhvr>
                                        <p:cTn id="97" dur="500"/>
                                        <p:tgtEl>
                                          <p:spTgt spid="26"/>
                                        </p:tgtEl>
                                      </p:cBhvr>
                                    </p:animEffect>
                                  </p:childTnLst>
                                </p:cTn>
                              </p:par>
                              <p:par>
                                <p:cTn id="98" presetID="9" presetClass="entr" presetSubtype="0" fill="hold" grpId="0" nodeType="withEffect">
                                  <p:stCondLst>
                                    <p:cond delay="0"/>
                                  </p:stCondLst>
                                  <p:childTnLst>
                                    <p:set>
                                      <p:cBhvr>
                                        <p:cTn id="99" dur="1" fill="hold">
                                          <p:stCondLst>
                                            <p:cond delay="0"/>
                                          </p:stCondLst>
                                        </p:cTn>
                                        <p:tgtEl>
                                          <p:spTgt spid="27"/>
                                        </p:tgtEl>
                                        <p:attrNameLst>
                                          <p:attrName>style.visibility</p:attrName>
                                        </p:attrNameLst>
                                      </p:cBhvr>
                                      <p:to>
                                        <p:strVal val="visible"/>
                                      </p:to>
                                    </p:set>
                                    <p:animEffect transition="in" filter="dissolve">
                                      <p:cBhvr>
                                        <p:cTn id="100" dur="500"/>
                                        <p:tgtEl>
                                          <p:spTgt spid="27"/>
                                        </p:tgtEl>
                                      </p:cBhvr>
                                    </p:animEffect>
                                  </p:childTnLst>
                                </p:cTn>
                              </p:par>
                            </p:childTnLst>
                          </p:cTn>
                        </p:par>
                        <p:par>
                          <p:cTn id="101" fill="hold">
                            <p:stCondLst>
                              <p:cond delay="3000"/>
                            </p:stCondLst>
                            <p:childTnLst>
                              <p:par>
                                <p:cTn id="102" presetID="9" presetClass="entr" presetSubtype="0" fill="hold" grpId="0" nodeType="afterEffect">
                                  <p:stCondLst>
                                    <p:cond delay="0"/>
                                  </p:stCondLst>
                                  <p:childTnLst>
                                    <p:set>
                                      <p:cBhvr>
                                        <p:cTn id="103" dur="1" fill="hold">
                                          <p:stCondLst>
                                            <p:cond delay="0"/>
                                          </p:stCondLst>
                                        </p:cTn>
                                        <p:tgtEl>
                                          <p:spTgt spid="28"/>
                                        </p:tgtEl>
                                        <p:attrNameLst>
                                          <p:attrName>style.visibility</p:attrName>
                                        </p:attrNameLst>
                                      </p:cBhvr>
                                      <p:to>
                                        <p:strVal val="visible"/>
                                      </p:to>
                                    </p:set>
                                    <p:animEffect transition="in" filter="dissolve">
                                      <p:cBhvr>
                                        <p:cTn id="104" dur="500"/>
                                        <p:tgtEl>
                                          <p:spTgt spid="28"/>
                                        </p:tgtEl>
                                      </p:cBhvr>
                                    </p:animEffect>
                                  </p:childTnLst>
                                </p:cTn>
                              </p:par>
                              <p:par>
                                <p:cTn id="105" presetID="9" presetClass="entr" presetSubtype="0" fill="hold" grpId="0" nodeType="withEffect">
                                  <p:stCondLst>
                                    <p:cond delay="0"/>
                                  </p:stCondLst>
                                  <p:childTnLst>
                                    <p:set>
                                      <p:cBhvr>
                                        <p:cTn id="106" dur="1" fill="hold">
                                          <p:stCondLst>
                                            <p:cond delay="0"/>
                                          </p:stCondLst>
                                        </p:cTn>
                                        <p:tgtEl>
                                          <p:spTgt spid="29"/>
                                        </p:tgtEl>
                                        <p:attrNameLst>
                                          <p:attrName>style.visibility</p:attrName>
                                        </p:attrNameLst>
                                      </p:cBhvr>
                                      <p:to>
                                        <p:strVal val="visible"/>
                                      </p:to>
                                    </p:set>
                                    <p:animEffect transition="in" filter="dissolve">
                                      <p:cBhvr>
                                        <p:cTn id="107"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3" grpId="0" animBg="1"/>
      <p:bldP spid="8" grpId="0" animBg="1"/>
      <p:bldP spid="9" grpId="0" animBg="1"/>
      <p:bldP spid="10" grpId="0" animBg="1"/>
      <p:bldP spid="11" grpId="0" animBg="1"/>
      <p:bldP spid="12" grpId="0" animBg="1"/>
      <p:bldP spid="13" grpId="0" animBg="1"/>
      <p:bldP spid="14" grpId="0" animBg="1"/>
      <p:bldP spid="15" grpId="0" animBg="1"/>
      <p:bldP spid="20" grpId="0" animBg="1"/>
      <p:bldP spid="21" grpId="0" animBg="1"/>
      <p:bldP spid="22" grpId="0" animBg="1"/>
      <p:bldP spid="23" grpId="0" animBg="1"/>
      <p:bldP spid="24" grpId="0" animBg="1"/>
      <p:bldP spid="25" grpId="0" animBg="1"/>
      <p:bldP spid="26" grpId="0" animBg="1"/>
      <p:bldP spid="27" grpId="0" animBg="1"/>
      <p:bldP spid="30" grpId="0" animBg="1"/>
      <p:bldP spid="18" grpId="0"/>
      <p:bldP spid="19" grpId="0" animBg="1"/>
      <p:bldP spid="28" grpId="0" animBg="1"/>
      <p:bldP spid="29"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E72FA-EDBD-8B5E-2B49-6B1936B07A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B757EB-0832-FC87-A099-A8C5C9AB12A2}"/>
              </a:ext>
            </a:extLst>
          </p:cNvPr>
          <p:cNvSpPr>
            <a:spLocks noGrp="1"/>
          </p:cNvSpPr>
          <p:nvPr>
            <p:ph type="title"/>
          </p:nvPr>
        </p:nvSpPr>
        <p:spPr/>
        <p:txBody>
          <a:bodyPr/>
          <a:lstStyle/>
          <a:p>
            <a:r>
              <a:rPr lang="en-PK" dirty="0"/>
              <a:t>The 51% Attack</a:t>
            </a:r>
          </a:p>
        </p:txBody>
      </p:sp>
      <p:sp>
        <p:nvSpPr>
          <p:cNvPr id="4" name="Slide Number Placeholder 3">
            <a:extLst>
              <a:ext uri="{FF2B5EF4-FFF2-40B4-BE49-F238E27FC236}">
                <a16:creationId xmlns:a16="http://schemas.microsoft.com/office/drawing/2014/main" id="{8C56E501-9535-E486-98EC-12A0945E1592}"/>
              </a:ext>
            </a:extLst>
          </p:cNvPr>
          <p:cNvSpPr>
            <a:spLocks noGrp="1"/>
          </p:cNvSpPr>
          <p:nvPr>
            <p:ph type="sldNum" sz="quarter" idx="12"/>
          </p:nvPr>
        </p:nvSpPr>
        <p:spPr/>
        <p:txBody>
          <a:bodyPr/>
          <a:lstStyle/>
          <a:p>
            <a:fld id="{D57F1E4F-1CFF-5643-939E-217C01CDF565}" type="slidenum">
              <a:rPr lang="en-US" smtClean="0"/>
              <a:pPr/>
              <a:t>16</a:t>
            </a:fld>
            <a:endParaRPr lang="en-US" dirty="0"/>
          </a:p>
        </p:txBody>
      </p:sp>
      <p:sp>
        <p:nvSpPr>
          <p:cNvPr id="6" name="Rounded Rectangle 5">
            <a:extLst>
              <a:ext uri="{FF2B5EF4-FFF2-40B4-BE49-F238E27FC236}">
                <a16:creationId xmlns:a16="http://schemas.microsoft.com/office/drawing/2014/main" id="{1D8FD13B-07F5-095D-D964-8E0A3566412F}"/>
              </a:ext>
            </a:extLst>
          </p:cNvPr>
          <p:cNvSpPr/>
          <p:nvPr/>
        </p:nvSpPr>
        <p:spPr>
          <a:xfrm>
            <a:off x="3900793" y="1418470"/>
            <a:ext cx="4390413" cy="783193"/>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000" b="1" dirty="0">
                <a:solidFill>
                  <a:srgbClr val="308D3E"/>
                </a:solidFill>
                <a:latin typeface="Candara" panose="020E0502030303020204" pitchFamily="34" charset="0"/>
              </a:rPr>
              <a:t>Truthful miners: </a:t>
            </a:r>
            <a:r>
              <a:rPr lang="en-GB" sz="2000" dirty="0">
                <a:latin typeface="Candara" panose="020E0502030303020204" pitchFamily="34" charset="0"/>
              </a:rPr>
              <a:t>they must accept the longest chain (following the protocol)</a:t>
            </a:r>
          </a:p>
        </p:txBody>
      </p:sp>
      <p:sp>
        <p:nvSpPr>
          <p:cNvPr id="7" name="Rounded Rectangle 6">
            <a:extLst>
              <a:ext uri="{FF2B5EF4-FFF2-40B4-BE49-F238E27FC236}">
                <a16:creationId xmlns:a16="http://schemas.microsoft.com/office/drawing/2014/main" id="{683882DA-5301-2D01-84DA-8209A5C19732}"/>
              </a:ext>
            </a:extLst>
          </p:cNvPr>
          <p:cNvSpPr/>
          <p:nvPr/>
        </p:nvSpPr>
        <p:spPr>
          <a:xfrm>
            <a:off x="3900792" y="5439529"/>
            <a:ext cx="4390413" cy="783193"/>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000" b="1" dirty="0">
                <a:solidFill>
                  <a:srgbClr val="C00000"/>
                </a:solidFill>
                <a:latin typeface="Candara" panose="020E0502030303020204" pitchFamily="34" charset="0"/>
              </a:rPr>
              <a:t>Malicious miner: </a:t>
            </a:r>
            <a:r>
              <a:rPr lang="en-GB" sz="2000" dirty="0">
                <a:latin typeface="Candara" panose="020E0502030303020204" pitchFamily="34" charset="0"/>
              </a:rPr>
              <a:t>broadcasts his chain once it is longer than the public one</a:t>
            </a:r>
          </a:p>
        </p:txBody>
      </p:sp>
      <p:sp>
        <p:nvSpPr>
          <p:cNvPr id="3" name="Rectangle 2">
            <a:extLst>
              <a:ext uri="{FF2B5EF4-FFF2-40B4-BE49-F238E27FC236}">
                <a16:creationId xmlns:a16="http://schemas.microsoft.com/office/drawing/2014/main" id="{756F3114-676A-61A0-141B-016BC2C571AC}"/>
              </a:ext>
            </a:extLst>
          </p:cNvPr>
          <p:cNvSpPr>
            <a:spLocks noChangeAspect="1"/>
          </p:cNvSpPr>
          <p:nvPr/>
        </p:nvSpPr>
        <p:spPr>
          <a:xfrm>
            <a:off x="22966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38</a:t>
            </a:r>
          </a:p>
        </p:txBody>
      </p:sp>
      <p:sp>
        <p:nvSpPr>
          <p:cNvPr id="8" name="Right Arrow 7">
            <a:extLst>
              <a:ext uri="{FF2B5EF4-FFF2-40B4-BE49-F238E27FC236}">
                <a16:creationId xmlns:a16="http://schemas.microsoft.com/office/drawing/2014/main" id="{8966500D-5171-BCE7-17C2-B5AB9160EB0F}"/>
              </a:ext>
            </a:extLst>
          </p:cNvPr>
          <p:cNvSpPr>
            <a:spLocks noChangeAspect="1"/>
          </p:cNvSpPr>
          <p:nvPr/>
        </p:nvSpPr>
        <p:spPr>
          <a:xfrm>
            <a:off x="30166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Rectangle 8">
            <a:extLst>
              <a:ext uri="{FF2B5EF4-FFF2-40B4-BE49-F238E27FC236}">
                <a16:creationId xmlns:a16="http://schemas.microsoft.com/office/drawing/2014/main" id="{C2D21A6F-BA0A-4834-BBF7-C90DAFE566A8}"/>
              </a:ext>
            </a:extLst>
          </p:cNvPr>
          <p:cNvSpPr>
            <a:spLocks noChangeAspect="1"/>
          </p:cNvSpPr>
          <p:nvPr/>
        </p:nvSpPr>
        <p:spPr>
          <a:xfrm>
            <a:off x="34126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39</a:t>
            </a:r>
          </a:p>
        </p:txBody>
      </p:sp>
      <p:sp>
        <p:nvSpPr>
          <p:cNvPr id="10" name="Right Arrow 9">
            <a:extLst>
              <a:ext uri="{FF2B5EF4-FFF2-40B4-BE49-F238E27FC236}">
                <a16:creationId xmlns:a16="http://schemas.microsoft.com/office/drawing/2014/main" id="{E8242E5A-607A-1315-1733-5E0DA7D7B176}"/>
              </a:ext>
            </a:extLst>
          </p:cNvPr>
          <p:cNvSpPr>
            <a:spLocks noChangeAspect="1"/>
          </p:cNvSpPr>
          <p:nvPr/>
        </p:nvSpPr>
        <p:spPr>
          <a:xfrm>
            <a:off x="41326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1" name="Rectangle 10">
            <a:extLst>
              <a:ext uri="{FF2B5EF4-FFF2-40B4-BE49-F238E27FC236}">
                <a16:creationId xmlns:a16="http://schemas.microsoft.com/office/drawing/2014/main" id="{51160C37-F610-6BBA-0850-5FA861613ED9}"/>
              </a:ext>
            </a:extLst>
          </p:cNvPr>
          <p:cNvSpPr>
            <a:spLocks noChangeAspect="1"/>
          </p:cNvSpPr>
          <p:nvPr/>
        </p:nvSpPr>
        <p:spPr>
          <a:xfrm>
            <a:off x="45358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40</a:t>
            </a:r>
          </a:p>
        </p:txBody>
      </p:sp>
      <p:sp>
        <p:nvSpPr>
          <p:cNvPr id="12" name="Right Arrow 11">
            <a:extLst>
              <a:ext uri="{FF2B5EF4-FFF2-40B4-BE49-F238E27FC236}">
                <a16:creationId xmlns:a16="http://schemas.microsoft.com/office/drawing/2014/main" id="{CBAD138F-A29A-5D0F-16B1-8FC69C5B19DE}"/>
              </a:ext>
            </a:extLst>
          </p:cNvPr>
          <p:cNvSpPr>
            <a:spLocks noChangeAspect="1"/>
          </p:cNvSpPr>
          <p:nvPr/>
        </p:nvSpPr>
        <p:spPr>
          <a:xfrm>
            <a:off x="52558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3" name="Rectangle 12">
            <a:extLst>
              <a:ext uri="{FF2B5EF4-FFF2-40B4-BE49-F238E27FC236}">
                <a16:creationId xmlns:a16="http://schemas.microsoft.com/office/drawing/2014/main" id="{8BC415DF-4676-3FC5-E40F-6E4243A8C210}"/>
              </a:ext>
            </a:extLst>
          </p:cNvPr>
          <p:cNvSpPr>
            <a:spLocks noChangeAspect="1"/>
          </p:cNvSpPr>
          <p:nvPr/>
        </p:nvSpPr>
        <p:spPr>
          <a:xfrm>
            <a:off x="56518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41</a:t>
            </a:r>
          </a:p>
        </p:txBody>
      </p:sp>
      <p:sp>
        <p:nvSpPr>
          <p:cNvPr id="14" name="Right Arrow 13">
            <a:extLst>
              <a:ext uri="{FF2B5EF4-FFF2-40B4-BE49-F238E27FC236}">
                <a16:creationId xmlns:a16="http://schemas.microsoft.com/office/drawing/2014/main" id="{55B5827C-F6E3-995E-9EF4-B630B169CE27}"/>
              </a:ext>
            </a:extLst>
          </p:cNvPr>
          <p:cNvSpPr>
            <a:spLocks noChangeAspect="1"/>
          </p:cNvSpPr>
          <p:nvPr/>
        </p:nvSpPr>
        <p:spPr>
          <a:xfrm>
            <a:off x="63718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5" name="Rectangle 14">
            <a:extLst>
              <a:ext uri="{FF2B5EF4-FFF2-40B4-BE49-F238E27FC236}">
                <a16:creationId xmlns:a16="http://schemas.microsoft.com/office/drawing/2014/main" id="{3323F854-C688-E67F-5F31-F27BFBAE6474}"/>
              </a:ext>
            </a:extLst>
          </p:cNvPr>
          <p:cNvSpPr>
            <a:spLocks noChangeAspect="1"/>
          </p:cNvSpPr>
          <p:nvPr/>
        </p:nvSpPr>
        <p:spPr>
          <a:xfrm>
            <a:off x="6768000"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42</a:t>
            </a:r>
          </a:p>
        </p:txBody>
      </p:sp>
      <p:sp>
        <p:nvSpPr>
          <p:cNvPr id="20" name="Right Arrow 19">
            <a:extLst>
              <a:ext uri="{FF2B5EF4-FFF2-40B4-BE49-F238E27FC236}">
                <a16:creationId xmlns:a16="http://schemas.microsoft.com/office/drawing/2014/main" id="{E393E50D-68B7-D7B4-0952-71FD515ACEB9}"/>
              </a:ext>
            </a:extLst>
          </p:cNvPr>
          <p:cNvSpPr>
            <a:spLocks/>
          </p:cNvSpPr>
          <p:nvPr/>
        </p:nvSpPr>
        <p:spPr>
          <a:xfrm>
            <a:off x="2638633" y="4396177"/>
            <a:ext cx="75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1" name="Rectangle 20">
            <a:extLst>
              <a:ext uri="{FF2B5EF4-FFF2-40B4-BE49-F238E27FC236}">
                <a16:creationId xmlns:a16="http://schemas.microsoft.com/office/drawing/2014/main" id="{01BF99C2-D303-751B-C959-2D543148E096}"/>
              </a:ext>
            </a:extLst>
          </p:cNvPr>
          <p:cNvSpPr>
            <a:spLocks noChangeAspect="1"/>
          </p:cNvSpPr>
          <p:nvPr/>
        </p:nvSpPr>
        <p:spPr>
          <a:xfrm>
            <a:off x="34126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39</a:t>
            </a:r>
          </a:p>
        </p:txBody>
      </p:sp>
      <p:sp>
        <p:nvSpPr>
          <p:cNvPr id="22" name="Right Arrow 21">
            <a:extLst>
              <a:ext uri="{FF2B5EF4-FFF2-40B4-BE49-F238E27FC236}">
                <a16:creationId xmlns:a16="http://schemas.microsoft.com/office/drawing/2014/main" id="{7FB4342B-B210-3FDE-BD25-76E05CCC0BDF}"/>
              </a:ext>
            </a:extLst>
          </p:cNvPr>
          <p:cNvSpPr>
            <a:spLocks noChangeAspect="1"/>
          </p:cNvSpPr>
          <p:nvPr/>
        </p:nvSpPr>
        <p:spPr>
          <a:xfrm>
            <a:off x="41326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3" name="Rectangle 22">
            <a:extLst>
              <a:ext uri="{FF2B5EF4-FFF2-40B4-BE49-F238E27FC236}">
                <a16:creationId xmlns:a16="http://schemas.microsoft.com/office/drawing/2014/main" id="{57AEBCBB-BE52-E46E-65BF-921DA370527D}"/>
              </a:ext>
            </a:extLst>
          </p:cNvPr>
          <p:cNvSpPr>
            <a:spLocks noChangeAspect="1"/>
          </p:cNvSpPr>
          <p:nvPr/>
        </p:nvSpPr>
        <p:spPr>
          <a:xfrm>
            <a:off x="45358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40</a:t>
            </a:r>
          </a:p>
        </p:txBody>
      </p:sp>
      <p:sp>
        <p:nvSpPr>
          <p:cNvPr id="24" name="Right Arrow 23">
            <a:extLst>
              <a:ext uri="{FF2B5EF4-FFF2-40B4-BE49-F238E27FC236}">
                <a16:creationId xmlns:a16="http://schemas.microsoft.com/office/drawing/2014/main" id="{94475796-F094-95C7-ECD1-B6D632006FAB}"/>
              </a:ext>
            </a:extLst>
          </p:cNvPr>
          <p:cNvSpPr>
            <a:spLocks noChangeAspect="1"/>
          </p:cNvSpPr>
          <p:nvPr/>
        </p:nvSpPr>
        <p:spPr>
          <a:xfrm>
            <a:off x="52558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5" name="Rectangle 24">
            <a:extLst>
              <a:ext uri="{FF2B5EF4-FFF2-40B4-BE49-F238E27FC236}">
                <a16:creationId xmlns:a16="http://schemas.microsoft.com/office/drawing/2014/main" id="{01B4BF3C-2A5F-28E9-4EE0-F41371C14A28}"/>
              </a:ext>
            </a:extLst>
          </p:cNvPr>
          <p:cNvSpPr>
            <a:spLocks noChangeAspect="1"/>
          </p:cNvSpPr>
          <p:nvPr/>
        </p:nvSpPr>
        <p:spPr>
          <a:xfrm>
            <a:off x="5651833"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41</a:t>
            </a:r>
          </a:p>
        </p:txBody>
      </p:sp>
      <p:sp>
        <p:nvSpPr>
          <p:cNvPr id="26" name="Right Arrow 25">
            <a:extLst>
              <a:ext uri="{FF2B5EF4-FFF2-40B4-BE49-F238E27FC236}">
                <a16:creationId xmlns:a16="http://schemas.microsoft.com/office/drawing/2014/main" id="{A745C48A-3DB3-CB1E-C161-FAC785352D64}"/>
              </a:ext>
            </a:extLst>
          </p:cNvPr>
          <p:cNvSpPr>
            <a:spLocks noChangeAspect="1"/>
          </p:cNvSpPr>
          <p:nvPr/>
        </p:nvSpPr>
        <p:spPr>
          <a:xfrm>
            <a:off x="63718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7" name="Rectangle 26">
            <a:extLst>
              <a:ext uri="{FF2B5EF4-FFF2-40B4-BE49-F238E27FC236}">
                <a16:creationId xmlns:a16="http://schemas.microsoft.com/office/drawing/2014/main" id="{D1500E45-E467-9925-2AFF-BFB18971C9D4}"/>
              </a:ext>
            </a:extLst>
          </p:cNvPr>
          <p:cNvSpPr>
            <a:spLocks noChangeAspect="1"/>
          </p:cNvSpPr>
          <p:nvPr/>
        </p:nvSpPr>
        <p:spPr>
          <a:xfrm>
            <a:off x="6768000" y="4134252"/>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42</a:t>
            </a:r>
          </a:p>
        </p:txBody>
      </p:sp>
      <p:sp>
        <p:nvSpPr>
          <p:cNvPr id="30" name="Right Arrow 29">
            <a:extLst>
              <a:ext uri="{FF2B5EF4-FFF2-40B4-BE49-F238E27FC236}">
                <a16:creationId xmlns:a16="http://schemas.microsoft.com/office/drawing/2014/main" id="{B044DEC3-1764-5D6D-A7DA-1660491604A9}"/>
              </a:ext>
            </a:extLst>
          </p:cNvPr>
          <p:cNvSpPr>
            <a:spLocks/>
          </p:cNvSpPr>
          <p:nvPr/>
        </p:nvSpPr>
        <p:spPr>
          <a:xfrm rot="5400000">
            <a:off x="2206632" y="3900186"/>
            <a:ext cx="900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31" name="Picture 30" descr="A red person with black background&#10;&#10;AI-generated content may be incorrect.">
            <a:extLst>
              <a:ext uri="{FF2B5EF4-FFF2-40B4-BE49-F238E27FC236}">
                <a16:creationId xmlns:a16="http://schemas.microsoft.com/office/drawing/2014/main" id="{A7ADB277-7F5D-0550-EA41-65F33A09CC55}"/>
              </a:ext>
            </a:extLst>
          </p:cNvPr>
          <p:cNvPicPr>
            <a:picLocks noChangeAspect="1"/>
          </p:cNvPicPr>
          <p:nvPr/>
        </p:nvPicPr>
        <p:blipFill>
          <a:blip r:embed="rId2">
            <a:extLst>
              <a:ext uri="{BEBA8EAE-BF5A-486C-A8C5-ECC9F3942E4B}">
                <a14:imgProps xmlns:a14="http://schemas.microsoft.com/office/drawing/2010/main">
                  <a14:imgLayer r:embed="rId3">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553367" y="4134252"/>
            <a:ext cx="360000" cy="720000"/>
          </a:xfrm>
          <a:prstGeom prst="rect">
            <a:avLst/>
          </a:prstGeom>
        </p:spPr>
      </p:pic>
      <p:pic>
        <p:nvPicPr>
          <p:cNvPr id="32" name="Picture 31" descr="A red person with black background&#10;&#10;AI-generated content may be incorrect.">
            <a:extLst>
              <a:ext uri="{FF2B5EF4-FFF2-40B4-BE49-F238E27FC236}">
                <a16:creationId xmlns:a16="http://schemas.microsoft.com/office/drawing/2014/main" id="{E847B547-8D68-577B-15D6-247994913E1F}"/>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5">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553367" y="2828260"/>
            <a:ext cx="360000" cy="720000"/>
          </a:xfrm>
          <a:prstGeom prst="rect">
            <a:avLst/>
          </a:prstGeom>
          <a:solidFill>
            <a:schemeClr val="bg1"/>
          </a:solidFill>
        </p:spPr>
      </p:pic>
      <p:pic>
        <p:nvPicPr>
          <p:cNvPr id="33" name="Picture 32" descr="A red person with black background&#10;&#10;AI-generated content may be incorrect.">
            <a:extLst>
              <a:ext uri="{FF2B5EF4-FFF2-40B4-BE49-F238E27FC236}">
                <a16:creationId xmlns:a16="http://schemas.microsoft.com/office/drawing/2014/main" id="{D92EF4DC-B04A-6851-CC97-6C12CFE23D74}"/>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913367" y="2828259"/>
            <a:ext cx="360000" cy="720000"/>
          </a:xfrm>
          <a:prstGeom prst="rect">
            <a:avLst/>
          </a:prstGeom>
          <a:solidFill>
            <a:schemeClr val="bg1"/>
          </a:solidFill>
        </p:spPr>
      </p:pic>
      <p:pic>
        <p:nvPicPr>
          <p:cNvPr id="34" name="Picture 33" descr="A red person with black background&#10;&#10;AI-generated content may be incorrect.">
            <a:extLst>
              <a:ext uri="{FF2B5EF4-FFF2-40B4-BE49-F238E27FC236}">
                <a16:creationId xmlns:a16="http://schemas.microsoft.com/office/drawing/2014/main" id="{F34189C7-1785-B688-B38D-B5C48668CB20}"/>
              </a:ext>
            </a:extLst>
          </p:cNvPr>
          <p:cNvPicPr>
            <a:picLocks noChangeAspect="1"/>
          </p:cNvPicPr>
          <p:nvPr/>
        </p:nvPicPr>
        <p:blipFill>
          <a:blip r:embed="rId2">
            <a:duotone>
              <a:schemeClr val="accent6">
                <a:shade val="45000"/>
                <a:satMod val="135000"/>
              </a:schemeClr>
              <a:prstClr val="white"/>
            </a:duotone>
            <a:extLst>
              <a:ext uri="{BEBA8EAE-BF5A-486C-A8C5-ECC9F3942E4B}">
                <a14:imgProps xmlns:a14="http://schemas.microsoft.com/office/drawing/2010/main">
                  <a14:imgLayer r:embed="rId7">
                    <a14:imgEffect>
                      <a14:colorTemperature colorTemp="11500"/>
                    </a14:imgEffect>
                    <a14:imgEffect>
                      <a14:saturation sat="400000"/>
                    </a14:imgEffect>
                  </a14:imgLayer>
                </a14:imgProps>
              </a:ext>
              <a:ext uri="{837473B0-CC2E-450A-ABE3-18F120FF3D39}">
                <a1611:picAttrSrcUrl xmlns:a1611="http://schemas.microsoft.com/office/drawing/2016/11/main" r:id="rId4"/>
              </a:ext>
            </a:extLst>
          </a:blip>
          <a:stretch>
            <a:fillRect/>
          </a:stretch>
        </p:blipFill>
        <p:spPr>
          <a:xfrm>
            <a:off x="9193367" y="2828259"/>
            <a:ext cx="360000" cy="720000"/>
          </a:xfrm>
          <a:prstGeom prst="rect">
            <a:avLst/>
          </a:prstGeom>
          <a:solidFill>
            <a:schemeClr val="bg1"/>
          </a:solidFill>
        </p:spPr>
      </p:pic>
      <p:pic>
        <p:nvPicPr>
          <p:cNvPr id="5" name="Picture 4" descr="A computer with a green screen&#10;&#10;AI-generated content may be incorrect.">
            <a:extLst>
              <a:ext uri="{FF2B5EF4-FFF2-40B4-BE49-F238E27FC236}">
                <a16:creationId xmlns:a16="http://schemas.microsoft.com/office/drawing/2014/main" id="{0563F242-A19E-B63C-2CF3-FE923CAB79D6}"/>
              </a:ext>
            </a:extLst>
          </p:cNvPr>
          <p:cNvPicPr>
            <a:picLocks noChangeAspect="1"/>
          </p:cNvPicPr>
          <p:nvPr/>
        </p:nvPicPr>
        <p:blipFill>
          <a:blip r:embed="rId8">
            <a:extLst>
              <a:ext uri="{837473B0-CC2E-450A-ABE3-18F120FF3D39}">
                <a1611:picAttrSrcUrl xmlns:a1611="http://schemas.microsoft.com/office/drawing/2016/11/main" r:id="rId9"/>
              </a:ext>
            </a:extLst>
          </a:blip>
          <a:stretch>
            <a:fillRect/>
          </a:stretch>
        </p:blipFill>
        <p:spPr>
          <a:xfrm>
            <a:off x="9373367" y="1481664"/>
            <a:ext cx="720000" cy="720000"/>
          </a:xfrm>
          <a:prstGeom prst="rect">
            <a:avLst/>
          </a:prstGeom>
        </p:spPr>
      </p:pic>
      <p:pic>
        <p:nvPicPr>
          <p:cNvPr id="16" name="Picture 15" descr="A computer with a green screen&#10;&#10;AI-generated content may be incorrect.">
            <a:extLst>
              <a:ext uri="{FF2B5EF4-FFF2-40B4-BE49-F238E27FC236}">
                <a16:creationId xmlns:a16="http://schemas.microsoft.com/office/drawing/2014/main" id="{6861B4E7-20B8-945E-1C58-FE6C6FDDB193}"/>
              </a:ext>
            </a:extLst>
          </p:cNvPr>
          <p:cNvPicPr>
            <a:picLocks noChangeAspect="1"/>
          </p:cNvPicPr>
          <p:nvPr/>
        </p:nvPicPr>
        <p:blipFill>
          <a:blip r:embed="rId10">
            <a:duotone>
              <a:schemeClr val="accent2">
                <a:shade val="45000"/>
                <a:satMod val="135000"/>
              </a:schemeClr>
              <a:prstClr val="white"/>
            </a:duotone>
            <a:extLst>
              <a:ext uri="{BEBA8EAE-BF5A-486C-A8C5-ECC9F3942E4B}">
                <a14:imgProps xmlns:a14="http://schemas.microsoft.com/office/drawing/2010/main">
                  <a14:imgLayer r:embed="rId11">
                    <a14:imgEffect>
                      <a14:colorTemperature colorTemp="11500"/>
                    </a14:imgEffect>
                    <a14:imgEffect>
                      <a14:saturation sat="400000"/>
                    </a14:imgEffect>
                  </a14:imgLayer>
                </a14:imgProps>
              </a:ext>
              <a:ext uri="{837473B0-CC2E-450A-ABE3-18F120FF3D39}">
                <a1611:picAttrSrcUrl xmlns:a1611="http://schemas.microsoft.com/office/drawing/2016/11/main" r:id="rId9"/>
              </a:ext>
            </a:extLst>
          </a:blip>
          <a:stretch>
            <a:fillRect/>
          </a:stretch>
        </p:blipFill>
        <p:spPr>
          <a:xfrm>
            <a:off x="9090153" y="5464675"/>
            <a:ext cx="720000" cy="720000"/>
          </a:xfrm>
          <a:prstGeom prst="rect">
            <a:avLst/>
          </a:prstGeom>
        </p:spPr>
      </p:pic>
      <p:pic>
        <p:nvPicPr>
          <p:cNvPr id="17" name="Picture 16" descr="A computer with a green screen&#10;&#10;AI-generated content may be incorrect.">
            <a:extLst>
              <a:ext uri="{FF2B5EF4-FFF2-40B4-BE49-F238E27FC236}">
                <a16:creationId xmlns:a16="http://schemas.microsoft.com/office/drawing/2014/main" id="{C6033107-C03F-FF15-A7AD-D42309F5EE27}"/>
              </a:ext>
            </a:extLst>
          </p:cNvPr>
          <p:cNvPicPr>
            <a:picLocks noChangeAspect="1"/>
          </p:cNvPicPr>
          <p:nvPr/>
        </p:nvPicPr>
        <p:blipFill>
          <a:blip r:embed="rId10">
            <a:duotone>
              <a:schemeClr val="accent2">
                <a:shade val="45000"/>
                <a:satMod val="135000"/>
              </a:schemeClr>
              <a:prstClr val="white"/>
            </a:duotone>
            <a:extLst>
              <a:ext uri="{BEBA8EAE-BF5A-486C-A8C5-ECC9F3942E4B}">
                <a14:imgProps xmlns:a14="http://schemas.microsoft.com/office/drawing/2010/main">
                  <a14:imgLayer r:embed="rId12">
                    <a14:imgEffect>
                      <a14:colorTemperature colorTemp="11500"/>
                    </a14:imgEffect>
                    <a14:imgEffect>
                      <a14:saturation sat="400000"/>
                    </a14:imgEffect>
                  </a14:imgLayer>
                </a14:imgProps>
              </a:ext>
              <a:ext uri="{837473B0-CC2E-450A-ABE3-18F120FF3D39}">
                <a1611:picAttrSrcUrl xmlns:a1611="http://schemas.microsoft.com/office/drawing/2016/11/main" r:id="rId9"/>
              </a:ext>
            </a:extLst>
          </a:blip>
          <a:stretch>
            <a:fillRect/>
          </a:stretch>
        </p:blipFill>
        <p:spPr>
          <a:xfrm>
            <a:off x="9887650" y="5464675"/>
            <a:ext cx="720000" cy="720000"/>
          </a:xfrm>
          <a:prstGeom prst="rect">
            <a:avLst/>
          </a:prstGeom>
        </p:spPr>
      </p:pic>
      <p:sp>
        <p:nvSpPr>
          <p:cNvPr id="18" name="Rounded Rectangle 17">
            <a:extLst>
              <a:ext uri="{FF2B5EF4-FFF2-40B4-BE49-F238E27FC236}">
                <a16:creationId xmlns:a16="http://schemas.microsoft.com/office/drawing/2014/main" id="{D8E74CD5-0A29-5A16-D31F-A840F7A97F3C}"/>
              </a:ext>
            </a:extLst>
          </p:cNvPr>
          <p:cNvSpPr/>
          <p:nvPr/>
        </p:nvSpPr>
        <p:spPr>
          <a:xfrm>
            <a:off x="10067697" y="4808261"/>
            <a:ext cx="1350909" cy="442674"/>
          </a:xfrm>
          <a:prstGeom prst="roundRect">
            <a:avLst/>
          </a:prstGeom>
          <a:noFill/>
          <a:ln>
            <a:no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PK" sz="2000" dirty="0">
                <a:latin typeface="Candara" panose="020E0502030303020204" pitchFamily="34" charset="0"/>
              </a:rPr>
              <a:t>Broadcast</a:t>
            </a:r>
          </a:p>
        </p:txBody>
      </p:sp>
      <p:sp>
        <p:nvSpPr>
          <p:cNvPr id="28" name="Right Arrow 27">
            <a:extLst>
              <a:ext uri="{FF2B5EF4-FFF2-40B4-BE49-F238E27FC236}">
                <a16:creationId xmlns:a16="http://schemas.microsoft.com/office/drawing/2014/main" id="{008CFBA0-9602-91EB-D967-E895E14F135A}"/>
              </a:ext>
            </a:extLst>
          </p:cNvPr>
          <p:cNvSpPr>
            <a:spLocks noChangeAspect="1"/>
          </p:cNvSpPr>
          <p:nvPr/>
        </p:nvSpPr>
        <p:spPr>
          <a:xfrm>
            <a:off x="7488000" y="4395820"/>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9" name="Rectangle 28">
            <a:extLst>
              <a:ext uri="{FF2B5EF4-FFF2-40B4-BE49-F238E27FC236}">
                <a16:creationId xmlns:a16="http://schemas.microsoft.com/office/drawing/2014/main" id="{172CA3AE-E3DC-D9EE-A1CD-7F682B718130}"/>
              </a:ext>
            </a:extLst>
          </p:cNvPr>
          <p:cNvSpPr>
            <a:spLocks noChangeAspect="1"/>
          </p:cNvSpPr>
          <p:nvPr/>
        </p:nvSpPr>
        <p:spPr>
          <a:xfrm>
            <a:off x="7884000" y="4133895"/>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43</a:t>
            </a:r>
          </a:p>
        </p:txBody>
      </p:sp>
      <p:pic>
        <p:nvPicPr>
          <p:cNvPr id="35" name="Picture 34" descr="A black background with a black square&#10;&#10;AI-generated content may be incorrect.">
            <a:extLst>
              <a:ext uri="{FF2B5EF4-FFF2-40B4-BE49-F238E27FC236}">
                <a16:creationId xmlns:a16="http://schemas.microsoft.com/office/drawing/2014/main" id="{607C08C6-39D1-2EA8-ED73-AD876DDC5FDF}"/>
              </a:ext>
            </a:extLst>
          </p:cNvPr>
          <p:cNvPicPr>
            <a:picLocks noChangeAspect="1"/>
          </p:cNvPicPr>
          <p:nvPr/>
        </p:nvPicPr>
        <p:blipFill>
          <a:blip r:embed="rId13">
            <a:extLst>
              <a:ext uri="{837473B0-CC2E-450A-ABE3-18F120FF3D39}">
                <a1611:picAttrSrcUrl xmlns:a1611="http://schemas.microsoft.com/office/drawing/2016/11/main" r:id="rId14"/>
              </a:ext>
            </a:extLst>
          </a:blip>
          <a:stretch>
            <a:fillRect/>
          </a:stretch>
        </p:blipFill>
        <p:spPr>
          <a:xfrm>
            <a:off x="10336067" y="4088261"/>
            <a:ext cx="814171" cy="720000"/>
          </a:xfrm>
          <a:prstGeom prst="rect">
            <a:avLst/>
          </a:prstGeom>
        </p:spPr>
      </p:pic>
    </p:spTree>
    <p:extLst>
      <p:ext uri="{BB962C8B-B14F-4D97-AF65-F5344CB8AC3E}">
        <p14:creationId xmlns:p14="http://schemas.microsoft.com/office/powerpoint/2010/main" val="27192303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par>
                          <p:cTn id="8" fill="hold">
                            <p:stCondLst>
                              <p:cond delay="500"/>
                            </p:stCondLst>
                            <p:childTnLst>
                              <p:par>
                                <p:cTn id="9" presetID="5" presetClass="entr" presetSubtype="10"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checkerboard(across)">
                                      <p:cBhvr>
                                        <p:cTn id="11" dur="500"/>
                                        <p:tgtEl>
                                          <p:spTgt spid="18"/>
                                        </p:tgtEl>
                                      </p:cBhvr>
                                    </p:animEffect>
                                  </p:childTnLst>
                                </p:cTn>
                              </p:par>
                              <p:par>
                                <p:cTn id="12" presetID="9" presetClass="entr" presetSubtype="0" fill="hold" nodeType="withEffect">
                                  <p:stCondLst>
                                    <p:cond delay="0"/>
                                  </p:stCondLst>
                                  <p:childTnLst>
                                    <p:set>
                                      <p:cBhvr>
                                        <p:cTn id="13" dur="1" fill="hold">
                                          <p:stCondLst>
                                            <p:cond delay="0"/>
                                          </p:stCondLst>
                                        </p:cTn>
                                        <p:tgtEl>
                                          <p:spTgt spid="35"/>
                                        </p:tgtEl>
                                        <p:attrNameLst>
                                          <p:attrName>style.visibility</p:attrName>
                                        </p:attrNameLst>
                                      </p:cBhvr>
                                      <p:to>
                                        <p:strVal val="visible"/>
                                      </p:to>
                                    </p:set>
                                    <p:animEffect transition="in" filter="dissolve">
                                      <p:cBhvr>
                                        <p:cTn id="14" dur="500"/>
                                        <p:tgtEl>
                                          <p:spTgt spid="35"/>
                                        </p:tgtEl>
                                      </p:cBhvr>
                                    </p:animEffect>
                                  </p:childTnLst>
                                </p:cTn>
                              </p:par>
                            </p:childTnLst>
                          </p:cTn>
                        </p:par>
                      </p:childTnLst>
                    </p:cTn>
                  </p:par>
                  <p:par>
                    <p:cTn id="15" fill="hold">
                      <p:stCondLst>
                        <p:cond delay="indefinite"/>
                      </p:stCondLst>
                      <p:childTnLst>
                        <p:par>
                          <p:cTn id="16" fill="hold">
                            <p:stCondLst>
                              <p:cond delay="0"/>
                            </p:stCondLst>
                            <p:childTnLst>
                              <p:par>
                                <p:cTn id="17" presetID="5" presetClass="entr" presetSubtype="1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checkerboard(across)">
                                      <p:cBhvr>
                                        <p:cTn id="19"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18"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19557C-C11C-592F-532F-CCFC87BEAC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3465B4A-FDF6-F80D-F52E-3B868F6B46B1}"/>
              </a:ext>
            </a:extLst>
          </p:cNvPr>
          <p:cNvSpPr>
            <a:spLocks noGrp="1"/>
          </p:cNvSpPr>
          <p:nvPr>
            <p:ph type="title"/>
          </p:nvPr>
        </p:nvSpPr>
        <p:spPr/>
        <p:txBody>
          <a:bodyPr/>
          <a:lstStyle/>
          <a:p>
            <a:r>
              <a:rPr lang="en-PK" dirty="0"/>
              <a:t>The 51% Attack</a:t>
            </a:r>
          </a:p>
        </p:txBody>
      </p:sp>
      <p:sp>
        <p:nvSpPr>
          <p:cNvPr id="4" name="Slide Number Placeholder 3">
            <a:extLst>
              <a:ext uri="{FF2B5EF4-FFF2-40B4-BE49-F238E27FC236}">
                <a16:creationId xmlns:a16="http://schemas.microsoft.com/office/drawing/2014/main" id="{369F1E0E-A088-DD29-7BA8-E03A1BDA04B4}"/>
              </a:ext>
            </a:extLst>
          </p:cNvPr>
          <p:cNvSpPr>
            <a:spLocks noGrp="1"/>
          </p:cNvSpPr>
          <p:nvPr>
            <p:ph type="sldNum" sz="quarter" idx="12"/>
          </p:nvPr>
        </p:nvSpPr>
        <p:spPr/>
        <p:txBody>
          <a:bodyPr/>
          <a:lstStyle/>
          <a:p>
            <a:fld id="{D57F1E4F-1CFF-5643-939E-217C01CDF565}" type="slidenum">
              <a:rPr lang="en-US" smtClean="0"/>
              <a:pPr/>
              <a:t>17</a:t>
            </a:fld>
            <a:endParaRPr lang="en-US" dirty="0"/>
          </a:p>
        </p:txBody>
      </p:sp>
      <p:sp>
        <p:nvSpPr>
          <p:cNvPr id="6" name="Rounded Rectangle 5">
            <a:extLst>
              <a:ext uri="{FF2B5EF4-FFF2-40B4-BE49-F238E27FC236}">
                <a16:creationId xmlns:a16="http://schemas.microsoft.com/office/drawing/2014/main" id="{C04A16F0-7155-0F40-C69F-1E0B450DD88E}"/>
              </a:ext>
            </a:extLst>
          </p:cNvPr>
          <p:cNvSpPr/>
          <p:nvPr/>
        </p:nvSpPr>
        <p:spPr>
          <a:xfrm>
            <a:off x="3539597" y="1418470"/>
            <a:ext cx="5122704" cy="783193"/>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000" dirty="0">
                <a:latin typeface="Candara" panose="020E0502030303020204" pitchFamily="34" charset="0"/>
              </a:rPr>
              <a:t>The old public chain is abandoned (including the spending record of the malicious miner)</a:t>
            </a:r>
          </a:p>
        </p:txBody>
      </p:sp>
      <p:sp>
        <p:nvSpPr>
          <p:cNvPr id="7" name="Rounded Rectangle 6">
            <a:extLst>
              <a:ext uri="{FF2B5EF4-FFF2-40B4-BE49-F238E27FC236}">
                <a16:creationId xmlns:a16="http://schemas.microsoft.com/office/drawing/2014/main" id="{33C91130-C29E-5F37-D5D3-1594920A1988}"/>
              </a:ext>
            </a:extLst>
          </p:cNvPr>
          <p:cNvSpPr/>
          <p:nvPr/>
        </p:nvSpPr>
        <p:spPr>
          <a:xfrm>
            <a:off x="3529952" y="5439528"/>
            <a:ext cx="5122704" cy="783193"/>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000" dirty="0">
                <a:latin typeface="Candara" panose="020E0502030303020204" pitchFamily="34" charset="0"/>
              </a:rPr>
              <a:t>Malicious miner: Can “double” spend the BTC that he already spent on the other chain</a:t>
            </a:r>
          </a:p>
        </p:txBody>
      </p:sp>
      <p:sp>
        <p:nvSpPr>
          <p:cNvPr id="3" name="Rectangle 2">
            <a:extLst>
              <a:ext uri="{FF2B5EF4-FFF2-40B4-BE49-F238E27FC236}">
                <a16:creationId xmlns:a16="http://schemas.microsoft.com/office/drawing/2014/main" id="{510BC648-5E4A-78D9-E450-7F201BDCCF1E}"/>
              </a:ext>
            </a:extLst>
          </p:cNvPr>
          <p:cNvSpPr>
            <a:spLocks noChangeAspect="1"/>
          </p:cNvSpPr>
          <p:nvPr/>
        </p:nvSpPr>
        <p:spPr>
          <a:xfrm>
            <a:off x="2296633" y="2828260"/>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38</a:t>
            </a:r>
          </a:p>
        </p:txBody>
      </p:sp>
      <p:sp>
        <p:nvSpPr>
          <p:cNvPr id="8" name="Right Arrow 7">
            <a:extLst>
              <a:ext uri="{FF2B5EF4-FFF2-40B4-BE49-F238E27FC236}">
                <a16:creationId xmlns:a16="http://schemas.microsoft.com/office/drawing/2014/main" id="{5D42FD5E-6AA1-A75B-79E8-5C2272DDFDC3}"/>
              </a:ext>
            </a:extLst>
          </p:cNvPr>
          <p:cNvSpPr>
            <a:spLocks noChangeAspect="1"/>
          </p:cNvSpPr>
          <p:nvPr/>
        </p:nvSpPr>
        <p:spPr>
          <a:xfrm>
            <a:off x="30166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9" name="Rectangle 8">
            <a:extLst>
              <a:ext uri="{FF2B5EF4-FFF2-40B4-BE49-F238E27FC236}">
                <a16:creationId xmlns:a16="http://schemas.microsoft.com/office/drawing/2014/main" id="{626DA311-5529-67F7-E9AA-D04FE9B9DCF1}"/>
              </a:ext>
            </a:extLst>
          </p:cNvPr>
          <p:cNvSpPr>
            <a:spLocks noChangeAspect="1"/>
          </p:cNvSpPr>
          <p:nvPr/>
        </p:nvSpPr>
        <p:spPr>
          <a:xfrm>
            <a:off x="3412633" y="2828260"/>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39</a:t>
            </a:r>
          </a:p>
        </p:txBody>
      </p:sp>
      <p:sp>
        <p:nvSpPr>
          <p:cNvPr id="10" name="Right Arrow 9">
            <a:extLst>
              <a:ext uri="{FF2B5EF4-FFF2-40B4-BE49-F238E27FC236}">
                <a16:creationId xmlns:a16="http://schemas.microsoft.com/office/drawing/2014/main" id="{EB4AB361-5FD1-C75A-9075-F43863D11245}"/>
              </a:ext>
            </a:extLst>
          </p:cNvPr>
          <p:cNvSpPr>
            <a:spLocks noChangeAspect="1"/>
          </p:cNvSpPr>
          <p:nvPr/>
        </p:nvSpPr>
        <p:spPr>
          <a:xfrm>
            <a:off x="41326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1" name="Rectangle 10">
            <a:extLst>
              <a:ext uri="{FF2B5EF4-FFF2-40B4-BE49-F238E27FC236}">
                <a16:creationId xmlns:a16="http://schemas.microsoft.com/office/drawing/2014/main" id="{CD5CE7D6-A24C-F793-30DA-E083310D1D89}"/>
              </a:ext>
            </a:extLst>
          </p:cNvPr>
          <p:cNvSpPr>
            <a:spLocks noChangeAspect="1"/>
          </p:cNvSpPr>
          <p:nvPr/>
        </p:nvSpPr>
        <p:spPr>
          <a:xfrm>
            <a:off x="4535833" y="2828260"/>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40</a:t>
            </a:r>
          </a:p>
        </p:txBody>
      </p:sp>
      <p:sp>
        <p:nvSpPr>
          <p:cNvPr id="12" name="Right Arrow 11">
            <a:extLst>
              <a:ext uri="{FF2B5EF4-FFF2-40B4-BE49-F238E27FC236}">
                <a16:creationId xmlns:a16="http://schemas.microsoft.com/office/drawing/2014/main" id="{C5ED2D0D-C791-9D78-4C02-72D4622A5673}"/>
              </a:ext>
            </a:extLst>
          </p:cNvPr>
          <p:cNvSpPr>
            <a:spLocks noChangeAspect="1"/>
          </p:cNvSpPr>
          <p:nvPr/>
        </p:nvSpPr>
        <p:spPr>
          <a:xfrm>
            <a:off x="52558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3" name="Rectangle 12">
            <a:extLst>
              <a:ext uri="{FF2B5EF4-FFF2-40B4-BE49-F238E27FC236}">
                <a16:creationId xmlns:a16="http://schemas.microsoft.com/office/drawing/2014/main" id="{DF28A53D-2746-1FEA-B844-483C91D86C8A}"/>
              </a:ext>
            </a:extLst>
          </p:cNvPr>
          <p:cNvSpPr>
            <a:spLocks noChangeAspect="1"/>
          </p:cNvSpPr>
          <p:nvPr/>
        </p:nvSpPr>
        <p:spPr>
          <a:xfrm>
            <a:off x="5651833" y="2828260"/>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41</a:t>
            </a:r>
          </a:p>
        </p:txBody>
      </p:sp>
      <p:sp>
        <p:nvSpPr>
          <p:cNvPr id="14" name="Right Arrow 13">
            <a:extLst>
              <a:ext uri="{FF2B5EF4-FFF2-40B4-BE49-F238E27FC236}">
                <a16:creationId xmlns:a16="http://schemas.microsoft.com/office/drawing/2014/main" id="{5A4DD6E0-45F5-836F-ADC0-C387FB2C7FA7}"/>
              </a:ext>
            </a:extLst>
          </p:cNvPr>
          <p:cNvSpPr>
            <a:spLocks noChangeAspect="1"/>
          </p:cNvSpPr>
          <p:nvPr/>
        </p:nvSpPr>
        <p:spPr>
          <a:xfrm>
            <a:off x="6371833" y="3090185"/>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15" name="Rectangle 14">
            <a:extLst>
              <a:ext uri="{FF2B5EF4-FFF2-40B4-BE49-F238E27FC236}">
                <a16:creationId xmlns:a16="http://schemas.microsoft.com/office/drawing/2014/main" id="{CB4C3527-04FE-F25D-7914-48DF44B01575}"/>
              </a:ext>
            </a:extLst>
          </p:cNvPr>
          <p:cNvSpPr>
            <a:spLocks noChangeAspect="1"/>
          </p:cNvSpPr>
          <p:nvPr/>
        </p:nvSpPr>
        <p:spPr>
          <a:xfrm>
            <a:off x="6768000" y="2828260"/>
            <a:ext cx="720000" cy="720000"/>
          </a:xfrm>
          <a:prstGeom prst="rect">
            <a:avLst/>
          </a:prstGeom>
          <a:solidFill>
            <a:srgbClr val="C0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42</a:t>
            </a:r>
          </a:p>
        </p:txBody>
      </p:sp>
      <p:sp>
        <p:nvSpPr>
          <p:cNvPr id="20" name="Right Arrow 19">
            <a:extLst>
              <a:ext uri="{FF2B5EF4-FFF2-40B4-BE49-F238E27FC236}">
                <a16:creationId xmlns:a16="http://schemas.microsoft.com/office/drawing/2014/main" id="{3640189B-3A62-00D5-3FC9-0A2E419D1AFF}"/>
              </a:ext>
            </a:extLst>
          </p:cNvPr>
          <p:cNvSpPr>
            <a:spLocks/>
          </p:cNvSpPr>
          <p:nvPr/>
        </p:nvSpPr>
        <p:spPr>
          <a:xfrm>
            <a:off x="2638633" y="4396177"/>
            <a:ext cx="75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1" name="Rectangle 20">
            <a:extLst>
              <a:ext uri="{FF2B5EF4-FFF2-40B4-BE49-F238E27FC236}">
                <a16:creationId xmlns:a16="http://schemas.microsoft.com/office/drawing/2014/main" id="{F40EEC97-BBDE-7941-80C2-295414868582}"/>
              </a:ext>
            </a:extLst>
          </p:cNvPr>
          <p:cNvSpPr>
            <a:spLocks noChangeAspect="1"/>
          </p:cNvSpPr>
          <p:nvPr/>
        </p:nvSpPr>
        <p:spPr>
          <a:xfrm>
            <a:off x="3412633" y="4134252"/>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39</a:t>
            </a:r>
          </a:p>
        </p:txBody>
      </p:sp>
      <p:sp>
        <p:nvSpPr>
          <p:cNvPr id="22" name="Right Arrow 21">
            <a:extLst>
              <a:ext uri="{FF2B5EF4-FFF2-40B4-BE49-F238E27FC236}">
                <a16:creationId xmlns:a16="http://schemas.microsoft.com/office/drawing/2014/main" id="{2667F2D9-CADB-3E1E-FFB1-3C1D411EF6A9}"/>
              </a:ext>
            </a:extLst>
          </p:cNvPr>
          <p:cNvSpPr>
            <a:spLocks noChangeAspect="1"/>
          </p:cNvSpPr>
          <p:nvPr/>
        </p:nvSpPr>
        <p:spPr>
          <a:xfrm>
            <a:off x="41326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3" name="Rectangle 22">
            <a:extLst>
              <a:ext uri="{FF2B5EF4-FFF2-40B4-BE49-F238E27FC236}">
                <a16:creationId xmlns:a16="http://schemas.microsoft.com/office/drawing/2014/main" id="{13A15071-91AD-F70A-BD56-D482C8272BEA}"/>
              </a:ext>
            </a:extLst>
          </p:cNvPr>
          <p:cNvSpPr>
            <a:spLocks noChangeAspect="1"/>
          </p:cNvSpPr>
          <p:nvPr/>
        </p:nvSpPr>
        <p:spPr>
          <a:xfrm>
            <a:off x="4535833" y="4134252"/>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40</a:t>
            </a:r>
          </a:p>
        </p:txBody>
      </p:sp>
      <p:sp>
        <p:nvSpPr>
          <p:cNvPr id="24" name="Right Arrow 23">
            <a:extLst>
              <a:ext uri="{FF2B5EF4-FFF2-40B4-BE49-F238E27FC236}">
                <a16:creationId xmlns:a16="http://schemas.microsoft.com/office/drawing/2014/main" id="{6A8423C9-5E8C-9EFD-DDCD-490DBAEE2ED7}"/>
              </a:ext>
            </a:extLst>
          </p:cNvPr>
          <p:cNvSpPr>
            <a:spLocks noChangeAspect="1"/>
          </p:cNvSpPr>
          <p:nvPr/>
        </p:nvSpPr>
        <p:spPr>
          <a:xfrm>
            <a:off x="52558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5" name="Rectangle 24">
            <a:extLst>
              <a:ext uri="{FF2B5EF4-FFF2-40B4-BE49-F238E27FC236}">
                <a16:creationId xmlns:a16="http://schemas.microsoft.com/office/drawing/2014/main" id="{3E5CEA77-BD0E-DE8E-FA22-06AB7B405D6D}"/>
              </a:ext>
            </a:extLst>
          </p:cNvPr>
          <p:cNvSpPr>
            <a:spLocks noChangeAspect="1"/>
          </p:cNvSpPr>
          <p:nvPr/>
        </p:nvSpPr>
        <p:spPr>
          <a:xfrm>
            <a:off x="5651833" y="4134252"/>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41</a:t>
            </a:r>
          </a:p>
        </p:txBody>
      </p:sp>
      <p:sp>
        <p:nvSpPr>
          <p:cNvPr id="26" name="Right Arrow 25">
            <a:extLst>
              <a:ext uri="{FF2B5EF4-FFF2-40B4-BE49-F238E27FC236}">
                <a16:creationId xmlns:a16="http://schemas.microsoft.com/office/drawing/2014/main" id="{1605B63E-C7A4-1D60-0655-7DBD3CE292FE}"/>
              </a:ext>
            </a:extLst>
          </p:cNvPr>
          <p:cNvSpPr>
            <a:spLocks noChangeAspect="1"/>
          </p:cNvSpPr>
          <p:nvPr/>
        </p:nvSpPr>
        <p:spPr>
          <a:xfrm>
            <a:off x="6371833" y="4396177"/>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7" name="Rectangle 26">
            <a:extLst>
              <a:ext uri="{FF2B5EF4-FFF2-40B4-BE49-F238E27FC236}">
                <a16:creationId xmlns:a16="http://schemas.microsoft.com/office/drawing/2014/main" id="{D9DD6BFD-88F1-55BB-897A-21DBCAE9730F}"/>
              </a:ext>
            </a:extLst>
          </p:cNvPr>
          <p:cNvSpPr>
            <a:spLocks noChangeAspect="1"/>
          </p:cNvSpPr>
          <p:nvPr/>
        </p:nvSpPr>
        <p:spPr>
          <a:xfrm>
            <a:off x="6768000" y="4134252"/>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42</a:t>
            </a:r>
          </a:p>
        </p:txBody>
      </p:sp>
      <p:sp>
        <p:nvSpPr>
          <p:cNvPr id="30" name="Right Arrow 29">
            <a:extLst>
              <a:ext uri="{FF2B5EF4-FFF2-40B4-BE49-F238E27FC236}">
                <a16:creationId xmlns:a16="http://schemas.microsoft.com/office/drawing/2014/main" id="{5D1BB08C-E60D-A362-4668-BA4242F0D002}"/>
              </a:ext>
            </a:extLst>
          </p:cNvPr>
          <p:cNvSpPr>
            <a:spLocks/>
          </p:cNvSpPr>
          <p:nvPr/>
        </p:nvSpPr>
        <p:spPr>
          <a:xfrm rot="5400000">
            <a:off x="2206632" y="3900186"/>
            <a:ext cx="900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pic>
        <p:nvPicPr>
          <p:cNvPr id="31" name="Picture 30" descr="A red person with black background&#10;&#10;AI-generated content may be incorrect.">
            <a:extLst>
              <a:ext uri="{FF2B5EF4-FFF2-40B4-BE49-F238E27FC236}">
                <a16:creationId xmlns:a16="http://schemas.microsoft.com/office/drawing/2014/main" id="{31B28FF8-9119-2E0C-DD7C-DC2E4846CCCC}"/>
              </a:ext>
            </a:extLst>
          </p:cNvPr>
          <p:cNvPicPr>
            <a:picLocks noChangeAspect="1"/>
          </p:cNvPicPr>
          <p:nvPr/>
        </p:nvPicPr>
        <p:blipFill>
          <a:blip r:embed="rId3">
            <a:extLst>
              <a:ext uri="{BEBA8EAE-BF5A-486C-A8C5-ECC9F3942E4B}">
                <a14:imgProps xmlns:a14="http://schemas.microsoft.com/office/drawing/2010/main">
                  <a14:imgLayer r:embed="rId4">
                    <a14:imgEffect>
                      <a14:colorTemperature colorTemp="11500"/>
                    </a14:imgEffect>
                    <a14:imgEffect>
                      <a14:saturation sat="400000"/>
                    </a14:imgEffect>
                  </a14:imgLayer>
                </a14:imgProps>
              </a:ext>
              <a:ext uri="{837473B0-CC2E-450A-ABE3-18F120FF3D39}">
                <a1611:picAttrSrcUrl xmlns:a1611="http://schemas.microsoft.com/office/drawing/2016/11/main" r:id="rId5"/>
              </a:ext>
            </a:extLst>
          </a:blip>
          <a:stretch>
            <a:fillRect/>
          </a:stretch>
        </p:blipFill>
        <p:spPr>
          <a:xfrm>
            <a:off x="10571577" y="4133895"/>
            <a:ext cx="360000" cy="720000"/>
          </a:xfrm>
          <a:prstGeom prst="rect">
            <a:avLst/>
          </a:prstGeom>
        </p:spPr>
      </p:pic>
      <p:pic>
        <p:nvPicPr>
          <p:cNvPr id="32" name="Picture 31" descr="A red person with black background&#10;&#10;AI-generated content may be incorrect.">
            <a:extLst>
              <a:ext uri="{FF2B5EF4-FFF2-40B4-BE49-F238E27FC236}">
                <a16:creationId xmlns:a16="http://schemas.microsoft.com/office/drawing/2014/main" id="{90995BF5-BD1A-FD38-8FA3-7C32F5785364}"/>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6">
                    <a14:imgEffect>
                      <a14:colorTemperature colorTemp="11500"/>
                    </a14:imgEffect>
                    <a14:imgEffect>
                      <a14:saturation sat="400000"/>
                    </a14:imgEffect>
                  </a14:imgLayer>
                </a14:imgProps>
              </a:ext>
              <a:ext uri="{837473B0-CC2E-450A-ABE3-18F120FF3D39}">
                <a1611:picAttrSrcUrl xmlns:a1611="http://schemas.microsoft.com/office/drawing/2016/11/main" r:id="rId5"/>
              </a:ext>
            </a:extLst>
          </a:blip>
          <a:stretch>
            <a:fillRect/>
          </a:stretch>
        </p:blipFill>
        <p:spPr>
          <a:xfrm>
            <a:off x="9851577" y="4133896"/>
            <a:ext cx="360000" cy="720000"/>
          </a:xfrm>
          <a:prstGeom prst="rect">
            <a:avLst/>
          </a:prstGeom>
          <a:solidFill>
            <a:schemeClr val="bg1"/>
          </a:solidFill>
        </p:spPr>
      </p:pic>
      <p:pic>
        <p:nvPicPr>
          <p:cNvPr id="33" name="Picture 32" descr="A red person with black background&#10;&#10;AI-generated content may be incorrect.">
            <a:extLst>
              <a:ext uri="{FF2B5EF4-FFF2-40B4-BE49-F238E27FC236}">
                <a16:creationId xmlns:a16="http://schemas.microsoft.com/office/drawing/2014/main" id="{53C89289-CE56-9875-D59C-0BEFE5357E9F}"/>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7">
                    <a14:imgEffect>
                      <a14:colorTemperature colorTemp="11500"/>
                    </a14:imgEffect>
                    <a14:imgEffect>
                      <a14:saturation sat="400000"/>
                    </a14:imgEffect>
                  </a14:imgLayer>
                </a14:imgProps>
              </a:ext>
              <a:ext uri="{837473B0-CC2E-450A-ABE3-18F120FF3D39}">
                <a1611:picAttrSrcUrl xmlns:a1611="http://schemas.microsoft.com/office/drawing/2016/11/main" r:id="rId5"/>
              </a:ext>
            </a:extLst>
          </a:blip>
          <a:stretch>
            <a:fillRect/>
          </a:stretch>
        </p:blipFill>
        <p:spPr>
          <a:xfrm>
            <a:off x="10211577" y="4133895"/>
            <a:ext cx="360000" cy="720000"/>
          </a:xfrm>
          <a:prstGeom prst="rect">
            <a:avLst/>
          </a:prstGeom>
          <a:solidFill>
            <a:schemeClr val="bg1"/>
          </a:solidFill>
        </p:spPr>
      </p:pic>
      <p:pic>
        <p:nvPicPr>
          <p:cNvPr id="34" name="Picture 33" descr="A red person with black background&#10;&#10;AI-generated content may be incorrect.">
            <a:extLst>
              <a:ext uri="{FF2B5EF4-FFF2-40B4-BE49-F238E27FC236}">
                <a16:creationId xmlns:a16="http://schemas.microsoft.com/office/drawing/2014/main" id="{77EFDC85-3EA0-3C3D-EFB6-89FE231BCB19}"/>
              </a:ext>
            </a:extLst>
          </p:cNvPr>
          <p:cNvPicPr>
            <a:picLocks noChangeAspect="1"/>
          </p:cNvPicPr>
          <p:nvPr/>
        </p:nvPicPr>
        <p:blipFill>
          <a:blip r:embed="rId3">
            <a:duotone>
              <a:schemeClr val="accent6">
                <a:shade val="45000"/>
                <a:satMod val="135000"/>
              </a:schemeClr>
              <a:prstClr val="white"/>
            </a:duotone>
            <a:extLst>
              <a:ext uri="{BEBA8EAE-BF5A-486C-A8C5-ECC9F3942E4B}">
                <a14:imgProps xmlns:a14="http://schemas.microsoft.com/office/drawing/2010/main">
                  <a14:imgLayer r:embed="rId8">
                    <a14:imgEffect>
                      <a14:colorTemperature colorTemp="11500"/>
                    </a14:imgEffect>
                    <a14:imgEffect>
                      <a14:saturation sat="400000"/>
                    </a14:imgEffect>
                  </a14:imgLayer>
                </a14:imgProps>
              </a:ext>
              <a:ext uri="{837473B0-CC2E-450A-ABE3-18F120FF3D39}">
                <a1611:picAttrSrcUrl xmlns:a1611="http://schemas.microsoft.com/office/drawing/2016/11/main" r:id="rId5"/>
              </a:ext>
            </a:extLst>
          </a:blip>
          <a:stretch>
            <a:fillRect/>
          </a:stretch>
        </p:blipFill>
        <p:spPr>
          <a:xfrm>
            <a:off x="9491577" y="4133895"/>
            <a:ext cx="360000" cy="720000"/>
          </a:xfrm>
          <a:prstGeom prst="rect">
            <a:avLst/>
          </a:prstGeom>
          <a:solidFill>
            <a:schemeClr val="bg1"/>
          </a:solidFill>
        </p:spPr>
      </p:pic>
      <p:sp>
        <p:nvSpPr>
          <p:cNvPr id="28" name="Right Arrow 27">
            <a:extLst>
              <a:ext uri="{FF2B5EF4-FFF2-40B4-BE49-F238E27FC236}">
                <a16:creationId xmlns:a16="http://schemas.microsoft.com/office/drawing/2014/main" id="{AA90B974-174E-DFD2-D500-CB5BCBD97267}"/>
              </a:ext>
            </a:extLst>
          </p:cNvPr>
          <p:cNvSpPr>
            <a:spLocks noChangeAspect="1"/>
          </p:cNvSpPr>
          <p:nvPr/>
        </p:nvSpPr>
        <p:spPr>
          <a:xfrm>
            <a:off x="7488000" y="4395820"/>
            <a:ext cx="396000" cy="196149"/>
          </a:xfrm>
          <a:prstGeom prst="rightArrow">
            <a:avLst/>
          </a:prstGeom>
          <a:solidFill>
            <a:schemeClr val="tx1">
              <a:lumMod val="65000"/>
              <a:lumOff val="3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PK"/>
          </a:p>
        </p:txBody>
      </p:sp>
      <p:sp>
        <p:nvSpPr>
          <p:cNvPr id="29" name="Rectangle 28">
            <a:extLst>
              <a:ext uri="{FF2B5EF4-FFF2-40B4-BE49-F238E27FC236}">
                <a16:creationId xmlns:a16="http://schemas.microsoft.com/office/drawing/2014/main" id="{4861995F-ED0A-4EB8-43F4-5710C1563718}"/>
              </a:ext>
            </a:extLst>
          </p:cNvPr>
          <p:cNvSpPr>
            <a:spLocks noChangeAspect="1"/>
          </p:cNvSpPr>
          <p:nvPr/>
        </p:nvSpPr>
        <p:spPr>
          <a:xfrm>
            <a:off x="7884000" y="4133895"/>
            <a:ext cx="720000" cy="720000"/>
          </a:xfrm>
          <a:prstGeom prst="rect">
            <a:avLst/>
          </a:prstGeom>
          <a:solidFill>
            <a:srgbClr val="308D3E"/>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K" dirty="0"/>
              <a:t>Block 43</a:t>
            </a:r>
          </a:p>
        </p:txBody>
      </p:sp>
      <p:sp>
        <p:nvSpPr>
          <p:cNvPr id="35" name="Rounded Rectangle 34">
            <a:extLst>
              <a:ext uri="{FF2B5EF4-FFF2-40B4-BE49-F238E27FC236}">
                <a16:creationId xmlns:a16="http://schemas.microsoft.com/office/drawing/2014/main" id="{53DCCC65-7130-3ED3-603B-7A4D08D11E4D}"/>
              </a:ext>
            </a:extLst>
          </p:cNvPr>
          <p:cNvSpPr/>
          <p:nvPr/>
        </p:nvSpPr>
        <p:spPr>
          <a:xfrm>
            <a:off x="8894270" y="3215067"/>
            <a:ext cx="2634613" cy="783193"/>
          </a:xfrm>
          <a:prstGeom prst="roundRect">
            <a:avLst/>
          </a:prstGeom>
          <a:noFill/>
          <a:ln>
            <a:no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PK" sz="2000" dirty="0">
                <a:latin typeface="Candara" panose="020E0502030303020204" pitchFamily="34" charset="0"/>
              </a:rPr>
              <a:t>Everyone agrees on the longest chain</a:t>
            </a:r>
          </a:p>
        </p:txBody>
      </p:sp>
      <p:sp>
        <p:nvSpPr>
          <p:cNvPr id="5" name="Rounded Rectangle 4">
            <a:extLst>
              <a:ext uri="{FF2B5EF4-FFF2-40B4-BE49-F238E27FC236}">
                <a16:creationId xmlns:a16="http://schemas.microsoft.com/office/drawing/2014/main" id="{2F832C9E-5627-BA09-6BE6-5C695DC68673}"/>
              </a:ext>
            </a:extLst>
          </p:cNvPr>
          <p:cNvSpPr/>
          <p:nvPr/>
        </p:nvSpPr>
        <p:spPr>
          <a:xfrm>
            <a:off x="49391" y="4658103"/>
            <a:ext cx="2919453" cy="1804749"/>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square" rtlCol="0" anchor="ctr">
            <a:spAutoFit/>
          </a:bodyPr>
          <a:lstStyle/>
          <a:p>
            <a:pPr algn="ctr"/>
            <a:r>
              <a:rPr lang="en-PK" sz="2000" dirty="0"/>
              <a:t>What happens to the transaction in which the malicious miner had spent? Does it go back to the mempool?</a:t>
            </a:r>
          </a:p>
        </p:txBody>
      </p:sp>
    </p:spTree>
    <p:extLst>
      <p:ext uri="{BB962C8B-B14F-4D97-AF65-F5344CB8AC3E}">
        <p14:creationId xmlns:p14="http://schemas.microsoft.com/office/powerpoint/2010/main" val="10536109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linds(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629472-386A-4E76-5411-51A16552D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0B5391-BE00-015F-A62F-1A7340A1DA59}"/>
              </a:ext>
            </a:extLst>
          </p:cNvPr>
          <p:cNvSpPr>
            <a:spLocks noGrp="1"/>
          </p:cNvSpPr>
          <p:nvPr>
            <p:ph type="title"/>
          </p:nvPr>
        </p:nvSpPr>
        <p:spPr/>
        <p:txBody>
          <a:bodyPr/>
          <a:lstStyle/>
          <a:p>
            <a:r>
              <a:rPr lang="en-PK" dirty="0"/>
              <a:t>Evolution of Money</a:t>
            </a:r>
          </a:p>
        </p:txBody>
      </p:sp>
      <p:sp>
        <p:nvSpPr>
          <p:cNvPr id="5" name="Slide Number Placeholder 4">
            <a:extLst>
              <a:ext uri="{FF2B5EF4-FFF2-40B4-BE49-F238E27FC236}">
                <a16:creationId xmlns:a16="http://schemas.microsoft.com/office/drawing/2014/main" id="{C89E6FC6-ED91-67E8-F9B4-468FFCCC2F33}"/>
              </a:ext>
            </a:extLst>
          </p:cNvPr>
          <p:cNvSpPr>
            <a:spLocks noGrp="1"/>
          </p:cNvSpPr>
          <p:nvPr>
            <p:ph type="sldNum" sz="quarter" idx="12"/>
          </p:nvPr>
        </p:nvSpPr>
        <p:spPr/>
        <p:txBody>
          <a:bodyPr/>
          <a:lstStyle/>
          <a:p>
            <a:fld id="{D57F1E4F-1CFF-5643-939E-217C01CDF565}" type="slidenum">
              <a:rPr lang="en-US" smtClean="0"/>
              <a:pPr/>
              <a:t>18</a:t>
            </a:fld>
            <a:endParaRPr lang="en-US" dirty="0"/>
          </a:p>
        </p:txBody>
      </p:sp>
    </p:spTree>
    <p:extLst>
      <p:ext uri="{BB962C8B-B14F-4D97-AF65-F5344CB8AC3E}">
        <p14:creationId xmlns:p14="http://schemas.microsoft.com/office/powerpoint/2010/main" val="2450911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1BF5F-B0C2-FA6F-3DF7-627753BBF63A}"/>
              </a:ext>
            </a:extLst>
          </p:cNvPr>
          <p:cNvSpPr>
            <a:spLocks noGrp="1"/>
          </p:cNvSpPr>
          <p:nvPr>
            <p:ph type="title"/>
          </p:nvPr>
        </p:nvSpPr>
        <p:spPr/>
        <p:txBody>
          <a:bodyPr/>
          <a:lstStyle/>
          <a:p>
            <a:r>
              <a:rPr lang="en-PK" dirty="0"/>
              <a:t>The Evolution of Money</a:t>
            </a:r>
          </a:p>
        </p:txBody>
      </p:sp>
      <p:sp>
        <p:nvSpPr>
          <p:cNvPr id="3" name="Content Placeholder 2">
            <a:extLst>
              <a:ext uri="{FF2B5EF4-FFF2-40B4-BE49-F238E27FC236}">
                <a16:creationId xmlns:a16="http://schemas.microsoft.com/office/drawing/2014/main" id="{0BFE8E2E-0335-D186-7C9F-9A22D58BE1EE}"/>
              </a:ext>
            </a:extLst>
          </p:cNvPr>
          <p:cNvSpPr>
            <a:spLocks noGrp="1"/>
          </p:cNvSpPr>
          <p:nvPr>
            <p:ph idx="1"/>
          </p:nvPr>
        </p:nvSpPr>
        <p:spPr/>
        <p:txBody>
          <a:bodyPr/>
          <a:lstStyle/>
          <a:p>
            <a:r>
              <a:rPr lang="en-PK" dirty="0"/>
              <a:t>Before the Money</a:t>
            </a:r>
          </a:p>
          <a:p>
            <a:r>
              <a:rPr lang="en-PK" dirty="0"/>
              <a:t>Barter System</a:t>
            </a:r>
          </a:p>
          <a:p>
            <a:endParaRPr lang="en-PK" dirty="0"/>
          </a:p>
          <a:p>
            <a:endParaRPr lang="en-PK" dirty="0"/>
          </a:p>
          <a:p>
            <a:endParaRPr lang="en-PK" dirty="0"/>
          </a:p>
          <a:p>
            <a:endParaRPr lang="en-PK" dirty="0"/>
          </a:p>
          <a:p>
            <a:endParaRPr lang="en-PK" dirty="0"/>
          </a:p>
          <a:p>
            <a:endParaRPr lang="en-PK" dirty="0"/>
          </a:p>
          <a:p>
            <a:r>
              <a:rPr lang="en-PK" dirty="0"/>
              <a:t>Can Make it work 3-way</a:t>
            </a:r>
          </a:p>
        </p:txBody>
      </p:sp>
      <p:sp>
        <p:nvSpPr>
          <p:cNvPr id="4" name="Slide Number Placeholder 3">
            <a:extLst>
              <a:ext uri="{FF2B5EF4-FFF2-40B4-BE49-F238E27FC236}">
                <a16:creationId xmlns:a16="http://schemas.microsoft.com/office/drawing/2014/main" id="{B6228D56-ACB8-44C0-E00F-C6C37994B7A4}"/>
              </a:ext>
            </a:extLst>
          </p:cNvPr>
          <p:cNvSpPr>
            <a:spLocks noGrp="1"/>
          </p:cNvSpPr>
          <p:nvPr>
            <p:ph type="sldNum" sz="quarter" idx="12"/>
          </p:nvPr>
        </p:nvSpPr>
        <p:spPr/>
        <p:txBody>
          <a:bodyPr/>
          <a:lstStyle/>
          <a:p>
            <a:fld id="{D57F1E4F-1CFF-5643-939E-217C01CDF565}" type="slidenum">
              <a:rPr lang="en-US" smtClean="0"/>
              <a:pPr/>
              <a:t>19</a:t>
            </a:fld>
            <a:endParaRPr lang="en-US" dirty="0"/>
          </a:p>
        </p:txBody>
      </p:sp>
      <p:pic>
        <p:nvPicPr>
          <p:cNvPr id="5" name="Picture 2" descr="Guide to the Barter Economy &amp;amp; the Barter System History - MindGroomers">
            <a:extLst>
              <a:ext uri="{FF2B5EF4-FFF2-40B4-BE49-F238E27FC236}">
                <a16:creationId xmlns:a16="http://schemas.microsoft.com/office/drawing/2014/main" id="{9FE81B45-4F78-3FF5-D141-FE1ACE29C4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69137" y="1249317"/>
            <a:ext cx="6811236" cy="419435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descr="A picture containing mammal, sheep, standing, outdoor&#10;&#10;Description automatically generated">
            <a:extLst>
              <a:ext uri="{FF2B5EF4-FFF2-40B4-BE49-F238E27FC236}">
                <a16:creationId xmlns:a16="http://schemas.microsoft.com/office/drawing/2014/main" id="{48FF82DB-CC8B-ED77-9C45-D935254B9E6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3797" y="2285478"/>
            <a:ext cx="2102008" cy="3158190"/>
          </a:xfrm>
          <a:prstGeom prst="rect">
            <a:avLst/>
          </a:prstGeom>
        </p:spPr>
      </p:pic>
      <p:pic>
        <p:nvPicPr>
          <p:cNvPr id="7" name="Picture 6">
            <a:extLst>
              <a:ext uri="{FF2B5EF4-FFF2-40B4-BE49-F238E27FC236}">
                <a16:creationId xmlns:a16="http://schemas.microsoft.com/office/drawing/2014/main" id="{A1F708F1-267E-9591-824F-A45C22635C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4013" y="2550807"/>
            <a:ext cx="3631619" cy="2172628"/>
          </a:xfrm>
          <a:prstGeom prst="rect">
            <a:avLst/>
          </a:prstGeom>
        </p:spPr>
      </p:pic>
    </p:spTree>
    <p:extLst>
      <p:ext uri="{BB962C8B-B14F-4D97-AF65-F5344CB8AC3E}">
        <p14:creationId xmlns:p14="http://schemas.microsoft.com/office/powerpoint/2010/main" val="39114033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par>
                          <p:cTn id="8" fill="hold">
                            <p:stCondLst>
                              <p:cond delay="500"/>
                            </p:stCondLst>
                            <p:childTnLst>
                              <p:par>
                                <p:cTn id="9" presetID="9" presetClass="entr" presetSubtype="0" fill="hold"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dissolve">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xit" presetSubtype="0" fill="hold" nodeType="clickEffect">
                                  <p:stCondLst>
                                    <p:cond delay="0"/>
                                  </p:stCondLst>
                                  <p:childTnLst>
                                    <p:set>
                                      <p:cBhvr>
                                        <p:cTn id="19" dur="1" fill="hold">
                                          <p:stCondLst>
                                            <p:cond delay="0"/>
                                          </p:stCondLst>
                                        </p:cTn>
                                        <p:tgtEl>
                                          <p:spTgt spid="5"/>
                                        </p:tgtEl>
                                        <p:attrNameLst>
                                          <p:attrName>style.visibility</p:attrName>
                                        </p:attrNameLst>
                                      </p:cBhvr>
                                      <p:to>
                                        <p:strVal val="hidden"/>
                                      </p:to>
                                    </p:set>
                                  </p:childTnLst>
                                </p:cTn>
                              </p:par>
                            </p:childTnLst>
                          </p:cTn>
                        </p:par>
                        <p:par>
                          <p:cTn id="20" fill="hold">
                            <p:stCondLst>
                              <p:cond delay="0"/>
                            </p:stCondLst>
                            <p:childTnLst>
                              <p:par>
                                <p:cTn id="21" presetID="1"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childTnLst>
                                </p:cTn>
                              </p:par>
                            </p:childTnLst>
                          </p:cTn>
                        </p:par>
                        <p:par>
                          <p:cTn id="23" fill="hold">
                            <p:stCondLst>
                              <p:cond delay="0"/>
                            </p:stCondLst>
                            <p:childTnLst>
                              <p:par>
                                <p:cTn id="24" presetID="1" presetClass="entr" presetSubtype="0" fill="hold" nodeType="after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
                                            <p:txEl>
                                              <p:pRg st="8" end="8"/>
                                            </p:txEl>
                                          </p:spTgt>
                                        </p:tgtEl>
                                        <p:attrNameLst>
                                          <p:attrName>style.visibility</p:attrName>
                                        </p:attrNameLst>
                                      </p:cBhvr>
                                      <p:to>
                                        <p:strVal val="visible"/>
                                      </p:to>
                                    </p:set>
                                    <p:animEffect transition="in" filter="dissolve">
                                      <p:cBhvr>
                                        <p:cTn id="30"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D60E55-952E-DA6C-3464-9A22F23D53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BF3BD9-841A-C91C-EB7F-AB65CFAACC56}"/>
              </a:ext>
            </a:extLst>
          </p:cNvPr>
          <p:cNvSpPr>
            <a:spLocks noGrp="1"/>
          </p:cNvSpPr>
          <p:nvPr>
            <p:ph type="title"/>
          </p:nvPr>
        </p:nvSpPr>
        <p:spPr/>
        <p:txBody>
          <a:bodyPr/>
          <a:lstStyle/>
          <a:p>
            <a:r>
              <a:rPr lang="en-PK" dirty="0"/>
              <a:t>The Evolution of Money: Commodity Money</a:t>
            </a:r>
          </a:p>
        </p:txBody>
      </p:sp>
      <p:sp>
        <p:nvSpPr>
          <p:cNvPr id="3" name="Content Placeholder 2">
            <a:extLst>
              <a:ext uri="{FF2B5EF4-FFF2-40B4-BE49-F238E27FC236}">
                <a16:creationId xmlns:a16="http://schemas.microsoft.com/office/drawing/2014/main" id="{CD096770-DE4B-5F13-6AAB-89D98BC7B637}"/>
              </a:ext>
            </a:extLst>
          </p:cNvPr>
          <p:cNvSpPr>
            <a:spLocks noGrp="1"/>
          </p:cNvSpPr>
          <p:nvPr>
            <p:ph idx="1"/>
          </p:nvPr>
        </p:nvSpPr>
        <p:spPr/>
        <p:txBody>
          <a:bodyPr>
            <a:normAutofit lnSpcReduction="10000"/>
          </a:bodyPr>
          <a:lstStyle/>
          <a:p>
            <a:r>
              <a:rPr lang="en-US" dirty="0">
                <a:solidFill>
                  <a:srgbClr val="308D3E"/>
                </a:solidFill>
              </a:rPr>
              <a:t>Divisible</a:t>
            </a:r>
          </a:p>
          <a:p>
            <a:r>
              <a:rPr lang="en-US" dirty="0">
                <a:solidFill>
                  <a:srgbClr val="308D3E"/>
                </a:solidFill>
              </a:rPr>
              <a:t>Stable Value</a:t>
            </a:r>
          </a:p>
          <a:p>
            <a:r>
              <a:rPr lang="en-US" b="1" dirty="0">
                <a:solidFill>
                  <a:srgbClr val="C00000"/>
                </a:solidFill>
              </a:rPr>
              <a:t>Scarcity is the key</a:t>
            </a:r>
          </a:p>
          <a:p>
            <a:endParaRPr lang="en-US" sz="3600" dirty="0"/>
          </a:p>
          <a:p>
            <a:endParaRPr lang="en-US" sz="3600" dirty="0"/>
          </a:p>
          <a:p>
            <a:endParaRPr lang="en-US" sz="3600" dirty="0"/>
          </a:p>
          <a:p>
            <a:endParaRPr lang="en-US" dirty="0"/>
          </a:p>
          <a:p>
            <a:r>
              <a:rPr lang="en-US" dirty="0"/>
              <a:t>Inherently works peer-to-peer but …</a:t>
            </a:r>
          </a:p>
          <a:p>
            <a:pPr lvl="1"/>
            <a:r>
              <a:rPr lang="en-US" dirty="0">
                <a:solidFill>
                  <a:srgbClr val="C00000"/>
                </a:solidFill>
              </a:rPr>
              <a:t>Cumbersome to use for large purchases</a:t>
            </a:r>
          </a:p>
          <a:p>
            <a:pPr lvl="1"/>
            <a:r>
              <a:rPr lang="en-US" dirty="0">
                <a:solidFill>
                  <a:srgbClr val="7030A0"/>
                </a:solidFill>
              </a:rPr>
              <a:t>How many silver coins are needed to buy an expensive item?</a:t>
            </a:r>
          </a:p>
        </p:txBody>
      </p:sp>
      <p:sp>
        <p:nvSpPr>
          <p:cNvPr id="4" name="Slide Number Placeholder 3">
            <a:extLst>
              <a:ext uri="{FF2B5EF4-FFF2-40B4-BE49-F238E27FC236}">
                <a16:creationId xmlns:a16="http://schemas.microsoft.com/office/drawing/2014/main" id="{5D32EBDD-CF69-4EA8-D1D6-6323AAF4B2B7}"/>
              </a:ext>
            </a:extLst>
          </p:cNvPr>
          <p:cNvSpPr>
            <a:spLocks noGrp="1"/>
          </p:cNvSpPr>
          <p:nvPr>
            <p:ph type="sldNum" sz="quarter" idx="12"/>
          </p:nvPr>
        </p:nvSpPr>
        <p:spPr/>
        <p:txBody>
          <a:bodyPr/>
          <a:lstStyle/>
          <a:p>
            <a:fld id="{D57F1E4F-1CFF-5643-939E-217C01CDF565}" type="slidenum">
              <a:rPr lang="en-US" smtClean="0"/>
              <a:pPr/>
              <a:t>20</a:t>
            </a:fld>
            <a:endParaRPr lang="en-US" dirty="0"/>
          </a:p>
        </p:txBody>
      </p:sp>
      <p:pic>
        <p:nvPicPr>
          <p:cNvPr id="8" name="Picture 2" descr="Commodity Money Definition (9 Examples) - BoyceWire">
            <a:extLst>
              <a:ext uri="{FF2B5EF4-FFF2-40B4-BE49-F238E27FC236}">
                <a16:creationId xmlns:a16="http://schemas.microsoft.com/office/drawing/2014/main" id="{FC41008A-9C57-F343-98CB-613EDE03A6D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41256" y="1214009"/>
            <a:ext cx="6736513" cy="323352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A picture containing gear&#10;&#10;Description automatically generated">
            <a:extLst>
              <a:ext uri="{FF2B5EF4-FFF2-40B4-BE49-F238E27FC236}">
                <a16:creationId xmlns:a16="http://schemas.microsoft.com/office/drawing/2014/main" id="{58754542-891E-0A0C-89C8-C13E453AE5B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98080" y="2636173"/>
            <a:ext cx="2131389" cy="2022645"/>
          </a:xfrm>
          <a:prstGeom prst="rect">
            <a:avLst/>
          </a:prstGeom>
        </p:spPr>
      </p:pic>
      <p:sp>
        <p:nvSpPr>
          <p:cNvPr id="7" name="Rounded Rectangle 6">
            <a:extLst>
              <a:ext uri="{FF2B5EF4-FFF2-40B4-BE49-F238E27FC236}">
                <a16:creationId xmlns:a16="http://schemas.microsoft.com/office/drawing/2014/main" id="{8B88E9F6-502E-03CE-CCD5-FA6EE942A4F3}"/>
              </a:ext>
            </a:extLst>
          </p:cNvPr>
          <p:cNvSpPr/>
          <p:nvPr/>
        </p:nvSpPr>
        <p:spPr>
          <a:xfrm>
            <a:off x="7662533" y="4457696"/>
            <a:ext cx="4215236" cy="510778"/>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400" dirty="0">
                <a:latin typeface="Candara" panose="020E0502030303020204" pitchFamily="34" charset="0"/>
              </a:rPr>
              <a:t>Commodity of Intrinsic Value</a:t>
            </a:r>
          </a:p>
        </p:txBody>
      </p:sp>
      <p:sp>
        <p:nvSpPr>
          <p:cNvPr id="10" name="Rounded Rectangle 9">
            <a:extLst>
              <a:ext uri="{FF2B5EF4-FFF2-40B4-BE49-F238E27FC236}">
                <a16:creationId xmlns:a16="http://schemas.microsoft.com/office/drawing/2014/main" id="{0AF61D96-5687-A178-22BD-62F3E9DCF8DF}"/>
              </a:ext>
            </a:extLst>
          </p:cNvPr>
          <p:cNvSpPr/>
          <p:nvPr/>
        </p:nvSpPr>
        <p:spPr>
          <a:xfrm>
            <a:off x="593297" y="3187794"/>
            <a:ext cx="1384359" cy="919401"/>
          </a:xfrm>
          <a:prstGeom prst="roundRect">
            <a:avLst/>
          </a:prstGeom>
          <a:noFill/>
          <a:ln>
            <a:no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PK" sz="2400" dirty="0">
                <a:solidFill>
                  <a:srgbClr val="7030A0"/>
                </a:solidFill>
                <a:latin typeface="Candara" panose="020E0502030303020204" pitchFamily="34" charset="0"/>
              </a:rPr>
              <a:t>Precious Stones</a:t>
            </a:r>
          </a:p>
        </p:txBody>
      </p:sp>
    </p:spTree>
    <p:extLst>
      <p:ext uri="{BB962C8B-B14F-4D97-AF65-F5344CB8AC3E}">
        <p14:creationId xmlns:p14="http://schemas.microsoft.com/office/powerpoint/2010/main" val="3083699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3" presetClass="entr" presetSubtype="1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par>
                          <p:cTn id="24" fill="hold">
                            <p:stCondLst>
                              <p:cond delay="500"/>
                            </p:stCondLst>
                            <p:childTnLst>
                              <p:par>
                                <p:cTn id="25" presetID="9" presetClass="entr" presetSubtype="0" fill="hold" grpId="0" nodeType="after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dissolve">
                                      <p:cBhvr>
                                        <p:cTn id="27" dur="500"/>
                                        <p:tgtEl>
                                          <p:spTgt spid="7"/>
                                        </p:tgtEl>
                                      </p:cBhvr>
                                    </p:animEffect>
                                  </p:childTnLst>
                                </p:cTn>
                              </p:par>
                              <p:par>
                                <p:cTn id="28" presetID="9" presetClass="entr" presetSubtype="0" fill="hold" nodeType="withEffect">
                                  <p:stCondLst>
                                    <p:cond delay="0"/>
                                  </p:stCondLst>
                                  <p:childTnLst>
                                    <p:set>
                                      <p:cBhvr>
                                        <p:cTn id="29" dur="1" fill="hold">
                                          <p:stCondLst>
                                            <p:cond delay="0"/>
                                          </p:stCondLst>
                                        </p:cTn>
                                        <p:tgtEl>
                                          <p:spTgt spid="3">
                                            <p:txEl>
                                              <p:pRg st="2" end="2"/>
                                            </p:txEl>
                                          </p:spTgt>
                                        </p:tgtEl>
                                        <p:attrNameLst>
                                          <p:attrName>style.visibility</p:attrName>
                                        </p:attrNameLst>
                                      </p:cBhvr>
                                      <p:to>
                                        <p:strVal val="visible"/>
                                      </p:to>
                                    </p:set>
                                    <p:animEffect transition="in" filter="dissolve">
                                      <p:cBhvr>
                                        <p:cTn id="30" dur="500"/>
                                        <p:tgtEl>
                                          <p:spTgt spid="3">
                                            <p:txEl>
                                              <p:pRg st="2" end="2"/>
                                            </p:txEl>
                                          </p:spTgt>
                                        </p:tgtEl>
                                      </p:cBhvr>
                                    </p:animEffect>
                                  </p:childTnLst>
                                </p:cTn>
                              </p:par>
                            </p:childTnLst>
                          </p:cTn>
                        </p:par>
                      </p:childTnLst>
                    </p:cTn>
                  </p:par>
                  <p:par>
                    <p:cTn id="31" fill="hold">
                      <p:stCondLst>
                        <p:cond delay="indefinite"/>
                      </p:stCondLst>
                      <p:childTnLst>
                        <p:par>
                          <p:cTn id="32" fill="hold">
                            <p:stCondLst>
                              <p:cond delay="0"/>
                            </p:stCondLst>
                            <p:childTnLst>
                              <p:par>
                                <p:cTn id="33" presetID="9"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dissolve">
                                      <p:cBhvr>
                                        <p:cTn id="35" dur="500"/>
                                        <p:tgtEl>
                                          <p:spTgt spid="3">
                                            <p:txEl>
                                              <p:pRg st="7" end="7"/>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9" presetClass="entr" presetSubtype="0" fill="hold" nodeType="clickEffect">
                                  <p:stCondLst>
                                    <p:cond delay="0"/>
                                  </p:stCondLst>
                                  <p:childTnLst>
                                    <p:set>
                                      <p:cBhvr>
                                        <p:cTn id="39" dur="1" fill="hold">
                                          <p:stCondLst>
                                            <p:cond delay="0"/>
                                          </p:stCondLst>
                                        </p:cTn>
                                        <p:tgtEl>
                                          <p:spTgt spid="3">
                                            <p:txEl>
                                              <p:pRg st="8" end="8"/>
                                            </p:txEl>
                                          </p:spTgt>
                                        </p:tgtEl>
                                        <p:attrNameLst>
                                          <p:attrName>style.visibility</p:attrName>
                                        </p:attrNameLst>
                                      </p:cBhvr>
                                      <p:to>
                                        <p:strVal val="visible"/>
                                      </p:to>
                                    </p:set>
                                    <p:animEffect transition="in" filter="dissolve">
                                      <p:cBhvr>
                                        <p:cTn id="40" dur="500"/>
                                        <p:tgtEl>
                                          <p:spTgt spid="3">
                                            <p:txEl>
                                              <p:pRg st="8" end="8"/>
                                            </p:txEl>
                                          </p:spTgt>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nodeType="clickEffect">
                                  <p:stCondLst>
                                    <p:cond delay="0"/>
                                  </p:stCondLst>
                                  <p:childTnLst>
                                    <p:set>
                                      <p:cBhvr>
                                        <p:cTn id="44" dur="1" fill="hold">
                                          <p:stCondLst>
                                            <p:cond delay="0"/>
                                          </p:stCondLst>
                                        </p:cTn>
                                        <p:tgtEl>
                                          <p:spTgt spid="3">
                                            <p:txEl>
                                              <p:pRg st="9" end="9"/>
                                            </p:txEl>
                                          </p:spTgt>
                                        </p:tgtEl>
                                        <p:attrNameLst>
                                          <p:attrName>style.visibility</p:attrName>
                                        </p:attrNameLst>
                                      </p:cBhvr>
                                      <p:to>
                                        <p:strVal val="visible"/>
                                      </p:to>
                                    </p:set>
                                    <p:animEffect transition="in" filter="dissolve">
                                      <p:cBhvr>
                                        <p:cTn id="45"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0"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Text&#10;&#10;Description automatically generated">
            <a:extLst>
              <a:ext uri="{FF2B5EF4-FFF2-40B4-BE49-F238E27FC236}">
                <a16:creationId xmlns:a16="http://schemas.microsoft.com/office/drawing/2014/main" id="{9E0FDFC4-8810-F92C-8F1A-4AD12FFA24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849367" y="3349487"/>
            <a:ext cx="5701264" cy="2124000"/>
          </a:xfrm>
          <a:prstGeom prst="rect">
            <a:avLst/>
          </a:prstGeom>
        </p:spPr>
      </p:pic>
      <p:sp>
        <p:nvSpPr>
          <p:cNvPr id="2" name="Title 1">
            <a:extLst>
              <a:ext uri="{FF2B5EF4-FFF2-40B4-BE49-F238E27FC236}">
                <a16:creationId xmlns:a16="http://schemas.microsoft.com/office/drawing/2014/main" id="{B4383D54-D690-57A3-EB43-CE2A19B7FE98}"/>
              </a:ext>
            </a:extLst>
          </p:cNvPr>
          <p:cNvSpPr>
            <a:spLocks noGrp="1"/>
          </p:cNvSpPr>
          <p:nvPr>
            <p:ph type="title"/>
          </p:nvPr>
        </p:nvSpPr>
        <p:spPr/>
        <p:txBody>
          <a:bodyPr>
            <a:normAutofit fontScale="90000"/>
          </a:bodyPr>
          <a:lstStyle/>
          <a:p>
            <a:r>
              <a:rPr lang="en-PK" dirty="0"/>
              <a:t>The Evolution of Money: Representative Money</a:t>
            </a:r>
          </a:p>
        </p:txBody>
      </p:sp>
      <p:sp>
        <p:nvSpPr>
          <p:cNvPr id="3" name="Content Placeholder 2">
            <a:extLst>
              <a:ext uri="{FF2B5EF4-FFF2-40B4-BE49-F238E27FC236}">
                <a16:creationId xmlns:a16="http://schemas.microsoft.com/office/drawing/2014/main" id="{5634C5C0-8F4B-715E-93F8-18FFD329A9A3}"/>
              </a:ext>
            </a:extLst>
          </p:cNvPr>
          <p:cNvSpPr>
            <a:spLocks noGrp="1"/>
          </p:cNvSpPr>
          <p:nvPr>
            <p:ph idx="1"/>
          </p:nvPr>
        </p:nvSpPr>
        <p:spPr/>
        <p:txBody>
          <a:bodyPr>
            <a:normAutofit lnSpcReduction="10000"/>
          </a:bodyPr>
          <a:lstStyle/>
          <a:p>
            <a:r>
              <a:rPr lang="en-US" dirty="0">
                <a:solidFill>
                  <a:srgbClr val="C00000"/>
                </a:solidFill>
              </a:rPr>
              <a:t>Government-produced money</a:t>
            </a:r>
          </a:p>
          <a:p>
            <a:pPr lvl="1"/>
            <a:r>
              <a:rPr lang="en-US" dirty="0"/>
              <a:t>Backed by some precious commodity</a:t>
            </a:r>
          </a:p>
          <a:p>
            <a:r>
              <a:rPr lang="en-US" dirty="0">
                <a:solidFill>
                  <a:srgbClr val="C00000"/>
                </a:solidFill>
              </a:rPr>
              <a:t>Has little to </a:t>
            </a:r>
            <a:r>
              <a:rPr lang="en-US" dirty="0">
                <a:solidFill>
                  <a:srgbClr val="C00000"/>
                </a:solidFill>
                <a:highlight>
                  <a:srgbClr val="FFFF00"/>
                </a:highlight>
              </a:rPr>
              <a:t>no intrinsic value</a:t>
            </a:r>
            <a:r>
              <a:rPr lang="en-US" dirty="0">
                <a:solidFill>
                  <a:srgbClr val="C00000"/>
                </a:solidFill>
              </a:rPr>
              <a:t> of its own</a:t>
            </a:r>
          </a:p>
          <a:p>
            <a:pPr lvl="1"/>
            <a:r>
              <a:rPr lang="en-US" dirty="0"/>
              <a:t>But can be exchanged for a commodity that has some intrinsic value</a:t>
            </a:r>
          </a:p>
          <a:p>
            <a:r>
              <a:rPr lang="en-US" dirty="0">
                <a:solidFill>
                  <a:srgbClr val="C00000"/>
                </a:solidFill>
              </a:rPr>
              <a:t>Easier to transact, enforced unforgeability</a:t>
            </a:r>
          </a:p>
          <a:p>
            <a:pPr lvl="1"/>
            <a:endParaRPr lang="en-US" dirty="0">
              <a:solidFill>
                <a:srgbClr val="24469D"/>
              </a:solidFill>
            </a:endParaRPr>
          </a:p>
          <a:p>
            <a:pPr lvl="1"/>
            <a:endParaRPr lang="en-US" dirty="0">
              <a:solidFill>
                <a:srgbClr val="24469D"/>
              </a:solidFill>
            </a:endParaRPr>
          </a:p>
          <a:p>
            <a:pPr lvl="1"/>
            <a:endParaRPr lang="en-US" dirty="0">
              <a:solidFill>
                <a:srgbClr val="24469D"/>
              </a:solidFill>
            </a:endParaRPr>
          </a:p>
          <a:p>
            <a:pPr lvl="1"/>
            <a:endParaRPr lang="en-US" dirty="0">
              <a:solidFill>
                <a:srgbClr val="24469D"/>
              </a:solidFill>
            </a:endParaRPr>
          </a:p>
          <a:p>
            <a:r>
              <a:rPr lang="en-US" dirty="0">
                <a:solidFill>
                  <a:srgbClr val="24469D"/>
                </a:solidFill>
              </a:rPr>
              <a:t>Value based on the backing instrument</a:t>
            </a:r>
          </a:p>
          <a:p>
            <a:pPr lvl="1"/>
            <a:r>
              <a:rPr lang="en-US" dirty="0">
                <a:solidFill>
                  <a:srgbClr val="C00000"/>
                </a:solidFill>
              </a:rPr>
              <a:t>But NOT just </a:t>
            </a:r>
            <a:r>
              <a:rPr lang="en-US" b="1" i="1" dirty="0">
                <a:solidFill>
                  <a:srgbClr val="308D3E"/>
                </a:solidFill>
              </a:rPr>
              <a:t>“some common value”</a:t>
            </a:r>
            <a:r>
              <a:rPr lang="en-US" dirty="0">
                <a:solidFill>
                  <a:srgbClr val="C00000"/>
                </a:solidFill>
              </a:rPr>
              <a:t> that everyone agrees upon</a:t>
            </a:r>
          </a:p>
        </p:txBody>
      </p:sp>
      <p:sp>
        <p:nvSpPr>
          <p:cNvPr id="4" name="Slide Number Placeholder 3">
            <a:extLst>
              <a:ext uri="{FF2B5EF4-FFF2-40B4-BE49-F238E27FC236}">
                <a16:creationId xmlns:a16="http://schemas.microsoft.com/office/drawing/2014/main" id="{0D0EF900-3B18-CD33-B817-932A8F9A2B4E}"/>
              </a:ext>
            </a:extLst>
          </p:cNvPr>
          <p:cNvSpPr>
            <a:spLocks noGrp="1"/>
          </p:cNvSpPr>
          <p:nvPr>
            <p:ph type="sldNum" sz="quarter" idx="12"/>
          </p:nvPr>
        </p:nvSpPr>
        <p:spPr/>
        <p:txBody>
          <a:bodyPr/>
          <a:lstStyle/>
          <a:p>
            <a:fld id="{D57F1E4F-1CFF-5643-939E-217C01CDF565}" type="slidenum">
              <a:rPr lang="en-US" smtClean="0"/>
              <a:pPr/>
              <a:t>21</a:t>
            </a:fld>
            <a:endParaRPr lang="en-US" dirty="0"/>
          </a:p>
        </p:txBody>
      </p:sp>
      <p:sp>
        <p:nvSpPr>
          <p:cNvPr id="6" name="Rounded Rectangle 5">
            <a:extLst>
              <a:ext uri="{FF2B5EF4-FFF2-40B4-BE49-F238E27FC236}">
                <a16:creationId xmlns:a16="http://schemas.microsoft.com/office/drawing/2014/main" id="{B852B2AE-3CBB-727D-24E9-803372D94AC3}"/>
              </a:ext>
            </a:extLst>
          </p:cNvPr>
          <p:cNvSpPr/>
          <p:nvPr/>
        </p:nvSpPr>
        <p:spPr>
          <a:xfrm>
            <a:off x="815165" y="4156098"/>
            <a:ext cx="4215236" cy="510778"/>
          </a:xfrm>
          <a:prstGeom prst="roundRect">
            <a:avLst/>
          </a:prstGeom>
          <a:solidFill>
            <a:schemeClr val="accent4">
              <a:lumMod val="40000"/>
              <a:lumOff val="60000"/>
            </a:schemeClr>
          </a:solidFill>
          <a:ln>
            <a:solidFill>
              <a:schemeClr val="tx2">
                <a:lumMod val="75000"/>
              </a:schemeClr>
            </a:solidFill>
            <a:tailEnd type="none" w="lg" len="lg"/>
          </a:ln>
          <a:effectLst/>
        </p:spPr>
        <p:style>
          <a:lnRef idx="2">
            <a:schemeClr val="accent1"/>
          </a:lnRef>
          <a:fillRef idx="0">
            <a:schemeClr val="accent1"/>
          </a:fillRef>
          <a:effectRef idx="1">
            <a:schemeClr val="accent1"/>
          </a:effectRef>
          <a:fontRef idx="minor">
            <a:schemeClr val="tx1"/>
          </a:fontRef>
        </p:style>
        <p:txBody>
          <a:bodyPr wrap="square" rtlCol="0" anchor="ctr">
            <a:spAutoFit/>
          </a:bodyPr>
          <a:lstStyle/>
          <a:p>
            <a:pPr algn="ctr"/>
            <a:r>
              <a:rPr lang="en-GB" sz="2400" dirty="0">
                <a:latin typeface="Candara" panose="020E0502030303020204" pitchFamily="34" charset="0"/>
              </a:rPr>
              <a:t>Often backed by Gold or Silver</a:t>
            </a:r>
          </a:p>
        </p:txBody>
      </p:sp>
    </p:spTree>
    <p:extLst>
      <p:ext uri="{BB962C8B-B14F-4D97-AF65-F5344CB8AC3E}">
        <p14:creationId xmlns:p14="http://schemas.microsoft.com/office/powerpoint/2010/main" val="2946207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par>
                                <p:cTn id="8" presetID="9" presetClass="entr" presetSubtype="0" fill="hold"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dissolve">
                                      <p:cBhvr>
                                        <p:cTn id="10" dur="500"/>
                                        <p:tgtEl>
                                          <p:spTgt spid="3">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9"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animEffect transition="in" filter="dissolve">
                                      <p:cBhvr>
                                        <p:cTn id="15" dur="500"/>
                                        <p:tgtEl>
                                          <p:spTgt spid="3">
                                            <p:txEl>
                                              <p:pRg st="2" end="2"/>
                                            </p:txEl>
                                          </p:spTgt>
                                        </p:tgtEl>
                                      </p:cBhvr>
                                    </p:animEffect>
                                  </p:childTnLst>
                                </p:cTn>
                              </p:par>
                              <p:par>
                                <p:cTn id="16" presetID="9" presetClass="entr" presetSubtype="0" fill="hold" nodeType="withEffect">
                                  <p:stCondLst>
                                    <p:cond delay="0"/>
                                  </p:stCondLst>
                                  <p:childTnLst>
                                    <p:set>
                                      <p:cBhvr>
                                        <p:cTn id="17" dur="1" fill="hold">
                                          <p:stCondLst>
                                            <p:cond delay="0"/>
                                          </p:stCondLst>
                                        </p:cTn>
                                        <p:tgtEl>
                                          <p:spTgt spid="3">
                                            <p:txEl>
                                              <p:pRg st="3" end="3"/>
                                            </p:txEl>
                                          </p:spTgt>
                                        </p:tgtEl>
                                        <p:attrNameLst>
                                          <p:attrName>style.visibility</p:attrName>
                                        </p:attrNameLst>
                                      </p:cBhvr>
                                      <p:to>
                                        <p:strVal val="visible"/>
                                      </p:to>
                                    </p:set>
                                    <p:animEffect transition="in" filter="dissolve">
                                      <p:cBhvr>
                                        <p:cTn id="18" dur="500"/>
                                        <p:tgtEl>
                                          <p:spTgt spid="3">
                                            <p:txEl>
                                              <p:pRg st="3" end="3"/>
                                            </p:txEl>
                                          </p:spTgt>
                                        </p:tgtEl>
                                      </p:cBhvr>
                                    </p:animEffect>
                                  </p:childTnLst>
                                </p:cTn>
                              </p:par>
                              <p:par>
                                <p:cTn id="19" presetID="1" presetClass="entr" presetSubtype="0" fill="hold" nodeType="with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9" presetClass="entr" presetSubtype="0" fill="hold"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dissolve">
                                      <p:cBhvr>
                                        <p:cTn id="25" dur="500"/>
                                        <p:tgtEl>
                                          <p:spTgt spid="3">
                                            <p:txEl>
                                              <p:pRg st="4" end="4"/>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nodeType="clickEffect">
                                  <p:stCondLst>
                                    <p:cond delay="0"/>
                                  </p:stCondLst>
                                  <p:childTnLst>
                                    <p:set>
                                      <p:cBhvr>
                                        <p:cTn id="29" dur="1" fill="hold">
                                          <p:stCondLst>
                                            <p:cond delay="0"/>
                                          </p:stCondLst>
                                        </p:cTn>
                                        <p:tgtEl>
                                          <p:spTgt spid="3">
                                            <p:txEl>
                                              <p:pRg st="9" end="9"/>
                                            </p:txEl>
                                          </p:spTgt>
                                        </p:tgtEl>
                                        <p:attrNameLst>
                                          <p:attrName>style.visibility</p:attrName>
                                        </p:attrNameLst>
                                      </p:cBhvr>
                                      <p:to>
                                        <p:strVal val="visible"/>
                                      </p:to>
                                    </p:set>
                                    <p:animEffect transition="in" filter="dissolve">
                                      <p:cBhvr>
                                        <p:cTn id="30" dur="500"/>
                                        <p:tgtEl>
                                          <p:spTgt spid="3">
                                            <p:txEl>
                                              <p:pRg st="9" end="9"/>
                                            </p:txEl>
                                          </p:spTgt>
                                        </p:tgtEl>
                                      </p:cBhvr>
                                    </p:animEffect>
                                  </p:childTnLst>
                                </p:cTn>
                              </p:par>
                              <p:par>
                                <p:cTn id="31" presetID="9" presetClass="entr" presetSubtype="0"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Effect transition="in" filter="dissolve">
                                      <p:cBhvr>
                                        <p:cTn id="33" dur="500"/>
                                        <p:tgtEl>
                                          <p:spTgt spid="3">
                                            <p:txEl>
                                              <p:pRg st="10" end="10"/>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grpId="0" nodeType="clickEffect">
                                  <p:stCondLst>
                                    <p:cond delay="0"/>
                                  </p:stCondLst>
                                  <p:childTnLst>
                                    <p:set>
                                      <p:cBhvr>
                                        <p:cTn id="37" dur="1" fill="hold">
                                          <p:stCondLst>
                                            <p:cond delay="0"/>
                                          </p:stCondLst>
                                        </p:cTn>
                                        <p:tgtEl>
                                          <p:spTgt spid="6"/>
                                        </p:tgtEl>
                                        <p:attrNameLst>
                                          <p:attrName>style.visibility</p:attrName>
                                        </p:attrNameLst>
                                      </p:cBhvr>
                                      <p:to>
                                        <p:strVal val="visible"/>
                                      </p:to>
                                    </p:set>
                                    <p:animEffect transition="in" filter="dissolve">
                                      <p:cBhvr>
                                        <p:cTn id="38"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2986BD-AB2A-8156-DE0C-7D090FFC0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1326EB-3EC3-C527-A828-049EAADCDE0F}"/>
              </a:ext>
            </a:extLst>
          </p:cNvPr>
          <p:cNvSpPr>
            <a:spLocks noGrp="1"/>
          </p:cNvSpPr>
          <p:nvPr>
            <p:ph type="title"/>
          </p:nvPr>
        </p:nvSpPr>
        <p:spPr/>
        <p:txBody>
          <a:bodyPr/>
          <a:lstStyle/>
          <a:p>
            <a:r>
              <a:rPr lang="en-GB" dirty="0"/>
              <a:t>The US Gold Reserve (Fort Knox, KY)</a:t>
            </a:r>
            <a:endParaRPr lang="en-PK" dirty="0"/>
          </a:p>
        </p:txBody>
      </p:sp>
      <p:sp>
        <p:nvSpPr>
          <p:cNvPr id="3" name="Content Placeholder 2">
            <a:extLst>
              <a:ext uri="{FF2B5EF4-FFF2-40B4-BE49-F238E27FC236}">
                <a16:creationId xmlns:a16="http://schemas.microsoft.com/office/drawing/2014/main" id="{AEB07CE7-D718-64A4-C37E-44FD50A2A3E4}"/>
              </a:ext>
            </a:extLst>
          </p:cNvPr>
          <p:cNvSpPr>
            <a:spLocks noGrp="1"/>
          </p:cNvSpPr>
          <p:nvPr>
            <p:ph idx="1"/>
          </p:nvPr>
        </p:nvSpPr>
        <p:spPr/>
        <p:txBody>
          <a:bodyPr/>
          <a:lstStyle/>
          <a:p>
            <a:r>
              <a:rPr lang="en-US" dirty="0">
                <a:solidFill>
                  <a:srgbClr val="7030A0"/>
                </a:solidFill>
              </a:rPr>
              <a:t>4583 Metric tons (about 56% of US Gold Reserves)</a:t>
            </a:r>
          </a:p>
          <a:p>
            <a:r>
              <a:rPr lang="en-US" dirty="0">
                <a:solidFill>
                  <a:srgbClr val="C00000"/>
                </a:solidFill>
              </a:rPr>
              <a:t>Federal Reserve Bank building in New York vault</a:t>
            </a:r>
          </a:p>
          <a:p>
            <a:pPr lvl="1"/>
            <a:r>
              <a:rPr lang="en-US" dirty="0">
                <a:solidFill>
                  <a:srgbClr val="308D3E"/>
                </a:solidFill>
              </a:rPr>
              <a:t>Over 6000 Metric tons of Gold</a:t>
            </a:r>
          </a:p>
          <a:p>
            <a:pPr lvl="1"/>
            <a:r>
              <a:rPr lang="en-US" dirty="0">
                <a:solidFill>
                  <a:srgbClr val="308D3E"/>
                </a:solidFill>
              </a:rPr>
              <a:t>More than 95% belongs to other countries</a:t>
            </a:r>
          </a:p>
        </p:txBody>
      </p:sp>
      <p:sp>
        <p:nvSpPr>
          <p:cNvPr id="4" name="Slide Number Placeholder 3">
            <a:extLst>
              <a:ext uri="{FF2B5EF4-FFF2-40B4-BE49-F238E27FC236}">
                <a16:creationId xmlns:a16="http://schemas.microsoft.com/office/drawing/2014/main" id="{A50CA990-761A-49DE-E0FA-7C7ADBDB9EC2}"/>
              </a:ext>
            </a:extLst>
          </p:cNvPr>
          <p:cNvSpPr>
            <a:spLocks noGrp="1"/>
          </p:cNvSpPr>
          <p:nvPr>
            <p:ph type="sldNum" sz="quarter" idx="12"/>
          </p:nvPr>
        </p:nvSpPr>
        <p:spPr/>
        <p:txBody>
          <a:bodyPr/>
          <a:lstStyle/>
          <a:p>
            <a:fld id="{D57F1E4F-1CFF-5643-939E-217C01CDF565}" type="slidenum">
              <a:rPr lang="en-US" smtClean="0"/>
              <a:pPr/>
              <a:t>22</a:t>
            </a:fld>
            <a:endParaRPr lang="en-US" dirty="0"/>
          </a:p>
        </p:txBody>
      </p:sp>
      <p:pic>
        <p:nvPicPr>
          <p:cNvPr id="5" name="Picture 2" descr="fort knox gold reserve | How They Built Fort Knox Gold Bullion Depository  #GoldBullion #GoldInvesting | Fort knox gold, Fort knox, Fort knox kentucky">
            <a:extLst>
              <a:ext uri="{FF2B5EF4-FFF2-40B4-BE49-F238E27FC236}">
                <a16:creationId xmlns:a16="http://schemas.microsoft.com/office/drawing/2014/main" id="{6BB36D45-D4AC-3667-DF15-A58E1C4FD8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8539" y="3383160"/>
            <a:ext cx="4487461" cy="3032931"/>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a:extLst>
              <a:ext uri="{FF2B5EF4-FFF2-40B4-BE49-F238E27FC236}">
                <a16:creationId xmlns:a16="http://schemas.microsoft.com/office/drawing/2014/main" id="{8291FC1E-BC58-7D74-3C45-5F8A38C9877B}"/>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8556615" y="2347581"/>
            <a:ext cx="2873385" cy="40685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82549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9" presetClass="entr" presetSubtype="0" fill="hold"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dissolve">
                                      <p:cBhvr>
                                        <p:cTn id="19" dur="500"/>
                                        <p:tgtEl>
                                          <p:spTgt spid="3">
                                            <p:txEl>
                                              <p:pRg st="2" end="2"/>
                                            </p:txEl>
                                          </p:spTgt>
                                        </p:tgtEl>
                                      </p:cBhvr>
                                    </p:animEffect>
                                  </p:childTnLst>
                                </p:cTn>
                              </p:par>
                              <p:par>
                                <p:cTn id="20" presetID="9" presetClass="entr" presetSubtype="0"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dissolv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B929EA-32B4-41EC-85AB-C57D6A80031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457279-6502-8003-0E9F-05280267293B}"/>
              </a:ext>
            </a:extLst>
          </p:cNvPr>
          <p:cNvSpPr>
            <a:spLocks noGrp="1"/>
          </p:cNvSpPr>
          <p:nvPr>
            <p:ph type="title"/>
          </p:nvPr>
        </p:nvSpPr>
        <p:spPr>
          <a:xfrm>
            <a:off x="487680" y="101601"/>
            <a:ext cx="11186160" cy="985519"/>
          </a:xfrm>
        </p:spPr>
        <p:txBody>
          <a:bodyPr anchor="ctr">
            <a:normAutofit/>
          </a:bodyPr>
          <a:lstStyle/>
          <a:p>
            <a:r>
              <a:rPr lang="en-US" dirty="0"/>
              <a:t>The US Gold Reserve (Fort Knox, KY)</a:t>
            </a:r>
            <a:endParaRPr lang="en-PK" dirty="0"/>
          </a:p>
        </p:txBody>
      </p:sp>
      <p:pic>
        <p:nvPicPr>
          <p:cNvPr id="5" name="Picture 2">
            <a:extLst>
              <a:ext uri="{FF2B5EF4-FFF2-40B4-BE49-F238E27FC236}">
                <a16:creationId xmlns:a16="http://schemas.microsoft.com/office/drawing/2014/main" id="{BE9D430C-B2B3-2FA5-8E45-2077ECBE46B5}"/>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2188552" y="1087120"/>
            <a:ext cx="7814896" cy="5079683"/>
          </a:xfrm>
          <a:prstGeom prst="rect">
            <a:avLst/>
          </a:prstGeom>
          <a:solidFill>
            <a:srgbClr val="FFFFFF"/>
          </a:solidFill>
        </p:spPr>
      </p:pic>
      <p:sp>
        <p:nvSpPr>
          <p:cNvPr id="4" name="Slide Number Placeholder 3">
            <a:extLst>
              <a:ext uri="{FF2B5EF4-FFF2-40B4-BE49-F238E27FC236}">
                <a16:creationId xmlns:a16="http://schemas.microsoft.com/office/drawing/2014/main" id="{598BD844-D391-A0A4-461B-B1632E0D1A3C}"/>
              </a:ext>
            </a:extLst>
          </p:cNvPr>
          <p:cNvSpPr>
            <a:spLocks noGrp="1"/>
          </p:cNvSpPr>
          <p:nvPr>
            <p:ph type="sldNum" sz="quarter" idx="12"/>
          </p:nvPr>
        </p:nvSpPr>
        <p:spPr>
          <a:xfrm>
            <a:off x="10620104" y="6578930"/>
            <a:ext cx="1060269" cy="279070"/>
          </a:xfrm>
        </p:spPr>
        <p:txBody>
          <a:bodyPr anchor="ctr">
            <a:normAutofit/>
          </a:bodyPr>
          <a:lstStyle/>
          <a:p>
            <a:pPr>
              <a:lnSpc>
                <a:spcPct val="90000"/>
              </a:lnSpc>
              <a:spcAft>
                <a:spcPts val="600"/>
              </a:spcAft>
            </a:pPr>
            <a:fld id="{D57F1E4F-1CFF-5643-939E-217C01CDF565}" type="slidenum">
              <a:rPr lang="en-US" sz="1300" smtClean="0"/>
              <a:pPr>
                <a:lnSpc>
                  <a:spcPct val="90000"/>
                </a:lnSpc>
                <a:spcAft>
                  <a:spcPts val="600"/>
                </a:spcAft>
              </a:pPr>
              <a:t>23</a:t>
            </a:fld>
            <a:endParaRPr lang="en-US" sz="1300"/>
          </a:p>
        </p:txBody>
      </p:sp>
      <p:sp>
        <p:nvSpPr>
          <p:cNvPr id="6" name="Rounded Rectangle 5">
            <a:extLst>
              <a:ext uri="{FF2B5EF4-FFF2-40B4-BE49-F238E27FC236}">
                <a16:creationId xmlns:a16="http://schemas.microsoft.com/office/drawing/2014/main" id="{7B62A0FD-E437-706B-1093-3EFE44402405}"/>
              </a:ext>
            </a:extLst>
          </p:cNvPr>
          <p:cNvSpPr/>
          <p:nvPr/>
        </p:nvSpPr>
        <p:spPr>
          <a:xfrm>
            <a:off x="229862" y="1087120"/>
            <a:ext cx="1739436" cy="442674"/>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PK" sz="2000" dirty="0">
                <a:solidFill>
                  <a:srgbClr val="7030A0"/>
                </a:solidFill>
              </a:rPr>
              <a:t>What’s inside?</a:t>
            </a:r>
          </a:p>
        </p:txBody>
      </p:sp>
    </p:spTree>
    <p:extLst>
      <p:ext uri="{BB962C8B-B14F-4D97-AF65-F5344CB8AC3E}">
        <p14:creationId xmlns:p14="http://schemas.microsoft.com/office/powerpoint/2010/main" val="11955180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087E8B-E3DF-A28B-F78A-3D807CCAAF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DE726F-E729-2ECA-0155-879E68320CB7}"/>
              </a:ext>
            </a:extLst>
          </p:cNvPr>
          <p:cNvSpPr>
            <a:spLocks noGrp="1"/>
          </p:cNvSpPr>
          <p:nvPr>
            <p:ph type="title"/>
          </p:nvPr>
        </p:nvSpPr>
        <p:spPr/>
        <p:txBody>
          <a:bodyPr/>
          <a:lstStyle/>
          <a:p>
            <a:r>
              <a:rPr lang="en-GB" dirty="0"/>
              <a:t>Fort Knox Gold Reserve Value</a:t>
            </a:r>
            <a:endParaRPr lang="en-PK" dirty="0"/>
          </a:p>
        </p:txBody>
      </p:sp>
      <p:sp>
        <p:nvSpPr>
          <p:cNvPr id="3" name="Content Placeholder 2">
            <a:extLst>
              <a:ext uri="{FF2B5EF4-FFF2-40B4-BE49-F238E27FC236}">
                <a16:creationId xmlns:a16="http://schemas.microsoft.com/office/drawing/2014/main" id="{4D0725F9-CA75-65DC-3D42-48AA1D3B21B3}"/>
              </a:ext>
            </a:extLst>
          </p:cNvPr>
          <p:cNvSpPr>
            <a:spLocks noGrp="1"/>
          </p:cNvSpPr>
          <p:nvPr>
            <p:ph idx="1"/>
          </p:nvPr>
        </p:nvSpPr>
        <p:spPr/>
        <p:txBody>
          <a:bodyPr/>
          <a:lstStyle/>
          <a:p>
            <a:r>
              <a:rPr lang="en-US" dirty="0"/>
              <a:t>Total reserves in USD: $541B </a:t>
            </a:r>
            <a:r>
              <a:rPr lang="en-US" dirty="0">
                <a:solidFill>
                  <a:srgbClr val="308D3E"/>
                </a:solidFill>
              </a:rPr>
              <a:t>(@ $118M per Metric ton)</a:t>
            </a:r>
          </a:p>
          <a:p>
            <a:r>
              <a:rPr lang="en-US" dirty="0">
                <a:solidFill>
                  <a:srgbClr val="7030A0"/>
                </a:solidFill>
              </a:rPr>
              <a:t>About 1/8</a:t>
            </a:r>
            <a:r>
              <a:rPr lang="en-US" baseline="30000" dirty="0">
                <a:solidFill>
                  <a:srgbClr val="7030A0"/>
                </a:solidFill>
              </a:rPr>
              <a:t>th</a:t>
            </a:r>
            <a:r>
              <a:rPr lang="en-US" dirty="0">
                <a:solidFill>
                  <a:srgbClr val="7030A0"/>
                </a:solidFill>
              </a:rPr>
              <a:t> of NVIDIA’s Market Cap (16 Sep 2025)</a:t>
            </a:r>
          </a:p>
        </p:txBody>
      </p:sp>
      <p:sp>
        <p:nvSpPr>
          <p:cNvPr id="4" name="Slide Number Placeholder 3">
            <a:extLst>
              <a:ext uri="{FF2B5EF4-FFF2-40B4-BE49-F238E27FC236}">
                <a16:creationId xmlns:a16="http://schemas.microsoft.com/office/drawing/2014/main" id="{10C3677D-A434-1605-8048-4E7D99211F01}"/>
              </a:ext>
            </a:extLst>
          </p:cNvPr>
          <p:cNvSpPr>
            <a:spLocks noGrp="1"/>
          </p:cNvSpPr>
          <p:nvPr>
            <p:ph type="sldNum" sz="quarter" idx="12"/>
          </p:nvPr>
        </p:nvSpPr>
        <p:spPr/>
        <p:txBody>
          <a:bodyPr/>
          <a:lstStyle/>
          <a:p>
            <a:fld id="{D57F1E4F-1CFF-5643-939E-217C01CDF565}" type="slidenum">
              <a:rPr lang="en-US" smtClean="0"/>
              <a:pPr/>
              <a:t>24</a:t>
            </a:fld>
            <a:endParaRPr lang="en-US" dirty="0"/>
          </a:p>
        </p:txBody>
      </p:sp>
      <p:pic>
        <p:nvPicPr>
          <p:cNvPr id="1026" name="Picture 2" descr="ratios_chart_gold">
            <a:extLst>
              <a:ext uri="{FF2B5EF4-FFF2-40B4-BE49-F238E27FC236}">
                <a16:creationId xmlns:a16="http://schemas.microsoft.com/office/drawing/2014/main" id="{ABD07C1C-2FEF-F7E6-8711-AFE62C949A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7753" y="2284001"/>
            <a:ext cx="8066087" cy="4294929"/>
          </a:xfrm>
          <a:prstGeom prst="rect">
            <a:avLst/>
          </a:prstGeom>
          <a:noFill/>
          <a:ln w="12700">
            <a:solidFill>
              <a:srgbClr val="7030A0"/>
            </a:solidFill>
          </a:ln>
          <a:extLst>
            <a:ext uri="{909E8E84-426E-40DD-AFC4-6F175D3DCCD1}">
              <a14:hiddenFill xmlns:a14="http://schemas.microsoft.com/office/drawing/2010/main">
                <a:solidFill>
                  <a:srgbClr val="FFFFFF"/>
                </a:solidFill>
              </a14:hiddenFill>
            </a:ext>
          </a:extLst>
        </p:spPr>
      </p:pic>
      <p:sp>
        <p:nvSpPr>
          <p:cNvPr id="6" name="Rounded Rectangle 5">
            <a:extLst>
              <a:ext uri="{FF2B5EF4-FFF2-40B4-BE49-F238E27FC236}">
                <a16:creationId xmlns:a16="http://schemas.microsoft.com/office/drawing/2014/main" id="{2FF4A1D4-B11B-5BA1-A641-1A4C841DF34B}"/>
              </a:ext>
            </a:extLst>
          </p:cNvPr>
          <p:cNvSpPr/>
          <p:nvPr/>
        </p:nvSpPr>
        <p:spPr>
          <a:xfrm>
            <a:off x="269412" y="2970836"/>
            <a:ext cx="1824207" cy="510778"/>
          </a:xfrm>
          <a:prstGeom prst="round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pPr algn="ctr"/>
            <a:r>
              <a:rPr lang="en-PK" sz="2400" dirty="0"/>
              <a:t>Last 10 years</a:t>
            </a:r>
          </a:p>
        </p:txBody>
      </p:sp>
      <p:sp>
        <p:nvSpPr>
          <p:cNvPr id="7" name="Rounded Rectangle 6">
            <a:extLst>
              <a:ext uri="{FF2B5EF4-FFF2-40B4-BE49-F238E27FC236}">
                <a16:creationId xmlns:a16="http://schemas.microsoft.com/office/drawing/2014/main" id="{790C0682-F9F4-51FE-9FC2-8975EE492C55}"/>
              </a:ext>
            </a:extLst>
          </p:cNvPr>
          <p:cNvSpPr/>
          <p:nvPr/>
        </p:nvSpPr>
        <p:spPr>
          <a:xfrm>
            <a:off x="269412" y="3628192"/>
            <a:ext cx="3195076" cy="783193"/>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wrap="none" rtlCol="0" anchor="ctr">
            <a:spAutoFit/>
          </a:bodyPr>
          <a:lstStyle/>
          <a:p>
            <a:r>
              <a:rPr lang="en-PK" sz="2000" b="1" dirty="0">
                <a:solidFill>
                  <a:srgbClr val="7030A0"/>
                </a:solidFill>
              </a:rPr>
              <a:t>Gold Price: slightly &lt; 3x</a:t>
            </a:r>
          </a:p>
          <a:p>
            <a:r>
              <a:rPr lang="en-PK" sz="2000" b="1" dirty="0">
                <a:solidFill>
                  <a:srgbClr val="7030A0"/>
                </a:solidFill>
              </a:rPr>
              <a:t>NVDA stock: slightly &gt; 300x</a:t>
            </a:r>
          </a:p>
        </p:txBody>
      </p:sp>
    </p:spTree>
    <p:extLst>
      <p:ext uri="{BB962C8B-B14F-4D97-AF65-F5344CB8AC3E}">
        <p14:creationId xmlns:p14="http://schemas.microsoft.com/office/powerpoint/2010/main" val="3983921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dissolv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par>
                          <p:cTn id="17" fill="hold">
                            <p:stCondLst>
                              <p:cond delay="0"/>
                            </p:stCondLst>
                            <p:childTnLst>
                              <p:par>
                                <p:cTn id="18" presetID="9" presetClass="entr" presetSubtype="0" fill="hold" nodeType="afterEffect">
                                  <p:stCondLst>
                                    <p:cond delay="0"/>
                                  </p:stCondLst>
                                  <p:childTnLst>
                                    <p:set>
                                      <p:cBhvr>
                                        <p:cTn id="19" dur="1" fill="hold">
                                          <p:stCondLst>
                                            <p:cond delay="0"/>
                                          </p:stCondLst>
                                        </p:cTn>
                                        <p:tgtEl>
                                          <p:spTgt spid="1026"/>
                                        </p:tgtEl>
                                        <p:attrNameLst>
                                          <p:attrName>style.visibility</p:attrName>
                                        </p:attrNameLst>
                                      </p:cBhvr>
                                      <p:to>
                                        <p:strVal val="visible"/>
                                      </p:to>
                                    </p:set>
                                    <p:animEffect transition="in" filter="dissolve">
                                      <p:cBhvr>
                                        <p:cTn id="20" dur="500"/>
                                        <p:tgtEl>
                                          <p:spTgt spid="1026"/>
                                        </p:tgtEl>
                                      </p:cBhvr>
                                    </p:animEffec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childTnLst>
                                </p:cTn>
                              </p:par>
                              <p:par>
                                <p:cTn id="25" presetID="9" presetClass="entr" presetSubtype="0" fill="hold" nodeType="withEffect">
                                  <p:stCondLst>
                                    <p:cond delay="0"/>
                                  </p:stCondLst>
                                  <p:childTnLst>
                                    <p:set>
                                      <p:cBhvr>
                                        <p:cTn id="26" dur="1" fill="hold">
                                          <p:stCondLst>
                                            <p:cond delay="0"/>
                                          </p:stCondLst>
                                        </p:cTn>
                                        <p:tgtEl>
                                          <p:spTgt spid="7">
                                            <p:txEl>
                                              <p:pRg st="0" end="0"/>
                                            </p:txEl>
                                          </p:spTgt>
                                        </p:tgtEl>
                                        <p:attrNameLst>
                                          <p:attrName>style.visibility</p:attrName>
                                        </p:attrNameLst>
                                      </p:cBhvr>
                                      <p:to>
                                        <p:strVal val="visible"/>
                                      </p:to>
                                    </p:set>
                                    <p:animEffect transition="in" filter="dissolve">
                                      <p:cBhvr>
                                        <p:cTn id="27" dur="500"/>
                                        <p:tgtEl>
                                          <p:spTgt spid="7">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nodeType="clickEffect">
                                  <p:stCondLst>
                                    <p:cond delay="0"/>
                                  </p:stCondLst>
                                  <p:childTnLst>
                                    <p:set>
                                      <p:cBhvr>
                                        <p:cTn id="31" dur="1" fill="hold">
                                          <p:stCondLst>
                                            <p:cond delay="0"/>
                                          </p:stCondLst>
                                        </p:cTn>
                                        <p:tgtEl>
                                          <p:spTgt spid="7">
                                            <p:txEl>
                                              <p:pRg st="1" end="1"/>
                                            </p:txEl>
                                          </p:spTgt>
                                        </p:tgtEl>
                                        <p:attrNameLst>
                                          <p:attrName>style.visibility</p:attrName>
                                        </p:attrNameLst>
                                      </p:cBhvr>
                                      <p:to>
                                        <p:strVal val="visible"/>
                                      </p:to>
                                    </p:set>
                                    <p:animEffect transition="in" filter="dissolve">
                                      <p:cBhvr>
                                        <p:cTn id="3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8FE59-15C8-4EF5-1C1E-8C373A32A5AD}"/>
              </a:ext>
            </a:extLst>
          </p:cNvPr>
          <p:cNvSpPr>
            <a:spLocks noGrp="1"/>
          </p:cNvSpPr>
          <p:nvPr>
            <p:ph type="title"/>
          </p:nvPr>
        </p:nvSpPr>
        <p:spPr/>
        <p:txBody>
          <a:bodyPr/>
          <a:lstStyle/>
          <a:p>
            <a:r>
              <a:rPr lang="en-GB" dirty="0"/>
              <a:t>The evolution of money: Fiat money</a:t>
            </a:r>
            <a:endParaRPr lang="en-PK" dirty="0"/>
          </a:p>
        </p:txBody>
      </p:sp>
      <p:sp>
        <p:nvSpPr>
          <p:cNvPr id="3" name="Content Placeholder 2">
            <a:extLst>
              <a:ext uri="{FF2B5EF4-FFF2-40B4-BE49-F238E27FC236}">
                <a16:creationId xmlns:a16="http://schemas.microsoft.com/office/drawing/2014/main" id="{8708121B-F3B6-40F3-CB8D-5B4543B0052E}"/>
              </a:ext>
            </a:extLst>
          </p:cNvPr>
          <p:cNvSpPr>
            <a:spLocks noGrp="1"/>
          </p:cNvSpPr>
          <p:nvPr>
            <p:ph idx="1"/>
          </p:nvPr>
        </p:nvSpPr>
        <p:spPr/>
        <p:txBody>
          <a:bodyPr/>
          <a:lstStyle/>
          <a:p>
            <a:r>
              <a:rPr lang="en-US" dirty="0">
                <a:solidFill>
                  <a:srgbClr val="308D3E"/>
                </a:solidFill>
              </a:rPr>
              <a:t>Government-produced money (USD, Euro, PKR)</a:t>
            </a:r>
          </a:p>
          <a:p>
            <a:r>
              <a:rPr lang="en-US" dirty="0"/>
              <a:t>Has little to no intrinsic value of its own</a:t>
            </a:r>
          </a:p>
          <a:p>
            <a:pPr lvl="1"/>
            <a:r>
              <a:rPr lang="en-US" dirty="0">
                <a:solidFill>
                  <a:srgbClr val="C00000"/>
                </a:solidFill>
              </a:rPr>
              <a:t>It may not even be backed by some precious commodity</a:t>
            </a:r>
          </a:p>
          <a:p>
            <a:pPr lvl="1"/>
            <a:r>
              <a:rPr lang="en-US" dirty="0">
                <a:solidFill>
                  <a:srgbClr val="308D3E"/>
                </a:solidFill>
              </a:rPr>
              <a:t>Value is based on what is set by the government</a:t>
            </a:r>
          </a:p>
          <a:p>
            <a:pPr lvl="1"/>
            <a:r>
              <a:rPr lang="en-US" dirty="0">
                <a:solidFill>
                  <a:srgbClr val="0432FF"/>
                </a:solidFill>
              </a:rPr>
              <a:t>Money that the government guarantees as legal tender</a:t>
            </a:r>
          </a:p>
          <a:p>
            <a:r>
              <a:rPr lang="en-US" b="1" i="1" dirty="0">
                <a:solidFill>
                  <a:srgbClr val="7030A0"/>
                </a:solidFill>
              </a:rPr>
              <a:t>In 1971, the US severed ties with the Gold Standard</a:t>
            </a:r>
          </a:p>
        </p:txBody>
      </p:sp>
      <p:sp>
        <p:nvSpPr>
          <p:cNvPr id="4" name="Slide Number Placeholder 3">
            <a:extLst>
              <a:ext uri="{FF2B5EF4-FFF2-40B4-BE49-F238E27FC236}">
                <a16:creationId xmlns:a16="http://schemas.microsoft.com/office/drawing/2014/main" id="{852C190A-4A0F-1AB9-DA1B-D85BE85E605D}"/>
              </a:ext>
            </a:extLst>
          </p:cNvPr>
          <p:cNvSpPr>
            <a:spLocks noGrp="1"/>
          </p:cNvSpPr>
          <p:nvPr>
            <p:ph type="sldNum" sz="quarter" idx="12"/>
          </p:nvPr>
        </p:nvSpPr>
        <p:spPr/>
        <p:txBody>
          <a:bodyPr/>
          <a:lstStyle/>
          <a:p>
            <a:fld id="{D57F1E4F-1CFF-5643-939E-217C01CDF565}" type="slidenum">
              <a:rPr lang="en-US" smtClean="0"/>
              <a:pPr/>
              <a:t>25</a:t>
            </a:fld>
            <a:endParaRPr lang="en-US" dirty="0"/>
          </a:p>
        </p:txBody>
      </p:sp>
      <p:pic>
        <p:nvPicPr>
          <p:cNvPr id="5" name="Picture 2" descr="What Is Fiat Currency? - TheStreet">
            <a:extLst>
              <a:ext uri="{FF2B5EF4-FFF2-40B4-BE49-F238E27FC236}">
                <a16:creationId xmlns:a16="http://schemas.microsoft.com/office/drawing/2014/main" id="{465A7A92-966A-940C-1457-0DBECE808E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7373" y="4219738"/>
            <a:ext cx="3988627" cy="2243603"/>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What is FIAT currency? - Welcome to BITCOINZ">
            <a:extLst>
              <a:ext uri="{FF2B5EF4-FFF2-40B4-BE49-F238E27FC236}">
                <a16:creationId xmlns:a16="http://schemas.microsoft.com/office/drawing/2014/main" id="{395C2460-6E91-F651-383F-1B3A67EC0B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05830" y="3978889"/>
            <a:ext cx="4314274" cy="24844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9751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dissolv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childTnLst>
                                </p:cTn>
                              </p:par>
                              <p:par>
                                <p:cTn id="12" presetID="1" presetClass="entr" presetSubtype="0" fill="hold" nodeType="withEffect">
                                  <p:stCondLst>
                                    <p:cond delay="0"/>
                                  </p:stCondLst>
                                  <p:childTnLst>
                                    <p:set>
                                      <p:cBhvr>
                                        <p:cTn id="13" dur="1" fill="hold">
                                          <p:stCondLst>
                                            <p:cond delay="0"/>
                                          </p:stCondLst>
                                        </p:cTn>
                                        <p:tgtEl>
                                          <p:spTgt spid="5"/>
                                        </p:tgtEl>
                                        <p:attrNameLst>
                                          <p:attrName>style.visibility</p:attrName>
                                        </p:attrNameLst>
                                      </p:cBhvr>
                                      <p:to>
                                        <p:strVal val="visible"/>
                                      </p:to>
                                    </p:set>
                                  </p:childTnLst>
                                </p:cTn>
                              </p:par>
                              <p:par>
                                <p:cTn id="14" presetID="9" presetClass="entr" presetSubtype="0"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dissolve">
                                      <p:cBhvr>
                                        <p:cTn id="16" dur="500"/>
                                        <p:tgtEl>
                                          <p:spTgt spid="3">
                                            <p:txEl>
                                              <p:pRg st="1" end="1"/>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9"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dissolve">
                                      <p:cBhvr>
                                        <p:cTn id="21" dur="500"/>
                                        <p:tgtEl>
                                          <p:spTgt spid="3">
                                            <p:txEl>
                                              <p:pRg st="2" end="2"/>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9" presetClass="entr" presetSubtype="0" fill="hold" nodeType="clickEffect">
                                  <p:stCondLst>
                                    <p:cond delay="0"/>
                                  </p:stCondLst>
                                  <p:childTnLst>
                                    <p:set>
                                      <p:cBhvr>
                                        <p:cTn id="25" dur="1" fill="hold">
                                          <p:stCondLst>
                                            <p:cond delay="0"/>
                                          </p:stCondLst>
                                        </p:cTn>
                                        <p:tgtEl>
                                          <p:spTgt spid="3">
                                            <p:txEl>
                                              <p:pRg st="3" end="3"/>
                                            </p:txEl>
                                          </p:spTgt>
                                        </p:tgtEl>
                                        <p:attrNameLst>
                                          <p:attrName>style.visibility</p:attrName>
                                        </p:attrNameLst>
                                      </p:cBhvr>
                                      <p:to>
                                        <p:strVal val="visible"/>
                                      </p:to>
                                    </p:set>
                                    <p:animEffect transition="in" filter="dissolve">
                                      <p:cBhvr>
                                        <p:cTn id="26" dur="500"/>
                                        <p:tgtEl>
                                          <p:spTgt spid="3">
                                            <p:txEl>
                                              <p:pRg st="3" end="3"/>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9" presetClass="entr" presetSubtype="0" fill="hold"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Effect transition="in" filter="dissolve">
                                      <p:cBhvr>
                                        <p:cTn id="31" dur="500"/>
                                        <p:tgtEl>
                                          <p:spTgt spid="3">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9" presetClass="entr" presetSubtype="0" fill="hold" nodeType="clickEffect">
                                  <p:stCondLst>
                                    <p:cond delay="0"/>
                                  </p:stCondLst>
                                  <p:childTnLst>
                                    <p:set>
                                      <p:cBhvr>
                                        <p:cTn id="35" dur="1" fill="hold">
                                          <p:stCondLst>
                                            <p:cond delay="0"/>
                                          </p:stCondLst>
                                        </p:cTn>
                                        <p:tgtEl>
                                          <p:spTgt spid="3">
                                            <p:txEl>
                                              <p:pRg st="5" end="5"/>
                                            </p:txEl>
                                          </p:spTgt>
                                        </p:tgtEl>
                                        <p:attrNameLst>
                                          <p:attrName>style.visibility</p:attrName>
                                        </p:attrNameLst>
                                      </p:cBhvr>
                                      <p:to>
                                        <p:strVal val="visible"/>
                                      </p:to>
                                    </p:set>
                                    <p:animEffect transition="in" filter="dissolve">
                                      <p:cBhvr>
                                        <p:cTn id="3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60394</TotalTime>
  <Words>1746</Words>
  <Application>Microsoft Office PowerPoint</Application>
  <PresentationFormat>Widescreen</PresentationFormat>
  <Paragraphs>320</Paragraphs>
  <Slides>25</Slides>
  <Notes>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Candara</vt:lpstr>
      <vt:lpstr>System Font Regular</vt:lpstr>
      <vt:lpstr>Wingdings</vt:lpstr>
      <vt:lpstr>Office Theme</vt:lpstr>
      <vt:lpstr>Introduction to Blockchain  CSE-355</vt:lpstr>
      <vt:lpstr>Lecture 05 Tuesday, Feb 03, 2026</vt:lpstr>
      <vt:lpstr>Public Key Cryptography</vt:lpstr>
      <vt:lpstr>Digital Signatures: A simple-minded approach</vt:lpstr>
      <vt:lpstr>PKI and Transactions on Bitcoin Blockchain</vt:lpstr>
      <vt:lpstr>Digital Signatures: Integrity + Authentication</vt:lpstr>
      <vt:lpstr>Kevin can claim to be Alice</vt:lpstr>
      <vt:lpstr>Public Key Cryptography</vt:lpstr>
      <vt:lpstr>Blockchain Security</vt:lpstr>
      <vt:lpstr>Forks with a Purpose: Hard Fork</vt:lpstr>
      <vt:lpstr>Forks with a Purpose: Soft Fork</vt:lpstr>
      <vt:lpstr>Lecture 06 Thursday, Feb 5, 2026</vt:lpstr>
      <vt:lpstr>The 51% Attack</vt:lpstr>
      <vt:lpstr>The 51% Attack</vt:lpstr>
      <vt:lpstr>The 51% Attack</vt:lpstr>
      <vt:lpstr>The 51% Attack</vt:lpstr>
      <vt:lpstr>The 51% Attack</vt:lpstr>
      <vt:lpstr>Evolution of Money</vt:lpstr>
      <vt:lpstr>The Evolution of Money</vt:lpstr>
      <vt:lpstr>The Evolution of Money: Commodity Money</vt:lpstr>
      <vt:lpstr>The Evolution of Money: Representative Money</vt:lpstr>
      <vt:lpstr>The US Gold Reserve (Fort Knox, KY)</vt:lpstr>
      <vt:lpstr>The US Gold Reserve (Fort Knox, KY)</vt:lpstr>
      <vt:lpstr>Fort Knox Gold Reserve Value</vt:lpstr>
      <vt:lpstr>The evolution of money: Fiat money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Analytics</dc:title>
  <dc:creator>Ihsan Ayyub Qazi</dc:creator>
  <cp:lastModifiedBy>Dr. Ahmed Akhtar / Assistant Professor</cp:lastModifiedBy>
  <cp:revision>959</cp:revision>
  <dcterms:created xsi:type="dcterms:W3CDTF">2022-06-22T11:04:43Z</dcterms:created>
  <dcterms:modified xsi:type="dcterms:W3CDTF">2026-02-10T09:22:37Z</dcterms:modified>
</cp:coreProperties>
</file>