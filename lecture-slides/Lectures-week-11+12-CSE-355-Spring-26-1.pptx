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Lst>
  <p:notesMasterIdLst>
    <p:notesMasterId r:id="rId102"/>
  </p:notesMasterIdLst>
  <p:sldIdLst>
    <p:sldId id="1585" r:id="rId3"/>
    <p:sldId id="1876" r:id="rId4"/>
    <p:sldId id="1512" r:id="rId5"/>
    <p:sldId id="1273" r:id="rId6"/>
    <p:sldId id="1274" r:id="rId7"/>
    <p:sldId id="1513" r:id="rId8"/>
    <p:sldId id="1276" r:id="rId9"/>
    <p:sldId id="1277" r:id="rId10"/>
    <p:sldId id="1278" r:id="rId11"/>
    <p:sldId id="1279" r:id="rId12"/>
    <p:sldId id="1280" r:id="rId13"/>
    <p:sldId id="1401" r:id="rId14"/>
    <p:sldId id="1515" r:id="rId15"/>
    <p:sldId id="1408" r:id="rId16"/>
    <p:sldId id="1516" r:id="rId17"/>
    <p:sldId id="1913" r:id="rId18"/>
    <p:sldId id="1288" r:id="rId19"/>
    <p:sldId id="1447" r:id="rId20"/>
    <p:sldId id="1448" r:id="rId21"/>
    <p:sldId id="1449" r:id="rId22"/>
    <p:sldId id="1874" r:id="rId23"/>
    <p:sldId id="1293" r:id="rId24"/>
    <p:sldId id="1294" r:id="rId25"/>
    <p:sldId id="1295" r:id="rId26"/>
    <p:sldId id="1296" r:id="rId27"/>
    <p:sldId id="1297" r:id="rId28"/>
    <p:sldId id="1298" r:id="rId29"/>
    <p:sldId id="1299" r:id="rId30"/>
    <p:sldId id="1300" r:id="rId31"/>
    <p:sldId id="1301" r:id="rId32"/>
    <p:sldId id="1302" r:id="rId33"/>
    <p:sldId id="1303" r:id="rId34"/>
    <p:sldId id="1304" r:id="rId35"/>
    <p:sldId id="1914" r:id="rId36"/>
    <p:sldId id="1323" r:id="rId37"/>
    <p:sldId id="1330" r:id="rId38"/>
    <p:sldId id="1331" r:id="rId39"/>
    <p:sldId id="1337" r:id="rId40"/>
    <p:sldId id="1333" r:id="rId41"/>
    <p:sldId id="1336" r:id="rId42"/>
    <p:sldId id="1338" r:id="rId43"/>
    <p:sldId id="1339" r:id="rId44"/>
    <p:sldId id="1340" r:id="rId45"/>
    <p:sldId id="1341" r:id="rId46"/>
    <p:sldId id="1342" r:id="rId47"/>
    <p:sldId id="1915" r:id="rId48"/>
    <p:sldId id="1343" r:id="rId49"/>
    <p:sldId id="1344" r:id="rId50"/>
    <p:sldId id="1345" r:id="rId51"/>
    <p:sldId id="1346" r:id="rId52"/>
    <p:sldId id="1347" r:id="rId53"/>
    <p:sldId id="1348" r:id="rId54"/>
    <p:sldId id="1349" r:id="rId55"/>
    <p:sldId id="1350" r:id="rId56"/>
    <p:sldId id="1351" r:id="rId57"/>
    <p:sldId id="1352" r:id="rId58"/>
    <p:sldId id="1353" r:id="rId59"/>
    <p:sldId id="1354" r:id="rId60"/>
    <p:sldId id="1355" r:id="rId61"/>
    <p:sldId id="1356" r:id="rId62"/>
    <p:sldId id="1357" r:id="rId63"/>
    <p:sldId id="1358" r:id="rId64"/>
    <p:sldId id="1359" r:id="rId65"/>
    <p:sldId id="1361" r:id="rId66"/>
    <p:sldId id="1362" r:id="rId67"/>
    <p:sldId id="1363" r:id="rId68"/>
    <p:sldId id="1462" r:id="rId69"/>
    <p:sldId id="1464" r:id="rId70"/>
    <p:sldId id="1888" r:id="rId71"/>
    <p:sldId id="1887" r:id="rId72"/>
    <p:sldId id="1468" r:id="rId73"/>
    <p:sldId id="1388" r:id="rId74"/>
    <p:sldId id="1389" r:id="rId75"/>
    <p:sldId id="1390" r:id="rId76"/>
    <p:sldId id="1889" r:id="rId77"/>
    <p:sldId id="1880" r:id="rId78"/>
    <p:sldId id="1881" r:id="rId79"/>
    <p:sldId id="1882" r:id="rId80"/>
    <p:sldId id="1883" r:id="rId81"/>
    <p:sldId id="1885" r:id="rId82"/>
    <p:sldId id="1886" r:id="rId83"/>
    <p:sldId id="1908" r:id="rId84"/>
    <p:sldId id="1909" r:id="rId85"/>
    <p:sldId id="1902" r:id="rId86"/>
    <p:sldId id="1896" r:id="rId87"/>
    <p:sldId id="1905" r:id="rId88"/>
    <p:sldId id="1903" r:id="rId89"/>
    <p:sldId id="1900" r:id="rId90"/>
    <p:sldId id="1898" r:id="rId91"/>
    <p:sldId id="1910" r:id="rId92"/>
    <p:sldId id="1906" r:id="rId93"/>
    <p:sldId id="1893" r:id="rId94"/>
    <p:sldId id="1901" r:id="rId95"/>
    <p:sldId id="1911" r:id="rId96"/>
    <p:sldId id="1508" r:id="rId97"/>
    <p:sldId id="1509" r:id="rId98"/>
    <p:sldId id="1890" r:id="rId99"/>
    <p:sldId id="1652" r:id="rId100"/>
    <p:sldId id="1651" r:id="rId10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F0B4"/>
    <a:srgbClr val="FFE699"/>
    <a:srgbClr val="B3D7EF"/>
    <a:srgbClr val="C3B4EF"/>
    <a:srgbClr val="9DC3E6"/>
    <a:srgbClr val="680EC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670AE1-7F70-452B-89AC-41847637DBDE}" v="217" dt="2026-04-28T09:37:14.5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71871" autoAdjust="0"/>
  </p:normalViewPr>
  <p:slideViewPr>
    <p:cSldViewPr snapToGrid="0">
      <p:cViewPr varScale="1">
        <p:scale>
          <a:sx n="80" d="100"/>
          <a:sy n="80" d="100"/>
        </p:scale>
        <p:origin x="701" y="2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07" Type="http://schemas.microsoft.com/office/2016/11/relationships/changesInfo" Target="changesInfos/changesInfo1.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notesMaster" Target="notesMasters/notesMaster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presProps" Target="presProps.xml"/><Relationship Id="rId108" Type="http://schemas.microsoft.com/office/2015/10/relationships/revisionInfo" Target="revisionInfo.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hmed Akhtar" userId="24df8cbf-c4bb-4b0f-990a-c34b46f32809" providerId="ADAL" clId="{7B603757-AF4F-447D-9CF3-5B3B3781D1BD}"/>
    <pc:docChg chg="undo custSel addSld delSld modSld sldOrd modMainMaster">
      <pc:chgData name="Ahmed Akhtar" userId="24df8cbf-c4bb-4b0f-990a-c34b46f32809" providerId="ADAL" clId="{7B603757-AF4F-447D-9CF3-5B3B3781D1BD}" dt="2026-04-28T09:37:14.584" v="561" actId="20577"/>
      <pc:docMkLst>
        <pc:docMk/>
      </pc:docMkLst>
      <pc:sldChg chg="modSp mod">
        <pc:chgData name="Ahmed Akhtar" userId="24df8cbf-c4bb-4b0f-990a-c34b46f32809" providerId="ADAL" clId="{7B603757-AF4F-447D-9CF3-5B3B3781D1BD}" dt="2026-04-21T06:58:19.834" v="80" actId="14100"/>
        <pc:sldMkLst>
          <pc:docMk/>
          <pc:sldMk cId="2497337909" sldId="1323"/>
        </pc:sldMkLst>
        <pc:spChg chg="mod">
          <ac:chgData name="Ahmed Akhtar" userId="24df8cbf-c4bb-4b0f-990a-c34b46f32809" providerId="ADAL" clId="{7B603757-AF4F-447D-9CF3-5B3B3781D1BD}" dt="2026-04-21T06:58:19.834" v="80" actId="14100"/>
          <ac:spMkLst>
            <pc:docMk/>
            <pc:sldMk cId="2497337909" sldId="1323"/>
            <ac:spMk id="23" creationId="{00000000-0000-0000-0000-000000000000}"/>
          </ac:spMkLst>
        </pc:spChg>
        <pc:spChg chg="mod">
          <ac:chgData name="Ahmed Akhtar" userId="24df8cbf-c4bb-4b0f-990a-c34b46f32809" providerId="ADAL" clId="{7B603757-AF4F-447D-9CF3-5B3B3781D1BD}" dt="2026-04-21T06:58:15.323" v="79" actId="14100"/>
          <ac:spMkLst>
            <pc:docMk/>
            <pc:sldMk cId="2497337909" sldId="1323"/>
            <ac:spMk id="24" creationId="{00000000-0000-0000-0000-000000000000}"/>
          </ac:spMkLst>
        </pc:spChg>
        <pc:spChg chg="mod">
          <ac:chgData name="Ahmed Akhtar" userId="24df8cbf-c4bb-4b0f-990a-c34b46f32809" providerId="ADAL" clId="{7B603757-AF4F-447D-9CF3-5B3B3781D1BD}" dt="2026-04-21T06:57:26.775" v="77" actId="14100"/>
          <ac:spMkLst>
            <pc:docMk/>
            <pc:sldMk cId="2497337909" sldId="1323"/>
            <ac:spMk id="29" creationId="{00000000-0000-0000-0000-000000000000}"/>
          </ac:spMkLst>
        </pc:spChg>
        <pc:spChg chg="mod">
          <ac:chgData name="Ahmed Akhtar" userId="24df8cbf-c4bb-4b0f-990a-c34b46f32809" providerId="ADAL" clId="{7B603757-AF4F-447D-9CF3-5B3B3781D1BD}" dt="2026-04-21T06:57:19.871" v="75" actId="14100"/>
          <ac:spMkLst>
            <pc:docMk/>
            <pc:sldMk cId="2497337909" sldId="1323"/>
            <ac:spMk id="30" creationId="{00000000-0000-0000-0000-000000000000}"/>
          </ac:spMkLst>
        </pc:spChg>
        <pc:spChg chg="mod">
          <ac:chgData name="Ahmed Akhtar" userId="24df8cbf-c4bb-4b0f-990a-c34b46f32809" providerId="ADAL" clId="{7B603757-AF4F-447D-9CF3-5B3B3781D1BD}" dt="2026-04-21T06:58:10.645" v="78" actId="14100"/>
          <ac:spMkLst>
            <pc:docMk/>
            <pc:sldMk cId="2497337909" sldId="1323"/>
            <ac:spMk id="41" creationId="{00000000-0000-0000-0000-000000000000}"/>
          </ac:spMkLst>
        </pc:spChg>
      </pc:sldChg>
      <pc:sldChg chg="addSp modSp mod modAnim">
        <pc:chgData name="Ahmed Akhtar" userId="24df8cbf-c4bb-4b0f-990a-c34b46f32809" providerId="ADAL" clId="{7B603757-AF4F-447D-9CF3-5B3B3781D1BD}" dt="2026-04-21T09:35:10.238" v="145" actId="14100"/>
        <pc:sldMkLst>
          <pc:docMk/>
          <pc:sldMk cId="1567176112" sldId="1336"/>
        </pc:sldMkLst>
        <pc:spChg chg="mod">
          <ac:chgData name="Ahmed Akhtar" userId="24df8cbf-c4bb-4b0f-990a-c34b46f32809" providerId="ADAL" clId="{7B603757-AF4F-447D-9CF3-5B3B3781D1BD}" dt="2026-04-21T09:31:49.851" v="100" actId="21"/>
          <ac:spMkLst>
            <pc:docMk/>
            <pc:sldMk cId="1567176112" sldId="1336"/>
            <ac:spMk id="5" creationId="{00000000-0000-0000-0000-000000000000}"/>
          </ac:spMkLst>
        </pc:spChg>
        <pc:spChg chg="add mod">
          <ac:chgData name="Ahmed Akhtar" userId="24df8cbf-c4bb-4b0f-990a-c34b46f32809" providerId="ADAL" clId="{7B603757-AF4F-447D-9CF3-5B3B3781D1BD}" dt="2026-04-21T09:35:10.238" v="145" actId="14100"/>
          <ac:spMkLst>
            <pc:docMk/>
            <pc:sldMk cId="1567176112" sldId="1336"/>
            <ac:spMk id="6" creationId="{58BA618C-D18B-8C33-9C0A-28651466DF31}"/>
          </ac:spMkLst>
        </pc:spChg>
        <pc:spChg chg="mod">
          <ac:chgData name="Ahmed Akhtar" userId="24df8cbf-c4bb-4b0f-990a-c34b46f32809" providerId="ADAL" clId="{7B603757-AF4F-447D-9CF3-5B3B3781D1BD}" dt="2026-04-21T09:35:06.406" v="144" actId="1037"/>
          <ac:spMkLst>
            <pc:docMk/>
            <pc:sldMk cId="1567176112" sldId="1336"/>
            <ac:spMk id="14" creationId="{00000000-0000-0000-0000-000000000000}"/>
          </ac:spMkLst>
        </pc:spChg>
      </pc:sldChg>
      <pc:sldChg chg="addAnim delAnim">
        <pc:chgData name="Ahmed Akhtar" userId="24df8cbf-c4bb-4b0f-990a-c34b46f32809" providerId="ADAL" clId="{7B603757-AF4F-447D-9CF3-5B3B3781D1BD}" dt="2026-04-21T09:58:04.680" v="146"/>
        <pc:sldMkLst>
          <pc:docMk/>
          <pc:sldMk cId="154935282" sldId="1355"/>
        </pc:sldMkLst>
      </pc:sldChg>
      <pc:sldChg chg="addAnim delAnim">
        <pc:chgData name="Ahmed Akhtar" userId="24df8cbf-c4bb-4b0f-990a-c34b46f32809" providerId="ADAL" clId="{7B603757-AF4F-447D-9CF3-5B3B3781D1BD}" dt="2026-04-21T09:58:53.124" v="147"/>
        <pc:sldMkLst>
          <pc:docMk/>
          <pc:sldMk cId="2623241350" sldId="1356"/>
        </pc:sldMkLst>
      </pc:sldChg>
      <pc:sldChg chg="addSp modSp mod modAnim">
        <pc:chgData name="Ahmed Akhtar" userId="24df8cbf-c4bb-4b0f-990a-c34b46f32809" providerId="ADAL" clId="{7B603757-AF4F-447D-9CF3-5B3B3781D1BD}" dt="2026-04-28T06:59:57.811" v="299" actId="1076"/>
        <pc:sldMkLst>
          <pc:docMk/>
          <pc:sldMk cId="2047620123" sldId="1357"/>
        </pc:sldMkLst>
        <pc:spChg chg="mod">
          <ac:chgData name="Ahmed Akhtar" userId="24df8cbf-c4bb-4b0f-990a-c34b46f32809" providerId="ADAL" clId="{7B603757-AF4F-447D-9CF3-5B3B3781D1BD}" dt="2026-04-28T06:55:07.470" v="185" actId="1076"/>
          <ac:spMkLst>
            <pc:docMk/>
            <pc:sldMk cId="2047620123" sldId="1357"/>
            <ac:spMk id="3" creationId="{00000000-0000-0000-0000-000000000000}"/>
          </ac:spMkLst>
        </pc:spChg>
        <pc:spChg chg="add mod">
          <ac:chgData name="Ahmed Akhtar" userId="24df8cbf-c4bb-4b0f-990a-c34b46f32809" providerId="ADAL" clId="{7B603757-AF4F-447D-9CF3-5B3B3781D1BD}" dt="2026-04-28T06:59:34.367" v="298" actId="20577"/>
          <ac:spMkLst>
            <pc:docMk/>
            <pc:sldMk cId="2047620123" sldId="1357"/>
            <ac:spMk id="6" creationId="{0EEC3132-74CB-A847-F209-ED16F1DA5F75}"/>
          </ac:spMkLst>
        </pc:spChg>
        <pc:spChg chg="add mod">
          <ac:chgData name="Ahmed Akhtar" userId="24df8cbf-c4bb-4b0f-990a-c34b46f32809" providerId="ADAL" clId="{7B603757-AF4F-447D-9CF3-5B3B3781D1BD}" dt="2026-04-28T06:59:57.811" v="299" actId="1076"/>
          <ac:spMkLst>
            <pc:docMk/>
            <pc:sldMk cId="2047620123" sldId="1357"/>
            <ac:spMk id="8" creationId="{336CF04F-479D-151A-10BF-7B2D707581D0}"/>
          </ac:spMkLst>
        </pc:spChg>
      </pc:sldChg>
      <pc:sldChg chg="addSp modSp mod addAnim delAnim modAnim">
        <pc:chgData name="Ahmed Akhtar" userId="24df8cbf-c4bb-4b0f-990a-c34b46f32809" providerId="ADAL" clId="{7B603757-AF4F-447D-9CF3-5B3B3781D1BD}" dt="2026-04-28T09:15:04.439" v="543"/>
        <pc:sldMkLst>
          <pc:docMk/>
          <pc:sldMk cId="3420801219" sldId="1359"/>
        </pc:sldMkLst>
        <pc:spChg chg="add mod">
          <ac:chgData name="Ahmed Akhtar" userId="24df8cbf-c4bb-4b0f-990a-c34b46f32809" providerId="ADAL" clId="{7B603757-AF4F-447D-9CF3-5B3B3781D1BD}" dt="2026-04-28T09:05:35.089" v="333" actId="1037"/>
          <ac:spMkLst>
            <pc:docMk/>
            <pc:sldMk cId="3420801219" sldId="1359"/>
            <ac:spMk id="9" creationId="{01ECAE7D-94CA-803E-D2C5-CF06947F8FA4}"/>
          </ac:spMkLst>
        </pc:spChg>
        <pc:spChg chg="add mod">
          <ac:chgData name="Ahmed Akhtar" userId="24df8cbf-c4bb-4b0f-990a-c34b46f32809" providerId="ADAL" clId="{7B603757-AF4F-447D-9CF3-5B3B3781D1BD}" dt="2026-04-28T09:12:45.351" v="492" actId="20577"/>
          <ac:spMkLst>
            <pc:docMk/>
            <pc:sldMk cId="3420801219" sldId="1359"/>
            <ac:spMk id="10" creationId="{0333A731-B97B-8431-A2D3-B9D98818F3DD}"/>
          </ac:spMkLst>
        </pc:spChg>
        <pc:spChg chg="add mod">
          <ac:chgData name="Ahmed Akhtar" userId="24df8cbf-c4bb-4b0f-990a-c34b46f32809" providerId="ADAL" clId="{7B603757-AF4F-447D-9CF3-5B3B3781D1BD}" dt="2026-04-28T09:13:34.375" v="529" actId="1035"/>
          <ac:spMkLst>
            <pc:docMk/>
            <pc:sldMk cId="3420801219" sldId="1359"/>
            <ac:spMk id="20" creationId="{E4CCFBFC-6604-7518-50DA-C4D8D2BC86B8}"/>
          </ac:spMkLst>
        </pc:spChg>
        <pc:spChg chg="mod">
          <ac:chgData name="Ahmed Akhtar" userId="24df8cbf-c4bb-4b0f-990a-c34b46f32809" providerId="ADAL" clId="{7B603757-AF4F-447D-9CF3-5B3B3781D1BD}" dt="2026-04-28T09:12:53.582" v="508" actId="1035"/>
          <ac:spMkLst>
            <pc:docMk/>
            <pc:sldMk cId="3420801219" sldId="1359"/>
            <ac:spMk id="125" creationId="{00000000-0000-0000-0000-000000000000}"/>
          </ac:spMkLst>
        </pc:spChg>
      </pc:sldChg>
      <pc:sldChg chg="modNotesTx">
        <pc:chgData name="Ahmed Akhtar" userId="24df8cbf-c4bb-4b0f-990a-c34b46f32809" providerId="ADAL" clId="{7B603757-AF4F-447D-9CF3-5B3B3781D1BD}" dt="2026-04-23T06:59:34.287" v="181" actId="20577"/>
        <pc:sldMkLst>
          <pc:docMk/>
          <pc:sldMk cId="3685920290" sldId="1651"/>
        </pc:sldMkLst>
      </pc:sldChg>
      <pc:sldChg chg="modSp">
        <pc:chgData name="Ahmed Akhtar" userId="24df8cbf-c4bb-4b0f-990a-c34b46f32809" providerId="ADAL" clId="{7B603757-AF4F-447D-9CF3-5B3B3781D1BD}" dt="2026-04-28T09:37:14.584" v="561" actId="20577"/>
        <pc:sldMkLst>
          <pc:docMk/>
          <pc:sldMk cId="3174255319" sldId="1885"/>
        </pc:sldMkLst>
        <pc:spChg chg="mod">
          <ac:chgData name="Ahmed Akhtar" userId="24df8cbf-c4bb-4b0f-990a-c34b46f32809" providerId="ADAL" clId="{7B603757-AF4F-447D-9CF3-5B3B3781D1BD}" dt="2026-04-28T09:37:14.584" v="561" actId="20577"/>
          <ac:spMkLst>
            <pc:docMk/>
            <pc:sldMk cId="3174255319" sldId="1885"/>
            <ac:spMk id="3" creationId="{3E1B7B4A-E81F-7FD9-AD27-337B0A582363}"/>
          </ac:spMkLst>
        </pc:spChg>
      </pc:sldChg>
      <pc:sldChg chg="modNotesTx">
        <pc:chgData name="Ahmed Akhtar" userId="24df8cbf-c4bb-4b0f-990a-c34b46f32809" providerId="ADAL" clId="{7B603757-AF4F-447D-9CF3-5B3B3781D1BD}" dt="2026-04-23T06:31:35.834" v="150" actId="33524"/>
        <pc:sldMkLst>
          <pc:docMk/>
          <pc:sldMk cId="4253618659" sldId="1886"/>
        </pc:sldMkLst>
      </pc:sldChg>
      <pc:sldChg chg="modSp mod">
        <pc:chgData name="Ahmed Akhtar" userId="24df8cbf-c4bb-4b0f-990a-c34b46f32809" providerId="ADAL" clId="{7B603757-AF4F-447D-9CF3-5B3B3781D1BD}" dt="2026-04-28T09:25:07.339" v="546" actId="20577"/>
        <pc:sldMkLst>
          <pc:docMk/>
          <pc:sldMk cId="3950384159" sldId="1888"/>
        </pc:sldMkLst>
        <pc:spChg chg="mod">
          <ac:chgData name="Ahmed Akhtar" userId="24df8cbf-c4bb-4b0f-990a-c34b46f32809" providerId="ADAL" clId="{7B603757-AF4F-447D-9CF3-5B3B3781D1BD}" dt="2026-04-28T09:25:07.339" v="546" actId="20577"/>
          <ac:spMkLst>
            <pc:docMk/>
            <pc:sldMk cId="3950384159" sldId="1888"/>
            <ac:spMk id="7" creationId="{C127FE6F-57E1-25B8-FA97-F23F553455DF}"/>
          </ac:spMkLst>
        </pc:spChg>
      </pc:sldChg>
      <pc:sldChg chg="modAnim">
        <pc:chgData name="Ahmed Akhtar" userId="24df8cbf-c4bb-4b0f-990a-c34b46f32809" providerId="ADAL" clId="{7B603757-AF4F-447D-9CF3-5B3B3781D1BD}" dt="2026-04-23T06:53:19.876" v="174"/>
        <pc:sldMkLst>
          <pc:docMk/>
          <pc:sldMk cId="1209468250" sldId="1898"/>
        </pc:sldMkLst>
      </pc:sldChg>
      <pc:sldChg chg="addAnim delAnim">
        <pc:chgData name="Ahmed Akhtar" userId="24df8cbf-c4bb-4b0f-990a-c34b46f32809" providerId="ADAL" clId="{7B603757-AF4F-447D-9CF3-5B3B3781D1BD}" dt="2026-04-23T06:52:07.510" v="169"/>
        <pc:sldMkLst>
          <pc:docMk/>
          <pc:sldMk cId="1063837966" sldId="1900"/>
        </pc:sldMkLst>
      </pc:sldChg>
      <pc:sldChg chg="modSp modAnim">
        <pc:chgData name="Ahmed Akhtar" userId="24df8cbf-c4bb-4b0f-990a-c34b46f32809" providerId="ADAL" clId="{7B603757-AF4F-447D-9CF3-5B3B3781D1BD}" dt="2026-04-23T06:48:51.268" v="161" actId="20577"/>
        <pc:sldMkLst>
          <pc:docMk/>
          <pc:sldMk cId="2615718877" sldId="1902"/>
        </pc:sldMkLst>
        <pc:spChg chg="mod">
          <ac:chgData name="Ahmed Akhtar" userId="24df8cbf-c4bb-4b0f-990a-c34b46f32809" providerId="ADAL" clId="{7B603757-AF4F-447D-9CF3-5B3B3781D1BD}" dt="2026-04-23T06:48:51.268" v="161" actId="20577"/>
          <ac:spMkLst>
            <pc:docMk/>
            <pc:sldMk cId="2615718877" sldId="1902"/>
            <ac:spMk id="3" creationId="{C97585F1-F75C-F17C-9D81-566E6A56EE36}"/>
          </ac:spMkLst>
        </pc:spChg>
      </pc:sldChg>
      <pc:sldChg chg="modAnim">
        <pc:chgData name="Ahmed Akhtar" userId="24df8cbf-c4bb-4b0f-990a-c34b46f32809" providerId="ADAL" clId="{7B603757-AF4F-447D-9CF3-5B3B3781D1BD}" dt="2026-04-23T06:50:53.803" v="166"/>
        <pc:sldMkLst>
          <pc:docMk/>
          <pc:sldMk cId="3258579888" sldId="1905"/>
        </pc:sldMkLst>
      </pc:sldChg>
      <pc:sldChg chg="modSp addAnim delAnim">
        <pc:chgData name="Ahmed Akhtar" userId="24df8cbf-c4bb-4b0f-990a-c34b46f32809" providerId="ADAL" clId="{7B603757-AF4F-447D-9CF3-5B3B3781D1BD}" dt="2026-04-23T06:55:29.488" v="180"/>
        <pc:sldMkLst>
          <pc:docMk/>
          <pc:sldMk cId="90378333" sldId="1906"/>
        </pc:sldMkLst>
        <pc:spChg chg="mod">
          <ac:chgData name="Ahmed Akhtar" userId="24df8cbf-c4bb-4b0f-990a-c34b46f32809" providerId="ADAL" clId="{7B603757-AF4F-447D-9CF3-5B3B3781D1BD}" dt="2026-04-23T06:55:14.705" v="179" actId="20577"/>
          <ac:spMkLst>
            <pc:docMk/>
            <pc:sldMk cId="90378333" sldId="1906"/>
            <ac:spMk id="3" creationId="{BF4A4F14-71E1-A7ED-83E9-538B5EEAE19E}"/>
          </ac:spMkLst>
        </pc:spChg>
      </pc:sldChg>
      <pc:sldChg chg="modSp add mod">
        <pc:chgData name="Ahmed Akhtar" userId="24df8cbf-c4bb-4b0f-990a-c34b46f32809" providerId="ADAL" clId="{7B603757-AF4F-447D-9CF3-5B3B3781D1BD}" dt="2026-04-13T12:01:19.935" v="34" actId="20577"/>
        <pc:sldMkLst>
          <pc:docMk/>
          <pc:sldMk cId="3360150049" sldId="1913"/>
        </pc:sldMkLst>
        <pc:spChg chg="mod">
          <ac:chgData name="Ahmed Akhtar" userId="24df8cbf-c4bb-4b0f-990a-c34b46f32809" providerId="ADAL" clId="{7B603757-AF4F-447D-9CF3-5B3B3781D1BD}" dt="2026-04-13T12:01:19.935" v="34" actId="20577"/>
          <ac:spMkLst>
            <pc:docMk/>
            <pc:sldMk cId="3360150049" sldId="1913"/>
            <ac:spMk id="2" creationId="{23C98C92-18D7-9177-1BC1-880F9317E422}"/>
          </ac:spMkLst>
        </pc:spChg>
      </pc:sldChg>
      <pc:sldChg chg="modSp add mod ord">
        <pc:chgData name="Ahmed Akhtar" userId="24df8cbf-c4bb-4b0f-990a-c34b46f32809" providerId="ADAL" clId="{7B603757-AF4F-447D-9CF3-5B3B3781D1BD}" dt="2026-04-16T09:52:04.649" v="72"/>
        <pc:sldMkLst>
          <pc:docMk/>
          <pc:sldMk cId="2257031122" sldId="1914"/>
        </pc:sldMkLst>
        <pc:spChg chg="mod">
          <ac:chgData name="Ahmed Akhtar" userId="24df8cbf-c4bb-4b0f-990a-c34b46f32809" providerId="ADAL" clId="{7B603757-AF4F-447D-9CF3-5B3B3781D1BD}" dt="2026-04-13T12:04:20.112" v="56" actId="20577"/>
          <ac:spMkLst>
            <pc:docMk/>
            <pc:sldMk cId="2257031122" sldId="1914"/>
            <ac:spMk id="2" creationId="{762F4F57-00CE-0336-3984-63EBB8FAABF8}"/>
          </ac:spMkLst>
        </pc:spChg>
      </pc:sldChg>
      <pc:sldChg chg="add ord">
        <pc:chgData name="Ahmed Akhtar" userId="24df8cbf-c4bb-4b0f-990a-c34b46f32809" providerId="ADAL" clId="{7B603757-AF4F-447D-9CF3-5B3B3781D1BD}" dt="2026-04-21T10:55:40.497" v="149"/>
        <pc:sldMkLst>
          <pc:docMk/>
          <pc:sldMk cId="1771928561" sldId="191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64510C-395A-4356-89D7-97DFD619E12E}" type="datetimeFigureOut">
              <a:rPr lang="en-US" smtClean="0"/>
              <a:t>4/28/2026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C9AE28-5153-4CA5-B96B-FF1564D78CE0}" type="slidenum">
              <a:rPr lang="en-US" smtClean="0"/>
              <a:t>‹#›</a:t>
            </a:fld>
            <a:endParaRPr lang="en-US"/>
          </a:p>
        </p:txBody>
      </p:sp>
    </p:spTree>
    <p:extLst>
      <p:ext uri="{BB962C8B-B14F-4D97-AF65-F5344CB8AC3E}">
        <p14:creationId xmlns:p14="http://schemas.microsoft.com/office/powerpoint/2010/main" val="2590073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3" Type="http://schemas.openxmlformats.org/officeDocument/2006/relationships/hyperlink" Target="https://eth2book.info/altair/part3/transition/block#def_get_validator_from_deposit" TargetMode="External"/><Relationship Id="rId2" Type="http://schemas.openxmlformats.org/officeDocument/2006/relationships/slide" Target="../slides/slide73.xml"/><Relationship Id="rId1" Type="http://schemas.openxmlformats.org/officeDocument/2006/relationships/notesMaster" Target="../notesMasters/notesMaster1.xml"/><Relationship Id="rId4" Type="http://schemas.openxmlformats.org/officeDocument/2006/relationships/hyperlink" Target="https://ethereum.org/en/developers/docs/consensus-mechanisms/pow/" TargetMode="Externa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B9441-6582-E7F9-4722-23CA10EF93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6AECBD-37BA-320F-0498-2FBDDF25A4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140E71-C87A-0B56-00D5-27F7BEAA3768}"/>
              </a:ext>
            </a:extLst>
          </p:cNvPr>
          <p:cNvSpPr>
            <a:spLocks noGrp="1"/>
          </p:cNvSpPr>
          <p:nvPr>
            <p:ph type="body" idx="1"/>
          </p:nvPr>
        </p:nvSpPr>
        <p:spPr/>
        <p:txBody>
          <a:bodyPr/>
          <a:lstStyle/>
          <a:p>
            <a:endParaRPr lang="en-PK" dirty="0"/>
          </a:p>
        </p:txBody>
      </p:sp>
      <p:sp>
        <p:nvSpPr>
          <p:cNvPr id="4" name="Slide Number Placeholder 3">
            <a:extLst>
              <a:ext uri="{FF2B5EF4-FFF2-40B4-BE49-F238E27FC236}">
                <a16:creationId xmlns:a16="http://schemas.microsoft.com/office/drawing/2014/main" id="{BF5946C2-ED0D-D3F0-737B-0299160800D4}"/>
              </a:ext>
            </a:extLst>
          </p:cNvPr>
          <p:cNvSpPr>
            <a:spLocks noGrp="1"/>
          </p:cNvSpPr>
          <p:nvPr>
            <p:ph type="sldNum" sz="quarter" idx="5"/>
          </p:nvPr>
        </p:nvSpPr>
        <p:spPr/>
        <p:txBody>
          <a:bodyPr/>
          <a:lstStyle/>
          <a:p>
            <a:fld id="{8007DBF7-D854-5948-86B6-07B87F1D8E96}" type="slidenum">
              <a:rPr lang="en-PK" smtClean="0"/>
              <a:t>1</a:t>
            </a:fld>
            <a:endParaRPr lang="en-PK"/>
          </a:p>
        </p:txBody>
      </p:sp>
    </p:spTree>
    <p:extLst>
      <p:ext uri="{BB962C8B-B14F-4D97-AF65-F5344CB8AC3E}">
        <p14:creationId xmlns:p14="http://schemas.microsoft.com/office/powerpoint/2010/main" val="3163232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24AA66-5286-4A71-8DC1-D387DED69229}" type="slidenum">
              <a:rPr lang="en-US" smtClean="0">
                <a:solidFill>
                  <a:prstClr val="black"/>
                </a:solidFill>
              </a:rPr>
              <a:pPr/>
              <a:t>3</a:t>
            </a:fld>
            <a:endParaRPr lang="en-US" dirty="0">
              <a:solidFill>
                <a:prstClr val="black"/>
              </a:solidFill>
            </a:endParaRPr>
          </a:p>
        </p:txBody>
      </p:sp>
    </p:spTree>
    <p:extLst>
      <p:ext uri="{BB962C8B-B14F-4D97-AF65-F5344CB8AC3E}">
        <p14:creationId xmlns:p14="http://schemas.microsoft.com/office/powerpoint/2010/main" val="2136590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24AA66-5286-4A71-8DC1-D387DED69229}" type="slidenum">
              <a:rPr lang="en-US" smtClean="0">
                <a:solidFill>
                  <a:prstClr val="black"/>
                </a:solidFill>
              </a:rPr>
              <a:pPr/>
              <a:t>4</a:t>
            </a:fld>
            <a:endParaRPr lang="en-US" dirty="0">
              <a:solidFill>
                <a:prstClr val="black"/>
              </a:solidFill>
            </a:endParaRPr>
          </a:p>
        </p:txBody>
      </p:sp>
    </p:spTree>
    <p:extLst>
      <p:ext uri="{BB962C8B-B14F-4D97-AF65-F5344CB8AC3E}">
        <p14:creationId xmlns:p14="http://schemas.microsoft.com/office/powerpoint/2010/main" val="11835235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https://github.com/crytic/evm-opcodes </a:t>
            </a:r>
          </a:p>
        </p:txBody>
      </p:sp>
      <p:sp>
        <p:nvSpPr>
          <p:cNvPr id="4" name="Slide Number Placeholder 3"/>
          <p:cNvSpPr>
            <a:spLocks noGrp="1"/>
          </p:cNvSpPr>
          <p:nvPr>
            <p:ph type="sldNum" sz="quarter" idx="10"/>
          </p:nvPr>
        </p:nvSpPr>
        <p:spPr/>
        <p:txBody>
          <a:bodyPr/>
          <a:lstStyle/>
          <a:p>
            <a:fld id="{3624AA66-5286-4A71-8DC1-D387DED69229}" type="slidenum">
              <a:rPr lang="en-US" smtClean="0">
                <a:solidFill>
                  <a:prstClr val="black"/>
                </a:solidFill>
              </a:rPr>
              <a:pPr/>
              <a:t>5</a:t>
            </a:fld>
            <a:endParaRPr lang="en-US" dirty="0">
              <a:solidFill>
                <a:prstClr val="black"/>
              </a:solidFill>
            </a:endParaRPr>
          </a:p>
        </p:txBody>
      </p:sp>
    </p:spTree>
    <p:extLst>
      <p:ext uri="{BB962C8B-B14F-4D97-AF65-F5344CB8AC3E}">
        <p14:creationId xmlns:p14="http://schemas.microsoft.com/office/powerpoint/2010/main" val="926119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24AA66-5286-4A71-8DC1-D387DED69229}" type="slidenum">
              <a:rPr lang="en-US" smtClean="0">
                <a:solidFill>
                  <a:prstClr val="black"/>
                </a:solidFill>
              </a:rPr>
              <a:pPr/>
              <a:t>6</a:t>
            </a:fld>
            <a:endParaRPr lang="en-US" dirty="0">
              <a:solidFill>
                <a:prstClr val="black"/>
              </a:solidFill>
            </a:endParaRPr>
          </a:p>
        </p:txBody>
      </p:sp>
    </p:spTree>
    <p:extLst>
      <p:ext uri="{BB962C8B-B14F-4D97-AF65-F5344CB8AC3E}">
        <p14:creationId xmlns:p14="http://schemas.microsoft.com/office/powerpoint/2010/main" val="418705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https://ethereum.org/en/whitepaper/</a:t>
            </a:r>
          </a:p>
        </p:txBody>
      </p:sp>
      <p:sp>
        <p:nvSpPr>
          <p:cNvPr id="4" name="Slide Number Placeholder 3"/>
          <p:cNvSpPr>
            <a:spLocks noGrp="1"/>
          </p:cNvSpPr>
          <p:nvPr>
            <p:ph type="sldNum" sz="quarter" idx="10"/>
          </p:nvPr>
        </p:nvSpPr>
        <p:spPr/>
        <p:txBody>
          <a:bodyPr/>
          <a:lstStyle/>
          <a:p>
            <a:fld id="{3624AA66-5286-4A71-8DC1-D387DED69229}" type="slidenum">
              <a:rPr lang="en-US" smtClean="0">
                <a:solidFill>
                  <a:prstClr val="black"/>
                </a:solidFill>
              </a:rPr>
              <a:pPr/>
              <a:t>7</a:t>
            </a:fld>
            <a:endParaRPr lang="en-US" dirty="0">
              <a:solidFill>
                <a:prstClr val="black"/>
              </a:solidFill>
            </a:endParaRPr>
          </a:p>
        </p:txBody>
      </p:sp>
    </p:spTree>
    <p:extLst>
      <p:ext uri="{BB962C8B-B14F-4D97-AF65-F5344CB8AC3E}">
        <p14:creationId xmlns:p14="http://schemas.microsoft.com/office/powerpoint/2010/main" val="2303324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dirty="0"/>
              <a:t>https://etherscan.io/tx/0x3fa19306a5dfc227537fdaf90b6883104dd0458cf9fbe3410a3254e5ca0e3618 [failed transaction example)</a:t>
            </a:r>
          </a:p>
          <a:p>
            <a:endParaRPr lang="en-US" dirty="0"/>
          </a:p>
        </p:txBody>
      </p:sp>
      <p:sp>
        <p:nvSpPr>
          <p:cNvPr id="4" name="Slide Number Placeholder 3"/>
          <p:cNvSpPr>
            <a:spLocks noGrp="1"/>
          </p:cNvSpPr>
          <p:nvPr>
            <p:ph type="sldNum" sz="quarter" idx="10"/>
          </p:nvPr>
        </p:nvSpPr>
        <p:spPr/>
        <p:txBody>
          <a:bodyPr/>
          <a:lstStyle/>
          <a:p>
            <a:fld id="{3624AA66-5286-4A71-8DC1-D387DED69229}" type="slidenum">
              <a:rPr lang="en-US" smtClean="0"/>
              <a:t>8</a:t>
            </a:fld>
            <a:endParaRPr lang="en-US" dirty="0"/>
          </a:p>
        </p:txBody>
      </p:sp>
    </p:spTree>
    <p:extLst>
      <p:ext uri="{BB962C8B-B14F-4D97-AF65-F5344CB8AC3E}">
        <p14:creationId xmlns:p14="http://schemas.microsoft.com/office/powerpoint/2010/main" val="19126027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https://ethereum.org/en/whitepaper/</a:t>
            </a:r>
          </a:p>
        </p:txBody>
      </p:sp>
      <p:sp>
        <p:nvSpPr>
          <p:cNvPr id="4" name="Slide Number Placeholder 3"/>
          <p:cNvSpPr>
            <a:spLocks noGrp="1"/>
          </p:cNvSpPr>
          <p:nvPr>
            <p:ph type="sldNum" sz="quarter" idx="10"/>
          </p:nvPr>
        </p:nvSpPr>
        <p:spPr/>
        <p:txBody>
          <a:bodyPr/>
          <a:lstStyle/>
          <a:p>
            <a:fld id="{3624AA66-5286-4A71-8DC1-D387DED69229}" type="slidenum">
              <a:rPr lang="en-US" smtClean="0">
                <a:solidFill>
                  <a:prstClr val="black"/>
                </a:solidFill>
              </a:rPr>
              <a:pPr/>
              <a:t>9</a:t>
            </a:fld>
            <a:endParaRPr lang="en-US" dirty="0">
              <a:solidFill>
                <a:prstClr val="black"/>
              </a:solidFill>
            </a:endParaRPr>
          </a:p>
        </p:txBody>
      </p:sp>
    </p:spTree>
    <p:extLst>
      <p:ext uri="{BB962C8B-B14F-4D97-AF65-F5344CB8AC3E}">
        <p14:creationId xmlns:p14="http://schemas.microsoft.com/office/powerpoint/2010/main" val="10491113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https://ethereum.org/en/whitepaper/</a:t>
            </a:r>
          </a:p>
        </p:txBody>
      </p:sp>
      <p:sp>
        <p:nvSpPr>
          <p:cNvPr id="4" name="Slide Number Placeholder 3"/>
          <p:cNvSpPr>
            <a:spLocks noGrp="1"/>
          </p:cNvSpPr>
          <p:nvPr>
            <p:ph type="sldNum" sz="quarter" idx="10"/>
          </p:nvPr>
        </p:nvSpPr>
        <p:spPr/>
        <p:txBody>
          <a:bodyPr/>
          <a:lstStyle/>
          <a:p>
            <a:fld id="{3624AA66-5286-4A71-8DC1-D387DED69229}" type="slidenum">
              <a:rPr lang="en-US" smtClean="0">
                <a:solidFill>
                  <a:prstClr val="black"/>
                </a:solidFill>
              </a:rPr>
              <a:pPr/>
              <a:t>10</a:t>
            </a:fld>
            <a:endParaRPr lang="en-US" dirty="0">
              <a:solidFill>
                <a:prstClr val="black"/>
              </a:solidFill>
            </a:endParaRPr>
          </a:p>
        </p:txBody>
      </p:sp>
    </p:spTree>
    <p:extLst>
      <p:ext uri="{BB962C8B-B14F-4D97-AF65-F5344CB8AC3E}">
        <p14:creationId xmlns:p14="http://schemas.microsoft.com/office/powerpoint/2010/main" val="6520543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24AA66-5286-4A71-8DC1-D387DED69229}" type="slidenum">
              <a:rPr lang="en-US" smtClean="0">
                <a:solidFill>
                  <a:prstClr val="black"/>
                </a:solidFill>
              </a:rPr>
              <a:pPr/>
              <a:t>11</a:t>
            </a:fld>
            <a:endParaRPr lang="en-US" dirty="0">
              <a:solidFill>
                <a:prstClr val="black"/>
              </a:solidFill>
            </a:endParaRPr>
          </a:p>
        </p:txBody>
      </p:sp>
    </p:spTree>
    <p:extLst>
      <p:ext uri="{BB962C8B-B14F-4D97-AF65-F5344CB8AC3E}">
        <p14:creationId xmlns:p14="http://schemas.microsoft.com/office/powerpoint/2010/main" val="2446878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https://blog.ethereum.org/2014/07/22/launching-the-ether-sale </a:t>
            </a:r>
          </a:p>
        </p:txBody>
      </p:sp>
      <p:sp>
        <p:nvSpPr>
          <p:cNvPr id="4" name="Slide Number Placeholder 3"/>
          <p:cNvSpPr>
            <a:spLocks noGrp="1"/>
          </p:cNvSpPr>
          <p:nvPr>
            <p:ph type="sldNum" sz="quarter" idx="10"/>
          </p:nvPr>
        </p:nvSpPr>
        <p:spPr/>
        <p:txBody>
          <a:bodyPr/>
          <a:lstStyle/>
          <a:p>
            <a:fld id="{3624AA66-5286-4A71-8DC1-D387DED69229}" type="slidenum">
              <a:rPr lang="en-US" smtClean="0">
                <a:solidFill>
                  <a:prstClr val="black"/>
                </a:solidFill>
              </a:rPr>
              <a:pPr/>
              <a:t>12</a:t>
            </a:fld>
            <a:endParaRPr lang="en-US" dirty="0">
              <a:solidFill>
                <a:prstClr val="black"/>
              </a:solidFill>
            </a:endParaRPr>
          </a:p>
        </p:txBody>
      </p:sp>
    </p:spTree>
    <p:extLst>
      <p:ext uri="{BB962C8B-B14F-4D97-AF65-F5344CB8AC3E}">
        <p14:creationId xmlns:p14="http://schemas.microsoft.com/office/powerpoint/2010/main" val="12110577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18999-11E8-1D13-92ED-10BBA4162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C0EC41-59BA-0E36-41EC-DC98EFF70F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7A9C1E-FE75-FCC3-AEF2-4C1A33244B2B}"/>
              </a:ext>
            </a:extLst>
          </p:cNvPr>
          <p:cNvSpPr>
            <a:spLocks noGrp="1"/>
          </p:cNvSpPr>
          <p:nvPr>
            <p:ph type="body" idx="1"/>
          </p:nvPr>
        </p:nvSpPr>
        <p:spPr/>
        <p:txBody>
          <a:bodyPr/>
          <a:lstStyle/>
          <a:p>
            <a:r>
              <a:rPr lang="en-US" dirty="0"/>
              <a:t>https://www.coindesk.com/markets/2022/05/02/apecoin-drops-ether-trades-flat-after-record-200m-gas-burn/</a:t>
            </a:r>
          </a:p>
          <a:p>
            <a:r>
              <a:rPr lang="en-US" dirty="0"/>
              <a:t>https://etherscan.io/chart/ethersupplygrowth </a:t>
            </a:r>
          </a:p>
        </p:txBody>
      </p:sp>
      <p:sp>
        <p:nvSpPr>
          <p:cNvPr id="4" name="Slide Number Placeholder 3">
            <a:extLst>
              <a:ext uri="{FF2B5EF4-FFF2-40B4-BE49-F238E27FC236}">
                <a16:creationId xmlns:a16="http://schemas.microsoft.com/office/drawing/2014/main" id="{86BA780D-FCE8-97F3-9124-36BF047E321D}"/>
              </a:ext>
            </a:extLst>
          </p:cNvPr>
          <p:cNvSpPr>
            <a:spLocks noGrp="1"/>
          </p:cNvSpPr>
          <p:nvPr>
            <p:ph type="sldNum" sz="quarter" idx="10"/>
          </p:nvPr>
        </p:nvSpPr>
        <p:spPr/>
        <p:txBody>
          <a:bodyPr/>
          <a:lstStyle/>
          <a:p>
            <a:fld id="{3624AA66-5286-4A71-8DC1-D387DED69229}" type="slidenum">
              <a:rPr lang="en-US" smtClean="0"/>
              <a:t>13</a:t>
            </a:fld>
            <a:endParaRPr lang="en-US" dirty="0"/>
          </a:p>
        </p:txBody>
      </p:sp>
    </p:spTree>
    <p:extLst>
      <p:ext uri="{BB962C8B-B14F-4D97-AF65-F5344CB8AC3E}">
        <p14:creationId xmlns:p14="http://schemas.microsoft.com/office/powerpoint/2010/main" val="35254750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https://etherscan.io/block/14205496 </a:t>
            </a:r>
          </a:p>
        </p:txBody>
      </p:sp>
      <p:sp>
        <p:nvSpPr>
          <p:cNvPr id="4" name="Slide Number Placeholder 3"/>
          <p:cNvSpPr>
            <a:spLocks noGrp="1"/>
          </p:cNvSpPr>
          <p:nvPr>
            <p:ph type="sldNum" sz="quarter" idx="10"/>
          </p:nvPr>
        </p:nvSpPr>
        <p:spPr/>
        <p:txBody>
          <a:bodyPr/>
          <a:lstStyle/>
          <a:p>
            <a:fld id="{3624AA66-5286-4A71-8DC1-D387DED69229}" type="slidenum">
              <a:rPr lang="en-US" smtClean="0"/>
              <a:t>14</a:t>
            </a:fld>
            <a:endParaRPr lang="en-US" dirty="0"/>
          </a:p>
        </p:txBody>
      </p:sp>
    </p:spTree>
    <p:extLst>
      <p:ext uri="{BB962C8B-B14F-4D97-AF65-F5344CB8AC3E}">
        <p14:creationId xmlns:p14="http://schemas.microsoft.com/office/powerpoint/2010/main" val="2616677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24AA66-5286-4A71-8DC1-D387DED69229}" type="slidenum">
              <a:rPr lang="en-US" smtClean="0"/>
              <a:t>17</a:t>
            </a:fld>
            <a:endParaRPr lang="en-US" dirty="0"/>
          </a:p>
        </p:txBody>
      </p:sp>
    </p:spTree>
    <p:extLst>
      <p:ext uri="{BB962C8B-B14F-4D97-AF65-F5344CB8AC3E}">
        <p14:creationId xmlns:p14="http://schemas.microsoft.com/office/powerpoint/2010/main" val="18272025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dirty="0"/>
              <a:t>Contract</a:t>
            </a:r>
            <a:r>
              <a:rPr lang="en-US" sz="1200" baseline="0" dirty="0"/>
              <a:t> account can be created either by EOA or by another smart contract e.g., smart contract factory which is a template smart contract that when triggered by an external transaction creates a new smart contract.. The address of new smart contract is the sender address + nonce (sender in this case can be EOA or parent smart contract).. </a:t>
            </a:r>
            <a:endParaRPr lang="en-US" sz="1200" dirty="0"/>
          </a:p>
          <a:p>
            <a:pPr marL="0" marR="0" lvl="0" indent="0" algn="l" defTabSz="914377" rtl="0" eaLnBrk="1" fontAlgn="auto" latinLnBrk="0" hangingPunct="1">
              <a:lnSpc>
                <a:spcPct val="100000"/>
              </a:lnSpc>
              <a:spcBef>
                <a:spcPts val="0"/>
              </a:spcBef>
              <a:spcAft>
                <a:spcPts val="0"/>
              </a:spcAft>
              <a:buClrTx/>
              <a:buSzTx/>
              <a:buFontTx/>
              <a:buNone/>
              <a:tabLst/>
              <a:defRPr/>
            </a:pPr>
            <a:r>
              <a:rPr lang="en-US" sz="1200" dirty="0"/>
              <a:t>RLP (recursive length prefix) is an encoding or serialization technique while Keccak-256 is the hashing algorithm used by Ethereum</a:t>
            </a:r>
          </a:p>
          <a:p>
            <a:endParaRPr lang="en-US" dirty="0"/>
          </a:p>
        </p:txBody>
      </p:sp>
      <p:sp>
        <p:nvSpPr>
          <p:cNvPr id="4" name="Slide Number Placeholder 3"/>
          <p:cNvSpPr>
            <a:spLocks noGrp="1"/>
          </p:cNvSpPr>
          <p:nvPr>
            <p:ph type="sldNum" sz="quarter" idx="10"/>
          </p:nvPr>
        </p:nvSpPr>
        <p:spPr/>
        <p:txBody>
          <a:bodyPr/>
          <a:lstStyle/>
          <a:p>
            <a:fld id="{3624AA66-5286-4A71-8DC1-D387DED69229}" type="slidenum">
              <a:rPr lang="en-US" smtClean="0"/>
              <a:t>18</a:t>
            </a:fld>
            <a:endParaRPr lang="en-US" dirty="0"/>
          </a:p>
        </p:txBody>
      </p:sp>
    </p:spTree>
    <p:extLst>
      <p:ext uri="{BB962C8B-B14F-4D97-AF65-F5344CB8AC3E}">
        <p14:creationId xmlns:p14="http://schemas.microsoft.com/office/powerpoint/2010/main" val="34787292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https://ethereum.org/en/developers/docs/accounts/ </a:t>
            </a:r>
          </a:p>
        </p:txBody>
      </p:sp>
      <p:sp>
        <p:nvSpPr>
          <p:cNvPr id="4" name="Slide Number Placeholder 3"/>
          <p:cNvSpPr>
            <a:spLocks noGrp="1"/>
          </p:cNvSpPr>
          <p:nvPr>
            <p:ph type="sldNum" sz="quarter" idx="10"/>
          </p:nvPr>
        </p:nvSpPr>
        <p:spPr/>
        <p:txBody>
          <a:bodyPr/>
          <a:lstStyle/>
          <a:p>
            <a:fld id="{3624AA66-5286-4A71-8DC1-D387DED69229}" type="slidenum">
              <a:rPr lang="en-US" smtClean="0"/>
              <a:t>19</a:t>
            </a:fld>
            <a:endParaRPr lang="en-US" dirty="0"/>
          </a:p>
        </p:txBody>
      </p:sp>
    </p:spTree>
    <p:extLst>
      <p:ext uri="{BB962C8B-B14F-4D97-AF65-F5344CB8AC3E}">
        <p14:creationId xmlns:p14="http://schemas.microsoft.com/office/powerpoint/2010/main" val="19211519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Factory contract: https://enlear.academy/factory-contracts-in-blockchain-technology-a-simple-explanation-and-use-case-2e740ec0874f </a:t>
            </a:r>
          </a:p>
          <a:p>
            <a:r>
              <a:rPr lang="en-US" sz="1200" b="0" i="0" kern="1200" dirty="0">
                <a:solidFill>
                  <a:schemeClr val="tx1"/>
                </a:solidFill>
                <a:effectLst/>
                <a:latin typeface="+mn-lt"/>
                <a:ea typeface="+mn-ea"/>
                <a:cs typeface="+mn-cs"/>
              </a:rPr>
              <a:t>For example every</a:t>
            </a:r>
            <a:r>
              <a:rPr lang="en-US" sz="1200" b="0" i="0" kern="1200" baseline="0" dirty="0">
                <a:solidFill>
                  <a:schemeClr val="tx1"/>
                </a:solidFill>
                <a:effectLst/>
                <a:latin typeface="+mn-lt"/>
                <a:ea typeface="+mn-ea"/>
                <a:cs typeface="+mn-cs"/>
              </a:rPr>
              <a:t> time a new student enrolls a new smart contract is created by calling the factory smart contract using the name and date of birth of the student.. </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3624AA66-5286-4A71-8DC1-D387DED69229}" type="slidenum">
              <a:rPr lang="en-US" smtClean="0"/>
              <a:t>20</a:t>
            </a:fld>
            <a:endParaRPr lang="en-US" dirty="0"/>
          </a:p>
        </p:txBody>
      </p:sp>
    </p:spTree>
    <p:extLst>
      <p:ext uri="{BB962C8B-B14F-4D97-AF65-F5344CB8AC3E}">
        <p14:creationId xmlns:p14="http://schemas.microsoft.com/office/powerpoint/2010/main" val="37760464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56A74-448C-F79F-38C7-2414E2FD40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07298D-D1DF-3CCE-3D03-4730E329AB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B46868-5187-C0FF-AF82-393744AD0144}"/>
              </a:ext>
            </a:extLst>
          </p:cNvPr>
          <p:cNvSpPr>
            <a:spLocks noGrp="1"/>
          </p:cNvSpPr>
          <p:nvPr>
            <p:ph type="body" idx="1"/>
          </p:nvPr>
        </p:nvSpPr>
        <p:spPr/>
        <p:txBody>
          <a:bodyPr/>
          <a:lstStyle/>
          <a:p>
            <a:r>
              <a:rPr lang="en-US" sz="1200" dirty="0"/>
              <a:t>(e.g., smart contract factory address + smart contract factory contract nonce)</a:t>
            </a:r>
            <a:endParaRPr lang="en-US" dirty="0"/>
          </a:p>
        </p:txBody>
      </p:sp>
      <p:sp>
        <p:nvSpPr>
          <p:cNvPr id="4" name="Slide Number Placeholder 3">
            <a:extLst>
              <a:ext uri="{FF2B5EF4-FFF2-40B4-BE49-F238E27FC236}">
                <a16:creationId xmlns:a16="http://schemas.microsoft.com/office/drawing/2014/main" id="{89D7C578-6027-85F0-AF4A-341F4F2D995D}"/>
              </a:ext>
            </a:extLst>
          </p:cNvPr>
          <p:cNvSpPr>
            <a:spLocks noGrp="1"/>
          </p:cNvSpPr>
          <p:nvPr>
            <p:ph type="sldNum" sz="quarter" idx="10"/>
          </p:nvPr>
        </p:nvSpPr>
        <p:spPr/>
        <p:txBody>
          <a:bodyPr/>
          <a:lstStyle/>
          <a:p>
            <a:fld id="{3624AA66-5286-4A71-8DC1-D387DED69229}" type="slidenum">
              <a:rPr lang="en-US" smtClean="0"/>
              <a:t>21</a:t>
            </a:fld>
            <a:endParaRPr lang="en-US" dirty="0"/>
          </a:p>
        </p:txBody>
      </p:sp>
    </p:spTree>
    <p:extLst>
      <p:ext uri="{BB962C8B-B14F-4D97-AF65-F5344CB8AC3E}">
        <p14:creationId xmlns:p14="http://schemas.microsoft.com/office/powerpoint/2010/main" val="30523428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24AA66-5286-4A71-8DC1-D387DED69229}" type="slidenum">
              <a:rPr lang="en-US" smtClean="0"/>
              <a:t>25</a:t>
            </a:fld>
            <a:endParaRPr lang="en-US" dirty="0"/>
          </a:p>
        </p:txBody>
      </p:sp>
    </p:spTree>
    <p:extLst>
      <p:ext uri="{BB962C8B-B14F-4D97-AF65-F5344CB8AC3E}">
        <p14:creationId xmlns:p14="http://schemas.microsoft.com/office/powerpoint/2010/main" val="14585624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 fee per gas ensures protection against base</a:t>
            </a:r>
            <a:r>
              <a:rPr lang="en-US" baseline="0" dirty="0"/>
              <a:t> fee increase.. Max fee per gas must be greater than the base fee per block plus the max priority fee per gas (miner tip)</a:t>
            </a:r>
            <a:endParaRPr lang="en-US" dirty="0"/>
          </a:p>
        </p:txBody>
      </p:sp>
      <p:sp>
        <p:nvSpPr>
          <p:cNvPr id="4" name="Slide Number Placeholder 3"/>
          <p:cNvSpPr>
            <a:spLocks noGrp="1"/>
          </p:cNvSpPr>
          <p:nvPr>
            <p:ph type="sldNum" sz="quarter" idx="10"/>
          </p:nvPr>
        </p:nvSpPr>
        <p:spPr/>
        <p:txBody>
          <a:bodyPr/>
          <a:lstStyle/>
          <a:p>
            <a:fld id="{3624AA66-5286-4A71-8DC1-D387DED69229}" type="slidenum">
              <a:rPr lang="en-US" smtClean="0"/>
              <a:t>29</a:t>
            </a:fld>
            <a:endParaRPr lang="en-US" dirty="0"/>
          </a:p>
        </p:txBody>
      </p:sp>
    </p:spTree>
    <p:extLst>
      <p:ext uri="{BB962C8B-B14F-4D97-AF65-F5344CB8AC3E}">
        <p14:creationId xmlns:p14="http://schemas.microsoft.com/office/powerpoint/2010/main" val="14989244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24AA66-5286-4A71-8DC1-D387DED69229}" type="slidenum">
              <a:rPr lang="en-US" smtClean="0"/>
              <a:t>31</a:t>
            </a:fld>
            <a:endParaRPr lang="en-US" dirty="0"/>
          </a:p>
        </p:txBody>
      </p:sp>
    </p:spTree>
    <p:extLst>
      <p:ext uri="{BB962C8B-B14F-4D97-AF65-F5344CB8AC3E}">
        <p14:creationId xmlns:p14="http://schemas.microsoft.com/office/powerpoint/2010/main" val="31460728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24AA66-5286-4A71-8DC1-D387DED69229}" type="slidenum">
              <a:rPr lang="en-US" smtClean="0"/>
              <a:t>32</a:t>
            </a:fld>
            <a:endParaRPr lang="en-US" dirty="0"/>
          </a:p>
        </p:txBody>
      </p:sp>
    </p:spTree>
    <p:extLst>
      <p:ext uri="{BB962C8B-B14F-4D97-AF65-F5344CB8AC3E}">
        <p14:creationId xmlns:p14="http://schemas.microsoft.com/office/powerpoint/2010/main" val="31489537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24AA66-5286-4A71-8DC1-D387DED69229}" type="slidenum">
              <a:rPr lang="en-US" smtClean="0"/>
              <a:t>33</a:t>
            </a:fld>
            <a:endParaRPr lang="en-US" dirty="0"/>
          </a:p>
        </p:txBody>
      </p:sp>
    </p:spTree>
    <p:extLst>
      <p:ext uri="{BB962C8B-B14F-4D97-AF65-F5344CB8AC3E}">
        <p14:creationId xmlns:p14="http://schemas.microsoft.com/office/powerpoint/2010/main" val="19788600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CA</a:t>
            </a:r>
            <a:r>
              <a:rPr lang="en-US" baseline="0" dirty="0"/>
              <a:t> deployment </a:t>
            </a:r>
            <a:r>
              <a:rPr lang="en-US" baseline="0" dirty="0" err="1"/>
              <a:t>txn</a:t>
            </a:r>
            <a:r>
              <a:rPr lang="en-US" baseline="0" dirty="0"/>
              <a:t> recipient field is empty.. CA address is automatically generated from EOA’s address and nonce</a:t>
            </a:r>
          </a:p>
          <a:p>
            <a:endParaRPr lang="en-US" dirty="0"/>
          </a:p>
        </p:txBody>
      </p:sp>
      <p:sp>
        <p:nvSpPr>
          <p:cNvPr id="4" name="Slide Number Placeholder 3"/>
          <p:cNvSpPr>
            <a:spLocks noGrp="1"/>
          </p:cNvSpPr>
          <p:nvPr>
            <p:ph type="sldNum" sz="quarter" idx="10"/>
          </p:nvPr>
        </p:nvSpPr>
        <p:spPr/>
        <p:txBody>
          <a:bodyPr/>
          <a:lstStyle/>
          <a:p>
            <a:fld id="{3624AA66-5286-4A71-8DC1-D387DED69229}" type="slidenum">
              <a:rPr lang="en-US" smtClean="0"/>
              <a:t>35</a:t>
            </a:fld>
            <a:endParaRPr lang="en-US" dirty="0"/>
          </a:p>
        </p:txBody>
      </p:sp>
    </p:spTree>
    <p:extLst>
      <p:ext uri="{BB962C8B-B14F-4D97-AF65-F5344CB8AC3E}">
        <p14:creationId xmlns:p14="http://schemas.microsoft.com/office/powerpoint/2010/main" val="32572264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Hexcode</a:t>
            </a:r>
            <a:r>
              <a:rPr lang="en-US" baseline="0" dirty="0"/>
              <a:t> generated from the binary code.. </a:t>
            </a:r>
            <a:endParaRPr lang="en-US" dirty="0"/>
          </a:p>
        </p:txBody>
      </p:sp>
      <p:sp>
        <p:nvSpPr>
          <p:cNvPr id="4" name="Slide Number Placeholder 3"/>
          <p:cNvSpPr>
            <a:spLocks noGrp="1"/>
          </p:cNvSpPr>
          <p:nvPr>
            <p:ph type="sldNum" sz="quarter" idx="10"/>
          </p:nvPr>
        </p:nvSpPr>
        <p:spPr/>
        <p:txBody>
          <a:bodyPr/>
          <a:lstStyle/>
          <a:p>
            <a:fld id="{3624AA66-5286-4A71-8DC1-D387DED69229}" type="slidenum">
              <a:rPr lang="en-US" smtClean="0"/>
              <a:t>36</a:t>
            </a:fld>
            <a:endParaRPr lang="en-US" dirty="0"/>
          </a:p>
        </p:txBody>
      </p:sp>
    </p:spTree>
    <p:extLst>
      <p:ext uri="{BB962C8B-B14F-4D97-AF65-F5344CB8AC3E}">
        <p14:creationId xmlns:p14="http://schemas.microsoft.com/office/powerpoint/2010/main" val="11306859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block size is average block size</a:t>
            </a:r>
            <a:r>
              <a:rPr lang="en-US" baseline="0" dirty="0"/>
              <a:t> in gas units that Ethereum tries to maintain</a:t>
            </a:r>
          </a:p>
        </p:txBody>
      </p:sp>
      <p:sp>
        <p:nvSpPr>
          <p:cNvPr id="4" name="Slide Number Placeholder 3"/>
          <p:cNvSpPr>
            <a:spLocks noGrp="1"/>
          </p:cNvSpPr>
          <p:nvPr>
            <p:ph type="sldNum" sz="quarter" idx="10"/>
          </p:nvPr>
        </p:nvSpPr>
        <p:spPr/>
        <p:txBody>
          <a:bodyPr/>
          <a:lstStyle/>
          <a:p>
            <a:fld id="{3624AA66-5286-4A71-8DC1-D387DED69229}" type="slidenum">
              <a:rPr lang="en-US" smtClean="0"/>
              <a:t>37</a:t>
            </a:fld>
            <a:endParaRPr lang="en-US" dirty="0"/>
          </a:p>
        </p:txBody>
      </p:sp>
    </p:spTree>
    <p:extLst>
      <p:ext uri="{BB962C8B-B14F-4D97-AF65-F5344CB8AC3E}">
        <p14:creationId xmlns:p14="http://schemas.microsoft.com/office/powerpoint/2010/main" val="34861301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generation time is controlled by</a:t>
            </a:r>
            <a:r>
              <a:rPr lang="en-US" baseline="0" dirty="0"/>
              <a:t> adjusting the network difficulty </a:t>
            </a:r>
            <a:endParaRPr lang="en-US" dirty="0"/>
          </a:p>
        </p:txBody>
      </p:sp>
      <p:sp>
        <p:nvSpPr>
          <p:cNvPr id="4" name="Slide Number Placeholder 3"/>
          <p:cNvSpPr>
            <a:spLocks noGrp="1"/>
          </p:cNvSpPr>
          <p:nvPr>
            <p:ph type="sldNum" sz="quarter" idx="10"/>
          </p:nvPr>
        </p:nvSpPr>
        <p:spPr/>
        <p:txBody>
          <a:bodyPr/>
          <a:lstStyle/>
          <a:p>
            <a:fld id="{3624AA66-5286-4A71-8DC1-D387DED69229}" type="slidenum">
              <a:rPr lang="en-US" smtClean="0"/>
              <a:t>38</a:t>
            </a:fld>
            <a:endParaRPr lang="en-US" dirty="0"/>
          </a:p>
        </p:txBody>
      </p:sp>
    </p:spTree>
    <p:extLst>
      <p:ext uri="{BB962C8B-B14F-4D97-AF65-F5344CB8AC3E}">
        <p14:creationId xmlns:p14="http://schemas.microsoft.com/office/powerpoint/2010/main" val="40043268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accent2"/>
                </a:solidFill>
                <a:latin typeface="Candara" panose="020E0502030303020204" pitchFamily="34" charset="0"/>
              </a:rPr>
              <a:t>Base fee for the next block = Base fee for current block * [1 + (% gas used in current block – 50) / 400)]</a:t>
            </a:r>
          </a:p>
          <a:p>
            <a:endParaRPr lang="en-US" dirty="0"/>
          </a:p>
        </p:txBody>
      </p:sp>
      <p:sp>
        <p:nvSpPr>
          <p:cNvPr id="4" name="Slide Number Placeholder 3"/>
          <p:cNvSpPr>
            <a:spLocks noGrp="1"/>
          </p:cNvSpPr>
          <p:nvPr>
            <p:ph type="sldNum" sz="quarter" idx="5"/>
          </p:nvPr>
        </p:nvSpPr>
        <p:spPr/>
        <p:txBody>
          <a:bodyPr/>
          <a:lstStyle/>
          <a:p>
            <a:fld id="{20C9AE28-5153-4CA5-B96B-FF1564D78CE0}" type="slidenum">
              <a:rPr lang="en-US" smtClean="0"/>
              <a:t>40</a:t>
            </a:fld>
            <a:endParaRPr lang="en-US"/>
          </a:p>
        </p:txBody>
      </p:sp>
    </p:spTree>
    <p:extLst>
      <p:ext uri="{BB962C8B-B14F-4D97-AF65-F5344CB8AC3E}">
        <p14:creationId xmlns:p14="http://schemas.microsoft.com/office/powerpoint/2010/main" val="4970221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24AA66-5286-4A71-8DC1-D387DED69229}" type="slidenum">
              <a:rPr lang="en-US" smtClean="0"/>
              <a:t>42</a:t>
            </a:fld>
            <a:endParaRPr lang="en-US" dirty="0"/>
          </a:p>
        </p:txBody>
      </p:sp>
    </p:spTree>
    <p:extLst>
      <p:ext uri="{BB962C8B-B14F-4D97-AF65-F5344CB8AC3E}">
        <p14:creationId xmlns:p14="http://schemas.microsoft.com/office/powerpoint/2010/main" val="15822561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24AA66-5286-4A71-8DC1-D387DED69229}" type="slidenum">
              <a:rPr lang="en-US" smtClean="0"/>
              <a:t>43</a:t>
            </a:fld>
            <a:endParaRPr lang="en-US" dirty="0"/>
          </a:p>
        </p:txBody>
      </p:sp>
    </p:spTree>
    <p:extLst>
      <p:ext uri="{BB962C8B-B14F-4D97-AF65-F5344CB8AC3E}">
        <p14:creationId xmlns:p14="http://schemas.microsoft.com/office/powerpoint/2010/main" val="3922401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24AA66-5286-4A71-8DC1-D387DED69229}" type="slidenum">
              <a:rPr lang="en-US" smtClean="0"/>
              <a:t>44</a:t>
            </a:fld>
            <a:endParaRPr lang="en-US" dirty="0"/>
          </a:p>
        </p:txBody>
      </p:sp>
    </p:spTree>
    <p:extLst>
      <p:ext uri="{BB962C8B-B14F-4D97-AF65-F5344CB8AC3E}">
        <p14:creationId xmlns:p14="http://schemas.microsoft.com/office/powerpoint/2010/main" val="28393993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24AA66-5286-4A71-8DC1-D387DED69229}" type="slidenum">
              <a:rPr lang="en-US" smtClean="0"/>
              <a:t>45</a:t>
            </a:fld>
            <a:endParaRPr lang="en-US" dirty="0"/>
          </a:p>
        </p:txBody>
      </p:sp>
    </p:spTree>
    <p:extLst>
      <p:ext uri="{BB962C8B-B14F-4D97-AF65-F5344CB8AC3E}">
        <p14:creationId xmlns:p14="http://schemas.microsoft.com/office/powerpoint/2010/main" val="36059465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24AA66-5286-4A71-8DC1-D387DED69229}" type="slidenum">
              <a:rPr lang="en-US" smtClean="0"/>
              <a:t>47</a:t>
            </a:fld>
            <a:endParaRPr lang="en-US" dirty="0"/>
          </a:p>
        </p:txBody>
      </p:sp>
    </p:spTree>
    <p:extLst>
      <p:ext uri="{BB962C8B-B14F-4D97-AF65-F5344CB8AC3E}">
        <p14:creationId xmlns:p14="http://schemas.microsoft.com/office/powerpoint/2010/main" val="26078797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a:t>
            </a:r>
            <a:r>
              <a:rPr lang="en-US" b="1" dirty="0"/>
              <a:t>not store a key</a:t>
            </a:r>
            <a:r>
              <a:rPr lang="en-US" dirty="0"/>
              <a:t>. Instead, it has </a:t>
            </a:r>
            <a:r>
              <a:rPr lang="en-US" b="1" dirty="0"/>
              <a:t>16 slots</a:t>
            </a:r>
            <a:r>
              <a:rPr lang="en-US" dirty="0"/>
              <a:t> (for hex digits 0–f) plus a value slot. The next nibble of the key determines which branch slot to follow.</a:t>
            </a:r>
          </a:p>
        </p:txBody>
      </p:sp>
      <p:sp>
        <p:nvSpPr>
          <p:cNvPr id="4" name="Slide Number Placeholder 3"/>
          <p:cNvSpPr>
            <a:spLocks noGrp="1"/>
          </p:cNvSpPr>
          <p:nvPr>
            <p:ph type="sldNum" sz="quarter" idx="5"/>
          </p:nvPr>
        </p:nvSpPr>
        <p:spPr/>
        <p:txBody>
          <a:bodyPr/>
          <a:lstStyle/>
          <a:p>
            <a:fld id="{20C9AE28-5153-4CA5-B96B-FF1564D78CE0}" type="slidenum">
              <a:rPr lang="en-US" smtClean="0"/>
              <a:t>50</a:t>
            </a:fld>
            <a:endParaRPr lang="en-US"/>
          </a:p>
        </p:txBody>
      </p:sp>
    </p:spTree>
    <p:extLst>
      <p:ext uri="{BB962C8B-B14F-4D97-AF65-F5344CB8AC3E}">
        <p14:creationId xmlns:p14="http://schemas.microsoft.com/office/powerpoint/2010/main" val="282141394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24AA66-5286-4A71-8DC1-D387DED69229}" type="slidenum">
              <a:rPr lang="en-US" smtClean="0"/>
              <a:t>51</a:t>
            </a:fld>
            <a:endParaRPr lang="en-US" dirty="0"/>
          </a:p>
        </p:txBody>
      </p:sp>
    </p:spTree>
    <p:extLst>
      <p:ext uri="{BB962C8B-B14F-4D97-AF65-F5344CB8AC3E}">
        <p14:creationId xmlns:p14="http://schemas.microsoft.com/office/powerpoint/2010/main" val="9920471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branch node does </a:t>
            </a:r>
            <a:r>
              <a:rPr lang="en-US" b="1" dirty="0"/>
              <a:t>not store a key</a:t>
            </a:r>
            <a:r>
              <a:rPr lang="en-US" dirty="0"/>
              <a:t>. Instead, it has </a:t>
            </a:r>
            <a:r>
              <a:rPr lang="en-US" b="1" dirty="0"/>
              <a:t>16 slots</a:t>
            </a:r>
            <a:r>
              <a:rPr lang="en-US" dirty="0"/>
              <a:t> (for hex digits 0–f) plus a value slot. The next nibble of the key determines which branch slot to follow.</a:t>
            </a:r>
          </a:p>
        </p:txBody>
      </p:sp>
      <p:sp>
        <p:nvSpPr>
          <p:cNvPr id="4" name="Slide Number Placeholder 3"/>
          <p:cNvSpPr>
            <a:spLocks noGrp="1"/>
          </p:cNvSpPr>
          <p:nvPr>
            <p:ph type="sldNum" sz="quarter" idx="5"/>
          </p:nvPr>
        </p:nvSpPr>
        <p:spPr/>
        <p:txBody>
          <a:bodyPr/>
          <a:lstStyle/>
          <a:p>
            <a:fld id="{20C9AE28-5153-4CA5-B96B-FF1564D78CE0}" type="slidenum">
              <a:rPr lang="en-US" smtClean="0"/>
              <a:t>53</a:t>
            </a:fld>
            <a:endParaRPr lang="en-US"/>
          </a:p>
        </p:txBody>
      </p:sp>
    </p:spTree>
    <p:extLst>
      <p:ext uri="{BB962C8B-B14F-4D97-AF65-F5344CB8AC3E}">
        <p14:creationId xmlns:p14="http://schemas.microsoft.com/office/powerpoint/2010/main" val="10374947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24AA66-5286-4A71-8DC1-D387DED69229}" type="slidenum">
              <a:rPr lang="en-US" smtClean="0"/>
              <a:t>61</a:t>
            </a:fld>
            <a:endParaRPr lang="en-US" dirty="0"/>
          </a:p>
        </p:txBody>
      </p:sp>
    </p:spTree>
    <p:extLst>
      <p:ext uri="{BB962C8B-B14F-4D97-AF65-F5344CB8AC3E}">
        <p14:creationId xmlns:p14="http://schemas.microsoft.com/office/powerpoint/2010/main" val="37680941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3624AA66-5286-4A71-8DC1-D387DED69229}" type="slidenum">
              <a:rPr lang="en-US" smtClean="0"/>
              <a:t>63</a:t>
            </a:fld>
            <a:endParaRPr lang="en-US" dirty="0"/>
          </a:p>
        </p:txBody>
      </p:sp>
    </p:spTree>
    <p:extLst>
      <p:ext uri="{BB962C8B-B14F-4D97-AF65-F5344CB8AC3E}">
        <p14:creationId xmlns:p14="http://schemas.microsoft.com/office/powerpoint/2010/main" val="131463460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https://etherscan.io/nodetracker </a:t>
            </a:r>
          </a:p>
        </p:txBody>
      </p:sp>
      <p:sp>
        <p:nvSpPr>
          <p:cNvPr id="4" name="Slide Number Placeholder 3"/>
          <p:cNvSpPr>
            <a:spLocks noGrp="1"/>
          </p:cNvSpPr>
          <p:nvPr>
            <p:ph type="sldNum" sz="quarter" idx="10"/>
          </p:nvPr>
        </p:nvSpPr>
        <p:spPr/>
        <p:txBody>
          <a:bodyPr/>
          <a:lstStyle/>
          <a:p>
            <a:fld id="{3624AA66-5286-4A71-8DC1-D387DED69229}" type="slidenum">
              <a:rPr lang="en-US" smtClean="0"/>
              <a:t>64</a:t>
            </a:fld>
            <a:endParaRPr lang="en-US" dirty="0"/>
          </a:p>
        </p:txBody>
      </p:sp>
    </p:spTree>
    <p:extLst>
      <p:ext uri="{BB962C8B-B14F-4D97-AF65-F5344CB8AC3E}">
        <p14:creationId xmlns:p14="http://schemas.microsoft.com/office/powerpoint/2010/main" val="15639491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Full node can build the archive on demand.. </a:t>
            </a:r>
          </a:p>
        </p:txBody>
      </p:sp>
      <p:sp>
        <p:nvSpPr>
          <p:cNvPr id="4" name="Slide Number Placeholder 3"/>
          <p:cNvSpPr>
            <a:spLocks noGrp="1"/>
          </p:cNvSpPr>
          <p:nvPr>
            <p:ph type="sldNum" sz="quarter" idx="10"/>
          </p:nvPr>
        </p:nvSpPr>
        <p:spPr/>
        <p:txBody>
          <a:bodyPr/>
          <a:lstStyle/>
          <a:p>
            <a:fld id="{3624AA66-5286-4A71-8DC1-D387DED69229}" type="slidenum">
              <a:rPr lang="en-US" smtClean="0"/>
              <a:t>65</a:t>
            </a:fld>
            <a:endParaRPr lang="en-US" dirty="0"/>
          </a:p>
        </p:txBody>
      </p:sp>
    </p:spTree>
    <p:extLst>
      <p:ext uri="{BB962C8B-B14F-4D97-AF65-F5344CB8AC3E}">
        <p14:creationId xmlns:p14="http://schemas.microsoft.com/office/powerpoint/2010/main" val="10806735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3624AA66-5286-4A71-8DC1-D387DED69229}" type="slidenum">
              <a:rPr lang="en-US" smtClean="0"/>
              <a:t>66</a:t>
            </a:fld>
            <a:endParaRPr lang="en-US" dirty="0"/>
          </a:p>
        </p:txBody>
      </p:sp>
    </p:spTree>
    <p:extLst>
      <p:ext uri="{BB962C8B-B14F-4D97-AF65-F5344CB8AC3E}">
        <p14:creationId xmlns:p14="http://schemas.microsoft.com/office/powerpoint/2010/main" val="20638325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Merge was when these two systems finally came together, and proof-of-work was permanently replaced by proof-of-stake.</a:t>
            </a:r>
          </a:p>
          <a:p>
            <a:r>
              <a:rPr lang="en-US" dirty="0"/>
              <a:t>https://ethereum.org/en/upgrades/merge/#:~:text=by%20~99.95%25.-,What%20was%20The%20Merge%3F,be%20secured%20using%20staked%20ETH. </a:t>
            </a:r>
          </a:p>
          <a:p>
            <a:r>
              <a:rPr lang="en-US" dirty="0"/>
              <a:t>https://ethereum.org/en/developers/docs/consensus-mechanisms/pos/ </a:t>
            </a:r>
          </a:p>
        </p:txBody>
      </p:sp>
      <p:sp>
        <p:nvSpPr>
          <p:cNvPr id="4" name="Slide Number Placeholder 3"/>
          <p:cNvSpPr>
            <a:spLocks noGrp="1"/>
          </p:cNvSpPr>
          <p:nvPr>
            <p:ph type="sldNum" sz="quarter" idx="10"/>
          </p:nvPr>
        </p:nvSpPr>
        <p:spPr/>
        <p:txBody>
          <a:bodyPr/>
          <a:lstStyle/>
          <a:p>
            <a:fld id="{3624AA66-5286-4A71-8DC1-D387DED69229}" type="slidenum">
              <a:rPr lang="en-US" smtClean="0"/>
              <a:t>67</a:t>
            </a:fld>
            <a:endParaRPr lang="en-US" dirty="0"/>
          </a:p>
        </p:txBody>
      </p:sp>
    </p:spTree>
    <p:extLst>
      <p:ext uri="{BB962C8B-B14F-4D97-AF65-F5344CB8AC3E}">
        <p14:creationId xmlns:p14="http://schemas.microsoft.com/office/powerpoint/2010/main" val="375802655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Per transaction calculated from daily numbers = energy units per day (7123.28) / transactions</a:t>
            </a:r>
            <a:r>
              <a:rPr lang="en-US" baseline="0" dirty="0"/>
              <a:t> per day (1.25 million)</a:t>
            </a:r>
            <a:endParaRPr lang="en-US" dirty="0"/>
          </a:p>
          <a:p>
            <a:r>
              <a:rPr lang="en-US" dirty="0"/>
              <a:t>1 Tera = 10^12</a:t>
            </a:r>
          </a:p>
        </p:txBody>
      </p:sp>
      <p:sp>
        <p:nvSpPr>
          <p:cNvPr id="4" name="Slide Number Placeholder 3"/>
          <p:cNvSpPr>
            <a:spLocks noGrp="1"/>
          </p:cNvSpPr>
          <p:nvPr>
            <p:ph type="sldNum" sz="quarter" idx="10"/>
          </p:nvPr>
        </p:nvSpPr>
        <p:spPr/>
        <p:txBody>
          <a:bodyPr/>
          <a:lstStyle/>
          <a:p>
            <a:fld id="{3624AA66-5286-4A71-8DC1-D387DED69229}" type="slidenum">
              <a:rPr lang="en-US" smtClean="0"/>
              <a:t>71</a:t>
            </a:fld>
            <a:endParaRPr lang="en-US" dirty="0"/>
          </a:p>
        </p:txBody>
      </p:sp>
    </p:spTree>
    <p:extLst>
      <p:ext uri="{BB962C8B-B14F-4D97-AF65-F5344CB8AC3E}">
        <p14:creationId xmlns:p14="http://schemas.microsoft.com/office/powerpoint/2010/main" val="222844817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https://ethereum.org/en/developers/docs/consensus-mechanisms/pos/ </a:t>
            </a:r>
          </a:p>
          <a:p>
            <a:pPr marL="0" marR="0" lvl="0" indent="0" algn="l" defTabSz="914377" rtl="0" eaLnBrk="1" fontAlgn="auto" latinLnBrk="0" hangingPunct="1">
              <a:lnSpc>
                <a:spcPct val="100000"/>
              </a:lnSpc>
              <a:spcBef>
                <a:spcPts val="0"/>
              </a:spcBef>
              <a:spcAft>
                <a:spcPts val="0"/>
              </a:spcAft>
              <a:buClrTx/>
              <a:buSzTx/>
              <a:buFontTx/>
              <a:buNone/>
              <a:tabLst/>
              <a:defRPr/>
            </a:pPr>
            <a:r>
              <a:rPr lang="en-US" sz="1200" dirty="0"/>
              <a:t>Institutional support (regulators, markets, investment funds) due to lower energy consumption and interest paid on staked ETH</a:t>
            </a:r>
          </a:p>
          <a:p>
            <a:endParaRPr lang="en-US" dirty="0"/>
          </a:p>
        </p:txBody>
      </p:sp>
      <p:sp>
        <p:nvSpPr>
          <p:cNvPr id="4" name="Slide Number Placeholder 3"/>
          <p:cNvSpPr>
            <a:spLocks noGrp="1"/>
          </p:cNvSpPr>
          <p:nvPr>
            <p:ph type="sldNum" sz="quarter" idx="10"/>
          </p:nvPr>
        </p:nvSpPr>
        <p:spPr/>
        <p:txBody>
          <a:bodyPr/>
          <a:lstStyle/>
          <a:p>
            <a:fld id="{3624AA66-5286-4A71-8DC1-D387DED69229}" type="slidenum">
              <a:rPr lang="en-US" smtClean="0"/>
              <a:t>72</a:t>
            </a:fld>
            <a:endParaRPr lang="en-US" dirty="0"/>
          </a:p>
        </p:txBody>
      </p:sp>
    </p:spTree>
    <p:extLst>
      <p:ext uri="{BB962C8B-B14F-4D97-AF65-F5344CB8AC3E}">
        <p14:creationId xmlns:p14="http://schemas.microsoft.com/office/powerpoint/2010/main" val="337236223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dirty="0"/>
              <a:t> </a:t>
            </a:r>
          </a:p>
          <a:p>
            <a:pPr marL="0" marR="0" lvl="0" indent="0" algn="l" defTabSz="914377" rtl="0" eaLnBrk="1" fontAlgn="auto" latinLnBrk="0" hangingPunct="1">
              <a:lnSpc>
                <a:spcPct val="100000"/>
              </a:lnSpc>
              <a:spcBef>
                <a:spcPts val="0"/>
              </a:spcBef>
              <a:spcAft>
                <a:spcPts val="0"/>
              </a:spcAft>
              <a:buClrTx/>
              <a:buSzTx/>
              <a:buFontTx/>
              <a:buNone/>
              <a:tabLst/>
              <a:defRPr/>
            </a:pPr>
            <a:r>
              <a:rPr lang="en-US" sz="1200" dirty="0"/>
              <a:t>A </a:t>
            </a:r>
            <a:r>
              <a:rPr lang="en-US" sz="1200" dirty="0" err="1"/>
              <a:t>PoS</a:t>
            </a:r>
            <a:r>
              <a:rPr lang="en-US" sz="1200" dirty="0"/>
              <a:t> system is kept secure by the fact that 51% of the total staked ETH is needed to defraud the chain, and that the stake is slashed for malicious behavior</a:t>
            </a:r>
          </a:p>
          <a:p>
            <a:pPr marL="0" marR="0" lvl="0" indent="0" algn="l" defTabSz="914377"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377"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 validator's record is </a:t>
            </a:r>
            <a:r>
              <a:rPr lang="en-US" sz="1200" b="0" i="0" u="none" strike="noStrike" kern="1200" dirty="0">
                <a:solidFill>
                  <a:schemeClr val="tx1"/>
                </a:solidFill>
                <a:effectLst/>
                <a:latin typeface="+mn-lt"/>
                <a:ea typeface="+mn-ea"/>
                <a:cs typeface="+mn-cs"/>
                <a:hlinkClick r:id="rId3"/>
              </a:rPr>
              <a:t>created</a:t>
            </a:r>
            <a:r>
              <a:rPr lang="en-US" sz="1200" b="0" i="0" kern="1200" dirty="0">
                <a:solidFill>
                  <a:schemeClr val="tx1"/>
                </a:solidFill>
                <a:effectLst/>
                <a:latin typeface="+mn-lt"/>
                <a:ea typeface="+mn-ea"/>
                <a:cs typeface="+mn-cs"/>
              </a:rPr>
              <a:t> when its deposit is first processed. Sending multiple deposits does not create multiple validator records: deposits with the same public key are aggregated in one record. Validator records never expire; they are stored permanently, even after the validator has exited the system.</a:t>
            </a:r>
            <a:endParaRPr lang="en-US" sz="1200" dirty="0"/>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If someone has more than 51% staked Ether</a:t>
            </a:r>
            <a:r>
              <a:rPr lang="en-US" sz="1200" b="0" i="0" kern="1200" baseline="0" dirty="0">
                <a:solidFill>
                  <a:schemeClr val="tx1"/>
                </a:solidFill>
                <a:effectLst/>
                <a:latin typeface="+mn-lt"/>
                <a:ea typeface="+mn-ea"/>
                <a:cs typeface="+mn-cs"/>
              </a:rPr>
              <a:t> then more than 50% blocks will be created by them. But if such an entity is dishonest then its stake will be slashed thus reducing its stake and if it continues malicious behavior the stake can be slashed further below 50% </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Validators are responsible for the same thing as miners in </a:t>
            </a:r>
            <a:r>
              <a:rPr lang="en-US" sz="1200" b="0" i="0" u="sng" kern="1200" dirty="0">
                <a:solidFill>
                  <a:schemeClr val="tx1"/>
                </a:solidFill>
                <a:effectLst/>
                <a:latin typeface="+mn-lt"/>
                <a:ea typeface="+mn-ea"/>
                <a:cs typeface="+mn-cs"/>
                <a:hlinkClick r:id="rId4"/>
              </a:rPr>
              <a:t>proof-of-work</a:t>
            </a:r>
            <a:r>
              <a:rPr lang="en-US" sz="1200" b="0" i="0" kern="1200" dirty="0">
                <a:solidFill>
                  <a:schemeClr val="tx1"/>
                </a:solidFill>
                <a:effectLst/>
                <a:latin typeface="+mn-lt"/>
                <a:ea typeface="+mn-ea"/>
                <a:cs typeface="+mn-cs"/>
              </a:rPr>
              <a:t>: ordering transactions and creating new blocks so that all nodes can agree on the state of the network</a:t>
            </a:r>
            <a:endParaRPr lang="en-US" dirty="0"/>
          </a:p>
        </p:txBody>
      </p:sp>
      <p:sp>
        <p:nvSpPr>
          <p:cNvPr id="4" name="Slide Number Placeholder 3"/>
          <p:cNvSpPr>
            <a:spLocks noGrp="1"/>
          </p:cNvSpPr>
          <p:nvPr>
            <p:ph type="sldNum" sz="quarter" idx="10"/>
          </p:nvPr>
        </p:nvSpPr>
        <p:spPr/>
        <p:txBody>
          <a:bodyPr/>
          <a:lstStyle/>
          <a:p>
            <a:fld id="{3624AA66-5286-4A71-8DC1-D387DED69229}" type="slidenum">
              <a:rPr lang="en-US" smtClean="0"/>
              <a:t>73</a:t>
            </a:fld>
            <a:endParaRPr lang="en-US" dirty="0"/>
          </a:p>
        </p:txBody>
      </p:sp>
    </p:spTree>
    <p:extLst>
      <p:ext uri="{BB962C8B-B14F-4D97-AF65-F5344CB8AC3E}">
        <p14:creationId xmlns:p14="http://schemas.microsoft.com/office/powerpoint/2010/main" val="246084541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Network</a:t>
            </a:r>
            <a:r>
              <a:rPr lang="en-US" baseline="0" dirty="0"/>
              <a:t> is not any separate entity.. There are protocols and verifiable ways in which all the system entities are operating so collectively we call them network.. For example, pseudorandom numbers are generated in verifiable ways using RANDAO, rewards are given and verified, slashing occurs etc.. </a:t>
            </a:r>
            <a:endParaRPr lang="en-US" dirty="0"/>
          </a:p>
        </p:txBody>
      </p:sp>
      <p:sp>
        <p:nvSpPr>
          <p:cNvPr id="4" name="Slide Number Placeholder 3"/>
          <p:cNvSpPr>
            <a:spLocks noGrp="1"/>
          </p:cNvSpPr>
          <p:nvPr>
            <p:ph type="sldNum" sz="quarter" idx="10"/>
          </p:nvPr>
        </p:nvSpPr>
        <p:spPr/>
        <p:txBody>
          <a:bodyPr/>
          <a:lstStyle/>
          <a:p>
            <a:fld id="{3624AA66-5286-4A71-8DC1-D387DED69229}" type="slidenum">
              <a:rPr lang="en-US" smtClean="0"/>
              <a:t>74</a:t>
            </a:fld>
            <a:endParaRPr lang="en-US" dirty="0"/>
          </a:p>
        </p:txBody>
      </p:sp>
    </p:spTree>
    <p:extLst>
      <p:ext uri="{BB962C8B-B14F-4D97-AF65-F5344CB8AC3E}">
        <p14:creationId xmlns:p14="http://schemas.microsoft.com/office/powerpoint/2010/main" val="162446726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C9AE28-5153-4CA5-B96B-FF1564D78CE0}" type="slidenum">
              <a:rPr lang="en-US" smtClean="0"/>
              <a:t>77</a:t>
            </a:fld>
            <a:endParaRPr lang="en-US"/>
          </a:p>
        </p:txBody>
      </p:sp>
    </p:spTree>
    <p:extLst>
      <p:ext uri="{BB962C8B-B14F-4D97-AF65-F5344CB8AC3E}">
        <p14:creationId xmlns:p14="http://schemas.microsoft.com/office/powerpoint/2010/main" val="363670616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https://www.quicknode.com/guides/ethereum-development/transactions/ethereum-transaction-calldata </a:t>
            </a:r>
          </a:p>
        </p:txBody>
      </p:sp>
      <p:sp>
        <p:nvSpPr>
          <p:cNvPr id="4" name="Slide Number Placeholder 3"/>
          <p:cNvSpPr>
            <a:spLocks noGrp="1"/>
          </p:cNvSpPr>
          <p:nvPr>
            <p:ph type="sldNum" sz="quarter" idx="5"/>
          </p:nvPr>
        </p:nvSpPr>
        <p:spPr/>
        <p:txBody>
          <a:bodyPr/>
          <a:lstStyle/>
          <a:p>
            <a:fld id="{20C9AE28-5153-4CA5-B96B-FF1564D78CE0}" type="slidenum">
              <a:rPr lang="en-US" smtClean="0"/>
              <a:t>80</a:t>
            </a:fld>
            <a:endParaRPr lang="en-US"/>
          </a:p>
        </p:txBody>
      </p:sp>
    </p:spTree>
    <p:extLst>
      <p:ext uri="{BB962C8B-B14F-4D97-AF65-F5344CB8AC3E}">
        <p14:creationId xmlns:p14="http://schemas.microsoft.com/office/powerpoint/2010/main" val="132526458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Processing of transactions in Nitro. The sequencer establishes an ordering on transactions and publishes the order as a real-time feed and as compressed data batches on the L1 chain. Sequenced transactions are processed one at a time by a deterministic state transition function, which updates the chain state and produces L2 blocks. These blocks are later settled to the L1 chain. </a:t>
            </a:r>
          </a:p>
          <a:p>
            <a:pPr marL="342900" indent="-342900">
              <a:buFont typeface="Arial" panose="020B0604020202020204" pitchFamily="34" charset="0"/>
              <a:buChar char="•"/>
            </a:pPr>
            <a:r>
              <a:rPr lang="en-US" sz="1200" dirty="0">
                <a:solidFill>
                  <a:srgbClr val="7030A0"/>
                </a:solidFill>
                <a:latin typeface="Candara" panose="020E0502030303020204" pitchFamily="34" charset="0"/>
              </a:rPr>
              <a:t>Transactions are executed off-chain </a:t>
            </a:r>
          </a:p>
          <a:p>
            <a:pPr marL="342900" indent="-342900">
              <a:buFont typeface="Arial" panose="020B0604020202020204" pitchFamily="34" charset="0"/>
              <a:buChar char="•"/>
            </a:pPr>
            <a:r>
              <a:rPr lang="en-US" sz="1200" dirty="0">
                <a:solidFill>
                  <a:srgbClr val="7030A0"/>
                </a:solidFill>
                <a:latin typeface="Candara" panose="020E0502030303020204" pitchFamily="34" charset="0"/>
              </a:rPr>
              <a:t>Computation and state storage is moved off-chain</a:t>
            </a:r>
          </a:p>
          <a:p>
            <a:endParaRPr lang="en-US" dirty="0"/>
          </a:p>
        </p:txBody>
      </p:sp>
      <p:sp>
        <p:nvSpPr>
          <p:cNvPr id="4" name="Slide Number Placeholder 3"/>
          <p:cNvSpPr>
            <a:spLocks noGrp="1"/>
          </p:cNvSpPr>
          <p:nvPr>
            <p:ph type="sldNum" sz="quarter" idx="5"/>
          </p:nvPr>
        </p:nvSpPr>
        <p:spPr/>
        <p:txBody>
          <a:bodyPr/>
          <a:lstStyle/>
          <a:p>
            <a:fld id="{20C9AE28-5153-4CA5-B96B-FF1564D78CE0}" type="slidenum">
              <a:rPr lang="en-US" smtClean="0"/>
              <a:t>81</a:t>
            </a:fld>
            <a:endParaRPr lang="en-US"/>
          </a:p>
        </p:txBody>
      </p:sp>
    </p:spTree>
    <p:extLst>
      <p:ext uri="{BB962C8B-B14F-4D97-AF65-F5344CB8AC3E}">
        <p14:creationId xmlns:p14="http://schemas.microsoft.com/office/powerpoint/2010/main" val="329126876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https://www.mdpi.com/1999-5903/16/9/315 </a:t>
            </a:r>
          </a:p>
        </p:txBody>
      </p:sp>
      <p:sp>
        <p:nvSpPr>
          <p:cNvPr id="4" name="Slide Number Placeholder 3"/>
          <p:cNvSpPr>
            <a:spLocks noGrp="1"/>
          </p:cNvSpPr>
          <p:nvPr>
            <p:ph type="sldNum" sz="quarter" idx="5"/>
          </p:nvPr>
        </p:nvSpPr>
        <p:spPr/>
        <p:txBody>
          <a:bodyPr/>
          <a:lstStyle/>
          <a:p>
            <a:fld id="{20C9AE28-5153-4CA5-B96B-FF1564D78CE0}" type="slidenum">
              <a:rPr lang="en-US" smtClean="0"/>
              <a:t>82</a:t>
            </a:fld>
            <a:endParaRPr lang="en-US"/>
          </a:p>
        </p:txBody>
      </p:sp>
    </p:spTree>
    <p:extLst>
      <p:ext uri="{BB962C8B-B14F-4D97-AF65-F5344CB8AC3E}">
        <p14:creationId xmlns:p14="http://schemas.microsoft.com/office/powerpoint/2010/main" val="174254450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https://www.mdpi.com/1999-5903/16/9/315 </a:t>
            </a:r>
          </a:p>
        </p:txBody>
      </p:sp>
      <p:sp>
        <p:nvSpPr>
          <p:cNvPr id="4" name="Slide Number Placeholder 3"/>
          <p:cNvSpPr>
            <a:spLocks noGrp="1"/>
          </p:cNvSpPr>
          <p:nvPr>
            <p:ph type="sldNum" sz="quarter" idx="5"/>
          </p:nvPr>
        </p:nvSpPr>
        <p:spPr/>
        <p:txBody>
          <a:bodyPr/>
          <a:lstStyle/>
          <a:p>
            <a:fld id="{20C9AE28-5153-4CA5-B96B-FF1564D78CE0}" type="slidenum">
              <a:rPr lang="en-US" smtClean="0"/>
              <a:t>83</a:t>
            </a:fld>
            <a:endParaRPr lang="en-US"/>
          </a:p>
        </p:txBody>
      </p:sp>
    </p:spTree>
    <p:extLst>
      <p:ext uri="{BB962C8B-B14F-4D97-AF65-F5344CB8AC3E}">
        <p14:creationId xmlns:p14="http://schemas.microsoft.com/office/powerpoint/2010/main" val="235581600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CDDB5-EA24-A314-51B7-49ACE9416F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C68F2E-3B59-2EB1-AF59-8A2E51481CB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746137E-D8DE-2206-7843-ED7B141F7938}"/>
              </a:ext>
            </a:extLst>
          </p:cNvPr>
          <p:cNvSpPr>
            <a:spLocks noGrp="1"/>
          </p:cNvSpPr>
          <p:nvPr>
            <p:ph type="body" idx="1"/>
          </p:nvPr>
        </p:nvSpPr>
        <p:spPr/>
        <p:txBody>
          <a:bodyPr/>
          <a:lstStyle/>
          <a:p>
            <a:r>
              <a:rPr lang="en-US" dirty="0"/>
              <a:t>Data blobs is a new concept in Ethereum and implemented in 2024. Previously, the </a:t>
            </a:r>
            <a:r>
              <a:rPr lang="en-US" dirty="0" err="1"/>
              <a:t>arbitrum</a:t>
            </a:r>
            <a:r>
              <a:rPr lang="en-US" dirty="0"/>
              <a:t> used transaction </a:t>
            </a:r>
            <a:r>
              <a:rPr lang="en-US" dirty="0" err="1"/>
              <a:t>calldata</a:t>
            </a:r>
            <a:r>
              <a:rPr lang="en-US" dirty="0"/>
              <a:t> field to post raw data but this was expensive so in 2024, Ethereum upgraded to a new transaction type called type 3 or EIP-4844. The size of this transaction is limited to 128 kB and costs less and exclusively included for the rollups to make them cheap. This is a special transaction as it is not executed and is just included to include raw data from the layer 2 to Ethereum to make data available. The blob data is then pruned after 28 days to avoid blockchain growing exponentially. So the blob data is discarded (this data is no longer immutable on Ethereum), but the transaction and other fields are always permanently stored in the block. So this is called </a:t>
            </a:r>
            <a:r>
              <a:rPr lang="en-US" dirty="0" err="1"/>
              <a:t>danksharding</a:t>
            </a:r>
            <a:r>
              <a:rPr lang="en-US" dirty="0"/>
              <a:t> and allows data availability and then due to subsequent discarding the raw data avoids exponential blockchain growth.. So with the implementation of this idea, Ethereum is not keen on implementing sharding where they were supposed to divided Ethereum into 64 mini blockchains or shards because even with 64 shards the growth would have been exponential and storing the full blockchain would become impossible as its size would have grown too much.. So data pruning in blobs is their way forward.. </a:t>
            </a:r>
          </a:p>
        </p:txBody>
      </p:sp>
      <p:sp>
        <p:nvSpPr>
          <p:cNvPr id="4" name="Slide Number Placeholder 3">
            <a:extLst>
              <a:ext uri="{FF2B5EF4-FFF2-40B4-BE49-F238E27FC236}">
                <a16:creationId xmlns:a16="http://schemas.microsoft.com/office/drawing/2014/main" id="{6D0CA79E-4309-CD7A-5B15-CA2F8808CE59}"/>
              </a:ext>
            </a:extLst>
          </p:cNvPr>
          <p:cNvSpPr>
            <a:spLocks noGrp="1"/>
          </p:cNvSpPr>
          <p:nvPr>
            <p:ph type="sldNum" sz="quarter" idx="5"/>
          </p:nvPr>
        </p:nvSpPr>
        <p:spPr/>
        <p:txBody>
          <a:bodyPr/>
          <a:lstStyle/>
          <a:p>
            <a:fld id="{20C9AE28-5153-4CA5-B96B-FF1564D78CE0}" type="slidenum">
              <a:rPr lang="en-US" smtClean="0"/>
              <a:t>84</a:t>
            </a:fld>
            <a:endParaRPr lang="en-US"/>
          </a:p>
        </p:txBody>
      </p:sp>
    </p:spTree>
    <p:extLst>
      <p:ext uri="{BB962C8B-B14F-4D97-AF65-F5344CB8AC3E}">
        <p14:creationId xmlns:p14="http://schemas.microsoft.com/office/powerpoint/2010/main" val="67176251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51688-ABAE-21A2-C1A5-6D58AF658E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C66A83-B2D6-ECD4-B5A0-8374A7DE87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DA23C6-436B-9535-8A92-F05CEDD3AECC}"/>
              </a:ext>
            </a:extLst>
          </p:cNvPr>
          <p:cNvSpPr>
            <a:spLocks noGrp="1"/>
          </p:cNvSpPr>
          <p:nvPr>
            <p:ph type="body" idx="1"/>
          </p:nvPr>
        </p:nvSpPr>
        <p:spPr/>
        <p:txBody>
          <a:bodyPr/>
          <a:lstStyle/>
          <a:p>
            <a:r>
              <a:rPr lang="en-US" dirty="0"/>
              <a:t>https://eips.ethereum.org/EIPS/eip-4844 </a:t>
            </a:r>
          </a:p>
        </p:txBody>
      </p:sp>
      <p:sp>
        <p:nvSpPr>
          <p:cNvPr id="4" name="Slide Number Placeholder 3">
            <a:extLst>
              <a:ext uri="{FF2B5EF4-FFF2-40B4-BE49-F238E27FC236}">
                <a16:creationId xmlns:a16="http://schemas.microsoft.com/office/drawing/2014/main" id="{4112C8A5-A4F6-D6E1-32D7-2F5E852F199C}"/>
              </a:ext>
            </a:extLst>
          </p:cNvPr>
          <p:cNvSpPr>
            <a:spLocks noGrp="1"/>
          </p:cNvSpPr>
          <p:nvPr>
            <p:ph type="sldNum" sz="quarter" idx="5"/>
          </p:nvPr>
        </p:nvSpPr>
        <p:spPr/>
        <p:txBody>
          <a:bodyPr/>
          <a:lstStyle/>
          <a:p>
            <a:fld id="{20C9AE28-5153-4CA5-B96B-FF1564D78CE0}" type="slidenum">
              <a:rPr lang="en-US" smtClean="0"/>
              <a:t>86</a:t>
            </a:fld>
            <a:endParaRPr lang="en-US"/>
          </a:p>
        </p:txBody>
      </p:sp>
    </p:spTree>
    <p:extLst>
      <p:ext uri="{BB962C8B-B14F-4D97-AF65-F5344CB8AC3E}">
        <p14:creationId xmlns:p14="http://schemas.microsoft.com/office/powerpoint/2010/main" val="224085827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https://blobscan.com/tx/0x2a0353844c354ead92379cd6b63b2594634ed86239e10f43fb83963de22a6067 </a:t>
            </a:r>
          </a:p>
        </p:txBody>
      </p:sp>
      <p:sp>
        <p:nvSpPr>
          <p:cNvPr id="4" name="Slide Number Placeholder 3"/>
          <p:cNvSpPr>
            <a:spLocks noGrp="1"/>
          </p:cNvSpPr>
          <p:nvPr>
            <p:ph type="sldNum" sz="quarter" idx="5"/>
          </p:nvPr>
        </p:nvSpPr>
        <p:spPr/>
        <p:txBody>
          <a:bodyPr/>
          <a:lstStyle/>
          <a:p>
            <a:fld id="{20C9AE28-5153-4CA5-B96B-FF1564D78CE0}" type="slidenum">
              <a:rPr lang="en-US" smtClean="0"/>
              <a:t>88</a:t>
            </a:fld>
            <a:endParaRPr lang="en-US"/>
          </a:p>
        </p:txBody>
      </p:sp>
    </p:spTree>
    <p:extLst>
      <p:ext uri="{BB962C8B-B14F-4D97-AF65-F5344CB8AC3E}">
        <p14:creationId xmlns:p14="http://schemas.microsoft.com/office/powerpoint/2010/main" val="347941821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https://eips.ethereum.org/EIPS/eip-4844 </a:t>
            </a:r>
          </a:p>
        </p:txBody>
      </p:sp>
      <p:sp>
        <p:nvSpPr>
          <p:cNvPr id="4" name="Slide Number Placeholder 3"/>
          <p:cNvSpPr>
            <a:spLocks noGrp="1"/>
          </p:cNvSpPr>
          <p:nvPr>
            <p:ph type="sldNum" sz="quarter" idx="5"/>
          </p:nvPr>
        </p:nvSpPr>
        <p:spPr/>
        <p:txBody>
          <a:bodyPr/>
          <a:lstStyle/>
          <a:p>
            <a:fld id="{20C9AE28-5153-4CA5-B96B-FF1564D78CE0}" type="slidenum">
              <a:rPr lang="en-US" smtClean="0"/>
              <a:t>89</a:t>
            </a:fld>
            <a:endParaRPr lang="en-US"/>
          </a:p>
        </p:txBody>
      </p:sp>
    </p:spTree>
    <p:extLst>
      <p:ext uri="{BB962C8B-B14F-4D97-AF65-F5344CB8AC3E}">
        <p14:creationId xmlns:p14="http://schemas.microsoft.com/office/powerpoint/2010/main" val="365993681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solidFill>
                  <a:srgbClr val="FF0000"/>
                </a:solidFill>
              </a:rPr>
              <a:t>Oracles also post the queried data on the blockchain in the form of transactions. Why?</a:t>
            </a:r>
          </a:p>
          <a:p>
            <a:pPr marL="285750" indent="-285750">
              <a:buFont typeface="Arial" panose="020B0604020202020204" pitchFamily="34" charset="0"/>
              <a:buChar char="•"/>
            </a:pPr>
            <a:r>
              <a:rPr lang="en-US" dirty="0"/>
              <a:t>Blockchain is deterministic and therefore nodes at any point in time can validate the transaction using the stored data feed transaction </a:t>
            </a:r>
          </a:p>
          <a:p>
            <a:endParaRPr lang="en-US" dirty="0"/>
          </a:p>
        </p:txBody>
      </p:sp>
      <p:sp>
        <p:nvSpPr>
          <p:cNvPr id="4" name="Slide Number Placeholder 3"/>
          <p:cNvSpPr>
            <a:spLocks noGrp="1"/>
          </p:cNvSpPr>
          <p:nvPr>
            <p:ph type="sldNum" sz="quarter" idx="10"/>
          </p:nvPr>
        </p:nvSpPr>
        <p:spPr/>
        <p:txBody>
          <a:bodyPr/>
          <a:lstStyle/>
          <a:p>
            <a:fld id="{3624AA66-5286-4A71-8DC1-D387DED69229}" type="slidenum">
              <a:rPr lang="en-US" smtClean="0"/>
              <a:t>96</a:t>
            </a:fld>
            <a:endParaRPr lang="en-US" dirty="0"/>
          </a:p>
        </p:txBody>
      </p:sp>
    </p:spTree>
    <p:extLst>
      <p:ext uri="{BB962C8B-B14F-4D97-AF65-F5344CB8AC3E}">
        <p14:creationId xmlns:p14="http://schemas.microsoft.com/office/powerpoint/2010/main" val="232480210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418CC-0E8B-DE74-961E-15C084FAF4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4EB2B2-82B0-A45D-ECCF-4BC51D76F242}"/>
              </a:ext>
            </a:extLst>
          </p:cNvPr>
          <p:cNvSpPr>
            <a:spLocks noGrp="1" noRot="1" noChangeAspect="1"/>
          </p:cNvSpPr>
          <p:nvPr>
            <p:ph type="sldImg"/>
          </p:nvPr>
        </p:nvSpPr>
        <p:spPr>
          <a:xfrm>
            <a:off x="717550" y="1162050"/>
            <a:ext cx="5575300" cy="3136900"/>
          </a:xfrm>
        </p:spPr>
      </p:sp>
      <p:sp>
        <p:nvSpPr>
          <p:cNvPr id="3" name="Notes Placeholder 2">
            <a:extLst>
              <a:ext uri="{FF2B5EF4-FFF2-40B4-BE49-F238E27FC236}">
                <a16:creationId xmlns:a16="http://schemas.microsoft.com/office/drawing/2014/main" id="{C8CD0437-C942-9DE1-8E53-FF50199579A5}"/>
              </a:ext>
            </a:extLst>
          </p:cNvPr>
          <p:cNvSpPr>
            <a:spLocks noGrp="1"/>
          </p:cNvSpPr>
          <p:nvPr>
            <p:ph type="body" idx="1"/>
          </p:nvPr>
        </p:nvSpPr>
        <p:spPr/>
        <p:txBody>
          <a:bodyPr/>
          <a:lstStyle/>
          <a:p>
            <a:r>
              <a:rPr lang="en-US" dirty="0"/>
              <a:t>Automation: Bound by rules enforced through code</a:t>
            </a:r>
          </a:p>
          <a:p>
            <a:endParaRPr lang="en-US" dirty="0"/>
          </a:p>
          <a:p>
            <a:r>
              <a:rPr lang="en-US" dirty="0"/>
              <a:t>Composable: Different applications seamlessly work together</a:t>
            </a:r>
          </a:p>
          <a:p>
            <a:endParaRPr lang="en-US" dirty="0"/>
          </a:p>
          <a:p>
            <a:r>
              <a:rPr lang="en-US" dirty="0"/>
              <a:t>Efficiency: No settlement delays, no manual processing</a:t>
            </a:r>
          </a:p>
          <a:p>
            <a:endParaRPr lang="en-US" dirty="0"/>
          </a:p>
          <a:p>
            <a:r>
              <a:rPr lang="en-US" dirty="0"/>
              <a:t>Trust Minimization: </a:t>
            </a:r>
            <a:r>
              <a:rPr lang="en-US"/>
              <a:t>Reduces intermediaries</a:t>
            </a:r>
            <a:endParaRPr lang="en-US" dirty="0"/>
          </a:p>
          <a:p>
            <a:endParaRPr lang="en-US" dirty="0"/>
          </a:p>
        </p:txBody>
      </p:sp>
      <p:sp>
        <p:nvSpPr>
          <p:cNvPr id="4" name="Slide Number Placeholder 3">
            <a:extLst>
              <a:ext uri="{FF2B5EF4-FFF2-40B4-BE49-F238E27FC236}">
                <a16:creationId xmlns:a16="http://schemas.microsoft.com/office/drawing/2014/main" id="{99B718A9-8EFD-01F2-4C0C-053216C3CBE5}"/>
              </a:ext>
            </a:extLst>
          </p:cNvPr>
          <p:cNvSpPr>
            <a:spLocks noGrp="1"/>
          </p:cNvSpPr>
          <p:nvPr>
            <p:ph type="sldNum" sz="quarter" idx="5"/>
          </p:nvPr>
        </p:nvSpPr>
        <p:spPr/>
        <p:txBody>
          <a:bodyPr/>
          <a:lstStyle/>
          <a:p>
            <a:fld id="{3624AA66-5286-4A71-8DC1-D387DED69229}" type="slidenum">
              <a:rPr lang="en-US" smtClean="0"/>
              <a:t>99</a:t>
            </a:fld>
            <a:endParaRPr lang="en-US" dirty="0"/>
          </a:p>
        </p:txBody>
      </p:sp>
    </p:spTree>
    <p:extLst>
      <p:ext uri="{BB962C8B-B14F-4D97-AF65-F5344CB8AC3E}">
        <p14:creationId xmlns:p14="http://schemas.microsoft.com/office/powerpoint/2010/main" val="17077584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C7858-D394-1DF3-8548-66CE55288883}"/>
              </a:ext>
            </a:extLst>
          </p:cNvPr>
          <p:cNvSpPr>
            <a:spLocks noGrp="1"/>
          </p:cNvSpPr>
          <p:nvPr>
            <p:ph type="ctrTitle"/>
          </p:nvPr>
        </p:nvSpPr>
        <p:spPr>
          <a:xfrm>
            <a:off x="1524000" y="1894523"/>
            <a:ext cx="9144000" cy="2387600"/>
          </a:xfrm>
        </p:spPr>
        <p:txBody>
          <a:bodyPr anchor="b">
            <a:normAutofit/>
          </a:bodyPr>
          <a:lstStyle>
            <a:lvl1pPr algn="ctr">
              <a:defRPr sz="5400">
                <a:solidFill>
                  <a:srgbClr val="0432FF"/>
                </a:solidFill>
              </a:defRPr>
            </a:lvl1pPr>
          </a:lstStyle>
          <a:p>
            <a:r>
              <a:rPr lang="en-GB" dirty="0"/>
              <a:t>Click to edit Master title style</a:t>
            </a:r>
            <a:endParaRPr lang="en-PK" dirty="0"/>
          </a:p>
        </p:txBody>
      </p:sp>
      <p:sp>
        <p:nvSpPr>
          <p:cNvPr id="3" name="Subtitle 2">
            <a:extLst>
              <a:ext uri="{FF2B5EF4-FFF2-40B4-BE49-F238E27FC236}">
                <a16:creationId xmlns:a16="http://schemas.microsoft.com/office/drawing/2014/main" id="{0676C1A2-C823-594D-0305-E762FC21A848}"/>
              </a:ext>
            </a:extLst>
          </p:cNvPr>
          <p:cNvSpPr>
            <a:spLocks noGrp="1"/>
          </p:cNvSpPr>
          <p:nvPr>
            <p:ph type="subTitle" idx="1"/>
          </p:nvPr>
        </p:nvSpPr>
        <p:spPr>
          <a:xfrm>
            <a:off x="1524000" y="4561840"/>
            <a:ext cx="9144000" cy="158496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PK" dirty="0"/>
          </a:p>
        </p:txBody>
      </p:sp>
      <p:sp>
        <p:nvSpPr>
          <p:cNvPr id="4" name="Date Placeholder 3">
            <a:extLst>
              <a:ext uri="{FF2B5EF4-FFF2-40B4-BE49-F238E27FC236}">
                <a16:creationId xmlns:a16="http://schemas.microsoft.com/office/drawing/2014/main" id="{D21EADBC-FC3A-F6AB-47B4-2E47609F86F4}"/>
              </a:ext>
            </a:extLst>
          </p:cNvPr>
          <p:cNvSpPr>
            <a:spLocks noGrp="1"/>
          </p:cNvSpPr>
          <p:nvPr>
            <p:ph type="dt" sz="half" idx="10"/>
          </p:nvPr>
        </p:nvSpPr>
        <p:spPr/>
        <p:txBody>
          <a:bodyPr/>
          <a:lstStyle/>
          <a:p>
            <a:fld id="{C3849243-4112-7B47-A574-2D273E35D5BF}" type="datetime1">
              <a:rPr lang="en-US" smtClean="0"/>
              <a:t>4/28/2026</a:t>
            </a:fld>
            <a:endParaRPr lang="en-US" dirty="0"/>
          </a:p>
        </p:txBody>
      </p:sp>
      <p:sp>
        <p:nvSpPr>
          <p:cNvPr id="5" name="Footer Placeholder 4">
            <a:extLst>
              <a:ext uri="{FF2B5EF4-FFF2-40B4-BE49-F238E27FC236}">
                <a16:creationId xmlns:a16="http://schemas.microsoft.com/office/drawing/2014/main" id="{A40CD5FA-CF77-D285-681E-29E6811E87F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A101942-960C-299C-A498-C3ED2A47A96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13270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2BD9A-E09E-27C0-F440-9D83036CB997}"/>
              </a:ext>
            </a:extLst>
          </p:cNvPr>
          <p:cNvSpPr>
            <a:spLocks noGrp="1"/>
          </p:cNvSpPr>
          <p:nvPr>
            <p:ph type="title"/>
          </p:nvPr>
        </p:nvSpPr>
        <p:spPr>
          <a:xfrm>
            <a:off x="487680" y="101601"/>
            <a:ext cx="11186160" cy="985519"/>
          </a:xfrm>
        </p:spPr>
        <p:txBody>
          <a:bodyPr/>
          <a:lstStyle>
            <a:lvl1pPr>
              <a:defRPr>
                <a:solidFill>
                  <a:schemeClr val="tx1"/>
                </a:solidFill>
              </a:defRPr>
            </a:lvl1pPr>
          </a:lstStyle>
          <a:p>
            <a:r>
              <a:rPr lang="en-GB" dirty="0"/>
              <a:t>Click to edit Master title style</a:t>
            </a:r>
            <a:endParaRPr lang="en-PK" dirty="0"/>
          </a:p>
        </p:txBody>
      </p:sp>
      <p:sp>
        <p:nvSpPr>
          <p:cNvPr id="3" name="Content Placeholder 2">
            <a:extLst>
              <a:ext uri="{FF2B5EF4-FFF2-40B4-BE49-F238E27FC236}">
                <a16:creationId xmlns:a16="http://schemas.microsoft.com/office/drawing/2014/main" id="{5E8317A4-8BBD-54EB-8341-6A6B099145E6}"/>
              </a:ext>
            </a:extLst>
          </p:cNvPr>
          <p:cNvSpPr>
            <a:spLocks noGrp="1"/>
          </p:cNvSpPr>
          <p:nvPr>
            <p:ph idx="1"/>
          </p:nvPr>
        </p:nvSpPr>
        <p:spPr>
          <a:xfrm>
            <a:off x="487680" y="1097280"/>
            <a:ext cx="11186160" cy="5079683"/>
          </a:xfrm>
        </p:spPr>
        <p:txBody>
          <a:bodyPr>
            <a:normAutofit/>
          </a:bodyPr>
          <a:lstStyle>
            <a:lvl1pPr>
              <a:defRPr sz="3200"/>
            </a:lvl1pPr>
            <a:lvl2pPr marL="685800" indent="-228600">
              <a:buFont typeface="System Font Regular"/>
              <a:buChar char="−"/>
              <a:defRPr sz="2800"/>
            </a:lvl2pPr>
            <a:lvl3pPr marL="1143000" indent="-228600">
              <a:buFont typeface="Wingdings" pitchFamily="2" charset="2"/>
              <a:buChar char="§"/>
              <a:defRPr sz="2400"/>
            </a:lvl3pPr>
            <a:lvl4pPr>
              <a:defRPr sz="2000"/>
            </a:lvl4pPr>
            <a:lvl5pPr>
              <a:defRPr sz="20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PK" dirty="0"/>
          </a:p>
        </p:txBody>
      </p:sp>
      <p:sp>
        <p:nvSpPr>
          <p:cNvPr id="10" name="Date Placeholder 9">
            <a:extLst>
              <a:ext uri="{FF2B5EF4-FFF2-40B4-BE49-F238E27FC236}">
                <a16:creationId xmlns:a16="http://schemas.microsoft.com/office/drawing/2014/main" id="{5348C2E2-1287-A287-C5A8-249139348A29}"/>
              </a:ext>
            </a:extLst>
          </p:cNvPr>
          <p:cNvSpPr>
            <a:spLocks noGrp="1"/>
          </p:cNvSpPr>
          <p:nvPr>
            <p:ph type="dt" sz="half" idx="10"/>
          </p:nvPr>
        </p:nvSpPr>
        <p:spPr/>
        <p:txBody>
          <a:bodyPr/>
          <a:lstStyle/>
          <a:p>
            <a:fld id="{817CC187-CAD7-6048-8C63-99BBB8908136}" type="datetime1">
              <a:rPr lang="en-US" smtClean="0"/>
              <a:t>4/28/2026</a:t>
            </a:fld>
            <a:endParaRPr lang="en-US" dirty="0"/>
          </a:p>
        </p:txBody>
      </p:sp>
      <p:sp>
        <p:nvSpPr>
          <p:cNvPr id="11" name="Footer Placeholder 10">
            <a:extLst>
              <a:ext uri="{FF2B5EF4-FFF2-40B4-BE49-F238E27FC236}">
                <a16:creationId xmlns:a16="http://schemas.microsoft.com/office/drawing/2014/main" id="{1DC7CB26-524D-696E-CC83-507688F1F030}"/>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C5E6A54D-DC81-738E-1BEE-B237D69CCA8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23891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04648-4538-750C-7EE1-223668DCD0E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PK"/>
          </a:p>
        </p:txBody>
      </p:sp>
      <p:sp>
        <p:nvSpPr>
          <p:cNvPr id="3" name="Text Placeholder 2">
            <a:extLst>
              <a:ext uri="{FF2B5EF4-FFF2-40B4-BE49-F238E27FC236}">
                <a16:creationId xmlns:a16="http://schemas.microsoft.com/office/drawing/2014/main" id="{5600F2E1-ECAA-4DD2-425F-64F40CAD30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BE963A2-C90D-F927-6660-D043609CC6B9}"/>
              </a:ext>
            </a:extLst>
          </p:cNvPr>
          <p:cNvSpPr>
            <a:spLocks noGrp="1"/>
          </p:cNvSpPr>
          <p:nvPr>
            <p:ph type="dt" sz="half" idx="10"/>
          </p:nvPr>
        </p:nvSpPr>
        <p:spPr/>
        <p:txBody>
          <a:bodyPr/>
          <a:lstStyle/>
          <a:p>
            <a:fld id="{AB3EF2E6-6629-DA43-81BC-EC712F4B5466}" type="datetime1">
              <a:rPr lang="en-US" smtClean="0"/>
              <a:t>4/28/2026</a:t>
            </a:fld>
            <a:endParaRPr lang="en-US" dirty="0"/>
          </a:p>
        </p:txBody>
      </p:sp>
      <p:sp>
        <p:nvSpPr>
          <p:cNvPr id="5" name="Footer Placeholder 4">
            <a:extLst>
              <a:ext uri="{FF2B5EF4-FFF2-40B4-BE49-F238E27FC236}">
                <a16:creationId xmlns:a16="http://schemas.microsoft.com/office/drawing/2014/main" id="{38BFE049-0473-B4C2-1291-C73354AD41D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1731B0E-4E34-EAD8-A1D1-57CBD5CE222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67218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C6983-ACF4-D2FF-550D-7521D9C10608}"/>
              </a:ext>
            </a:extLst>
          </p:cNvPr>
          <p:cNvSpPr>
            <a:spLocks noGrp="1"/>
          </p:cNvSpPr>
          <p:nvPr>
            <p:ph type="title"/>
          </p:nvPr>
        </p:nvSpPr>
        <p:spPr/>
        <p:txBody>
          <a:bodyPr/>
          <a:lstStyle>
            <a:lvl1pPr>
              <a:defRPr baseline="0">
                <a:solidFill>
                  <a:schemeClr val="tx1"/>
                </a:solidFill>
              </a:defRPr>
            </a:lvl1pPr>
          </a:lstStyle>
          <a:p>
            <a:r>
              <a:rPr lang="en-GB" dirty="0"/>
              <a:t>Click to edit Master title style</a:t>
            </a:r>
            <a:endParaRPr lang="en-PK" dirty="0"/>
          </a:p>
        </p:txBody>
      </p:sp>
      <p:sp>
        <p:nvSpPr>
          <p:cNvPr id="3" name="Content Placeholder 2">
            <a:extLst>
              <a:ext uri="{FF2B5EF4-FFF2-40B4-BE49-F238E27FC236}">
                <a16:creationId xmlns:a16="http://schemas.microsoft.com/office/drawing/2014/main" id="{867760F6-F485-781B-D79F-C026B432F21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Content Placeholder 3">
            <a:extLst>
              <a:ext uri="{FF2B5EF4-FFF2-40B4-BE49-F238E27FC236}">
                <a16:creationId xmlns:a16="http://schemas.microsoft.com/office/drawing/2014/main" id="{0C0A9B31-1608-966B-6FF9-D180F6BA70E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5" name="Date Placeholder 4">
            <a:extLst>
              <a:ext uri="{FF2B5EF4-FFF2-40B4-BE49-F238E27FC236}">
                <a16:creationId xmlns:a16="http://schemas.microsoft.com/office/drawing/2014/main" id="{AE4E9F2A-B43F-F0D4-3F76-27FB4DE7B7DA}"/>
              </a:ext>
            </a:extLst>
          </p:cNvPr>
          <p:cNvSpPr>
            <a:spLocks noGrp="1"/>
          </p:cNvSpPr>
          <p:nvPr>
            <p:ph type="dt" sz="half" idx="10"/>
          </p:nvPr>
        </p:nvSpPr>
        <p:spPr/>
        <p:txBody>
          <a:bodyPr/>
          <a:lstStyle/>
          <a:p>
            <a:fld id="{36F14FDE-C188-ED4A-8904-90C7377CA55E}" type="datetime1">
              <a:rPr lang="en-US" smtClean="0"/>
              <a:t>4/28/2026</a:t>
            </a:fld>
            <a:endParaRPr lang="en-US" dirty="0"/>
          </a:p>
        </p:txBody>
      </p:sp>
      <p:sp>
        <p:nvSpPr>
          <p:cNvPr id="6" name="Footer Placeholder 5">
            <a:extLst>
              <a:ext uri="{FF2B5EF4-FFF2-40B4-BE49-F238E27FC236}">
                <a16:creationId xmlns:a16="http://schemas.microsoft.com/office/drawing/2014/main" id="{8C05907C-697C-ED08-3F75-E31B2EE3DBD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CAA1F3D-78B2-4FF0-F5DB-76EFAA2F7941}"/>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026518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5B2D-0C64-FBAF-5593-D97CF801A3C1}"/>
              </a:ext>
            </a:extLst>
          </p:cNvPr>
          <p:cNvSpPr>
            <a:spLocks noGrp="1"/>
          </p:cNvSpPr>
          <p:nvPr>
            <p:ph type="title"/>
          </p:nvPr>
        </p:nvSpPr>
        <p:spPr>
          <a:xfrm>
            <a:off x="839788" y="365125"/>
            <a:ext cx="10515600" cy="1325563"/>
          </a:xfrm>
        </p:spPr>
        <p:txBody>
          <a:bodyPr/>
          <a:lstStyle/>
          <a:p>
            <a:r>
              <a:rPr lang="en-GB"/>
              <a:t>Click to edit Master title style</a:t>
            </a:r>
            <a:endParaRPr lang="en-PK"/>
          </a:p>
        </p:txBody>
      </p:sp>
      <p:sp>
        <p:nvSpPr>
          <p:cNvPr id="3" name="Text Placeholder 2">
            <a:extLst>
              <a:ext uri="{FF2B5EF4-FFF2-40B4-BE49-F238E27FC236}">
                <a16:creationId xmlns:a16="http://schemas.microsoft.com/office/drawing/2014/main" id="{F451EA66-FAC3-3698-6220-1A94F8A428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BCA302E-0245-F0D0-D052-B1D8D82B27C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5" name="Text Placeholder 4">
            <a:extLst>
              <a:ext uri="{FF2B5EF4-FFF2-40B4-BE49-F238E27FC236}">
                <a16:creationId xmlns:a16="http://schemas.microsoft.com/office/drawing/2014/main" id="{15CA6952-B46D-38B4-F728-B77FC99602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0D0A727-B6BA-1E0C-A4A4-CEAA10F30FC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7" name="Date Placeholder 6">
            <a:extLst>
              <a:ext uri="{FF2B5EF4-FFF2-40B4-BE49-F238E27FC236}">
                <a16:creationId xmlns:a16="http://schemas.microsoft.com/office/drawing/2014/main" id="{6297075C-8C1E-2AE7-1628-AE106A293753}"/>
              </a:ext>
            </a:extLst>
          </p:cNvPr>
          <p:cNvSpPr>
            <a:spLocks noGrp="1"/>
          </p:cNvSpPr>
          <p:nvPr>
            <p:ph type="dt" sz="half" idx="10"/>
          </p:nvPr>
        </p:nvSpPr>
        <p:spPr/>
        <p:txBody>
          <a:bodyPr/>
          <a:lstStyle/>
          <a:p>
            <a:fld id="{731959A2-FD1F-D047-9B71-2099CD96FB05}" type="datetime1">
              <a:rPr lang="en-US" smtClean="0"/>
              <a:t>4/28/2026</a:t>
            </a:fld>
            <a:endParaRPr lang="en-US" dirty="0"/>
          </a:p>
        </p:txBody>
      </p:sp>
      <p:sp>
        <p:nvSpPr>
          <p:cNvPr id="8" name="Footer Placeholder 7">
            <a:extLst>
              <a:ext uri="{FF2B5EF4-FFF2-40B4-BE49-F238E27FC236}">
                <a16:creationId xmlns:a16="http://schemas.microsoft.com/office/drawing/2014/main" id="{B32270EF-DDC8-5339-C583-77D74079374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880C3B1F-1426-32FD-9474-94C0B22380C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343528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D32E3-B42B-8881-ECBD-DD87B0837FE7}"/>
              </a:ext>
            </a:extLst>
          </p:cNvPr>
          <p:cNvSpPr>
            <a:spLocks noGrp="1"/>
          </p:cNvSpPr>
          <p:nvPr>
            <p:ph type="title"/>
          </p:nvPr>
        </p:nvSpPr>
        <p:spPr/>
        <p:txBody>
          <a:bodyPr/>
          <a:lstStyle>
            <a:lvl1pPr>
              <a:defRPr>
                <a:solidFill>
                  <a:schemeClr val="tx1"/>
                </a:solidFill>
              </a:defRPr>
            </a:lvl1pPr>
          </a:lstStyle>
          <a:p>
            <a:r>
              <a:rPr lang="en-GB" dirty="0"/>
              <a:t>Click to edit Master title style</a:t>
            </a:r>
            <a:endParaRPr lang="en-PK" dirty="0"/>
          </a:p>
        </p:txBody>
      </p:sp>
      <p:sp>
        <p:nvSpPr>
          <p:cNvPr id="3" name="Date Placeholder 2">
            <a:extLst>
              <a:ext uri="{FF2B5EF4-FFF2-40B4-BE49-F238E27FC236}">
                <a16:creationId xmlns:a16="http://schemas.microsoft.com/office/drawing/2014/main" id="{02BCC8C1-CDF5-4584-D4F9-21C17A750A43}"/>
              </a:ext>
            </a:extLst>
          </p:cNvPr>
          <p:cNvSpPr>
            <a:spLocks noGrp="1"/>
          </p:cNvSpPr>
          <p:nvPr>
            <p:ph type="dt" sz="half" idx="10"/>
          </p:nvPr>
        </p:nvSpPr>
        <p:spPr/>
        <p:txBody>
          <a:bodyPr/>
          <a:lstStyle/>
          <a:p>
            <a:fld id="{1A5421AD-14B7-AB4F-B42E-6335F98BEAFF}" type="datetime1">
              <a:rPr lang="en-US" smtClean="0"/>
              <a:t>4/28/2026</a:t>
            </a:fld>
            <a:endParaRPr lang="en-US" dirty="0"/>
          </a:p>
        </p:txBody>
      </p:sp>
      <p:sp>
        <p:nvSpPr>
          <p:cNvPr id="4" name="Footer Placeholder 3">
            <a:extLst>
              <a:ext uri="{FF2B5EF4-FFF2-40B4-BE49-F238E27FC236}">
                <a16:creationId xmlns:a16="http://schemas.microsoft.com/office/drawing/2014/main" id="{5CC88A07-7922-BC79-0A35-EFFA19918CE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CF73C74-5D1C-ADB6-FF80-7000D00307DC}"/>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35407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5375D4-3AF6-A58E-051F-58D7D1235B76}"/>
              </a:ext>
            </a:extLst>
          </p:cNvPr>
          <p:cNvSpPr>
            <a:spLocks noGrp="1"/>
          </p:cNvSpPr>
          <p:nvPr>
            <p:ph type="dt" sz="half" idx="10"/>
          </p:nvPr>
        </p:nvSpPr>
        <p:spPr/>
        <p:txBody>
          <a:bodyPr/>
          <a:lstStyle/>
          <a:p>
            <a:fld id="{AF87A72A-0C74-6E44-A7EE-CA74955F1256}" type="datetime1">
              <a:rPr lang="en-US" smtClean="0"/>
              <a:t>4/28/2026</a:t>
            </a:fld>
            <a:endParaRPr lang="en-US" dirty="0"/>
          </a:p>
        </p:txBody>
      </p:sp>
      <p:sp>
        <p:nvSpPr>
          <p:cNvPr id="3" name="Footer Placeholder 2">
            <a:extLst>
              <a:ext uri="{FF2B5EF4-FFF2-40B4-BE49-F238E27FC236}">
                <a16:creationId xmlns:a16="http://schemas.microsoft.com/office/drawing/2014/main" id="{5F7B3ECF-6748-2655-F77F-E8CA4016310D}"/>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5F60ABE-8C6A-9352-A215-6EBF86F837B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96809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A5DAC-4002-01D9-6457-D37C5DF97F8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K"/>
          </a:p>
        </p:txBody>
      </p:sp>
      <p:sp>
        <p:nvSpPr>
          <p:cNvPr id="3" name="Content Placeholder 2">
            <a:extLst>
              <a:ext uri="{FF2B5EF4-FFF2-40B4-BE49-F238E27FC236}">
                <a16:creationId xmlns:a16="http://schemas.microsoft.com/office/drawing/2014/main" id="{DC7FBE91-7D8E-3944-5569-40E8D6B74D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Text Placeholder 3">
            <a:extLst>
              <a:ext uri="{FF2B5EF4-FFF2-40B4-BE49-F238E27FC236}">
                <a16:creationId xmlns:a16="http://schemas.microsoft.com/office/drawing/2014/main" id="{D0E325B0-27F2-9710-58F6-0C07626C23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F7CBABE-1AE7-D70C-7708-85020C73E59E}"/>
              </a:ext>
            </a:extLst>
          </p:cNvPr>
          <p:cNvSpPr>
            <a:spLocks noGrp="1"/>
          </p:cNvSpPr>
          <p:nvPr>
            <p:ph type="dt" sz="half" idx="10"/>
          </p:nvPr>
        </p:nvSpPr>
        <p:spPr/>
        <p:txBody>
          <a:bodyPr/>
          <a:lstStyle/>
          <a:p>
            <a:fld id="{A09B1005-574F-D344-BCB1-9D2AB269A3EC}" type="datetime1">
              <a:rPr lang="en-US" smtClean="0"/>
              <a:t>4/28/2026</a:t>
            </a:fld>
            <a:endParaRPr lang="en-US" dirty="0"/>
          </a:p>
        </p:txBody>
      </p:sp>
      <p:sp>
        <p:nvSpPr>
          <p:cNvPr id="6" name="Footer Placeholder 5">
            <a:extLst>
              <a:ext uri="{FF2B5EF4-FFF2-40B4-BE49-F238E27FC236}">
                <a16:creationId xmlns:a16="http://schemas.microsoft.com/office/drawing/2014/main" id="{78A73628-77BC-4A24-08E2-D57F3D53AD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605F63F-7883-63AF-C6F9-B3BC8A2E159B}"/>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640912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0EB26-001F-167A-6BA0-DCD22D59140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K"/>
          </a:p>
        </p:txBody>
      </p:sp>
      <p:sp>
        <p:nvSpPr>
          <p:cNvPr id="3" name="Picture Placeholder 2">
            <a:extLst>
              <a:ext uri="{FF2B5EF4-FFF2-40B4-BE49-F238E27FC236}">
                <a16:creationId xmlns:a16="http://schemas.microsoft.com/office/drawing/2014/main" id="{67DCA67E-ABF8-043E-F669-25D35A32AA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B21ED5B5-8357-7928-0AFB-A855388E38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1A618A2-5986-F9BA-EC13-3460B7AB14B2}"/>
              </a:ext>
            </a:extLst>
          </p:cNvPr>
          <p:cNvSpPr>
            <a:spLocks noGrp="1"/>
          </p:cNvSpPr>
          <p:nvPr>
            <p:ph type="dt" sz="half" idx="10"/>
          </p:nvPr>
        </p:nvSpPr>
        <p:spPr/>
        <p:txBody>
          <a:bodyPr/>
          <a:lstStyle/>
          <a:p>
            <a:fld id="{C818EC7F-129E-B04A-94CE-A0E8D5F704B5}" type="datetime1">
              <a:rPr lang="en-US" smtClean="0"/>
              <a:t>4/28/2026</a:t>
            </a:fld>
            <a:endParaRPr lang="en-US" dirty="0"/>
          </a:p>
        </p:txBody>
      </p:sp>
      <p:sp>
        <p:nvSpPr>
          <p:cNvPr id="6" name="Footer Placeholder 5">
            <a:extLst>
              <a:ext uri="{FF2B5EF4-FFF2-40B4-BE49-F238E27FC236}">
                <a16:creationId xmlns:a16="http://schemas.microsoft.com/office/drawing/2014/main" id="{C9607585-1E53-29E6-E14C-D4E5C685D00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BF9FB97-D9C9-FC78-3D39-E81B1517740E}"/>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69757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B7194-44EF-7006-9E4C-D94DF8394AB2}"/>
              </a:ext>
            </a:extLst>
          </p:cNvPr>
          <p:cNvSpPr>
            <a:spLocks noGrp="1"/>
          </p:cNvSpPr>
          <p:nvPr>
            <p:ph type="title"/>
          </p:nvPr>
        </p:nvSpPr>
        <p:spPr/>
        <p:txBody>
          <a:bodyPr/>
          <a:lstStyle/>
          <a:p>
            <a:r>
              <a:rPr lang="en-GB"/>
              <a:t>Click to edit Master title style</a:t>
            </a:r>
            <a:endParaRPr lang="en-PK"/>
          </a:p>
        </p:txBody>
      </p:sp>
      <p:sp>
        <p:nvSpPr>
          <p:cNvPr id="3" name="Vertical Text Placeholder 2">
            <a:extLst>
              <a:ext uri="{FF2B5EF4-FFF2-40B4-BE49-F238E27FC236}">
                <a16:creationId xmlns:a16="http://schemas.microsoft.com/office/drawing/2014/main" id="{A9D5E83A-839B-9260-0A21-8B997EE526D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039D60F5-F487-9F40-578A-E36732D3A2B4}"/>
              </a:ext>
            </a:extLst>
          </p:cNvPr>
          <p:cNvSpPr>
            <a:spLocks noGrp="1"/>
          </p:cNvSpPr>
          <p:nvPr>
            <p:ph type="dt" sz="half" idx="10"/>
          </p:nvPr>
        </p:nvSpPr>
        <p:spPr/>
        <p:txBody>
          <a:bodyPr/>
          <a:lstStyle/>
          <a:p>
            <a:fld id="{BADEC171-6AFE-CA49-AAE9-DDDD51BDA4CC}" type="datetime1">
              <a:rPr lang="en-US" smtClean="0"/>
              <a:t>4/28/2026</a:t>
            </a:fld>
            <a:endParaRPr lang="en-US" dirty="0"/>
          </a:p>
        </p:txBody>
      </p:sp>
      <p:sp>
        <p:nvSpPr>
          <p:cNvPr id="5" name="Footer Placeholder 4">
            <a:extLst>
              <a:ext uri="{FF2B5EF4-FFF2-40B4-BE49-F238E27FC236}">
                <a16:creationId xmlns:a16="http://schemas.microsoft.com/office/drawing/2014/main" id="{D6694D0E-FEF0-3CE4-88E0-9B5CC1342B3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43A42E7-F5E7-2271-1D3F-3BB0DA5FBCC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21236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7BDCBF-90E9-B6D4-B1BD-BB6439AE412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PK"/>
          </a:p>
        </p:txBody>
      </p:sp>
      <p:sp>
        <p:nvSpPr>
          <p:cNvPr id="3" name="Vertical Text Placeholder 2">
            <a:extLst>
              <a:ext uri="{FF2B5EF4-FFF2-40B4-BE49-F238E27FC236}">
                <a16:creationId xmlns:a16="http://schemas.microsoft.com/office/drawing/2014/main" id="{F30AB2C1-4897-983B-2FB9-BD11C271D06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5B12C104-D518-1AB2-0F63-977F49D661E8}"/>
              </a:ext>
            </a:extLst>
          </p:cNvPr>
          <p:cNvSpPr>
            <a:spLocks noGrp="1"/>
          </p:cNvSpPr>
          <p:nvPr>
            <p:ph type="dt" sz="half" idx="10"/>
          </p:nvPr>
        </p:nvSpPr>
        <p:spPr/>
        <p:txBody>
          <a:bodyPr/>
          <a:lstStyle/>
          <a:p>
            <a:fld id="{7A7BC7AE-E3C9-5846-8CAD-0E757E344CB1}" type="datetime1">
              <a:rPr lang="en-US" smtClean="0"/>
              <a:t>4/28/2026</a:t>
            </a:fld>
            <a:endParaRPr lang="en-US" dirty="0"/>
          </a:p>
        </p:txBody>
      </p:sp>
      <p:sp>
        <p:nvSpPr>
          <p:cNvPr id="5" name="Footer Placeholder 4">
            <a:extLst>
              <a:ext uri="{FF2B5EF4-FFF2-40B4-BE49-F238E27FC236}">
                <a16:creationId xmlns:a16="http://schemas.microsoft.com/office/drawing/2014/main" id="{0C66A4A2-8093-06BB-B2C2-65BC1329E46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64C8E6A-87A5-42E0-E66E-73CA8E9847B8}"/>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80567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xfrm>
            <a:off x="484879" y="143137"/>
            <a:ext cx="11272129" cy="942352"/>
          </a:xfrm>
          <a:prstGeom prst="rect">
            <a:avLst/>
          </a:prstGeom>
        </p:spPr>
        <p:txBody>
          <a:bodyPr/>
          <a:lstStyle/>
          <a:p>
            <a:r>
              <a:rPr dirty="0"/>
              <a:t>Title Text</a:t>
            </a:r>
          </a:p>
        </p:txBody>
      </p:sp>
      <p:sp>
        <p:nvSpPr>
          <p:cNvPr id="57" name="Body Level One…"/>
          <p:cNvSpPr txBox="1">
            <a:spLocks noGrp="1"/>
          </p:cNvSpPr>
          <p:nvPr>
            <p:ph type="body" idx="1"/>
          </p:nvPr>
        </p:nvSpPr>
        <p:spPr>
          <a:xfrm>
            <a:off x="468168" y="1161288"/>
            <a:ext cx="11198603" cy="5343989"/>
          </a:xfrm>
          <a:prstGeom prst="rect">
            <a:avLst/>
          </a:prstGeom>
        </p:spPr>
        <p:txBody>
          <a:bodyPr>
            <a:normAutofit/>
          </a:bodyPr>
          <a:lstStyle>
            <a:lvl1pPr>
              <a:defRPr sz="3200"/>
            </a:lvl1pPr>
            <a:lvl2pPr marL="685800" indent="-228600">
              <a:buFont typeface="System Font Regular"/>
              <a:buChar char="−"/>
              <a:defRPr sz="2800"/>
            </a:lvl2pPr>
            <a:lvl3pPr>
              <a:defRPr sz="2400"/>
            </a:lvl3pPr>
            <a:lvl4pPr>
              <a:defRPr sz="2000"/>
            </a:lvl4pPr>
            <a:lvl5pPr>
              <a:defRPr sz="2000"/>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5" name="Date Placeholder 3">
            <a:extLst>
              <a:ext uri="{FF2B5EF4-FFF2-40B4-BE49-F238E27FC236}">
                <a16:creationId xmlns:a16="http://schemas.microsoft.com/office/drawing/2014/main" id="{BA413C1A-A16E-3242-A2B3-521C11C1A208}"/>
              </a:ext>
            </a:extLst>
          </p:cNvPr>
          <p:cNvSpPr>
            <a:spLocks noGrp="1"/>
          </p:cNvSpPr>
          <p:nvPr>
            <p:ph type="dt" sz="half" idx="10"/>
          </p:nvPr>
        </p:nvSpPr>
        <p:spPr>
          <a:xfrm>
            <a:off x="838200" y="6485446"/>
            <a:ext cx="2743200" cy="365125"/>
          </a:xfrm>
        </p:spPr>
        <p:txBody>
          <a:bodyPr/>
          <a:lstStyle>
            <a:lvl1pPr>
              <a:defRPr>
                <a:solidFill>
                  <a:schemeClr val="tx1"/>
                </a:solidFill>
              </a:defRPr>
            </a:lvl1pPr>
          </a:lstStyle>
          <a:p>
            <a:fld id="{F26B42B1-ACC7-BB4A-9D3D-E79A92B76714}" type="datetime1">
              <a:rPr lang="en-US" smtClean="0"/>
              <a:t>4/28/2026</a:t>
            </a:fld>
            <a:endParaRPr lang="en-US" dirty="0"/>
          </a:p>
        </p:txBody>
      </p:sp>
      <p:sp>
        <p:nvSpPr>
          <p:cNvPr id="6" name="Footer Placeholder 4">
            <a:extLst>
              <a:ext uri="{FF2B5EF4-FFF2-40B4-BE49-F238E27FC236}">
                <a16:creationId xmlns:a16="http://schemas.microsoft.com/office/drawing/2014/main" id="{DFAA7152-9480-AC46-B8CB-94D0C226C147}"/>
              </a:ext>
            </a:extLst>
          </p:cNvPr>
          <p:cNvSpPr>
            <a:spLocks noGrp="1"/>
          </p:cNvSpPr>
          <p:nvPr>
            <p:ph type="ftr" sz="quarter" idx="11"/>
          </p:nvPr>
        </p:nvSpPr>
        <p:spPr>
          <a:xfrm>
            <a:off x="4038600" y="6485446"/>
            <a:ext cx="4114800" cy="365125"/>
          </a:xfrm>
        </p:spPr>
        <p:txBody>
          <a:bodyPr/>
          <a:lstStyle>
            <a:lvl1pPr>
              <a:defRPr>
                <a:solidFill>
                  <a:schemeClr val="tx1"/>
                </a:solidFill>
              </a:defRPr>
            </a:lvl1pPr>
          </a:lstStyle>
          <a:p>
            <a:endParaRPr lang="en-US" dirty="0"/>
          </a:p>
        </p:txBody>
      </p:sp>
    </p:spTree>
    <p:extLst>
      <p:ext uri="{BB962C8B-B14F-4D97-AF65-F5344CB8AC3E}">
        <p14:creationId xmlns:p14="http://schemas.microsoft.com/office/powerpoint/2010/main" val="1862733730"/>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073400"/>
            <a:ext cx="9144000" cy="2108201"/>
          </a:xfrm>
        </p:spPr>
        <p:txBody>
          <a:bodyPr anchor="b"/>
          <a:lstStyle>
            <a:lvl1pPr algn="ctr">
              <a:defRPr sz="4500"/>
            </a:lvl1pPr>
          </a:lstStyle>
          <a:p>
            <a:r>
              <a:rPr lang="en-US" dirty="0"/>
              <a:t>Click to edit Master title style</a:t>
            </a:r>
          </a:p>
        </p:txBody>
      </p:sp>
      <p:sp>
        <p:nvSpPr>
          <p:cNvPr id="3" name="Subtitle 2"/>
          <p:cNvSpPr>
            <a:spLocks noGrp="1"/>
          </p:cNvSpPr>
          <p:nvPr>
            <p:ph type="subTitle" idx="1" hasCustomPrompt="1"/>
          </p:nvPr>
        </p:nvSpPr>
        <p:spPr>
          <a:xfrm>
            <a:off x="1524000" y="1714501"/>
            <a:ext cx="9144000" cy="1231901"/>
          </a:xfrm>
        </p:spPr>
        <p:txBody>
          <a:bodyPr>
            <a:normAutofit/>
          </a:bodyPr>
          <a:lstStyle>
            <a:lvl1pPr marL="0" indent="0" algn="ctr">
              <a:buNone/>
              <a:defRPr sz="2400"/>
            </a:lvl1pPr>
            <a:lvl2pPr marL="342892" indent="0" algn="ctr">
              <a:buNone/>
              <a:defRPr sz="1500"/>
            </a:lvl2pPr>
            <a:lvl3pPr marL="685783" indent="0" algn="ctr">
              <a:buNone/>
              <a:defRPr sz="1425"/>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US" dirty="0"/>
              <a:t>Lecture 1</a:t>
            </a:r>
          </a:p>
        </p:txBody>
      </p:sp>
      <p:sp>
        <p:nvSpPr>
          <p:cNvPr id="4" name="TextBox 3"/>
          <p:cNvSpPr txBox="1"/>
          <p:nvPr userDrawn="1"/>
        </p:nvSpPr>
        <p:spPr>
          <a:xfrm>
            <a:off x="4855411" y="6550224"/>
            <a:ext cx="7336589" cy="307777"/>
          </a:xfrm>
          <a:prstGeom prst="rect">
            <a:avLst/>
          </a:prstGeom>
          <a:noFill/>
        </p:spPr>
        <p:txBody>
          <a:bodyPr wrap="square" rtlCol="0">
            <a:spAutoFit/>
          </a:bodyPr>
          <a:lstStyle/>
          <a:p>
            <a:r>
              <a:rPr lang="en-US" sz="1400" kern="1200" dirty="0">
                <a:solidFill>
                  <a:srgbClr val="24469D"/>
                </a:solidFill>
                <a:latin typeface="+mn-lt"/>
                <a:ea typeface="+mn-ea"/>
                <a:cs typeface="+mn-cs"/>
              </a:rPr>
              <a:t>Spring 2026 | CSE-355 | Introduction to Blockchain</a:t>
            </a:r>
          </a:p>
        </p:txBody>
      </p:sp>
      <p:sp>
        <p:nvSpPr>
          <p:cNvPr id="5" name="Rectangle 4"/>
          <p:cNvSpPr/>
          <p:nvPr userDrawn="1"/>
        </p:nvSpPr>
        <p:spPr>
          <a:xfrm>
            <a:off x="1339728" y="407000"/>
            <a:ext cx="5055531" cy="315469"/>
          </a:xfrm>
          <a:prstGeom prst="rect">
            <a:avLst/>
          </a:prstGeom>
        </p:spPr>
        <p:txBody>
          <a:bodyPr wrap="square" lIns="68579" tIns="34289" rIns="68579" bIns="34289">
            <a:spAutoFit/>
          </a:bodyPr>
          <a:lstStyle/>
          <a:p>
            <a:r>
              <a:rPr lang="en-US" sz="1600" dirty="0">
                <a:solidFill>
                  <a:srgbClr val="24469D"/>
                </a:solidFill>
              </a:rPr>
              <a:t>Institute of Business Administration Karachi</a:t>
            </a:r>
          </a:p>
        </p:txBody>
      </p:sp>
      <p:sp>
        <p:nvSpPr>
          <p:cNvPr id="7" name="TextBox 6"/>
          <p:cNvSpPr txBox="1"/>
          <p:nvPr userDrawn="1"/>
        </p:nvSpPr>
        <p:spPr>
          <a:xfrm>
            <a:off x="1" y="6540532"/>
            <a:ext cx="1821012" cy="317468"/>
          </a:xfrm>
          <a:prstGeom prst="rect">
            <a:avLst/>
          </a:prstGeom>
          <a:noFill/>
        </p:spPr>
        <p:txBody>
          <a:bodyPr wrap="square" rtlCol="0">
            <a:spAutoFit/>
          </a:bodyPr>
          <a:lstStyle/>
          <a:p>
            <a:r>
              <a:rPr lang="en-US" sz="1400" kern="1200" dirty="0">
                <a:solidFill>
                  <a:srgbClr val="24469D"/>
                </a:solidFill>
                <a:latin typeface="+mn-lt"/>
                <a:ea typeface="+mn-ea"/>
                <a:cs typeface="+mn-cs"/>
              </a:rPr>
              <a:t>Spring 2026</a:t>
            </a:r>
          </a:p>
        </p:txBody>
      </p:sp>
    </p:spTree>
    <p:extLst>
      <p:ext uri="{BB962C8B-B14F-4D97-AF65-F5344CB8AC3E}">
        <p14:creationId xmlns:p14="http://schemas.microsoft.com/office/powerpoint/2010/main" val="1917469304"/>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15755"/>
            <a:ext cx="10515600" cy="914067"/>
          </a:xfrm>
        </p:spPr>
        <p:txBody>
          <a:bodyPr>
            <a:normAutofit/>
          </a:bodyPr>
          <a:lstStyle>
            <a:lvl1pPr algn="r">
              <a:defRPr sz="2800" b="1"/>
            </a:lvl1pPr>
          </a:lstStyle>
          <a:p>
            <a:r>
              <a:rPr lang="en-US" dirty="0"/>
              <a:t>Click to edit Master title style</a:t>
            </a:r>
          </a:p>
        </p:txBody>
      </p:sp>
      <p:sp>
        <p:nvSpPr>
          <p:cNvPr id="3" name="Content Placeholder 2"/>
          <p:cNvSpPr>
            <a:spLocks noGrp="1"/>
          </p:cNvSpPr>
          <p:nvPr>
            <p:ph idx="1"/>
          </p:nvPr>
        </p:nvSpPr>
        <p:spPr>
          <a:xfrm>
            <a:off x="838200" y="1348969"/>
            <a:ext cx="10515600" cy="4827997"/>
          </a:xfrm>
        </p:spPr>
        <p:txBody>
          <a:bodyPr/>
          <a:lstStyle>
            <a:lvl1pPr>
              <a:lnSpc>
                <a:spcPct val="100000"/>
              </a:lnSpc>
              <a:defRPr sz="2200"/>
            </a:lvl1pPr>
            <a:lvl2pPr>
              <a:lnSpc>
                <a:spcPct val="100000"/>
              </a:lnSpc>
              <a:defRPr/>
            </a:lvl2pPr>
            <a:lvl3pPr>
              <a:lnSpc>
                <a:spcPct val="100000"/>
              </a:lnSpc>
              <a:defRPr sz="1600"/>
            </a:lvl3pPr>
            <a:lvl4pPr>
              <a:lnSpc>
                <a:spcPct val="100000"/>
              </a:lnSpc>
              <a:defRPr sz="1500"/>
            </a:lvl4pPr>
            <a:lvl5pPr>
              <a:lnSpc>
                <a:spcPct val="100000"/>
              </a:lnSpc>
              <a:defRPr sz="15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a:xfrm>
            <a:off x="10601580" y="6492148"/>
            <a:ext cx="1313507" cy="365125"/>
          </a:xfrm>
        </p:spPr>
        <p:txBody>
          <a:bodyPr/>
          <a:lstStyle/>
          <a:p>
            <a:fld id="{19FE8B7B-3258-47CD-BBC0-34D05FC906E5}" type="slidenum">
              <a:rPr lang="en-US" smtClean="0"/>
              <a:t>‹#›</a:t>
            </a:fld>
            <a:endParaRPr lang="en-US" dirty="0"/>
          </a:p>
        </p:txBody>
      </p:sp>
      <p:sp>
        <p:nvSpPr>
          <p:cNvPr id="4" name="TextBox 3"/>
          <p:cNvSpPr txBox="1"/>
          <p:nvPr userDrawn="1"/>
        </p:nvSpPr>
        <p:spPr>
          <a:xfrm>
            <a:off x="4513179" y="6661568"/>
            <a:ext cx="2868009" cy="246221"/>
          </a:xfrm>
          <a:prstGeom prst="rect">
            <a:avLst/>
          </a:prstGeom>
          <a:noFill/>
        </p:spPr>
        <p:txBody>
          <a:bodyPr wrap="square" rtlCol="0">
            <a:spAutoFit/>
          </a:bodyPr>
          <a:lstStyle/>
          <a:p>
            <a:r>
              <a:rPr lang="en-US" sz="1000" dirty="0">
                <a:solidFill>
                  <a:schemeClr val="tx2">
                    <a:lumMod val="60000"/>
                    <a:lumOff val="40000"/>
                  </a:schemeClr>
                </a:solidFill>
              </a:rPr>
              <a:t>Spring 2026 | CSE-355 | Introduction to Blockchain</a:t>
            </a:r>
          </a:p>
        </p:txBody>
      </p:sp>
    </p:spTree>
    <p:extLst>
      <p:ext uri="{BB962C8B-B14F-4D97-AF65-F5344CB8AC3E}">
        <p14:creationId xmlns:p14="http://schemas.microsoft.com/office/powerpoint/2010/main" val="3588985796"/>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1"/>
            <a:ext cx="10515600" cy="1604963"/>
          </a:xfrm>
        </p:spPr>
        <p:txBody>
          <a:bodyPr anchor="b">
            <a:normAutofit/>
          </a:bodyPr>
          <a:lstStyle>
            <a:lvl1pPr>
              <a:defRPr sz="3300"/>
            </a:lvl1pPr>
          </a:lstStyle>
          <a:p>
            <a:r>
              <a:rPr lang="en-US" dirty="0"/>
              <a:t>Click to edit Master title style</a:t>
            </a:r>
          </a:p>
        </p:txBody>
      </p:sp>
      <p:sp>
        <p:nvSpPr>
          <p:cNvPr id="3" name="Text Placeholder 2"/>
          <p:cNvSpPr>
            <a:spLocks noGrp="1"/>
          </p:cNvSpPr>
          <p:nvPr>
            <p:ph type="body" idx="1"/>
          </p:nvPr>
        </p:nvSpPr>
        <p:spPr>
          <a:xfrm>
            <a:off x="831851" y="3314704"/>
            <a:ext cx="10515600" cy="2774949"/>
          </a:xfrm>
        </p:spPr>
        <p:txBody>
          <a:bodyPr/>
          <a:lstStyle>
            <a:lvl1pPr marL="0" indent="0" algn="ctr">
              <a:buNone/>
              <a:defRPr sz="1800">
                <a:solidFill>
                  <a:schemeClr val="accent5"/>
                </a:solidFill>
              </a:defRPr>
            </a:lvl1pPr>
            <a:lvl2pPr marL="342892" indent="0">
              <a:buNone/>
              <a:defRPr sz="1500">
                <a:solidFill>
                  <a:schemeClr val="tx1">
                    <a:tint val="75000"/>
                  </a:schemeClr>
                </a:solidFill>
              </a:defRPr>
            </a:lvl2pPr>
            <a:lvl3pPr marL="685783" indent="0">
              <a:buNone/>
              <a:defRPr sz="1425">
                <a:solidFill>
                  <a:schemeClr val="tx1">
                    <a:tint val="75000"/>
                  </a:schemeClr>
                </a:solidFill>
              </a:defRPr>
            </a:lvl3pPr>
            <a:lvl4pPr marL="1028675"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8" indent="0">
              <a:buNone/>
              <a:defRPr sz="1200">
                <a:solidFill>
                  <a:schemeClr val="tx1">
                    <a:tint val="75000"/>
                  </a:schemeClr>
                </a:solidFill>
              </a:defRPr>
            </a:lvl7pPr>
            <a:lvl8pPr marL="2400240" indent="0">
              <a:buNone/>
              <a:defRPr sz="1200">
                <a:solidFill>
                  <a:schemeClr val="tx1">
                    <a:tint val="75000"/>
                  </a:schemeClr>
                </a:solidFill>
              </a:defRPr>
            </a:lvl8pPr>
            <a:lvl9pPr marL="2743132" indent="0">
              <a:buNone/>
              <a:defRPr sz="1200">
                <a:solidFill>
                  <a:schemeClr val="tx1">
                    <a:tint val="75000"/>
                  </a:schemeClr>
                </a:solidFill>
              </a:defRPr>
            </a:lvl9pPr>
          </a:lstStyle>
          <a:p>
            <a:pPr lvl="0"/>
            <a:r>
              <a:rPr lang="en-US" dirty="0"/>
              <a:t>Click to edit Master text styles</a:t>
            </a:r>
          </a:p>
        </p:txBody>
      </p:sp>
      <p:sp>
        <p:nvSpPr>
          <p:cNvPr id="6" name="Slide Number Placeholder 5"/>
          <p:cNvSpPr>
            <a:spLocks noGrp="1"/>
          </p:cNvSpPr>
          <p:nvPr>
            <p:ph type="sldNum" sz="quarter" idx="12"/>
          </p:nvPr>
        </p:nvSpPr>
        <p:spPr/>
        <p:txBody>
          <a:bodyPr/>
          <a:lstStyle/>
          <a:p>
            <a:fld id="{19FE8B7B-3258-47CD-BBC0-34D05FC906E5}" type="slidenum">
              <a:rPr lang="en-US" smtClean="0"/>
              <a:t>‹#›</a:t>
            </a:fld>
            <a:endParaRPr lang="en-US" dirty="0"/>
          </a:p>
        </p:txBody>
      </p:sp>
    </p:spTree>
    <p:extLst>
      <p:ext uri="{BB962C8B-B14F-4D97-AF65-F5344CB8AC3E}">
        <p14:creationId xmlns:p14="http://schemas.microsoft.com/office/powerpoint/2010/main" val="3678045620"/>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19FE8B7B-3258-47CD-BBC0-34D05FC906E5}" type="slidenum">
              <a:rPr lang="en-US" smtClean="0"/>
              <a:t>‹#›</a:t>
            </a:fld>
            <a:endParaRPr lang="en-US" dirty="0"/>
          </a:p>
        </p:txBody>
      </p:sp>
      <p:sp>
        <p:nvSpPr>
          <p:cNvPr id="8" name="Title 1"/>
          <p:cNvSpPr>
            <a:spLocks noGrp="1"/>
          </p:cNvSpPr>
          <p:nvPr>
            <p:ph type="title"/>
          </p:nvPr>
        </p:nvSpPr>
        <p:spPr>
          <a:xfrm>
            <a:off x="1055472" y="115755"/>
            <a:ext cx="10515600" cy="914067"/>
          </a:xfrm>
        </p:spPr>
        <p:txBody>
          <a:bodyPr>
            <a:normAutofit/>
          </a:bodyPr>
          <a:lstStyle>
            <a:lvl1pPr algn="r">
              <a:defRPr sz="2400" b="1"/>
            </a:lvl1pPr>
          </a:lstStyle>
          <a:p>
            <a:r>
              <a:rPr lang="en-US" dirty="0"/>
              <a:t>Click to edit Master title style</a:t>
            </a:r>
          </a:p>
        </p:txBody>
      </p:sp>
    </p:spTree>
    <p:extLst>
      <p:ext uri="{BB962C8B-B14F-4D97-AF65-F5344CB8AC3E}">
        <p14:creationId xmlns:p14="http://schemas.microsoft.com/office/powerpoint/2010/main" val="1979472509"/>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9" y="1681163"/>
            <a:ext cx="5157787" cy="823912"/>
          </a:xfrm>
        </p:spPr>
        <p:txBody>
          <a:bodyPr anchor="b"/>
          <a:lstStyle>
            <a:lvl1pPr marL="0" indent="0">
              <a:buNone/>
              <a:defRPr sz="1800" b="1"/>
            </a:lvl1pPr>
            <a:lvl2pPr marL="342892" indent="0">
              <a:buNone/>
              <a:defRPr sz="1500" b="1"/>
            </a:lvl2pPr>
            <a:lvl3pPr marL="685783" indent="0">
              <a:buNone/>
              <a:defRPr sz="1425"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1800" b="1"/>
            </a:lvl1pPr>
            <a:lvl2pPr marL="342892" indent="0">
              <a:buNone/>
              <a:defRPr sz="1500" b="1"/>
            </a:lvl2pPr>
            <a:lvl3pPr marL="685783" indent="0">
              <a:buNone/>
              <a:defRPr sz="1425"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72202"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3"/>
            <a:ext cx="2743200" cy="365125"/>
          </a:xfrm>
          <a:prstGeom prst="rect">
            <a:avLst/>
          </a:prstGeom>
        </p:spPr>
        <p:txBody>
          <a:bodyPr lIns="91438" tIns="45719" rIns="91438" bIns="45719"/>
          <a:lstStyle/>
          <a:p>
            <a:endParaRPr lang="en-US" dirty="0"/>
          </a:p>
        </p:txBody>
      </p:sp>
      <p:sp>
        <p:nvSpPr>
          <p:cNvPr id="9" name="Slide Number Placeholder 8"/>
          <p:cNvSpPr>
            <a:spLocks noGrp="1"/>
          </p:cNvSpPr>
          <p:nvPr>
            <p:ph type="sldNum" sz="quarter" idx="12"/>
          </p:nvPr>
        </p:nvSpPr>
        <p:spPr/>
        <p:txBody>
          <a:bodyPr/>
          <a:lstStyle/>
          <a:p>
            <a:fld id="{19FE8B7B-3258-47CD-BBC0-34D05FC906E5}" type="slidenum">
              <a:rPr lang="en-US" smtClean="0"/>
              <a:t>‹#›</a:t>
            </a:fld>
            <a:endParaRPr lang="en-US" dirty="0"/>
          </a:p>
        </p:txBody>
      </p:sp>
      <p:sp>
        <p:nvSpPr>
          <p:cNvPr id="10" name="Title 1"/>
          <p:cNvSpPr>
            <a:spLocks noGrp="1"/>
          </p:cNvSpPr>
          <p:nvPr>
            <p:ph type="title"/>
          </p:nvPr>
        </p:nvSpPr>
        <p:spPr>
          <a:xfrm>
            <a:off x="1055472" y="115755"/>
            <a:ext cx="10515600" cy="914067"/>
          </a:xfrm>
        </p:spPr>
        <p:txBody>
          <a:bodyPr>
            <a:normAutofit/>
          </a:bodyPr>
          <a:lstStyle>
            <a:lvl1pPr algn="r">
              <a:defRPr sz="2400" b="1"/>
            </a:lvl1pPr>
          </a:lstStyle>
          <a:p>
            <a:r>
              <a:rPr lang="en-US" dirty="0"/>
              <a:t>Click to edit Master title style</a:t>
            </a:r>
          </a:p>
        </p:txBody>
      </p:sp>
    </p:spTree>
    <p:extLst>
      <p:ext uri="{BB962C8B-B14F-4D97-AF65-F5344CB8AC3E}">
        <p14:creationId xmlns:p14="http://schemas.microsoft.com/office/powerpoint/2010/main" val="954724406"/>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9FE8B7B-3258-47CD-BBC0-34D05FC906E5}" type="slidenum">
              <a:rPr lang="en-US" smtClean="0"/>
              <a:t>‹#›</a:t>
            </a:fld>
            <a:endParaRPr lang="en-US" dirty="0"/>
          </a:p>
        </p:txBody>
      </p:sp>
      <p:sp>
        <p:nvSpPr>
          <p:cNvPr id="6" name="Title 1"/>
          <p:cNvSpPr>
            <a:spLocks noGrp="1"/>
          </p:cNvSpPr>
          <p:nvPr>
            <p:ph type="title"/>
          </p:nvPr>
        </p:nvSpPr>
        <p:spPr>
          <a:xfrm>
            <a:off x="1055472" y="115755"/>
            <a:ext cx="10515600" cy="914067"/>
          </a:xfrm>
        </p:spPr>
        <p:txBody>
          <a:bodyPr>
            <a:normAutofit/>
          </a:bodyPr>
          <a:lstStyle>
            <a:lvl1pPr algn="ctr">
              <a:defRPr sz="2400" b="1"/>
            </a:lvl1pPr>
          </a:lstStyle>
          <a:p>
            <a:r>
              <a:rPr lang="en-US" dirty="0"/>
              <a:t>Click to edit Master title style</a:t>
            </a:r>
          </a:p>
        </p:txBody>
      </p:sp>
    </p:spTree>
    <p:extLst>
      <p:ext uri="{BB962C8B-B14F-4D97-AF65-F5344CB8AC3E}">
        <p14:creationId xmlns:p14="http://schemas.microsoft.com/office/powerpoint/2010/main" val="2519240742"/>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p:cNvSpPr txBox="1">
            <a:spLocks/>
          </p:cNvSpPr>
          <p:nvPr userDrawn="1"/>
        </p:nvSpPr>
        <p:spPr>
          <a:xfrm>
            <a:off x="9235257" y="6609031"/>
            <a:ext cx="2743200" cy="266347"/>
          </a:xfrm>
          <a:prstGeom prst="rect">
            <a:avLst/>
          </a:prstGeom>
        </p:spPr>
        <p:txBody>
          <a:bodyPr vert="horz" lIns="68579" tIns="34289" rIns="68579" bIns="34289"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9FE8B7B-3258-47CD-BBC0-34D05FC906E5}" type="slidenum">
              <a:rPr lang="en-US" sz="900" smtClean="0">
                <a:solidFill>
                  <a:schemeClr val="tx1">
                    <a:lumMod val="75000"/>
                    <a:lumOff val="25000"/>
                  </a:schemeClr>
                </a:solidFill>
              </a:rPr>
              <a:pPr/>
              <a:t>‹#›</a:t>
            </a:fld>
            <a:endParaRPr lang="en-US" sz="900" dirty="0">
              <a:solidFill>
                <a:schemeClr val="tx1">
                  <a:lumMod val="75000"/>
                  <a:lumOff val="25000"/>
                </a:schemeClr>
              </a:solidFill>
            </a:endParaRPr>
          </a:p>
        </p:txBody>
      </p:sp>
      <p:sp>
        <p:nvSpPr>
          <p:cNvPr id="4" name="Footer Placeholder 4"/>
          <p:cNvSpPr>
            <a:spLocks noGrp="1"/>
          </p:cNvSpPr>
          <p:nvPr>
            <p:ph type="ftr" sz="quarter" idx="3"/>
          </p:nvPr>
        </p:nvSpPr>
        <p:spPr>
          <a:xfrm>
            <a:off x="262551" y="6581870"/>
            <a:ext cx="8872397" cy="266348"/>
          </a:xfrm>
          <a:prstGeom prst="rect">
            <a:avLst/>
          </a:prstGeom>
        </p:spPr>
        <p:txBody>
          <a:bodyPr vert="horz" lIns="91438" tIns="45719" rIns="91438" bIns="45719" rtlCol="0" anchor="ctr"/>
          <a:lstStyle>
            <a:lvl1pPr algn="l">
              <a:defRPr sz="900">
                <a:solidFill>
                  <a:schemeClr val="accent5">
                    <a:lumMod val="60000"/>
                    <a:lumOff val="40000"/>
                  </a:schemeClr>
                </a:solidFill>
              </a:defRPr>
            </a:lvl1pPr>
          </a:lstStyle>
          <a:p>
            <a:pPr>
              <a:defRPr/>
            </a:pPr>
            <a:endParaRPr lang="en-US" dirty="0">
              <a:solidFill>
                <a:srgbClr val="000000"/>
              </a:solidFill>
            </a:endParaRPr>
          </a:p>
        </p:txBody>
      </p:sp>
    </p:spTree>
    <p:extLst>
      <p:ext uri="{BB962C8B-B14F-4D97-AF65-F5344CB8AC3E}">
        <p14:creationId xmlns:p14="http://schemas.microsoft.com/office/powerpoint/2010/main" val="617276589"/>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5183188" y="987428"/>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200"/>
            </a:lvl1pPr>
            <a:lvl2pPr marL="342892" indent="0">
              <a:buNone/>
              <a:defRPr sz="1125"/>
            </a:lvl2pPr>
            <a:lvl3pPr marL="685783" indent="0">
              <a:buNone/>
              <a:defRPr sz="900"/>
            </a:lvl3pPr>
            <a:lvl4pPr marL="1028675" indent="0">
              <a:buNone/>
              <a:defRPr sz="825"/>
            </a:lvl4pPr>
            <a:lvl5pPr marL="1371566" indent="0">
              <a:buNone/>
              <a:defRPr sz="825"/>
            </a:lvl5pPr>
            <a:lvl6pPr marL="1714457" indent="0">
              <a:buNone/>
              <a:defRPr sz="825"/>
            </a:lvl6pPr>
            <a:lvl7pPr marL="2057348" indent="0">
              <a:buNone/>
              <a:defRPr sz="825"/>
            </a:lvl7pPr>
            <a:lvl8pPr marL="2400240" indent="0">
              <a:buNone/>
              <a:defRPr sz="825"/>
            </a:lvl8pPr>
            <a:lvl9pPr marL="2743132" indent="0">
              <a:buNone/>
              <a:defRPr sz="825"/>
            </a:lvl9pPr>
          </a:lstStyle>
          <a:p>
            <a:pPr lvl="0"/>
            <a:r>
              <a:rPr lang="en-US"/>
              <a:t>Click to edit Master text styles</a:t>
            </a:r>
          </a:p>
        </p:txBody>
      </p:sp>
      <p:sp>
        <p:nvSpPr>
          <p:cNvPr id="5" name="Date Placeholder 4"/>
          <p:cNvSpPr>
            <a:spLocks noGrp="1"/>
          </p:cNvSpPr>
          <p:nvPr>
            <p:ph type="dt" sz="half" idx="10"/>
          </p:nvPr>
        </p:nvSpPr>
        <p:spPr>
          <a:xfrm>
            <a:off x="838200" y="6356353"/>
            <a:ext cx="2743200" cy="365125"/>
          </a:xfrm>
          <a:prstGeom prst="rect">
            <a:avLst/>
          </a:prstGeom>
        </p:spPr>
        <p:txBody>
          <a:bodyPr lIns="91438" tIns="45719" rIns="91438" bIns="45719"/>
          <a:lstStyle/>
          <a:p>
            <a:endParaRPr lang="en-US" dirty="0"/>
          </a:p>
        </p:txBody>
      </p:sp>
      <p:sp>
        <p:nvSpPr>
          <p:cNvPr id="9" name="Slide Number Placeholder 5"/>
          <p:cNvSpPr>
            <a:spLocks noGrp="1"/>
          </p:cNvSpPr>
          <p:nvPr>
            <p:ph type="sldNum" sz="quarter" idx="4"/>
          </p:nvPr>
        </p:nvSpPr>
        <p:spPr>
          <a:xfrm>
            <a:off x="9415606" y="6581870"/>
            <a:ext cx="2444436" cy="266348"/>
          </a:xfrm>
          <a:prstGeom prst="rect">
            <a:avLst/>
          </a:prstGeom>
        </p:spPr>
        <p:txBody>
          <a:bodyPr vert="horz" lIns="91438" tIns="45719" rIns="91438" bIns="45719" rtlCol="0" anchor="ctr"/>
          <a:lstStyle>
            <a:lvl1pPr algn="r">
              <a:defRPr lang="en-US" sz="900" smtClean="0">
                <a:solidFill>
                  <a:srgbClr val="000000"/>
                </a:solidFill>
              </a:defRPr>
            </a:lvl1pPr>
          </a:lstStyle>
          <a:p>
            <a:fld id="{19FE8B7B-3258-47CD-BBC0-34D05FC906E5}" type="slidenum">
              <a:rPr lang="en-US" smtClean="0"/>
              <a:pPr/>
              <a:t>‹#›</a:t>
            </a:fld>
            <a:endParaRPr lang="en-US" dirty="0"/>
          </a:p>
        </p:txBody>
      </p:sp>
    </p:spTree>
    <p:extLst>
      <p:ext uri="{BB962C8B-B14F-4D97-AF65-F5344CB8AC3E}">
        <p14:creationId xmlns:p14="http://schemas.microsoft.com/office/powerpoint/2010/main" val="2460441723"/>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5183188" y="987428"/>
            <a:ext cx="6172200" cy="4873625"/>
          </a:xfrm>
        </p:spPr>
        <p:txBody>
          <a:bodyPr/>
          <a:lstStyle>
            <a:lvl1pPr marL="0" indent="0">
              <a:buNone/>
              <a:defRPr sz="2400"/>
            </a:lvl1pPr>
            <a:lvl2pPr marL="342892" indent="0">
              <a:buNone/>
              <a:defRPr sz="2100"/>
            </a:lvl2pPr>
            <a:lvl3pPr marL="685783" indent="0">
              <a:buNone/>
              <a:defRPr sz="1800"/>
            </a:lvl3pPr>
            <a:lvl4pPr marL="1028675" indent="0">
              <a:buNone/>
              <a:defRPr sz="1500"/>
            </a:lvl4pPr>
            <a:lvl5pPr marL="1371566" indent="0">
              <a:buNone/>
              <a:defRPr sz="1500"/>
            </a:lvl5pPr>
            <a:lvl6pPr marL="1714457" indent="0">
              <a:buNone/>
              <a:defRPr sz="1500"/>
            </a:lvl6pPr>
            <a:lvl7pPr marL="2057348" indent="0">
              <a:buNone/>
              <a:defRPr sz="1500"/>
            </a:lvl7pPr>
            <a:lvl8pPr marL="2400240" indent="0">
              <a:buNone/>
              <a:defRPr sz="1500"/>
            </a:lvl8pPr>
            <a:lvl9pPr marL="2743132" indent="0">
              <a:buNone/>
              <a:defRPr sz="1500"/>
            </a:lvl9pPr>
          </a:lstStyle>
          <a:p>
            <a:endParaRPr lang="en-US" dirty="0"/>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200"/>
            </a:lvl1pPr>
            <a:lvl2pPr marL="342892" indent="0">
              <a:buNone/>
              <a:defRPr sz="1125"/>
            </a:lvl2pPr>
            <a:lvl3pPr marL="685783" indent="0">
              <a:buNone/>
              <a:defRPr sz="900"/>
            </a:lvl3pPr>
            <a:lvl4pPr marL="1028675" indent="0">
              <a:buNone/>
              <a:defRPr sz="825"/>
            </a:lvl4pPr>
            <a:lvl5pPr marL="1371566" indent="0">
              <a:buNone/>
              <a:defRPr sz="825"/>
            </a:lvl5pPr>
            <a:lvl6pPr marL="1714457" indent="0">
              <a:buNone/>
              <a:defRPr sz="825"/>
            </a:lvl6pPr>
            <a:lvl7pPr marL="2057348" indent="0">
              <a:buNone/>
              <a:defRPr sz="825"/>
            </a:lvl7pPr>
            <a:lvl8pPr marL="2400240" indent="0">
              <a:buNone/>
              <a:defRPr sz="825"/>
            </a:lvl8pPr>
            <a:lvl9pPr marL="2743132" indent="0">
              <a:buNone/>
              <a:defRPr sz="825"/>
            </a:lvl9pPr>
          </a:lstStyle>
          <a:p>
            <a:pPr lvl="0"/>
            <a:r>
              <a:rPr lang="en-US"/>
              <a:t>Click to edit Master text styles</a:t>
            </a:r>
          </a:p>
        </p:txBody>
      </p:sp>
      <p:sp>
        <p:nvSpPr>
          <p:cNvPr id="5" name="Date Placeholder 4"/>
          <p:cNvSpPr>
            <a:spLocks noGrp="1"/>
          </p:cNvSpPr>
          <p:nvPr>
            <p:ph type="dt" sz="half" idx="10"/>
          </p:nvPr>
        </p:nvSpPr>
        <p:spPr>
          <a:xfrm>
            <a:off x="838200" y="6356353"/>
            <a:ext cx="2743200" cy="365125"/>
          </a:xfrm>
          <a:prstGeom prst="rect">
            <a:avLst/>
          </a:prstGeom>
        </p:spPr>
        <p:txBody>
          <a:bodyPr lIns="91438" tIns="45719" rIns="91438" bIns="45719"/>
          <a:lstStyle/>
          <a:p>
            <a:endParaRPr lang="en-US" dirty="0"/>
          </a:p>
        </p:txBody>
      </p:sp>
      <p:sp>
        <p:nvSpPr>
          <p:cNvPr id="9" name="Slide Number Placeholder 5"/>
          <p:cNvSpPr>
            <a:spLocks noGrp="1"/>
          </p:cNvSpPr>
          <p:nvPr>
            <p:ph type="sldNum" sz="quarter" idx="4"/>
          </p:nvPr>
        </p:nvSpPr>
        <p:spPr>
          <a:xfrm>
            <a:off x="9415606" y="6581870"/>
            <a:ext cx="2444436" cy="266348"/>
          </a:xfrm>
          <a:prstGeom prst="rect">
            <a:avLst/>
          </a:prstGeom>
        </p:spPr>
        <p:txBody>
          <a:bodyPr vert="horz" lIns="91438" tIns="45719" rIns="91438" bIns="45719" rtlCol="0" anchor="ctr"/>
          <a:lstStyle>
            <a:lvl1pPr algn="r">
              <a:defRPr lang="en-US" sz="900" smtClean="0">
                <a:solidFill>
                  <a:srgbClr val="000000"/>
                </a:solidFill>
              </a:defRPr>
            </a:lvl1pPr>
          </a:lstStyle>
          <a:p>
            <a:fld id="{19FE8B7B-3258-47CD-BBC0-34D05FC906E5}" type="slidenum">
              <a:rPr lang="en-US" smtClean="0"/>
              <a:pPr/>
              <a:t>‹#›</a:t>
            </a:fld>
            <a:endParaRPr lang="en-US" dirty="0"/>
          </a:p>
        </p:txBody>
      </p:sp>
    </p:spTree>
    <p:extLst>
      <p:ext uri="{BB962C8B-B14F-4D97-AF65-F5344CB8AC3E}">
        <p14:creationId xmlns:p14="http://schemas.microsoft.com/office/powerpoint/2010/main" val="2422912388"/>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3"/>
            <a:ext cx="2743200" cy="365125"/>
          </a:xfrm>
          <a:prstGeom prst="rect">
            <a:avLst/>
          </a:prstGeom>
        </p:spPr>
        <p:txBody>
          <a:bodyPr lIns="91438" tIns="45719" rIns="91438" bIns="45719"/>
          <a:lstStyle/>
          <a:p>
            <a:endParaRPr lang="en-US" dirty="0"/>
          </a:p>
        </p:txBody>
      </p:sp>
      <p:sp>
        <p:nvSpPr>
          <p:cNvPr id="8" name="Slide Number Placeholder 5"/>
          <p:cNvSpPr>
            <a:spLocks noGrp="1"/>
          </p:cNvSpPr>
          <p:nvPr>
            <p:ph type="sldNum" sz="quarter" idx="4"/>
          </p:nvPr>
        </p:nvSpPr>
        <p:spPr>
          <a:xfrm>
            <a:off x="9415606" y="6581870"/>
            <a:ext cx="2444436" cy="266348"/>
          </a:xfrm>
          <a:prstGeom prst="rect">
            <a:avLst/>
          </a:prstGeom>
        </p:spPr>
        <p:txBody>
          <a:bodyPr vert="horz" lIns="91438" tIns="45719" rIns="91438" bIns="45719" rtlCol="0" anchor="ctr"/>
          <a:lstStyle>
            <a:lvl1pPr algn="r">
              <a:defRPr lang="en-US" sz="900" smtClean="0">
                <a:solidFill>
                  <a:srgbClr val="000000"/>
                </a:solidFill>
              </a:defRPr>
            </a:lvl1pPr>
          </a:lstStyle>
          <a:p>
            <a:fld id="{19FE8B7B-3258-47CD-BBC0-34D05FC906E5}" type="slidenum">
              <a:rPr lang="en-US" smtClean="0"/>
              <a:pPr/>
              <a:t>‹#›</a:t>
            </a:fld>
            <a:endParaRPr lang="en-US" dirty="0"/>
          </a:p>
        </p:txBody>
      </p:sp>
    </p:spTree>
    <p:extLst>
      <p:ext uri="{BB962C8B-B14F-4D97-AF65-F5344CB8AC3E}">
        <p14:creationId xmlns:p14="http://schemas.microsoft.com/office/powerpoint/2010/main" val="307147906"/>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8"/>
            <a:ext cx="2628900"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2" y="365128"/>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3"/>
            <a:ext cx="2743200" cy="365125"/>
          </a:xfrm>
          <a:prstGeom prst="rect">
            <a:avLst/>
          </a:prstGeom>
        </p:spPr>
        <p:txBody>
          <a:bodyPr lIns="91438" tIns="45719" rIns="91438" bIns="45719"/>
          <a:lstStyle/>
          <a:p>
            <a:endParaRPr lang="en-US" dirty="0"/>
          </a:p>
        </p:txBody>
      </p:sp>
      <p:sp>
        <p:nvSpPr>
          <p:cNvPr id="8" name="Slide Number Placeholder 5"/>
          <p:cNvSpPr>
            <a:spLocks noGrp="1"/>
          </p:cNvSpPr>
          <p:nvPr>
            <p:ph type="sldNum" sz="quarter" idx="4"/>
          </p:nvPr>
        </p:nvSpPr>
        <p:spPr>
          <a:xfrm>
            <a:off x="9415606" y="6581870"/>
            <a:ext cx="2444436" cy="266348"/>
          </a:xfrm>
          <a:prstGeom prst="rect">
            <a:avLst/>
          </a:prstGeom>
        </p:spPr>
        <p:txBody>
          <a:bodyPr vert="horz" lIns="91438" tIns="45719" rIns="91438" bIns="45719" rtlCol="0" anchor="ctr"/>
          <a:lstStyle>
            <a:lvl1pPr algn="r">
              <a:defRPr lang="en-US" sz="900" smtClean="0">
                <a:solidFill>
                  <a:srgbClr val="000000"/>
                </a:solidFill>
              </a:defRPr>
            </a:lvl1pPr>
          </a:lstStyle>
          <a:p>
            <a:fld id="{19FE8B7B-3258-47CD-BBC0-34D05FC906E5}" type="slidenum">
              <a:rPr lang="en-US" smtClean="0"/>
              <a:pPr/>
              <a:t>‹#›</a:t>
            </a:fld>
            <a:endParaRPr lang="en-US" dirty="0"/>
          </a:p>
        </p:txBody>
      </p:sp>
    </p:spTree>
    <p:extLst>
      <p:ext uri="{BB962C8B-B14F-4D97-AF65-F5344CB8AC3E}">
        <p14:creationId xmlns:p14="http://schemas.microsoft.com/office/powerpoint/2010/main" val="699305449"/>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0F3F57-E6B6-8186-2E62-9C692D195B24}"/>
              </a:ext>
            </a:extLst>
          </p:cNvPr>
          <p:cNvSpPr>
            <a:spLocks noGrp="1"/>
          </p:cNvSpPr>
          <p:nvPr>
            <p:ph type="title"/>
          </p:nvPr>
        </p:nvSpPr>
        <p:spPr>
          <a:xfrm>
            <a:off x="518160" y="101601"/>
            <a:ext cx="11104880" cy="985519"/>
          </a:xfrm>
          <a:prstGeom prst="rect">
            <a:avLst/>
          </a:prstGeom>
        </p:spPr>
        <p:txBody>
          <a:bodyPr vert="horz" lIns="91440" tIns="45720" rIns="91440" bIns="45720" rtlCol="0" anchor="ctr">
            <a:normAutofit/>
          </a:bodyPr>
          <a:lstStyle/>
          <a:p>
            <a:r>
              <a:rPr lang="en-GB" dirty="0"/>
              <a:t>Click to edit Master title style</a:t>
            </a:r>
            <a:endParaRPr lang="en-PK" dirty="0"/>
          </a:p>
        </p:txBody>
      </p:sp>
      <p:sp>
        <p:nvSpPr>
          <p:cNvPr id="3" name="Text Placeholder 2">
            <a:extLst>
              <a:ext uri="{FF2B5EF4-FFF2-40B4-BE49-F238E27FC236}">
                <a16:creationId xmlns:a16="http://schemas.microsoft.com/office/drawing/2014/main" id="{A2111C77-CC50-A510-3609-2D8F9FCB7313}"/>
              </a:ext>
            </a:extLst>
          </p:cNvPr>
          <p:cNvSpPr>
            <a:spLocks noGrp="1"/>
          </p:cNvSpPr>
          <p:nvPr>
            <p:ph type="body" idx="1"/>
          </p:nvPr>
        </p:nvSpPr>
        <p:spPr>
          <a:xfrm>
            <a:off x="518160" y="1097280"/>
            <a:ext cx="11104880" cy="507968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FDA1BAA1-DC72-3CD1-7F89-2EE55E2377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Candara" panose="020E0502030303020204" pitchFamily="34" charset="0"/>
              </a:defRPr>
            </a:lvl1pPr>
          </a:lstStyle>
          <a:p>
            <a:fld id="{2A23580C-EA65-AC41-9F7C-B6439987B4B7}" type="datetime1">
              <a:rPr lang="en-US" smtClean="0"/>
              <a:t>4/28/2026</a:t>
            </a:fld>
            <a:endParaRPr lang="en-US" dirty="0"/>
          </a:p>
        </p:txBody>
      </p:sp>
      <p:sp>
        <p:nvSpPr>
          <p:cNvPr id="5" name="Footer Placeholder 4">
            <a:extLst>
              <a:ext uri="{FF2B5EF4-FFF2-40B4-BE49-F238E27FC236}">
                <a16:creationId xmlns:a16="http://schemas.microsoft.com/office/drawing/2014/main" id="{37D29EAC-E423-483D-525E-9C75A56954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Candara" panose="020E0502030303020204" pitchFamily="34" charset="0"/>
              </a:defRPr>
            </a:lvl1pPr>
          </a:lstStyle>
          <a:p>
            <a:endParaRPr lang="en-US" dirty="0"/>
          </a:p>
        </p:txBody>
      </p:sp>
      <p:cxnSp>
        <p:nvCxnSpPr>
          <p:cNvPr id="8" name="Straight Connector 7">
            <a:extLst>
              <a:ext uri="{FF2B5EF4-FFF2-40B4-BE49-F238E27FC236}">
                <a16:creationId xmlns:a16="http://schemas.microsoft.com/office/drawing/2014/main" id="{37901939-8975-2548-1296-9C55C71BB2BA}"/>
              </a:ext>
            </a:extLst>
          </p:cNvPr>
          <p:cNvCxnSpPr>
            <a:cxnSpLocks/>
          </p:cNvCxnSpPr>
          <p:nvPr userDrawn="1"/>
        </p:nvCxnSpPr>
        <p:spPr>
          <a:xfrm>
            <a:off x="518160" y="924560"/>
            <a:ext cx="1110488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CB69E88A-7B5E-60E0-B736-7FCE9C47388C}"/>
              </a:ext>
            </a:extLst>
          </p:cNvPr>
          <p:cNvSpPr/>
          <p:nvPr userDrawn="1"/>
        </p:nvSpPr>
        <p:spPr>
          <a:xfrm>
            <a:off x="0" y="6581940"/>
            <a:ext cx="12192000" cy="279070"/>
          </a:xfrm>
          <a:prstGeom prst="rect">
            <a:avLst/>
          </a:prstGeom>
          <a:solidFill>
            <a:srgbClr val="C5FF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400" dirty="0">
                <a:solidFill>
                  <a:schemeClr val="tx1"/>
                </a:solidFill>
                <a:latin typeface="+mn-lt"/>
              </a:rPr>
              <a:t>Spring</a:t>
            </a:r>
            <a:r>
              <a:rPr lang="en-PK" sz="1400" dirty="0">
                <a:solidFill>
                  <a:schemeClr val="tx1"/>
                </a:solidFill>
                <a:latin typeface="+mn-lt"/>
              </a:rPr>
              <a:t> 2026 | CS</a:t>
            </a:r>
            <a:r>
              <a:rPr lang="en-US" sz="1400" dirty="0">
                <a:solidFill>
                  <a:schemeClr val="tx1"/>
                </a:solidFill>
                <a:latin typeface="+mn-lt"/>
              </a:rPr>
              <a:t>E-355</a:t>
            </a:r>
            <a:r>
              <a:rPr lang="en-PK" sz="1400" dirty="0">
                <a:solidFill>
                  <a:schemeClr val="tx1"/>
                </a:solidFill>
                <a:latin typeface="+mn-lt"/>
              </a:rPr>
              <a:t> | Introduction to Blockchain</a:t>
            </a:r>
          </a:p>
        </p:txBody>
      </p:sp>
      <p:sp>
        <p:nvSpPr>
          <p:cNvPr id="6" name="Slide Number Placeholder 5">
            <a:extLst>
              <a:ext uri="{FF2B5EF4-FFF2-40B4-BE49-F238E27FC236}">
                <a16:creationId xmlns:a16="http://schemas.microsoft.com/office/drawing/2014/main" id="{E65A1E25-5EFC-07B9-34A4-FC84A6B0A118}"/>
              </a:ext>
            </a:extLst>
          </p:cNvPr>
          <p:cNvSpPr>
            <a:spLocks noGrp="1"/>
          </p:cNvSpPr>
          <p:nvPr>
            <p:ph type="sldNum" sz="quarter" idx="4"/>
          </p:nvPr>
        </p:nvSpPr>
        <p:spPr>
          <a:xfrm>
            <a:off x="10620104" y="6578930"/>
            <a:ext cx="1060269" cy="279070"/>
          </a:xfrm>
          <a:prstGeom prst="rect">
            <a:avLst/>
          </a:prstGeom>
        </p:spPr>
        <p:txBody>
          <a:bodyPr vert="horz" lIns="91440" tIns="45720" rIns="91440" bIns="45720" rtlCol="0" anchor="ctr"/>
          <a:lstStyle>
            <a:lvl1pPr algn="r">
              <a:defRPr sz="1400" b="1" i="0" baseline="0">
                <a:solidFill>
                  <a:schemeClr val="tx1"/>
                </a:solidFill>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492992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ctr" defTabSz="914400" rtl="0" eaLnBrk="1" latinLnBrk="0" hangingPunct="1">
        <a:lnSpc>
          <a:spcPct val="90000"/>
        </a:lnSpc>
        <a:spcBef>
          <a:spcPct val="0"/>
        </a:spcBef>
        <a:buNone/>
        <a:defRPr sz="4400" b="0" i="0" kern="1200">
          <a:solidFill>
            <a:srgbClr val="0432FF"/>
          </a:solidFill>
          <a:latin typeface="Candara" panose="020E0502030303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andara" panose="020E05020303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andara" panose="020E0502030303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andara" panose="020E0502030303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andara" panose="020E0502030303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andara" panose="020E0502030303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132334"/>
            <a:ext cx="10515600" cy="914067"/>
          </a:xfrm>
          <a:prstGeom prst="rect">
            <a:avLst/>
          </a:prstGeom>
        </p:spPr>
        <p:txBody>
          <a:bodyPr vert="horz" lIns="91438" tIns="45719" rIns="91438" bIns="45719" rtlCol="0" anchor="ctr">
            <a:normAutofit/>
          </a:bodyPr>
          <a:lstStyle/>
          <a:p>
            <a:r>
              <a:rPr lang="en-US" dirty="0"/>
              <a:t>Click to edit Master title style</a:t>
            </a:r>
          </a:p>
        </p:txBody>
      </p:sp>
      <p:sp>
        <p:nvSpPr>
          <p:cNvPr id="3" name="Text Placeholder 2"/>
          <p:cNvSpPr>
            <a:spLocks noGrp="1"/>
          </p:cNvSpPr>
          <p:nvPr>
            <p:ph type="body" idx="1"/>
          </p:nvPr>
        </p:nvSpPr>
        <p:spPr>
          <a:xfrm>
            <a:off x="838200" y="1273392"/>
            <a:ext cx="10515600" cy="5127408"/>
          </a:xfrm>
          <a:prstGeom prst="rect">
            <a:avLst/>
          </a:prstGeom>
        </p:spPr>
        <p:txBody>
          <a:bodyPr vert="horz" lIns="91438" tIns="45719" rIns="91438" bIns="45719"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9415606" y="6581870"/>
            <a:ext cx="2444436" cy="266348"/>
          </a:xfrm>
          <a:prstGeom prst="rect">
            <a:avLst/>
          </a:prstGeom>
        </p:spPr>
        <p:txBody>
          <a:bodyPr vert="horz" lIns="91438" tIns="45719" rIns="91438" bIns="45719" rtlCol="0" anchor="ctr"/>
          <a:lstStyle>
            <a:lvl1pPr algn="r">
              <a:defRPr lang="en-US" sz="900" smtClean="0">
                <a:solidFill>
                  <a:srgbClr val="000000"/>
                </a:solidFill>
              </a:defRPr>
            </a:lvl1pPr>
          </a:lstStyle>
          <a:p>
            <a:fld id="{19FE8B7B-3258-47CD-BBC0-34D05FC906E5}" type="slidenum">
              <a:rPr lang="en-US" smtClean="0"/>
              <a:pPr/>
              <a:t>‹#›</a:t>
            </a:fld>
            <a:endParaRPr lang="en-US" dirty="0"/>
          </a:p>
        </p:txBody>
      </p:sp>
      <p:sp>
        <p:nvSpPr>
          <p:cNvPr id="9" name="Rectangle 8"/>
          <p:cNvSpPr/>
          <p:nvPr/>
        </p:nvSpPr>
        <p:spPr>
          <a:xfrm>
            <a:off x="0" y="993895"/>
            <a:ext cx="12192000" cy="45720"/>
          </a:xfrm>
          <a:prstGeom prst="rect">
            <a:avLst/>
          </a:prstGeom>
          <a:solidFill>
            <a:srgbClr val="24469D"/>
          </a:solidFill>
        </p:spPr>
        <p:style>
          <a:lnRef idx="1">
            <a:schemeClr val="accent5"/>
          </a:lnRef>
          <a:fillRef idx="3">
            <a:schemeClr val="accent5"/>
          </a:fillRef>
          <a:effectRef idx="2">
            <a:schemeClr val="accent5"/>
          </a:effectRef>
          <a:fontRef idx="minor">
            <a:schemeClr val="lt1"/>
          </a:fontRef>
        </p:style>
        <p:txBody>
          <a:bodyPr lIns="68579" tIns="34289" rIns="68579" bIns="34289" rtlCol="0" anchor="ctr"/>
          <a:lstStyle/>
          <a:p>
            <a:pPr algn="ctr"/>
            <a:endParaRPr lang="en-US" sz="1425" dirty="0"/>
          </a:p>
        </p:txBody>
      </p:sp>
      <p:pic>
        <p:nvPicPr>
          <p:cNvPr id="11" name="Picture 10">
            <a:extLst>
              <a:ext uri="{FF2B5EF4-FFF2-40B4-BE49-F238E27FC236}">
                <a16:creationId xmlns:a16="http://schemas.microsoft.com/office/drawing/2014/main" id="{964528AB-DC2B-382E-A1C7-24A17F4667F8}"/>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p:blipFill>
        <p:spPr bwMode="auto">
          <a:xfrm>
            <a:off x="185092" y="117689"/>
            <a:ext cx="727986" cy="731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5574898"/>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mc:AlternateContent xmlns:mc="http://schemas.openxmlformats.org/markup-compatibility/2006" xmlns:p14="http://schemas.microsoft.com/office/powerpoint/2010/main">
    <mc:Choice Requires="p14">
      <p:transition spd="slow" p14:dur="10500"/>
    </mc:Choice>
    <mc:Fallback xmlns="">
      <p:transition spd="slow"/>
    </mc:Fallback>
  </mc:AlternateContent>
  <p:hf hdr="0" ftr="0" dt="0"/>
  <p:txStyles>
    <p:titleStyle>
      <a:lvl1pPr algn="ctr" defTabSz="685783" rtl="0" eaLnBrk="1" latinLnBrk="0" hangingPunct="1">
        <a:lnSpc>
          <a:spcPct val="90000"/>
        </a:lnSpc>
        <a:spcBef>
          <a:spcPct val="0"/>
        </a:spcBef>
        <a:buNone/>
        <a:defRPr sz="2400" b="1" kern="1200">
          <a:solidFill>
            <a:schemeClr val="tx1"/>
          </a:solidFill>
          <a:latin typeface="+mn-lt"/>
          <a:ea typeface="+mj-ea"/>
          <a:cs typeface="+mj-cs"/>
        </a:defRPr>
      </a:lvl1pPr>
    </p:titleStyle>
    <p:bodyStyle>
      <a:lvl1pPr marL="171446" indent="-171446" algn="l" defTabSz="685783" rtl="0" eaLnBrk="1" latinLnBrk="0" hangingPunct="1">
        <a:lnSpc>
          <a:spcPct val="9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37" indent="-171446" algn="l" defTabSz="685783"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28" indent="-171446" algn="l" defTabSz="685783"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20" indent="-171446" algn="l" defTabSz="685783"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4pPr>
      <a:lvl5pPr marL="1543012" indent="-171446" algn="l" defTabSz="685783"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9pPr>
    </p:bodyStyle>
    <p:otherStyle>
      <a:defPPr>
        <a:defRPr lang="en-US"/>
      </a:defPPr>
      <a:lvl1pPr marL="0" algn="l" defTabSz="685783" rtl="0" eaLnBrk="1" latinLnBrk="0" hangingPunct="1">
        <a:defRPr sz="1425" kern="1200">
          <a:solidFill>
            <a:schemeClr val="tx1"/>
          </a:solidFill>
          <a:latin typeface="+mn-lt"/>
          <a:ea typeface="+mn-ea"/>
          <a:cs typeface="+mn-cs"/>
        </a:defRPr>
      </a:lvl1pPr>
      <a:lvl2pPr marL="342892" algn="l" defTabSz="685783" rtl="0" eaLnBrk="1" latinLnBrk="0" hangingPunct="1">
        <a:defRPr sz="1425" kern="1200">
          <a:solidFill>
            <a:schemeClr val="tx1"/>
          </a:solidFill>
          <a:latin typeface="+mn-lt"/>
          <a:ea typeface="+mn-ea"/>
          <a:cs typeface="+mn-cs"/>
        </a:defRPr>
      </a:lvl2pPr>
      <a:lvl3pPr marL="685783" algn="l" defTabSz="685783" rtl="0" eaLnBrk="1" latinLnBrk="0" hangingPunct="1">
        <a:defRPr sz="1425" kern="1200">
          <a:solidFill>
            <a:schemeClr val="tx1"/>
          </a:solidFill>
          <a:latin typeface="+mn-lt"/>
          <a:ea typeface="+mn-ea"/>
          <a:cs typeface="+mn-cs"/>
        </a:defRPr>
      </a:lvl3pPr>
      <a:lvl4pPr marL="1028675" algn="l" defTabSz="685783" rtl="0" eaLnBrk="1" latinLnBrk="0" hangingPunct="1">
        <a:defRPr sz="1425" kern="1200">
          <a:solidFill>
            <a:schemeClr val="tx1"/>
          </a:solidFill>
          <a:latin typeface="+mn-lt"/>
          <a:ea typeface="+mn-ea"/>
          <a:cs typeface="+mn-cs"/>
        </a:defRPr>
      </a:lvl4pPr>
      <a:lvl5pPr marL="1371566" algn="l" defTabSz="685783" rtl="0" eaLnBrk="1" latinLnBrk="0" hangingPunct="1">
        <a:defRPr sz="1425" kern="1200">
          <a:solidFill>
            <a:schemeClr val="tx1"/>
          </a:solidFill>
          <a:latin typeface="+mn-lt"/>
          <a:ea typeface="+mn-ea"/>
          <a:cs typeface="+mn-cs"/>
        </a:defRPr>
      </a:lvl5pPr>
      <a:lvl6pPr marL="1714457" algn="l" defTabSz="685783" rtl="0" eaLnBrk="1" latinLnBrk="0" hangingPunct="1">
        <a:defRPr sz="1425" kern="1200">
          <a:solidFill>
            <a:schemeClr val="tx1"/>
          </a:solidFill>
          <a:latin typeface="+mn-lt"/>
          <a:ea typeface="+mn-ea"/>
          <a:cs typeface="+mn-cs"/>
        </a:defRPr>
      </a:lvl6pPr>
      <a:lvl7pPr marL="2057348" algn="l" defTabSz="685783" rtl="0" eaLnBrk="1" latinLnBrk="0" hangingPunct="1">
        <a:defRPr sz="1425" kern="1200">
          <a:solidFill>
            <a:schemeClr val="tx1"/>
          </a:solidFill>
          <a:latin typeface="+mn-lt"/>
          <a:ea typeface="+mn-ea"/>
          <a:cs typeface="+mn-cs"/>
        </a:defRPr>
      </a:lvl7pPr>
      <a:lvl8pPr marL="2400240" algn="l" defTabSz="685783" rtl="0" eaLnBrk="1" latinLnBrk="0" hangingPunct="1">
        <a:defRPr sz="1425" kern="1200">
          <a:solidFill>
            <a:schemeClr val="tx1"/>
          </a:solidFill>
          <a:latin typeface="+mn-lt"/>
          <a:ea typeface="+mn-ea"/>
          <a:cs typeface="+mn-cs"/>
        </a:defRPr>
      </a:lvl8pPr>
      <a:lvl9pPr marL="2743132" algn="l" defTabSz="685783" rtl="0" eaLnBrk="1" latinLnBrk="0" hangingPunct="1">
        <a:defRPr sz="14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docs.google.com/spreadsheets/d/1n6mRqkBz3iWcOlRem_mO09GtSKEKrAsfO7Frgx18pNU/edit#gid=0"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hyperlink" Target="https://etherscan.io/" TargetMode="External"/><Relationship Id="rId4" Type="http://schemas.openxmlformats.org/officeDocument/2006/relationships/hyperlink" Target="https://etherscan.io/tx/0x3fa19306a5dfc227537fdaf90b6883104dd0458cf9fbe3410a3254e5ca0e3618"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hyperlink" Target="https://ethereum.org/en/whitepaper/" TargetMode="External"/></Relationships>
</file>

<file path=ppt/slides/_rels/slide13.xml.rels><?xml version="1.0" encoding="UTF-8" standalone="yes"?>
<Relationships xmlns="http://schemas.openxmlformats.org/package/2006/relationships"><Relationship Id="rId8" Type="http://schemas.openxmlformats.org/officeDocument/2006/relationships/hyperlink" Target="https://etherscan.io/chart/ethersupplygrowth" TargetMode="External"/><Relationship Id="rId3" Type="http://schemas.openxmlformats.org/officeDocument/2006/relationships/hyperlink" Target="https://etherscan.io/chart/dailyethburnt" TargetMode="External"/><Relationship Id="rId7"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https://etherscan.io/block/16833280"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ethereum.org/en/developers/docs/accounts/"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hyperlink" Target="https://etherscan.io/tx/0xe5af36d9162a89e2da2b99b5afb5fefe85569bc2b0945ed97a36b7333c2b4bfe" TargetMode="Externa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hyperlink" Target="https://etherscan.io/block/14396889" TargetMode="External"/><Relationship Id="rId4" Type="http://schemas.openxmlformats.org/officeDocument/2006/relationships/image" Target="../media/image20.png"/></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hyperlink" Target="https://blog.ethereum.org/2019/12/30/eth1x-files-state-of-stateless-ethereum/"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hyperlink" Target="https://vitalik.ca/general/2021/06/18/verkle.html" TargetMode="External"/></Relationships>
</file>

<file path=ppt/slides/_rels/slide48.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4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hyperlink" Target="https://etherscan.io/chart/address" TargetMode="Externa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5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9.png"/><Relationship Id="rId4" Type="http://schemas.openxmlformats.org/officeDocument/2006/relationships/image" Target="../media/image28.png"/></Relationships>
</file>

<file path=ppt/slides/_rels/slide5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etherscan.io/chart/address" TargetMode="Externa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https://etherscan.io/chart/active-address" TargetMode="External"/><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60.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0.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9.png"/></Relationships>
</file>

<file path=ppt/slides/_rels/slide6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6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hyperlink" Target="https://ethereum.org/en/developers/docs/nodes-and-clients/" TargetMode="External"/><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62.png"/><Relationship Id="rId2" Type="http://schemas.openxmlformats.org/officeDocument/2006/relationships/hyperlink" Target="https://www.alchemy.com/overviews/what-is-the-ethereum-beacon-chain" TargetMode="External"/><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2.png"/><Relationship Id="rId4" Type="http://schemas.openxmlformats.org/officeDocument/2006/relationships/image" Target="../media/image51.png"/></Relationships>
</file>

<file path=ppt/slides/_rels/slide69.xml.rels><?xml version="1.0" encoding="UTF-8" standalone="yes"?>
<Relationships xmlns="http://schemas.openxmlformats.org/package/2006/relationships"><Relationship Id="rId3" Type="http://schemas.openxmlformats.org/officeDocument/2006/relationships/hyperlink" Target="https://etherscan.io/chart/tx" TargetMode="External"/><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hyperlink" Target="https://ethereum.org/en/energy-consumption/#:~:text=This%20yielded%20an%20estimate%20of,regional%2Dspecific%20carbon%20intensity%20factors" TargetMode="External"/><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72.xml.rels><?xml version="1.0" encoding="UTF-8" standalone="yes"?>
<Relationships xmlns="http://schemas.openxmlformats.org/package/2006/relationships"><Relationship Id="rId3" Type="http://schemas.openxmlformats.org/officeDocument/2006/relationships/hyperlink" Target="https://etherscan.io/address/0x00000000219ab540356cbb839cbe05303d7705fa"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hyperlink" Target="https://beaconscan.com/statistics" TargetMode="External"/><Relationship Id="rId4" Type="http://schemas.openxmlformats.org/officeDocument/2006/relationships/image" Target="../media/image65.png"/></Relationships>
</file>

<file path=ppt/slides/_rels/slide7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hyperlink" Target="https://beaconscan.com/statistics" TargetMode="External"/></Relationships>
</file>

<file path=ppt/slides/_rels/slide74.xml.rels><?xml version="1.0" encoding="UTF-8" standalone="yes"?>
<Relationships xmlns="http://schemas.openxmlformats.org/package/2006/relationships"><Relationship Id="rId3" Type="http://schemas.openxmlformats.org/officeDocument/2006/relationships/hyperlink" Target="https://ethereum.org/en/developers/docs/consensus-mechanisms/pos/" TargetMode="External"/><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69.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hyperlink" Target="https://blog.mexc.com/news/layer-2-revolution-ethereums-scaling-superstars-in-2025-where-speed-meets-billions-in-tvl/" TargetMode="External"/><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hyperlink" Target="https://hacken.io/discover/eip-4844-explained/" TargetMode="External"/></Relationships>
</file>

<file path=ppt/slides/_rels/slide8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hyperlink" Target="https://blobscan.com/tx/0x2a0353844c354ead92379cd6b63b2594634ed86239e10f43fb83963de22a6067" TargetMode="Externa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hyperlink" Target="https://crypto.com/en/research/ethereum-proto-danksharding-dencun" TargetMode="External"/><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532F2-2275-3F6B-82B8-1B0CA52FBDFC}"/>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980EC572-1CE7-598F-9FA4-5062F84F9CA5}"/>
              </a:ext>
            </a:extLst>
          </p:cNvPr>
          <p:cNvSpPr/>
          <p:nvPr/>
        </p:nvSpPr>
        <p:spPr>
          <a:xfrm>
            <a:off x="384313" y="3016490"/>
            <a:ext cx="10846671" cy="14465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latin typeface="Candara" panose="020E0502030303020204" pitchFamily="34" charset="0"/>
            </a:endParaRPr>
          </a:p>
        </p:txBody>
      </p:sp>
      <p:sp>
        <p:nvSpPr>
          <p:cNvPr id="10" name="Rectangle 9">
            <a:extLst>
              <a:ext uri="{FF2B5EF4-FFF2-40B4-BE49-F238E27FC236}">
                <a16:creationId xmlns:a16="http://schemas.microsoft.com/office/drawing/2014/main" id="{B4170A78-22DF-BCD5-825B-B0A7F8375E55}"/>
              </a:ext>
            </a:extLst>
          </p:cNvPr>
          <p:cNvSpPr/>
          <p:nvPr/>
        </p:nvSpPr>
        <p:spPr>
          <a:xfrm>
            <a:off x="252663" y="637674"/>
            <a:ext cx="11555024" cy="4317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pic>
        <p:nvPicPr>
          <p:cNvPr id="6" name="Picture 2">
            <a:extLst>
              <a:ext uri="{FF2B5EF4-FFF2-40B4-BE49-F238E27FC236}">
                <a16:creationId xmlns:a16="http://schemas.microsoft.com/office/drawing/2014/main" id="{A92A327C-08C1-4A0B-3853-4BC7F0718664}"/>
              </a:ext>
            </a:extLst>
          </p:cNvPr>
          <p:cNvPicPr>
            <a:picLocks noChangeAspect="1" noChangeArrowheads="1"/>
          </p:cNvPicPr>
          <p:nvPr/>
        </p:nvPicPr>
        <p:blipFill>
          <a:blip r:embed="rId3"/>
          <a:srcRect/>
          <a:stretch/>
        </p:blipFill>
        <p:spPr bwMode="auto">
          <a:xfrm>
            <a:off x="5401750" y="440958"/>
            <a:ext cx="1256849" cy="125684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F13B4093-EDEB-88AD-105E-DD4B298CCEEA}"/>
              </a:ext>
            </a:extLst>
          </p:cNvPr>
          <p:cNvSpPr>
            <a:spLocks noGrp="1"/>
          </p:cNvSpPr>
          <p:nvPr>
            <p:ph type="ctrTitle"/>
          </p:nvPr>
        </p:nvSpPr>
        <p:spPr/>
        <p:txBody>
          <a:bodyPr>
            <a:normAutofit/>
          </a:bodyPr>
          <a:lstStyle/>
          <a:p>
            <a:r>
              <a:rPr lang="en-GB" dirty="0">
                <a:latin typeface="+mn-lt"/>
              </a:rPr>
              <a:t>Introduction to Blockchain</a:t>
            </a:r>
            <a:br>
              <a:rPr lang="en-GB" dirty="0">
                <a:latin typeface="+mn-lt"/>
              </a:rPr>
            </a:br>
            <a:br>
              <a:rPr lang="en-GB" dirty="0">
                <a:latin typeface="+mn-lt"/>
              </a:rPr>
            </a:br>
            <a:r>
              <a:rPr lang="en-GB" sz="4000" dirty="0">
                <a:solidFill>
                  <a:srgbClr val="C00000"/>
                </a:solidFill>
                <a:latin typeface="+mn-lt"/>
              </a:rPr>
              <a:t>CSE-355</a:t>
            </a:r>
            <a:endParaRPr lang="en-PK" dirty="0">
              <a:solidFill>
                <a:srgbClr val="C00000"/>
              </a:solidFill>
              <a:latin typeface="+mn-lt"/>
            </a:endParaRPr>
          </a:p>
        </p:txBody>
      </p:sp>
      <p:sp>
        <p:nvSpPr>
          <p:cNvPr id="7" name="Subtitle 6">
            <a:extLst>
              <a:ext uri="{FF2B5EF4-FFF2-40B4-BE49-F238E27FC236}">
                <a16:creationId xmlns:a16="http://schemas.microsoft.com/office/drawing/2014/main" id="{B02CF6C0-F187-BF6B-6A7A-C82247549081}"/>
              </a:ext>
            </a:extLst>
          </p:cNvPr>
          <p:cNvSpPr>
            <a:spLocks noGrp="1"/>
          </p:cNvSpPr>
          <p:nvPr>
            <p:ph type="subTitle" idx="1"/>
          </p:nvPr>
        </p:nvSpPr>
        <p:spPr/>
        <p:txBody>
          <a:bodyPr>
            <a:normAutofit fontScale="92500" lnSpcReduction="10000"/>
          </a:bodyPr>
          <a:lstStyle/>
          <a:p>
            <a:r>
              <a:rPr lang="en-GB" dirty="0"/>
              <a:t>Ahmed Akhtar</a:t>
            </a:r>
          </a:p>
          <a:p>
            <a:r>
              <a:rPr lang="en-GB" dirty="0"/>
              <a:t>Department of Computer Science</a:t>
            </a:r>
          </a:p>
          <a:p>
            <a:r>
              <a:rPr lang="en-GB" dirty="0"/>
              <a:t>SMCS, IBA Karachi</a:t>
            </a:r>
          </a:p>
          <a:p>
            <a:r>
              <a:rPr lang="en-GB" dirty="0"/>
              <a:t>Spring 2026</a:t>
            </a:r>
          </a:p>
        </p:txBody>
      </p:sp>
    </p:spTree>
    <p:extLst>
      <p:ext uri="{BB962C8B-B14F-4D97-AF65-F5344CB8AC3E}">
        <p14:creationId xmlns:p14="http://schemas.microsoft.com/office/powerpoint/2010/main" val="21836154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D1340-394C-8092-5D0A-E3BCC7B6D6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8C9F2F-9E03-4A62-A198-A3062FB80C16}"/>
              </a:ext>
            </a:extLst>
          </p:cNvPr>
          <p:cNvSpPr>
            <a:spLocks noGrp="1"/>
          </p:cNvSpPr>
          <p:nvPr>
            <p:ph type="title"/>
          </p:nvPr>
        </p:nvSpPr>
        <p:spPr/>
        <p:txBody>
          <a:bodyPr/>
          <a:lstStyle/>
          <a:p>
            <a:r>
              <a:rPr lang="en-PK" dirty="0">
                <a:latin typeface="+mn-lt"/>
              </a:rPr>
              <a:t>Lecture </a:t>
            </a:r>
            <a:r>
              <a:rPr lang="en-US" dirty="0">
                <a:latin typeface="+mn-lt"/>
              </a:rPr>
              <a:t>21</a:t>
            </a:r>
            <a:br>
              <a:rPr lang="en-PK" dirty="0">
                <a:latin typeface="+mn-lt"/>
              </a:rPr>
            </a:br>
            <a:r>
              <a:rPr lang="en-US" dirty="0">
                <a:latin typeface="+mn-lt"/>
              </a:rPr>
              <a:t>Tuesday</a:t>
            </a:r>
            <a:r>
              <a:rPr lang="en-PK" dirty="0">
                <a:latin typeface="+mn-lt"/>
              </a:rPr>
              <a:t>, </a:t>
            </a:r>
            <a:r>
              <a:rPr lang="en-US" dirty="0">
                <a:latin typeface="+mn-lt"/>
              </a:rPr>
              <a:t>Apr</a:t>
            </a:r>
            <a:r>
              <a:rPr lang="en-PK" dirty="0">
                <a:latin typeface="+mn-lt"/>
              </a:rPr>
              <a:t> </a:t>
            </a:r>
            <a:r>
              <a:rPr lang="en-US" dirty="0">
                <a:latin typeface="+mn-lt"/>
              </a:rPr>
              <a:t>14</a:t>
            </a:r>
            <a:r>
              <a:rPr lang="en-PK" dirty="0">
                <a:latin typeface="+mn-lt"/>
              </a:rPr>
              <a:t>, 202</a:t>
            </a:r>
            <a:r>
              <a:rPr lang="en-US" dirty="0">
                <a:latin typeface="+mn-lt"/>
              </a:rPr>
              <a:t>6</a:t>
            </a:r>
            <a:endParaRPr lang="en-PK" dirty="0">
              <a:latin typeface="+mn-lt"/>
            </a:endParaRPr>
          </a:p>
        </p:txBody>
      </p:sp>
      <p:sp>
        <p:nvSpPr>
          <p:cNvPr id="4" name="Slide Number Placeholder 3">
            <a:extLst>
              <a:ext uri="{FF2B5EF4-FFF2-40B4-BE49-F238E27FC236}">
                <a16:creationId xmlns:a16="http://schemas.microsoft.com/office/drawing/2014/main" id="{F33F174B-0761-8199-54BA-09C4CA09D63D}"/>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2785611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Risks of Turing-Completeness</a:t>
            </a:r>
          </a:p>
        </p:txBody>
      </p:sp>
      <p:sp>
        <p:nvSpPr>
          <p:cNvPr id="3" name="Content Placeholder 2"/>
          <p:cNvSpPr>
            <a:spLocks noGrp="1"/>
          </p:cNvSpPr>
          <p:nvPr>
            <p:ph idx="1"/>
          </p:nvPr>
        </p:nvSpPr>
        <p:spPr>
          <a:xfrm>
            <a:off x="911357" y="2129157"/>
            <a:ext cx="10124836" cy="2599686"/>
          </a:xfrm>
          <a:ln>
            <a:noFill/>
          </a:ln>
        </p:spPr>
        <p:txBody>
          <a:bodyPr anchor="ctr" anchorCtr="0">
            <a:spAutoFit/>
          </a:bodyPr>
          <a:lstStyle/>
          <a:p>
            <a:pPr marL="0" indent="0">
              <a:buNone/>
            </a:pPr>
            <a:r>
              <a:rPr lang="en-US" sz="1800" dirty="0"/>
              <a:t>There are several risks:</a:t>
            </a:r>
          </a:p>
          <a:p>
            <a:r>
              <a:rPr lang="en-US" sz="1800" dirty="0">
                <a:solidFill>
                  <a:schemeClr val="accent2"/>
                </a:solidFill>
              </a:rPr>
              <a:t>Security risks:</a:t>
            </a:r>
            <a:r>
              <a:rPr lang="en-US" sz="1800" dirty="0"/>
              <a:t> Due to complexities and vulnerabilities that are difficult to anticipate</a:t>
            </a:r>
          </a:p>
          <a:p>
            <a:r>
              <a:rPr lang="en-US" sz="1800" dirty="0">
                <a:solidFill>
                  <a:schemeClr val="accent2"/>
                </a:solidFill>
              </a:rPr>
              <a:t>Difficulty in formal verification:</a:t>
            </a:r>
            <a:r>
              <a:rPr lang="en-US" sz="1800" dirty="0"/>
              <a:t> Proving or verifying the correctness of a program becomes challenging</a:t>
            </a:r>
          </a:p>
          <a:p>
            <a:r>
              <a:rPr lang="en-US" sz="1800" dirty="0">
                <a:solidFill>
                  <a:schemeClr val="accent2"/>
                </a:solidFill>
              </a:rPr>
              <a:t>Scalability concerns:</a:t>
            </a:r>
            <a:r>
              <a:rPr lang="en-US" sz="1800" dirty="0"/>
              <a:t> Arbitrary and computationally resource-intensive programs can be created</a:t>
            </a:r>
          </a:p>
          <a:p>
            <a:r>
              <a:rPr lang="en-US" sz="1800" dirty="0">
                <a:solidFill>
                  <a:schemeClr val="accent2"/>
                </a:solidFill>
              </a:rPr>
              <a:t>Potential for misuse or abuse:</a:t>
            </a:r>
            <a:r>
              <a:rPr lang="en-US" sz="1800" dirty="0"/>
              <a:t> The flexibility of Turing-complete languages can also be exploited for malicious purposes, e.g., malicious actors may create smart contracts to conceal malicious behavior, making it harder to detect and mitigate security risks</a:t>
            </a:r>
          </a:p>
        </p:txBody>
      </p:sp>
      <p:sp>
        <p:nvSpPr>
          <p:cNvPr id="4" name="Slide Number Placeholder 3"/>
          <p:cNvSpPr>
            <a:spLocks noGrp="1"/>
          </p:cNvSpPr>
          <p:nvPr>
            <p:ph type="sldNum" sz="quarter" idx="12"/>
          </p:nvPr>
        </p:nvSpPr>
        <p:spPr/>
        <p:txBody>
          <a:bodyPr/>
          <a:lstStyle/>
          <a:p>
            <a:fld id="{19FE8B7B-3258-47CD-BBC0-34D05FC906E5}" type="slidenum">
              <a:rPr>
                <a:latin typeface="Candara" panose="020E0502030303020204" pitchFamily="34" charset="0"/>
              </a:rPr>
              <a:pPr/>
              <a:t>3</a:t>
            </a:fld>
            <a:endParaRPr dirty="0">
              <a:latin typeface="Candara" panose="020E0502030303020204" pitchFamily="34" charset="0"/>
            </a:endParaRPr>
          </a:p>
        </p:txBody>
      </p:sp>
      <p:sp>
        <p:nvSpPr>
          <p:cNvPr id="5" name="TextBox 4"/>
          <p:cNvSpPr txBox="1"/>
          <p:nvPr/>
        </p:nvSpPr>
        <p:spPr>
          <a:xfrm>
            <a:off x="7087561" y="5192221"/>
            <a:ext cx="4101807" cy="923330"/>
          </a:xfrm>
          <a:prstGeom prst="rect">
            <a:avLst/>
          </a:prstGeom>
          <a:solidFill>
            <a:schemeClr val="accent6">
              <a:lumMod val="75000"/>
            </a:schemeClr>
          </a:solidFill>
          <a:ln>
            <a:solidFill>
              <a:schemeClr val="tx1"/>
            </a:solidFill>
          </a:ln>
        </p:spPr>
        <p:txBody>
          <a:bodyPr wrap="square" rtlCol="0" anchor="ctr" anchorCtr="0">
            <a:spAutoFit/>
          </a:bodyPr>
          <a:lstStyle>
            <a:defPPr>
              <a:defRPr lang="en-US"/>
            </a:defPPr>
            <a:lvl1pPr algn="ctr">
              <a:defRPr sz="2200"/>
            </a:lvl1pPr>
          </a:lstStyle>
          <a:p>
            <a:r>
              <a:rPr lang="en-US" sz="1800" dirty="0">
                <a:solidFill>
                  <a:schemeClr val="bg1"/>
                </a:solidFill>
                <a:latin typeface="Candara" panose="020E0502030303020204" pitchFamily="34" charset="0"/>
              </a:rPr>
              <a:t>Bitcoin’s scripting language is intentionally Turing-incomplete to ensure predictable outcomes</a:t>
            </a:r>
          </a:p>
        </p:txBody>
      </p:sp>
      <p:sp>
        <p:nvSpPr>
          <p:cNvPr id="6" name="Rectangle 5"/>
          <p:cNvSpPr/>
          <p:nvPr/>
        </p:nvSpPr>
        <p:spPr>
          <a:xfrm>
            <a:off x="840846" y="5053722"/>
            <a:ext cx="5255154" cy="1200329"/>
          </a:xfrm>
          <a:prstGeom prst="rect">
            <a:avLst/>
          </a:prstGeom>
        </p:spPr>
        <p:txBody>
          <a:bodyPr wrap="square" anchor="ctr" anchorCtr="0">
            <a:spAutoFit/>
          </a:bodyPr>
          <a:lstStyle/>
          <a:p>
            <a:pPr marL="342900" indent="-342900">
              <a:buFont typeface="Arial" panose="020B0604020202020204" pitchFamily="34" charset="0"/>
              <a:buChar char="•"/>
            </a:pPr>
            <a:r>
              <a:rPr lang="en-US" dirty="0">
                <a:solidFill>
                  <a:prstClr val="black"/>
                </a:solidFill>
                <a:latin typeface="Candara" panose="020E0502030303020204" pitchFamily="34" charset="0"/>
              </a:rPr>
              <a:t>Infinite loops that never terminate can be easily created</a:t>
            </a:r>
          </a:p>
          <a:p>
            <a:pPr marL="342900" indent="-342900">
              <a:buFont typeface="Arial" panose="020B0604020202020204" pitchFamily="34" charset="0"/>
              <a:buChar char="•"/>
            </a:pPr>
            <a:r>
              <a:rPr lang="en-US" dirty="0">
                <a:solidFill>
                  <a:prstClr val="black"/>
                </a:solidFill>
                <a:latin typeface="Candara" panose="020E0502030303020204" pitchFamily="34" charset="0"/>
              </a:rPr>
              <a:t>Unintended never-ending loops can also arise without warning  </a:t>
            </a:r>
          </a:p>
        </p:txBody>
      </p:sp>
      <p:sp>
        <p:nvSpPr>
          <p:cNvPr id="8" name="TextBox 7"/>
          <p:cNvSpPr txBox="1"/>
          <p:nvPr/>
        </p:nvSpPr>
        <p:spPr>
          <a:xfrm>
            <a:off x="1181475" y="1593082"/>
            <a:ext cx="9829050" cy="400110"/>
          </a:xfrm>
          <a:prstGeom prst="rect">
            <a:avLst/>
          </a:prstGeom>
          <a:noFill/>
          <a:ln>
            <a:noFill/>
          </a:ln>
        </p:spPr>
        <p:txBody>
          <a:bodyPr wrap="square" rtlCol="0">
            <a:spAutoFit/>
          </a:bodyPr>
          <a:lstStyle>
            <a:defPPr>
              <a:defRPr lang="en-US"/>
            </a:defPPr>
            <a:lvl1pPr algn="ctr">
              <a:defRPr sz="2200"/>
            </a:lvl1pPr>
          </a:lstStyle>
          <a:p>
            <a:r>
              <a:rPr lang="en-US" sz="2000" dirty="0">
                <a:solidFill>
                  <a:schemeClr val="accent2"/>
                </a:solidFill>
                <a:latin typeface="Candara" panose="020E0502030303020204" pitchFamily="34" charset="0"/>
              </a:rPr>
              <a:t>Are there any challenges and risks of Turing-Completeness?</a:t>
            </a:r>
          </a:p>
        </p:txBody>
      </p:sp>
      <p:sp>
        <p:nvSpPr>
          <p:cNvPr id="9" name="Rectangle 8"/>
          <p:cNvSpPr/>
          <p:nvPr/>
        </p:nvSpPr>
        <p:spPr>
          <a:xfrm>
            <a:off x="840846" y="1078917"/>
            <a:ext cx="10195347" cy="400110"/>
          </a:xfrm>
          <a:prstGeom prst="rect">
            <a:avLst/>
          </a:prstGeom>
          <a:solidFill>
            <a:srgbClr val="7030A0"/>
          </a:solidFill>
          <a:ln>
            <a:noFill/>
          </a:ln>
        </p:spPr>
        <p:txBody>
          <a:bodyPr wrap="square" anchor="ctr" anchorCtr="0">
            <a:spAutoFit/>
          </a:bodyPr>
          <a:lstStyle/>
          <a:p>
            <a:pPr algn="ctr"/>
            <a:r>
              <a:rPr lang="en-US" sz="2000" dirty="0">
                <a:solidFill>
                  <a:schemeClr val="bg1"/>
                </a:solidFill>
                <a:latin typeface="Candara" panose="020E0502030303020204" pitchFamily="34" charset="0"/>
              </a:rPr>
              <a:t>Ethereum is Turing-complete, which allows immense flexibility in writing smart contracts </a:t>
            </a:r>
          </a:p>
        </p:txBody>
      </p:sp>
    </p:spTree>
    <p:extLst>
      <p:ext uri="{BB962C8B-B14F-4D97-AF65-F5344CB8AC3E}">
        <p14:creationId xmlns:p14="http://schemas.microsoft.com/office/powerpoint/2010/main" val="1730500821"/>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Introduce Computational Cost: Gas</a:t>
            </a:r>
          </a:p>
        </p:txBody>
      </p:sp>
      <p:sp>
        <p:nvSpPr>
          <p:cNvPr id="3" name="Content Placeholder 2"/>
          <p:cNvSpPr>
            <a:spLocks noGrp="1"/>
          </p:cNvSpPr>
          <p:nvPr>
            <p:ph idx="1"/>
          </p:nvPr>
        </p:nvSpPr>
        <p:spPr>
          <a:xfrm>
            <a:off x="487679" y="1071228"/>
            <a:ext cx="11186160" cy="701731"/>
          </a:xfrm>
          <a:solidFill>
            <a:srgbClr val="7030A0"/>
          </a:solidFill>
          <a:ln>
            <a:noFill/>
          </a:ln>
        </p:spPr>
        <p:txBody>
          <a:bodyPr wrap="square" anchor="ctr" anchorCtr="0">
            <a:spAutoFit/>
          </a:bodyPr>
          <a:lstStyle/>
          <a:p>
            <a:pPr marL="0" indent="0" algn="ctr">
              <a:buNone/>
            </a:pPr>
            <a:r>
              <a:rPr lang="en-US" sz="2200" dirty="0">
                <a:solidFill>
                  <a:schemeClr val="bg1"/>
                </a:solidFill>
              </a:rPr>
              <a:t>To address the disadvantages of Turing-completeness, Ethereum introduced a computational cost mechanism called </a:t>
            </a:r>
            <a:r>
              <a:rPr lang="en-US" sz="2200" i="1" dirty="0">
                <a:solidFill>
                  <a:schemeClr val="bg1"/>
                </a:solidFill>
              </a:rPr>
              <a:t>‘Gas’</a:t>
            </a:r>
            <a:r>
              <a:rPr lang="en-US" sz="2200" dirty="0">
                <a:solidFill>
                  <a:schemeClr val="bg1"/>
                </a:solidFill>
              </a:rPr>
              <a:t>  </a:t>
            </a:r>
          </a:p>
        </p:txBody>
      </p:sp>
      <p:sp>
        <p:nvSpPr>
          <p:cNvPr id="4" name="Slide Number Placeholder 3"/>
          <p:cNvSpPr>
            <a:spLocks noGrp="1"/>
          </p:cNvSpPr>
          <p:nvPr>
            <p:ph type="sldNum" sz="quarter" idx="12"/>
          </p:nvPr>
        </p:nvSpPr>
        <p:spPr/>
        <p:txBody>
          <a:bodyPr/>
          <a:lstStyle/>
          <a:p>
            <a:fld id="{19FE8B7B-3258-47CD-BBC0-34D05FC906E5}" type="slidenum">
              <a:rPr/>
              <a:pPr/>
              <a:t>4</a:t>
            </a:fld>
            <a:endParaRPr dirty="0"/>
          </a:p>
        </p:txBody>
      </p:sp>
      <p:sp>
        <p:nvSpPr>
          <p:cNvPr id="5" name="Rectangle 4"/>
          <p:cNvSpPr/>
          <p:nvPr/>
        </p:nvSpPr>
        <p:spPr>
          <a:xfrm>
            <a:off x="487679" y="5595260"/>
            <a:ext cx="11186160" cy="769441"/>
          </a:xfrm>
          <a:prstGeom prst="rect">
            <a:avLst/>
          </a:prstGeom>
          <a:solidFill>
            <a:srgbClr val="7030A0"/>
          </a:solidFill>
          <a:ln>
            <a:noFill/>
          </a:ln>
        </p:spPr>
        <p:txBody>
          <a:bodyPr wrap="square" rtlCol="0">
            <a:spAutoFit/>
          </a:bodyPr>
          <a:lstStyle/>
          <a:p>
            <a:pPr algn="ctr"/>
            <a:r>
              <a:rPr lang="en-US" sz="2200" dirty="0">
                <a:solidFill>
                  <a:schemeClr val="bg1"/>
                </a:solidFill>
                <a:latin typeface="Candara" panose="020E0502030303020204" pitchFamily="34" charset="0"/>
              </a:rPr>
              <a:t>The use of gas as the fundamental unit of computational effort allows Ethereum to limit resource consumption and prevent misuse by malicious actors </a:t>
            </a:r>
          </a:p>
        </p:txBody>
      </p:sp>
      <p:sp>
        <p:nvSpPr>
          <p:cNvPr id="7" name="Rectangle 6"/>
          <p:cNvSpPr/>
          <p:nvPr/>
        </p:nvSpPr>
        <p:spPr>
          <a:xfrm>
            <a:off x="487679" y="1945172"/>
            <a:ext cx="11186160" cy="3477875"/>
          </a:xfrm>
          <a:prstGeom prst="rect">
            <a:avLst/>
          </a:prstGeom>
          <a:ln>
            <a:noFill/>
          </a:ln>
        </p:spPr>
        <p:txBody>
          <a:bodyPr wrap="square" anchor="ctr" anchorCtr="0">
            <a:spAutoFit/>
          </a:bodyPr>
          <a:lstStyle/>
          <a:p>
            <a:pPr marL="342900" indent="-342900">
              <a:buFont typeface="Arial" panose="020B0604020202020204" pitchFamily="34" charset="0"/>
              <a:buChar char="•"/>
            </a:pPr>
            <a:r>
              <a:rPr lang="en-US" sz="2200" dirty="0">
                <a:solidFill>
                  <a:prstClr val="black"/>
                </a:solidFill>
                <a:latin typeface="Candara" panose="020E0502030303020204" pitchFamily="34" charset="0"/>
              </a:rPr>
              <a:t>Every transaction that requires computational effort must include sufficient gas </a:t>
            </a:r>
          </a:p>
          <a:p>
            <a:pPr marL="342900" indent="-342900">
              <a:buFont typeface="Arial" panose="020B0604020202020204" pitchFamily="34" charset="0"/>
              <a:buChar char="•"/>
            </a:pPr>
            <a:r>
              <a:rPr lang="en-US" sz="2200" dirty="0">
                <a:solidFill>
                  <a:prstClr val="black"/>
                </a:solidFill>
                <a:latin typeface="Candara" panose="020E0502030303020204" pitchFamily="34" charset="0"/>
              </a:rPr>
              <a:t>Instructions such as computations and data access have predetermined computational costs measured in gas units</a:t>
            </a:r>
          </a:p>
          <a:p>
            <a:pPr marL="342900" indent="-342900">
              <a:buFont typeface="Arial" panose="020B0604020202020204" pitchFamily="34" charset="0"/>
              <a:buChar char="•"/>
            </a:pPr>
            <a:r>
              <a:rPr lang="en-US" sz="2200" dirty="0">
                <a:solidFill>
                  <a:prstClr val="black"/>
                </a:solidFill>
                <a:latin typeface="Candara" panose="020E0502030303020204" pitchFamily="34" charset="0"/>
              </a:rPr>
              <a:t>Computation terminates prematurely if the gas limit is exhausted and there are still some instructions pending</a:t>
            </a:r>
          </a:p>
          <a:p>
            <a:pPr marL="800089" lvl="1" indent="-342900">
              <a:buFont typeface="Arial" panose="020B0604020202020204" pitchFamily="34" charset="0"/>
              <a:buChar char="•"/>
            </a:pPr>
            <a:r>
              <a:rPr lang="en-US" sz="2200" dirty="0">
                <a:solidFill>
                  <a:prstClr val="black"/>
                </a:solidFill>
                <a:latin typeface="Candara" panose="020E0502030303020204" pitchFamily="34" charset="0"/>
              </a:rPr>
              <a:t>In such cases, the transaction fails and gas spent is lost</a:t>
            </a:r>
          </a:p>
          <a:p>
            <a:pPr marL="342900" indent="-342900">
              <a:buFont typeface="Arial" panose="020B0604020202020204" pitchFamily="34" charset="0"/>
              <a:buChar char="•"/>
            </a:pPr>
            <a:r>
              <a:rPr lang="en-US" sz="2200" dirty="0">
                <a:solidFill>
                  <a:prstClr val="black"/>
                </a:solidFill>
                <a:latin typeface="Candara" panose="020E0502030303020204" pitchFamily="34" charset="0"/>
              </a:rPr>
              <a:t>Ethereum does not require users to provide the exact gas amount for their smart contracts </a:t>
            </a:r>
          </a:p>
          <a:p>
            <a:pPr marL="800089" lvl="1" indent="-342900">
              <a:buFont typeface="Arial" panose="020B0604020202020204" pitchFamily="34" charset="0"/>
              <a:buChar char="•"/>
            </a:pPr>
            <a:r>
              <a:rPr lang="en-US" sz="2200" dirty="0">
                <a:solidFill>
                  <a:prstClr val="black"/>
                </a:solidFill>
                <a:latin typeface="Candara" panose="020E0502030303020204" pitchFamily="34" charset="0"/>
              </a:rPr>
              <a:t>Users may include a higher amount, as any unused gas is returned if the transactions executes successfully </a:t>
            </a:r>
          </a:p>
        </p:txBody>
      </p:sp>
    </p:spTree>
    <p:extLst>
      <p:ext uri="{BB962C8B-B14F-4D97-AF65-F5344CB8AC3E}">
        <p14:creationId xmlns:p14="http://schemas.microsoft.com/office/powerpoint/2010/main" val="1296631172"/>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Gas Cost of Instructions</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346697946"/>
              </p:ext>
            </p:extLst>
          </p:nvPr>
        </p:nvGraphicFramePr>
        <p:xfrm>
          <a:off x="806116" y="1613063"/>
          <a:ext cx="4476466" cy="3960561"/>
        </p:xfrm>
        <a:graphic>
          <a:graphicData uri="http://schemas.openxmlformats.org/drawingml/2006/table">
            <a:tbl>
              <a:tblPr firstRow="1" firstCol="1" bandRow="1">
                <a:tableStyleId>{5940675A-B579-460E-94D1-54222C63F5DA}</a:tableStyleId>
              </a:tblPr>
              <a:tblGrid>
                <a:gridCol w="573848">
                  <a:extLst>
                    <a:ext uri="{9D8B030D-6E8A-4147-A177-3AD203B41FA5}">
                      <a16:colId xmlns:a16="http://schemas.microsoft.com/office/drawing/2014/main" val="20000"/>
                    </a:ext>
                  </a:extLst>
                </a:gridCol>
                <a:gridCol w="1009575">
                  <a:extLst>
                    <a:ext uri="{9D8B030D-6E8A-4147-A177-3AD203B41FA5}">
                      <a16:colId xmlns:a16="http://schemas.microsoft.com/office/drawing/2014/main" val="20001"/>
                    </a:ext>
                  </a:extLst>
                </a:gridCol>
                <a:gridCol w="888865">
                  <a:extLst>
                    <a:ext uri="{9D8B030D-6E8A-4147-A177-3AD203B41FA5}">
                      <a16:colId xmlns:a16="http://schemas.microsoft.com/office/drawing/2014/main" val="20002"/>
                    </a:ext>
                  </a:extLst>
                </a:gridCol>
                <a:gridCol w="2004178">
                  <a:extLst>
                    <a:ext uri="{9D8B030D-6E8A-4147-A177-3AD203B41FA5}">
                      <a16:colId xmlns:a16="http://schemas.microsoft.com/office/drawing/2014/main" val="20003"/>
                    </a:ext>
                  </a:extLst>
                </a:gridCol>
              </a:tblGrid>
              <a:tr h="200025">
                <a:tc>
                  <a:txBody>
                    <a:bodyPr/>
                    <a:lstStyle/>
                    <a:p>
                      <a:pPr marL="0" marR="0">
                        <a:lnSpc>
                          <a:spcPct val="107000"/>
                        </a:lnSpc>
                        <a:spcBef>
                          <a:spcPts val="0"/>
                        </a:spcBef>
                        <a:spcAft>
                          <a:spcPts val="0"/>
                        </a:spcAft>
                      </a:pPr>
                      <a:r>
                        <a:rPr lang="en-US" sz="1400" b="1" dirty="0">
                          <a:effectLst/>
                          <a:latin typeface="Candara" panose="020E0502030303020204" pitchFamily="34" charset="0"/>
                        </a:rPr>
                        <a:t>Value</a:t>
                      </a:r>
                      <a:endParaRPr lang="en-US" sz="1800" b="1" dirty="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solidFill>
                      <a:schemeClr val="bg2"/>
                    </a:solidFill>
                  </a:tcPr>
                </a:tc>
                <a:tc>
                  <a:txBody>
                    <a:bodyPr/>
                    <a:lstStyle/>
                    <a:p>
                      <a:pPr marL="0" marR="0">
                        <a:lnSpc>
                          <a:spcPct val="107000"/>
                        </a:lnSpc>
                        <a:spcBef>
                          <a:spcPts val="0"/>
                        </a:spcBef>
                        <a:spcAft>
                          <a:spcPts val="0"/>
                        </a:spcAft>
                      </a:pPr>
                      <a:r>
                        <a:rPr lang="en-US" sz="1400" b="1" dirty="0">
                          <a:effectLst/>
                          <a:latin typeface="Candara" panose="020E0502030303020204" pitchFamily="34" charset="0"/>
                        </a:rPr>
                        <a:t>Mnemonic</a:t>
                      </a:r>
                      <a:endParaRPr lang="en-US" sz="1800" b="1" dirty="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solidFill>
                      <a:schemeClr val="bg2"/>
                    </a:solidFill>
                  </a:tcPr>
                </a:tc>
                <a:tc>
                  <a:txBody>
                    <a:bodyPr/>
                    <a:lstStyle/>
                    <a:p>
                      <a:pPr marL="0" marR="0" algn="ctr">
                        <a:lnSpc>
                          <a:spcPct val="107000"/>
                        </a:lnSpc>
                        <a:spcBef>
                          <a:spcPts val="0"/>
                        </a:spcBef>
                        <a:spcAft>
                          <a:spcPts val="0"/>
                        </a:spcAft>
                      </a:pPr>
                      <a:r>
                        <a:rPr lang="en-US" sz="1400" b="1" dirty="0">
                          <a:effectLst/>
                          <a:latin typeface="Candara" panose="020E0502030303020204" pitchFamily="34" charset="0"/>
                        </a:rPr>
                        <a:t>Gas Used</a:t>
                      </a:r>
                      <a:endParaRPr lang="en-US" sz="1800" b="1" dirty="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solidFill>
                      <a:schemeClr val="bg2"/>
                    </a:solidFill>
                  </a:tcPr>
                </a:tc>
                <a:tc>
                  <a:txBody>
                    <a:bodyPr/>
                    <a:lstStyle/>
                    <a:p>
                      <a:pPr marL="0" marR="0">
                        <a:lnSpc>
                          <a:spcPct val="107000"/>
                        </a:lnSpc>
                        <a:spcBef>
                          <a:spcPts val="0"/>
                        </a:spcBef>
                        <a:spcAft>
                          <a:spcPts val="0"/>
                        </a:spcAft>
                      </a:pPr>
                      <a:r>
                        <a:rPr lang="en-US" sz="1400" b="1" dirty="0">
                          <a:effectLst/>
                          <a:latin typeface="Candara" panose="020E0502030303020204" pitchFamily="34" charset="0"/>
                        </a:rPr>
                        <a:t>Notes</a:t>
                      </a:r>
                      <a:endParaRPr lang="en-US" sz="1800" b="1" dirty="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solidFill>
                      <a:schemeClr val="bg2"/>
                    </a:solidFill>
                  </a:tcPr>
                </a:tc>
                <a:extLst>
                  <a:ext uri="{0D108BD9-81ED-4DB2-BD59-A6C34878D82A}">
                    <a16:rowId xmlns:a16="http://schemas.microsoft.com/office/drawing/2014/main" val="10000"/>
                  </a:ext>
                </a:extLst>
              </a:tr>
              <a:tr h="200025">
                <a:tc>
                  <a:txBody>
                    <a:bodyPr/>
                    <a:lstStyle/>
                    <a:p>
                      <a:pPr marL="0" marR="0">
                        <a:lnSpc>
                          <a:spcPct val="107000"/>
                        </a:lnSpc>
                        <a:spcBef>
                          <a:spcPts val="0"/>
                        </a:spcBef>
                        <a:spcAft>
                          <a:spcPts val="0"/>
                        </a:spcAft>
                      </a:pPr>
                      <a:r>
                        <a:rPr lang="en-US" sz="1400" dirty="0">
                          <a:effectLst/>
                          <a:latin typeface="Candara" panose="020E0502030303020204" pitchFamily="34" charset="0"/>
                        </a:rPr>
                        <a:t>0x00</a:t>
                      </a:r>
                      <a:endParaRPr lang="en-US" sz="1800" dirty="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tc>
                  <a:txBody>
                    <a:bodyPr/>
                    <a:lstStyle/>
                    <a:p>
                      <a:pPr marL="0" marR="0">
                        <a:lnSpc>
                          <a:spcPct val="107000"/>
                        </a:lnSpc>
                        <a:spcBef>
                          <a:spcPts val="0"/>
                        </a:spcBef>
                        <a:spcAft>
                          <a:spcPts val="0"/>
                        </a:spcAft>
                      </a:pPr>
                      <a:r>
                        <a:rPr lang="en-US" sz="1400">
                          <a:effectLst/>
                          <a:latin typeface="Candara" panose="020E0502030303020204" pitchFamily="34" charset="0"/>
                        </a:rPr>
                        <a:t>STOP</a:t>
                      </a:r>
                      <a:endParaRPr lang="en-US" sz="180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tc>
                  <a:txBody>
                    <a:bodyPr/>
                    <a:lstStyle/>
                    <a:p>
                      <a:pPr marL="0" marR="0" algn="ctr">
                        <a:lnSpc>
                          <a:spcPct val="107000"/>
                        </a:lnSpc>
                        <a:spcBef>
                          <a:spcPts val="0"/>
                        </a:spcBef>
                        <a:spcAft>
                          <a:spcPts val="0"/>
                        </a:spcAft>
                      </a:pPr>
                      <a:r>
                        <a:rPr lang="en-US" sz="1400">
                          <a:effectLst/>
                          <a:latin typeface="Candara" panose="020E0502030303020204" pitchFamily="34" charset="0"/>
                        </a:rPr>
                        <a:t>0</a:t>
                      </a:r>
                      <a:endParaRPr lang="en-US" sz="180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tc>
                  <a:txBody>
                    <a:bodyPr/>
                    <a:lstStyle/>
                    <a:p>
                      <a:pPr marL="0" marR="0">
                        <a:lnSpc>
                          <a:spcPct val="107000"/>
                        </a:lnSpc>
                        <a:spcBef>
                          <a:spcPts val="0"/>
                        </a:spcBef>
                        <a:spcAft>
                          <a:spcPts val="0"/>
                        </a:spcAft>
                      </a:pPr>
                      <a:r>
                        <a:rPr lang="en-US" sz="1400" dirty="0">
                          <a:effectLst/>
                          <a:latin typeface="Candara" panose="020E0502030303020204" pitchFamily="34" charset="0"/>
                        </a:rPr>
                        <a:t>Halts execution</a:t>
                      </a:r>
                      <a:endParaRPr lang="en-US" sz="1800" dirty="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extLst>
                  <a:ext uri="{0D108BD9-81ED-4DB2-BD59-A6C34878D82A}">
                    <a16:rowId xmlns:a16="http://schemas.microsoft.com/office/drawing/2014/main" val="10001"/>
                  </a:ext>
                </a:extLst>
              </a:tr>
              <a:tr h="200025">
                <a:tc>
                  <a:txBody>
                    <a:bodyPr/>
                    <a:lstStyle/>
                    <a:p>
                      <a:pPr marL="0" marR="0">
                        <a:lnSpc>
                          <a:spcPct val="107000"/>
                        </a:lnSpc>
                        <a:spcBef>
                          <a:spcPts val="0"/>
                        </a:spcBef>
                        <a:spcAft>
                          <a:spcPts val="0"/>
                        </a:spcAft>
                      </a:pPr>
                      <a:r>
                        <a:rPr lang="en-US" sz="1400">
                          <a:effectLst/>
                          <a:latin typeface="Candara" panose="020E0502030303020204" pitchFamily="34" charset="0"/>
                        </a:rPr>
                        <a:t>0x01</a:t>
                      </a:r>
                      <a:endParaRPr lang="en-US" sz="180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tc>
                  <a:txBody>
                    <a:bodyPr/>
                    <a:lstStyle/>
                    <a:p>
                      <a:pPr marL="0" marR="0">
                        <a:lnSpc>
                          <a:spcPct val="107000"/>
                        </a:lnSpc>
                        <a:spcBef>
                          <a:spcPts val="0"/>
                        </a:spcBef>
                        <a:spcAft>
                          <a:spcPts val="0"/>
                        </a:spcAft>
                      </a:pPr>
                      <a:r>
                        <a:rPr lang="en-US" sz="1400" dirty="0">
                          <a:effectLst/>
                          <a:latin typeface="Candara" panose="020E0502030303020204" pitchFamily="34" charset="0"/>
                        </a:rPr>
                        <a:t>ADD</a:t>
                      </a:r>
                      <a:endParaRPr lang="en-US" sz="1800" dirty="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tc>
                  <a:txBody>
                    <a:bodyPr/>
                    <a:lstStyle/>
                    <a:p>
                      <a:pPr marL="0" marR="0" algn="ctr">
                        <a:lnSpc>
                          <a:spcPct val="107000"/>
                        </a:lnSpc>
                        <a:spcBef>
                          <a:spcPts val="0"/>
                        </a:spcBef>
                        <a:spcAft>
                          <a:spcPts val="0"/>
                        </a:spcAft>
                      </a:pPr>
                      <a:r>
                        <a:rPr lang="en-US" sz="1400">
                          <a:effectLst/>
                          <a:latin typeface="Candara" panose="020E0502030303020204" pitchFamily="34" charset="0"/>
                        </a:rPr>
                        <a:t>3</a:t>
                      </a:r>
                      <a:endParaRPr lang="en-US" sz="180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tc>
                  <a:txBody>
                    <a:bodyPr/>
                    <a:lstStyle/>
                    <a:p>
                      <a:pPr marL="0" marR="0">
                        <a:lnSpc>
                          <a:spcPct val="107000"/>
                        </a:lnSpc>
                        <a:spcBef>
                          <a:spcPts val="0"/>
                        </a:spcBef>
                        <a:spcAft>
                          <a:spcPts val="0"/>
                        </a:spcAft>
                      </a:pPr>
                      <a:r>
                        <a:rPr lang="en-US" sz="1400">
                          <a:effectLst/>
                          <a:latin typeface="Candara" panose="020E0502030303020204" pitchFamily="34" charset="0"/>
                        </a:rPr>
                        <a:t>Addition operation</a:t>
                      </a:r>
                      <a:endParaRPr lang="en-US" sz="180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extLst>
                  <a:ext uri="{0D108BD9-81ED-4DB2-BD59-A6C34878D82A}">
                    <a16:rowId xmlns:a16="http://schemas.microsoft.com/office/drawing/2014/main" val="10002"/>
                  </a:ext>
                </a:extLst>
              </a:tr>
              <a:tr h="200025">
                <a:tc>
                  <a:txBody>
                    <a:bodyPr/>
                    <a:lstStyle/>
                    <a:p>
                      <a:pPr marL="0" marR="0">
                        <a:lnSpc>
                          <a:spcPct val="107000"/>
                        </a:lnSpc>
                        <a:spcBef>
                          <a:spcPts val="0"/>
                        </a:spcBef>
                        <a:spcAft>
                          <a:spcPts val="0"/>
                        </a:spcAft>
                      </a:pPr>
                      <a:r>
                        <a:rPr lang="en-US" sz="1400">
                          <a:effectLst/>
                          <a:latin typeface="Candara" panose="020E0502030303020204" pitchFamily="34" charset="0"/>
                        </a:rPr>
                        <a:t>0x02</a:t>
                      </a:r>
                      <a:endParaRPr lang="en-US" sz="180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tc>
                  <a:txBody>
                    <a:bodyPr/>
                    <a:lstStyle/>
                    <a:p>
                      <a:pPr marL="0" marR="0">
                        <a:lnSpc>
                          <a:spcPct val="107000"/>
                        </a:lnSpc>
                        <a:spcBef>
                          <a:spcPts val="0"/>
                        </a:spcBef>
                        <a:spcAft>
                          <a:spcPts val="0"/>
                        </a:spcAft>
                      </a:pPr>
                      <a:r>
                        <a:rPr lang="en-US" sz="1400">
                          <a:effectLst/>
                          <a:latin typeface="Candara" panose="020E0502030303020204" pitchFamily="34" charset="0"/>
                        </a:rPr>
                        <a:t>MUL</a:t>
                      </a:r>
                      <a:endParaRPr lang="en-US" sz="180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tc>
                  <a:txBody>
                    <a:bodyPr/>
                    <a:lstStyle/>
                    <a:p>
                      <a:pPr marL="0" marR="0" algn="ctr">
                        <a:lnSpc>
                          <a:spcPct val="107000"/>
                        </a:lnSpc>
                        <a:spcBef>
                          <a:spcPts val="0"/>
                        </a:spcBef>
                        <a:spcAft>
                          <a:spcPts val="0"/>
                        </a:spcAft>
                      </a:pPr>
                      <a:r>
                        <a:rPr lang="en-US" sz="1400">
                          <a:effectLst/>
                          <a:latin typeface="Candara" panose="020E0502030303020204" pitchFamily="34" charset="0"/>
                        </a:rPr>
                        <a:t>5</a:t>
                      </a:r>
                      <a:endParaRPr lang="en-US" sz="180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tc>
                  <a:txBody>
                    <a:bodyPr/>
                    <a:lstStyle/>
                    <a:p>
                      <a:pPr marL="0" marR="0">
                        <a:lnSpc>
                          <a:spcPct val="107000"/>
                        </a:lnSpc>
                        <a:spcBef>
                          <a:spcPts val="0"/>
                        </a:spcBef>
                        <a:spcAft>
                          <a:spcPts val="0"/>
                        </a:spcAft>
                      </a:pPr>
                      <a:r>
                        <a:rPr lang="en-US" sz="1400" dirty="0">
                          <a:effectLst/>
                          <a:latin typeface="Candara" panose="020E0502030303020204" pitchFamily="34" charset="0"/>
                        </a:rPr>
                        <a:t>Multiplication operation</a:t>
                      </a:r>
                      <a:endParaRPr lang="en-US" sz="1800" dirty="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extLst>
                  <a:ext uri="{0D108BD9-81ED-4DB2-BD59-A6C34878D82A}">
                    <a16:rowId xmlns:a16="http://schemas.microsoft.com/office/drawing/2014/main" val="10003"/>
                  </a:ext>
                </a:extLst>
              </a:tr>
              <a:tr h="200025">
                <a:tc>
                  <a:txBody>
                    <a:bodyPr/>
                    <a:lstStyle/>
                    <a:p>
                      <a:pPr marL="0" marR="0">
                        <a:lnSpc>
                          <a:spcPct val="107000"/>
                        </a:lnSpc>
                        <a:spcBef>
                          <a:spcPts val="0"/>
                        </a:spcBef>
                        <a:spcAft>
                          <a:spcPts val="0"/>
                        </a:spcAft>
                      </a:pPr>
                      <a:r>
                        <a:rPr lang="en-US" sz="1400">
                          <a:effectLst/>
                          <a:latin typeface="Candara" panose="020E0502030303020204" pitchFamily="34" charset="0"/>
                        </a:rPr>
                        <a:t>0x03</a:t>
                      </a:r>
                      <a:endParaRPr lang="en-US" sz="180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tc>
                  <a:txBody>
                    <a:bodyPr/>
                    <a:lstStyle/>
                    <a:p>
                      <a:pPr marL="0" marR="0">
                        <a:lnSpc>
                          <a:spcPct val="107000"/>
                        </a:lnSpc>
                        <a:spcBef>
                          <a:spcPts val="0"/>
                        </a:spcBef>
                        <a:spcAft>
                          <a:spcPts val="0"/>
                        </a:spcAft>
                      </a:pPr>
                      <a:r>
                        <a:rPr lang="en-US" sz="1400">
                          <a:effectLst/>
                          <a:latin typeface="Candara" panose="020E0502030303020204" pitchFamily="34" charset="0"/>
                        </a:rPr>
                        <a:t>SUB</a:t>
                      </a:r>
                      <a:endParaRPr lang="en-US" sz="180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tc>
                  <a:txBody>
                    <a:bodyPr/>
                    <a:lstStyle/>
                    <a:p>
                      <a:pPr marL="0" marR="0" algn="ctr">
                        <a:lnSpc>
                          <a:spcPct val="107000"/>
                        </a:lnSpc>
                        <a:spcBef>
                          <a:spcPts val="0"/>
                        </a:spcBef>
                        <a:spcAft>
                          <a:spcPts val="0"/>
                        </a:spcAft>
                      </a:pPr>
                      <a:r>
                        <a:rPr lang="en-US" sz="1400">
                          <a:effectLst/>
                          <a:latin typeface="Candara" panose="020E0502030303020204" pitchFamily="34" charset="0"/>
                        </a:rPr>
                        <a:t>3</a:t>
                      </a:r>
                      <a:endParaRPr lang="en-US" sz="180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tc>
                  <a:txBody>
                    <a:bodyPr/>
                    <a:lstStyle/>
                    <a:p>
                      <a:pPr marL="0" marR="0">
                        <a:lnSpc>
                          <a:spcPct val="107000"/>
                        </a:lnSpc>
                        <a:spcBef>
                          <a:spcPts val="0"/>
                        </a:spcBef>
                        <a:spcAft>
                          <a:spcPts val="0"/>
                        </a:spcAft>
                      </a:pPr>
                      <a:r>
                        <a:rPr lang="en-US" sz="1400" dirty="0">
                          <a:effectLst/>
                          <a:latin typeface="Candara" panose="020E0502030303020204" pitchFamily="34" charset="0"/>
                        </a:rPr>
                        <a:t>Subtraction operation</a:t>
                      </a:r>
                      <a:endParaRPr lang="en-US" sz="1800" dirty="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extLst>
                  <a:ext uri="{0D108BD9-81ED-4DB2-BD59-A6C34878D82A}">
                    <a16:rowId xmlns:a16="http://schemas.microsoft.com/office/drawing/2014/main" val="10004"/>
                  </a:ext>
                </a:extLst>
              </a:tr>
              <a:tr h="200025">
                <a:tc>
                  <a:txBody>
                    <a:bodyPr/>
                    <a:lstStyle/>
                    <a:p>
                      <a:pPr marL="0" marR="0">
                        <a:lnSpc>
                          <a:spcPct val="107000"/>
                        </a:lnSpc>
                        <a:spcBef>
                          <a:spcPts val="0"/>
                        </a:spcBef>
                        <a:spcAft>
                          <a:spcPts val="0"/>
                        </a:spcAft>
                      </a:pPr>
                      <a:r>
                        <a:rPr lang="en-US" sz="1400">
                          <a:effectLst/>
                          <a:latin typeface="Candara" panose="020E0502030303020204" pitchFamily="34" charset="0"/>
                        </a:rPr>
                        <a:t>0x04</a:t>
                      </a:r>
                      <a:endParaRPr lang="en-US" sz="180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tc>
                  <a:txBody>
                    <a:bodyPr/>
                    <a:lstStyle/>
                    <a:p>
                      <a:pPr marL="0" marR="0">
                        <a:lnSpc>
                          <a:spcPct val="107000"/>
                        </a:lnSpc>
                        <a:spcBef>
                          <a:spcPts val="0"/>
                        </a:spcBef>
                        <a:spcAft>
                          <a:spcPts val="0"/>
                        </a:spcAft>
                      </a:pPr>
                      <a:r>
                        <a:rPr lang="en-US" sz="1400">
                          <a:effectLst/>
                          <a:latin typeface="Candara" panose="020E0502030303020204" pitchFamily="34" charset="0"/>
                        </a:rPr>
                        <a:t>DIV</a:t>
                      </a:r>
                      <a:endParaRPr lang="en-US" sz="180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tc>
                  <a:txBody>
                    <a:bodyPr/>
                    <a:lstStyle/>
                    <a:p>
                      <a:pPr marL="0" marR="0" algn="ctr">
                        <a:lnSpc>
                          <a:spcPct val="107000"/>
                        </a:lnSpc>
                        <a:spcBef>
                          <a:spcPts val="0"/>
                        </a:spcBef>
                        <a:spcAft>
                          <a:spcPts val="0"/>
                        </a:spcAft>
                      </a:pPr>
                      <a:r>
                        <a:rPr lang="en-US" sz="1400">
                          <a:effectLst/>
                          <a:latin typeface="Candara" panose="020E0502030303020204" pitchFamily="34" charset="0"/>
                        </a:rPr>
                        <a:t>5</a:t>
                      </a:r>
                      <a:endParaRPr lang="en-US" sz="180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tc>
                  <a:txBody>
                    <a:bodyPr/>
                    <a:lstStyle/>
                    <a:p>
                      <a:pPr marL="0" marR="0">
                        <a:lnSpc>
                          <a:spcPct val="107000"/>
                        </a:lnSpc>
                        <a:spcBef>
                          <a:spcPts val="0"/>
                        </a:spcBef>
                        <a:spcAft>
                          <a:spcPts val="0"/>
                        </a:spcAft>
                      </a:pPr>
                      <a:r>
                        <a:rPr lang="en-US" sz="1400" dirty="0">
                          <a:effectLst/>
                          <a:latin typeface="Candara" panose="020E0502030303020204" pitchFamily="34" charset="0"/>
                        </a:rPr>
                        <a:t>Integer division operation</a:t>
                      </a:r>
                      <a:endParaRPr lang="en-US" sz="1800" dirty="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extLst>
                  <a:ext uri="{0D108BD9-81ED-4DB2-BD59-A6C34878D82A}">
                    <a16:rowId xmlns:a16="http://schemas.microsoft.com/office/drawing/2014/main" val="10005"/>
                  </a:ext>
                </a:extLst>
              </a:tr>
              <a:tr h="200025">
                <a:tc>
                  <a:txBody>
                    <a:bodyPr/>
                    <a:lstStyle/>
                    <a:p>
                      <a:pPr marL="0" marR="0">
                        <a:lnSpc>
                          <a:spcPct val="107000"/>
                        </a:lnSpc>
                        <a:spcBef>
                          <a:spcPts val="0"/>
                        </a:spcBef>
                        <a:spcAft>
                          <a:spcPts val="0"/>
                        </a:spcAft>
                      </a:pPr>
                      <a:r>
                        <a:rPr lang="en-US" sz="1400">
                          <a:effectLst/>
                          <a:latin typeface="Candara" panose="020E0502030303020204" pitchFamily="34" charset="0"/>
                        </a:rPr>
                        <a:t>0x05</a:t>
                      </a:r>
                      <a:endParaRPr lang="en-US" sz="180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tc>
                  <a:txBody>
                    <a:bodyPr/>
                    <a:lstStyle/>
                    <a:p>
                      <a:pPr marL="0" marR="0">
                        <a:lnSpc>
                          <a:spcPct val="107000"/>
                        </a:lnSpc>
                        <a:spcBef>
                          <a:spcPts val="0"/>
                        </a:spcBef>
                        <a:spcAft>
                          <a:spcPts val="0"/>
                        </a:spcAft>
                      </a:pPr>
                      <a:r>
                        <a:rPr lang="en-US" sz="1400">
                          <a:effectLst/>
                          <a:latin typeface="Candara" panose="020E0502030303020204" pitchFamily="34" charset="0"/>
                        </a:rPr>
                        <a:t>SDIV</a:t>
                      </a:r>
                      <a:endParaRPr lang="en-US" sz="180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tc>
                  <a:txBody>
                    <a:bodyPr/>
                    <a:lstStyle/>
                    <a:p>
                      <a:pPr marL="0" marR="0" algn="ctr">
                        <a:lnSpc>
                          <a:spcPct val="107000"/>
                        </a:lnSpc>
                        <a:spcBef>
                          <a:spcPts val="0"/>
                        </a:spcBef>
                        <a:spcAft>
                          <a:spcPts val="0"/>
                        </a:spcAft>
                      </a:pPr>
                      <a:r>
                        <a:rPr lang="en-US" sz="1400">
                          <a:effectLst/>
                          <a:latin typeface="Candara" panose="020E0502030303020204" pitchFamily="34" charset="0"/>
                        </a:rPr>
                        <a:t>5</a:t>
                      </a:r>
                      <a:endParaRPr lang="en-US" sz="180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tc>
                  <a:txBody>
                    <a:bodyPr/>
                    <a:lstStyle/>
                    <a:p>
                      <a:pPr marL="0" marR="0">
                        <a:lnSpc>
                          <a:spcPct val="107000"/>
                        </a:lnSpc>
                        <a:spcBef>
                          <a:spcPts val="0"/>
                        </a:spcBef>
                        <a:spcAft>
                          <a:spcPts val="0"/>
                        </a:spcAft>
                      </a:pPr>
                      <a:r>
                        <a:rPr lang="en-US" sz="1400" dirty="0">
                          <a:effectLst/>
                          <a:latin typeface="Candara" panose="020E0502030303020204" pitchFamily="34" charset="0"/>
                        </a:rPr>
                        <a:t>Signed integer division operation (truncated)</a:t>
                      </a:r>
                      <a:endParaRPr lang="en-US" sz="1800" dirty="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extLst>
                  <a:ext uri="{0D108BD9-81ED-4DB2-BD59-A6C34878D82A}">
                    <a16:rowId xmlns:a16="http://schemas.microsoft.com/office/drawing/2014/main" val="10006"/>
                  </a:ext>
                </a:extLst>
              </a:tr>
              <a:tr h="200025">
                <a:tc>
                  <a:txBody>
                    <a:bodyPr/>
                    <a:lstStyle/>
                    <a:p>
                      <a:pPr marL="0" marR="0">
                        <a:lnSpc>
                          <a:spcPct val="107000"/>
                        </a:lnSpc>
                        <a:spcBef>
                          <a:spcPts val="0"/>
                        </a:spcBef>
                        <a:spcAft>
                          <a:spcPts val="0"/>
                        </a:spcAft>
                      </a:pPr>
                      <a:r>
                        <a:rPr lang="en-US" sz="1400">
                          <a:effectLst/>
                          <a:latin typeface="Candara" panose="020E0502030303020204" pitchFamily="34" charset="0"/>
                        </a:rPr>
                        <a:t>0x06</a:t>
                      </a:r>
                      <a:endParaRPr lang="en-US" sz="180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tc>
                  <a:txBody>
                    <a:bodyPr/>
                    <a:lstStyle/>
                    <a:p>
                      <a:pPr marL="0" marR="0">
                        <a:lnSpc>
                          <a:spcPct val="107000"/>
                        </a:lnSpc>
                        <a:spcBef>
                          <a:spcPts val="0"/>
                        </a:spcBef>
                        <a:spcAft>
                          <a:spcPts val="0"/>
                        </a:spcAft>
                      </a:pPr>
                      <a:r>
                        <a:rPr lang="en-US" sz="1400">
                          <a:effectLst/>
                          <a:latin typeface="Candara" panose="020E0502030303020204" pitchFamily="34" charset="0"/>
                        </a:rPr>
                        <a:t>MOD</a:t>
                      </a:r>
                      <a:endParaRPr lang="en-US" sz="180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tc>
                  <a:txBody>
                    <a:bodyPr/>
                    <a:lstStyle/>
                    <a:p>
                      <a:pPr marL="0" marR="0" algn="ctr">
                        <a:lnSpc>
                          <a:spcPct val="107000"/>
                        </a:lnSpc>
                        <a:spcBef>
                          <a:spcPts val="0"/>
                        </a:spcBef>
                        <a:spcAft>
                          <a:spcPts val="0"/>
                        </a:spcAft>
                      </a:pPr>
                      <a:r>
                        <a:rPr lang="en-US" sz="1400">
                          <a:effectLst/>
                          <a:latin typeface="Candara" panose="020E0502030303020204" pitchFamily="34" charset="0"/>
                        </a:rPr>
                        <a:t>5</a:t>
                      </a:r>
                      <a:endParaRPr lang="en-US" sz="180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tc>
                  <a:txBody>
                    <a:bodyPr/>
                    <a:lstStyle/>
                    <a:p>
                      <a:pPr marL="0" marR="0">
                        <a:lnSpc>
                          <a:spcPct val="107000"/>
                        </a:lnSpc>
                        <a:spcBef>
                          <a:spcPts val="0"/>
                        </a:spcBef>
                        <a:spcAft>
                          <a:spcPts val="0"/>
                        </a:spcAft>
                      </a:pPr>
                      <a:r>
                        <a:rPr lang="en-US" sz="1400">
                          <a:effectLst/>
                          <a:latin typeface="Candara" panose="020E0502030303020204" pitchFamily="34" charset="0"/>
                        </a:rPr>
                        <a:t>Modulo remainder operation</a:t>
                      </a:r>
                      <a:endParaRPr lang="en-US" sz="180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extLst>
                  <a:ext uri="{0D108BD9-81ED-4DB2-BD59-A6C34878D82A}">
                    <a16:rowId xmlns:a16="http://schemas.microsoft.com/office/drawing/2014/main" val="10007"/>
                  </a:ext>
                </a:extLst>
              </a:tr>
              <a:tr h="200025">
                <a:tc>
                  <a:txBody>
                    <a:bodyPr/>
                    <a:lstStyle/>
                    <a:p>
                      <a:pPr marL="0" marR="0">
                        <a:lnSpc>
                          <a:spcPct val="107000"/>
                        </a:lnSpc>
                        <a:spcBef>
                          <a:spcPts val="0"/>
                        </a:spcBef>
                        <a:spcAft>
                          <a:spcPts val="0"/>
                        </a:spcAft>
                      </a:pPr>
                      <a:r>
                        <a:rPr lang="en-US" sz="1400">
                          <a:effectLst/>
                          <a:latin typeface="Candara" panose="020E0502030303020204" pitchFamily="34" charset="0"/>
                        </a:rPr>
                        <a:t>0x07</a:t>
                      </a:r>
                      <a:endParaRPr lang="en-US" sz="180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tc>
                  <a:txBody>
                    <a:bodyPr/>
                    <a:lstStyle/>
                    <a:p>
                      <a:pPr marL="0" marR="0">
                        <a:lnSpc>
                          <a:spcPct val="107000"/>
                        </a:lnSpc>
                        <a:spcBef>
                          <a:spcPts val="0"/>
                        </a:spcBef>
                        <a:spcAft>
                          <a:spcPts val="0"/>
                        </a:spcAft>
                      </a:pPr>
                      <a:r>
                        <a:rPr lang="en-US" sz="1400">
                          <a:effectLst/>
                          <a:latin typeface="Candara" panose="020E0502030303020204" pitchFamily="34" charset="0"/>
                        </a:rPr>
                        <a:t>SMOD</a:t>
                      </a:r>
                      <a:endParaRPr lang="en-US" sz="180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tc>
                  <a:txBody>
                    <a:bodyPr/>
                    <a:lstStyle/>
                    <a:p>
                      <a:pPr marL="0" marR="0" algn="ctr">
                        <a:lnSpc>
                          <a:spcPct val="107000"/>
                        </a:lnSpc>
                        <a:spcBef>
                          <a:spcPts val="0"/>
                        </a:spcBef>
                        <a:spcAft>
                          <a:spcPts val="0"/>
                        </a:spcAft>
                      </a:pPr>
                      <a:r>
                        <a:rPr lang="en-US" sz="1400">
                          <a:effectLst/>
                          <a:latin typeface="Candara" panose="020E0502030303020204" pitchFamily="34" charset="0"/>
                        </a:rPr>
                        <a:t>5</a:t>
                      </a:r>
                      <a:endParaRPr lang="en-US" sz="180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tc>
                  <a:txBody>
                    <a:bodyPr/>
                    <a:lstStyle/>
                    <a:p>
                      <a:pPr marL="0" marR="0">
                        <a:lnSpc>
                          <a:spcPct val="107000"/>
                        </a:lnSpc>
                        <a:spcBef>
                          <a:spcPts val="0"/>
                        </a:spcBef>
                        <a:spcAft>
                          <a:spcPts val="0"/>
                        </a:spcAft>
                      </a:pPr>
                      <a:r>
                        <a:rPr lang="en-US" sz="1400" dirty="0">
                          <a:effectLst/>
                          <a:latin typeface="Candara" panose="020E0502030303020204" pitchFamily="34" charset="0"/>
                        </a:rPr>
                        <a:t>Signed modulo remainder operation</a:t>
                      </a:r>
                      <a:endParaRPr lang="en-US" sz="1800" dirty="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extLst>
                  <a:ext uri="{0D108BD9-81ED-4DB2-BD59-A6C34878D82A}">
                    <a16:rowId xmlns:a16="http://schemas.microsoft.com/office/drawing/2014/main" val="10008"/>
                  </a:ext>
                </a:extLst>
              </a:tr>
              <a:tr h="200025">
                <a:tc>
                  <a:txBody>
                    <a:bodyPr/>
                    <a:lstStyle/>
                    <a:p>
                      <a:pPr marL="0" marR="0">
                        <a:lnSpc>
                          <a:spcPct val="107000"/>
                        </a:lnSpc>
                        <a:spcBef>
                          <a:spcPts val="0"/>
                        </a:spcBef>
                        <a:spcAft>
                          <a:spcPts val="0"/>
                        </a:spcAft>
                      </a:pPr>
                      <a:r>
                        <a:rPr lang="en-US" sz="1400">
                          <a:effectLst/>
                          <a:latin typeface="Candara" panose="020E0502030303020204" pitchFamily="34" charset="0"/>
                        </a:rPr>
                        <a:t>0x08</a:t>
                      </a:r>
                      <a:endParaRPr lang="en-US" sz="180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tc>
                  <a:txBody>
                    <a:bodyPr/>
                    <a:lstStyle/>
                    <a:p>
                      <a:pPr marL="0" marR="0">
                        <a:lnSpc>
                          <a:spcPct val="107000"/>
                        </a:lnSpc>
                        <a:spcBef>
                          <a:spcPts val="0"/>
                        </a:spcBef>
                        <a:spcAft>
                          <a:spcPts val="0"/>
                        </a:spcAft>
                      </a:pPr>
                      <a:r>
                        <a:rPr lang="en-US" sz="1400">
                          <a:effectLst/>
                          <a:latin typeface="Candara" panose="020E0502030303020204" pitchFamily="34" charset="0"/>
                        </a:rPr>
                        <a:t>ADDMOD</a:t>
                      </a:r>
                      <a:endParaRPr lang="en-US" sz="180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tc>
                  <a:txBody>
                    <a:bodyPr/>
                    <a:lstStyle/>
                    <a:p>
                      <a:pPr marL="0" marR="0" algn="ctr">
                        <a:lnSpc>
                          <a:spcPct val="107000"/>
                        </a:lnSpc>
                        <a:spcBef>
                          <a:spcPts val="0"/>
                        </a:spcBef>
                        <a:spcAft>
                          <a:spcPts val="0"/>
                        </a:spcAft>
                      </a:pPr>
                      <a:r>
                        <a:rPr lang="en-US" sz="1400">
                          <a:effectLst/>
                          <a:latin typeface="Candara" panose="020E0502030303020204" pitchFamily="34" charset="0"/>
                        </a:rPr>
                        <a:t>8</a:t>
                      </a:r>
                      <a:endParaRPr lang="en-US" sz="180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tc>
                  <a:txBody>
                    <a:bodyPr/>
                    <a:lstStyle/>
                    <a:p>
                      <a:pPr marL="0" marR="0">
                        <a:lnSpc>
                          <a:spcPct val="107000"/>
                        </a:lnSpc>
                        <a:spcBef>
                          <a:spcPts val="0"/>
                        </a:spcBef>
                        <a:spcAft>
                          <a:spcPts val="0"/>
                        </a:spcAft>
                      </a:pPr>
                      <a:r>
                        <a:rPr lang="en-US" sz="1400" dirty="0">
                          <a:effectLst/>
                          <a:latin typeface="Candara" panose="020E0502030303020204" pitchFamily="34" charset="0"/>
                        </a:rPr>
                        <a:t>Modulo addition operation</a:t>
                      </a:r>
                      <a:endParaRPr lang="en-US" sz="1800" dirty="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extLst>
                  <a:ext uri="{0D108BD9-81ED-4DB2-BD59-A6C34878D82A}">
                    <a16:rowId xmlns:a16="http://schemas.microsoft.com/office/drawing/2014/main" val="10009"/>
                  </a:ext>
                </a:extLst>
              </a:tr>
              <a:tr h="200025">
                <a:tc>
                  <a:txBody>
                    <a:bodyPr/>
                    <a:lstStyle/>
                    <a:p>
                      <a:pPr marL="0" marR="0">
                        <a:lnSpc>
                          <a:spcPct val="107000"/>
                        </a:lnSpc>
                        <a:spcBef>
                          <a:spcPts val="0"/>
                        </a:spcBef>
                        <a:spcAft>
                          <a:spcPts val="0"/>
                        </a:spcAft>
                      </a:pPr>
                      <a:r>
                        <a:rPr lang="en-US" sz="1400">
                          <a:effectLst/>
                          <a:latin typeface="Candara" panose="020E0502030303020204" pitchFamily="34" charset="0"/>
                        </a:rPr>
                        <a:t>0x09</a:t>
                      </a:r>
                      <a:endParaRPr lang="en-US" sz="180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tc>
                  <a:txBody>
                    <a:bodyPr/>
                    <a:lstStyle/>
                    <a:p>
                      <a:pPr marL="0" marR="0">
                        <a:lnSpc>
                          <a:spcPct val="107000"/>
                        </a:lnSpc>
                        <a:spcBef>
                          <a:spcPts val="0"/>
                        </a:spcBef>
                        <a:spcAft>
                          <a:spcPts val="0"/>
                        </a:spcAft>
                      </a:pPr>
                      <a:r>
                        <a:rPr lang="en-US" sz="1400">
                          <a:effectLst/>
                          <a:latin typeface="Candara" panose="020E0502030303020204" pitchFamily="34" charset="0"/>
                        </a:rPr>
                        <a:t>MULMOD</a:t>
                      </a:r>
                      <a:endParaRPr lang="en-US" sz="180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tc>
                  <a:txBody>
                    <a:bodyPr/>
                    <a:lstStyle/>
                    <a:p>
                      <a:pPr marL="0" marR="0" algn="ctr">
                        <a:lnSpc>
                          <a:spcPct val="107000"/>
                        </a:lnSpc>
                        <a:spcBef>
                          <a:spcPts val="0"/>
                        </a:spcBef>
                        <a:spcAft>
                          <a:spcPts val="0"/>
                        </a:spcAft>
                      </a:pPr>
                      <a:r>
                        <a:rPr lang="en-US" sz="1400">
                          <a:effectLst/>
                          <a:latin typeface="Candara" panose="020E0502030303020204" pitchFamily="34" charset="0"/>
                        </a:rPr>
                        <a:t>8</a:t>
                      </a:r>
                      <a:endParaRPr lang="en-US" sz="180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tc>
                  <a:txBody>
                    <a:bodyPr/>
                    <a:lstStyle/>
                    <a:p>
                      <a:pPr marL="0" marR="0">
                        <a:lnSpc>
                          <a:spcPct val="107000"/>
                        </a:lnSpc>
                        <a:spcBef>
                          <a:spcPts val="0"/>
                        </a:spcBef>
                        <a:spcAft>
                          <a:spcPts val="0"/>
                        </a:spcAft>
                      </a:pPr>
                      <a:r>
                        <a:rPr lang="en-US" sz="1400" dirty="0">
                          <a:effectLst/>
                          <a:latin typeface="Candara" panose="020E0502030303020204" pitchFamily="34" charset="0"/>
                        </a:rPr>
                        <a:t>Modulo multiplication operation</a:t>
                      </a:r>
                      <a:endParaRPr lang="en-US" sz="1800" dirty="0">
                        <a:effectLst/>
                        <a:latin typeface="Candara" panose="020E0502030303020204" pitchFamily="34" charset="0"/>
                        <a:ea typeface="Calibri" panose="020F0502020204030204" pitchFamily="34" charset="0"/>
                        <a:cs typeface="Times New Roman" panose="02020603050405020304" pitchFamily="18" charset="0"/>
                      </a:endParaRPr>
                    </a:p>
                  </a:txBody>
                  <a:tcPr marL="28575" marR="28575" marT="19050" marB="19050" anchor="ctr"/>
                </a:tc>
                <a:extLst>
                  <a:ext uri="{0D108BD9-81ED-4DB2-BD59-A6C34878D82A}">
                    <a16:rowId xmlns:a16="http://schemas.microsoft.com/office/drawing/2014/main" val="10010"/>
                  </a:ext>
                </a:extLst>
              </a:tr>
            </a:tbl>
          </a:graphicData>
        </a:graphic>
      </p:graphicFrame>
      <p:sp>
        <p:nvSpPr>
          <p:cNvPr id="4" name="Slide Number Placeholder 3"/>
          <p:cNvSpPr>
            <a:spLocks noGrp="1"/>
          </p:cNvSpPr>
          <p:nvPr>
            <p:ph type="sldNum" sz="quarter" idx="12"/>
          </p:nvPr>
        </p:nvSpPr>
        <p:spPr/>
        <p:txBody>
          <a:bodyPr/>
          <a:lstStyle/>
          <a:p>
            <a:fld id="{19FE8B7B-3258-47CD-BBC0-34D05FC906E5}" type="slidenum">
              <a:rPr>
                <a:latin typeface="Candara" panose="020E0502030303020204" pitchFamily="34" charset="0"/>
              </a:rPr>
              <a:pPr/>
              <a:t>5</a:t>
            </a:fld>
            <a:endParaRPr dirty="0">
              <a:latin typeface="Candara" panose="020E0502030303020204" pitchFamily="34" charset="0"/>
            </a:endParaRPr>
          </a:p>
        </p:txBody>
      </p:sp>
      <p:sp>
        <p:nvSpPr>
          <p:cNvPr id="5" name="Rectangle 4"/>
          <p:cNvSpPr/>
          <p:nvPr/>
        </p:nvSpPr>
        <p:spPr>
          <a:xfrm>
            <a:off x="487680" y="6099568"/>
            <a:ext cx="4572000" cy="430887"/>
          </a:xfrm>
          <a:prstGeom prst="rect">
            <a:avLst/>
          </a:prstGeom>
        </p:spPr>
        <p:txBody>
          <a:bodyPr>
            <a:spAutoFit/>
          </a:bodyPr>
          <a:lstStyle/>
          <a:p>
            <a:pPr algn="ctr"/>
            <a:r>
              <a:rPr lang="en-US" sz="1050" dirty="0">
                <a:solidFill>
                  <a:prstClr val="black"/>
                </a:solidFill>
                <a:latin typeface="Candara" panose="020E0502030303020204" pitchFamily="34" charset="0"/>
                <a:hlinkClick r:id="rId3"/>
              </a:rPr>
              <a:t>https://docs.google.com/spreadsheets/d/1n6mRqkBz3iWcOlRem_mO09GtSKEKrAsfO7Frgx18pNU/edit#gid=0</a:t>
            </a:r>
            <a:r>
              <a:rPr lang="en-US" sz="1050" dirty="0">
                <a:solidFill>
                  <a:prstClr val="black"/>
                </a:solidFill>
                <a:latin typeface="Candara" panose="020E0502030303020204" pitchFamily="34" charset="0"/>
              </a:rPr>
              <a:t> </a:t>
            </a:r>
          </a:p>
        </p:txBody>
      </p:sp>
      <p:graphicFrame>
        <p:nvGraphicFramePr>
          <p:cNvPr id="8" name="Table 7"/>
          <p:cNvGraphicFramePr>
            <a:graphicFrameLocks noGrp="1"/>
          </p:cNvGraphicFramePr>
          <p:nvPr>
            <p:extLst>
              <p:ext uri="{D42A27DB-BD31-4B8C-83A1-F6EECF244321}">
                <p14:modId xmlns:p14="http://schemas.microsoft.com/office/powerpoint/2010/main" val="2635971506"/>
              </p:ext>
            </p:extLst>
          </p:nvPr>
        </p:nvGraphicFramePr>
        <p:xfrm>
          <a:off x="5842819" y="1164651"/>
          <a:ext cx="5105917" cy="5019550"/>
        </p:xfrm>
        <a:graphic>
          <a:graphicData uri="http://schemas.openxmlformats.org/drawingml/2006/table">
            <a:tbl>
              <a:tblPr firstRow="1" firstCol="1" bandRow="1">
                <a:tableStyleId>{5940675A-B579-460E-94D1-54222C63F5DA}</a:tableStyleId>
              </a:tblPr>
              <a:tblGrid>
                <a:gridCol w="632125">
                  <a:extLst>
                    <a:ext uri="{9D8B030D-6E8A-4147-A177-3AD203B41FA5}">
                      <a16:colId xmlns:a16="http://schemas.microsoft.com/office/drawing/2014/main" val="20000"/>
                    </a:ext>
                  </a:extLst>
                </a:gridCol>
                <a:gridCol w="1529946">
                  <a:extLst>
                    <a:ext uri="{9D8B030D-6E8A-4147-A177-3AD203B41FA5}">
                      <a16:colId xmlns:a16="http://schemas.microsoft.com/office/drawing/2014/main" val="20001"/>
                    </a:ext>
                  </a:extLst>
                </a:gridCol>
                <a:gridCol w="1059720">
                  <a:extLst>
                    <a:ext uri="{9D8B030D-6E8A-4147-A177-3AD203B41FA5}">
                      <a16:colId xmlns:a16="http://schemas.microsoft.com/office/drawing/2014/main" val="20002"/>
                    </a:ext>
                  </a:extLst>
                </a:gridCol>
                <a:gridCol w="1884126">
                  <a:extLst>
                    <a:ext uri="{9D8B030D-6E8A-4147-A177-3AD203B41FA5}">
                      <a16:colId xmlns:a16="http://schemas.microsoft.com/office/drawing/2014/main" val="20003"/>
                    </a:ext>
                  </a:extLst>
                </a:gridCol>
              </a:tblGrid>
              <a:tr h="200025">
                <a:tc>
                  <a:txBody>
                    <a:bodyPr/>
                    <a:lstStyle/>
                    <a:p>
                      <a:pPr marL="0" marR="0">
                        <a:lnSpc>
                          <a:spcPct val="107000"/>
                        </a:lnSpc>
                        <a:spcBef>
                          <a:spcPts val="0"/>
                        </a:spcBef>
                        <a:spcAft>
                          <a:spcPts val="0"/>
                        </a:spcAft>
                      </a:pPr>
                      <a:r>
                        <a:rPr lang="en-US" sz="1400" b="1" kern="1200" dirty="0">
                          <a:solidFill>
                            <a:schemeClr val="tx1"/>
                          </a:solidFill>
                          <a:effectLst/>
                          <a:latin typeface="Candara" panose="020E0502030303020204" pitchFamily="34" charset="0"/>
                          <a:ea typeface="+mn-ea"/>
                          <a:cs typeface="+mn-cs"/>
                        </a:rPr>
                        <a:t>Value</a:t>
                      </a:r>
                    </a:p>
                  </a:txBody>
                  <a:tcPr marL="28575" marR="28575" marT="19050" marB="19050" anchor="ctr">
                    <a:solidFill>
                      <a:schemeClr val="bg2"/>
                    </a:solidFill>
                  </a:tcPr>
                </a:tc>
                <a:tc>
                  <a:txBody>
                    <a:bodyPr/>
                    <a:lstStyle/>
                    <a:p>
                      <a:pPr marL="0" marR="0">
                        <a:lnSpc>
                          <a:spcPct val="107000"/>
                        </a:lnSpc>
                        <a:spcBef>
                          <a:spcPts val="0"/>
                        </a:spcBef>
                        <a:spcAft>
                          <a:spcPts val="0"/>
                        </a:spcAft>
                      </a:pPr>
                      <a:r>
                        <a:rPr lang="en-US" sz="1400" b="1" kern="1200" dirty="0">
                          <a:solidFill>
                            <a:schemeClr val="tx1"/>
                          </a:solidFill>
                          <a:effectLst/>
                          <a:latin typeface="Candara" panose="020E0502030303020204" pitchFamily="34" charset="0"/>
                          <a:ea typeface="+mn-ea"/>
                          <a:cs typeface="+mn-cs"/>
                        </a:rPr>
                        <a:t>Mnemonic</a:t>
                      </a:r>
                    </a:p>
                  </a:txBody>
                  <a:tcPr marL="28575" marR="28575" marT="19050" marB="19050" anchor="ctr">
                    <a:solidFill>
                      <a:schemeClr val="bg2"/>
                    </a:solidFill>
                  </a:tcPr>
                </a:tc>
                <a:tc>
                  <a:txBody>
                    <a:bodyPr/>
                    <a:lstStyle/>
                    <a:p>
                      <a:pPr marL="0" marR="0" algn="ctr">
                        <a:lnSpc>
                          <a:spcPct val="107000"/>
                        </a:lnSpc>
                        <a:spcBef>
                          <a:spcPts val="0"/>
                        </a:spcBef>
                        <a:spcAft>
                          <a:spcPts val="0"/>
                        </a:spcAft>
                      </a:pPr>
                      <a:r>
                        <a:rPr lang="en-US" sz="1400" b="1" kern="1200" dirty="0">
                          <a:solidFill>
                            <a:schemeClr val="tx1"/>
                          </a:solidFill>
                          <a:effectLst/>
                          <a:latin typeface="Candara" panose="020E0502030303020204" pitchFamily="34" charset="0"/>
                          <a:ea typeface="+mn-ea"/>
                          <a:cs typeface="+mn-cs"/>
                        </a:rPr>
                        <a:t>Gas Used</a:t>
                      </a:r>
                    </a:p>
                  </a:txBody>
                  <a:tcPr marL="28575" marR="28575" marT="19050" marB="19050" anchor="ctr">
                    <a:solidFill>
                      <a:schemeClr val="bg2"/>
                    </a:solidFill>
                  </a:tcPr>
                </a:tc>
                <a:tc>
                  <a:txBody>
                    <a:bodyPr/>
                    <a:lstStyle/>
                    <a:p>
                      <a:pPr marL="0" marR="0">
                        <a:lnSpc>
                          <a:spcPct val="107000"/>
                        </a:lnSpc>
                        <a:spcBef>
                          <a:spcPts val="0"/>
                        </a:spcBef>
                        <a:spcAft>
                          <a:spcPts val="0"/>
                        </a:spcAft>
                      </a:pPr>
                      <a:r>
                        <a:rPr lang="en-US" sz="1400" b="1" kern="1200" dirty="0">
                          <a:solidFill>
                            <a:schemeClr val="tx1"/>
                          </a:solidFill>
                          <a:effectLst/>
                          <a:latin typeface="Candara" panose="020E0502030303020204" pitchFamily="34" charset="0"/>
                          <a:ea typeface="+mn-ea"/>
                          <a:cs typeface="+mn-cs"/>
                        </a:rPr>
                        <a:t>Notes</a:t>
                      </a:r>
                    </a:p>
                  </a:txBody>
                  <a:tcPr marL="28575" marR="28575" marT="19050" marB="19050" anchor="ctr">
                    <a:solidFill>
                      <a:schemeClr val="bg2"/>
                    </a:solidFill>
                  </a:tcPr>
                </a:tc>
                <a:extLst>
                  <a:ext uri="{0D108BD9-81ED-4DB2-BD59-A6C34878D82A}">
                    <a16:rowId xmlns:a16="http://schemas.microsoft.com/office/drawing/2014/main" val="10000"/>
                  </a:ext>
                </a:extLst>
              </a:tr>
              <a:tr h="200025">
                <a:tc>
                  <a:txBody>
                    <a:bodyPr/>
                    <a:lstStyle/>
                    <a:p>
                      <a:pPr marL="0" marR="0">
                        <a:lnSpc>
                          <a:spcPct val="107000"/>
                        </a:lnSpc>
                        <a:spcBef>
                          <a:spcPts val="0"/>
                        </a:spcBef>
                        <a:spcAft>
                          <a:spcPts val="0"/>
                        </a:spcAft>
                      </a:pPr>
                      <a:r>
                        <a:rPr lang="en-US" sz="1400" kern="1200" dirty="0">
                          <a:solidFill>
                            <a:schemeClr val="tx1"/>
                          </a:solidFill>
                          <a:effectLst/>
                          <a:latin typeface="Candara" panose="020E0502030303020204" pitchFamily="34" charset="0"/>
                          <a:ea typeface="+mn-ea"/>
                          <a:cs typeface="+mn-cs"/>
                        </a:rPr>
                        <a:t>0x31</a:t>
                      </a:r>
                    </a:p>
                  </a:txBody>
                  <a:tcPr marL="28575" marR="28575" marT="19050" marB="19050" anchor="ctr"/>
                </a:tc>
                <a:tc>
                  <a:txBody>
                    <a:bodyPr/>
                    <a:lstStyle/>
                    <a:p>
                      <a:pPr marL="0" marR="0">
                        <a:lnSpc>
                          <a:spcPct val="107000"/>
                        </a:lnSpc>
                        <a:spcBef>
                          <a:spcPts val="0"/>
                        </a:spcBef>
                        <a:spcAft>
                          <a:spcPts val="0"/>
                        </a:spcAft>
                      </a:pPr>
                      <a:r>
                        <a:rPr lang="en-US" sz="1400" kern="1200" dirty="0">
                          <a:solidFill>
                            <a:schemeClr val="tx1"/>
                          </a:solidFill>
                          <a:effectLst/>
                          <a:latin typeface="Candara" panose="020E0502030303020204" pitchFamily="34" charset="0"/>
                          <a:ea typeface="+mn-ea"/>
                          <a:cs typeface="+mn-cs"/>
                        </a:rPr>
                        <a:t>BALANCE</a:t>
                      </a:r>
                    </a:p>
                  </a:txBody>
                  <a:tcPr marL="28575" marR="28575" marT="19050" marB="19050" anchor="ctr"/>
                </a:tc>
                <a:tc>
                  <a:txBody>
                    <a:bodyPr/>
                    <a:lstStyle/>
                    <a:p>
                      <a:pPr marL="0" marR="0" algn="ctr">
                        <a:lnSpc>
                          <a:spcPct val="107000"/>
                        </a:lnSpc>
                        <a:spcBef>
                          <a:spcPts val="0"/>
                        </a:spcBef>
                        <a:spcAft>
                          <a:spcPts val="0"/>
                        </a:spcAft>
                      </a:pPr>
                      <a:r>
                        <a:rPr lang="en-US" sz="1400" kern="1200" dirty="0">
                          <a:solidFill>
                            <a:schemeClr val="tx1"/>
                          </a:solidFill>
                          <a:effectLst/>
                          <a:latin typeface="Candara" panose="020E0502030303020204" pitchFamily="34" charset="0"/>
                          <a:ea typeface="+mn-ea"/>
                          <a:cs typeface="+mn-cs"/>
                        </a:rPr>
                        <a:t>400</a:t>
                      </a:r>
                    </a:p>
                  </a:txBody>
                  <a:tcPr marL="28575" marR="28575" marT="19050" marB="19050" anchor="ctr"/>
                </a:tc>
                <a:tc>
                  <a:txBody>
                    <a:bodyPr/>
                    <a:lstStyle/>
                    <a:p>
                      <a:pPr marL="0" marR="0">
                        <a:lnSpc>
                          <a:spcPct val="107000"/>
                        </a:lnSpc>
                        <a:spcBef>
                          <a:spcPts val="0"/>
                        </a:spcBef>
                        <a:spcAft>
                          <a:spcPts val="0"/>
                        </a:spcAft>
                      </a:pPr>
                      <a:r>
                        <a:rPr lang="en-US" sz="1400" kern="1200" dirty="0">
                          <a:solidFill>
                            <a:schemeClr val="tx1"/>
                          </a:solidFill>
                          <a:effectLst/>
                          <a:latin typeface="Candara" panose="020E0502030303020204" pitchFamily="34" charset="0"/>
                          <a:ea typeface="+mn-ea"/>
                          <a:cs typeface="+mn-cs"/>
                        </a:rPr>
                        <a:t>Get balance of the given account</a:t>
                      </a:r>
                    </a:p>
                  </a:txBody>
                  <a:tcPr marL="28575" marR="28575" marT="19050" marB="19050" anchor="ctr"/>
                </a:tc>
                <a:extLst>
                  <a:ext uri="{0D108BD9-81ED-4DB2-BD59-A6C34878D82A}">
                    <a16:rowId xmlns:a16="http://schemas.microsoft.com/office/drawing/2014/main" val="10001"/>
                  </a:ext>
                </a:extLst>
              </a:tr>
              <a:tr h="200025">
                <a:tc>
                  <a:txBody>
                    <a:bodyPr/>
                    <a:lstStyle/>
                    <a:p>
                      <a:pPr marL="0" marR="0">
                        <a:lnSpc>
                          <a:spcPct val="107000"/>
                        </a:lnSpc>
                        <a:spcBef>
                          <a:spcPts val="0"/>
                        </a:spcBef>
                        <a:spcAft>
                          <a:spcPts val="0"/>
                        </a:spcAft>
                      </a:pPr>
                      <a:r>
                        <a:rPr lang="en-US" sz="1400" kern="1200">
                          <a:solidFill>
                            <a:schemeClr val="tx1"/>
                          </a:solidFill>
                          <a:effectLst/>
                          <a:latin typeface="Candara" panose="020E0502030303020204" pitchFamily="34" charset="0"/>
                          <a:ea typeface="+mn-ea"/>
                          <a:cs typeface="+mn-cs"/>
                        </a:rPr>
                        <a:t>0x32</a:t>
                      </a:r>
                    </a:p>
                  </a:txBody>
                  <a:tcPr marL="28575" marR="28575" marT="19050" marB="19050" anchor="ctr"/>
                </a:tc>
                <a:tc>
                  <a:txBody>
                    <a:bodyPr/>
                    <a:lstStyle/>
                    <a:p>
                      <a:pPr marL="0" marR="0">
                        <a:lnSpc>
                          <a:spcPct val="107000"/>
                        </a:lnSpc>
                        <a:spcBef>
                          <a:spcPts val="0"/>
                        </a:spcBef>
                        <a:spcAft>
                          <a:spcPts val="0"/>
                        </a:spcAft>
                      </a:pPr>
                      <a:r>
                        <a:rPr lang="en-US" sz="1400" kern="1200">
                          <a:solidFill>
                            <a:schemeClr val="tx1"/>
                          </a:solidFill>
                          <a:effectLst/>
                          <a:latin typeface="Candara" panose="020E0502030303020204" pitchFamily="34" charset="0"/>
                          <a:ea typeface="+mn-ea"/>
                          <a:cs typeface="+mn-cs"/>
                        </a:rPr>
                        <a:t>ORIGIN</a:t>
                      </a:r>
                    </a:p>
                  </a:txBody>
                  <a:tcPr marL="28575" marR="28575" marT="19050" marB="19050" anchor="ctr"/>
                </a:tc>
                <a:tc>
                  <a:txBody>
                    <a:bodyPr/>
                    <a:lstStyle/>
                    <a:p>
                      <a:pPr marL="0" marR="0" algn="ctr">
                        <a:lnSpc>
                          <a:spcPct val="107000"/>
                        </a:lnSpc>
                        <a:spcBef>
                          <a:spcPts val="0"/>
                        </a:spcBef>
                        <a:spcAft>
                          <a:spcPts val="0"/>
                        </a:spcAft>
                      </a:pPr>
                      <a:r>
                        <a:rPr lang="en-US" sz="1400" kern="1200" dirty="0">
                          <a:solidFill>
                            <a:schemeClr val="tx1"/>
                          </a:solidFill>
                          <a:effectLst/>
                          <a:latin typeface="Candara" panose="020E0502030303020204" pitchFamily="34" charset="0"/>
                          <a:ea typeface="+mn-ea"/>
                          <a:cs typeface="+mn-cs"/>
                        </a:rPr>
                        <a:t>2</a:t>
                      </a:r>
                    </a:p>
                  </a:txBody>
                  <a:tcPr marL="28575" marR="28575" marT="19050" marB="19050" anchor="ctr"/>
                </a:tc>
                <a:tc>
                  <a:txBody>
                    <a:bodyPr/>
                    <a:lstStyle/>
                    <a:p>
                      <a:pPr marL="0" marR="0">
                        <a:lnSpc>
                          <a:spcPct val="107000"/>
                        </a:lnSpc>
                        <a:spcBef>
                          <a:spcPts val="0"/>
                        </a:spcBef>
                        <a:spcAft>
                          <a:spcPts val="0"/>
                        </a:spcAft>
                      </a:pPr>
                      <a:r>
                        <a:rPr lang="en-US" sz="1400" kern="1200" dirty="0">
                          <a:solidFill>
                            <a:schemeClr val="tx1"/>
                          </a:solidFill>
                          <a:effectLst/>
                          <a:latin typeface="Candara" panose="020E0502030303020204" pitchFamily="34" charset="0"/>
                          <a:ea typeface="+mn-ea"/>
                          <a:cs typeface="+mn-cs"/>
                        </a:rPr>
                        <a:t>Get execution origination address</a:t>
                      </a:r>
                    </a:p>
                  </a:txBody>
                  <a:tcPr marL="28575" marR="28575" marT="19050" marB="19050" anchor="ctr"/>
                </a:tc>
                <a:extLst>
                  <a:ext uri="{0D108BD9-81ED-4DB2-BD59-A6C34878D82A}">
                    <a16:rowId xmlns:a16="http://schemas.microsoft.com/office/drawing/2014/main" val="10002"/>
                  </a:ext>
                </a:extLst>
              </a:tr>
              <a:tr h="200025">
                <a:tc>
                  <a:txBody>
                    <a:bodyPr/>
                    <a:lstStyle/>
                    <a:p>
                      <a:pPr marL="0" marR="0">
                        <a:lnSpc>
                          <a:spcPct val="107000"/>
                        </a:lnSpc>
                        <a:spcBef>
                          <a:spcPts val="0"/>
                        </a:spcBef>
                        <a:spcAft>
                          <a:spcPts val="0"/>
                        </a:spcAft>
                      </a:pPr>
                      <a:r>
                        <a:rPr lang="en-US" sz="1400" kern="1200">
                          <a:solidFill>
                            <a:schemeClr val="tx1"/>
                          </a:solidFill>
                          <a:effectLst/>
                          <a:latin typeface="Candara" panose="020E0502030303020204" pitchFamily="34" charset="0"/>
                          <a:ea typeface="+mn-ea"/>
                          <a:cs typeface="+mn-cs"/>
                        </a:rPr>
                        <a:t>0x33</a:t>
                      </a:r>
                    </a:p>
                  </a:txBody>
                  <a:tcPr marL="28575" marR="28575" marT="19050" marB="19050" anchor="ctr"/>
                </a:tc>
                <a:tc>
                  <a:txBody>
                    <a:bodyPr/>
                    <a:lstStyle/>
                    <a:p>
                      <a:pPr marL="0" marR="0">
                        <a:lnSpc>
                          <a:spcPct val="107000"/>
                        </a:lnSpc>
                        <a:spcBef>
                          <a:spcPts val="0"/>
                        </a:spcBef>
                        <a:spcAft>
                          <a:spcPts val="0"/>
                        </a:spcAft>
                      </a:pPr>
                      <a:r>
                        <a:rPr lang="en-US" sz="1400" kern="1200">
                          <a:solidFill>
                            <a:schemeClr val="tx1"/>
                          </a:solidFill>
                          <a:effectLst/>
                          <a:latin typeface="Candara" panose="020E0502030303020204" pitchFamily="34" charset="0"/>
                          <a:ea typeface="+mn-ea"/>
                          <a:cs typeface="+mn-cs"/>
                        </a:rPr>
                        <a:t>CALLER</a:t>
                      </a:r>
                    </a:p>
                  </a:txBody>
                  <a:tcPr marL="28575" marR="28575" marT="19050" marB="19050" anchor="ctr"/>
                </a:tc>
                <a:tc>
                  <a:txBody>
                    <a:bodyPr/>
                    <a:lstStyle/>
                    <a:p>
                      <a:pPr marL="0" marR="0" algn="ctr">
                        <a:lnSpc>
                          <a:spcPct val="107000"/>
                        </a:lnSpc>
                        <a:spcBef>
                          <a:spcPts val="0"/>
                        </a:spcBef>
                        <a:spcAft>
                          <a:spcPts val="0"/>
                        </a:spcAft>
                      </a:pPr>
                      <a:r>
                        <a:rPr lang="en-US" sz="1400" kern="1200">
                          <a:solidFill>
                            <a:schemeClr val="tx1"/>
                          </a:solidFill>
                          <a:effectLst/>
                          <a:latin typeface="Candara" panose="020E0502030303020204" pitchFamily="34" charset="0"/>
                          <a:ea typeface="+mn-ea"/>
                          <a:cs typeface="+mn-cs"/>
                        </a:rPr>
                        <a:t>2</a:t>
                      </a:r>
                    </a:p>
                  </a:txBody>
                  <a:tcPr marL="28575" marR="28575" marT="19050" marB="19050" anchor="ctr"/>
                </a:tc>
                <a:tc>
                  <a:txBody>
                    <a:bodyPr/>
                    <a:lstStyle/>
                    <a:p>
                      <a:pPr marL="0" marR="0">
                        <a:lnSpc>
                          <a:spcPct val="107000"/>
                        </a:lnSpc>
                        <a:spcBef>
                          <a:spcPts val="0"/>
                        </a:spcBef>
                        <a:spcAft>
                          <a:spcPts val="0"/>
                        </a:spcAft>
                      </a:pPr>
                      <a:r>
                        <a:rPr lang="en-US" sz="1400" kern="1200" dirty="0">
                          <a:solidFill>
                            <a:schemeClr val="tx1"/>
                          </a:solidFill>
                          <a:effectLst/>
                          <a:latin typeface="Candara" panose="020E0502030303020204" pitchFamily="34" charset="0"/>
                          <a:ea typeface="+mn-ea"/>
                          <a:cs typeface="+mn-cs"/>
                        </a:rPr>
                        <a:t>Get caller address</a:t>
                      </a:r>
                    </a:p>
                  </a:txBody>
                  <a:tcPr marL="28575" marR="28575" marT="19050" marB="19050" anchor="ctr"/>
                </a:tc>
                <a:extLst>
                  <a:ext uri="{0D108BD9-81ED-4DB2-BD59-A6C34878D82A}">
                    <a16:rowId xmlns:a16="http://schemas.microsoft.com/office/drawing/2014/main" val="10003"/>
                  </a:ext>
                </a:extLst>
              </a:tr>
              <a:tr h="200025">
                <a:tc>
                  <a:txBody>
                    <a:bodyPr/>
                    <a:lstStyle/>
                    <a:p>
                      <a:pPr marL="0" marR="0">
                        <a:lnSpc>
                          <a:spcPct val="107000"/>
                        </a:lnSpc>
                        <a:spcBef>
                          <a:spcPts val="0"/>
                        </a:spcBef>
                        <a:spcAft>
                          <a:spcPts val="0"/>
                        </a:spcAft>
                      </a:pPr>
                      <a:r>
                        <a:rPr lang="en-US" sz="1400" kern="1200">
                          <a:solidFill>
                            <a:schemeClr val="tx1"/>
                          </a:solidFill>
                          <a:effectLst/>
                          <a:latin typeface="Candara" panose="020E0502030303020204" pitchFamily="34" charset="0"/>
                          <a:ea typeface="+mn-ea"/>
                          <a:cs typeface="+mn-cs"/>
                        </a:rPr>
                        <a:t>0x3b</a:t>
                      </a:r>
                    </a:p>
                  </a:txBody>
                  <a:tcPr marL="28575" marR="28575" marT="19050" marB="19050" anchor="ctr"/>
                </a:tc>
                <a:tc>
                  <a:txBody>
                    <a:bodyPr/>
                    <a:lstStyle/>
                    <a:p>
                      <a:pPr marL="0" marR="0">
                        <a:lnSpc>
                          <a:spcPct val="107000"/>
                        </a:lnSpc>
                        <a:spcBef>
                          <a:spcPts val="0"/>
                        </a:spcBef>
                        <a:spcAft>
                          <a:spcPts val="0"/>
                        </a:spcAft>
                      </a:pPr>
                      <a:r>
                        <a:rPr lang="en-US" sz="1400" kern="1200">
                          <a:solidFill>
                            <a:schemeClr val="tx1"/>
                          </a:solidFill>
                          <a:effectLst/>
                          <a:latin typeface="Candara" panose="020E0502030303020204" pitchFamily="34" charset="0"/>
                          <a:ea typeface="+mn-ea"/>
                          <a:cs typeface="+mn-cs"/>
                        </a:rPr>
                        <a:t>EXTCODESIZE</a:t>
                      </a:r>
                    </a:p>
                  </a:txBody>
                  <a:tcPr marL="28575" marR="28575" marT="19050" marB="19050" anchor="ctr"/>
                </a:tc>
                <a:tc>
                  <a:txBody>
                    <a:bodyPr/>
                    <a:lstStyle/>
                    <a:p>
                      <a:pPr marL="0" marR="0" algn="ctr">
                        <a:lnSpc>
                          <a:spcPct val="107000"/>
                        </a:lnSpc>
                        <a:spcBef>
                          <a:spcPts val="0"/>
                        </a:spcBef>
                        <a:spcAft>
                          <a:spcPts val="0"/>
                        </a:spcAft>
                      </a:pPr>
                      <a:r>
                        <a:rPr lang="en-US" sz="1400" kern="1200">
                          <a:solidFill>
                            <a:schemeClr val="tx1"/>
                          </a:solidFill>
                          <a:effectLst/>
                          <a:latin typeface="Candara" panose="020E0502030303020204" pitchFamily="34" charset="0"/>
                          <a:ea typeface="+mn-ea"/>
                          <a:cs typeface="+mn-cs"/>
                        </a:rPr>
                        <a:t>700</a:t>
                      </a:r>
                    </a:p>
                  </a:txBody>
                  <a:tcPr marL="28575" marR="28575" marT="19050" marB="19050" anchor="ctr"/>
                </a:tc>
                <a:tc>
                  <a:txBody>
                    <a:bodyPr/>
                    <a:lstStyle/>
                    <a:p>
                      <a:pPr marL="0" marR="0">
                        <a:lnSpc>
                          <a:spcPct val="107000"/>
                        </a:lnSpc>
                        <a:spcBef>
                          <a:spcPts val="0"/>
                        </a:spcBef>
                        <a:spcAft>
                          <a:spcPts val="0"/>
                        </a:spcAft>
                      </a:pPr>
                      <a:r>
                        <a:rPr lang="en-US" sz="1400" kern="1200" dirty="0">
                          <a:solidFill>
                            <a:schemeClr val="tx1"/>
                          </a:solidFill>
                          <a:effectLst/>
                          <a:latin typeface="Candara" panose="020E0502030303020204" pitchFamily="34" charset="0"/>
                          <a:ea typeface="+mn-ea"/>
                          <a:cs typeface="+mn-cs"/>
                        </a:rPr>
                        <a:t>Get size of an account’s code</a:t>
                      </a:r>
                    </a:p>
                  </a:txBody>
                  <a:tcPr marL="28575" marR="28575" marT="19050" marB="19050" anchor="ctr"/>
                </a:tc>
                <a:extLst>
                  <a:ext uri="{0D108BD9-81ED-4DB2-BD59-A6C34878D82A}">
                    <a16:rowId xmlns:a16="http://schemas.microsoft.com/office/drawing/2014/main" val="10004"/>
                  </a:ext>
                </a:extLst>
              </a:tr>
              <a:tr h="200025">
                <a:tc>
                  <a:txBody>
                    <a:bodyPr/>
                    <a:lstStyle/>
                    <a:p>
                      <a:pPr rtl="0" fontAlgn="b"/>
                      <a:r>
                        <a:rPr lang="en-US" sz="1400" kern="1200">
                          <a:solidFill>
                            <a:schemeClr val="tx1"/>
                          </a:solidFill>
                          <a:effectLst/>
                          <a:latin typeface="Candara" panose="020E0502030303020204" pitchFamily="34" charset="0"/>
                          <a:ea typeface="+mn-ea"/>
                          <a:cs typeface="+mn-cs"/>
                        </a:rPr>
                        <a:t>0x54</a:t>
                      </a:r>
                    </a:p>
                  </a:txBody>
                  <a:tcPr marL="28575" marR="28575" marT="19050" marB="19050" anchor="ctr"/>
                </a:tc>
                <a:tc>
                  <a:txBody>
                    <a:bodyPr/>
                    <a:lstStyle/>
                    <a:p>
                      <a:pPr rtl="0" fontAlgn="b"/>
                      <a:r>
                        <a:rPr lang="en-US" sz="1400" kern="1200">
                          <a:solidFill>
                            <a:schemeClr val="tx1"/>
                          </a:solidFill>
                          <a:effectLst/>
                          <a:latin typeface="Candara" panose="020E0502030303020204" pitchFamily="34" charset="0"/>
                          <a:ea typeface="+mn-ea"/>
                          <a:cs typeface="+mn-cs"/>
                        </a:rPr>
                        <a:t>SLOAD</a:t>
                      </a:r>
                    </a:p>
                  </a:txBody>
                  <a:tcPr marL="28575" marR="28575" marT="19050" marB="19050" anchor="ctr"/>
                </a:tc>
                <a:tc>
                  <a:txBody>
                    <a:bodyPr/>
                    <a:lstStyle/>
                    <a:p>
                      <a:pPr algn="ctr" rtl="0" fontAlgn="b"/>
                      <a:r>
                        <a:rPr lang="en-US" sz="1400" kern="1200" dirty="0">
                          <a:solidFill>
                            <a:schemeClr val="tx1"/>
                          </a:solidFill>
                          <a:effectLst/>
                          <a:latin typeface="Candara" panose="020E0502030303020204" pitchFamily="34" charset="0"/>
                          <a:ea typeface="+mn-ea"/>
                          <a:cs typeface="+mn-cs"/>
                        </a:rPr>
                        <a:t>200</a:t>
                      </a:r>
                    </a:p>
                  </a:txBody>
                  <a:tcPr marL="28575" marR="28575" marT="19050" marB="19050" anchor="ctr"/>
                </a:tc>
                <a:tc>
                  <a:txBody>
                    <a:bodyPr/>
                    <a:lstStyle/>
                    <a:p>
                      <a:pPr rtl="0" fontAlgn="b"/>
                      <a:r>
                        <a:rPr lang="en-US" sz="1400" kern="1200" dirty="0">
                          <a:solidFill>
                            <a:schemeClr val="tx1"/>
                          </a:solidFill>
                          <a:effectLst/>
                          <a:latin typeface="Candara" panose="020E0502030303020204" pitchFamily="34" charset="0"/>
                          <a:ea typeface="+mn-ea"/>
                          <a:cs typeface="+mn-cs"/>
                        </a:rPr>
                        <a:t>Load word from storage</a:t>
                      </a:r>
                    </a:p>
                  </a:txBody>
                  <a:tcPr marL="28575" marR="28575" marT="19050" marB="19050" anchor="ctr"/>
                </a:tc>
                <a:extLst>
                  <a:ext uri="{0D108BD9-81ED-4DB2-BD59-A6C34878D82A}">
                    <a16:rowId xmlns:a16="http://schemas.microsoft.com/office/drawing/2014/main" val="10005"/>
                  </a:ext>
                </a:extLst>
              </a:tr>
              <a:tr h="200025">
                <a:tc>
                  <a:txBody>
                    <a:bodyPr/>
                    <a:lstStyle/>
                    <a:p>
                      <a:pPr rtl="0" fontAlgn="b"/>
                      <a:r>
                        <a:rPr lang="en-US" sz="1400" kern="1200" dirty="0">
                          <a:solidFill>
                            <a:schemeClr val="tx1"/>
                          </a:solidFill>
                          <a:effectLst/>
                          <a:latin typeface="Candara" panose="020E0502030303020204" pitchFamily="34" charset="0"/>
                          <a:ea typeface="+mn-ea"/>
                          <a:cs typeface="+mn-cs"/>
                        </a:rPr>
                        <a:t>0xf0</a:t>
                      </a:r>
                    </a:p>
                  </a:txBody>
                  <a:tcPr marL="28575" marR="28575" marT="19050" marB="19050" anchor="ctr"/>
                </a:tc>
                <a:tc>
                  <a:txBody>
                    <a:bodyPr/>
                    <a:lstStyle/>
                    <a:p>
                      <a:pPr rtl="0" fontAlgn="b"/>
                      <a:r>
                        <a:rPr lang="en-US" sz="1400" kern="1200" dirty="0">
                          <a:solidFill>
                            <a:schemeClr val="tx1"/>
                          </a:solidFill>
                          <a:effectLst/>
                          <a:latin typeface="Candara" panose="020E0502030303020204" pitchFamily="34" charset="0"/>
                          <a:ea typeface="+mn-ea"/>
                          <a:cs typeface="+mn-cs"/>
                        </a:rPr>
                        <a:t>CREATE</a:t>
                      </a:r>
                    </a:p>
                  </a:txBody>
                  <a:tcPr marL="28575" marR="28575" marT="19050" marB="19050" anchor="ctr"/>
                </a:tc>
                <a:tc>
                  <a:txBody>
                    <a:bodyPr/>
                    <a:lstStyle/>
                    <a:p>
                      <a:pPr algn="ctr" rtl="0" fontAlgn="b"/>
                      <a:r>
                        <a:rPr lang="en-US" sz="1400" kern="1200" dirty="0">
                          <a:solidFill>
                            <a:schemeClr val="tx1"/>
                          </a:solidFill>
                          <a:effectLst/>
                          <a:latin typeface="Candara" panose="020E0502030303020204" pitchFamily="34" charset="0"/>
                          <a:ea typeface="+mn-ea"/>
                          <a:cs typeface="+mn-cs"/>
                        </a:rPr>
                        <a:t>53,000</a:t>
                      </a:r>
                    </a:p>
                  </a:txBody>
                  <a:tcPr marL="28575" marR="28575" marT="19050" marB="19050" anchor="ctr"/>
                </a:tc>
                <a:tc>
                  <a:txBody>
                    <a:bodyPr/>
                    <a:lstStyle/>
                    <a:p>
                      <a:pPr rtl="0" fontAlgn="b"/>
                      <a:r>
                        <a:rPr lang="en-US" sz="1400" kern="1200" dirty="0">
                          <a:solidFill>
                            <a:schemeClr val="tx1"/>
                          </a:solidFill>
                          <a:effectLst/>
                          <a:latin typeface="Candara" panose="020E0502030303020204" pitchFamily="34" charset="0"/>
                          <a:ea typeface="+mn-ea"/>
                          <a:cs typeface="+mn-cs"/>
                        </a:rPr>
                        <a:t>Create a new account with code (smart contract deployment)</a:t>
                      </a:r>
                    </a:p>
                  </a:txBody>
                  <a:tcPr marL="28575" marR="28575" marT="19050" marB="19050" anchor="ctr"/>
                </a:tc>
                <a:extLst>
                  <a:ext uri="{0D108BD9-81ED-4DB2-BD59-A6C34878D82A}">
                    <a16:rowId xmlns:a16="http://schemas.microsoft.com/office/drawing/2014/main" val="10006"/>
                  </a:ext>
                </a:extLst>
              </a:tr>
              <a:tr h="200025">
                <a:tc>
                  <a:txBody>
                    <a:bodyPr/>
                    <a:lstStyle/>
                    <a:p>
                      <a:pPr marL="0" marR="0">
                        <a:lnSpc>
                          <a:spcPct val="107000"/>
                        </a:lnSpc>
                        <a:spcBef>
                          <a:spcPts val="0"/>
                        </a:spcBef>
                        <a:spcAft>
                          <a:spcPts val="0"/>
                        </a:spcAft>
                      </a:pPr>
                      <a:r>
                        <a:rPr lang="en-US" sz="1400" kern="1200">
                          <a:solidFill>
                            <a:schemeClr val="tx1"/>
                          </a:solidFill>
                          <a:effectLst/>
                          <a:latin typeface="Candara" panose="020E0502030303020204" pitchFamily="34" charset="0"/>
                          <a:ea typeface="+mn-ea"/>
                          <a:cs typeface="+mn-cs"/>
                        </a:rPr>
                        <a:t>0x37</a:t>
                      </a:r>
                    </a:p>
                  </a:txBody>
                  <a:tcPr marL="28575" marR="28575" marT="19050" marB="19050" anchor="ctr"/>
                </a:tc>
                <a:tc>
                  <a:txBody>
                    <a:bodyPr/>
                    <a:lstStyle/>
                    <a:p>
                      <a:pPr marL="0" marR="0">
                        <a:lnSpc>
                          <a:spcPct val="107000"/>
                        </a:lnSpc>
                        <a:spcBef>
                          <a:spcPts val="0"/>
                        </a:spcBef>
                        <a:spcAft>
                          <a:spcPts val="0"/>
                        </a:spcAft>
                      </a:pPr>
                      <a:r>
                        <a:rPr lang="en-US" sz="1400" kern="1200">
                          <a:solidFill>
                            <a:schemeClr val="tx1"/>
                          </a:solidFill>
                          <a:effectLst/>
                          <a:latin typeface="Candara" panose="020E0502030303020204" pitchFamily="34" charset="0"/>
                          <a:ea typeface="+mn-ea"/>
                          <a:cs typeface="+mn-cs"/>
                        </a:rPr>
                        <a:t>CALLDATACOPY</a:t>
                      </a:r>
                    </a:p>
                  </a:txBody>
                  <a:tcPr marL="28575" marR="28575" marT="19050" marB="19050" anchor="ctr"/>
                </a:tc>
                <a:tc>
                  <a:txBody>
                    <a:bodyPr/>
                    <a:lstStyle/>
                    <a:p>
                      <a:pPr marL="0" marR="0" algn="ctr">
                        <a:lnSpc>
                          <a:spcPct val="107000"/>
                        </a:lnSpc>
                        <a:spcBef>
                          <a:spcPts val="0"/>
                        </a:spcBef>
                        <a:spcAft>
                          <a:spcPts val="0"/>
                        </a:spcAft>
                      </a:pPr>
                      <a:r>
                        <a:rPr lang="en-US" sz="1400" kern="1200">
                          <a:solidFill>
                            <a:schemeClr val="tx1"/>
                          </a:solidFill>
                          <a:effectLst/>
                          <a:latin typeface="Candara" panose="020E0502030303020204" pitchFamily="34" charset="0"/>
                          <a:ea typeface="+mn-ea"/>
                          <a:cs typeface="+mn-cs"/>
                        </a:rPr>
                        <a:t>FORMULA</a:t>
                      </a:r>
                    </a:p>
                  </a:txBody>
                  <a:tcPr marL="28575" marR="28575" marT="19050" marB="19050" anchor="ctr"/>
                </a:tc>
                <a:tc>
                  <a:txBody>
                    <a:bodyPr/>
                    <a:lstStyle/>
                    <a:p>
                      <a:pPr marL="0" marR="0">
                        <a:lnSpc>
                          <a:spcPct val="107000"/>
                        </a:lnSpc>
                        <a:spcBef>
                          <a:spcPts val="0"/>
                        </a:spcBef>
                        <a:spcAft>
                          <a:spcPts val="0"/>
                        </a:spcAft>
                      </a:pPr>
                      <a:r>
                        <a:rPr lang="en-US" sz="1400" kern="1200" dirty="0">
                          <a:solidFill>
                            <a:schemeClr val="tx1"/>
                          </a:solidFill>
                          <a:effectLst/>
                          <a:latin typeface="Candara" panose="020E0502030303020204" pitchFamily="34" charset="0"/>
                          <a:ea typeface="+mn-ea"/>
                          <a:cs typeface="+mn-cs"/>
                        </a:rPr>
                        <a:t>Copy input data in current environment to memory</a:t>
                      </a:r>
                    </a:p>
                  </a:txBody>
                  <a:tcPr marL="28575" marR="28575" marT="19050" marB="19050" anchor="ctr"/>
                </a:tc>
                <a:extLst>
                  <a:ext uri="{0D108BD9-81ED-4DB2-BD59-A6C34878D82A}">
                    <a16:rowId xmlns:a16="http://schemas.microsoft.com/office/drawing/2014/main" val="10007"/>
                  </a:ext>
                </a:extLst>
              </a:tr>
              <a:tr h="200025">
                <a:tc>
                  <a:txBody>
                    <a:bodyPr/>
                    <a:lstStyle/>
                    <a:p>
                      <a:pPr marL="0" marR="0">
                        <a:lnSpc>
                          <a:spcPct val="107000"/>
                        </a:lnSpc>
                        <a:spcBef>
                          <a:spcPts val="0"/>
                        </a:spcBef>
                        <a:spcAft>
                          <a:spcPts val="0"/>
                        </a:spcAft>
                      </a:pPr>
                      <a:r>
                        <a:rPr lang="en-US" sz="1400" kern="1200">
                          <a:solidFill>
                            <a:schemeClr val="tx1"/>
                          </a:solidFill>
                          <a:effectLst/>
                          <a:latin typeface="Candara" panose="020E0502030303020204" pitchFamily="34" charset="0"/>
                          <a:ea typeface="+mn-ea"/>
                          <a:cs typeface="+mn-cs"/>
                        </a:rPr>
                        <a:t>0x38</a:t>
                      </a:r>
                    </a:p>
                  </a:txBody>
                  <a:tcPr marL="28575" marR="28575" marT="19050" marB="19050" anchor="ctr"/>
                </a:tc>
                <a:tc>
                  <a:txBody>
                    <a:bodyPr/>
                    <a:lstStyle/>
                    <a:p>
                      <a:pPr marL="0" marR="0">
                        <a:lnSpc>
                          <a:spcPct val="107000"/>
                        </a:lnSpc>
                        <a:spcBef>
                          <a:spcPts val="0"/>
                        </a:spcBef>
                        <a:spcAft>
                          <a:spcPts val="0"/>
                        </a:spcAft>
                      </a:pPr>
                      <a:r>
                        <a:rPr lang="en-US" sz="1400" kern="1200">
                          <a:solidFill>
                            <a:schemeClr val="tx1"/>
                          </a:solidFill>
                          <a:effectLst/>
                          <a:latin typeface="Candara" panose="020E0502030303020204" pitchFamily="34" charset="0"/>
                          <a:ea typeface="+mn-ea"/>
                          <a:cs typeface="+mn-cs"/>
                        </a:rPr>
                        <a:t>CODESIZE</a:t>
                      </a:r>
                    </a:p>
                  </a:txBody>
                  <a:tcPr marL="28575" marR="28575" marT="19050" marB="19050" anchor="ctr"/>
                </a:tc>
                <a:tc>
                  <a:txBody>
                    <a:bodyPr/>
                    <a:lstStyle/>
                    <a:p>
                      <a:pPr marL="0" marR="0" algn="ctr">
                        <a:lnSpc>
                          <a:spcPct val="107000"/>
                        </a:lnSpc>
                        <a:spcBef>
                          <a:spcPts val="0"/>
                        </a:spcBef>
                        <a:spcAft>
                          <a:spcPts val="0"/>
                        </a:spcAft>
                      </a:pPr>
                      <a:r>
                        <a:rPr lang="en-US" sz="1400" kern="1200">
                          <a:solidFill>
                            <a:schemeClr val="tx1"/>
                          </a:solidFill>
                          <a:effectLst/>
                          <a:latin typeface="Candara" panose="020E0502030303020204" pitchFamily="34" charset="0"/>
                          <a:ea typeface="+mn-ea"/>
                          <a:cs typeface="+mn-cs"/>
                        </a:rPr>
                        <a:t>2</a:t>
                      </a:r>
                    </a:p>
                  </a:txBody>
                  <a:tcPr marL="28575" marR="28575" marT="19050" marB="19050" anchor="ctr"/>
                </a:tc>
                <a:tc>
                  <a:txBody>
                    <a:bodyPr/>
                    <a:lstStyle/>
                    <a:p>
                      <a:pPr marL="0" marR="0">
                        <a:lnSpc>
                          <a:spcPct val="107000"/>
                        </a:lnSpc>
                        <a:spcBef>
                          <a:spcPts val="0"/>
                        </a:spcBef>
                        <a:spcAft>
                          <a:spcPts val="0"/>
                        </a:spcAft>
                      </a:pPr>
                      <a:r>
                        <a:rPr lang="en-US" sz="1400" kern="1200" dirty="0">
                          <a:solidFill>
                            <a:schemeClr val="tx1"/>
                          </a:solidFill>
                          <a:effectLst/>
                          <a:latin typeface="Candara" panose="020E0502030303020204" pitchFamily="34" charset="0"/>
                          <a:ea typeface="+mn-ea"/>
                          <a:cs typeface="+mn-cs"/>
                        </a:rPr>
                        <a:t>Get size of code running in current environment</a:t>
                      </a:r>
                    </a:p>
                  </a:txBody>
                  <a:tcPr marL="28575" marR="28575" marT="19050" marB="19050" anchor="ctr"/>
                </a:tc>
                <a:extLst>
                  <a:ext uri="{0D108BD9-81ED-4DB2-BD59-A6C34878D82A}">
                    <a16:rowId xmlns:a16="http://schemas.microsoft.com/office/drawing/2014/main" val="10008"/>
                  </a:ext>
                </a:extLst>
              </a:tr>
              <a:tr h="200025">
                <a:tc>
                  <a:txBody>
                    <a:bodyPr/>
                    <a:lstStyle/>
                    <a:p>
                      <a:pPr marL="0" marR="0">
                        <a:lnSpc>
                          <a:spcPct val="107000"/>
                        </a:lnSpc>
                        <a:spcBef>
                          <a:spcPts val="0"/>
                        </a:spcBef>
                        <a:spcAft>
                          <a:spcPts val="0"/>
                        </a:spcAft>
                      </a:pPr>
                      <a:r>
                        <a:rPr lang="en-US" sz="1400" kern="1200">
                          <a:solidFill>
                            <a:schemeClr val="tx1"/>
                          </a:solidFill>
                          <a:effectLst/>
                          <a:latin typeface="Candara" panose="020E0502030303020204" pitchFamily="34" charset="0"/>
                          <a:ea typeface="+mn-ea"/>
                          <a:cs typeface="+mn-cs"/>
                        </a:rPr>
                        <a:t>0x39</a:t>
                      </a:r>
                    </a:p>
                  </a:txBody>
                  <a:tcPr marL="28575" marR="28575" marT="19050" marB="19050" anchor="ctr"/>
                </a:tc>
                <a:tc>
                  <a:txBody>
                    <a:bodyPr/>
                    <a:lstStyle/>
                    <a:p>
                      <a:pPr marL="0" marR="0">
                        <a:lnSpc>
                          <a:spcPct val="107000"/>
                        </a:lnSpc>
                        <a:spcBef>
                          <a:spcPts val="0"/>
                        </a:spcBef>
                        <a:spcAft>
                          <a:spcPts val="0"/>
                        </a:spcAft>
                      </a:pPr>
                      <a:r>
                        <a:rPr lang="en-US" sz="1400" kern="1200">
                          <a:solidFill>
                            <a:schemeClr val="tx1"/>
                          </a:solidFill>
                          <a:effectLst/>
                          <a:latin typeface="Candara" panose="020E0502030303020204" pitchFamily="34" charset="0"/>
                          <a:ea typeface="+mn-ea"/>
                          <a:cs typeface="+mn-cs"/>
                        </a:rPr>
                        <a:t>CODECOPY</a:t>
                      </a:r>
                    </a:p>
                  </a:txBody>
                  <a:tcPr marL="28575" marR="28575" marT="19050" marB="19050" anchor="ctr"/>
                </a:tc>
                <a:tc>
                  <a:txBody>
                    <a:bodyPr/>
                    <a:lstStyle/>
                    <a:p>
                      <a:pPr marL="0" marR="0" algn="ctr">
                        <a:lnSpc>
                          <a:spcPct val="107000"/>
                        </a:lnSpc>
                        <a:spcBef>
                          <a:spcPts val="0"/>
                        </a:spcBef>
                        <a:spcAft>
                          <a:spcPts val="0"/>
                        </a:spcAft>
                      </a:pPr>
                      <a:r>
                        <a:rPr lang="en-US" sz="1400" kern="1200" dirty="0">
                          <a:solidFill>
                            <a:schemeClr val="tx1"/>
                          </a:solidFill>
                          <a:effectLst/>
                          <a:latin typeface="Candara" panose="020E0502030303020204" pitchFamily="34" charset="0"/>
                          <a:ea typeface="+mn-ea"/>
                          <a:cs typeface="+mn-cs"/>
                        </a:rPr>
                        <a:t>FORMULA</a:t>
                      </a:r>
                    </a:p>
                  </a:txBody>
                  <a:tcPr marL="28575" marR="28575" marT="19050" marB="19050" anchor="ctr"/>
                </a:tc>
                <a:tc>
                  <a:txBody>
                    <a:bodyPr/>
                    <a:lstStyle/>
                    <a:p>
                      <a:pPr marL="0" marR="0">
                        <a:lnSpc>
                          <a:spcPct val="107000"/>
                        </a:lnSpc>
                        <a:spcBef>
                          <a:spcPts val="0"/>
                        </a:spcBef>
                        <a:spcAft>
                          <a:spcPts val="0"/>
                        </a:spcAft>
                      </a:pPr>
                      <a:r>
                        <a:rPr lang="en-US" sz="1400" kern="1200" dirty="0">
                          <a:solidFill>
                            <a:schemeClr val="tx1"/>
                          </a:solidFill>
                          <a:effectLst/>
                          <a:latin typeface="Candara" panose="020E0502030303020204" pitchFamily="34" charset="0"/>
                          <a:ea typeface="+mn-ea"/>
                          <a:cs typeface="+mn-cs"/>
                        </a:rPr>
                        <a:t>Copy code running in current environment to memory</a:t>
                      </a:r>
                    </a:p>
                  </a:txBody>
                  <a:tcPr marL="28575" marR="28575" marT="19050" marB="19050" anchor="ct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715036772"/>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Transactions are Atomic</a:t>
            </a:r>
          </a:p>
        </p:txBody>
      </p:sp>
      <p:sp>
        <p:nvSpPr>
          <p:cNvPr id="4" name="Slide Number Placeholder 3"/>
          <p:cNvSpPr>
            <a:spLocks noGrp="1"/>
          </p:cNvSpPr>
          <p:nvPr>
            <p:ph type="sldNum" sz="quarter" idx="12"/>
          </p:nvPr>
        </p:nvSpPr>
        <p:spPr/>
        <p:txBody>
          <a:bodyPr/>
          <a:lstStyle/>
          <a:p>
            <a:fld id="{19FE8B7B-3258-47CD-BBC0-34D05FC906E5}" type="slidenum">
              <a:rPr>
                <a:latin typeface="Candara" panose="020E0502030303020204" pitchFamily="34" charset="0"/>
              </a:rPr>
              <a:pPr/>
              <a:t>6</a:t>
            </a:fld>
            <a:endParaRPr dirty="0">
              <a:latin typeface="Candara" panose="020E0502030303020204" pitchFamily="34" charset="0"/>
            </a:endParaRPr>
          </a:p>
        </p:txBody>
      </p:sp>
      <p:pic>
        <p:nvPicPr>
          <p:cNvPr id="10" name="Picture 9"/>
          <p:cNvPicPr>
            <a:picLocks noChangeAspect="1"/>
          </p:cNvPicPr>
          <p:nvPr/>
        </p:nvPicPr>
        <p:blipFill>
          <a:blip r:embed="rId3"/>
          <a:stretch>
            <a:fillRect/>
          </a:stretch>
        </p:blipFill>
        <p:spPr>
          <a:xfrm>
            <a:off x="2417791" y="1950207"/>
            <a:ext cx="7072683" cy="1079586"/>
          </a:xfrm>
          <a:prstGeom prst="rect">
            <a:avLst/>
          </a:prstGeom>
          <a:ln w="25400">
            <a:solidFill>
              <a:schemeClr val="tx1"/>
            </a:solidFill>
          </a:ln>
        </p:spPr>
      </p:pic>
      <p:sp>
        <p:nvSpPr>
          <p:cNvPr id="11" name="Rectangle 10"/>
          <p:cNvSpPr/>
          <p:nvPr/>
        </p:nvSpPr>
        <p:spPr>
          <a:xfrm>
            <a:off x="2302933" y="3103064"/>
            <a:ext cx="7302398" cy="461665"/>
          </a:xfrm>
          <a:prstGeom prst="rect">
            <a:avLst/>
          </a:prstGeom>
        </p:spPr>
        <p:txBody>
          <a:bodyPr wrap="square">
            <a:spAutoFit/>
          </a:bodyPr>
          <a:lstStyle/>
          <a:p>
            <a:pPr algn="ctr"/>
            <a:r>
              <a:rPr lang="en-US" sz="2400" dirty="0">
                <a:solidFill>
                  <a:srgbClr val="002060"/>
                </a:solidFill>
                <a:latin typeface="Candara" panose="020E0502030303020204" pitchFamily="34" charset="0"/>
              </a:rPr>
              <a:t>All (completely done) or Nothing (zero effect)</a:t>
            </a:r>
          </a:p>
        </p:txBody>
      </p:sp>
      <p:sp>
        <p:nvSpPr>
          <p:cNvPr id="12" name="Rectangle 11"/>
          <p:cNvSpPr/>
          <p:nvPr/>
        </p:nvSpPr>
        <p:spPr>
          <a:xfrm>
            <a:off x="487680" y="3754936"/>
            <a:ext cx="11186160" cy="1200329"/>
          </a:xfrm>
          <a:prstGeom prst="rect">
            <a:avLst/>
          </a:prstGeom>
          <a:ln>
            <a:noFill/>
          </a:ln>
        </p:spPr>
        <p:txBody>
          <a:bodyPr wrap="square" anchor="ctr" anchorCtr="0">
            <a:spAutoFit/>
          </a:bodyPr>
          <a:lstStyle/>
          <a:p>
            <a:pPr algn="ctr"/>
            <a:r>
              <a:rPr lang="en-US" sz="2400" dirty="0">
                <a:solidFill>
                  <a:schemeClr val="accent2"/>
                </a:solidFill>
                <a:latin typeface="Candara" panose="020E0502030303020204" pitchFamily="34" charset="0"/>
              </a:rPr>
              <a:t>If an insufficient amount of gas is included in a transaction, all the state changes are rolled back except for the gas, which gets consumed while performing the computational steps</a:t>
            </a:r>
          </a:p>
        </p:txBody>
      </p:sp>
      <p:sp>
        <p:nvSpPr>
          <p:cNvPr id="13" name="TextBox 12"/>
          <p:cNvSpPr txBox="1"/>
          <p:nvPr/>
        </p:nvSpPr>
        <p:spPr>
          <a:xfrm>
            <a:off x="487679" y="5183289"/>
            <a:ext cx="11186161" cy="1200329"/>
          </a:xfrm>
          <a:prstGeom prst="rect">
            <a:avLst/>
          </a:prstGeom>
          <a:noFill/>
          <a:ln>
            <a:noFill/>
          </a:ln>
        </p:spPr>
        <p:txBody>
          <a:bodyPr wrap="square" rtlCol="0" anchor="ctr" anchorCtr="0">
            <a:spAutoFit/>
          </a:bodyPr>
          <a:lstStyle/>
          <a:p>
            <a:pPr algn="ctr"/>
            <a:r>
              <a:rPr lang="en-US" sz="2400" dirty="0">
                <a:solidFill>
                  <a:srgbClr val="002060"/>
                </a:solidFill>
                <a:latin typeface="Candara" panose="020E0502030303020204" pitchFamily="34" charset="0"/>
              </a:rPr>
              <a:t>Introduction of gas to measure computational effort and treatment of transaction as atomic operation are Ethereum’s innovations to overcome the disadvantages of Turing-completeness</a:t>
            </a:r>
          </a:p>
        </p:txBody>
      </p:sp>
      <p:sp>
        <p:nvSpPr>
          <p:cNvPr id="3" name="Rectangle 2"/>
          <p:cNvSpPr/>
          <p:nvPr/>
        </p:nvSpPr>
        <p:spPr>
          <a:xfrm>
            <a:off x="487680" y="974421"/>
            <a:ext cx="11002477" cy="830997"/>
          </a:xfrm>
          <a:prstGeom prst="rect">
            <a:avLst/>
          </a:prstGeom>
          <a:ln>
            <a:noFill/>
          </a:ln>
        </p:spPr>
        <p:txBody>
          <a:bodyPr wrap="square" anchor="ctr" anchorCtr="0">
            <a:spAutoFit/>
          </a:bodyPr>
          <a:lstStyle/>
          <a:p>
            <a:pPr algn="ctr"/>
            <a:r>
              <a:rPr lang="en-US" sz="2400" dirty="0">
                <a:solidFill>
                  <a:prstClr val="black"/>
                </a:solidFill>
                <a:latin typeface="Candara" panose="020E0502030303020204" pitchFamily="34" charset="0"/>
              </a:rPr>
              <a:t>A transaction is treated as an atomic operation that cannot be divided or interrupted </a:t>
            </a:r>
          </a:p>
        </p:txBody>
      </p:sp>
    </p:spTree>
    <p:extLst>
      <p:ext uri="{BB962C8B-B14F-4D97-AF65-F5344CB8AC3E}">
        <p14:creationId xmlns:p14="http://schemas.microsoft.com/office/powerpoint/2010/main" val="2737170298"/>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Attack Scenario: Example</a:t>
            </a:r>
          </a:p>
        </p:txBody>
      </p:sp>
      <p:sp>
        <p:nvSpPr>
          <p:cNvPr id="3" name="Content Placeholder 2"/>
          <p:cNvSpPr>
            <a:spLocks noGrp="1"/>
          </p:cNvSpPr>
          <p:nvPr>
            <p:ph idx="1"/>
          </p:nvPr>
        </p:nvSpPr>
        <p:spPr>
          <a:xfrm>
            <a:off x="778043" y="2884971"/>
            <a:ext cx="10635914" cy="3264483"/>
          </a:xfrm>
        </p:spPr>
        <p:txBody>
          <a:bodyPr wrap="square" anchor="ctr" anchorCtr="0">
            <a:spAutoFit/>
          </a:bodyPr>
          <a:lstStyle/>
          <a:p>
            <a:r>
              <a:rPr lang="en-US" sz="2400" dirty="0"/>
              <a:t>Will this attack succeed?  </a:t>
            </a:r>
          </a:p>
          <a:p>
            <a:pPr lvl="1"/>
            <a:r>
              <a:rPr lang="en-US" sz="2400" dirty="0"/>
              <a:t>No</a:t>
            </a:r>
          </a:p>
          <a:p>
            <a:r>
              <a:rPr lang="en-US" sz="2400" dirty="0"/>
              <a:t>Why?</a:t>
            </a:r>
          </a:p>
          <a:p>
            <a:pPr lvl="1"/>
            <a:r>
              <a:rPr lang="en-US" sz="2400" dirty="0"/>
              <a:t>A valid </a:t>
            </a:r>
            <a:r>
              <a:rPr lang="en-US" sz="2400" dirty="0" err="1"/>
              <a:t>txn</a:t>
            </a:r>
            <a:r>
              <a:rPr lang="en-US" sz="2400" dirty="0"/>
              <a:t> must include gas limit, therefore, the execution will stop when this limit is reached</a:t>
            </a:r>
          </a:p>
          <a:p>
            <a:r>
              <a:rPr lang="en-US" sz="2400" dirty="0"/>
              <a:t>Is this </a:t>
            </a:r>
            <a:r>
              <a:rPr lang="en-US" sz="2400" dirty="0" err="1"/>
              <a:t>txn</a:t>
            </a:r>
            <a:r>
              <a:rPr lang="en-US" sz="2400" dirty="0"/>
              <a:t> included in the block?</a:t>
            </a:r>
          </a:p>
          <a:p>
            <a:pPr lvl="1"/>
            <a:r>
              <a:rPr lang="en-US" sz="2400" dirty="0"/>
              <a:t>Yes, it is included as a failed </a:t>
            </a:r>
            <a:r>
              <a:rPr lang="en-US" sz="2400" dirty="0" err="1"/>
              <a:t>txn</a:t>
            </a:r>
            <a:r>
              <a:rPr lang="en-US" sz="2400" dirty="0"/>
              <a:t> </a:t>
            </a:r>
          </a:p>
          <a:p>
            <a:pPr lvl="1"/>
            <a:r>
              <a:rPr lang="en-US" sz="2400" dirty="0"/>
              <a:t>The fee for the computational effort goes to the miner/validator</a:t>
            </a:r>
          </a:p>
        </p:txBody>
      </p:sp>
      <p:sp>
        <p:nvSpPr>
          <p:cNvPr id="4" name="Slide Number Placeholder 3"/>
          <p:cNvSpPr>
            <a:spLocks noGrp="1"/>
          </p:cNvSpPr>
          <p:nvPr>
            <p:ph type="sldNum" sz="quarter" idx="12"/>
          </p:nvPr>
        </p:nvSpPr>
        <p:spPr/>
        <p:txBody>
          <a:bodyPr/>
          <a:lstStyle/>
          <a:p>
            <a:fld id="{19FE8B7B-3258-47CD-BBC0-34D05FC906E5}" type="slidenum">
              <a:rPr>
                <a:latin typeface="Candara" panose="020E0502030303020204" pitchFamily="34" charset="0"/>
              </a:rPr>
              <a:pPr/>
              <a:t>7</a:t>
            </a:fld>
            <a:endParaRPr dirty="0">
              <a:latin typeface="Candara" panose="020E0502030303020204" pitchFamily="34" charset="0"/>
            </a:endParaRPr>
          </a:p>
        </p:txBody>
      </p:sp>
      <p:sp>
        <p:nvSpPr>
          <p:cNvPr id="5" name="Rectangle 4"/>
          <p:cNvSpPr/>
          <p:nvPr/>
        </p:nvSpPr>
        <p:spPr>
          <a:xfrm>
            <a:off x="778042" y="1055614"/>
            <a:ext cx="10635915" cy="1569660"/>
          </a:xfrm>
          <a:prstGeom prst="rect">
            <a:avLst/>
          </a:prstGeom>
          <a:solidFill>
            <a:srgbClr val="FF0000"/>
          </a:solidFill>
          <a:ln>
            <a:noFill/>
          </a:ln>
        </p:spPr>
        <p:txBody>
          <a:bodyPr wrap="square">
            <a:spAutoFit/>
          </a:bodyPr>
          <a:lstStyle/>
          <a:p>
            <a:pPr algn="ctr"/>
            <a:r>
              <a:rPr lang="en-US" sz="2400" dirty="0">
                <a:solidFill>
                  <a:schemeClr val="bg1"/>
                </a:solidFill>
                <a:latin typeface="Candara" panose="020E0502030303020204" pitchFamily="34" charset="0"/>
              </a:rPr>
              <a:t>Attack Scenario: An attacker creates a contract which runs an infinite loop and then sends a transaction activating that loop to the miner/validator. The miner/validator does not know about the infinite loop and starts processing the transaction </a:t>
            </a:r>
          </a:p>
        </p:txBody>
      </p:sp>
    </p:spTree>
    <p:extLst>
      <p:ext uri="{BB962C8B-B14F-4D97-AF65-F5344CB8AC3E}">
        <p14:creationId xmlns:p14="http://schemas.microsoft.com/office/powerpoint/2010/main" val="1839120933"/>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Failed Transaction: Example</a:t>
            </a:r>
          </a:p>
        </p:txBody>
      </p:sp>
      <p:pic>
        <p:nvPicPr>
          <p:cNvPr id="5" name="Content Placeholder 4"/>
          <p:cNvPicPr>
            <a:picLocks noGrp="1" noChangeAspect="1"/>
          </p:cNvPicPr>
          <p:nvPr>
            <p:ph idx="1"/>
          </p:nvPr>
        </p:nvPicPr>
        <p:blipFill>
          <a:blip r:embed="rId3"/>
          <a:stretch>
            <a:fillRect/>
          </a:stretch>
        </p:blipFill>
        <p:spPr>
          <a:xfrm>
            <a:off x="1823898" y="1507958"/>
            <a:ext cx="8507219" cy="4490897"/>
          </a:xfrm>
          <a:prstGeom prst="rect">
            <a:avLst/>
          </a:prstGeom>
          <a:ln w="25400">
            <a:solidFill>
              <a:schemeClr val="tx1"/>
            </a:solidFill>
          </a:ln>
        </p:spPr>
      </p:pic>
      <p:sp>
        <p:nvSpPr>
          <p:cNvPr id="4" name="Slide Number Placeholder 3"/>
          <p:cNvSpPr>
            <a:spLocks noGrp="1"/>
          </p:cNvSpPr>
          <p:nvPr>
            <p:ph type="sldNum" sz="quarter" idx="12"/>
          </p:nvPr>
        </p:nvSpPr>
        <p:spPr/>
        <p:txBody>
          <a:bodyPr/>
          <a:lstStyle/>
          <a:p>
            <a:fld id="{19FE8B7B-3258-47CD-BBC0-34D05FC906E5}" type="slidenum">
              <a:rPr/>
              <a:pPr/>
              <a:t>8</a:t>
            </a:fld>
            <a:endParaRPr dirty="0"/>
          </a:p>
        </p:txBody>
      </p:sp>
      <p:sp>
        <p:nvSpPr>
          <p:cNvPr id="6" name="Rectangle 5"/>
          <p:cNvSpPr/>
          <p:nvPr/>
        </p:nvSpPr>
        <p:spPr>
          <a:xfrm>
            <a:off x="2863515" y="6350032"/>
            <a:ext cx="6023811" cy="253916"/>
          </a:xfrm>
          <a:prstGeom prst="rect">
            <a:avLst/>
          </a:prstGeom>
        </p:spPr>
        <p:txBody>
          <a:bodyPr wrap="square">
            <a:spAutoFit/>
          </a:bodyPr>
          <a:lstStyle/>
          <a:p>
            <a:r>
              <a:rPr lang="en-US" sz="1050" dirty="0">
                <a:solidFill>
                  <a:prstClr val="black"/>
                </a:solidFill>
                <a:hlinkClick r:id="rId4"/>
              </a:rPr>
              <a:t>https://etherscan.io/tx/0x3fa19306a5dfc227537fdaf90b6883104dd0458cf9fbe3410a3254e5ca0e3618</a:t>
            </a:r>
            <a:r>
              <a:rPr lang="en-US" sz="1050" dirty="0">
                <a:solidFill>
                  <a:prstClr val="black"/>
                </a:solidFill>
              </a:rPr>
              <a:t> </a:t>
            </a:r>
          </a:p>
        </p:txBody>
      </p:sp>
      <p:sp>
        <p:nvSpPr>
          <p:cNvPr id="7" name="Oval 6"/>
          <p:cNvSpPr/>
          <p:nvPr/>
        </p:nvSpPr>
        <p:spPr>
          <a:xfrm>
            <a:off x="4443663" y="1732547"/>
            <a:ext cx="1251284" cy="513348"/>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Oval 7"/>
          <p:cNvSpPr/>
          <p:nvPr/>
        </p:nvSpPr>
        <p:spPr>
          <a:xfrm>
            <a:off x="4585591" y="3609026"/>
            <a:ext cx="3467546" cy="513348"/>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Oval 8"/>
          <p:cNvSpPr/>
          <p:nvPr/>
        </p:nvSpPr>
        <p:spPr>
          <a:xfrm>
            <a:off x="4585591" y="4189220"/>
            <a:ext cx="2440851" cy="411290"/>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 name="Rectangle 2"/>
          <p:cNvSpPr/>
          <p:nvPr/>
        </p:nvSpPr>
        <p:spPr>
          <a:xfrm>
            <a:off x="5069305" y="1043171"/>
            <a:ext cx="2201052" cy="369332"/>
          </a:xfrm>
          <a:prstGeom prst="rect">
            <a:avLst/>
          </a:prstGeom>
        </p:spPr>
        <p:txBody>
          <a:bodyPr wrap="none">
            <a:spAutoFit/>
          </a:bodyPr>
          <a:lstStyle/>
          <a:p>
            <a:r>
              <a:rPr lang="en-US" dirty="0">
                <a:hlinkClick r:id="rId5"/>
              </a:rPr>
              <a:t>https://etherscan.io/</a:t>
            </a:r>
            <a:r>
              <a:rPr lang="en-US" dirty="0"/>
              <a:t> </a:t>
            </a:r>
          </a:p>
        </p:txBody>
      </p:sp>
      <p:grpSp>
        <p:nvGrpSpPr>
          <p:cNvPr id="14" name="Group 13"/>
          <p:cNvGrpSpPr/>
          <p:nvPr/>
        </p:nvGrpSpPr>
        <p:grpSpPr>
          <a:xfrm>
            <a:off x="4443663" y="4600511"/>
            <a:ext cx="5202544" cy="584775"/>
            <a:chOff x="2919663" y="4600510"/>
            <a:chExt cx="5202544" cy="584775"/>
          </a:xfrm>
        </p:grpSpPr>
        <p:sp>
          <p:nvSpPr>
            <p:cNvPr id="10" name="Oval 9"/>
            <p:cNvSpPr/>
            <p:nvPr/>
          </p:nvSpPr>
          <p:spPr>
            <a:xfrm>
              <a:off x="2919663" y="4667356"/>
              <a:ext cx="2440851" cy="411290"/>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 name="TextBox 10"/>
            <p:cNvSpPr txBox="1"/>
            <p:nvPr/>
          </p:nvSpPr>
          <p:spPr>
            <a:xfrm>
              <a:off x="5997865" y="4600510"/>
              <a:ext cx="2124342" cy="584775"/>
            </a:xfrm>
            <a:prstGeom prst="rect">
              <a:avLst/>
            </a:prstGeom>
            <a:noFill/>
          </p:spPr>
          <p:txBody>
            <a:bodyPr wrap="square" rtlCol="0">
              <a:spAutoFit/>
            </a:bodyPr>
            <a:lstStyle/>
            <a:p>
              <a:r>
                <a:rPr lang="en-US" sz="1600" dirty="0"/>
                <a:t>Fee paid by the user for this failed </a:t>
              </a:r>
              <a:r>
                <a:rPr lang="en-US" sz="1600" dirty="0" err="1"/>
                <a:t>txn</a:t>
              </a:r>
              <a:r>
                <a:rPr lang="en-US" sz="1600" dirty="0"/>
                <a:t> </a:t>
              </a:r>
            </a:p>
          </p:txBody>
        </p:sp>
        <p:cxnSp>
          <p:nvCxnSpPr>
            <p:cNvPr id="13" name="Straight Arrow Connector 12"/>
            <p:cNvCxnSpPr/>
            <p:nvPr/>
          </p:nvCxnSpPr>
          <p:spPr>
            <a:xfrm flipH="1">
              <a:off x="5502441" y="4873001"/>
              <a:ext cx="3534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86581280"/>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Attack Scenario: Example</a:t>
            </a:r>
          </a:p>
        </p:txBody>
      </p:sp>
      <p:sp>
        <p:nvSpPr>
          <p:cNvPr id="4" name="Slide Number Placeholder 3"/>
          <p:cNvSpPr>
            <a:spLocks noGrp="1"/>
          </p:cNvSpPr>
          <p:nvPr>
            <p:ph type="sldNum" sz="quarter" idx="12"/>
          </p:nvPr>
        </p:nvSpPr>
        <p:spPr/>
        <p:txBody>
          <a:bodyPr/>
          <a:lstStyle/>
          <a:p>
            <a:fld id="{19FE8B7B-3258-47CD-BBC0-34D05FC906E5}" type="slidenum">
              <a:rPr>
                <a:latin typeface="Candara" panose="020E0502030303020204" pitchFamily="34" charset="0"/>
              </a:rPr>
              <a:pPr/>
              <a:t>9</a:t>
            </a:fld>
            <a:endParaRPr dirty="0">
              <a:latin typeface="Candara" panose="020E0502030303020204" pitchFamily="34" charset="0"/>
            </a:endParaRPr>
          </a:p>
        </p:txBody>
      </p:sp>
      <p:sp>
        <p:nvSpPr>
          <p:cNvPr id="5" name="Content Placeholder 4"/>
          <p:cNvSpPr txBox="1">
            <a:spLocks noGrp="1"/>
          </p:cNvSpPr>
          <p:nvPr>
            <p:ph idx="1"/>
          </p:nvPr>
        </p:nvSpPr>
        <p:spPr>
          <a:xfrm>
            <a:off x="673768" y="1220632"/>
            <a:ext cx="10816390" cy="1421928"/>
          </a:xfrm>
          <a:prstGeom prst="rect">
            <a:avLst/>
          </a:prstGeom>
          <a:solidFill>
            <a:srgbClr val="FF0000"/>
          </a:solidFill>
          <a:ln>
            <a:noFill/>
          </a:ln>
        </p:spPr>
        <p:txBody>
          <a:bodyPr wrap="square" anchor="ctr" anchorCtr="0">
            <a:spAutoFit/>
          </a:bodyPr>
          <a:lstStyle/>
          <a:p>
            <a:pPr marL="0" indent="0" algn="ctr">
              <a:buNone/>
            </a:pPr>
            <a:r>
              <a:rPr lang="en-US" sz="2400" dirty="0">
                <a:solidFill>
                  <a:schemeClr val="bg1"/>
                </a:solidFill>
              </a:rPr>
              <a:t>Attack Scenario: An attacker creates a very long loop with the intent of forcing the miner/validator to keep computing for such a long time that by the time computation finishes a few more blocks will have come out and it will not be possible for the miner/validator to include the transaction to claim the fee</a:t>
            </a:r>
          </a:p>
        </p:txBody>
      </p:sp>
      <p:sp>
        <p:nvSpPr>
          <p:cNvPr id="6" name="Content Placeholder 2"/>
          <p:cNvSpPr txBox="1">
            <a:spLocks/>
          </p:cNvSpPr>
          <p:nvPr/>
        </p:nvSpPr>
        <p:spPr>
          <a:xfrm>
            <a:off x="673768" y="3429000"/>
            <a:ext cx="10816390" cy="1897953"/>
          </a:xfrm>
          <a:prstGeom prst="rect">
            <a:avLst/>
          </a:prstGeom>
        </p:spPr>
        <p:txBody>
          <a:bodyPr vert="horz" wrap="square" lIns="91438" tIns="45719" rIns="91438" bIns="45719" rtlCol="0" anchor="ctr" anchorCtr="0">
            <a:spAutoFit/>
          </a:bodyPr>
          <a:lstStyle>
            <a:lvl1pPr marL="171446" indent="-171446" algn="l" defTabSz="685783" rtl="0" eaLnBrk="1" latinLnBrk="0" hangingPunct="1">
              <a:lnSpc>
                <a:spcPct val="100000"/>
              </a:lnSpc>
              <a:spcBef>
                <a:spcPts val="750"/>
              </a:spcBef>
              <a:buFont typeface="Arial" panose="020B0604020202020204" pitchFamily="34" charset="0"/>
              <a:buChar char="•"/>
              <a:defRPr sz="2200" kern="1200">
                <a:solidFill>
                  <a:schemeClr val="tx1"/>
                </a:solidFill>
                <a:latin typeface="+mn-lt"/>
                <a:ea typeface="+mn-ea"/>
                <a:cs typeface="+mn-cs"/>
              </a:defRPr>
            </a:lvl1pPr>
            <a:lvl2pPr marL="514337" indent="-171446" algn="l" defTabSz="685783" rtl="0" eaLnBrk="1" latinLnBrk="0" hangingPunct="1">
              <a:lnSpc>
                <a:spcPct val="10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28" indent="-171446" algn="l" defTabSz="685783" rtl="0" eaLnBrk="1" latinLnBrk="0" hangingPunct="1">
              <a:lnSpc>
                <a:spcPct val="100000"/>
              </a:lnSpc>
              <a:spcBef>
                <a:spcPts val="375"/>
              </a:spcBef>
              <a:buFont typeface="Arial" panose="020B0604020202020204" pitchFamily="34" charset="0"/>
              <a:buChar char="•"/>
              <a:defRPr sz="1600" kern="1200">
                <a:solidFill>
                  <a:schemeClr val="tx1"/>
                </a:solidFill>
                <a:latin typeface="+mn-lt"/>
                <a:ea typeface="+mn-ea"/>
                <a:cs typeface="+mn-cs"/>
              </a:defRPr>
            </a:lvl3pPr>
            <a:lvl4pPr marL="1200120" indent="-171446" algn="l" defTabSz="685783" rtl="0" eaLnBrk="1" latinLnBrk="0" hangingPunct="1">
              <a:lnSpc>
                <a:spcPct val="100000"/>
              </a:lnSpc>
              <a:spcBef>
                <a:spcPts val="375"/>
              </a:spcBef>
              <a:buFont typeface="Arial" panose="020B0604020202020204" pitchFamily="34" charset="0"/>
              <a:buChar char="•"/>
              <a:defRPr sz="1500" kern="1200">
                <a:solidFill>
                  <a:schemeClr val="tx1"/>
                </a:solidFill>
                <a:latin typeface="+mn-lt"/>
                <a:ea typeface="+mn-ea"/>
                <a:cs typeface="+mn-cs"/>
              </a:defRPr>
            </a:lvl4pPr>
            <a:lvl5pPr marL="1543012" indent="-171446" algn="l" defTabSz="685783" rtl="0" eaLnBrk="1" latinLnBrk="0" hangingPunct="1">
              <a:lnSpc>
                <a:spcPct val="100000"/>
              </a:lnSpc>
              <a:spcBef>
                <a:spcPts val="375"/>
              </a:spcBef>
              <a:buFont typeface="Arial" panose="020B0604020202020204" pitchFamily="34" charset="0"/>
              <a:buChar char="•"/>
              <a:defRPr sz="1500" kern="1200">
                <a:solidFill>
                  <a:schemeClr val="tx1"/>
                </a:solidFill>
                <a:latin typeface="+mn-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9pPr>
          </a:lstStyle>
          <a:p>
            <a:r>
              <a:rPr lang="en-US" dirty="0">
                <a:solidFill>
                  <a:prstClr val="black"/>
                </a:solidFill>
                <a:latin typeface="Candara" panose="020E0502030303020204" pitchFamily="34" charset="0"/>
              </a:rPr>
              <a:t>Will this attack succeed?  </a:t>
            </a:r>
          </a:p>
          <a:p>
            <a:pPr lvl="1"/>
            <a:r>
              <a:rPr lang="en-US" dirty="0">
                <a:solidFill>
                  <a:prstClr val="black"/>
                </a:solidFill>
                <a:latin typeface="Candara" panose="020E0502030303020204" pitchFamily="34" charset="0"/>
              </a:rPr>
              <a:t>No</a:t>
            </a:r>
          </a:p>
          <a:p>
            <a:r>
              <a:rPr lang="en-US" dirty="0">
                <a:solidFill>
                  <a:prstClr val="black"/>
                </a:solidFill>
                <a:latin typeface="Candara" panose="020E0502030303020204" pitchFamily="34" charset="0"/>
              </a:rPr>
              <a:t>Why?</a:t>
            </a:r>
          </a:p>
          <a:p>
            <a:pPr lvl="1"/>
            <a:r>
              <a:rPr lang="en-US" dirty="0">
                <a:solidFill>
                  <a:prstClr val="black"/>
                </a:solidFill>
                <a:latin typeface="Candara" panose="020E0502030303020204" pitchFamily="34" charset="0"/>
              </a:rPr>
              <a:t>A valid </a:t>
            </a:r>
            <a:r>
              <a:rPr lang="en-US" dirty="0" err="1">
                <a:solidFill>
                  <a:prstClr val="black"/>
                </a:solidFill>
                <a:latin typeface="Candara" panose="020E0502030303020204" pitchFamily="34" charset="0"/>
              </a:rPr>
              <a:t>txn</a:t>
            </a:r>
            <a:r>
              <a:rPr lang="en-US" dirty="0">
                <a:solidFill>
                  <a:prstClr val="black"/>
                </a:solidFill>
                <a:latin typeface="Candara" panose="020E0502030303020204" pitchFamily="34" charset="0"/>
              </a:rPr>
              <a:t> includes gas limit that will allow the miner/validator to estimate the computation time before deciding to process it </a:t>
            </a:r>
          </a:p>
        </p:txBody>
      </p:sp>
    </p:spTree>
    <p:extLst>
      <p:ext uri="{BB962C8B-B14F-4D97-AF65-F5344CB8AC3E}">
        <p14:creationId xmlns:p14="http://schemas.microsoft.com/office/powerpoint/2010/main" val="377596306"/>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Attack Scenario: Example</a:t>
            </a:r>
          </a:p>
        </p:txBody>
      </p:sp>
      <p:sp>
        <p:nvSpPr>
          <p:cNvPr id="4" name="Slide Number Placeholder 3"/>
          <p:cNvSpPr>
            <a:spLocks noGrp="1"/>
          </p:cNvSpPr>
          <p:nvPr>
            <p:ph type="sldNum" sz="quarter" idx="12"/>
          </p:nvPr>
        </p:nvSpPr>
        <p:spPr/>
        <p:txBody>
          <a:bodyPr/>
          <a:lstStyle/>
          <a:p>
            <a:fld id="{19FE8B7B-3258-47CD-BBC0-34D05FC906E5}" type="slidenum">
              <a:rPr/>
              <a:pPr/>
              <a:t>10</a:t>
            </a:fld>
            <a:endParaRPr dirty="0"/>
          </a:p>
        </p:txBody>
      </p:sp>
      <p:sp>
        <p:nvSpPr>
          <p:cNvPr id="5" name="Rectangle 4"/>
          <p:cNvSpPr/>
          <p:nvPr/>
        </p:nvSpPr>
        <p:spPr>
          <a:xfrm>
            <a:off x="657726" y="1087120"/>
            <a:ext cx="10876548" cy="1754326"/>
          </a:xfrm>
          <a:prstGeom prst="rect">
            <a:avLst/>
          </a:prstGeom>
          <a:solidFill>
            <a:srgbClr val="FF0000"/>
          </a:solidFill>
          <a:ln>
            <a:noFill/>
          </a:ln>
        </p:spPr>
        <p:txBody>
          <a:bodyPr vert="horz" wrap="square" lIns="91440" tIns="45720" rIns="91440" bIns="45720" rtlCol="0" anchor="ctr" anchorCtr="0">
            <a:spAutoFit/>
          </a:bodyPr>
          <a:lstStyle/>
          <a:p>
            <a:pPr algn="ctr">
              <a:lnSpc>
                <a:spcPct val="90000"/>
              </a:lnSpc>
              <a:spcBef>
                <a:spcPts val="1000"/>
              </a:spcBef>
            </a:pPr>
            <a:r>
              <a:rPr lang="en-US" sz="2400" dirty="0">
                <a:solidFill>
                  <a:schemeClr val="bg1"/>
                </a:solidFill>
                <a:latin typeface="Candara" panose="020E0502030303020204" pitchFamily="34" charset="0"/>
              </a:rPr>
              <a:t>Attack Scenario: Suppose there is a contract on blockchain that allows withdrawal from an account followed by updating the account balance. An attacker who can withdraw amount creates a </a:t>
            </a:r>
            <a:r>
              <a:rPr lang="en-US" sz="2400" dirty="0" err="1">
                <a:solidFill>
                  <a:schemeClr val="bg1"/>
                </a:solidFill>
                <a:latin typeface="Candara" panose="020E0502030303020204" pitchFamily="34" charset="0"/>
              </a:rPr>
              <a:t>txn</a:t>
            </a:r>
            <a:r>
              <a:rPr lang="en-US" sz="2400" dirty="0">
                <a:solidFill>
                  <a:schemeClr val="bg1"/>
                </a:solidFill>
                <a:latin typeface="Candara" panose="020E0502030303020204" pitchFamily="34" charset="0"/>
              </a:rPr>
              <a:t> to execute this contract but includes just enough gas to run the first step i.e., making a withdrawal but not letting his balance go down</a:t>
            </a:r>
          </a:p>
        </p:txBody>
      </p:sp>
      <p:sp>
        <p:nvSpPr>
          <p:cNvPr id="7" name="Content Placeholder 2"/>
          <p:cNvSpPr txBox="1">
            <a:spLocks/>
          </p:cNvSpPr>
          <p:nvPr/>
        </p:nvSpPr>
        <p:spPr>
          <a:xfrm>
            <a:off x="657726" y="3404958"/>
            <a:ext cx="10876547" cy="1897953"/>
          </a:xfrm>
          <a:prstGeom prst="rect">
            <a:avLst/>
          </a:prstGeom>
        </p:spPr>
        <p:txBody>
          <a:bodyPr vert="horz" wrap="square" lIns="91438" tIns="45719" rIns="91438" bIns="45719" rtlCol="0" anchor="ctr" anchorCtr="0">
            <a:spAutoFit/>
          </a:bodyPr>
          <a:lstStyle>
            <a:lvl1pPr marL="171446" indent="-171446" algn="l" defTabSz="685783" rtl="0" eaLnBrk="1" latinLnBrk="0" hangingPunct="1">
              <a:lnSpc>
                <a:spcPct val="100000"/>
              </a:lnSpc>
              <a:spcBef>
                <a:spcPts val="750"/>
              </a:spcBef>
              <a:buFont typeface="Arial" panose="020B0604020202020204" pitchFamily="34" charset="0"/>
              <a:buChar char="•"/>
              <a:defRPr sz="2200" kern="1200">
                <a:solidFill>
                  <a:schemeClr val="tx1"/>
                </a:solidFill>
                <a:latin typeface="+mn-lt"/>
                <a:ea typeface="+mn-ea"/>
                <a:cs typeface="+mn-cs"/>
              </a:defRPr>
            </a:lvl1pPr>
            <a:lvl2pPr marL="514337" indent="-171446" algn="l" defTabSz="685783" rtl="0" eaLnBrk="1" latinLnBrk="0" hangingPunct="1">
              <a:lnSpc>
                <a:spcPct val="10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28" indent="-171446" algn="l" defTabSz="685783" rtl="0" eaLnBrk="1" latinLnBrk="0" hangingPunct="1">
              <a:lnSpc>
                <a:spcPct val="100000"/>
              </a:lnSpc>
              <a:spcBef>
                <a:spcPts val="375"/>
              </a:spcBef>
              <a:buFont typeface="Arial" panose="020B0604020202020204" pitchFamily="34" charset="0"/>
              <a:buChar char="•"/>
              <a:defRPr sz="1600" kern="1200">
                <a:solidFill>
                  <a:schemeClr val="tx1"/>
                </a:solidFill>
                <a:latin typeface="+mn-lt"/>
                <a:ea typeface="+mn-ea"/>
                <a:cs typeface="+mn-cs"/>
              </a:defRPr>
            </a:lvl3pPr>
            <a:lvl4pPr marL="1200120" indent="-171446" algn="l" defTabSz="685783" rtl="0" eaLnBrk="1" latinLnBrk="0" hangingPunct="1">
              <a:lnSpc>
                <a:spcPct val="100000"/>
              </a:lnSpc>
              <a:spcBef>
                <a:spcPts val="375"/>
              </a:spcBef>
              <a:buFont typeface="Arial" panose="020B0604020202020204" pitchFamily="34" charset="0"/>
              <a:buChar char="•"/>
              <a:defRPr sz="1500" kern="1200">
                <a:solidFill>
                  <a:schemeClr val="tx1"/>
                </a:solidFill>
                <a:latin typeface="+mn-lt"/>
                <a:ea typeface="+mn-ea"/>
                <a:cs typeface="+mn-cs"/>
              </a:defRPr>
            </a:lvl4pPr>
            <a:lvl5pPr marL="1543012" indent="-171446" algn="l" defTabSz="685783" rtl="0" eaLnBrk="1" latinLnBrk="0" hangingPunct="1">
              <a:lnSpc>
                <a:spcPct val="100000"/>
              </a:lnSpc>
              <a:spcBef>
                <a:spcPts val="375"/>
              </a:spcBef>
              <a:buFont typeface="Arial" panose="020B0604020202020204" pitchFamily="34" charset="0"/>
              <a:buChar char="•"/>
              <a:defRPr sz="1500" kern="1200">
                <a:solidFill>
                  <a:schemeClr val="tx1"/>
                </a:solidFill>
                <a:latin typeface="+mn-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9pPr>
          </a:lstStyle>
          <a:p>
            <a:r>
              <a:rPr lang="en-US" dirty="0">
                <a:solidFill>
                  <a:prstClr val="black"/>
                </a:solidFill>
                <a:latin typeface="Candara" panose="020E0502030303020204" pitchFamily="34" charset="0"/>
              </a:rPr>
              <a:t>Will this attack succeed?  </a:t>
            </a:r>
          </a:p>
          <a:p>
            <a:pPr lvl="1"/>
            <a:r>
              <a:rPr lang="en-US" dirty="0">
                <a:solidFill>
                  <a:prstClr val="black"/>
                </a:solidFill>
                <a:latin typeface="Candara" panose="020E0502030303020204" pitchFamily="34" charset="0"/>
              </a:rPr>
              <a:t>No</a:t>
            </a:r>
          </a:p>
          <a:p>
            <a:r>
              <a:rPr lang="en-US" dirty="0">
                <a:solidFill>
                  <a:prstClr val="black"/>
                </a:solidFill>
                <a:latin typeface="Candara" panose="020E0502030303020204" pitchFamily="34" charset="0"/>
              </a:rPr>
              <a:t>Why?</a:t>
            </a:r>
          </a:p>
          <a:p>
            <a:pPr lvl="1"/>
            <a:r>
              <a:rPr lang="en-US" dirty="0">
                <a:solidFill>
                  <a:prstClr val="black"/>
                </a:solidFill>
                <a:latin typeface="Candara" panose="020E0502030303020204" pitchFamily="34" charset="0"/>
              </a:rPr>
              <a:t>Transactions are treated as atomic operations. If this execution stops halfway through, the changes will be reverted, and withdrawal of funds request will be cancelled </a:t>
            </a:r>
          </a:p>
        </p:txBody>
      </p:sp>
    </p:spTree>
    <p:extLst>
      <p:ext uri="{BB962C8B-B14F-4D97-AF65-F5344CB8AC3E}">
        <p14:creationId xmlns:p14="http://schemas.microsoft.com/office/powerpoint/2010/main" val="3607576424"/>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Gas is Purchased with Ether</a:t>
            </a:r>
          </a:p>
        </p:txBody>
      </p:sp>
      <p:sp>
        <p:nvSpPr>
          <p:cNvPr id="3" name="Content Placeholder 2"/>
          <p:cNvSpPr>
            <a:spLocks noGrp="1"/>
          </p:cNvSpPr>
          <p:nvPr>
            <p:ph idx="1"/>
          </p:nvPr>
        </p:nvSpPr>
        <p:spPr>
          <a:xfrm>
            <a:off x="487681" y="2397021"/>
            <a:ext cx="11186160" cy="735957"/>
          </a:xfrm>
          <a:solidFill>
            <a:srgbClr val="7030A0"/>
          </a:solidFill>
        </p:spPr>
        <p:txBody>
          <a:bodyPr>
            <a:normAutofit/>
          </a:bodyPr>
          <a:lstStyle/>
          <a:p>
            <a:pPr marL="0" indent="0" algn="ctr">
              <a:buNone/>
            </a:pPr>
            <a:r>
              <a:rPr lang="en-US" sz="2000" dirty="0">
                <a:solidFill>
                  <a:schemeClr val="bg1"/>
                </a:solidFill>
              </a:rPr>
              <a:t>Purchasing gas for various computations (</a:t>
            </a:r>
            <a:r>
              <a:rPr lang="en-US" sz="2000" dirty="0" err="1">
                <a:solidFill>
                  <a:schemeClr val="bg1"/>
                </a:solidFill>
              </a:rPr>
              <a:t>txns</a:t>
            </a:r>
            <a:r>
              <a:rPr lang="en-US" sz="2000" dirty="0">
                <a:solidFill>
                  <a:schemeClr val="bg1"/>
                </a:solidFill>
              </a:rPr>
              <a:t> and smart contracts) is one of the major use of Ethereum’s cryptocurrency (Ether)</a:t>
            </a:r>
          </a:p>
        </p:txBody>
      </p:sp>
      <p:sp>
        <p:nvSpPr>
          <p:cNvPr id="4" name="Slide Number Placeholder 3"/>
          <p:cNvSpPr>
            <a:spLocks noGrp="1"/>
          </p:cNvSpPr>
          <p:nvPr>
            <p:ph type="sldNum" sz="quarter" idx="12"/>
          </p:nvPr>
        </p:nvSpPr>
        <p:spPr/>
        <p:txBody>
          <a:bodyPr/>
          <a:lstStyle/>
          <a:p>
            <a:fld id="{19FE8B7B-3258-47CD-BBC0-34D05FC906E5}" type="slidenum">
              <a:rPr>
                <a:latin typeface="Candara" panose="020E0502030303020204" pitchFamily="34" charset="0"/>
              </a:rPr>
              <a:pPr/>
              <a:t>11</a:t>
            </a:fld>
            <a:endParaRPr dirty="0">
              <a:latin typeface="Candara" panose="020E0502030303020204" pitchFamily="34" charset="0"/>
            </a:endParaRPr>
          </a:p>
        </p:txBody>
      </p:sp>
      <p:sp>
        <p:nvSpPr>
          <p:cNvPr id="7" name="Rectangle 6"/>
          <p:cNvSpPr/>
          <p:nvPr/>
        </p:nvSpPr>
        <p:spPr>
          <a:xfrm>
            <a:off x="625689" y="1087120"/>
            <a:ext cx="11057503" cy="1015663"/>
          </a:xfrm>
          <a:prstGeom prst="rect">
            <a:avLst/>
          </a:prstGeom>
          <a:ln>
            <a:noFill/>
          </a:ln>
        </p:spPr>
        <p:txBody>
          <a:bodyPr wrap="square">
            <a:spAutoFit/>
          </a:bodyPr>
          <a:lstStyle/>
          <a:p>
            <a:pPr marL="342900" indent="-342900">
              <a:buFont typeface="Arial" panose="020B0604020202020204" pitchFamily="34" charset="0"/>
              <a:buChar char="•"/>
            </a:pPr>
            <a:r>
              <a:rPr lang="en-US" sz="2000" dirty="0">
                <a:solidFill>
                  <a:prstClr val="black"/>
                </a:solidFill>
                <a:latin typeface="Candara" panose="020E0502030303020204" pitchFamily="34" charset="0"/>
              </a:rPr>
              <a:t>Gas is an essential requirement for anyone to use Ethereum</a:t>
            </a:r>
          </a:p>
          <a:p>
            <a:pPr marL="342900" indent="-342900">
              <a:buFont typeface="Arial" panose="020B0604020202020204" pitchFamily="34" charset="0"/>
              <a:buChar char="•"/>
            </a:pPr>
            <a:r>
              <a:rPr lang="en-US" sz="2000" dirty="0">
                <a:solidFill>
                  <a:prstClr val="black"/>
                </a:solidFill>
                <a:latin typeface="Candara" panose="020E0502030303020204" pitchFamily="34" charset="0"/>
              </a:rPr>
              <a:t>Gas can only be purchased with Ether (the cryptocurrency of Ethereum) </a:t>
            </a:r>
          </a:p>
          <a:p>
            <a:pPr marL="342900" indent="-342900">
              <a:buFont typeface="Arial" panose="020B0604020202020204" pitchFamily="34" charset="0"/>
              <a:buChar char="•"/>
            </a:pPr>
            <a:r>
              <a:rPr lang="en-US" sz="2000" dirty="0">
                <a:latin typeface="Candara" panose="020E0502030303020204" pitchFamily="34" charset="0"/>
              </a:rPr>
              <a:t>Ether is identified on crypto exchanges as ‘ETH’ </a:t>
            </a:r>
          </a:p>
        </p:txBody>
      </p:sp>
      <p:sp>
        <p:nvSpPr>
          <p:cNvPr id="5" name="Rectangle 4">
            <a:extLst>
              <a:ext uri="{FF2B5EF4-FFF2-40B4-BE49-F238E27FC236}">
                <a16:creationId xmlns:a16="http://schemas.microsoft.com/office/drawing/2014/main" id="{F0E6CDAA-9BB9-379E-537B-48E1C1F6921C}"/>
              </a:ext>
            </a:extLst>
          </p:cNvPr>
          <p:cNvSpPr/>
          <p:nvPr/>
        </p:nvSpPr>
        <p:spPr>
          <a:xfrm>
            <a:off x="487680" y="3427216"/>
            <a:ext cx="3067150" cy="898358"/>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prstClr val="black"/>
                </a:solidFill>
                <a:latin typeface="Candara" panose="020E0502030303020204" pitchFamily="34" charset="0"/>
              </a:rPr>
              <a:t>Purchase gas for payment of </a:t>
            </a:r>
            <a:r>
              <a:rPr lang="en-US" sz="2200" dirty="0" err="1">
                <a:solidFill>
                  <a:prstClr val="black"/>
                </a:solidFill>
                <a:latin typeface="Candara" panose="020E0502030303020204" pitchFamily="34" charset="0"/>
              </a:rPr>
              <a:t>txn</a:t>
            </a:r>
            <a:r>
              <a:rPr lang="en-US" sz="2200" dirty="0">
                <a:solidFill>
                  <a:prstClr val="black"/>
                </a:solidFill>
                <a:latin typeface="Candara" panose="020E0502030303020204" pitchFamily="34" charset="0"/>
              </a:rPr>
              <a:t> fees</a:t>
            </a:r>
          </a:p>
        </p:txBody>
      </p:sp>
      <p:sp>
        <p:nvSpPr>
          <p:cNvPr id="9" name="Rectangle 8">
            <a:extLst>
              <a:ext uri="{FF2B5EF4-FFF2-40B4-BE49-F238E27FC236}">
                <a16:creationId xmlns:a16="http://schemas.microsoft.com/office/drawing/2014/main" id="{9A858C07-CC6A-0B28-7E38-2AEFDD72EEDF}"/>
              </a:ext>
            </a:extLst>
          </p:cNvPr>
          <p:cNvSpPr/>
          <p:nvPr/>
        </p:nvSpPr>
        <p:spPr>
          <a:xfrm>
            <a:off x="4620865" y="3427216"/>
            <a:ext cx="3067150" cy="898358"/>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prstClr val="black"/>
                </a:solidFill>
                <a:latin typeface="Candara" panose="020E0502030303020204" pitchFamily="34" charset="0"/>
              </a:rPr>
              <a:t>Digital store of value like Bitcoin</a:t>
            </a:r>
          </a:p>
        </p:txBody>
      </p:sp>
      <p:sp>
        <p:nvSpPr>
          <p:cNvPr id="10" name="Rectangle 9">
            <a:extLst>
              <a:ext uri="{FF2B5EF4-FFF2-40B4-BE49-F238E27FC236}">
                <a16:creationId xmlns:a16="http://schemas.microsoft.com/office/drawing/2014/main" id="{5AEEBBCB-6522-0CC2-C3C2-E084887C4B0D}"/>
              </a:ext>
            </a:extLst>
          </p:cNvPr>
          <p:cNvSpPr/>
          <p:nvPr/>
        </p:nvSpPr>
        <p:spPr>
          <a:xfrm>
            <a:off x="8606690" y="3452898"/>
            <a:ext cx="3067150" cy="898358"/>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prstClr val="black"/>
                </a:solidFill>
                <a:latin typeface="Candara" panose="020E0502030303020204" pitchFamily="34" charset="0"/>
              </a:rPr>
              <a:t>Decentralized Finance (crypto loans/staking)</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0AAF714-FDEF-60A2-1545-BDE4788ABE97}"/>
                  </a:ext>
                </a:extLst>
              </p:cNvPr>
              <p:cNvSpPr txBox="1"/>
              <p:nvPr/>
            </p:nvSpPr>
            <p:spPr>
              <a:xfrm>
                <a:off x="487680" y="4586513"/>
                <a:ext cx="10652601" cy="707886"/>
              </a:xfrm>
              <a:prstGeom prst="rect">
                <a:avLst/>
              </a:prstGeom>
              <a:noFill/>
            </p:spPr>
            <p:txBody>
              <a:bodyPr wrap="square">
                <a:spAutoFit/>
              </a:bodyPr>
              <a:lstStyle/>
              <a:p>
                <a:pPr algn="ctr"/>
                <a:r>
                  <a:rPr lang="en-US" sz="2000" dirty="0">
                    <a:latin typeface="Candara" panose="020E0502030303020204" pitchFamily="34" charset="0"/>
                  </a:rPr>
                  <a:t>The smallest denomination, base unit, of ether is called Wei: </a:t>
                </a:r>
              </a:p>
              <a:p>
                <a:pPr algn="ctr"/>
                <a:r>
                  <a:rPr lang="en-US" sz="2000" dirty="0">
                    <a:solidFill>
                      <a:srgbClr val="002060"/>
                    </a:solidFill>
                    <a:latin typeface="Candara" panose="020E0502030303020204" pitchFamily="34" charset="0"/>
                  </a:rPr>
                  <a:t>1ETH = </a:t>
                </a:r>
                <a14:m>
                  <m:oMath xmlns:m="http://schemas.openxmlformats.org/officeDocument/2006/math">
                    <m:sSup>
                      <m:sSupPr>
                        <m:ctrlPr>
                          <a:rPr lang="en-US" sz="2000" i="1" dirty="0" smtClean="0">
                            <a:solidFill>
                              <a:srgbClr val="002060"/>
                            </a:solidFill>
                            <a:latin typeface="Cambria Math" panose="02040503050406030204" pitchFamily="18" charset="0"/>
                          </a:rPr>
                        </m:ctrlPr>
                      </m:sSupPr>
                      <m:e>
                        <m:r>
                          <a:rPr lang="en-US" sz="2000" i="1" dirty="0" smtClean="0">
                            <a:solidFill>
                              <a:srgbClr val="002060"/>
                            </a:solidFill>
                            <a:latin typeface="Cambria Math" panose="02040503050406030204" pitchFamily="18" charset="0"/>
                          </a:rPr>
                          <m:t>10</m:t>
                        </m:r>
                      </m:e>
                      <m:sup>
                        <m:r>
                          <a:rPr lang="en-US" sz="2000" i="1" dirty="0" smtClean="0">
                            <a:solidFill>
                              <a:srgbClr val="002060"/>
                            </a:solidFill>
                            <a:latin typeface="Cambria Math" panose="02040503050406030204" pitchFamily="18" charset="0"/>
                          </a:rPr>
                          <m:t>18</m:t>
                        </m:r>
                      </m:sup>
                    </m:sSup>
                  </m:oMath>
                </a14:m>
                <a:r>
                  <a:rPr lang="en-US" sz="2000" dirty="0">
                    <a:solidFill>
                      <a:srgbClr val="002060"/>
                    </a:solidFill>
                    <a:latin typeface="Candara" panose="020E0502030303020204" pitchFamily="34" charset="0"/>
                  </a:rPr>
                  <a:t> </a:t>
                </a:r>
                <a:r>
                  <a:rPr lang="en-US" sz="2000" dirty="0" err="1">
                    <a:solidFill>
                      <a:srgbClr val="002060"/>
                    </a:solidFill>
                    <a:latin typeface="Candara" panose="020E0502030303020204" pitchFamily="34" charset="0"/>
                  </a:rPr>
                  <a:t>wei</a:t>
                </a:r>
                <a:endParaRPr lang="en-US" sz="2000" dirty="0">
                  <a:solidFill>
                    <a:srgbClr val="002060"/>
                  </a:solidFill>
                  <a:latin typeface="Candara" panose="020E0502030303020204" pitchFamily="34" charset="0"/>
                </a:endParaRPr>
              </a:p>
            </p:txBody>
          </p:sp>
        </mc:Choice>
        <mc:Fallback xmlns="">
          <p:sp>
            <p:nvSpPr>
              <p:cNvPr id="12" name="TextBox 11">
                <a:extLst>
                  <a:ext uri="{FF2B5EF4-FFF2-40B4-BE49-F238E27FC236}">
                    <a16:creationId xmlns:a16="http://schemas.microsoft.com/office/drawing/2014/main" id="{60AAF714-FDEF-60A2-1545-BDE4788ABE97}"/>
                  </a:ext>
                </a:extLst>
              </p:cNvPr>
              <p:cNvSpPr txBox="1">
                <a:spLocks noRot="1" noChangeAspect="1" noMove="1" noResize="1" noEditPoints="1" noAdjustHandles="1" noChangeArrowheads="1" noChangeShapeType="1" noTextEdit="1"/>
              </p:cNvSpPr>
              <p:nvPr/>
            </p:nvSpPr>
            <p:spPr>
              <a:xfrm>
                <a:off x="487680" y="4586513"/>
                <a:ext cx="10652601" cy="707886"/>
              </a:xfrm>
              <a:prstGeom prst="rect">
                <a:avLst/>
              </a:prstGeom>
              <a:blipFill>
                <a:blip r:embed="rId3"/>
                <a:stretch>
                  <a:fillRect t="-4274" b="-13675"/>
                </a:stretch>
              </a:blipFill>
            </p:spPr>
            <p:txBody>
              <a:bodyPr/>
              <a:lstStyle/>
              <a:p>
                <a:r>
                  <a:rPr lang="en-US">
                    <a:noFill/>
                  </a:rPr>
                  <a:t> </a:t>
                </a:r>
              </a:p>
            </p:txBody>
          </p:sp>
        </mc:Fallback>
      </mc:AlternateContent>
      <p:sp>
        <p:nvSpPr>
          <p:cNvPr id="13" name="Rectangle 12">
            <a:extLst>
              <a:ext uri="{FF2B5EF4-FFF2-40B4-BE49-F238E27FC236}">
                <a16:creationId xmlns:a16="http://schemas.microsoft.com/office/drawing/2014/main" id="{416C2A27-C46A-1401-45FC-F653001C76BF}"/>
              </a:ext>
            </a:extLst>
          </p:cNvPr>
          <p:cNvSpPr/>
          <p:nvPr/>
        </p:nvSpPr>
        <p:spPr>
          <a:xfrm>
            <a:off x="487680" y="5446178"/>
            <a:ext cx="11186160" cy="1015663"/>
          </a:xfrm>
          <a:prstGeom prst="rect">
            <a:avLst/>
          </a:prstGeom>
          <a:ln>
            <a:noFill/>
          </a:ln>
        </p:spPr>
        <p:txBody>
          <a:bodyPr wrap="square">
            <a:spAutoFit/>
          </a:bodyPr>
          <a:lstStyle/>
          <a:p>
            <a:pPr marL="285750" indent="-285750">
              <a:buFont typeface="Arial" panose="020B0604020202020204" pitchFamily="34" charset="0"/>
              <a:buChar char="•"/>
            </a:pPr>
            <a:r>
              <a:rPr lang="en-US" sz="2000" dirty="0">
                <a:solidFill>
                  <a:srgbClr val="7030A0"/>
                </a:solidFill>
                <a:latin typeface="Candara" panose="020E0502030303020204" pitchFamily="34" charset="0"/>
              </a:rPr>
              <a:t>Gas price is generally specified in </a:t>
            </a:r>
            <a:r>
              <a:rPr lang="en-US" sz="2000" dirty="0" err="1">
                <a:solidFill>
                  <a:srgbClr val="7030A0"/>
                </a:solidFill>
                <a:latin typeface="Candara" panose="020E0502030303020204" pitchFamily="34" charset="0"/>
              </a:rPr>
              <a:t>Gwei</a:t>
            </a:r>
            <a:r>
              <a:rPr lang="en-US" sz="2000" dirty="0">
                <a:solidFill>
                  <a:srgbClr val="7030A0"/>
                </a:solidFill>
                <a:latin typeface="Candara" panose="020E0502030303020204" pitchFamily="34" charset="0"/>
              </a:rPr>
              <a:t> </a:t>
            </a:r>
          </a:p>
          <a:p>
            <a:pPr marL="285750" indent="-285750">
              <a:buFont typeface="Arial" panose="020B0604020202020204" pitchFamily="34" charset="0"/>
              <a:buChar char="•"/>
            </a:pPr>
            <a:r>
              <a:rPr lang="en-US" sz="2000" dirty="0">
                <a:solidFill>
                  <a:prstClr val="black"/>
                </a:solidFill>
                <a:latin typeface="Candara" panose="020E0502030303020204" pitchFamily="34" charset="0"/>
              </a:rPr>
              <a:t>The number of gas units required for specific computations always remain the same, but the gas price varies </a:t>
            </a:r>
          </a:p>
        </p:txBody>
      </p:sp>
    </p:spTree>
    <p:extLst>
      <p:ext uri="{BB962C8B-B14F-4D97-AF65-F5344CB8AC3E}">
        <p14:creationId xmlns:p14="http://schemas.microsoft.com/office/powerpoint/2010/main" val="2707882441"/>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5" grpId="0" animBg="1"/>
      <p:bldP spid="9" grpId="0" animBg="1"/>
      <p:bldP spid="10" grpId="0" animBg="1"/>
      <p:bldP spid="12" grpId="0"/>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 Supply Model</a:t>
            </a:r>
          </a:p>
        </p:txBody>
      </p:sp>
      <p:sp>
        <p:nvSpPr>
          <p:cNvPr id="3" name="Content Placeholder 2"/>
          <p:cNvSpPr>
            <a:spLocks noGrp="1"/>
          </p:cNvSpPr>
          <p:nvPr>
            <p:ph idx="1"/>
          </p:nvPr>
        </p:nvSpPr>
        <p:spPr>
          <a:xfrm>
            <a:off x="518161" y="1174360"/>
            <a:ext cx="11155678" cy="424732"/>
          </a:xfrm>
          <a:solidFill>
            <a:srgbClr val="7030A0"/>
          </a:solidFill>
          <a:ln>
            <a:noFill/>
          </a:ln>
        </p:spPr>
        <p:txBody>
          <a:bodyPr wrap="square" anchor="ctr" anchorCtr="0">
            <a:spAutoFit/>
          </a:bodyPr>
          <a:lstStyle/>
          <a:p>
            <a:pPr marL="0" indent="0" algn="ctr">
              <a:buNone/>
            </a:pPr>
            <a:r>
              <a:rPr lang="en-US" sz="2400" dirty="0">
                <a:solidFill>
                  <a:schemeClr val="bg1"/>
                </a:solidFill>
              </a:rPr>
              <a:t>When Ethereum launched in 2015, Vitalik Buterin chose not to cap the supply of Ether </a:t>
            </a:r>
          </a:p>
        </p:txBody>
      </p:sp>
      <p:sp>
        <p:nvSpPr>
          <p:cNvPr id="4" name="Slide Number Placeholder 3"/>
          <p:cNvSpPr>
            <a:spLocks noGrp="1"/>
          </p:cNvSpPr>
          <p:nvPr>
            <p:ph type="sldNum" sz="quarter" idx="12"/>
          </p:nvPr>
        </p:nvSpPr>
        <p:spPr/>
        <p:txBody>
          <a:bodyPr/>
          <a:lstStyle/>
          <a:p>
            <a:fld id="{19FE8B7B-3258-47CD-BBC0-34D05FC906E5}" type="slidenum">
              <a:rPr>
                <a:latin typeface="Candara" panose="020E0502030303020204" pitchFamily="34" charset="0"/>
              </a:rPr>
              <a:pPr/>
              <a:t>12</a:t>
            </a:fld>
            <a:endParaRPr dirty="0">
              <a:latin typeface="Candara" panose="020E0502030303020204" pitchFamily="34" charset="0"/>
            </a:endParaRPr>
          </a:p>
        </p:txBody>
      </p:sp>
      <mc:AlternateContent xmlns:mc="http://schemas.openxmlformats.org/markup-compatibility/2006" xmlns:a14="http://schemas.microsoft.com/office/drawing/2010/main">
        <mc:Choice Requires="a14">
          <p:sp>
            <p:nvSpPr>
              <p:cNvPr id="5" name="Rectangle 4"/>
              <p:cNvSpPr/>
              <p:nvPr/>
            </p:nvSpPr>
            <p:spPr>
              <a:xfrm>
                <a:off x="487680" y="1902258"/>
                <a:ext cx="11186159" cy="2431435"/>
              </a:xfrm>
              <a:prstGeom prst="rect">
                <a:avLst/>
              </a:prstGeom>
              <a:ln>
                <a:noFill/>
              </a:ln>
            </p:spPr>
            <p:txBody>
              <a:bodyPr wrap="square" anchor="ctr" anchorCtr="0">
                <a:spAutoFit/>
              </a:bodyPr>
              <a:lstStyle/>
              <a:p>
                <a:r>
                  <a:rPr lang="en-US" sz="2000" dirty="0">
                    <a:solidFill>
                      <a:srgbClr val="0070C0"/>
                    </a:solidFill>
                    <a:latin typeface="Candara" panose="020E0502030303020204" pitchFamily="34" charset="0"/>
                  </a:rPr>
                  <a:t>The idea was to follow a linear supply model:</a:t>
                </a:r>
              </a:p>
              <a:p>
                <a:endParaRPr lang="en-US" sz="2000" dirty="0">
                  <a:solidFill>
                    <a:prstClr val="black"/>
                  </a:solidFill>
                  <a:latin typeface="Candara" panose="020E0502030303020204" pitchFamily="34" charset="0"/>
                </a:endParaRPr>
              </a:p>
              <a:p>
                <a:pPr algn="ctr"/>
                <a14:m>
                  <m:oMathPara xmlns:m="http://schemas.openxmlformats.org/officeDocument/2006/math">
                    <m:oMathParaPr>
                      <m:jc m:val="center"/>
                    </m:oMathParaPr>
                    <m:oMath xmlns:m="http://schemas.openxmlformats.org/officeDocument/2006/math">
                      <m:d>
                        <m:dPr>
                          <m:ctrlPr>
                            <a:rPr lang="en-US" sz="2000" i="1">
                              <a:solidFill>
                                <a:srgbClr val="0070C0"/>
                              </a:solidFill>
                              <a:latin typeface="Cambria Math" panose="02040503050406030204" pitchFamily="18" charset="0"/>
                            </a:rPr>
                          </m:ctrlPr>
                        </m:dPr>
                        <m:e>
                          <m:r>
                            <a:rPr lang="en-US" sz="2000" i="1">
                              <a:solidFill>
                                <a:srgbClr val="0070C0"/>
                              </a:solidFill>
                              <a:latin typeface="Cambria Math" panose="02040503050406030204" pitchFamily="18" charset="0"/>
                            </a:rPr>
                            <m:t>15.6×</m:t>
                          </m:r>
                          <m:r>
                            <a:rPr lang="en-US" sz="2000" i="1">
                              <a:solidFill>
                                <a:srgbClr val="0070C0"/>
                              </a:solidFill>
                              <a:latin typeface="Cambria Math" panose="02040503050406030204" pitchFamily="18" charset="0"/>
                            </a:rPr>
                            <m:t>𝑛</m:t>
                          </m:r>
                          <m:r>
                            <a:rPr lang="en-US" sz="2000" i="1">
                              <a:solidFill>
                                <a:srgbClr val="0070C0"/>
                              </a:solidFill>
                              <a:latin typeface="Cambria Math" panose="02040503050406030204" pitchFamily="18" charset="0"/>
                            </a:rPr>
                            <m:t>+72</m:t>
                          </m:r>
                        </m:e>
                      </m:d>
                      <m:r>
                        <a:rPr lang="en-US" sz="2000">
                          <a:solidFill>
                            <a:srgbClr val="0070C0"/>
                          </a:solidFill>
                          <a:latin typeface="Cambria Math" panose="02040503050406030204" pitchFamily="18" charset="0"/>
                        </a:rPr>
                        <m:t> </m:t>
                      </m:r>
                      <m:r>
                        <m:rPr>
                          <m:sty m:val="p"/>
                        </m:rPr>
                        <a:rPr lang="en-US" sz="2000">
                          <a:solidFill>
                            <a:srgbClr val="0070C0"/>
                          </a:solidFill>
                          <a:latin typeface="Cambria Math" panose="02040503050406030204" pitchFamily="18" charset="0"/>
                        </a:rPr>
                        <m:t>Million</m:t>
                      </m:r>
                    </m:oMath>
                  </m:oMathPara>
                </a14:m>
                <a:endParaRPr lang="en-US" sz="2000" dirty="0">
                  <a:solidFill>
                    <a:srgbClr val="0070C0"/>
                  </a:solidFill>
                  <a:latin typeface="Candara" panose="020E0502030303020204" pitchFamily="34" charset="0"/>
                </a:endParaRPr>
              </a:p>
              <a:p>
                <a:pPr lvl="1"/>
                <a:endParaRPr lang="en-US" sz="2000" i="1" dirty="0">
                  <a:solidFill>
                    <a:prstClr val="black"/>
                  </a:solidFill>
                  <a:latin typeface="Candara" panose="020E0502030303020204" pitchFamily="34" charset="0"/>
                </a:endParaRPr>
              </a:p>
              <a:p>
                <a:pPr marL="800089" lvl="1" indent="-342900">
                  <a:buFont typeface="Arial" panose="020B0604020202020204" pitchFamily="34" charset="0"/>
                  <a:buChar char="•"/>
                </a:pPr>
                <a14:m>
                  <m:oMath xmlns:m="http://schemas.openxmlformats.org/officeDocument/2006/math">
                    <m:r>
                      <a:rPr lang="en-US" i="1" dirty="0">
                        <a:solidFill>
                          <a:prstClr val="black"/>
                        </a:solidFill>
                        <a:latin typeface="Cambria Math" panose="02040503050406030204" pitchFamily="18" charset="0"/>
                      </a:rPr>
                      <m:t>𝑛</m:t>
                    </m:r>
                  </m:oMath>
                </a14:m>
                <a:r>
                  <a:rPr lang="en-US" dirty="0">
                    <a:solidFill>
                      <a:prstClr val="black"/>
                    </a:solidFill>
                    <a:latin typeface="Candara" panose="020E0502030303020204" pitchFamily="34" charset="0"/>
                  </a:rPr>
                  <a:t> denotes the number of years since the genesis block (July 30, 2015)</a:t>
                </a:r>
              </a:p>
              <a:p>
                <a:pPr marL="800089" lvl="1" indent="-342900">
                  <a:buFont typeface="Arial" panose="020B0604020202020204" pitchFamily="34" charset="0"/>
                  <a:buChar char="•"/>
                </a:pPr>
                <a:r>
                  <a:rPr lang="en-US" dirty="0">
                    <a:solidFill>
                      <a:prstClr val="black"/>
                    </a:solidFill>
                    <a:latin typeface="Candara" panose="020E0502030303020204" pitchFamily="34" charset="0"/>
                  </a:rPr>
                  <a:t>72 M ETH were created at the launch</a:t>
                </a:r>
              </a:p>
              <a:p>
                <a:pPr marL="1257277" lvl="2" indent="-342900">
                  <a:buFont typeface="Arial" panose="020B0604020202020204" pitchFamily="34" charset="0"/>
                  <a:buChar char="•"/>
                </a:pPr>
                <a:r>
                  <a:rPr lang="en-US" dirty="0">
                    <a:solidFill>
                      <a:prstClr val="black"/>
                    </a:solidFill>
                    <a:latin typeface="Candara" panose="020E0502030303020204" pitchFamily="34" charset="0"/>
                  </a:rPr>
                  <a:t>60 M were sold to public during the presale at a rate of 2000 ETH per BTC </a:t>
                </a:r>
              </a:p>
              <a:p>
                <a:pPr marL="1257277" lvl="2" indent="-342900">
                  <a:buFont typeface="Arial" panose="020B0604020202020204" pitchFamily="34" charset="0"/>
                  <a:buChar char="•"/>
                </a:pPr>
                <a:r>
                  <a:rPr lang="en-US" dirty="0">
                    <a:solidFill>
                      <a:prstClr val="black"/>
                    </a:solidFill>
                    <a:latin typeface="Candara" panose="020E0502030303020204" pitchFamily="34" charset="0"/>
                  </a:rPr>
                  <a:t>12 M were allocated to the Ethereum foundation and early developers </a:t>
                </a:r>
              </a:p>
            </p:txBody>
          </p:sp>
        </mc:Choice>
        <mc:Fallback xmlns="">
          <p:sp>
            <p:nvSpPr>
              <p:cNvPr id="5" name="Rectangle 4"/>
              <p:cNvSpPr>
                <a:spLocks noRot="1" noChangeAspect="1" noMove="1" noResize="1" noEditPoints="1" noAdjustHandles="1" noChangeArrowheads="1" noChangeShapeType="1" noTextEdit="1"/>
              </p:cNvSpPr>
              <p:nvPr/>
            </p:nvSpPr>
            <p:spPr>
              <a:xfrm>
                <a:off x="487680" y="1902258"/>
                <a:ext cx="11186159" cy="2431435"/>
              </a:xfrm>
              <a:prstGeom prst="rect">
                <a:avLst/>
              </a:prstGeom>
              <a:blipFill>
                <a:blip r:embed="rId3"/>
                <a:stretch>
                  <a:fillRect l="-545" t="-1003" b="-3509"/>
                </a:stretch>
              </a:blipFill>
              <a:ln>
                <a:noFill/>
              </a:ln>
            </p:spPr>
            <p:txBody>
              <a:bodyPr/>
              <a:lstStyle/>
              <a:p>
                <a:r>
                  <a:rPr lang="en-US">
                    <a:noFill/>
                  </a:rPr>
                  <a:t> </a:t>
                </a:r>
              </a:p>
            </p:txBody>
          </p:sp>
        </mc:Fallback>
      </mc:AlternateContent>
      <p:sp>
        <p:nvSpPr>
          <p:cNvPr id="8" name="Rectangle 7"/>
          <p:cNvSpPr/>
          <p:nvPr/>
        </p:nvSpPr>
        <p:spPr>
          <a:xfrm>
            <a:off x="7183813" y="6567769"/>
            <a:ext cx="2417650" cy="261610"/>
          </a:xfrm>
          <a:prstGeom prst="rect">
            <a:avLst/>
          </a:prstGeom>
        </p:spPr>
        <p:txBody>
          <a:bodyPr wrap="none">
            <a:spAutoFit/>
          </a:bodyPr>
          <a:lstStyle/>
          <a:p>
            <a:r>
              <a:rPr lang="en-US" sz="1100" dirty="0">
                <a:latin typeface="Candara" panose="020E0502030303020204" pitchFamily="34" charset="0"/>
                <a:hlinkClick r:id="rId4"/>
              </a:rPr>
              <a:t>https://ethereum.org/en/whitepaper/</a:t>
            </a:r>
            <a:r>
              <a:rPr lang="en-US" sz="1100" dirty="0">
                <a:latin typeface="Candara" panose="020E0502030303020204" pitchFamily="34" charset="0"/>
              </a:rPr>
              <a:t> </a:t>
            </a:r>
          </a:p>
        </p:txBody>
      </p:sp>
      <mc:AlternateContent xmlns:mc="http://schemas.openxmlformats.org/markup-compatibility/2006" xmlns:a14="http://schemas.microsoft.com/office/drawing/2010/main">
        <mc:Choice Requires="a14">
          <p:sp>
            <p:nvSpPr>
              <p:cNvPr id="7" name="Rectangle 6"/>
              <p:cNvSpPr/>
              <p:nvPr/>
            </p:nvSpPr>
            <p:spPr>
              <a:xfrm>
                <a:off x="487680" y="4480600"/>
                <a:ext cx="11082688" cy="400110"/>
              </a:xfrm>
              <a:prstGeom prst="rect">
                <a:avLst/>
              </a:prstGeom>
              <a:solidFill>
                <a:schemeClr val="tx2">
                  <a:lumMod val="20000"/>
                  <a:lumOff val="80000"/>
                </a:schemeClr>
              </a:solidFill>
              <a:ln>
                <a:solidFill>
                  <a:schemeClr val="tx1"/>
                </a:solidFill>
              </a:ln>
            </p:spPr>
            <p:txBody>
              <a:bodyPr wrap="square">
                <a:spAutoFit/>
              </a:bodyPr>
              <a:lstStyle/>
              <a:p>
                <a:pPr algn="ctr"/>
                <a:r>
                  <a:rPr lang="en-US" sz="2000" dirty="0">
                    <a:solidFill>
                      <a:prstClr val="black"/>
                    </a:solidFill>
                    <a:latin typeface="Candara" panose="020E0502030303020204" pitchFamily="34" charset="0"/>
                  </a:rPr>
                  <a:t>Assuming </a:t>
                </a:r>
                <a14:m>
                  <m:oMath xmlns:m="http://schemas.openxmlformats.org/officeDocument/2006/math">
                    <m:r>
                      <a:rPr lang="en-US" sz="2000" dirty="0">
                        <a:solidFill>
                          <a:prstClr val="black"/>
                        </a:solidFill>
                        <a:latin typeface="Cambria Math" panose="02040503050406030204" pitchFamily="18" charset="0"/>
                      </a:rPr>
                      <m:t>𝑛</m:t>
                    </m:r>
                    <m:r>
                      <a:rPr lang="en-US" sz="2000" dirty="0">
                        <a:solidFill>
                          <a:prstClr val="black"/>
                        </a:solidFill>
                        <a:latin typeface="Cambria Math" panose="02040503050406030204" pitchFamily="18" charset="0"/>
                      </a:rPr>
                      <m:t>=10</m:t>
                    </m:r>
                  </m:oMath>
                </a14:m>
                <a:r>
                  <a:rPr lang="en-US" sz="2000" dirty="0">
                    <a:solidFill>
                      <a:prstClr val="black"/>
                    </a:solidFill>
                    <a:latin typeface="Candara" panose="020E0502030303020204" pitchFamily="34" charset="0"/>
                  </a:rPr>
                  <a:t> years since genesis, the total Ether supply would be approximately 228 million</a:t>
                </a:r>
              </a:p>
            </p:txBody>
          </p:sp>
        </mc:Choice>
        <mc:Fallback xmlns="">
          <p:sp>
            <p:nvSpPr>
              <p:cNvPr id="7" name="Rectangle 6"/>
              <p:cNvSpPr>
                <a:spLocks noRot="1" noChangeAspect="1" noMove="1" noResize="1" noEditPoints="1" noAdjustHandles="1" noChangeArrowheads="1" noChangeShapeType="1" noTextEdit="1"/>
              </p:cNvSpPr>
              <p:nvPr/>
            </p:nvSpPr>
            <p:spPr>
              <a:xfrm>
                <a:off x="487680" y="4480600"/>
                <a:ext cx="11082688" cy="400110"/>
              </a:xfrm>
              <a:prstGeom prst="rect">
                <a:avLst/>
              </a:prstGeom>
              <a:blipFill>
                <a:blip r:embed="rId5"/>
                <a:stretch>
                  <a:fillRect t="-5882" b="-23529"/>
                </a:stretch>
              </a:blipFill>
              <a:ln>
                <a:solidFill>
                  <a:schemeClr val="tx1"/>
                </a:solidFill>
              </a:ln>
            </p:spPr>
            <p:txBody>
              <a:bodyPr/>
              <a:lstStyle/>
              <a:p>
                <a:r>
                  <a:rPr lang="en-US">
                    <a:noFill/>
                  </a:rPr>
                  <a:t> </a:t>
                </a:r>
              </a:p>
            </p:txBody>
          </p:sp>
        </mc:Fallback>
      </mc:AlternateContent>
      <p:sp>
        <p:nvSpPr>
          <p:cNvPr id="6" name="Rectangle 5">
            <a:extLst>
              <a:ext uri="{FF2B5EF4-FFF2-40B4-BE49-F238E27FC236}">
                <a16:creationId xmlns:a16="http://schemas.microsoft.com/office/drawing/2014/main" id="{F147B19D-C2D0-25DE-BBC8-B46B95DE7CB8}"/>
              </a:ext>
            </a:extLst>
          </p:cNvPr>
          <p:cNvSpPr/>
          <p:nvPr/>
        </p:nvSpPr>
        <p:spPr>
          <a:xfrm>
            <a:off x="895790" y="5375877"/>
            <a:ext cx="3167635" cy="707886"/>
          </a:xfrm>
          <a:prstGeom prst="rect">
            <a:avLst/>
          </a:prstGeom>
          <a:ln>
            <a:noFill/>
          </a:ln>
        </p:spPr>
        <p:txBody>
          <a:bodyPr wrap="square">
            <a:spAutoFit/>
          </a:bodyPr>
          <a:lstStyle/>
          <a:p>
            <a:pPr algn="ctr"/>
            <a:r>
              <a:rPr lang="en-US" sz="2000" dirty="0">
                <a:solidFill>
                  <a:schemeClr val="accent2"/>
                </a:solidFill>
                <a:latin typeface="Candara" panose="020E0502030303020204" pitchFamily="34" charset="0"/>
              </a:rPr>
              <a:t>Current ETH supply is only: 120.7 M &lt; 228 M </a:t>
            </a:r>
          </a:p>
        </p:txBody>
      </p:sp>
      <p:sp>
        <p:nvSpPr>
          <p:cNvPr id="10" name="Rectangle 9">
            <a:extLst>
              <a:ext uri="{FF2B5EF4-FFF2-40B4-BE49-F238E27FC236}">
                <a16:creationId xmlns:a16="http://schemas.microsoft.com/office/drawing/2014/main" id="{57E2C7DA-872A-E15C-69EB-E3B9FFA8C648}"/>
              </a:ext>
            </a:extLst>
          </p:cNvPr>
          <p:cNvSpPr/>
          <p:nvPr/>
        </p:nvSpPr>
        <p:spPr>
          <a:xfrm>
            <a:off x="4211053" y="5070824"/>
            <a:ext cx="7359315" cy="1477328"/>
          </a:xfrm>
          <a:prstGeom prst="rect">
            <a:avLst/>
          </a:prstGeom>
          <a:ln>
            <a:noFill/>
          </a:ln>
        </p:spPr>
        <p:txBody>
          <a:bodyPr wrap="square">
            <a:spAutoFit/>
          </a:bodyPr>
          <a:lstStyle/>
          <a:p>
            <a:pPr marL="285750" indent="-285750">
              <a:buFont typeface="Arial" panose="020B0604020202020204" pitchFamily="34" charset="0"/>
              <a:buChar char="•"/>
            </a:pPr>
            <a:r>
              <a:rPr lang="en-US" dirty="0">
                <a:solidFill>
                  <a:prstClr val="black"/>
                </a:solidFill>
                <a:latin typeface="Candara" panose="020E0502030303020204" pitchFamily="34" charset="0"/>
              </a:rPr>
              <a:t>Mining reward was gradually reduced from 5 ETH to 2 ETH, and after the Merge, it became 0 ETH (no more miners)</a:t>
            </a:r>
          </a:p>
          <a:p>
            <a:pPr marL="285750" indent="-285750">
              <a:buFont typeface="Arial" panose="020B0604020202020204" pitchFamily="34" charset="0"/>
              <a:buChar char="•"/>
            </a:pPr>
            <a:r>
              <a:rPr lang="en-US" dirty="0">
                <a:solidFill>
                  <a:prstClr val="black"/>
                </a:solidFill>
                <a:latin typeface="Candara" panose="020E0502030303020204" pitchFamily="34" charset="0"/>
              </a:rPr>
              <a:t>New ETH is now generated only to pay staking rewards to validators</a:t>
            </a:r>
          </a:p>
          <a:p>
            <a:pPr marL="285750" indent="-285750">
              <a:buFont typeface="Arial" panose="020B0604020202020204" pitchFamily="34" charset="0"/>
              <a:buChar char="•"/>
            </a:pPr>
            <a:r>
              <a:rPr lang="en-US" dirty="0">
                <a:solidFill>
                  <a:prstClr val="black"/>
                </a:solidFill>
                <a:latin typeface="Candara" panose="020E0502030303020204" pitchFamily="34" charset="0"/>
              </a:rPr>
              <a:t>Ether burning, which permanently removes some ETH from circulation, began in August 2021 after the London upgrade</a:t>
            </a:r>
          </a:p>
        </p:txBody>
      </p:sp>
    </p:spTree>
    <p:extLst>
      <p:ext uri="{BB962C8B-B14F-4D97-AF65-F5344CB8AC3E}">
        <p14:creationId xmlns:p14="http://schemas.microsoft.com/office/powerpoint/2010/main" val="2834708652"/>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96959-9E10-8CFC-C170-04E4A6ED3B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92A8C9-40A9-03CB-B6C6-ABCF558ED50C}"/>
              </a:ext>
            </a:extLst>
          </p:cNvPr>
          <p:cNvSpPr>
            <a:spLocks noGrp="1"/>
          </p:cNvSpPr>
          <p:nvPr>
            <p:ph type="title"/>
          </p:nvPr>
        </p:nvSpPr>
        <p:spPr/>
        <p:txBody>
          <a:bodyPr/>
          <a:lstStyle/>
          <a:p>
            <a:r>
              <a:rPr lang="en-US" dirty="0"/>
              <a:t>ETH Supply &amp; ETH Burning</a:t>
            </a:r>
          </a:p>
        </p:txBody>
      </p:sp>
      <p:sp>
        <p:nvSpPr>
          <p:cNvPr id="4" name="Slide Number Placeholder 3">
            <a:extLst>
              <a:ext uri="{FF2B5EF4-FFF2-40B4-BE49-F238E27FC236}">
                <a16:creationId xmlns:a16="http://schemas.microsoft.com/office/drawing/2014/main" id="{9E5E09AD-5E75-5844-B295-625BB165D617}"/>
              </a:ext>
            </a:extLst>
          </p:cNvPr>
          <p:cNvSpPr>
            <a:spLocks noGrp="1"/>
          </p:cNvSpPr>
          <p:nvPr>
            <p:ph type="sldNum" sz="quarter" idx="12"/>
          </p:nvPr>
        </p:nvSpPr>
        <p:spPr/>
        <p:txBody>
          <a:bodyPr/>
          <a:lstStyle/>
          <a:p>
            <a:fld id="{19FE8B7B-3258-47CD-BBC0-34D05FC906E5}" type="slidenum">
              <a:rPr lang="en-US" smtClean="0">
                <a:latin typeface="Candara" panose="020E0502030303020204" pitchFamily="34" charset="0"/>
              </a:rPr>
              <a:t>13</a:t>
            </a:fld>
            <a:endParaRPr lang="en-US" dirty="0">
              <a:latin typeface="Candara" panose="020E0502030303020204" pitchFamily="34" charset="0"/>
            </a:endParaRPr>
          </a:p>
        </p:txBody>
      </p:sp>
      <p:sp>
        <p:nvSpPr>
          <p:cNvPr id="7" name="Rectangle 6">
            <a:extLst>
              <a:ext uri="{FF2B5EF4-FFF2-40B4-BE49-F238E27FC236}">
                <a16:creationId xmlns:a16="http://schemas.microsoft.com/office/drawing/2014/main" id="{EB0F657F-9B95-27C9-5C01-3C1DF9E9AF6A}"/>
              </a:ext>
            </a:extLst>
          </p:cNvPr>
          <p:cNvSpPr/>
          <p:nvPr/>
        </p:nvSpPr>
        <p:spPr>
          <a:xfrm>
            <a:off x="9230941" y="6278494"/>
            <a:ext cx="2778325" cy="276999"/>
          </a:xfrm>
          <a:prstGeom prst="rect">
            <a:avLst/>
          </a:prstGeom>
        </p:spPr>
        <p:txBody>
          <a:bodyPr wrap="square">
            <a:spAutoFit/>
          </a:bodyPr>
          <a:lstStyle/>
          <a:p>
            <a:r>
              <a:rPr lang="en-US" sz="1200" dirty="0">
                <a:latin typeface="Candara" panose="020E0502030303020204" pitchFamily="34" charset="0"/>
                <a:hlinkClick r:id="rId3"/>
              </a:rPr>
              <a:t>https://etherscan.io/chart/dailyethburnt</a:t>
            </a:r>
            <a:r>
              <a:rPr lang="en-US" sz="1200" dirty="0">
                <a:latin typeface="Candara" panose="020E0502030303020204" pitchFamily="34" charset="0"/>
              </a:rPr>
              <a:t> </a:t>
            </a:r>
          </a:p>
        </p:txBody>
      </p:sp>
      <p:grpSp>
        <p:nvGrpSpPr>
          <p:cNvPr id="14" name="Group 13">
            <a:extLst>
              <a:ext uri="{FF2B5EF4-FFF2-40B4-BE49-F238E27FC236}">
                <a16:creationId xmlns:a16="http://schemas.microsoft.com/office/drawing/2014/main" id="{6C4CC8E2-7D96-3EE3-D9CA-2F6683C1FCF1}"/>
              </a:ext>
            </a:extLst>
          </p:cNvPr>
          <p:cNvGrpSpPr/>
          <p:nvPr/>
        </p:nvGrpSpPr>
        <p:grpSpPr>
          <a:xfrm>
            <a:off x="244302" y="4619466"/>
            <a:ext cx="2619494" cy="1775127"/>
            <a:chOff x="606800" y="4728330"/>
            <a:chExt cx="2325828" cy="1668770"/>
          </a:xfrm>
        </p:grpSpPr>
        <p:sp>
          <p:nvSpPr>
            <p:cNvPr id="11" name="TextBox 10">
              <a:extLst>
                <a:ext uri="{FF2B5EF4-FFF2-40B4-BE49-F238E27FC236}">
                  <a16:creationId xmlns:a16="http://schemas.microsoft.com/office/drawing/2014/main" id="{477B42B4-8B10-64F9-8EC2-7CA4FA7EF14C}"/>
                </a:ext>
              </a:extLst>
            </p:cNvPr>
            <p:cNvSpPr txBox="1"/>
            <p:nvPr/>
          </p:nvSpPr>
          <p:spPr>
            <a:xfrm>
              <a:off x="606800" y="4728330"/>
              <a:ext cx="1892968" cy="347203"/>
            </a:xfrm>
            <a:prstGeom prst="rect">
              <a:avLst/>
            </a:prstGeom>
            <a:noFill/>
          </p:spPr>
          <p:txBody>
            <a:bodyPr wrap="square" rtlCol="0">
              <a:spAutoFit/>
            </a:bodyPr>
            <a:lstStyle/>
            <a:p>
              <a:pPr algn="ctr"/>
              <a:r>
                <a:rPr lang="en-US" dirty="0">
                  <a:latin typeface="Candara" panose="020E0502030303020204" pitchFamily="34" charset="0"/>
                </a:rPr>
                <a:t>March 21, 2023</a:t>
              </a:r>
            </a:p>
          </p:txBody>
        </p:sp>
        <p:pic>
          <p:nvPicPr>
            <p:cNvPr id="13" name="Picture 12">
              <a:extLst>
                <a:ext uri="{FF2B5EF4-FFF2-40B4-BE49-F238E27FC236}">
                  <a16:creationId xmlns:a16="http://schemas.microsoft.com/office/drawing/2014/main" id="{99508D55-C7CD-D7E2-B149-F6649403F881}"/>
                </a:ext>
              </a:extLst>
            </p:cNvPr>
            <p:cNvPicPr>
              <a:picLocks noChangeAspect="1"/>
            </p:cNvPicPr>
            <p:nvPr/>
          </p:nvPicPr>
          <p:blipFill>
            <a:blip r:embed="rId4"/>
            <a:stretch>
              <a:fillRect/>
            </a:stretch>
          </p:blipFill>
          <p:spPr>
            <a:xfrm>
              <a:off x="815765" y="5019143"/>
              <a:ext cx="2116863" cy="1377957"/>
            </a:xfrm>
            <a:prstGeom prst="rect">
              <a:avLst/>
            </a:prstGeom>
          </p:spPr>
        </p:pic>
      </p:grpSp>
      <p:grpSp>
        <p:nvGrpSpPr>
          <p:cNvPr id="18" name="Group 17">
            <a:extLst>
              <a:ext uri="{FF2B5EF4-FFF2-40B4-BE49-F238E27FC236}">
                <a16:creationId xmlns:a16="http://schemas.microsoft.com/office/drawing/2014/main" id="{DB4D917C-7412-BF61-6B99-B574338BEB3B}"/>
              </a:ext>
            </a:extLst>
          </p:cNvPr>
          <p:cNvGrpSpPr/>
          <p:nvPr/>
        </p:nvGrpSpPr>
        <p:grpSpPr>
          <a:xfrm>
            <a:off x="3308978" y="4619467"/>
            <a:ext cx="2384145" cy="1832164"/>
            <a:chOff x="4694109" y="4651290"/>
            <a:chExt cx="2384145" cy="1832164"/>
          </a:xfrm>
        </p:grpSpPr>
        <p:pic>
          <p:nvPicPr>
            <p:cNvPr id="16" name="Picture 15">
              <a:extLst>
                <a:ext uri="{FF2B5EF4-FFF2-40B4-BE49-F238E27FC236}">
                  <a16:creationId xmlns:a16="http://schemas.microsoft.com/office/drawing/2014/main" id="{A55EC986-DFF7-C541-ED93-C9B716372F55}"/>
                </a:ext>
              </a:extLst>
            </p:cNvPr>
            <p:cNvPicPr>
              <a:picLocks noChangeAspect="1"/>
            </p:cNvPicPr>
            <p:nvPr/>
          </p:nvPicPr>
          <p:blipFill>
            <a:blip r:embed="rId5"/>
            <a:stretch>
              <a:fillRect/>
            </a:stretch>
          </p:blipFill>
          <p:spPr>
            <a:xfrm>
              <a:off x="4694109" y="4949004"/>
              <a:ext cx="2384145" cy="1534450"/>
            </a:xfrm>
            <a:prstGeom prst="rect">
              <a:avLst/>
            </a:prstGeom>
          </p:spPr>
        </p:pic>
        <p:sp>
          <p:nvSpPr>
            <p:cNvPr id="17" name="TextBox 16">
              <a:extLst>
                <a:ext uri="{FF2B5EF4-FFF2-40B4-BE49-F238E27FC236}">
                  <a16:creationId xmlns:a16="http://schemas.microsoft.com/office/drawing/2014/main" id="{A6AE511C-4F51-3767-57CE-C787200C374C}"/>
                </a:ext>
              </a:extLst>
            </p:cNvPr>
            <p:cNvSpPr txBox="1"/>
            <p:nvPr/>
          </p:nvSpPr>
          <p:spPr>
            <a:xfrm>
              <a:off x="4694109" y="4651290"/>
              <a:ext cx="1892968" cy="369332"/>
            </a:xfrm>
            <a:prstGeom prst="rect">
              <a:avLst/>
            </a:prstGeom>
            <a:noFill/>
          </p:spPr>
          <p:txBody>
            <a:bodyPr wrap="square" rtlCol="0">
              <a:spAutoFit/>
            </a:bodyPr>
            <a:lstStyle/>
            <a:p>
              <a:pPr algn="ctr"/>
              <a:r>
                <a:rPr lang="en-US" dirty="0">
                  <a:latin typeface="Candara" panose="020E0502030303020204" pitchFamily="34" charset="0"/>
                </a:rPr>
                <a:t>March 28, 2024</a:t>
              </a:r>
            </a:p>
          </p:txBody>
        </p:sp>
      </p:grpSp>
      <p:sp>
        <p:nvSpPr>
          <p:cNvPr id="20" name="TextBox 19">
            <a:extLst>
              <a:ext uri="{FF2B5EF4-FFF2-40B4-BE49-F238E27FC236}">
                <a16:creationId xmlns:a16="http://schemas.microsoft.com/office/drawing/2014/main" id="{B4D703C5-9FC2-1DE8-FC03-052D8C7C1D06}"/>
              </a:ext>
            </a:extLst>
          </p:cNvPr>
          <p:cNvSpPr txBox="1"/>
          <p:nvPr/>
        </p:nvSpPr>
        <p:spPr>
          <a:xfrm>
            <a:off x="8846166" y="4957532"/>
            <a:ext cx="2656024" cy="1015663"/>
          </a:xfrm>
          <a:prstGeom prst="rect">
            <a:avLst/>
          </a:prstGeom>
          <a:noFill/>
        </p:spPr>
        <p:txBody>
          <a:bodyPr wrap="square">
            <a:spAutoFit/>
          </a:bodyPr>
          <a:lstStyle/>
          <a:p>
            <a:pPr algn="ctr"/>
            <a:r>
              <a:rPr lang="en-US" sz="2000" dirty="0">
                <a:solidFill>
                  <a:schemeClr val="accent2"/>
                </a:solidFill>
                <a:latin typeface="Candara" panose="020E0502030303020204" pitchFamily="34" charset="0"/>
              </a:rPr>
              <a:t>More than 4.6 million ETH has been burned till now</a:t>
            </a:r>
          </a:p>
        </p:txBody>
      </p:sp>
      <p:grpSp>
        <p:nvGrpSpPr>
          <p:cNvPr id="12" name="Group 11">
            <a:extLst>
              <a:ext uri="{FF2B5EF4-FFF2-40B4-BE49-F238E27FC236}">
                <a16:creationId xmlns:a16="http://schemas.microsoft.com/office/drawing/2014/main" id="{64A0DDF7-2C56-08EC-AF4E-D4B496679895}"/>
              </a:ext>
            </a:extLst>
          </p:cNvPr>
          <p:cNvGrpSpPr/>
          <p:nvPr/>
        </p:nvGrpSpPr>
        <p:grpSpPr>
          <a:xfrm>
            <a:off x="6183615" y="4619467"/>
            <a:ext cx="2172059" cy="1746851"/>
            <a:chOff x="6183615" y="4619467"/>
            <a:chExt cx="2172059" cy="1746851"/>
          </a:xfrm>
        </p:grpSpPr>
        <p:pic>
          <p:nvPicPr>
            <p:cNvPr id="5" name="Picture 4">
              <a:extLst>
                <a:ext uri="{FF2B5EF4-FFF2-40B4-BE49-F238E27FC236}">
                  <a16:creationId xmlns:a16="http://schemas.microsoft.com/office/drawing/2014/main" id="{DED75BCA-11CE-9F6A-BF24-E51C975BF566}"/>
                </a:ext>
              </a:extLst>
            </p:cNvPr>
            <p:cNvPicPr>
              <a:picLocks noChangeAspect="1"/>
            </p:cNvPicPr>
            <p:nvPr/>
          </p:nvPicPr>
          <p:blipFill>
            <a:blip r:embed="rId6"/>
            <a:stretch>
              <a:fillRect/>
            </a:stretch>
          </p:blipFill>
          <p:spPr>
            <a:xfrm>
              <a:off x="6183615" y="4988800"/>
              <a:ext cx="2172059" cy="1377518"/>
            </a:xfrm>
            <a:prstGeom prst="rect">
              <a:avLst/>
            </a:prstGeom>
          </p:spPr>
        </p:pic>
        <p:sp>
          <p:nvSpPr>
            <p:cNvPr id="10" name="TextBox 9">
              <a:extLst>
                <a:ext uri="{FF2B5EF4-FFF2-40B4-BE49-F238E27FC236}">
                  <a16:creationId xmlns:a16="http://schemas.microsoft.com/office/drawing/2014/main" id="{43E38C86-B467-A9DA-548E-C36A03478F1E}"/>
                </a:ext>
              </a:extLst>
            </p:cNvPr>
            <p:cNvSpPr txBox="1"/>
            <p:nvPr/>
          </p:nvSpPr>
          <p:spPr>
            <a:xfrm>
              <a:off x="6323160" y="4619467"/>
              <a:ext cx="1892968" cy="369332"/>
            </a:xfrm>
            <a:prstGeom prst="rect">
              <a:avLst/>
            </a:prstGeom>
            <a:noFill/>
          </p:spPr>
          <p:txBody>
            <a:bodyPr wrap="square" rtlCol="0">
              <a:spAutoFit/>
            </a:bodyPr>
            <a:lstStyle/>
            <a:p>
              <a:pPr algn="ctr"/>
              <a:r>
                <a:rPr lang="en-US" dirty="0">
                  <a:latin typeface="Candara" panose="020E0502030303020204" pitchFamily="34" charset="0"/>
                </a:rPr>
                <a:t>Oct 31, 2025</a:t>
              </a:r>
            </a:p>
          </p:txBody>
        </p:sp>
      </p:grpSp>
      <p:pic>
        <p:nvPicPr>
          <p:cNvPr id="8" name="Picture 7">
            <a:extLst>
              <a:ext uri="{FF2B5EF4-FFF2-40B4-BE49-F238E27FC236}">
                <a16:creationId xmlns:a16="http://schemas.microsoft.com/office/drawing/2014/main" id="{51635709-B65E-4823-5E99-892E5E73AA72}"/>
              </a:ext>
            </a:extLst>
          </p:cNvPr>
          <p:cNvPicPr>
            <a:picLocks noChangeAspect="1"/>
          </p:cNvPicPr>
          <p:nvPr/>
        </p:nvPicPr>
        <p:blipFill>
          <a:blip r:embed="rId7"/>
          <a:stretch>
            <a:fillRect/>
          </a:stretch>
        </p:blipFill>
        <p:spPr>
          <a:xfrm>
            <a:off x="487680" y="1087120"/>
            <a:ext cx="6912562" cy="3304514"/>
          </a:xfrm>
          <a:prstGeom prst="rect">
            <a:avLst/>
          </a:prstGeom>
        </p:spPr>
      </p:pic>
      <p:sp>
        <p:nvSpPr>
          <p:cNvPr id="22" name="TextBox 21">
            <a:extLst>
              <a:ext uri="{FF2B5EF4-FFF2-40B4-BE49-F238E27FC236}">
                <a16:creationId xmlns:a16="http://schemas.microsoft.com/office/drawing/2014/main" id="{1B8CC57C-F965-BD87-384D-E90173123351}"/>
              </a:ext>
            </a:extLst>
          </p:cNvPr>
          <p:cNvSpPr txBox="1"/>
          <p:nvPr/>
        </p:nvSpPr>
        <p:spPr>
          <a:xfrm>
            <a:off x="7400243" y="1699131"/>
            <a:ext cx="4273597" cy="1631216"/>
          </a:xfrm>
          <a:prstGeom prst="rect">
            <a:avLst/>
          </a:prstGeom>
          <a:noFill/>
        </p:spPr>
        <p:txBody>
          <a:bodyPr wrap="square" rtlCol="0">
            <a:spAutoFit/>
          </a:bodyPr>
          <a:lstStyle>
            <a:defPPr>
              <a:defRPr lang="en-US"/>
            </a:defPPr>
            <a:lvl1pPr algn="ctr">
              <a:defRPr sz="2000">
                <a:latin typeface="Candara" panose="020E0502030303020204" pitchFamily="34" charset="0"/>
              </a:defRPr>
            </a:lvl1pPr>
          </a:lstStyle>
          <a:p>
            <a:r>
              <a:rPr lang="en-US" dirty="0"/>
              <a:t>The ETH supply has stabilized around 120 M due to EIP-1559 (London upgrade, Aug 2021) and the Merge (Sept 2022), which reduced ETH issuance and introduced ETH burning</a:t>
            </a:r>
          </a:p>
        </p:txBody>
      </p:sp>
      <p:sp>
        <p:nvSpPr>
          <p:cNvPr id="24" name="TextBox 23">
            <a:extLst>
              <a:ext uri="{FF2B5EF4-FFF2-40B4-BE49-F238E27FC236}">
                <a16:creationId xmlns:a16="http://schemas.microsoft.com/office/drawing/2014/main" id="{F31909D6-9484-8B8E-6FFE-84302D78D076}"/>
              </a:ext>
            </a:extLst>
          </p:cNvPr>
          <p:cNvSpPr txBox="1"/>
          <p:nvPr/>
        </p:nvSpPr>
        <p:spPr>
          <a:xfrm>
            <a:off x="6008386" y="6404220"/>
            <a:ext cx="2806366" cy="253916"/>
          </a:xfrm>
          <a:prstGeom prst="rect">
            <a:avLst/>
          </a:prstGeom>
          <a:noFill/>
        </p:spPr>
        <p:txBody>
          <a:bodyPr wrap="square">
            <a:spAutoFit/>
          </a:bodyPr>
          <a:lstStyle/>
          <a:p>
            <a:pPr algn="ctr"/>
            <a:r>
              <a:rPr lang="en-US" sz="1050" dirty="0">
                <a:hlinkClick r:id="rId8"/>
              </a:rPr>
              <a:t>https://etherscan.io/chart/ethersupplygrowth</a:t>
            </a:r>
            <a:r>
              <a:rPr lang="en-US" sz="1050" dirty="0"/>
              <a:t> </a:t>
            </a:r>
          </a:p>
        </p:txBody>
      </p:sp>
    </p:spTree>
    <p:extLst>
      <p:ext uri="{BB962C8B-B14F-4D97-AF65-F5344CB8AC3E}">
        <p14:creationId xmlns:p14="http://schemas.microsoft.com/office/powerpoint/2010/main" val="1454094227"/>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3"/>
          <a:stretch>
            <a:fillRect/>
          </a:stretch>
        </p:blipFill>
        <p:spPr>
          <a:xfrm>
            <a:off x="2171340" y="1252537"/>
            <a:ext cx="7868011" cy="5035968"/>
          </a:xfrm>
          <a:prstGeom prst="rect">
            <a:avLst/>
          </a:prstGeom>
        </p:spPr>
      </p:pic>
      <p:sp>
        <p:nvSpPr>
          <p:cNvPr id="2" name="Title 1"/>
          <p:cNvSpPr>
            <a:spLocks noGrp="1"/>
          </p:cNvSpPr>
          <p:nvPr>
            <p:ph type="title"/>
          </p:nvPr>
        </p:nvSpPr>
        <p:spPr/>
        <p:txBody>
          <a:bodyPr/>
          <a:lstStyle/>
          <a:p>
            <a:r>
              <a:rPr lang="en-US" dirty="0"/>
              <a:t>ETH Burning</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14</a:t>
            </a:fld>
            <a:endParaRPr lang="en-US" dirty="0">
              <a:latin typeface="Candara" panose="020E0502030303020204" pitchFamily="34" charset="0"/>
            </a:endParaRPr>
          </a:p>
        </p:txBody>
      </p:sp>
      <p:sp>
        <p:nvSpPr>
          <p:cNvPr id="6" name="Oval 5"/>
          <p:cNvSpPr/>
          <p:nvPr/>
        </p:nvSpPr>
        <p:spPr>
          <a:xfrm>
            <a:off x="4965032" y="5904239"/>
            <a:ext cx="2117558" cy="448656"/>
          </a:xfrm>
          <a:prstGeom prst="ellipse">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7" name="Oval 6"/>
          <p:cNvSpPr/>
          <p:nvPr/>
        </p:nvSpPr>
        <p:spPr>
          <a:xfrm>
            <a:off x="7030393" y="3547054"/>
            <a:ext cx="1515979" cy="388435"/>
          </a:xfrm>
          <a:prstGeom prst="ellipse">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8" name="TextBox 7"/>
          <p:cNvSpPr txBox="1"/>
          <p:nvPr/>
        </p:nvSpPr>
        <p:spPr>
          <a:xfrm>
            <a:off x="7291138" y="4244870"/>
            <a:ext cx="1684541" cy="830997"/>
          </a:xfrm>
          <a:prstGeom prst="rect">
            <a:avLst/>
          </a:prstGeom>
          <a:noFill/>
        </p:spPr>
        <p:txBody>
          <a:bodyPr wrap="square" rtlCol="0">
            <a:spAutoFit/>
          </a:bodyPr>
          <a:lstStyle/>
          <a:p>
            <a:r>
              <a:rPr lang="en-US" sz="1600" dirty="0">
                <a:latin typeface="Candara" panose="020E0502030303020204" pitchFamily="34" charset="0"/>
              </a:rPr>
              <a:t>Total Transaction fees paid by users</a:t>
            </a:r>
          </a:p>
        </p:txBody>
      </p:sp>
      <p:sp>
        <p:nvSpPr>
          <p:cNvPr id="11" name="Oval 10"/>
          <p:cNvSpPr/>
          <p:nvPr/>
        </p:nvSpPr>
        <p:spPr>
          <a:xfrm>
            <a:off x="5099714" y="1233463"/>
            <a:ext cx="750627" cy="433137"/>
          </a:xfrm>
          <a:prstGeom prst="ellipse">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cxnSp>
        <p:nvCxnSpPr>
          <p:cNvPr id="13" name="Straight Arrow Connector 12"/>
          <p:cNvCxnSpPr/>
          <p:nvPr/>
        </p:nvCxnSpPr>
        <p:spPr>
          <a:xfrm flipH="1">
            <a:off x="7098633" y="6135071"/>
            <a:ext cx="385011" cy="0"/>
          </a:xfrm>
          <a:prstGeom prst="straightConnector1">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7490803" y="5950325"/>
            <a:ext cx="3626376" cy="461665"/>
          </a:xfrm>
          <a:prstGeom prst="rect">
            <a:avLst/>
          </a:prstGeom>
          <a:noFill/>
        </p:spPr>
        <p:txBody>
          <a:bodyPr wrap="square" rtlCol="0">
            <a:spAutoFit/>
          </a:bodyPr>
          <a:lstStyle/>
          <a:p>
            <a:pPr algn="ctr"/>
            <a:r>
              <a:rPr lang="en-US" sz="1200" dirty="0">
                <a:latin typeface="Candara" panose="020E0502030303020204" pitchFamily="34" charset="0"/>
              </a:rPr>
              <a:t>Burnt fees = Gas used in block * Base fee per gas = 12,106,625*25.640387</a:t>
            </a:r>
          </a:p>
        </p:txBody>
      </p:sp>
      <p:cxnSp>
        <p:nvCxnSpPr>
          <p:cNvPr id="16" name="Straight Arrow Connector 15"/>
          <p:cNvCxnSpPr/>
          <p:nvPr/>
        </p:nvCxnSpPr>
        <p:spPr>
          <a:xfrm flipH="1" flipV="1">
            <a:off x="7692877" y="3953400"/>
            <a:ext cx="191009" cy="311880"/>
          </a:xfrm>
          <a:prstGeom prst="straightConnector1">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9645023" y="5270822"/>
            <a:ext cx="2355132" cy="261610"/>
          </a:xfrm>
          <a:prstGeom prst="rect">
            <a:avLst/>
          </a:prstGeom>
        </p:spPr>
        <p:txBody>
          <a:bodyPr wrap="none">
            <a:spAutoFit/>
          </a:bodyPr>
          <a:lstStyle/>
          <a:p>
            <a:r>
              <a:rPr lang="en-US" sz="1100" dirty="0">
                <a:latin typeface="Candara" panose="020E0502030303020204" pitchFamily="34" charset="0"/>
                <a:hlinkClick r:id="rId4"/>
              </a:rPr>
              <a:t>https://etherscan.io/block/16833280</a:t>
            </a:r>
            <a:r>
              <a:rPr lang="en-US" sz="1100" dirty="0">
                <a:latin typeface="Candara" panose="020E0502030303020204" pitchFamily="34" charset="0"/>
              </a:rPr>
              <a:t> </a:t>
            </a:r>
          </a:p>
        </p:txBody>
      </p:sp>
      <p:sp>
        <p:nvSpPr>
          <p:cNvPr id="17" name="Oval 16"/>
          <p:cNvSpPr/>
          <p:nvPr/>
        </p:nvSpPr>
        <p:spPr>
          <a:xfrm>
            <a:off x="4965032" y="3574349"/>
            <a:ext cx="1898302" cy="388435"/>
          </a:xfrm>
          <a:prstGeom prst="ellipse">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18" name="TextBox 17"/>
          <p:cNvSpPr txBox="1"/>
          <p:nvPr/>
        </p:nvSpPr>
        <p:spPr>
          <a:xfrm>
            <a:off x="3489278" y="4159171"/>
            <a:ext cx="1875148" cy="584775"/>
          </a:xfrm>
          <a:prstGeom prst="rect">
            <a:avLst/>
          </a:prstGeom>
          <a:noFill/>
        </p:spPr>
        <p:txBody>
          <a:bodyPr wrap="square" rtlCol="0">
            <a:spAutoFit/>
          </a:bodyPr>
          <a:lstStyle/>
          <a:p>
            <a:r>
              <a:rPr lang="en-US" sz="1600" dirty="0">
                <a:latin typeface="Candara" panose="020E0502030303020204" pitchFamily="34" charset="0"/>
              </a:rPr>
              <a:t>Txn fees for the validator</a:t>
            </a:r>
          </a:p>
        </p:txBody>
      </p:sp>
      <p:cxnSp>
        <p:nvCxnSpPr>
          <p:cNvPr id="19" name="Straight Arrow Connector 18"/>
          <p:cNvCxnSpPr/>
          <p:nvPr/>
        </p:nvCxnSpPr>
        <p:spPr>
          <a:xfrm flipV="1">
            <a:off x="4363531" y="3887685"/>
            <a:ext cx="601501" cy="297815"/>
          </a:xfrm>
          <a:prstGeom prst="straightConnector1">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1" name="Oval 20"/>
          <p:cNvSpPr/>
          <p:nvPr/>
        </p:nvSpPr>
        <p:spPr>
          <a:xfrm>
            <a:off x="8605034" y="3574348"/>
            <a:ext cx="1362716" cy="374788"/>
          </a:xfrm>
          <a:prstGeom prst="ellipse">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23" name="TextBox 22"/>
          <p:cNvSpPr txBox="1"/>
          <p:nvPr/>
        </p:nvSpPr>
        <p:spPr>
          <a:xfrm>
            <a:off x="9102247" y="4191239"/>
            <a:ext cx="1085553" cy="338554"/>
          </a:xfrm>
          <a:prstGeom prst="rect">
            <a:avLst/>
          </a:prstGeom>
          <a:noFill/>
        </p:spPr>
        <p:txBody>
          <a:bodyPr wrap="square" rtlCol="0">
            <a:spAutoFit/>
          </a:bodyPr>
          <a:lstStyle/>
          <a:p>
            <a:r>
              <a:rPr lang="en-US" sz="1600" dirty="0">
                <a:latin typeface="Candara" panose="020E0502030303020204" pitchFamily="34" charset="0"/>
              </a:rPr>
              <a:t>Burnt fees</a:t>
            </a:r>
          </a:p>
        </p:txBody>
      </p:sp>
      <p:cxnSp>
        <p:nvCxnSpPr>
          <p:cNvPr id="24" name="Straight Arrow Connector 23"/>
          <p:cNvCxnSpPr/>
          <p:nvPr/>
        </p:nvCxnSpPr>
        <p:spPr>
          <a:xfrm flipH="1" flipV="1">
            <a:off x="9379681" y="3995197"/>
            <a:ext cx="191009" cy="311880"/>
          </a:xfrm>
          <a:prstGeom prst="straightConnector1">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5" name="Oval 24"/>
          <p:cNvSpPr/>
          <p:nvPr/>
        </p:nvSpPr>
        <p:spPr>
          <a:xfrm>
            <a:off x="5099714" y="1685674"/>
            <a:ext cx="750627" cy="401134"/>
          </a:xfrm>
          <a:prstGeom prst="ellipse">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Tree>
    <p:extLst>
      <p:ext uri="{BB962C8B-B14F-4D97-AF65-F5344CB8AC3E}">
        <p14:creationId xmlns:p14="http://schemas.microsoft.com/office/powerpoint/2010/main" val="1595499000"/>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14" grpId="0"/>
      <p:bldP spid="17" grpId="0" animBg="1"/>
      <p:bldP spid="18" grpId="0"/>
      <p:bldP spid="21" grpId="0" animBg="1"/>
      <p:bldP spid="23" grpId="0"/>
      <p:bldP spid="2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74FCB-93CB-2BB6-1595-31D54E7626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2DAE27-34F7-1EEB-768E-8620F85E2CD6}"/>
              </a:ext>
            </a:extLst>
          </p:cNvPr>
          <p:cNvSpPr>
            <a:spLocks noGrp="1"/>
          </p:cNvSpPr>
          <p:nvPr>
            <p:ph type="title"/>
          </p:nvPr>
        </p:nvSpPr>
        <p:spPr/>
        <p:txBody>
          <a:bodyPr/>
          <a:lstStyle/>
          <a:p>
            <a:r>
              <a:rPr lang="en-US" dirty="0"/>
              <a:t>Price vs Market Cap</a:t>
            </a:r>
          </a:p>
        </p:txBody>
      </p:sp>
      <p:sp>
        <p:nvSpPr>
          <p:cNvPr id="4" name="Slide Number Placeholder 3">
            <a:extLst>
              <a:ext uri="{FF2B5EF4-FFF2-40B4-BE49-F238E27FC236}">
                <a16:creationId xmlns:a16="http://schemas.microsoft.com/office/drawing/2014/main" id="{58CD0888-AA02-B46F-D98E-9F50FCEE44E3}"/>
              </a:ext>
            </a:extLst>
          </p:cNvPr>
          <p:cNvSpPr>
            <a:spLocks noGrp="1"/>
          </p:cNvSpPr>
          <p:nvPr>
            <p:ph type="sldNum" sz="quarter" idx="12"/>
          </p:nvPr>
        </p:nvSpPr>
        <p:spPr/>
        <p:txBody>
          <a:bodyPr/>
          <a:lstStyle/>
          <a:p>
            <a:fld id="{D57F1E4F-1CFF-5643-939E-217C01CDF565}" type="slidenum">
              <a:rPr lang="en-US" smtClean="0"/>
              <a:pPr/>
              <a:t>15</a:t>
            </a:fld>
            <a:endParaRPr lang="en-US" dirty="0"/>
          </a:p>
        </p:txBody>
      </p:sp>
      <p:pic>
        <p:nvPicPr>
          <p:cNvPr id="6" name="Picture 5">
            <a:extLst>
              <a:ext uri="{FF2B5EF4-FFF2-40B4-BE49-F238E27FC236}">
                <a16:creationId xmlns:a16="http://schemas.microsoft.com/office/drawing/2014/main" id="{46BCE927-47E2-6BFE-B12F-91C51CA70C44}"/>
              </a:ext>
            </a:extLst>
          </p:cNvPr>
          <p:cNvPicPr>
            <a:picLocks noChangeAspect="1"/>
          </p:cNvPicPr>
          <p:nvPr/>
        </p:nvPicPr>
        <p:blipFill>
          <a:blip r:embed="rId2"/>
          <a:stretch>
            <a:fillRect/>
          </a:stretch>
        </p:blipFill>
        <p:spPr>
          <a:xfrm>
            <a:off x="235491" y="1057247"/>
            <a:ext cx="6003039" cy="2752194"/>
          </a:xfrm>
          <a:prstGeom prst="rect">
            <a:avLst/>
          </a:prstGeom>
          <a:ln>
            <a:solidFill>
              <a:schemeClr val="tx1"/>
            </a:solidFill>
          </a:ln>
        </p:spPr>
      </p:pic>
      <p:pic>
        <p:nvPicPr>
          <p:cNvPr id="9" name="Picture 8">
            <a:extLst>
              <a:ext uri="{FF2B5EF4-FFF2-40B4-BE49-F238E27FC236}">
                <a16:creationId xmlns:a16="http://schemas.microsoft.com/office/drawing/2014/main" id="{9C202710-816B-CBE1-FACC-81E85353B70B}"/>
              </a:ext>
            </a:extLst>
          </p:cNvPr>
          <p:cNvPicPr>
            <a:picLocks noChangeAspect="1"/>
          </p:cNvPicPr>
          <p:nvPr/>
        </p:nvPicPr>
        <p:blipFill>
          <a:blip r:embed="rId3"/>
          <a:stretch>
            <a:fillRect/>
          </a:stretch>
        </p:blipFill>
        <p:spPr>
          <a:xfrm>
            <a:off x="235492" y="3980726"/>
            <a:ext cx="6003039" cy="2501948"/>
          </a:xfrm>
          <a:prstGeom prst="rect">
            <a:avLst/>
          </a:prstGeom>
          <a:ln>
            <a:solidFill>
              <a:schemeClr val="tx1"/>
            </a:solidFill>
          </a:ln>
        </p:spPr>
      </p:pic>
      <p:sp>
        <p:nvSpPr>
          <p:cNvPr id="10" name="TextBox 9">
            <a:extLst>
              <a:ext uri="{FF2B5EF4-FFF2-40B4-BE49-F238E27FC236}">
                <a16:creationId xmlns:a16="http://schemas.microsoft.com/office/drawing/2014/main" id="{C488F295-7807-52C7-9373-8CAB9FE93A4C}"/>
              </a:ext>
            </a:extLst>
          </p:cNvPr>
          <p:cNvSpPr txBox="1"/>
          <p:nvPr/>
        </p:nvSpPr>
        <p:spPr>
          <a:xfrm>
            <a:off x="6334787" y="1306977"/>
            <a:ext cx="5684760" cy="5016758"/>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Candara" panose="020E0502030303020204" pitchFamily="34" charset="0"/>
              </a:rPr>
              <a:t>ETH price = $3.8k, ETH current supply = 120.7 M</a:t>
            </a:r>
          </a:p>
          <a:p>
            <a:pPr marL="285750" indent="-285750">
              <a:buFont typeface="Arial" panose="020B0604020202020204" pitchFamily="34" charset="0"/>
              <a:buChar char="•"/>
            </a:pPr>
            <a:r>
              <a:rPr lang="en-US" sz="2000" dirty="0">
                <a:latin typeface="Candara" panose="020E0502030303020204" pitchFamily="34" charset="0"/>
              </a:rPr>
              <a:t>BTC price = $110k, BTC current supply = 19.7 M</a:t>
            </a:r>
          </a:p>
          <a:p>
            <a:pPr marL="285750" indent="-285750">
              <a:buFont typeface="Arial" panose="020B0604020202020204" pitchFamily="34" charset="0"/>
              <a:buChar char="•"/>
            </a:pPr>
            <a:endParaRPr lang="en-US" sz="2000" dirty="0">
              <a:latin typeface="Candara" panose="020E0502030303020204" pitchFamily="34" charset="0"/>
            </a:endParaRPr>
          </a:p>
          <a:p>
            <a:pPr marL="285750" indent="-285750">
              <a:buFont typeface="Arial" panose="020B0604020202020204" pitchFamily="34" charset="0"/>
              <a:buChar char="•"/>
            </a:pPr>
            <a:r>
              <a:rPr lang="en-US" sz="2000" dirty="0">
                <a:solidFill>
                  <a:srgbClr val="7030A0"/>
                </a:solidFill>
                <a:latin typeface="Candara" panose="020E0502030303020204" pitchFamily="34" charset="0"/>
              </a:rPr>
              <a:t>Market Capitalization (cap): Price x Supply</a:t>
            </a:r>
          </a:p>
          <a:p>
            <a:pPr marL="285750" indent="-285750">
              <a:buFont typeface="Arial" panose="020B0604020202020204" pitchFamily="34" charset="0"/>
              <a:buChar char="•"/>
            </a:pPr>
            <a:endParaRPr lang="en-US" sz="2000" dirty="0">
              <a:latin typeface="Candara" panose="020E0502030303020204" pitchFamily="34" charset="0"/>
            </a:endParaRPr>
          </a:p>
          <a:p>
            <a:pPr marL="285750" indent="-285750">
              <a:buFont typeface="Arial" panose="020B0604020202020204" pitchFamily="34" charset="0"/>
              <a:buChar char="•"/>
            </a:pPr>
            <a:r>
              <a:rPr lang="en-US" sz="2000" dirty="0">
                <a:latin typeface="Candara" panose="020E0502030303020204" pitchFamily="34" charset="0"/>
              </a:rPr>
              <a:t>ETH market cap: $458B (~ $500B)</a:t>
            </a:r>
          </a:p>
          <a:p>
            <a:pPr marL="285750" indent="-285750">
              <a:buFont typeface="Arial" panose="020B0604020202020204" pitchFamily="34" charset="0"/>
              <a:buChar char="•"/>
            </a:pPr>
            <a:r>
              <a:rPr lang="en-US" sz="2000" dirty="0">
                <a:latin typeface="Candara" panose="020E0502030303020204" pitchFamily="34" charset="0"/>
              </a:rPr>
              <a:t>BTC market cap: $2.16T  </a:t>
            </a:r>
          </a:p>
          <a:p>
            <a:pPr marL="285750" indent="-285750">
              <a:buFont typeface="Arial" panose="020B0604020202020204" pitchFamily="34" charset="0"/>
              <a:buChar char="•"/>
            </a:pPr>
            <a:endParaRPr lang="en-US" sz="2000" dirty="0">
              <a:solidFill>
                <a:srgbClr val="7030A0"/>
              </a:solidFill>
              <a:latin typeface="Candara" panose="020E0502030303020204" pitchFamily="34" charset="0"/>
            </a:endParaRPr>
          </a:p>
          <a:p>
            <a:pPr marL="285750" indent="-285750">
              <a:buFont typeface="Arial" panose="020B0604020202020204" pitchFamily="34" charset="0"/>
              <a:buChar char="•"/>
            </a:pPr>
            <a:r>
              <a:rPr lang="en-US" sz="2000" dirty="0">
                <a:solidFill>
                  <a:srgbClr val="7030A0"/>
                </a:solidFill>
                <a:latin typeface="Candara" panose="020E0502030303020204" pitchFamily="34" charset="0"/>
              </a:rPr>
              <a:t>Bitcoin is roughly four times as valuable as Ethereum</a:t>
            </a:r>
          </a:p>
          <a:p>
            <a:pPr marL="285750" indent="-285750">
              <a:buFont typeface="Arial" panose="020B0604020202020204" pitchFamily="34" charset="0"/>
              <a:buChar char="•"/>
            </a:pPr>
            <a:endParaRPr lang="en-US" sz="2000" dirty="0">
              <a:latin typeface="Candara" panose="020E0502030303020204" pitchFamily="34" charset="0"/>
            </a:endParaRPr>
          </a:p>
          <a:p>
            <a:pPr marL="285750" indent="-285750">
              <a:buFont typeface="Arial" panose="020B0604020202020204" pitchFamily="34" charset="0"/>
              <a:buChar char="•"/>
            </a:pPr>
            <a:r>
              <a:rPr lang="en-US" sz="2000" dirty="0">
                <a:latin typeface="Candara" panose="020E0502030303020204" pitchFamily="34" charset="0"/>
              </a:rPr>
              <a:t>Market cap provides a more complete picture of a network’s overall worth </a:t>
            </a:r>
          </a:p>
          <a:p>
            <a:pPr marL="285750" indent="-285750">
              <a:buFont typeface="Arial" panose="020B0604020202020204" pitchFamily="34" charset="0"/>
              <a:buChar char="•"/>
            </a:pPr>
            <a:endParaRPr lang="en-US" sz="2000" dirty="0">
              <a:latin typeface="Candara" panose="020E0502030303020204" pitchFamily="34" charset="0"/>
            </a:endParaRPr>
          </a:p>
          <a:p>
            <a:pPr marL="285750" indent="-285750">
              <a:buFont typeface="Arial" panose="020B0604020202020204" pitchFamily="34" charset="0"/>
              <a:buChar char="•"/>
            </a:pPr>
            <a:r>
              <a:rPr lang="en-US" sz="2000" dirty="0">
                <a:latin typeface="Candara" panose="020E0502030303020204" pitchFamily="34" charset="0"/>
              </a:rPr>
              <a:t>Bitcoin market cap has increased more rapidly in recent years compared to ETH</a:t>
            </a:r>
          </a:p>
        </p:txBody>
      </p:sp>
    </p:spTree>
    <p:extLst>
      <p:ext uri="{BB962C8B-B14F-4D97-AF65-F5344CB8AC3E}">
        <p14:creationId xmlns:p14="http://schemas.microsoft.com/office/powerpoint/2010/main" val="2114209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211C6-D9D8-2508-5D3B-899D0A4533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C98C92-18D7-9177-1BC1-880F9317E422}"/>
              </a:ext>
            </a:extLst>
          </p:cNvPr>
          <p:cNvSpPr>
            <a:spLocks noGrp="1"/>
          </p:cNvSpPr>
          <p:nvPr>
            <p:ph type="title"/>
          </p:nvPr>
        </p:nvSpPr>
        <p:spPr/>
        <p:txBody>
          <a:bodyPr/>
          <a:lstStyle/>
          <a:p>
            <a:r>
              <a:rPr lang="en-PK" dirty="0">
                <a:latin typeface="+mn-lt"/>
              </a:rPr>
              <a:t>Lecture </a:t>
            </a:r>
            <a:r>
              <a:rPr lang="en-US" dirty="0">
                <a:latin typeface="+mn-lt"/>
              </a:rPr>
              <a:t>22</a:t>
            </a:r>
            <a:br>
              <a:rPr lang="en-PK" dirty="0">
                <a:latin typeface="+mn-lt"/>
              </a:rPr>
            </a:br>
            <a:r>
              <a:rPr lang="en-US" dirty="0">
                <a:latin typeface="+mn-lt"/>
              </a:rPr>
              <a:t>Thursday</a:t>
            </a:r>
            <a:r>
              <a:rPr lang="en-PK" dirty="0">
                <a:latin typeface="+mn-lt"/>
              </a:rPr>
              <a:t>, </a:t>
            </a:r>
            <a:r>
              <a:rPr lang="en-US" dirty="0">
                <a:latin typeface="+mn-lt"/>
              </a:rPr>
              <a:t>Apr</a:t>
            </a:r>
            <a:r>
              <a:rPr lang="en-PK" dirty="0">
                <a:latin typeface="+mn-lt"/>
              </a:rPr>
              <a:t> </a:t>
            </a:r>
            <a:r>
              <a:rPr lang="en-US" dirty="0">
                <a:latin typeface="+mn-lt"/>
              </a:rPr>
              <a:t>16</a:t>
            </a:r>
            <a:r>
              <a:rPr lang="en-PK" dirty="0">
                <a:latin typeface="+mn-lt"/>
              </a:rPr>
              <a:t>, 202</a:t>
            </a:r>
            <a:r>
              <a:rPr lang="en-US" dirty="0">
                <a:latin typeface="+mn-lt"/>
              </a:rPr>
              <a:t>6</a:t>
            </a:r>
            <a:endParaRPr lang="en-PK" dirty="0">
              <a:latin typeface="+mn-lt"/>
            </a:endParaRPr>
          </a:p>
        </p:txBody>
      </p:sp>
      <p:sp>
        <p:nvSpPr>
          <p:cNvPr id="4" name="Slide Number Placeholder 3">
            <a:extLst>
              <a:ext uri="{FF2B5EF4-FFF2-40B4-BE49-F238E27FC236}">
                <a16:creationId xmlns:a16="http://schemas.microsoft.com/office/drawing/2014/main" id="{36E9D74D-C0FA-BCDA-F3F9-FCC85D78BA3F}"/>
              </a:ext>
            </a:extLst>
          </p:cNvPr>
          <p:cNvSpPr>
            <a:spLocks noGrp="1"/>
          </p:cNvSpPr>
          <p:nvPr>
            <p:ph type="sldNum" sz="quarter" idx="12"/>
          </p:nvPr>
        </p:nvSpPr>
        <p:spPr/>
        <p:txBody>
          <a:bodyPr/>
          <a:lstStyle/>
          <a:p>
            <a:fld id="{D57F1E4F-1CFF-5643-939E-217C01CDF565}" type="slidenum">
              <a:rPr lang="en-US" smtClean="0"/>
              <a:pPr/>
              <a:t>16</a:t>
            </a:fld>
            <a:endParaRPr lang="en-US" dirty="0"/>
          </a:p>
        </p:txBody>
      </p:sp>
    </p:spTree>
    <p:extLst>
      <p:ext uri="{BB962C8B-B14F-4D97-AF65-F5344CB8AC3E}">
        <p14:creationId xmlns:p14="http://schemas.microsoft.com/office/powerpoint/2010/main" val="33601500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25410" y="2049740"/>
            <a:ext cx="7765367" cy="1905750"/>
          </a:xfrm>
        </p:spPr>
        <p:txBody>
          <a:bodyPr>
            <a:normAutofit/>
          </a:bodyPr>
          <a:lstStyle/>
          <a:p>
            <a:r>
              <a:rPr lang="en-US" sz="4000" dirty="0"/>
              <a:t>Ethereum: Technical Details</a:t>
            </a:r>
          </a:p>
        </p:txBody>
      </p:sp>
    </p:spTree>
    <p:extLst>
      <p:ext uri="{BB962C8B-B14F-4D97-AF65-F5344CB8AC3E}">
        <p14:creationId xmlns:p14="http://schemas.microsoft.com/office/powerpoint/2010/main" val="16115989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Account Types in Ethereum</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18</a:t>
            </a:fld>
            <a:endParaRPr lang="en-US" dirty="0">
              <a:latin typeface="Candara" panose="020E0502030303020204" pitchFamily="34" charset="0"/>
            </a:endParaRPr>
          </a:p>
        </p:txBody>
      </p:sp>
      <p:sp>
        <p:nvSpPr>
          <p:cNvPr id="7" name="Rectangle 6"/>
          <p:cNvSpPr/>
          <p:nvPr/>
        </p:nvSpPr>
        <p:spPr>
          <a:xfrm>
            <a:off x="770019" y="5776473"/>
            <a:ext cx="10838162" cy="707886"/>
          </a:xfrm>
          <a:prstGeom prst="rect">
            <a:avLst/>
          </a:prstGeom>
        </p:spPr>
        <p:txBody>
          <a:bodyPr wrap="square">
            <a:spAutoFit/>
          </a:bodyPr>
          <a:lstStyle/>
          <a:p>
            <a:pPr lvl="0" algn="ctr">
              <a:defRPr/>
            </a:pPr>
            <a:r>
              <a:rPr lang="en-US" sz="2000" dirty="0">
                <a:latin typeface="Candara" panose="020E0502030303020204" pitchFamily="34" charset="0"/>
              </a:rPr>
              <a:t>RLP (recursive length prefix) is an encoding or serialization technique while Keccak-256 is the hashing algorithm used by Ethereum</a:t>
            </a:r>
          </a:p>
        </p:txBody>
      </p:sp>
      <p:sp>
        <p:nvSpPr>
          <p:cNvPr id="8" name="Content Placeholder 2"/>
          <p:cNvSpPr txBox="1">
            <a:spLocks/>
          </p:cNvSpPr>
          <p:nvPr/>
        </p:nvSpPr>
        <p:spPr>
          <a:xfrm>
            <a:off x="632550" y="999069"/>
            <a:ext cx="10660791" cy="868089"/>
          </a:xfrm>
          <a:prstGeom prst="rect">
            <a:avLst/>
          </a:prstGeom>
          <a:ln>
            <a:noFill/>
          </a:ln>
        </p:spPr>
        <p:txBody>
          <a:bodyPr vert="horz" lIns="91438" tIns="45719" rIns="91438" bIns="45719" rtlCol="0">
            <a:normAutofit/>
          </a:bodyPr>
          <a:lstStyle>
            <a:lvl1pPr marL="171446" indent="-171446" algn="l" defTabSz="685783" rtl="0" eaLnBrk="1" latinLnBrk="0" hangingPunct="1">
              <a:lnSpc>
                <a:spcPct val="100000"/>
              </a:lnSpc>
              <a:spcBef>
                <a:spcPts val="750"/>
              </a:spcBef>
              <a:buFont typeface="Arial" panose="020B0604020202020204" pitchFamily="34" charset="0"/>
              <a:buChar char="•"/>
              <a:defRPr sz="2200" kern="1200">
                <a:solidFill>
                  <a:schemeClr val="tx1"/>
                </a:solidFill>
                <a:latin typeface="+mn-lt"/>
                <a:ea typeface="+mn-ea"/>
                <a:cs typeface="+mn-cs"/>
              </a:defRPr>
            </a:lvl1pPr>
            <a:lvl2pPr marL="514337" indent="-171446" algn="l" defTabSz="685783" rtl="0" eaLnBrk="1" latinLnBrk="0" hangingPunct="1">
              <a:lnSpc>
                <a:spcPct val="10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28" indent="-171446" algn="l" defTabSz="685783" rtl="0" eaLnBrk="1" latinLnBrk="0" hangingPunct="1">
              <a:lnSpc>
                <a:spcPct val="100000"/>
              </a:lnSpc>
              <a:spcBef>
                <a:spcPts val="375"/>
              </a:spcBef>
              <a:buFont typeface="Arial" panose="020B0604020202020204" pitchFamily="34" charset="0"/>
              <a:buChar char="•"/>
              <a:defRPr sz="1600" kern="1200">
                <a:solidFill>
                  <a:schemeClr val="tx1"/>
                </a:solidFill>
                <a:latin typeface="+mn-lt"/>
                <a:ea typeface="+mn-ea"/>
                <a:cs typeface="+mn-cs"/>
              </a:defRPr>
            </a:lvl3pPr>
            <a:lvl4pPr marL="1200120" indent="-171446" algn="l" defTabSz="685783" rtl="0" eaLnBrk="1" latinLnBrk="0" hangingPunct="1">
              <a:lnSpc>
                <a:spcPct val="100000"/>
              </a:lnSpc>
              <a:spcBef>
                <a:spcPts val="375"/>
              </a:spcBef>
              <a:buFont typeface="Arial" panose="020B0604020202020204" pitchFamily="34" charset="0"/>
              <a:buChar char="•"/>
              <a:defRPr sz="1500" kern="1200">
                <a:solidFill>
                  <a:schemeClr val="tx1"/>
                </a:solidFill>
                <a:latin typeface="+mn-lt"/>
                <a:ea typeface="+mn-ea"/>
                <a:cs typeface="+mn-cs"/>
              </a:defRPr>
            </a:lvl4pPr>
            <a:lvl5pPr marL="1543012" indent="-171446" algn="l" defTabSz="685783" rtl="0" eaLnBrk="1" latinLnBrk="0" hangingPunct="1">
              <a:lnSpc>
                <a:spcPct val="100000"/>
              </a:lnSpc>
              <a:spcBef>
                <a:spcPts val="375"/>
              </a:spcBef>
              <a:buFont typeface="Arial" panose="020B0604020202020204" pitchFamily="34" charset="0"/>
              <a:buChar char="•"/>
              <a:defRPr sz="1500" kern="1200">
                <a:solidFill>
                  <a:schemeClr val="tx1"/>
                </a:solidFill>
                <a:latin typeface="+mn-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9pPr>
          </a:lstStyle>
          <a:p>
            <a:r>
              <a:rPr lang="en-US" sz="2000" dirty="0">
                <a:solidFill>
                  <a:srgbClr val="002060"/>
                </a:solidFill>
                <a:latin typeface="Candara" panose="020E0502030303020204" pitchFamily="34" charset="0"/>
              </a:rPr>
              <a:t>Ethereum uses account based model and there are no UTXOs like Bitcoin</a:t>
            </a:r>
          </a:p>
          <a:p>
            <a:r>
              <a:rPr lang="en-US" sz="2000" dirty="0">
                <a:latin typeface="Candara" panose="020E0502030303020204" pitchFamily="34" charset="0"/>
              </a:rPr>
              <a:t>There are two types of Ethereum accounts </a:t>
            </a:r>
          </a:p>
        </p:txBody>
      </p:sp>
      <p:grpSp>
        <p:nvGrpSpPr>
          <p:cNvPr id="27" name="Group 26"/>
          <p:cNvGrpSpPr/>
          <p:nvPr/>
        </p:nvGrpSpPr>
        <p:grpSpPr>
          <a:xfrm>
            <a:off x="869323" y="1919500"/>
            <a:ext cx="4761503" cy="3705226"/>
            <a:chOff x="434140" y="2315483"/>
            <a:chExt cx="3577387" cy="3705226"/>
          </a:xfrm>
        </p:grpSpPr>
        <p:sp>
          <p:nvSpPr>
            <p:cNvPr id="3" name="Rectangle 2"/>
            <p:cNvSpPr/>
            <p:nvPr/>
          </p:nvSpPr>
          <p:spPr>
            <a:xfrm>
              <a:off x="434140" y="2315484"/>
              <a:ext cx="3544302" cy="3705225"/>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9" name="Rectangle 8"/>
            <p:cNvSpPr/>
            <p:nvPr/>
          </p:nvSpPr>
          <p:spPr>
            <a:xfrm>
              <a:off x="538413" y="2315483"/>
              <a:ext cx="3335755" cy="5560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andara" panose="020E0502030303020204" pitchFamily="34" charset="0"/>
                </a:rPr>
                <a:t>Externally Owned Account (EOA)</a:t>
              </a:r>
            </a:p>
          </p:txBody>
        </p:sp>
        <p:sp>
          <p:nvSpPr>
            <p:cNvPr id="10" name="Rectangle 9"/>
            <p:cNvSpPr/>
            <p:nvPr/>
          </p:nvSpPr>
          <p:spPr>
            <a:xfrm>
              <a:off x="1196788" y="2906774"/>
              <a:ext cx="2019003" cy="5560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andara" panose="020E0502030303020204" pitchFamily="34" charset="0"/>
                </a:rPr>
                <a:t>Private Key</a:t>
              </a:r>
            </a:p>
          </p:txBody>
        </p:sp>
        <p:sp>
          <p:nvSpPr>
            <p:cNvPr id="11" name="Rectangle 10"/>
            <p:cNvSpPr/>
            <p:nvPr/>
          </p:nvSpPr>
          <p:spPr>
            <a:xfrm>
              <a:off x="1196788" y="4001231"/>
              <a:ext cx="2019003" cy="5560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andara" panose="020E0502030303020204" pitchFamily="34" charset="0"/>
                </a:rPr>
                <a:t>Public Key</a:t>
              </a:r>
            </a:p>
          </p:txBody>
        </p:sp>
        <p:sp>
          <p:nvSpPr>
            <p:cNvPr id="12" name="Oval 11"/>
            <p:cNvSpPr/>
            <p:nvPr/>
          </p:nvSpPr>
          <p:spPr>
            <a:xfrm>
              <a:off x="1196788" y="5398670"/>
              <a:ext cx="2019003" cy="52066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Address </a:t>
              </a:r>
            </a:p>
            <a:p>
              <a:pPr algn="ctr"/>
              <a:r>
                <a:rPr lang="en-US" sz="1600" dirty="0">
                  <a:solidFill>
                    <a:schemeClr val="tx1"/>
                  </a:solidFill>
                  <a:latin typeface="Candara" panose="020E0502030303020204" pitchFamily="34" charset="0"/>
                </a:rPr>
                <a:t>(160 bits)</a:t>
              </a:r>
            </a:p>
          </p:txBody>
        </p:sp>
        <p:cxnSp>
          <p:nvCxnSpPr>
            <p:cNvPr id="14" name="Straight Arrow Connector 13"/>
            <p:cNvCxnSpPr/>
            <p:nvPr/>
          </p:nvCxnSpPr>
          <p:spPr>
            <a:xfrm>
              <a:off x="2206290" y="3512748"/>
              <a:ext cx="0" cy="422521"/>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2222833" y="4640674"/>
              <a:ext cx="0" cy="748521"/>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pic>
          <p:nvPicPr>
            <p:cNvPr id="16" name="Picture 15"/>
            <p:cNvPicPr>
              <a:picLocks noChangeAspect="1"/>
            </p:cNvPicPr>
            <p:nvPr/>
          </p:nvPicPr>
          <p:blipFill>
            <a:blip r:embed="rId3"/>
            <a:stretch>
              <a:fillRect/>
            </a:stretch>
          </p:blipFill>
          <p:spPr>
            <a:xfrm>
              <a:off x="656163" y="3018641"/>
              <a:ext cx="381000" cy="419100"/>
            </a:xfrm>
            <a:prstGeom prst="rect">
              <a:avLst/>
            </a:prstGeom>
          </p:spPr>
        </p:pic>
        <p:pic>
          <p:nvPicPr>
            <p:cNvPr id="17" name="Picture 16"/>
            <p:cNvPicPr>
              <a:picLocks noChangeAspect="1"/>
            </p:cNvPicPr>
            <p:nvPr/>
          </p:nvPicPr>
          <p:blipFill>
            <a:blip r:embed="rId3"/>
            <a:stretch>
              <a:fillRect/>
            </a:stretch>
          </p:blipFill>
          <p:spPr>
            <a:xfrm>
              <a:off x="712930" y="4069708"/>
              <a:ext cx="381000" cy="419100"/>
            </a:xfrm>
            <a:prstGeom prst="rect">
              <a:avLst/>
            </a:prstGeom>
          </p:spPr>
        </p:pic>
        <p:sp>
          <p:nvSpPr>
            <p:cNvPr id="18" name="TextBox 17"/>
            <p:cNvSpPr txBox="1"/>
            <p:nvPr/>
          </p:nvSpPr>
          <p:spPr>
            <a:xfrm>
              <a:off x="2278036" y="4640674"/>
              <a:ext cx="1733491" cy="738664"/>
            </a:xfrm>
            <a:prstGeom prst="rect">
              <a:avLst/>
            </a:prstGeom>
            <a:noFill/>
          </p:spPr>
          <p:txBody>
            <a:bodyPr wrap="square" rtlCol="0">
              <a:spAutoFit/>
            </a:bodyPr>
            <a:lstStyle/>
            <a:p>
              <a:r>
                <a:rPr lang="en-US" sz="1400" dirty="0">
                  <a:latin typeface="Candara" panose="020E0502030303020204" pitchFamily="34" charset="0"/>
                </a:rPr>
                <a:t>Keccak-256 Hash [right 160 bits only as EOA address]</a:t>
              </a:r>
            </a:p>
          </p:txBody>
        </p:sp>
      </p:grpSp>
      <p:grpSp>
        <p:nvGrpSpPr>
          <p:cNvPr id="28" name="Group 27"/>
          <p:cNvGrpSpPr/>
          <p:nvPr/>
        </p:nvGrpSpPr>
        <p:grpSpPr>
          <a:xfrm>
            <a:off x="6561175" y="1816844"/>
            <a:ext cx="4998275" cy="3807882"/>
            <a:chOff x="4343942" y="2193799"/>
            <a:chExt cx="4130805" cy="3807882"/>
          </a:xfrm>
        </p:grpSpPr>
        <p:sp>
          <p:nvSpPr>
            <p:cNvPr id="20" name="Rectangle 19"/>
            <p:cNvSpPr/>
            <p:nvPr/>
          </p:nvSpPr>
          <p:spPr>
            <a:xfrm>
              <a:off x="4343942" y="2296456"/>
              <a:ext cx="4116612" cy="3705225"/>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21" name="Rectangle 20"/>
            <p:cNvSpPr/>
            <p:nvPr/>
          </p:nvSpPr>
          <p:spPr>
            <a:xfrm>
              <a:off x="4495839" y="2765531"/>
              <a:ext cx="2019003" cy="98666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andara" panose="020E0502030303020204" pitchFamily="34" charset="0"/>
                </a:rPr>
                <a:t>Sender’s address that deploys contract</a:t>
              </a:r>
            </a:p>
            <a:p>
              <a:pPr algn="ctr"/>
              <a:r>
                <a:rPr lang="en-US" sz="1600" b="1" dirty="0">
                  <a:solidFill>
                    <a:schemeClr val="tx1"/>
                  </a:solidFill>
                  <a:latin typeface="Candara" panose="020E0502030303020204" pitchFamily="34" charset="0"/>
                </a:rPr>
                <a:t>(sender can be EOA or another contract)</a:t>
              </a:r>
            </a:p>
          </p:txBody>
        </p:sp>
        <p:sp>
          <p:nvSpPr>
            <p:cNvPr id="22" name="Rectangle 21"/>
            <p:cNvSpPr/>
            <p:nvPr/>
          </p:nvSpPr>
          <p:spPr>
            <a:xfrm>
              <a:off x="4734369" y="2193799"/>
              <a:ext cx="3335755" cy="5560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andara" panose="020E0502030303020204" pitchFamily="34" charset="0"/>
                </a:rPr>
                <a:t>Contract Account (CA)</a:t>
              </a:r>
            </a:p>
          </p:txBody>
        </p:sp>
        <p:sp>
          <p:nvSpPr>
            <p:cNvPr id="23" name="Rectangle 22"/>
            <p:cNvSpPr/>
            <p:nvPr/>
          </p:nvSpPr>
          <p:spPr>
            <a:xfrm>
              <a:off x="6666739" y="2904507"/>
              <a:ext cx="1544518" cy="5560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andara" panose="020E0502030303020204" pitchFamily="34" charset="0"/>
                </a:rPr>
                <a:t>Sender’s Nonce</a:t>
              </a:r>
            </a:p>
          </p:txBody>
        </p:sp>
        <p:cxnSp>
          <p:nvCxnSpPr>
            <p:cNvPr id="24" name="Straight Arrow Connector 23"/>
            <p:cNvCxnSpPr/>
            <p:nvPr/>
          </p:nvCxnSpPr>
          <p:spPr>
            <a:xfrm flipH="1">
              <a:off x="6209742" y="3935269"/>
              <a:ext cx="5078" cy="1397624"/>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5" name="Oval 24"/>
            <p:cNvSpPr/>
            <p:nvPr/>
          </p:nvSpPr>
          <p:spPr>
            <a:xfrm>
              <a:off x="5392746" y="5379338"/>
              <a:ext cx="2019003" cy="52066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Address </a:t>
              </a:r>
            </a:p>
            <a:p>
              <a:pPr algn="ctr"/>
              <a:r>
                <a:rPr lang="en-US" sz="1600" dirty="0">
                  <a:solidFill>
                    <a:schemeClr val="tx1"/>
                  </a:solidFill>
                  <a:latin typeface="Candara" panose="020E0502030303020204" pitchFamily="34" charset="0"/>
                </a:rPr>
                <a:t>(160 bits)</a:t>
              </a:r>
            </a:p>
          </p:txBody>
        </p:sp>
        <p:sp>
          <p:nvSpPr>
            <p:cNvPr id="26" name="TextBox 25"/>
            <p:cNvSpPr txBox="1"/>
            <p:nvPr/>
          </p:nvSpPr>
          <p:spPr>
            <a:xfrm>
              <a:off x="6240739" y="4115923"/>
              <a:ext cx="2234008" cy="954107"/>
            </a:xfrm>
            <a:prstGeom prst="rect">
              <a:avLst/>
            </a:prstGeom>
            <a:noFill/>
          </p:spPr>
          <p:txBody>
            <a:bodyPr wrap="square" rtlCol="0">
              <a:spAutoFit/>
            </a:bodyPr>
            <a:lstStyle/>
            <a:p>
              <a:r>
                <a:rPr lang="en-US" sz="1400" dirty="0">
                  <a:latin typeface="Candara" panose="020E0502030303020204" pitchFamily="34" charset="0"/>
                </a:rPr>
                <a:t>Keccak(RLP(</a:t>
              </a:r>
              <a:r>
                <a:rPr lang="en-US" sz="1400" dirty="0" err="1">
                  <a:latin typeface="Candara" panose="020E0502030303020204" pitchFamily="34" charset="0"/>
                </a:rPr>
                <a:t>Sender_address+Sender_nonce</a:t>
              </a:r>
              <a:r>
                <a:rPr lang="en-US" sz="1400" dirty="0">
                  <a:latin typeface="Candara" panose="020E0502030303020204" pitchFamily="34" charset="0"/>
                </a:rPr>
                <a:t>)) </a:t>
              </a:r>
            </a:p>
            <a:p>
              <a:r>
                <a:rPr lang="en-US" sz="1400" dirty="0">
                  <a:latin typeface="Candara" panose="020E0502030303020204" pitchFamily="34" charset="0"/>
                </a:rPr>
                <a:t>[right 160 bits only as CA address]</a:t>
              </a:r>
            </a:p>
          </p:txBody>
        </p:sp>
      </p:grpSp>
    </p:spTree>
    <p:extLst>
      <p:ext uri="{BB962C8B-B14F-4D97-AF65-F5344CB8AC3E}">
        <p14:creationId xmlns:p14="http://schemas.microsoft.com/office/powerpoint/2010/main" val="2899866124"/>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Externally Owned Account (EOA)</a:t>
            </a:r>
          </a:p>
        </p:txBody>
      </p:sp>
      <p:sp>
        <p:nvSpPr>
          <p:cNvPr id="3" name="Content Placeholder 2"/>
          <p:cNvSpPr>
            <a:spLocks noGrp="1"/>
          </p:cNvSpPr>
          <p:nvPr>
            <p:ph idx="1"/>
          </p:nvPr>
        </p:nvSpPr>
        <p:spPr>
          <a:xfrm>
            <a:off x="847401" y="1056197"/>
            <a:ext cx="10497198" cy="495873"/>
          </a:xfrm>
          <a:solidFill>
            <a:srgbClr val="7030A0"/>
          </a:solidFill>
        </p:spPr>
        <p:txBody>
          <a:bodyPr anchor="ctr" anchorCtr="0">
            <a:noAutofit/>
          </a:bodyPr>
          <a:lstStyle/>
          <a:p>
            <a:pPr marL="0" indent="0" algn="ctr">
              <a:buNone/>
            </a:pPr>
            <a:r>
              <a:rPr lang="en-US" sz="2800" dirty="0">
                <a:solidFill>
                  <a:schemeClr val="bg1"/>
                </a:solidFill>
              </a:rPr>
              <a:t>A user or a wallet can create an EOA: </a:t>
            </a:r>
            <a:r>
              <a:rPr lang="en-US" sz="2800" u="sng" dirty="0">
                <a:solidFill>
                  <a:schemeClr val="bg1"/>
                </a:solidFill>
              </a:rPr>
              <a:t>Creating an EOA costs nothing</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19</a:t>
            </a:fld>
            <a:endParaRPr lang="en-US" dirty="0">
              <a:latin typeface="Candara" panose="020E0502030303020204" pitchFamily="34" charset="0"/>
            </a:endParaRPr>
          </a:p>
        </p:txBody>
      </p:sp>
      <p:sp>
        <p:nvSpPr>
          <p:cNvPr id="5" name="Rectangle 4"/>
          <p:cNvSpPr/>
          <p:nvPr/>
        </p:nvSpPr>
        <p:spPr>
          <a:xfrm>
            <a:off x="487680" y="2122023"/>
            <a:ext cx="6118430" cy="4154984"/>
          </a:xfrm>
          <a:prstGeom prst="rect">
            <a:avLst/>
          </a:prstGeom>
          <a:ln>
            <a:noFill/>
          </a:ln>
        </p:spPr>
        <p:txBody>
          <a:bodyPr wrap="square" anchor="ctr" anchorCtr="0">
            <a:normAutofit/>
          </a:bodyPr>
          <a:lstStyle/>
          <a:p>
            <a:pPr marL="342900" indent="-342900">
              <a:buFont typeface="Arial" panose="020B0604020202020204" pitchFamily="34" charset="0"/>
              <a:buChar char="•"/>
            </a:pPr>
            <a:r>
              <a:rPr lang="en-US" sz="2200" dirty="0">
                <a:latin typeface="Candara" panose="020E0502030303020204" pitchFamily="34" charset="0"/>
              </a:rPr>
              <a:t>EOA is made up of a cryptographic key pair: public and private </a:t>
            </a:r>
          </a:p>
          <a:p>
            <a:pPr marL="342900" indent="-342900">
              <a:buFont typeface="Arial" panose="020B0604020202020204" pitchFamily="34" charset="0"/>
              <a:buChar char="•"/>
            </a:pPr>
            <a:r>
              <a:rPr lang="en-US" sz="2200" dirty="0">
                <a:latin typeface="Candara" panose="020E0502030303020204" pitchFamily="34" charset="0"/>
              </a:rPr>
              <a:t>First a private key (32B) is generated whose purpose is to sign the transactions (like Bitcoin) – it is randomly generated from a seed </a:t>
            </a:r>
          </a:p>
          <a:p>
            <a:pPr marL="342900" indent="-342900">
              <a:buFont typeface="Arial" panose="020B0604020202020204" pitchFamily="34" charset="0"/>
              <a:buChar char="•"/>
            </a:pPr>
            <a:r>
              <a:rPr lang="en-US" sz="2200" dirty="0">
                <a:latin typeface="Candara" panose="020E0502030303020204" pitchFamily="34" charset="0"/>
              </a:rPr>
              <a:t>A public key (64B) is derived from the private key using Elliptic curve digital signature algorithm (ECDSA) </a:t>
            </a:r>
          </a:p>
          <a:p>
            <a:pPr marL="342900" indent="-342900">
              <a:buFont typeface="Arial" panose="020B0604020202020204" pitchFamily="34" charset="0"/>
              <a:buChar char="•"/>
            </a:pPr>
            <a:r>
              <a:rPr lang="en-US" sz="2200" dirty="0">
                <a:latin typeface="Candara" panose="020E0502030303020204" pitchFamily="34" charset="0"/>
              </a:rPr>
              <a:t>Account address (20B) is the last 160 bits of the Keccak-256 hash of the public key</a:t>
            </a:r>
          </a:p>
        </p:txBody>
      </p:sp>
      <p:sp>
        <p:nvSpPr>
          <p:cNvPr id="6" name="Rectangle 5"/>
          <p:cNvSpPr/>
          <p:nvPr/>
        </p:nvSpPr>
        <p:spPr>
          <a:xfrm>
            <a:off x="7285084" y="3218786"/>
            <a:ext cx="4059515" cy="1938992"/>
          </a:xfrm>
          <a:prstGeom prst="rect">
            <a:avLst/>
          </a:prstGeom>
          <a:ln>
            <a:solidFill>
              <a:schemeClr val="tx1"/>
            </a:solidFill>
          </a:ln>
        </p:spPr>
        <p:txBody>
          <a:bodyPr wrap="square" anchor="ctr" anchorCtr="0">
            <a:spAutoFit/>
          </a:bodyPr>
          <a:lstStyle/>
          <a:p>
            <a:pPr marL="342900" indent="-342900">
              <a:buFont typeface="Arial" panose="020B0604020202020204" pitchFamily="34" charset="0"/>
              <a:buChar char="•"/>
            </a:pPr>
            <a:r>
              <a:rPr lang="en-US" sz="2000" dirty="0">
                <a:solidFill>
                  <a:srgbClr val="002060"/>
                </a:solidFill>
                <a:latin typeface="Candara" panose="020E0502030303020204" pitchFamily="34" charset="0"/>
              </a:rPr>
              <a:t>Can initiate </a:t>
            </a:r>
            <a:r>
              <a:rPr lang="en-US" sz="2000" dirty="0" err="1">
                <a:solidFill>
                  <a:srgbClr val="002060"/>
                </a:solidFill>
                <a:latin typeface="Candara" panose="020E0502030303020204" pitchFamily="34" charset="0"/>
              </a:rPr>
              <a:t>txns</a:t>
            </a:r>
            <a:r>
              <a:rPr lang="en-US" sz="2000" dirty="0">
                <a:solidFill>
                  <a:srgbClr val="002060"/>
                </a:solidFill>
                <a:latin typeface="Candara" panose="020E0502030303020204" pitchFamily="34" charset="0"/>
              </a:rPr>
              <a:t> </a:t>
            </a:r>
          </a:p>
          <a:p>
            <a:pPr marL="342900" indent="-342900">
              <a:buFont typeface="Arial" panose="020B0604020202020204" pitchFamily="34" charset="0"/>
              <a:buChar char="•"/>
            </a:pPr>
            <a:r>
              <a:rPr lang="en-US" sz="2000" dirty="0">
                <a:solidFill>
                  <a:srgbClr val="002060"/>
                </a:solidFill>
                <a:latin typeface="Candara" panose="020E0502030303020204" pitchFamily="34" charset="0"/>
              </a:rPr>
              <a:t>Receive, hold and send ETH </a:t>
            </a:r>
          </a:p>
          <a:p>
            <a:pPr marL="342900" indent="-342900">
              <a:buFont typeface="Arial" panose="020B0604020202020204" pitchFamily="34" charset="0"/>
              <a:buChar char="•"/>
            </a:pPr>
            <a:r>
              <a:rPr lang="en-US" sz="2000" dirty="0">
                <a:solidFill>
                  <a:srgbClr val="002060"/>
                </a:solidFill>
                <a:latin typeface="Candara" panose="020E0502030303020204" pitchFamily="34" charset="0"/>
              </a:rPr>
              <a:t>Interact with </a:t>
            </a:r>
            <a:r>
              <a:rPr lang="en-US" sz="2000" dirty="0" err="1">
                <a:solidFill>
                  <a:srgbClr val="002060"/>
                </a:solidFill>
                <a:latin typeface="Candara" panose="020E0502030303020204" pitchFamily="34" charset="0"/>
              </a:rPr>
              <a:t>txns</a:t>
            </a:r>
            <a:r>
              <a:rPr lang="en-US" sz="2000" dirty="0">
                <a:solidFill>
                  <a:srgbClr val="002060"/>
                </a:solidFill>
                <a:latin typeface="Candara" panose="020E0502030303020204" pitchFamily="34" charset="0"/>
              </a:rPr>
              <a:t> and deployed smart contracts </a:t>
            </a:r>
          </a:p>
          <a:p>
            <a:pPr marL="342900" indent="-342900">
              <a:buFont typeface="Arial" panose="020B0604020202020204" pitchFamily="34" charset="0"/>
              <a:buChar char="•"/>
            </a:pPr>
            <a:r>
              <a:rPr lang="en-US" sz="2000" dirty="0" err="1">
                <a:solidFill>
                  <a:srgbClr val="002060"/>
                </a:solidFill>
                <a:latin typeface="Candara" panose="020E0502030303020204" pitchFamily="34" charset="0"/>
              </a:rPr>
              <a:t>Txns</a:t>
            </a:r>
            <a:r>
              <a:rPr lang="en-US" sz="2000" dirty="0">
                <a:solidFill>
                  <a:srgbClr val="002060"/>
                </a:solidFill>
                <a:latin typeface="Candara" panose="020E0502030303020204" pitchFamily="34" charset="0"/>
              </a:rPr>
              <a:t> between EOAs can only be ETH/token transfers</a:t>
            </a:r>
          </a:p>
        </p:txBody>
      </p:sp>
      <p:sp>
        <p:nvSpPr>
          <p:cNvPr id="7" name="TextBox 6"/>
          <p:cNvSpPr txBox="1"/>
          <p:nvPr/>
        </p:nvSpPr>
        <p:spPr>
          <a:xfrm>
            <a:off x="3889781" y="1700222"/>
            <a:ext cx="4059515" cy="461665"/>
          </a:xfrm>
          <a:prstGeom prst="rect">
            <a:avLst/>
          </a:prstGeom>
          <a:noFill/>
        </p:spPr>
        <p:txBody>
          <a:bodyPr wrap="square" rtlCol="0">
            <a:spAutoFit/>
          </a:bodyPr>
          <a:lstStyle/>
          <a:p>
            <a:pPr algn="ctr"/>
            <a:r>
              <a:rPr lang="en-US" sz="2400" dirty="0">
                <a:solidFill>
                  <a:schemeClr val="accent2"/>
                </a:solidFill>
                <a:latin typeface="Candara" panose="020E0502030303020204" pitchFamily="34" charset="0"/>
              </a:rPr>
              <a:t>1 Keypair = 1 EOA</a:t>
            </a:r>
          </a:p>
        </p:txBody>
      </p:sp>
    </p:spTree>
    <p:extLst>
      <p:ext uri="{BB962C8B-B14F-4D97-AF65-F5344CB8AC3E}">
        <p14:creationId xmlns:p14="http://schemas.microsoft.com/office/powerpoint/2010/main" val="2771920758"/>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Contract Account (CA)</a:t>
            </a:r>
          </a:p>
        </p:txBody>
      </p:sp>
      <p:sp>
        <p:nvSpPr>
          <p:cNvPr id="3" name="Content Placeholder 2"/>
          <p:cNvSpPr>
            <a:spLocks noGrp="1"/>
          </p:cNvSpPr>
          <p:nvPr>
            <p:ph idx="1"/>
          </p:nvPr>
        </p:nvSpPr>
        <p:spPr>
          <a:xfrm>
            <a:off x="487680" y="1241018"/>
            <a:ext cx="6382481" cy="3404522"/>
          </a:xfrm>
          <a:ln>
            <a:noFill/>
          </a:ln>
        </p:spPr>
        <p:txBody>
          <a:bodyPr wrap="square" anchor="ctr" anchorCtr="0">
            <a:spAutoFit/>
          </a:bodyPr>
          <a:lstStyle/>
          <a:p>
            <a:r>
              <a:rPr lang="en-US" sz="2400" dirty="0">
                <a:solidFill>
                  <a:srgbClr val="002060"/>
                </a:solidFill>
              </a:rPr>
              <a:t>CA is the address of a smart contract deployed to the network </a:t>
            </a:r>
          </a:p>
          <a:p>
            <a:pPr lvl="1"/>
            <a:r>
              <a:rPr lang="en-US" sz="2000" dirty="0"/>
              <a:t>It is controlled by its code </a:t>
            </a:r>
          </a:p>
          <a:p>
            <a:pPr lvl="1"/>
            <a:r>
              <a:rPr lang="en-US" sz="2000" dirty="0"/>
              <a:t>Creating a contract account has cost in terms of gas </a:t>
            </a:r>
          </a:p>
          <a:p>
            <a:r>
              <a:rPr lang="en-US" sz="2400" dirty="0">
                <a:solidFill>
                  <a:srgbClr val="002060"/>
                </a:solidFill>
              </a:rPr>
              <a:t>Contract address (20B) becomes available after its deployment</a:t>
            </a:r>
          </a:p>
          <a:p>
            <a:pPr lvl="1"/>
            <a:r>
              <a:rPr lang="en-US" sz="2000" dirty="0"/>
              <a:t>It comes from contract creator’s address (either EOA or another smart contract) and number of transactions sent form that address (nonce)</a:t>
            </a:r>
            <a:r>
              <a:rPr lang="en-US" sz="2000" dirty="0">
                <a:solidFill>
                  <a:srgbClr val="002060"/>
                </a:solidFill>
              </a:rPr>
              <a:t> </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20</a:t>
            </a:fld>
            <a:endParaRPr lang="en-US" dirty="0">
              <a:latin typeface="Candara" panose="020E0502030303020204" pitchFamily="34" charset="0"/>
            </a:endParaRPr>
          </a:p>
        </p:txBody>
      </p:sp>
      <p:sp>
        <p:nvSpPr>
          <p:cNvPr id="6" name="Rectangle 5"/>
          <p:cNvSpPr/>
          <p:nvPr/>
        </p:nvSpPr>
        <p:spPr>
          <a:xfrm>
            <a:off x="7217468" y="1384498"/>
            <a:ext cx="4456372" cy="2923875"/>
          </a:xfrm>
          <a:prstGeom prst="rect">
            <a:avLst/>
          </a:prstGeom>
          <a:ln>
            <a:noFill/>
          </a:ln>
        </p:spPr>
        <p:txBody>
          <a:bodyPr vert="horz" lIns="91438" tIns="45719" rIns="91438" bIns="45719" rtlCol="0" anchor="ctr" anchorCtr="0">
            <a:spAutoFit/>
          </a:bodyPr>
          <a:lstStyle/>
          <a:p>
            <a:pPr marL="171446" indent="-171446" defTabSz="685783">
              <a:spcBef>
                <a:spcPts val="750"/>
              </a:spcBef>
              <a:buFont typeface="Arial" panose="020B0604020202020204" pitchFamily="34" charset="0"/>
              <a:buChar char="•"/>
            </a:pPr>
            <a:r>
              <a:rPr lang="en-US" sz="2400" dirty="0">
                <a:solidFill>
                  <a:srgbClr val="FF0000"/>
                </a:solidFill>
                <a:latin typeface="Candara" panose="020E0502030303020204" pitchFamily="34" charset="0"/>
              </a:rPr>
              <a:t>CA </a:t>
            </a:r>
            <a:r>
              <a:rPr lang="en-US" sz="2400" i="1" dirty="0">
                <a:solidFill>
                  <a:srgbClr val="FF0000"/>
                </a:solidFill>
                <a:latin typeface="Candara" panose="020E0502030303020204" pitchFamily="34" charset="0"/>
              </a:rPr>
              <a:t>cannot initiate </a:t>
            </a:r>
            <a:r>
              <a:rPr lang="en-US" sz="2400" dirty="0">
                <a:solidFill>
                  <a:srgbClr val="FF0000"/>
                </a:solidFill>
                <a:latin typeface="Candara" panose="020E0502030303020204" pitchFamily="34" charset="0"/>
              </a:rPr>
              <a:t>transactions </a:t>
            </a:r>
          </a:p>
          <a:p>
            <a:pPr marL="171446" indent="-171446" defTabSz="685783">
              <a:spcBef>
                <a:spcPts val="750"/>
              </a:spcBef>
              <a:buFont typeface="Arial" panose="020B0604020202020204" pitchFamily="34" charset="0"/>
              <a:buChar char="•"/>
            </a:pPr>
            <a:r>
              <a:rPr lang="en-US" sz="2000" dirty="0">
                <a:latin typeface="Candara" panose="020E0502030303020204" pitchFamily="34" charset="0"/>
              </a:rPr>
              <a:t>CA can interact with </a:t>
            </a:r>
            <a:r>
              <a:rPr lang="en-US" sz="2000" dirty="0" err="1">
                <a:latin typeface="Candara" panose="020E0502030303020204" pitchFamily="34" charset="0"/>
              </a:rPr>
              <a:t>txns</a:t>
            </a:r>
            <a:r>
              <a:rPr lang="en-US" sz="2000" dirty="0">
                <a:latin typeface="Candara" panose="020E0502030303020204" pitchFamily="34" charset="0"/>
              </a:rPr>
              <a:t> and other smart contracts </a:t>
            </a:r>
          </a:p>
          <a:p>
            <a:pPr marL="171446" indent="-171446" defTabSz="685783">
              <a:spcBef>
                <a:spcPts val="750"/>
              </a:spcBef>
              <a:buFont typeface="Arial" panose="020B0604020202020204" pitchFamily="34" charset="0"/>
              <a:buChar char="•"/>
            </a:pPr>
            <a:r>
              <a:rPr lang="en-US" sz="2000" dirty="0">
                <a:latin typeface="Candara" panose="020E0502030303020204" pitchFamily="34" charset="0"/>
              </a:rPr>
              <a:t>CA can receive, hold and send ETH or tokens</a:t>
            </a:r>
          </a:p>
          <a:p>
            <a:pPr marL="171446" indent="-171446" defTabSz="685783">
              <a:spcBef>
                <a:spcPts val="750"/>
              </a:spcBef>
              <a:buFont typeface="Arial" panose="020B0604020202020204" pitchFamily="34" charset="0"/>
              <a:buChar char="•"/>
            </a:pPr>
            <a:r>
              <a:rPr lang="en-US" sz="2000" dirty="0">
                <a:latin typeface="Candara" panose="020E0502030303020204" pitchFamily="34" charset="0"/>
              </a:rPr>
              <a:t>CA can create and deploy new smart contracts e.g., factory contract or smart contract factory</a:t>
            </a:r>
          </a:p>
        </p:txBody>
      </p:sp>
      <p:sp>
        <p:nvSpPr>
          <p:cNvPr id="7" name="TextBox 6">
            <a:extLst>
              <a:ext uri="{FF2B5EF4-FFF2-40B4-BE49-F238E27FC236}">
                <a16:creationId xmlns:a16="http://schemas.microsoft.com/office/drawing/2014/main" id="{CB4DC1C8-0287-1460-CE5A-1038861F30D9}"/>
              </a:ext>
            </a:extLst>
          </p:cNvPr>
          <p:cNvSpPr txBox="1"/>
          <p:nvPr/>
        </p:nvSpPr>
        <p:spPr>
          <a:xfrm>
            <a:off x="1900989" y="5432316"/>
            <a:ext cx="8325853" cy="646331"/>
          </a:xfrm>
          <a:prstGeom prst="rect">
            <a:avLst/>
          </a:prstGeom>
          <a:noFill/>
        </p:spPr>
        <p:txBody>
          <a:bodyPr wrap="square">
            <a:spAutoFit/>
          </a:bodyPr>
          <a:lstStyle/>
          <a:p>
            <a:pPr algn="ctr"/>
            <a:r>
              <a:rPr lang="en-US" sz="3600" dirty="0">
                <a:solidFill>
                  <a:srgbClr val="FF0000"/>
                </a:solidFill>
                <a:latin typeface="Candara" panose="020E0502030303020204" pitchFamily="34" charset="0"/>
              </a:rPr>
              <a:t>Only EOAs can start a transaction </a:t>
            </a:r>
          </a:p>
        </p:txBody>
      </p:sp>
    </p:spTree>
    <p:extLst>
      <p:ext uri="{BB962C8B-B14F-4D97-AF65-F5344CB8AC3E}">
        <p14:creationId xmlns:p14="http://schemas.microsoft.com/office/powerpoint/2010/main" val="673846340"/>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D0263-BFE0-0E7F-25E2-235204477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01929E-DA13-47C7-596E-3CB7AA62D7DA}"/>
              </a:ext>
            </a:extLst>
          </p:cNvPr>
          <p:cNvSpPr>
            <a:spLocks noGrp="1"/>
          </p:cNvSpPr>
          <p:nvPr>
            <p:ph type="title"/>
          </p:nvPr>
        </p:nvSpPr>
        <p:spPr/>
        <p:txBody>
          <a:bodyPr/>
          <a:lstStyle/>
          <a:p>
            <a:r>
              <a:rPr lang="en-US" dirty="0"/>
              <a:t>Account State</a:t>
            </a:r>
          </a:p>
        </p:txBody>
      </p:sp>
      <p:sp>
        <p:nvSpPr>
          <p:cNvPr id="4" name="Slide Number Placeholder 3">
            <a:extLst>
              <a:ext uri="{FF2B5EF4-FFF2-40B4-BE49-F238E27FC236}">
                <a16:creationId xmlns:a16="http://schemas.microsoft.com/office/drawing/2014/main" id="{05152B8C-D4D0-7936-93B7-39BA3515DDBB}"/>
              </a:ext>
            </a:extLst>
          </p:cNvPr>
          <p:cNvSpPr>
            <a:spLocks noGrp="1"/>
          </p:cNvSpPr>
          <p:nvPr>
            <p:ph type="sldNum" sz="quarter" idx="12"/>
          </p:nvPr>
        </p:nvSpPr>
        <p:spPr/>
        <p:txBody>
          <a:bodyPr/>
          <a:lstStyle/>
          <a:p>
            <a:fld id="{19FE8B7B-3258-47CD-BBC0-34D05FC906E5}" type="slidenum">
              <a:rPr lang="en-US" smtClean="0">
                <a:latin typeface="Candara" panose="020E0502030303020204" pitchFamily="34" charset="0"/>
              </a:rPr>
              <a:t>21</a:t>
            </a:fld>
            <a:endParaRPr lang="en-US" dirty="0">
              <a:latin typeface="Candara" panose="020E0502030303020204" pitchFamily="34" charset="0"/>
            </a:endParaRPr>
          </a:p>
        </p:txBody>
      </p:sp>
      <p:sp>
        <p:nvSpPr>
          <p:cNvPr id="5" name="Rectangle 4">
            <a:extLst>
              <a:ext uri="{FF2B5EF4-FFF2-40B4-BE49-F238E27FC236}">
                <a16:creationId xmlns:a16="http://schemas.microsoft.com/office/drawing/2014/main" id="{3C918C68-C1EB-063E-9512-E4A10D8A1EEB}"/>
              </a:ext>
            </a:extLst>
          </p:cNvPr>
          <p:cNvSpPr/>
          <p:nvPr/>
        </p:nvSpPr>
        <p:spPr>
          <a:xfrm>
            <a:off x="6335663" y="1200211"/>
            <a:ext cx="5506884" cy="5324535"/>
          </a:xfrm>
          <a:prstGeom prst="rect">
            <a:avLst/>
          </a:prstGeom>
          <a:noFill/>
          <a:ln>
            <a:noFill/>
          </a:ln>
        </p:spPr>
        <p:txBody>
          <a:bodyPr wrap="square" anchor="ctr" anchorCtr="0">
            <a:spAutoFit/>
          </a:bodyPr>
          <a:lstStyle/>
          <a:p>
            <a:pPr marL="285750" indent="-285750">
              <a:buFont typeface="Arial" panose="020B0604020202020204" pitchFamily="34" charset="0"/>
              <a:buChar char="•"/>
            </a:pPr>
            <a:r>
              <a:rPr lang="en-US" sz="2000" dirty="0">
                <a:solidFill>
                  <a:srgbClr val="002060"/>
                </a:solidFill>
                <a:latin typeface="Candara" panose="020E0502030303020204" pitchFamily="34" charset="0"/>
              </a:rPr>
              <a:t>Nonce is a counter that is incremented every time a </a:t>
            </a:r>
            <a:r>
              <a:rPr lang="en-US" sz="2000" dirty="0" err="1">
                <a:solidFill>
                  <a:srgbClr val="002060"/>
                </a:solidFill>
                <a:latin typeface="Candara" panose="020E0502030303020204" pitchFamily="34" charset="0"/>
              </a:rPr>
              <a:t>txn</a:t>
            </a:r>
            <a:r>
              <a:rPr lang="en-US" sz="2000" dirty="0">
                <a:solidFill>
                  <a:srgbClr val="002060"/>
                </a:solidFill>
                <a:latin typeface="Candara" panose="020E0502030303020204" pitchFamily="34" charset="0"/>
              </a:rPr>
              <a:t> is made by an account </a:t>
            </a:r>
          </a:p>
          <a:p>
            <a:pPr marL="742950" lvl="1" indent="-285750">
              <a:buFont typeface="Arial" panose="020B0604020202020204" pitchFamily="34" charset="0"/>
              <a:buChar char="•"/>
            </a:pPr>
            <a:r>
              <a:rPr lang="en-US" sz="2000" dirty="0">
                <a:solidFill>
                  <a:srgbClr val="002060"/>
                </a:solidFill>
                <a:latin typeface="Candara" panose="020E0502030303020204" pitchFamily="34" charset="0"/>
              </a:rPr>
              <a:t>It is used to protect against replay attacks </a:t>
            </a:r>
          </a:p>
          <a:p>
            <a:pPr marL="742950" lvl="1" indent="-285750">
              <a:buFont typeface="Arial" panose="020B0604020202020204" pitchFamily="34" charset="0"/>
              <a:buChar char="•"/>
            </a:pPr>
            <a:r>
              <a:rPr lang="en-US" sz="2000" dirty="0">
                <a:latin typeface="Candara" panose="020E0502030303020204" pitchFamily="34" charset="0"/>
              </a:rPr>
              <a:t>EOA Nonce is number of transactions performed by the account </a:t>
            </a:r>
          </a:p>
          <a:p>
            <a:pPr marL="742950" lvl="1" indent="-285750">
              <a:buFont typeface="Arial" panose="020B0604020202020204" pitchFamily="34" charset="0"/>
              <a:buChar char="•"/>
            </a:pPr>
            <a:r>
              <a:rPr lang="en-US" sz="2000" dirty="0">
                <a:latin typeface="Candara" panose="020E0502030303020204" pitchFamily="34" charset="0"/>
              </a:rPr>
              <a:t>CA Nonce is the number of contracts created by the account</a:t>
            </a:r>
          </a:p>
          <a:p>
            <a:pPr marL="285750" indent="-285750">
              <a:buFont typeface="Arial" panose="020B0604020202020204" pitchFamily="34" charset="0"/>
              <a:buChar char="•"/>
            </a:pPr>
            <a:r>
              <a:rPr lang="en-US" sz="2000" dirty="0">
                <a:solidFill>
                  <a:srgbClr val="002060"/>
                </a:solidFill>
                <a:latin typeface="Candara" panose="020E0502030303020204" pitchFamily="34" charset="0"/>
              </a:rPr>
              <a:t>Storage Hash: The storage mechanism provides a verifiable summary of a contract’s stored data (e.g., token balances)</a:t>
            </a:r>
            <a:endParaRPr lang="en-US" sz="2000" dirty="0">
              <a:latin typeface="Candara" panose="020E0502030303020204" pitchFamily="34" charset="0"/>
            </a:endParaRPr>
          </a:p>
          <a:p>
            <a:pPr marL="742950" lvl="1" indent="-285750">
              <a:buFont typeface="Arial" panose="020B0604020202020204" pitchFamily="34" charset="0"/>
              <a:buChar char="•"/>
            </a:pPr>
            <a:r>
              <a:rPr lang="en-US" sz="2000" dirty="0">
                <a:latin typeface="Candara" panose="020E0502030303020204" pitchFamily="34" charset="0"/>
              </a:rPr>
              <a:t>A Merkel like tree is constructed and a 256-bit hash of its root node is stored as part of the account state</a:t>
            </a:r>
          </a:p>
          <a:p>
            <a:pPr marL="285750" indent="-285750">
              <a:buFont typeface="Arial" panose="020B0604020202020204" pitchFamily="34" charset="0"/>
              <a:buChar char="•"/>
            </a:pPr>
            <a:r>
              <a:rPr lang="en-US" sz="2000" dirty="0">
                <a:solidFill>
                  <a:srgbClr val="002060"/>
                </a:solidFill>
                <a:latin typeface="Candara" panose="020E0502030303020204" pitchFamily="34" charset="0"/>
              </a:rPr>
              <a:t>Code Hash: This refers to the hash of the bytecode associated with an account</a:t>
            </a:r>
          </a:p>
          <a:p>
            <a:pPr marL="742950" lvl="1" indent="-285750">
              <a:buFont typeface="Arial" panose="020B0604020202020204" pitchFamily="34" charset="0"/>
              <a:buChar char="•"/>
            </a:pPr>
            <a:r>
              <a:rPr lang="en-US" sz="2000" dirty="0">
                <a:latin typeface="Candara" panose="020E0502030303020204" pitchFamily="34" charset="0"/>
              </a:rPr>
              <a:t>EOA: hash of an empty string</a:t>
            </a:r>
          </a:p>
          <a:p>
            <a:pPr marL="742950" lvl="1" indent="-285750">
              <a:buFont typeface="Arial" panose="020B0604020202020204" pitchFamily="34" charset="0"/>
              <a:buChar char="•"/>
            </a:pPr>
            <a:r>
              <a:rPr lang="en-US" sz="2000" dirty="0">
                <a:latin typeface="Candara" panose="020E0502030303020204" pitchFamily="34" charset="0"/>
              </a:rPr>
              <a:t>CA: hash of the smart contract code </a:t>
            </a:r>
          </a:p>
        </p:txBody>
      </p:sp>
      <p:sp>
        <p:nvSpPr>
          <p:cNvPr id="12" name="Rectangle 11">
            <a:extLst>
              <a:ext uri="{FF2B5EF4-FFF2-40B4-BE49-F238E27FC236}">
                <a16:creationId xmlns:a16="http://schemas.microsoft.com/office/drawing/2014/main" id="{0E2F6B06-E508-FDE2-47CE-E8868DA07B64}"/>
              </a:ext>
            </a:extLst>
          </p:cNvPr>
          <p:cNvSpPr/>
          <p:nvPr/>
        </p:nvSpPr>
        <p:spPr>
          <a:xfrm>
            <a:off x="2204381" y="6332709"/>
            <a:ext cx="4572000" cy="246221"/>
          </a:xfrm>
          <a:prstGeom prst="rect">
            <a:avLst/>
          </a:prstGeom>
        </p:spPr>
        <p:txBody>
          <a:bodyPr>
            <a:spAutoFit/>
          </a:bodyPr>
          <a:lstStyle/>
          <a:p>
            <a:r>
              <a:rPr lang="en-US" sz="1000" dirty="0">
                <a:latin typeface="Candara" panose="020E0502030303020204" pitchFamily="34" charset="0"/>
                <a:hlinkClick r:id="rId3"/>
              </a:rPr>
              <a:t>https://ethereum.org/en/developers/docs/accounts/</a:t>
            </a:r>
            <a:r>
              <a:rPr lang="en-US" sz="1000" dirty="0">
                <a:latin typeface="Candara" panose="020E0502030303020204" pitchFamily="34" charset="0"/>
              </a:rPr>
              <a:t> </a:t>
            </a:r>
          </a:p>
        </p:txBody>
      </p:sp>
      <p:grpSp>
        <p:nvGrpSpPr>
          <p:cNvPr id="13" name="Group 12">
            <a:extLst>
              <a:ext uri="{FF2B5EF4-FFF2-40B4-BE49-F238E27FC236}">
                <a16:creationId xmlns:a16="http://schemas.microsoft.com/office/drawing/2014/main" id="{EC845594-C3AB-827E-E2DE-AE1DE8A43D70}"/>
              </a:ext>
            </a:extLst>
          </p:cNvPr>
          <p:cNvGrpSpPr/>
          <p:nvPr/>
        </p:nvGrpSpPr>
        <p:grpSpPr>
          <a:xfrm>
            <a:off x="417369" y="1556177"/>
            <a:ext cx="5438969" cy="4447581"/>
            <a:chOff x="3421626" y="1327355"/>
            <a:chExt cx="5230217" cy="3274142"/>
          </a:xfrm>
        </p:grpSpPr>
        <p:sp>
          <p:nvSpPr>
            <p:cNvPr id="19" name="Rectangle 18">
              <a:extLst>
                <a:ext uri="{FF2B5EF4-FFF2-40B4-BE49-F238E27FC236}">
                  <a16:creationId xmlns:a16="http://schemas.microsoft.com/office/drawing/2014/main" id="{B25A88C6-11A6-CFC8-9838-4DDBF9BA97FF}"/>
                </a:ext>
              </a:extLst>
            </p:cNvPr>
            <p:cNvSpPr/>
            <p:nvPr/>
          </p:nvSpPr>
          <p:spPr>
            <a:xfrm>
              <a:off x="3421626" y="1327355"/>
              <a:ext cx="5230217" cy="32741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grpSp>
          <p:nvGrpSpPr>
            <p:cNvPr id="15" name="Group 14">
              <a:extLst>
                <a:ext uri="{FF2B5EF4-FFF2-40B4-BE49-F238E27FC236}">
                  <a16:creationId xmlns:a16="http://schemas.microsoft.com/office/drawing/2014/main" id="{EEC6F96B-7226-6D66-70BE-B65B389AED2A}"/>
                </a:ext>
              </a:extLst>
            </p:cNvPr>
            <p:cNvGrpSpPr/>
            <p:nvPr/>
          </p:nvGrpSpPr>
          <p:grpSpPr>
            <a:xfrm>
              <a:off x="5678129" y="1666568"/>
              <a:ext cx="1710813" cy="2580967"/>
              <a:chOff x="5678129" y="1666568"/>
              <a:chExt cx="1710813" cy="2580967"/>
            </a:xfrm>
          </p:grpSpPr>
          <p:sp>
            <p:nvSpPr>
              <p:cNvPr id="26" name="Rectangle 25">
                <a:extLst>
                  <a:ext uri="{FF2B5EF4-FFF2-40B4-BE49-F238E27FC236}">
                    <a16:creationId xmlns:a16="http://schemas.microsoft.com/office/drawing/2014/main" id="{FB0806CF-6F0D-8886-D8B2-B54B80467EE2}"/>
                  </a:ext>
                </a:extLst>
              </p:cNvPr>
              <p:cNvSpPr/>
              <p:nvPr/>
            </p:nvSpPr>
            <p:spPr>
              <a:xfrm>
                <a:off x="5678129" y="1666568"/>
                <a:ext cx="1710813" cy="25809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27" name="Oval 26">
                <a:extLst>
                  <a:ext uri="{FF2B5EF4-FFF2-40B4-BE49-F238E27FC236}">
                    <a16:creationId xmlns:a16="http://schemas.microsoft.com/office/drawing/2014/main" id="{D9C6A757-2C12-3DDA-09E9-4954E7B19C2B}"/>
                  </a:ext>
                </a:extLst>
              </p:cNvPr>
              <p:cNvSpPr/>
              <p:nvPr/>
            </p:nvSpPr>
            <p:spPr>
              <a:xfrm>
                <a:off x="5855110" y="1735842"/>
                <a:ext cx="1371600" cy="52066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nonce</a:t>
                </a:r>
              </a:p>
            </p:txBody>
          </p:sp>
          <p:sp>
            <p:nvSpPr>
              <p:cNvPr id="28" name="Oval 27">
                <a:extLst>
                  <a:ext uri="{FF2B5EF4-FFF2-40B4-BE49-F238E27FC236}">
                    <a16:creationId xmlns:a16="http://schemas.microsoft.com/office/drawing/2014/main" id="{68DFA0C9-A251-E57C-B6E9-0B9E153D3C6D}"/>
                  </a:ext>
                </a:extLst>
              </p:cNvPr>
              <p:cNvSpPr/>
              <p:nvPr/>
            </p:nvSpPr>
            <p:spPr>
              <a:xfrm>
                <a:off x="5847735" y="2359740"/>
                <a:ext cx="1371600" cy="49441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balance</a:t>
                </a:r>
              </a:p>
            </p:txBody>
          </p:sp>
          <p:sp>
            <p:nvSpPr>
              <p:cNvPr id="29" name="Oval 28">
                <a:extLst>
                  <a:ext uri="{FF2B5EF4-FFF2-40B4-BE49-F238E27FC236}">
                    <a16:creationId xmlns:a16="http://schemas.microsoft.com/office/drawing/2014/main" id="{01BD6CF4-4DDC-7D88-1005-41FA2818D988}"/>
                  </a:ext>
                </a:extLst>
              </p:cNvPr>
              <p:cNvSpPr/>
              <p:nvPr/>
            </p:nvSpPr>
            <p:spPr>
              <a:xfrm>
                <a:off x="5855110" y="2979171"/>
                <a:ext cx="1371600" cy="5117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Storage hash</a:t>
                </a:r>
              </a:p>
            </p:txBody>
          </p:sp>
          <p:sp>
            <p:nvSpPr>
              <p:cNvPr id="30" name="Oval 29">
                <a:extLst>
                  <a:ext uri="{FF2B5EF4-FFF2-40B4-BE49-F238E27FC236}">
                    <a16:creationId xmlns:a16="http://schemas.microsoft.com/office/drawing/2014/main" id="{D69CC3F5-8879-2741-E75B-E785F0491E88}"/>
                  </a:ext>
                </a:extLst>
              </p:cNvPr>
              <p:cNvSpPr/>
              <p:nvPr/>
            </p:nvSpPr>
            <p:spPr>
              <a:xfrm>
                <a:off x="5855110" y="3588982"/>
                <a:ext cx="1371600" cy="5117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Code hash</a:t>
                </a:r>
              </a:p>
            </p:txBody>
          </p:sp>
        </p:grpSp>
        <p:grpSp>
          <p:nvGrpSpPr>
            <p:cNvPr id="16" name="Group 15">
              <a:extLst>
                <a:ext uri="{FF2B5EF4-FFF2-40B4-BE49-F238E27FC236}">
                  <a16:creationId xmlns:a16="http://schemas.microsoft.com/office/drawing/2014/main" id="{8A6E97FD-BB09-334D-5A5A-36A87A3EF030}"/>
                </a:ext>
              </a:extLst>
            </p:cNvPr>
            <p:cNvGrpSpPr/>
            <p:nvPr/>
          </p:nvGrpSpPr>
          <p:grpSpPr>
            <a:xfrm>
              <a:off x="7083477" y="3013824"/>
              <a:ext cx="1568366" cy="1382518"/>
              <a:chOff x="7083477" y="3013824"/>
              <a:chExt cx="1568366" cy="1382518"/>
            </a:xfrm>
          </p:grpSpPr>
          <p:sp>
            <p:nvSpPr>
              <p:cNvPr id="20" name="Flowchart: Magnetic Disk 19">
                <a:extLst>
                  <a:ext uri="{FF2B5EF4-FFF2-40B4-BE49-F238E27FC236}">
                    <a16:creationId xmlns:a16="http://schemas.microsoft.com/office/drawing/2014/main" id="{8424E54F-2B2C-A3DD-CEB1-C7E3111D13BA}"/>
                  </a:ext>
                </a:extLst>
              </p:cNvPr>
              <p:cNvSpPr/>
              <p:nvPr/>
            </p:nvSpPr>
            <p:spPr>
              <a:xfrm>
                <a:off x="7704903" y="3013824"/>
                <a:ext cx="492564" cy="477072"/>
              </a:xfrm>
              <a:prstGeom prst="flowChartMagneticDisk">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21" name="Rectangular Callout 20">
                <a:extLst>
                  <a:ext uri="{FF2B5EF4-FFF2-40B4-BE49-F238E27FC236}">
                    <a16:creationId xmlns:a16="http://schemas.microsoft.com/office/drawing/2014/main" id="{420C2D3C-73A2-45BA-968D-CA265F824415}"/>
                  </a:ext>
                </a:extLst>
              </p:cNvPr>
              <p:cNvSpPr/>
              <p:nvPr/>
            </p:nvSpPr>
            <p:spPr>
              <a:xfrm>
                <a:off x="7683910" y="3746770"/>
                <a:ext cx="530942" cy="456521"/>
              </a:xfrm>
              <a:prstGeom prst="wedgeRectCallo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cxnSp>
            <p:nvCxnSpPr>
              <p:cNvPr id="22" name="Straight Arrow Connector 21">
                <a:extLst>
                  <a:ext uri="{FF2B5EF4-FFF2-40B4-BE49-F238E27FC236}">
                    <a16:creationId xmlns:a16="http://schemas.microsoft.com/office/drawing/2014/main" id="{8A379FFC-8D72-33CB-1023-AE892DA2BD8A}"/>
                  </a:ext>
                </a:extLst>
              </p:cNvPr>
              <p:cNvCxnSpPr>
                <a:endCxn id="20" idx="2"/>
              </p:cNvCxnSpPr>
              <p:nvPr/>
            </p:nvCxnSpPr>
            <p:spPr>
              <a:xfrm>
                <a:off x="7093974" y="3235033"/>
                <a:ext cx="610929" cy="17327"/>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CFC14C16-A68A-05BD-FAB4-B6585378D4DD}"/>
                  </a:ext>
                </a:extLst>
              </p:cNvPr>
              <p:cNvCxnSpPr/>
              <p:nvPr/>
            </p:nvCxnSpPr>
            <p:spPr>
              <a:xfrm>
                <a:off x="7083477" y="3894237"/>
                <a:ext cx="610929" cy="17327"/>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D774534B-BB16-17DD-7FA9-B8C984880AD3}"/>
                  </a:ext>
                </a:extLst>
              </p:cNvPr>
              <p:cNvSpPr txBox="1"/>
              <p:nvPr/>
            </p:nvSpPr>
            <p:spPr>
              <a:xfrm>
                <a:off x="7399437" y="3458554"/>
                <a:ext cx="1252406" cy="203916"/>
              </a:xfrm>
              <a:prstGeom prst="rect">
                <a:avLst/>
              </a:prstGeom>
              <a:noFill/>
            </p:spPr>
            <p:txBody>
              <a:bodyPr wrap="square" rtlCol="0">
                <a:spAutoFit/>
              </a:bodyPr>
              <a:lstStyle/>
              <a:p>
                <a:r>
                  <a:rPr lang="en-US" sz="1200" dirty="0">
                    <a:latin typeface="Candara" panose="020E0502030303020204" pitchFamily="34" charset="0"/>
                  </a:rPr>
                  <a:t>Account storage</a:t>
                </a:r>
              </a:p>
            </p:txBody>
          </p:sp>
          <p:sp>
            <p:nvSpPr>
              <p:cNvPr id="25" name="TextBox 24">
                <a:extLst>
                  <a:ext uri="{FF2B5EF4-FFF2-40B4-BE49-F238E27FC236}">
                    <a16:creationId xmlns:a16="http://schemas.microsoft.com/office/drawing/2014/main" id="{54777ACD-BE5A-381C-C49F-E22677A20C62}"/>
                  </a:ext>
                </a:extLst>
              </p:cNvPr>
              <p:cNvSpPr txBox="1"/>
              <p:nvPr/>
            </p:nvSpPr>
            <p:spPr>
              <a:xfrm>
                <a:off x="7567201" y="4192426"/>
                <a:ext cx="948149" cy="203916"/>
              </a:xfrm>
              <a:prstGeom prst="rect">
                <a:avLst/>
              </a:prstGeom>
              <a:noFill/>
            </p:spPr>
            <p:txBody>
              <a:bodyPr wrap="square" rtlCol="0">
                <a:spAutoFit/>
              </a:bodyPr>
              <a:lstStyle/>
              <a:p>
                <a:r>
                  <a:rPr lang="en-US" sz="1200" dirty="0">
                    <a:latin typeface="Candara" panose="020E0502030303020204" pitchFamily="34" charset="0"/>
                  </a:rPr>
                  <a:t>EVM Code </a:t>
                </a:r>
              </a:p>
            </p:txBody>
          </p:sp>
        </p:grpSp>
        <p:sp>
          <p:nvSpPr>
            <p:cNvPr id="17" name="Oval 16">
              <a:extLst>
                <a:ext uri="{FF2B5EF4-FFF2-40B4-BE49-F238E27FC236}">
                  <a16:creationId xmlns:a16="http://schemas.microsoft.com/office/drawing/2014/main" id="{3AC6DBD5-A0AB-CD9B-3302-669359EA3659}"/>
                </a:ext>
              </a:extLst>
            </p:cNvPr>
            <p:cNvSpPr/>
            <p:nvPr/>
          </p:nvSpPr>
          <p:spPr>
            <a:xfrm>
              <a:off x="3532239" y="1839078"/>
              <a:ext cx="1371600" cy="52066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Address</a:t>
              </a:r>
            </a:p>
          </p:txBody>
        </p:sp>
        <p:cxnSp>
          <p:nvCxnSpPr>
            <p:cNvPr id="18" name="Straight Arrow Connector 17">
              <a:extLst>
                <a:ext uri="{FF2B5EF4-FFF2-40B4-BE49-F238E27FC236}">
                  <a16:creationId xmlns:a16="http://schemas.microsoft.com/office/drawing/2014/main" id="{3AA734D9-0B09-5D39-886A-AA1C9442B7FA}"/>
                </a:ext>
              </a:extLst>
            </p:cNvPr>
            <p:cNvCxnSpPr/>
            <p:nvPr/>
          </p:nvCxnSpPr>
          <p:spPr>
            <a:xfrm>
              <a:off x="4903839" y="2082082"/>
              <a:ext cx="789039" cy="17327"/>
            </a:xfrm>
            <a:prstGeom prst="straightConnector1">
              <a:avLst/>
            </a:prstGeom>
            <a:ln>
              <a:solidFill>
                <a:schemeClr val="tx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79727583"/>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Blockchain</a:t>
            </a:r>
          </a:p>
        </p:txBody>
      </p:sp>
      <p:sp>
        <p:nvSpPr>
          <p:cNvPr id="4" name="Slide Number Placeholder 3"/>
          <p:cNvSpPr>
            <a:spLocks noGrp="1"/>
          </p:cNvSpPr>
          <p:nvPr>
            <p:ph type="sldNum" sz="quarter" idx="12"/>
          </p:nvPr>
        </p:nvSpPr>
        <p:spPr/>
        <p:txBody>
          <a:bodyPr/>
          <a:lstStyle/>
          <a:p>
            <a:fld id="{19FE8B7B-3258-47CD-BBC0-34D05FC906E5}" type="slidenum">
              <a:rPr lang="en-US" smtClean="0"/>
              <a:t>22</a:t>
            </a:fld>
            <a:endParaRPr lang="en-US" dirty="0"/>
          </a:p>
        </p:txBody>
      </p:sp>
      <p:pic>
        <p:nvPicPr>
          <p:cNvPr id="5" name="Picture 4"/>
          <p:cNvPicPr>
            <a:picLocks noChangeAspect="1"/>
          </p:cNvPicPr>
          <p:nvPr/>
        </p:nvPicPr>
        <p:blipFill>
          <a:blip r:embed="rId2"/>
          <a:stretch>
            <a:fillRect/>
          </a:stretch>
        </p:blipFill>
        <p:spPr>
          <a:xfrm>
            <a:off x="668394" y="2663304"/>
            <a:ext cx="3032766" cy="3726557"/>
          </a:xfrm>
          <a:prstGeom prst="rect">
            <a:avLst/>
          </a:prstGeom>
          <a:ln w="25400">
            <a:solidFill>
              <a:schemeClr val="tx1"/>
            </a:solidFill>
          </a:ln>
        </p:spPr>
      </p:pic>
      <p:grpSp>
        <p:nvGrpSpPr>
          <p:cNvPr id="6" name="Group 5"/>
          <p:cNvGrpSpPr/>
          <p:nvPr/>
        </p:nvGrpSpPr>
        <p:grpSpPr>
          <a:xfrm>
            <a:off x="2502225" y="1060663"/>
            <a:ext cx="7157069" cy="1439971"/>
            <a:chOff x="840847" y="1184666"/>
            <a:chExt cx="5914933" cy="1439971"/>
          </a:xfrm>
        </p:grpSpPr>
        <p:pic>
          <p:nvPicPr>
            <p:cNvPr id="7" name="Picture 6"/>
            <p:cNvPicPr>
              <a:picLocks noChangeAspect="1"/>
            </p:cNvPicPr>
            <p:nvPr/>
          </p:nvPicPr>
          <p:blipFill>
            <a:blip r:embed="rId3"/>
            <a:stretch>
              <a:fillRect/>
            </a:stretch>
          </p:blipFill>
          <p:spPr>
            <a:xfrm>
              <a:off x="840847" y="1184666"/>
              <a:ext cx="5914933" cy="1439971"/>
            </a:xfrm>
            <a:prstGeom prst="rect">
              <a:avLst/>
            </a:prstGeom>
            <a:ln w="25400">
              <a:solidFill>
                <a:schemeClr val="tx1"/>
              </a:solidFill>
            </a:ln>
          </p:spPr>
        </p:pic>
        <p:sp>
          <p:nvSpPr>
            <p:cNvPr id="8" name="Rectangle 7"/>
            <p:cNvSpPr/>
            <p:nvPr/>
          </p:nvSpPr>
          <p:spPr>
            <a:xfrm>
              <a:off x="3589834" y="1281829"/>
              <a:ext cx="1652504" cy="369332"/>
            </a:xfrm>
            <a:prstGeom prst="rect">
              <a:avLst/>
            </a:prstGeom>
          </p:spPr>
          <p:txBody>
            <a:bodyPr wrap="none">
              <a:spAutoFit/>
            </a:bodyPr>
            <a:lstStyle/>
            <a:p>
              <a:r>
                <a:rPr lang="en-US" dirty="0"/>
                <a:t>Chain of blocks </a:t>
              </a:r>
            </a:p>
          </p:txBody>
        </p:sp>
      </p:grpSp>
      <p:sp>
        <p:nvSpPr>
          <p:cNvPr id="9" name="TextBox 8"/>
          <p:cNvSpPr txBox="1"/>
          <p:nvPr/>
        </p:nvSpPr>
        <p:spPr>
          <a:xfrm>
            <a:off x="4018562" y="2556412"/>
            <a:ext cx="7845547" cy="707886"/>
          </a:xfrm>
          <a:prstGeom prst="rect">
            <a:avLst/>
          </a:prstGeom>
          <a:noFill/>
        </p:spPr>
        <p:txBody>
          <a:bodyPr wrap="square" rtlCol="0" anchor="ctr" anchorCtr="0">
            <a:spAutoFit/>
          </a:bodyPr>
          <a:lstStyle/>
          <a:p>
            <a:pPr algn="ctr"/>
            <a:r>
              <a:rPr lang="en-US" sz="2000" dirty="0"/>
              <a:t>In case of Bitcoin, transactions are stored in blocks and all the required information is included in a Bitcoin </a:t>
            </a:r>
            <a:r>
              <a:rPr lang="en-US" sz="2000" dirty="0" err="1"/>
              <a:t>txn</a:t>
            </a:r>
            <a:endParaRPr lang="en-US" sz="2000" dirty="0"/>
          </a:p>
        </p:txBody>
      </p:sp>
      <p:sp>
        <p:nvSpPr>
          <p:cNvPr id="10" name="TextBox 9"/>
          <p:cNvSpPr txBox="1"/>
          <p:nvPr/>
        </p:nvSpPr>
        <p:spPr>
          <a:xfrm>
            <a:off x="4475746" y="5749700"/>
            <a:ext cx="7388361" cy="707886"/>
          </a:xfrm>
          <a:prstGeom prst="rect">
            <a:avLst/>
          </a:prstGeom>
          <a:noFill/>
        </p:spPr>
        <p:txBody>
          <a:bodyPr wrap="square" rtlCol="0" anchor="ctr" anchorCtr="0">
            <a:spAutoFit/>
          </a:bodyPr>
          <a:lstStyle/>
          <a:p>
            <a:pPr algn="ctr"/>
            <a:r>
              <a:rPr lang="en-US" sz="2000" dirty="0">
                <a:solidFill>
                  <a:schemeClr val="accent2"/>
                </a:solidFill>
              </a:rPr>
              <a:t>What about Ethereum? Do we store </a:t>
            </a:r>
            <a:r>
              <a:rPr lang="en-US" sz="2000" dirty="0" err="1">
                <a:solidFill>
                  <a:schemeClr val="accent2"/>
                </a:solidFill>
              </a:rPr>
              <a:t>txns</a:t>
            </a:r>
            <a:r>
              <a:rPr lang="en-US" sz="2000" dirty="0">
                <a:solidFill>
                  <a:schemeClr val="accent2"/>
                </a:solidFill>
              </a:rPr>
              <a:t> in blocks? What’s inside a </a:t>
            </a:r>
            <a:r>
              <a:rPr lang="en-US" sz="2000" dirty="0" err="1">
                <a:solidFill>
                  <a:schemeClr val="accent2"/>
                </a:solidFill>
              </a:rPr>
              <a:t>txn</a:t>
            </a:r>
            <a:r>
              <a:rPr lang="en-US" sz="2000" dirty="0">
                <a:solidFill>
                  <a:schemeClr val="accent2"/>
                </a:solidFill>
              </a:rPr>
              <a:t>? Account information, code, data, something else? </a:t>
            </a:r>
          </a:p>
        </p:txBody>
      </p:sp>
      <p:pic>
        <p:nvPicPr>
          <p:cNvPr id="21" name="Picture 20"/>
          <p:cNvPicPr>
            <a:picLocks noChangeAspect="1"/>
          </p:cNvPicPr>
          <p:nvPr/>
        </p:nvPicPr>
        <p:blipFill>
          <a:blip r:embed="rId4"/>
          <a:stretch>
            <a:fillRect/>
          </a:stretch>
        </p:blipFill>
        <p:spPr>
          <a:xfrm>
            <a:off x="6993003" y="3450633"/>
            <a:ext cx="2365877" cy="2180836"/>
          </a:xfrm>
          <a:prstGeom prst="rect">
            <a:avLst/>
          </a:prstGeom>
        </p:spPr>
      </p:pic>
    </p:spTree>
    <p:extLst>
      <p:ext uri="{BB962C8B-B14F-4D97-AF65-F5344CB8AC3E}">
        <p14:creationId xmlns:p14="http://schemas.microsoft.com/office/powerpoint/2010/main" val="4031755871"/>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Alternate View of Blockchain – World State</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23</a:t>
            </a:fld>
            <a:endParaRPr lang="en-US" dirty="0">
              <a:latin typeface="Candara" panose="020E0502030303020204" pitchFamily="34" charset="0"/>
            </a:endParaRPr>
          </a:p>
        </p:txBody>
      </p:sp>
      <p:sp>
        <p:nvSpPr>
          <p:cNvPr id="6" name="TextBox 5"/>
          <p:cNvSpPr txBox="1"/>
          <p:nvPr/>
        </p:nvSpPr>
        <p:spPr>
          <a:xfrm>
            <a:off x="771817" y="1066728"/>
            <a:ext cx="10609125" cy="430887"/>
          </a:xfrm>
          <a:prstGeom prst="rect">
            <a:avLst/>
          </a:prstGeom>
          <a:noFill/>
        </p:spPr>
        <p:txBody>
          <a:bodyPr wrap="square" rtlCol="0">
            <a:spAutoFit/>
          </a:bodyPr>
          <a:lstStyle/>
          <a:p>
            <a:pPr algn="ctr"/>
            <a:r>
              <a:rPr lang="en-US" sz="2200" dirty="0">
                <a:latin typeface="Candara" panose="020E0502030303020204" pitchFamily="34" charset="0"/>
              </a:rPr>
              <a:t>Due to account based model, we adopt a different approach to understand Ethereum</a:t>
            </a:r>
          </a:p>
        </p:txBody>
      </p:sp>
      <p:sp>
        <p:nvSpPr>
          <p:cNvPr id="3" name="Rectangle 2"/>
          <p:cNvSpPr/>
          <p:nvPr/>
        </p:nvSpPr>
        <p:spPr>
          <a:xfrm>
            <a:off x="507302" y="1834023"/>
            <a:ext cx="5457296" cy="1015663"/>
          </a:xfrm>
          <a:prstGeom prst="rect">
            <a:avLst/>
          </a:prstGeom>
          <a:solidFill>
            <a:srgbClr val="7030A0"/>
          </a:solidFill>
          <a:ln>
            <a:noFill/>
          </a:ln>
        </p:spPr>
        <p:txBody>
          <a:bodyPr wrap="square">
            <a:spAutoFit/>
          </a:bodyPr>
          <a:lstStyle/>
          <a:p>
            <a:pPr algn="ctr"/>
            <a:r>
              <a:rPr lang="en-US" sz="2000" dirty="0">
                <a:solidFill>
                  <a:schemeClr val="bg1"/>
                </a:solidFill>
                <a:latin typeface="Candara" panose="020E0502030303020204" pitchFamily="34" charset="0"/>
              </a:rPr>
              <a:t>Every Ethereum account has a state that is represented by a nonce, balance, </a:t>
            </a:r>
            <a:r>
              <a:rPr lang="en-US" sz="2000" dirty="0" err="1">
                <a:solidFill>
                  <a:schemeClr val="bg1"/>
                </a:solidFill>
                <a:latin typeface="Candara" panose="020E0502030303020204" pitchFamily="34" charset="0"/>
              </a:rPr>
              <a:t>codehash</a:t>
            </a:r>
            <a:r>
              <a:rPr lang="en-US" sz="2000" dirty="0">
                <a:solidFill>
                  <a:schemeClr val="bg1"/>
                </a:solidFill>
                <a:latin typeface="Candara" panose="020E0502030303020204" pitchFamily="34" charset="0"/>
              </a:rPr>
              <a:t> and </a:t>
            </a:r>
            <a:r>
              <a:rPr lang="en-US" sz="2000" dirty="0" err="1">
                <a:solidFill>
                  <a:schemeClr val="bg1"/>
                </a:solidFill>
                <a:latin typeface="Candara" panose="020E0502030303020204" pitchFamily="34" charset="0"/>
              </a:rPr>
              <a:t>storagehash</a:t>
            </a:r>
            <a:endParaRPr lang="en-US" sz="2000" dirty="0">
              <a:solidFill>
                <a:schemeClr val="bg1"/>
              </a:solidFill>
              <a:latin typeface="Candara" panose="020E0502030303020204" pitchFamily="34" charset="0"/>
            </a:endParaRPr>
          </a:p>
        </p:txBody>
      </p:sp>
      <p:sp>
        <p:nvSpPr>
          <p:cNvPr id="8" name="Rectangle 7"/>
          <p:cNvSpPr/>
          <p:nvPr/>
        </p:nvSpPr>
        <p:spPr>
          <a:xfrm>
            <a:off x="6396573" y="1843633"/>
            <a:ext cx="4900223" cy="1015663"/>
          </a:xfrm>
          <a:prstGeom prst="rect">
            <a:avLst/>
          </a:prstGeom>
          <a:solidFill>
            <a:schemeClr val="accent6">
              <a:lumMod val="50000"/>
            </a:schemeClr>
          </a:solidFill>
          <a:ln>
            <a:noFill/>
          </a:ln>
        </p:spPr>
        <p:txBody>
          <a:bodyPr wrap="square">
            <a:spAutoFit/>
          </a:bodyPr>
          <a:lstStyle/>
          <a:p>
            <a:pPr algn="ctr"/>
            <a:r>
              <a:rPr lang="en-US" sz="2000" dirty="0">
                <a:solidFill>
                  <a:schemeClr val="bg1"/>
                </a:solidFill>
                <a:latin typeface="Candara" panose="020E0502030303020204" pitchFamily="34" charset="0"/>
              </a:rPr>
              <a:t>The world state (simply state) of Ethereum at any time </a:t>
            </a:r>
            <a:r>
              <a:rPr lang="en-US" sz="2000" i="1" dirty="0">
                <a:solidFill>
                  <a:schemeClr val="bg1"/>
                </a:solidFill>
                <a:latin typeface="Candara" panose="020E0502030303020204" pitchFamily="34" charset="0"/>
              </a:rPr>
              <a:t>t </a:t>
            </a:r>
            <a:r>
              <a:rPr lang="en-US" sz="2000" dirty="0">
                <a:solidFill>
                  <a:schemeClr val="bg1"/>
                </a:solidFill>
                <a:latin typeface="Candara" panose="020E0502030303020204" pitchFamily="34" charset="0"/>
              </a:rPr>
              <a:t>is defined as the state of all the accounts</a:t>
            </a:r>
          </a:p>
        </p:txBody>
      </p:sp>
      <p:sp>
        <p:nvSpPr>
          <p:cNvPr id="9" name="TextBox 8"/>
          <p:cNvSpPr txBox="1"/>
          <p:nvPr/>
        </p:nvSpPr>
        <p:spPr>
          <a:xfrm>
            <a:off x="2036401" y="2949283"/>
            <a:ext cx="2692009" cy="400110"/>
          </a:xfrm>
          <a:prstGeom prst="rect">
            <a:avLst/>
          </a:prstGeom>
          <a:noFill/>
        </p:spPr>
        <p:txBody>
          <a:bodyPr wrap="square" rtlCol="0">
            <a:spAutoFit/>
          </a:bodyPr>
          <a:lstStyle/>
          <a:p>
            <a:pPr algn="ctr"/>
            <a:r>
              <a:rPr lang="en-US" sz="2000" dirty="0">
                <a:latin typeface="Candara" panose="020E0502030303020204" pitchFamily="34" charset="0"/>
              </a:rPr>
              <a:t>Single Account State</a:t>
            </a:r>
          </a:p>
        </p:txBody>
      </p:sp>
      <p:sp>
        <p:nvSpPr>
          <p:cNvPr id="10" name="TextBox 9"/>
          <p:cNvSpPr txBox="1"/>
          <p:nvPr/>
        </p:nvSpPr>
        <p:spPr>
          <a:xfrm>
            <a:off x="7926206" y="2964234"/>
            <a:ext cx="2187533" cy="400110"/>
          </a:xfrm>
          <a:prstGeom prst="rect">
            <a:avLst/>
          </a:prstGeom>
          <a:noFill/>
        </p:spPr>
        <p:txBody>
          <a:bodyPr wrap="square" rtlCol="0">
            <a:spAutoFit/>
          </a:bodyPr>
          <a:lstStyle/>
          <a:p>
            <a:pPr algn="ctr"/>
            <a:r>
              <a:rPr lang="en-US" sz="2000" dirty="0">
                <a:latin typeface="Candara" panose="020E0502030303020204" pitchFamily="34" charset="0"/>
              </a:rPr>
              <a:t>World State</a:t>
            </a:r>
          </a:p>
        </p:txBody>
      </p:sp>
      <p:grpSp>
        <p:nvGrpSpPr>
          <p:cNvPr id="12" name="Group 11"/>
          <p:cNvGrpSpPr/>
          <p:nvPr/>
        </p:nvGrpSpPr>
        <p:grpSpPr>
          <a:xfrm>
            <a:off x="487680" y="3429000"/>
            <a:ext cx="5649828" cy="2957582"/>
            <a:chOff x="3421626" y="1327355"/>
            <a:chExt cx="5407197" cy="3274142"/>
          </a:xfrm>
        </p:grpSpPr>
        <p:sp>
          <p:nvSpPr>
            <p:cNvPr id="18" name="Rectangle 17"/>
            <p:cNvSpPr/>
            <p:nvPr/>
          </p:nvSpPr>
          <p:spPr>
            <a:xfrm>
              <a:off x="3421626" y="1327355"/>
              <a:ext cx="5230217" cy="3274142"/>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grpSp>
          <p:nvGrpSpPr>
            <p:cNvPr id="14" name="Group 13"/>
            <p:cNvGrpSpPr/>
            <p:nvPr/>
          </p:nvGrpSpPr>
          <p:grpSpPr>
            <a:xfrm>
              <a:off x="5678129" y="1666568"/>
              <a:ext cx="1710813" cy="2580967"/>
              <a:chOff x="5678129" y="1666568"/>
              <a:chExt cx="1710813" cy="2580967"/>
            </a:xfrm>
          </p:grpSpPr>
          <p:sp>
            <p:nvSpPr>
              <p:cNvPr id="25" name="Rectangle 24"/>
              <p:cNvSpPr/>
              <p:nvPr/>
            </p:nvSpPr>
            <p:spPr>
              <a:xfrm>
                <a:off x="5678129" y="1666568"/>
                <a:ext cx="1710813" cy="258096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26" name="Oval 25"/>
              <p:cNvSpPr/>
              <p:nvPr/>
            </p:nvSpPr>
            <p:spPr>
              <a:xfrm>
                <a:off x="5855110" y="1735842"/>
                <a:ext cx="1371600" cy="52066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andara" panose="020E0502030303020204" pitchFamily="34" charset="0"/>
                  </a:rPr>
                  <a:t>nonce</a:t>
                </a:r>
              </a:p>
            </p:txBody>
          </p:sp>
          <p:sp>
            <p:nvSpPr>
              <p:cNvPr id="27" name="Oval 26"/>
              <p:cNvSpPr/>
              <p:nvPr/>
            </p:nvSpPr>
            <p:spPr>
              <a:xfrm>
                <a:off x="5847735" y="2359740"/>
                <a:ext cx="1371600" cy="49441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andara" panose="020E0502030303020204" pitchFamily="34" charset="0"/>
                  </a:rPr>
                  <a:t>balance</a:t>
                </a:r>
              </a:p>
            </p:txBody>
          </p:sp>
          <p:sp>
            <p:nvSpPr>
              <p:cNvPr id="28" name="Oval 27"/>
              <p:cNvSpPr/>
              <p:nvPr/>
            </p:nvSpPr>
            <p:spPr>
              <a:xfrm>
                <a:off x="5855110" y="2979171"/>
                <a:ext cx="1371600" cy="51172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andara" panose="020E0502030303020204" pitchFamily="34" charset="0"/>
                  </a:rPr>
                  <a:t>Storage hash</a:t>
                </a:r>
              </a:p>
            </p:txBody>
          </p:sp>
          <p:sp>
            <p:nvSpPr>
              <p:cNvPr id="29" name="Oval 28"/>
              <p:cNvSpPr/>
              <p:nvPr/>
            </p:nvSpPr>
            <p:spPr>
              <a:xfrm>
                <a:off x="5855110" y="3588982"/>
                <a:ext cx="1371600" cy="51172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andara" panose="020E0502030303020204" pitchFamily="34" charset="0"/>
                  </a:rPr>
                  <a:t>Code hash</a:t>
                </a:r>
              </a:p>
            </p:txBody>
          </p:sp>
        </p:grpSp>
        <p:grpSp>
          <p:nvGrpSpPr>
            <p:cNvPr id="15" name="Group 14"/>
            <p:cNvGrpSpPr/>
            <p:nvPr/>
          </p:nvGrpSpPr>
          <p:grpSpPr>
            <a:xfrm>
              <a:off x="7083477" y="3013824"/>
              <a:ext cx="1745346" cy="1497174"/>
              <a:chOff x="7083477" y="3013824"/>
              <a:chExt cx="1745346" cy="1497174"/>
            </a:xfrm>
          </p:grpSpPr>
          <p:sp>
            <p:nvSpPr>
              <p:cNvPr id="19" name="Flowchart: Magnetic Disk 18"/>
              <p:cNvSpPr/>
              <p:nvPr/>
            </p:nvSpPr>
            <p:spPr>
              <a:xfrm>
                <a:off x="7704903" y="3013824"/>
                <a:ext cx="492564" cy="477072"/>
              </a:xfrm>
              <a:prstGeom prst="flowChartMagneticDisk">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20" name="Rectangular Callout 19"/>
              <p:cNvSpPr/>
              <p:nvPr/>
            </p:nvSpPr>
            <p:spPr>
              <a:xfrm>
                <a:off x="7683910" y="3746770"/>
                <a:ext cx="530942" cy="456521"/>
              </a:xfrm>
              <a:prstGeom prst="wedgeRectCallou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cxnSp>
            <p:nvCxnSpPr>
              <p:cNvPr id="21" name="Straight Arrow Connector 20"/>
              <p:cNvCxnSpPr>
                <a:endCxn id="19" idx="2"/>
              </p:cNvCxnSpPr>
              <p:nvPr/>
            </p:nvCxnSpPr>
            <p:spPr>
              <a:xfrm>
                <a:off x="7093974" y="3235033"/>
                <a:ext cx="610929" cy="17327"/>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7083477" y="3894237"/>
                <a:ext cx="610929" cy="17327"/>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7399438" y="3458554"/>
                <a:ext cx="1429385" cy="318572"/>
              </a:xfrm>
              <a:prstGeom prst="rect">
                <a:avLst/>
              </a:prstGeom>
              <a:noFill/>
            </p:spPr>
            <p:txBody>
              <a:bodyPr wrap="square" rtlCol="0">
                <a:spAutoFit/>
              </a:bodyPr>
              <a:lstStyle/>
              <a:p>
                <a:r>
                  <a:rPr lang="en-US" sz="1100" dirty="0">
                    <a:latin typeface="Candara" panose="020E0502030303020204" pitchFamily="34" charset="0"/>
                  </a:rPr>
                  <a:t>Account storage</a:t>
                </a:r>
              </a:p>
            </p:txBody>
          </p:sp>
          <p:sp>
            <p:nvSpPr>
              <p:cNvPr id="24" name="TextBox 23"/>
              <p:cNvSpPr txBox="1"/>
              <p:nvPr/>
            </p:nvSpPr>
            <p:spPr>
              <a:xfrm>
                <a:off x="7567201" y="4192426"/>
                <a:ext cx="1077359" cy="318572"/>
              </a:xfrm>
              <a:prstGeom prst="rect">
                <a:avLst/>
              </a:prstGeom>
              <a:noFill/>
            </p:spPr>
            <p:txBody>
              <a:bodyPr wrap="square" rtlCol="0">
                <a:spAutoFit/>
              </a:bodyPr>
              <a:lstStyle/>
              <a:p>
                <a:r>
                  <a:rPr lang="en-US" sz="1100" dirty="0">
                    <a:latin typeface="Candara" panose="020E0502030303020204" pitchFamily="34" charset="0"/>
                  </a:rPr>
                  <a:t>EVM Code </a:t>
                </a:r>
              </a:p>
            </p:txBody>
          </p:sp>
        </p:grpSp>
        <p:sp>
          <p:nvSpPr>
            <p:cNvPr id="16" name="Oval 15"/>
            <p:cNvSpPr/>
            <p:nvPr/>
          </p:nvSpPr>
          <p:spPr>
            <a:xfrm>
              <a:off x="3532239" y="1839078"/>
              <a:ext cx="1371600" cy="52066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andara" panose="020E0502030303020204" pitchFamily="34" charset="0"/>
                </a:rPr>
                <a:t>Address</a:t>
              </a:r>
            </a:p>
          </p:txBody>
        </p:sp>
        <p:cxnSp>
          <p:nvCxnSpPr>
            <p:cNvPr id="17" name="Straight Arrow Connector 16"/>
            <p:cNvCxnSpPr/>
            <p:nvPr/>
          </p:nvCxnSpPr>
          <p:spPr>
            <a:xfrm>
              <a:off x="4903839" y="2082082"/>
              <a:ext cx="789039" cy="17327"/>
            </a:xfrm>
            <a:prstGeom prst="straightConnector1">
              <a:avLst/>
            </a:prstGeom>
            <a:ln>
              <a:solidFill>
                <a:schemeClr val="tx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44" name="Group 43"/>
          <p:cNvGrpSpPr/>
          <p:nvPr/>
        </p:nvGrpSpPr>
        <p:grpSpPr>
          <a:xfrm>
            <a:off x="6396573" y="3428597"/>
            <a:ext cx="5136076" cy="2957582"/>
            <a:chOff x="4899309" y="2010879"/>
            <a:chExt cx="4244691" cy="2688711"/>
          </a:xfrm>
        </p:grpSpPr>
        <p:sp>
          <p:nvSpPr>
            <p:cNvPr id="46" name="Rectangle 45"/>
            <p:cNvSpPr/>
            <p:nvPr/>
          </p:nvSpPr>
          <p:spPr>
            <a:xfrm>
              <a:off x="4899309" y="2010879"/>
              <a:ext cx="4244691" cy="2688711"/>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grpSp>
          <p:nvGrpSpPr>
            <p:cNvPr id="45" name="Group 44"/>
            <p:cNvGrpSpPr/>
            <p:nvPr/>
          </p:nvGrpSpPr>
          <p:grpSpPr>
            <a:xfrm>
              <a:off x="5057489" y="2167423"/>
              <a:ext cx="3923070" cy="2375624"/>
              <a:chOff x="5013245" y="2167423"/>
              <a:chExt cx="3923070" cy="2375624"/>
            </a:xfrm>
          </p:grpSpPr>
          <p:sp>
            <p:nvSpPr>
              <p:cNvPr id="47" name="Rounded Rectangle 46"/>
              <p:cNvSpPr/>
              <p:nvPr/>
            </p:nvSpPr>
            <p:spPr>
              <a:xfrm>
                <a:off x="5013245" y="2167423"/>
                <a:ext cx="3923070" cy="237562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48" name="Oval 47"/>
              <p:cNvSpPr/>
              <p:nvPr/>
            </p:nvSpPr>
            <p:spPr>
              <a:xfrm>
                <a:off x="5206180" y="2404132"/>
                <a:ext cx="1135626" cy="45705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ndara" panose="020E0502030303020204" pitchFamily="34" charset="0"/>
                  </a:rPr>
                  <a:t>Address 1</a:t>
                </a:r>
              </a:p>
            </p:txBody>
          </p:sp>
          <p:sp>
            <p:nvSpPr>
              <p:cNvPr id="49" name="Oval 48"/>
              <p:cNvSpPr/>
              <p:nvPr/>
            </p:nvSpPr>
            <p:spPr>
              <a:xfrm>
                <a:off x="5206180" y="2959452"/>
                <a:ext cx="1135626" cy="45705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ndara" panose="020E0502030303020204" pitchFamily="34" charset="0"/>
                  </a:rPr>
                  <a:t>Address 2</a:t>
                </a:r>
              </a:p>
            </p:txBody>
          </p:sp>
          <p:sp>
            <p:nvSpPr>
              <p:cNvPr id="50" name="Oval 49"/>
              <p:cNvSpPr/>
              <p:nvPr/>
            </p:nvSpPr>
            <p:spPr>
              <a:xfrm>
                <a:off x="5206180" y="3507264"/>
                <a:ext cx="1135626" cy="45705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ndara" panose="020E0502030303020204" pitchFamily="34" charset="0"/>
                  </a:rPr>
                  <a:t>Address 3</a:t>
                </a:r>
              </a:p>
            </p:txBody>
          </p:sp>
          <p:cxnSp>
            <p:nvCxnSpPr>
              <p:cNvPr id="51" name="Straight Arrow Connector 50"/>
              <p:cNvCxnSpPr/>
              <p:nvPr/>
            </p:nvCxnSpPr>
            <p:spPr>
              <a:xfrm>
                <a:off x="6341806" y="2618430"/>
                <a:ext cx="681359" cy="14229"/>
              </a:xfrm>
              <a:prstGeom prst="straightConnector1">
                <a:avLst/>
              </a:prstGeom>
              <a:ln>
                <a:solidFill>
                  <a:schemeClr val="tx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a:off x="6341805" y="3187979"/>
                <a:ext cx="681359" cy="14229"/>
              </a:xfrm>
              <a:prstGeom prst="straightConnector1">
                <a:avLst/>
              </a:prstGeom>
              <a:ln>
                <a:solidFill>
                  <a:schemeClr val="tx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a:off x="6341805" y="3757081"/>
                <a:ext cx="681359" cy="14229"/>
              </a:xfrm>
              <a:prstGeom prst="straightConnector1">
                <a:avLst/>
              </a:prstGeom>
              <a:ln>
                <a:solidFill>
                  <a:schemeClr val="tx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54" name="Oval 53"/>
              <p:cNvSpPr/>
              <p:nvPr/>
            </p:nvSpPr>
            <p:spPr>
              <a:xfrm>
                <a:off x="7023165" y="2397016"/>
                <a:ext cx="1707880" cy="45705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ndara" panose="020E0502030303020204" pitchFamily="34" charset="0"/>
                  </a:rPr>
                  <a:t>Account state 1</a:t>
                </a:r>
              </a:p>
            </p:txBody>
          </p:sp>
          <p:sp>
            <p:nvSpPr>
              <p:cNvPr id="55" name="Oval 54"/>
              <p:cNvSpPr/>
              <p:nvPr/>
            </p:nvSpPr>
            <p:spPr>
              <a:xfrm>
                <a:off x="7023165" y="2959064"/>
                <a:ext cx="1707880" cy="45705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ndara" panose="020E0502030303020204" pitchFamily="34" charset="0"/>
                  </a:rPr>
                  <a:t>Account state 2</a:t>
                </a:r>
              </a:p>
            </p:txBody>
          </p:sp>
          <p:sp>
            <p:nvSpPr>
              <p:cNvPr id="56" name="Oval 55"/>
              <p:cNvSpPr/>
              <p:nvPr/>
            </p:nvSpPr>
            <p:spPr>
              <a:xfrm>
                <a:off x="7023165" y="3542782"/>
                <a:ext cx="1707880" cy="45705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ndara" panose="020E0502030303020204" pitchFamily="34" charset="0"/>
                  </a:rPr>
                  <a:t>Account state 3</a:t>
                </a:r>
              </a:p>
            </p:txBody>
          </p:sp>
          <p:sp>
            <p:nvSpPr>
              <p:cNvPr id="57" name="TextBox 56"/>
              <p:cNvSpPr txBox="1"/>
              <p:nvPr/>
            </p:nvSpPr>
            <p:spPr>
              <a:xfrm>
                <a:off x="5663379" y="3865939"/>
                <a:ext cx="339215" cy="643533"/>
              </a:xfrm>
              <a:prstGeom prst="rect">
                <a:avLst/>
              </a:prstGeom>
              <a:noFill/>
            </p:spPr>
            <p:txBody>
              <a:bodyPr wrap="square" rtlCol="0">
                <a:spAutoFit/>
              </a:bodyPr>
              <a:lstStyle/>
              <a:p>
                <a:r>
                  <a:rPr lang="en-US" sz="2000" b="1" dirty="0">
                    <a:latin typeface="Candara" panose="020E0502030303020204" pitchFamily="34" charset="0"/>
                  </a:rPr>
                  <a:t>.</a:t>
                </a:r>
              </a:p>
              <a:p>
                <a:r>
                  <a:rPr lang="en-US" sz="2000" b="1" dirty="0">
                    <a:latin typeface="Candara" panose="020E0502030303020204" pitchFamily="34" charset="0"/>
                  </a:rPr>
                  <a:t>.</a:t>
                </a:r>
              </a:p>
            </p:txBody>
          </p:sp>
          <p:sp>
            <p:nvSpPr>
              <p:cNvPr id="58" name="TextBox 57"/>
              <p:cNvSpPr txBox="1"/>
              <p:nvPr/>
            </p:nvSpPr>
            <p:spPr>
              <a:xfrm>
                <a:off x="7781577" y="3887658"/>
                <a:ext cx="339215" cy="643533"/>
              </a:xfrm>
              <a:prstGeom prst="rect">
                <a:avLst/>
              </a:prstGeom>
              <a:noFill/>
            </p:spPr>
            <p:txBody>
              <a:bodyPr wrap="square" rtlCol="0">
                <a:spAutoFit/>
              </a:bodyPr>
              <a:lstStyle/>
              <a:p>
                <a:r>
                  <a:rPr lang="en-US" sz="2000" b="1" dirty="0">
                    <a:latin typeface="Candara" panose="020E0502030303020204" pitchFamily="34" charset="0"/>
                  </a:rPr>
                  <a:t>.</a:t>
                </a:r>
              </a:p>
              <a:p>
                <a:r>
                  <a:rPr lang="en-US" sz="2000" b="1" dirty="0">
                    <a:latin typeface="Candara" panose="020E0502030303020204" pitchFamily="34" charset="0"/>
                  </a:rPr>
                  <a:t>.</a:t>
                </a:r>
              </a:p>
            </p:txBody>
          </p:sp>
        </p:grpSp>
      </p:grpSp>
    </p:spTree>
    <p:extLst>
      <p:ext uri="{BB962C8B-B14F-4D97-AF65-F5344CB8AC3E}">
        <p14:creationId xmlns:p14="http://schemas.microsoft.com/office/powerpoint/2010/main" val="2822715829"/>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9" grpId="0"/>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Transaction</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24</a:t>
            </a:fld>
            <a:endParaRPr lang="en-US" dirty="0">
              <a:latin typeface="Candara" panose="020E0502030303020204" pitchFamily="34" charset="0"/>
            </a:endParaRPr>
          </a:p>
        </p:txBody>
      </p:sp>
      <p:sp>
        <p:nvSpPr>
          <p:cNvPr id="7" name="Rounded Rectangle 6"/>
          <p:cNvSpPr/>
          <p:nvPr/>
        </p:nvSpPr>
        <p:spPr>
          <a:xfrm>
            <a:off x="487680" y="2979095"/>
            <a:ext cx="3470030" cy="1902467"/>
          </a:xfrm>
          <a:prstGeom prst="roundRect">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Candara" panose="020E0502030303020204" pitchFamily="34" charset="0"/>
              </a:rPr>
              <a:t>World State at time </a:t>
            </a:r>
            <a:r>
              <a:rPr lang="en-US" sz="3600" i="1" dirty="0">
                <a:solidFill>
                  <a:schemeClr val="tx1"/>
                </a:solidFill>
                <a:latin typeface="Candara" panose="020E0502030303020204" pitchFamily="34" charset="0"/>
              </a:rPr>
              <a:t>t</a:t>
            </a:r>
            <a:r>
              <a:rPr lang="en-US" sz="3600" dirty="0">
                <a:solidFill>
                  <a:schemeClr val="tx1"/>
                </a:solidFill>
                <a:latin typeface="Candara" panose="020E0502030303020204" pitchFamily="34" charset="0"/>
              </a:rPr>
              <a:t> </a:t>
            </a:r>
          </a:p>
        </p:txBody>
      </p:sp>
      <p:sp>
        <p:nvSpPr>
          <p:cNvPr id="8" name="Rounded Rectangle 7"/>
          <p:cNvSpPr/>
          <p:nvPr/>
        </p:nvSpPr>
        <p:spPr>
          <a:xfrm>
            <a:off x="8399341" y="2994789"/>
            <a:ext cx="3470030" cy="1902467"/>
          </a:xfrm>
          <a:prstGeom prst="roundRect">
            <a:avLst/>
          </a:prstGeom>
          <a:solidFill>
            <a:schemeClr val="accent6">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Candara" panose="020E0502030303020204" pitchFamily="34" charset="0"/>
              </a:rPr>
              <a:t>World State at time </a:t>
            </a:r>
            <a:r>
              <a:rPr lang="en-US" sz="3600" i="1" dirty="0">
                <a:solidFill>
                  <a:schemeClr val="tx1"/>
                </a:solidFill>
                <a:latin typeface="Candara" panose="020E0502030303020204" pitchFamily="34" charset="0"/>
              </a:rPr>
              <a:t>t+1</a:t>
            </a:r>
            <a:r>
              <a:rPr lang="en-US" sz="3600" dirty="0">
                <a:solidFill>
                  <a:schemeClr val="tx1"/>
                </a:solidFill>
                <a:latin typeface="Candara" panose="020E0502030303020204" pitchFamily="34" charset="0"/>
              </a:rPr>
              <a:t> </a:t>
            </a:r>
          </a:p>
        </p:txBody>
      </p:sp>
      <p:sp>
        <p:nvSpPr>
          <p:cNvPr id="10" name="Right Arrow 9"/>
          <p:cNvSpPr/>
          <p:nvPr/>
        </p:nvSpPr>
        <p:spPr>
          <a:xfrm>
            <a:off x="3957709" y="3642608"/>
            <a:ext cx="4459459" cy="575439"/>
          </a:xfrm>
          <a:prstGeom prst="rightArrow">
            <a:avLst/>
          </a:prstGeom>
          <a:solidFill>
            <a:schemeClr val="accent4"/>
          </a:solidFill>
          <a:ln cap="sq">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11" name="Content Placeholder 2"/>
          <p:cNvSpPr>
            <a:spLocks noGrp="1"/>
          </p:cNvSpPr>
          <p:nvPr>
            <p:ph idx="1"/>
          </p:nvPr>
        </p:nvSpPr>
        <p:spPr>
          <a:xfrm>
            <a:off x="847401" y="1131326"/>
            <a:ext cx="10497198" cy="845113"/>
          </a:xfrm>
          <a:solidFill>
            <a:srgbClr val="7030A0"/>
          </a:solidFill>
          <a:ln>
            <a:solidFill>
              <a:srgbClr val="7030A0"/>
            </a:solidFill>
          </a:ln>
        </p:spPr>
        <p:txBody>
          <a:bodyPr anchor="ctr" anchorCtr="0">
            <a:normAutofit/>
          </a:bodyPr>
          <a:lstStyle/>
          <a:p>
            <a:pPr marL="0" indent="0" algn="ctr">
              <a:buNone/>
            </a:pPr>
            <a:r>
              <a:rPr lang="en-US" sz="2400" dirty="0">
                <a:solidFill>
                  <a:schemeClr val="bg1"/>
                </a:solidFill>
              </a:rPr>
              <a:t>A transactions is a single cryptographically signed instruction initiated by an EOA that changes Ethereum world state</a:t>
            </a:r>
          </a:p>
        </p:txBody>
      </p:sp>
      <p:sp>
        <p:nvSpPr>
          <p:cNvPr id="12" name="TextBox 11"/>
          <p:cNvSpPr txBox="1"/>
          <p:nvPr/>
        </p:nvSpPr>
        <p:spPr>
          <a:xfrm>
            <a:off x="4311158" y="2794701"/>
            <a:ext cx="3470030" cy="646331"/>
          </a:xfrm>
          <a:prstGeom prst="rect">
            <a:avLst/>
          </a:prstGeom>
          <a:noFill/>
        </p:spPr>
        <p:txBody>
          <a:bodyPr wrap="square" rtlCol="0">
            <a:spAutoFit/>
          </a:bodyPr>
          <a:lstStyle/>
          <a:p>
            <a:pPr algn="ctr"/>
            <a:r>
              <a:rPr lang="en-US" sz="3600" dirty="0">
                <a:latin typeface="Candara" panose="020E0502030303020204" pitchFamily="34" charset="0"/>
              </a:rPr>
              <a:t>Transaction</a:t>
            </a:r>
          </a:p>
        </p:txBody>
      </p:sp>
      <p:sp>
        <p:nvSpPr>
          <p:cNvPr id="13" name="Rectangle 12"/>
          <p:cNvSpPr/>
          <p:nvPr/>
        </p:nvSpPr>
        <p:spPr>
          <a:xfrm>
            <a:off x="276961" y="5422435"/>
            <a:ext cx="11546918" cy="954105"/>
          </a:xfrm>
          <a:prstGeom prst="rect">
            <a:avLst/>
          </a:prstGeom>
          <a:ln>
            <a:noFill/>
          </a:ln>
        </p:spPr>
        <p:txBody>
          <a:bodyPr vert="horz" lIns="91438" tIns="45719" rIns="91438" bIns="45719" rtlCol="0" anchor="ctr" anchorCtr="0">
            <a:spAutoFit/>
          </a:bodyPr>
          <a:lstStyle/>
          <a:p>
            <a:pPr algn="ctr" defTabSz="685783">
              <a:spcBef>
                <a:spcPts val="750"/>
              </a:spcBef>
            </a:pPr>
            <a:r>
              <a:rPr lang="en-US" sz="2800" dirty="0">
                <a:latin typeface="Candara" panose="020E0502030303020204" pitchFamily="34" charset="0"/>
              </a:rPr>
              <a:t>Only valid transactions change the world state because invalid </a:t>
            </a:r>
            <a:r>
              <a:rPr lang="en-US" sz="2800" dirty="0" err="1">
                <a:latin typeface="Candara" panose="020E0502030303020204" pitchFamily="34" charset="0"/>
              </a:rPr>
              <a:t>txns</a:t>
            </a:r>
            <a:r>
              <a:rPr lang="en-US" sz="2800" dirty="0">
                <a:latin typeface="Candara" panose="020E0502030303020204" pitchFamily="34" charset="0"/>
              </a:rPr>
              <a:t> are rejected by the network</a:t>
            </a:r>
          </a:p>
        </p:txBody>
      </p:sp>
    </p:spTree>
    <p:extLst>
      <p:ext uri="{BB962C8B-B14F-4D97-AF65-F5344CB8AC3E}">
        <p14:creationId xmlns:p14="http://schemas.microsoft.com/office/powerpoint/2010/main" val="3755654741"/>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2" grpId="0"/>
      <p:bldP spid="1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Block</a:t>
            </a:r>
          </a:p>
        </p:txBody>
      </p:sp>
      <p:sp>
        <p:nvSpPr>
          <p:cNvPr id="4" name="Slide Number Placeholder 3"/>
          <p:cNvSpPr>
            <a:spLocks noGrp="1"/>
          </p:cNvSpPr>
          <p:nvPr>
            <p:ph type="sldNum" sz="quarter" idx="12"/>
          </p:nvPr>
        </p:nvSpPr>
        <p:spPr/>
        <p:txBody>
          <a:bodyPr/>
          <a:lstStyle/>
          <a:p>
            <a:fld id="{19FE8B7B-3258-47CD-BBC0-34D05FC906E5}" type="slidenum">
              <a:rPr lang="en-US" smtClean="0"/>
              <a:t>25</a:t>
            </a:fld>
            <a:endParaRPr lang="en-US" dirty="0"/>
          </a:p>
        </p:txBody>
      </p:sp>
      <p:sp>
        <p:nvSpPr>
          <p:cNvPr id="11" name="Content Placeholder 2"/>
          <p:cNvSpPr>
            <a:spLocks noGrp="1"/>
          </p:cNvSpPr>
          <p:nvPr>
            <p:ph idx="1"/>
          </p:nvPr>
        </p:nvSpPr>
        <p:spPr>
          <a:xfrm>
            <a:off x="816287" y="1108715"/>
            <a:ext cx="10650665" cy="779397"/>
          </a:xfrm>
          <a:solidFill>
            <a:srgbClr val="7030A0"/>
          </a:solidFill>
          <a:ln>
            <a:solidFill>
              <a:srgbClr val="7030A0"/>
            </a:solidFill>
          </a:ln>
        </p:spPr>
        <p:txBody>
          <a:bodyPr vert="horz" lIns="91440" tIns="45720" rIns="91440" bIns="45720" rtlCol="0" anchor="ctr" anchorCtr="0">
            <a:normAutofit/>
          </a:bodyPr>
          <a:lstStyle/>
          <a:p>
            <a:pPr marL="0" indent="0" algn="ctr">
              <a:buNone/>
            </a:pPr>
            <a:r>
              <a:rPr lang="en-US" sz="2400" dirty="0">
                <a:solidFill>
                  <a:schemeClr val="bg1"/>
                </a:solidFill>
              </a:rPr>
              <a:t>An Ethereum block is a collection of transactions &amp; all the transactions inside a block collectively change the world state</a:t>
            </a:r>
          </a:p>
        </p:txBody>
      </p:sp>
      <p:grpSp>
        <p:nvGrpSpPr>
          <p:cNvPr id="5" name="Group 4"/>
          <p:cNvGrpSpPr/>
          <p:nvPr/>
        </p:nvGrpSpPr>
        <p:grpSpPr>
          <a:xfrm>
            <a:off x="4947138" y="2095040"/>
            <a:ext cx="2076450" cy="1591499"/>
            <a:chOff x="3277101" y="2270004"/>
            <a:chExt cx="2076450" cy="1591499"/>
          </a:xfrm>
        </p:grpSpPr>
        <p:sp>
          <p:nvSpPr>
            <p:cNvPr id="12" name="TextBox 11"/>
            <p:cNvSpPr txBox="1"/>
            <p:nvPr/>
          </p:nvSpPr>
          <p:spPr>
            <a:xfrm>
              <a:off x="3433010" y="2270004"/>
              <a:ext cx="1780674" cy="400110"/>
            </a:xfrm>
            <a:prstGeom prst="rect">
              <a:avLst/>
            </a:prstGeom>
            <a:noFill/>
          </p:spPr>
          <p:txBody>
            <a:bodyPr wrap="square" rtlCol="0">
              <a:spAutoFit/>
            </a:bodyPr>
            <a:lstStyle/>
            <a:p>
              <a:pPr algn="ctr"/>
              <a:r>
                <a:rPr lang="en-US" sz="2000" dirty="0">
                  <a:latin typeface="Candara" panose="020E0502030303020204" pitchFamily="34" charset="0"/>
                </a:rPr>
                <a:t>Block</a:t>
              </a:r>
            </a:p>
          </p:txBody>
        </p:sp>
        <p:pic>
          <p:nvPicPr>
            <p:cNvPr id="3" name="Picture 2"/>
            <p:cNvPicPr>
              <a:picLocks noChangeAspect="1"/>
            </p:cNvPicPr>
            <p:nvPr/>
          </p:nvPicPr>
          <p:blipFill>
            <a:blip r:embed="rId3"/>
            <a:stretch>
              <a:fillRect/>
            </a:stretch>
          </p:blipFill>
          <p:spPr>
            <a:xfrm>
              <a:off x="3277101" y="2594678"/>
              <a:ext cx="2076450" cy="1266825"/>
            </a:xfrm>
            <a:prstGeom prst="rect">
              <a:avLst/>
            </a:prstGeom>
          </p:spPr>
        </p:pic>
      </p:grpSp>
      <p:sp>
        <p:nvSpPr>
          <p:cNvPr id="14" name="Content Placeholder 2"/>
          <p:cNvSpPr txBox="1">
            <a:spLocks/>
          </p:cNvSpPr>
          <p:nvPr/>
        </p:nvSpPr>
        <p:spPr>
          <a:xfrm>
            <a:off x="862105" y="5272641"/>
            <a:ext cx="10650665" cy="1077216"/>
          </a:xfrm>
          <a:prstGeom prst="rect">
            <a:avLst/>
          </a:prstGeom>
          <a:ln>
            <a:noFill/>
          </a:ln>
        </p:spPr>
        <p:txBody>
          <a:bodyPr vert="horz" lIns="91438" tIns="45719" rIns="91438" bIns="45719" rtlCol="0" anchor="ctr" anchorCtr="0">
            <a:spAutoFit/>
          </a:bodyPr>
          <a:lstStyle>
            <a:lvl1pPr marL="171446" indent="-171446" algn="l" defTabSz="685783" rtl="0" eaLnBrk="1" latinLnBrk="0" hangingPunct="1">
              <a:lnSpc>
                <a:spcPct val="100000"/>
              </a:lnSpc>
              <a:spcBef>
                <a:spcPts val="750"/>
              </a:spcBef>
              <a:buFont typeface="Arial" panose="020B0604020202020204" pitchFamily="34" charset="0"/>
              <a:buChar char="•"/>
              <a:defRPr sz="2200" kern="1200">
                <a:solidFill>
                  <a:schemeClr val="tx1"/>
                </a:solidFill>
                <a:latin typeface="+mn-lt"/>
                <a:ea typeface="+mn-ea"/>
                <a:cs typeface="+mn-cs"/>
              </a:defRPr>
            </a:lvl1pPr>
            <a:lvl2pPr marL="514337" indent="-171446" algn="l" defTabSz="685783" rtl="0" eaLnBrk="1" latinLnBrk="0" hangingPunct="1">
              <a:lnSpc>
                <a:spcPct val="10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28" indent="-171446" algn="l" defTabSz="685783" rtl="0" eaLnBrk="1" latinLnBrk="0" hangingPunct="1">
              <a:lnSpc>
                <a:spcPct val="100000"/>
              </a:lnSpc>
              <a:spcBef>
                <a:spcPts val="375"/>
              </a:spcBef>
              <a:buFont typeface="Arial" panose="020B0604020202020204" pitchFamily="34" charset="0"/>
              <a:buChar char="•"/>
              <a:defRPr sz="1600" kern="1200">
                <a:solidFill>
                  <a:schemeClr val="tx1"/>
                </a:solidFill>
                <a:latin typeface="+mn-lt"/>
                <a:ea typeface="+mn-ea"/>
                <a:cs typeface="+mn-cs"/>
              </a:defRPr>
            </a:lvl3pPr>
            <a:lvl4pPr marL="1200120" indent="-171446" algn="l" defTabSz="685783" rtl="0" eaLnBrk="1" latinLnBrk="0" hangingPunct="1">
              <a:lnSpc>
                <a:spcPct val="100000"/>
              </a:lnSpc>
              <a:spcBef>
                <a:spcPts val="375"/>
              </a:spcBef>
              <a:buFont typeface="Arial" panose="020B0604020202020204" pitchFamily="34" charset="0"/>
              <a:buChar char="•"/>
              <a:defRPr sz="1500" kern="1200">
                <a:solidFill>
                  <a:schemeClr val="tx1"/>
                </a:solidFill>
                <a:latin typeface="+mn-lt"/>
                <a:ea typeface="+mn-ea"/>
                <a:cs typeface="+mn-cs"/>
              </a:defRPr>
            </a:lvl4pPr>
            <a:lvl5pPr marL="1543012" indent="-171446" algn="l" defTabSz="685783" rtl="0" eaLnBrk="1" latinLnBrk="0" hangingPunct="1">
              <a:lnSpc>
                <a:spcPct val="100000"/>
              </a:lnSpc>
              <a:spcBef>
                <a:spcPts val="375"/>
              </a:spcBef>
              <a:buFont typeface="Arial" panose="020B0604020202020204" pitchFamily="34" charset="0"/>
              <a:buChar char="•"/>
              <a:defRPr sz="1500" kern="1200">
                <a:solidFill>
                  <a:schemeClr val="tx1"/>
                </a:solidFill>
                <a:latin typeface="+mn-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9pPr>
          </a:lstStyle>
          <a:p>
            <a:pPr marL="0" indent="0" algn="ctr">
              <a:buNone/>
            </a:pPr>
            <a:r>
              <a:rPr lang="en-US" sz="3200" dirty="0">
                <a:solidFill>
                  <a:srgbClr val="002060"/>
                </a:solidFill>
              </a:rPr>
              <a:t>The update rate of world state is equal to the block generation rate</a:t>
            </a:r>
          </a:p>
        </p:txBody>
      </p:sp>
      <p:sp>
        <p:nvSpPr>
          <p:cNvPr id="6" name="Rounded Rectangle 6">
            <a:extLst>
              <a:ext uri="{FF2B5EF4-FFF2-40B4-BE49-F238E27FC236}">
                <a16:creationId xmlns:a16="http://schemas.microsoft.com/office/drawing/2014/main" id="{8A2CC9FC-A6E2-F977-5C23-6E0540CF6A34}"/>
              </a:ext>
            </a:extLst>
          </p:cNvPr>
          <p:cNvSpPr/>
          <p:nvPr/>
        </p:nvSpPr>
        <p:spPr>
          <a:xfrm>
            <a:off x="487680" y="2979095"/>
            <a:ext cx="3470030" cy="1902467"/>
          </a:xfrm>
          <a:prstGeom prst="roundRect">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Candara" panose="020E0502030303020204" pitchFamily="34" charset="0"/>
              </a:rPr>
              <a:t>World State at time </a:t>
            </a:r>
            <a:r>
              <a:rPr lang="en-US" sz="3600" i="1" dirty="0">
                <a:solidFill>
                  <a:schemeClr val="tx1"/>
                </a:solidFill>
                <a:latin typeface="Candara" panose="020E0502030303020204" pitchFamily="34" charset="0"/>
              </a:rPr>
              <a:t>t</a:t>
            </a:r>
            <a:r>
              <a:rPr lang="en-US" sz="3600" dirty="0">
                <a:solidFill>
                  <a:schemeClr val="tx1"/>
                </a:solidFill>
                <a:latin typeface="Candara" panose="020E0502030303020204" pitchFamily="34" charset="0"/>
              </a:rPr>
              <a:t> </a:t>
            </a:r>
          </a:p>
        </p:txBody>
      </p:sp>
      <p:sp>
        <p:nvSpPr>
          <p:cNvPr id="9" name="Rounded Rectangle 7">
            <a:extLst>
              <a:ext uri="{FF2B5EF4-FFF2-40B4-BE49-F238E27FC236}">
                <a16:creationId xmlns:a16="http://schemas.microsoft.com/office/drawing/2014/main" id="{87124D2B-6FFE-C896-F9CE-2B5DF36D0898}"/>
              </a:ext>
            </a:extLst>
          </p:cNvPr>
          <p:cNvSpPr/>
          <p:nvPr/>
        </p:nvSpPr>
        <p:spPr>
          <a:xfrm>
            <a:off x="8399341" y="2994789"/>
            <a:ext cx="3470030" cy="1902467"/>
          </a:xfrm>
          <a:prstGeom prst="roundRect">
            <a:avLst/>
          </a:prstGeom>
          <a:solidFill>
            <a:schemeClr val="accent6">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Candara" panose="020E0502030303020204" pitchFamily="34" charset="0"/>
              </a:rPr>
              <a:t>World State at time </a:t>
            </a:r>
            <a:r>
              <a:rPr lang="en-US" sz="3600" i="1" dirty="0">
                <a:solidFill>
                  <a:schemeClr val="tx1"/>
                </a:solidFill>
                <a:latin typeface="Candara" panose="020E0502030303020204" pitchFamily="34" charset="0"/>
              </a:rPr>
              <a:t>t+1</a:t>
            </a:r>
            <a:r>
              <a:rPr lang="en-US" sz="3600" dirty="0">
                <a:solidFill>
                  <a:schemeClr val="tx1"/>
                </a:solidFill>
                <a:latin typeface="Candara" panose="020E0502030303020204" pitchFamily="34" charset="0"/>
              </a:rPr>
              <a:t> </a:t>
            </a:r>
          </a:p>
        </p:txBody>
      </p:sp>
      <p:sp>
        <p:nvSpPr>
          <p:cNvPr id="13" name="Right Arrow 9">
            <a:extLst>
              <a:ext uri="{FF2B5EF4-FFF2-40B4-BE49-F238E27FC236}">
                <a16:creationId xmlns:a16="http://schemas.microsoft.com/office/drawing/2014/main" id="{8E411B6B-8F25-31CE-0287-6A2720DFA3C1}"/>
              </a:ext>
            </a:extLst>
          </p:cNvPr>
          <p:cNvSpPr/>
          <p:nvPr/>
        </p:nvSpPr>
        <p:spPr>
          <a:xfrm>
            <a:off x="3957709" y="3642608"/>
            <a:ext cx="4459459" cy="575439"/>
          </a:xfrm>
          <a:prstGeom prst="rightArrow">
            <a:avLst/>
          </a:prstGeom>
          <a:solidFill>
            <a:schemeClr val="accent4"/>
          </a:solidFill>
          <a:ln cap="sq">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Tree>
    <p:extLst>
      <p:ext uri="{BB962C8B-B14F-4D97-AF65-F5344CB8AC3E}">
        <p14:creationId xmlns:p14="http://schemas.microsoft.com/office/powerpoint/2010/main" val="3368751427"/>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6" grpId="0" animBg="1"/>
      <p:bldP spid="9" grpId="0" animBg="1"/>
      <p:bldP spid="1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Blockchain</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26</a:t>
            </a:fld>
            <a:endParaRPr lang="en-US" dirty="0">
              <a:latin typeface="Candara" panose="020E0502030303020204" pitchFamily="34" charset="0"/>
            </a:endParaRPr>
          </a:p>
        </p:txBody>
      </p:sp>
      <p:sp>
        <p:nvSpPr>
          <p:cNvPr id="7" name="Rounded Rectangle 6"/>
          <p:cNvSpPr/>
          <p:nvPr/>
        </p:nvSpPr>
        <p:spPr>
          <a:xfrm>
            <a:off x="4834418" y="4174878"/>
            <a:ext cx="2607085" cy="1572286"/>
          </a:xfrm>
          <a:prstGeom prst="roundRect">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Candara" panose="020E0502030303020204" pitchFamily="34" charset="0"/>
              </a:rPr>
              <a:t>World State at time </a:t>
            </a:r>
            <a:r>
              <a:rPr lang="en-US" sz="2800" i="1" dirty="0">
                <a:solidFill>
                  <a:schemeClr val="tx1"/>
                </a:solidFill>
                <a:latin typeface="Candara" panose="020E0502030303020204" pitchFamily="34" charset="0"/>
              </a:rPr>
              <a:t>t</a:t>
            </a:r>
            <a:r>
              <a:rPr lang="en-US" sz="2800" dirty="0">
                <a:solidFill>
                  <a:schemeClr val="tx1"/>
                </a:solidFill>
                <a:latin typeface="Candara" panose="020E0502030303020204" pitchFamily="34" charset="0"/>
              </a:rPr>
              <a:t> </a:t>
            </a:r>
          </a:p>
        </p:txBody>
      </p:sp>
      <p:sp>
        <p:nvSpPr>
          <p:cNvPr id="8" name="Rounded Rectangle 7"/>
          <p:cNvSpPr/>
          <p:nvPr/>
        </p:nvSpPr>
        <p:spPr>
          <a:xfrm>
            <a:off x="9379706" y="4190653"/>
            <a:ext cx="2095398" cy="1572286"/>
          </a:xfrm>
          <a:prstGeom prst="roundRect">
            <a:avLst/>
          </a:prstGeom>
          <a:solidFill>
            <a:schemeClr val="accent6">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Candara" panose="020E0502030303020204" pitchFamily="34" charset="0"/>
              </a:rPr>
              <a:t>World State at time </a:t>
            </a:r>
            <a:r>
              <a:rPr lang="en-US" sz="2800" i="1" dirty="0">
                <a:solidFill>
                  <a:schemeClr val="tx1"/>
                </a:solidFill>
                <a:latin typeface="Candara" panose="020E0502030303020204" pitchFamily="34" charset="0"/>
              </a:rPr>
              <a:t>t+1</a:t>
            </a:r>
            <a:r>
              <a:rPr lang="en-US" sz="2800" dirty="0">
                <a:solidFill>
                  <a:schemeClr val="tx1"/>
                </a:solidFill>
                <a:latin typeface="Candara" panose="020E0502030303020204" pitchFamily="34" charset="0"/>
              </a:rPr>
              <a:t> </a:t>
            </a:r>
          </a:p>
        </p:txBody>
      </p:sp>
      <p:sp>
        <p:nvSpPr>
          <p:cNvPr id="11" name="Content Placeholder 2"/>
          <p:cNvSpPr>
            <a:spLocks noGrp="1"/>
          </p:cNvSpPr>
          <p:nvPr>
            <p:ph idx="1"/>
          </p:nvPr>
        </p:nvSpPr>
        <p:spPr>
          <a:xfrm>
            <a:off x="951544" y="1145981"/>
            <a:ext cx="10165635" cy="757130"/>
          </a:xfrm>
          <a:solidFill>
            <a:srgbClr val="7030A0"/>
          </a:solidFill>
          <a:ln>
            <a:noFill/>
          </a:ln>
        </p:spPr>
        <p:txBody>
          <a:bodyPr wrap="square" anchor="ctr" anchorCtr="0">
            <a:spAutoFit/>
          </a:bodyPr>
          <a:lstStyle/>
          <a:p>
            <a:pPr marL="0" indent="0" algn="ctr">
              <a:buNone/>
            </a:pPr>
            <a:r>
              <a:rPr lang="en-US" sz="2400" dirty="0">
                <a:solidFill>
                  <a:schemeClr val="bg1"/>
                </a:solidFill>
              </a:rPr>
              <a:t>To preserve the transaction history, blocks are strictly ordered and every new block contains a reference to its parent block</a:t>
            </a:r>
          </a:p>
        </p:txBody>
      </p:sp>
      <p:grpSp>
        <p:nvGrpSpPr>
          <p:cNvPr id="5" name="Group 4"/>
          <p:cNvGrpSpPr/>
          <p:nvPr/>
        </p:nvGrpSpPr>
        <p:grpSpPr>
          <a:xfrm>
            <a:off x="7100915" y="2380288"/>
            <a:ext cx="2278790" cy="1723354"/>
            <a:chOff x="3277101" y="2270004"/>
            <a:chExt cx="2076450" cy="1591499"/>
          </a:xfrm>
        </p:grpSpPr>
        <p:sp>
          <p:nvSpPr>
            <p:cNvPr id="12" name="TextBox 11"/>
            <p:cNvSpPr txBox="1"/>
            <p:nvPr/>
          </p:nvSpPr>
          <p:spPr>
            <a:xfrm>
              <a:off x="3433010" y="2270004"/>
              <a:ext cx="1780674" cy="369497"/>
            </a:xfrm>
            <a:prstGeom prst="rect">
              <a:avLst/>
            </a:prstGeom>
            <a:noFill/>
          </p:spPr>
          <p:txBody>
            <a:bodyPr wrap="square" rtlCol="0">
              <a:spAutoFit/>
            </a:bodyPr>
            <a:lstStyle/>
            <a:p>
              <a:pPr algn="ctr"/>
              <a:r>
                <a:rPr lang="en-US" sz="2000" dirty="0">
                  <a:latin typeface="Candara" panose="020E0502030303020204" pitchFamily="34" charset="0"/>
                </a:rPr>
                <a:t>Block b</a:t>
              </a:r>
            </a:p>
          </p:txBody>
        </p:sp>
        <p:pic>
          <p:nvPicPr>
            <p:cNvPr id="3" name="Picture 2"/>
            <p:cNvPicPr>
              <a:picLocks noChangeAspect="1"/>
            </p:cNvPicPr>
            <p:nvPr/>
          </p:nvPicPr>
          <p:blipFill>
            <a:blip r:embed="rId2"/>
            <a:stretch>
              <a:fillRect/>
            </a:stretch>
          </p:blipFill>
          <p:spPr>
            <a:xfrm>
              <a:off x="3277101" y="2594678"/>
              <a:ext cx="2076450" cy="1266825"/>
            </a:xfrm>
            <a:prstGeom prst="rect">
              <a:avLst/>
            </a:prstGeom>
          </p:spPr>
        </p:pic>
      </p:grpSp>
      <p:sp>
        <p:nvSpPr>
          <p:cNvPr id="14" name="Rounded Rectangle 13"/>
          <p:cNvSpPr/>
          <p:nvPr/>
        </p:nvSpPr>
        <p:spPr>
          <a:xfrm>
            <a:off x="623740" y="4174878"/>
            <a:ext cx="2095398" cy="1572286"/>
          </a:xfrm>
          <a:prstGeom prst="roundRect">
            <a:avLst/>
          </a:prstGeom>
          <a:solidFill>
            <a:schemeClr val="accent1">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Candara" panose="020E0502030303020204" pitchFamily="34" charset="0"/>
              </a:rPr>
              <a:t>World State at time </a:t>
            </a:r>
            <a:r>
              <a:rPr lang="en-US" sz="2800" i="1" dirty="0">
                <a:solidFill>
                  <a:schemeClr val="tx1"/>
                </a:solidFill>
                <a:latin typeface="Candara" panose="020E0502030303020204" pitchFamily="34" charset="0"/>
              </a:rPr>
              <a:t>t-1</a:t>
            </a:r>
            <a:r>
              <a:rPr lang="en-US" sz="2800" dirty="0">
                <a:solidFill>
                  <a:schemeClr val="tx1"/>
                </a:solidFill>
                <a:latin typeface="Candara" panose="020E0502030303020204" pitchFamily="34" charset="0"/>
              </a:rPr>
              <a:t> </a:t>
            </a:r>
          </a:p>
        </p:txBody>
      </p:sp>
      <p:sp>
        <p:nvSpPr>
          <p:cNvPr id="15" name="Right Arrow 14"/>
          <p:cNvSpPr/>
          <p:nvPr/>
        </p:nvSpPr>
        <p:spPr>
          <a:xfrm>
            <a:off x="2739020" y="4739012"/>
            <a:ext cx="2095398" cy="475569"/>
          </a:xfrm>
          <a:prstGeom prst="rightArrow">
            <a:avLst/>
          </a:prstGeom>
          <a:solidFill>
            <a:schemeClr val="accent4"/>
          </a:solidFill>
          <a:ln cap="sq">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grpSp>
        <p:nvGrpSpPr>
          <p:cNvPr id="16" name="Group 15"/>
          <p:cNvGrpSpPr/>
          <p:nvPr/>
        </p:nvGrpSpPr>
        <p:grpSpPr>
          <a:xfrm>
            <a:off x="2548082" y="2380288"/>
            <a:ext cx="2278790" cy="1723354"/>
            <a:chOff x="3277101" y="2270004"/>
            <a:chExt cx="2076450" cy="1591499"/>
          </a:xfrm>
        </p:grpSpPr>
        <p:sp>
          <p:nvSpPr>
            <p:cNvPr id="17" name="TextBox 16"/>
            <p:cNvSpPr txBox="1"/>
            <p:nvPr/>
          </p:nvSpPr>
          <p:spPr>
            <a:xfrm>
              <a:off x="3433010" y="2270004"/>
              <a:ext cx="1780674" cy="369497"/>
            </a:xfrm>
            <a:prstGeom prst="rect">
              <a:avLst/>
            </a:prstGeom>
            <a:noFill/>
          </p:spPr>
          <p:txBody>
            <a:bodyPr wrap="square" rtlCol="0">
              <a:spAutoFit/>
            </a:bodyPr>
            <a:lstStyle/>
            <a:p>
              <a:pPr algn="ctr"/>
              <a:r>
                <a:rPr lang="en-US" sz="2000" dirty="0">
                  <a:latin typeface="Candara" panose="020E0502030303020204" pitchFamily="34" charset="0"/>
                </a:rPr>
                <a:t>Block b-1</a:t>
              </a:r>
            </a:p>
          </p:txBody>
        </p:sp>
        <p:pic>
          <p:nvPicPr>
            <p:cNvPr id="18" name="Picture 17"/>
            <p:cNvPicPr>
              <a:picLocks noChangeAspect="1"/>
            </p:cNvPicPr>
            <p:nvPr/>
          </p:nvPicPr>
          <p:blipFill>
            <a:blip r:embed="rId2"/>
            <a:stretch>
              <a:fillRect/>
            </a:stretch>
          </p:blipFill>
          <p:spPr>
            <a:xfrm>
              <a:off x="3277101" y="2594678"/>
              <a:ext cx="2076450" cy="1266825"/>
            </a:xfrm>
            <a:prstGeom prst="rect">
              <a:avLst/>
            </a:prstGeom>
          </p:spPr>
        </p:pic>
      </p:grpSp>
      <p:cxnSp>
        <p:nvCxnSpPr>
          <p:cNvPr id="9" name="Straight Arrow Connector 8"/>
          <p:cNvCxnSpPr>
            <a:cxnSpLocks/>
            <a:stCxn id="3" idx="1"/>
            <a:endCxn id="18" idx="3"/>
          </p:cNvCxnSpPr>
          <p:nvPr/>
        </p:nvCxnSpPr>
        <p:spPr>
          <a:xfrm flipH="1">
            <a:off x="4826872" y="3417752"/>
            <a:ext cx="2274043"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4765326" y="2510955"/>
            <a:ext cx="2433646" cy="830997"/>
          </a:xfrm>
          <a:prstGeom prst="rect">
            <a:avLst/>
          </a:prstGeom>
          <a:noFill/>
        </p:spPr>
        <p:txBody>
          <a:bodyPr wrap="square" rtlCol="0">
            <a:spAutoFit/>
          </a:bodyPr>
          <a:lstStyle/>
          <a:p>
            <a:pPr algn="ctr"/>
            <a:r>
              <a:rPr lang="en-US" sz="2400" dirty="0">
                <a:latin typeface="Candara" panose="020E0502030303020204" pitchFamily="34" charset="0"/>
              </a:rPr>
              <a:t>Blocks are chained</a:t>
            </a:r>
          </a:p>
        </p:txBody>
      </p:sp>
      <p:sp>
        <p:nvSpPr>
          <p:cNvPr id="6" name="Right Arrow 14">
            <a:extLst>
              <a:ext uri="{FF2B5EF4-FFF2-40B4-BE49-F238E27FC236}">
                <a16:creationId xmlns:a16="http://schemas.microsoft.com/office/drawing/2014/main" id="{70173523-434F-CFD0-CF88-D59990CF95F5}"/>
              </a:ext>
            </a:extLst>
          </p:cNvPr>
          <p:cNvSpPr/>
          <p:nvPr/>
        </p:nvSpPr>
        <p:spPr>
          <a:xfrm>
            <a:off x="7441502" y="4723236"/>
            <a:ext cx="1938203" cy="475569"/>
          </a:xfrm>
          <a:prstGeom prst="rightArrow">
            <a:avLst/>
          </a:prstGeom>
          <a:solidFill>
            <a:schemeClr val="accent4"/>
          </a:solidFill>
          <a:ln cap="sq">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Tree>
    <p:extLst>
      <p:ext uri="{BB962C8B-B14F-4D97-AF65-F5344CB8AC3E}">
        <p14:creationId xmlns:p14="http://schemas.microsoft.com/office/powerpoint/2010/main" val="1517153050"/>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4" grpId="0" animBg="1"/>
      <p:bldP spid="15" grpId="0" animBg="1"/>
      <p:bldP spid="23" grpId="0"/>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Transactions Change World State</a:t>
            </a:r>
          </a:p>
        </p:txBody>
      </p:sp>
      <p:sp>
        <p:nvSpPr>
          <p:cNvPr id="3" name="Content Placeholder 2"/>
          <p:cNvSpPr>
            <a:spLocks noGrp="1"/>
          </p:cNvSpPr>
          <p:nvPr>
            <p:ph idx="1"/>
          </p:nvPr>
        </p:nvSpPr>
        <p:spPr>
          <a:xfrm>
            <a:off x="487680" y="1087120"/>
            <a:ext cx="11186160" cy="5306242"/>
          </a:xfrm>
        </p:spPr>
        <p:txBody>
          <a:bodyPr anchor="ctr" anchorCtr="0">
            <a:normAutofit fontScale="92500"/>
          </a:bodyPr>
          <a:lstStyle/>
          <a:p>
            <a:r>
              <a:rPr lang="en-US" sz="2800" dirty="0"/>
              <a:t>By default, the Ethereum execution environment is lifeless</a:t>
            </a:r>
          </a:p>
          <a:p>
            <a:pPr lvl="1"/>
            <a:r>
              <a:rPr lang="en-US" sz="2400" dirty="0"/>
              <a:t>The state of every account remains the same</a:t>
            </a:r>
          </a:p>
          <a:p>
            <a:r>
              <a:rPr lang="en-US" sz="2800" dirty="0">
                <a:solidFill>
                  <a:srgbClr val="7030A0"/>
                </a:solidFill>
              </a:rPr>
              <a:t>However, any user can trigger action by sending a transaction from an EOA</a:t>
            </a:r>
          </a:p>
          <a:p>
            <a:pPr lvl="1"/>
            <a:r>
              <a:rPr lang="en-US" sz="2400" dirty="0"/>
              <a:t>If the destination of the transaction is another EOA, then the transaction may transfer some ether but otherwise does nothing </a:t>
            </a:r>
          </a:p>
          <a:p>
            <a:pPr lvl="1"/>
            <a:r>
              <a:rPr lang="en-US" sz="2400" dirty="0"/>
              <a:t>However, if the destination is a contract, then it is activated, and runs its code</a:t>
            </a:r>
          </a:p>
          <a:p>
            <a:r>
              <a:rPr lang="en-US" sz="2800" dirty="0"/>
              <a:t>The code of has the ability to:</a:t>
            </a:r>
          </a:p>
          <a:p>
            <a:pPr lvl="1"/>
            <a:r>
              <a:rPr lang="en-US" sz="2400" dirty="0"/>
              <a:t>Read and write its own internal storage </a:t>
            </a:r>
          </a:p>
          <a:p>
            <a:pPr lvl="1"/>
            <a:r>
              <a:rPr lang="en-US" sz="2400" dirty="0"/>
              <a:t>Access the data of the incoming message (sender, value, data, gas)</a:t>
            </a:r>
          </a:p>
          <a:p>
            <a:pPr lvl="1"/>
            <a:r>
              <a:rPr lang="en-US" sz="2400" dirty="0"/>
              <a:t>Send messages (function calls) to other contracts, which can trigger their execution</a:t>
            </a:r>
          </a:p>
          <a:p>
            <a:pPr lvl="1"/>
            <a:r>
              <a:rPr lang="en-US" sz="2400" i="1" dirty="0"/>
              <a:t>Send ETH or tokens that it already holds </a:t>
            </a:r>
            <a:r>
              <a:rPr lang="en-US" sz="2400" dirty="0"/>
              <a:t>to other contracts or EOAs</a:t>
            </a:r>
          </a:p>
          <a:p>
            <a:pPr lvl="1"/>
            <a:r>
              <a:rPr lang="en-US" sz="2400" dirty="0"/>
              <a:t>Increase the balance of an EOA by sending ETH to it (the EOA’s balance in the global state increases)</a:t>
            </a:r>
            <a:endParaRPr lang="en-US" sz="2000" dirty="0"/>
          </a:p>
        </p:txBody>
      </p:sp>
      <p:sp>
        <p:nvSpPr>
          <p:cNvPr id="4" name="Slide Number Placeholder 3"/>
          <p:cNvSpPr>
            <a:spLocks noGrp="1"/>
          </p:cNvSpPr>
          <p:nvPr>
            <p:ph type="sldNum" sz="quarter" idx="12"/>
          </p:nvPr>
        </p:nvSpPr>
        <p:spPr/>
        <p:txBody>
          <a:bodyPr/>
          <a:lstStyle/>
          <a:p>
            <a:fld id="{19FE8B7B-3258-47CD-BBC0-34D05FC906E5}" type="slidenum">
              <a:rPr lang="en-US" smtClean="0"/>
              <a:t>27</a:t>
            </a:fld>
            <a:endParaRPr lang="en-US" dirty="0"/>
          </a:p>
        </p:txBody>
      </p:sp>
    </p:spTree>
    <p:extLst>
      <p:ext uri="{BB962C8B-B14F-4D97-AF65-F5344CB8AC3E}">
        <p14:creationId xmlns:p14="http://schemas.microsoft.com/office/powerpoint/2010/main" val="2896322050"/>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Transactions</a:t>
            </a:r>
          </a:p>
        </p:txBody>
      </p:sp>
      <p:sp>
        <p:nvSpPr>
          <p:cNvPr id="4" name="Slide Number Placeholder 3"/>
          <p:cNvSpPr>
            <a:spLocks noGrp="1"/>
          </p:cNvSpPr>
          <p:nvPr>
            <p:ph type="sldNum" sz="quarter" idx="12"/>
          </p:nvPr>
        </p:nvSpPr>
        <p:spPr/>
        <p:txBody>
          <a:bodyPr/>
          <a:lstStyle/>
          <a:p>
            <a:pPr algn="ctr"/>
            <a:fld id="{19FE8B7B-3258-47CD-BBC0-34D05FC906E5}" type="slidenum">
              <a:rPr lang="en-US" smtClean="0">
                <a:latin typeface="Candara" panose="020E0502030303020204" pitchFamily="34" charset="0"/>
              </a:rPr>
              <a:pPr algn="ctr"/>
              <a:t>28</a:t>
            </a:fld>
            <a:endParaRPr lang="en-US" dirty="0">
              <a:latin typeface="Candara" panose="020E0502030303020204" pitchFamily="34" charset="0"/>
            </a:endParaRPr>
          </a:p>
        </p:txBody>
      </p:sp>
      <p:sp>
        <p:nvSpPr>
          <p:cNvPr id="30" name="Rectangle 29"/>
          <p:cNvSpPr/>
          <p:nvPr/>
        </p:nvSpPr>
        <p:spPr>
          <a:xfrm>
            <a:off x="489205" y="1036963"/>
            <a:ext cx="11156441" cy="892552"/>
          </a:xfrm>
          <a:prstGeom prst="rect">
            <a:avLst/>
          </a:prstGeom>
          <a:solidFill>
            <a:srgbClr val="7030A0"/>
          </a:solidFill>
          <a:ln>
            <a:noFill/>
          </a:ln>
        </p:spPr>
        <p:txBody>
          <a:bodyPr wrap="square">
            <a:spAutoFit/>
          </a:bodyPr>
          <a:lstStyle/>
          <a:p>
            <a:pPr algn="ctr"/>
            <a:r>
              <a:rPr lang="en-US" sz="2600" dirty="0">
                <a:solidFill>
                  <a:schemeClr val="bg1"/>
                </a:solidFill>
                <a:latin typeface="Candara" panose="020E0502030303020204" pitchFamily="34" charset="0"/>
              </a:rPr>
              <a:t>Transactions are initiated by EOAs and there are two important categories of Ethereum transactions</a:t>
            </a:r>
          </a:p>
        </p:txBody>
      </p:sp>
      <p:sp>
        <p:nvSpPr>
          <p:cNvPr id="32" name="Rectangle 31"/>
          <p:cNvSpPr/>
          <p:nvPr/>
        </p:nvSpPr>
        <p:spPr>
          <a:xfrm>
            <a:off x="1476963" y="2072424"/>
            <a:ext cx="3549143" cy="627720"/>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Candara" panose="020E0502030303020204" pitchFamily="34" charset="0"/>
              </a:rPr>
              <a:t>Regular Transaction</a:t>
            </a:r>
          </a:p>
        </p:txBody>
      </p:sp>
      <p:sp>
        <p:nvSpPr>
          <p:cNvPr id="33" name="Rectangle 32"/>
          <p:cNvSpPr/>
          <p:nvPr/>
        </p:nvSpPr>
        <p:spPr>
          <a:xfrm>
            <a:off x="6633346" y="2011408"/>
            <a:ext cx="4880942" cy="667464"/>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Candara" panose="020E0502030303020204" pitchFamily="34" charset="0"/>
              </a:rPr>
              <a:t>Contract Deployment Transaction</a:t>
            </a:r>
          </a:p>
        </p:txBody>
      </p:sp>
      <p:grpSp>
        <p:nvGrpSpPr>
          <p:cNvPr id="35" name="Group 34"/>
          <p:cNvGrpSpPr/>
          <p:nvPr/>
        </p:nvGrpSpPr>
        <p:grpSpPr>
          <a:xfrm>
            <a:off x="677712" y="2611726"/>
            <a:ext cx="4880944" cy="3759923"/>
            <a:chOff x="733425" y="2756107"/>
            <a:chExt cx="3333750" cy="3759923"/>
          </a:xfrm>
        </p:grpSpPr>
        <p:grpSp>
          <p:nvGrpSpPr>
            <p:cNvPr id="17" name="Group 16"/>
            <p:cNvGrpSpPr/>
            <p:nvPr/>
          </p:nvGrpSpPr>
          <p:grpSpPr>
            <a:xfrm>
              <a:off x="733425" y="2756107"/>
              <a:ext cx="3333750" cy="3759923"/>
              <a:chOff x="628650" y="2031277"/>
              <a:chExt cx="3333750" cy="3759923"/>
            </a:xfrm>
          </p:grpSpPr>
          <p:sp>
            <p:nvSpPr>
              <p:cNvPr id="7" name="Rectangle 6"/>
              <p:cNvSpPr/>
              <p:nvPr/>
            </p:nvSpPr>
            <p:spPr>
              <a:xfrm>
                <a:off x="628650" y="2055540"/>
                <a:ext cx="3333750" cy="3735660"/>
              </a:xfrm>
              <a:prstGeom prst="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pic>
            <p:nvPicPr>
              <p:cNvPr id="5" name="Picture 4"/>
              <p:cNvPicPr>
                <a:picLocks noChangeAspect="1"/>
              </p:cNvPicPr>
              <p:nvPr/>
            </p:nvPicPr>
            <p:blipFill>
              <a:blip r:embed="rId2"/>
              <a:stretch>
                <a:fillRect/>
              </a:stretch>
            </p:blipFill>
            <p:spPr>
              <a:xfrm>
                <a:off x="2080495" y="2419350"/>
                <a:ext cx="529356" cy="762000"/>
              </a:xfrm>
              <a:prstGeom prst="rect">
                <a:avLst/>
              </a:prstGeom>
            </p:spPr>
          </p:pic>
          <p:sp>
            <p:nvSpPr>
              <p:cNvPr id="8" name="TextBox 7"/>
              <p:cNvSpPr txBox="1"/>
              <p:nvPr/>
            </p:nvSpPr>
            <p:spPr>
              <a:xfrm>
                <a:off x="1452562" y="2031277"/>
                <a:ext cx="1619250" cy="369332"/>
              </a:xfrm>
              <a:prstGeom prst="rect">
                <a:avLst/>
              </a:prstGeom>
              <a:noFill/>
            </p:spPr>
            <p:txBody>
              <a:bodyPr wrap="square" rtlCol="0">
                <a:spAutoFit/>
              </a:bodyPr>
              <a:lstStyle/>
              <a:p>
                <a:pPr algn="ctr"/>
                <a:r>
                  <a:rPr lang="en-US" b="1" dirty="0">
                    <a:latin typeface="Candara" panose="020E0502030303020204" pitchFamily="34" charset="0"/>
                  </a:rPr>
                  <a:t>External Actor</a:t>
                </a:r>
              </a:p>
            </p:txBody>
          </p:sp>
          <p:sp>
            <p:nvSpPr>
              <p:cNvPr id="9" name="Rectangle 8"/>
              <p:cNvSpPr/>
              <p:nvPr/>
            </p:nvSpPr>
            <p:spPr>
              <a:xfrm>
                <a:off x="1381125" y="3409950"/>
                <a:ext cx="1828800" cy="627720"/>
              </a:xfrm>
              <a:prstGeom prst="rect">
                <a:avLst/>
              </a:prstGeom>
              <a:solidFill>
                <a:schemeClr val="bg1"/>
              </a:solid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andara" panose="020E0502030303020204" pitchFamily="34" charset="0"/>
                  </a:rPr>
                  <a:t>Regular Transaction</a:t>
                </a:r>
              </a:p>
            </p:txBody>
          </p:sp>
          <p:sp>
            <p:nvSpPr>
              <p:cNvPr id="10" name="Rounded Rectangle 9"/>
              <p:cNvSpPr/>
              <p:nvPr/>
            </p:nvSpPr>
            <p:spPr>
              <a:xfrm>
                <a:off x="781050" y="4514850"/>
                <a:ext cx="3028950" cy="1143000"/>
              </a:xfrm>
              <a:prstGeom prst="round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11" name="Rectangle 10"/>
              <p:cNvSpPr/>
              <p:nvPr/>
            </p:nvSpPr>
            <p:spPr>
              <a:xfrm>
                <a:off x="923925" y="4800874"/>
                <a:ext cx="1057275" cy="62772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andara" panose="020E0502030303020204" pitchFamily="34" charset="0"/>
                  </a:rPr>
                  <a:t>EOA</a:t>
                </a:r>
              </a:p>
            </p:txBody>
          </p:sp>
          <p:sp>
            <p:nvSpPr>
              <p:cNvPr id="12" name="Rectangle 11"/>
              <p:cNvSpPr/>
              <p:nvPr/>
            </p:nvSpPr>
            <p:spPr>
              <a:xfrm>
                <a:off x="2600325" y="4800874"/>
                <a:ext cx="1057275" cy="62772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andara" panose="020E0502030303020204" pitchFamily="34" charset="0"/>
                  </a:rPr>
                  <a:t>EOA or CA</a:t>
                </a:r>
              </a:p>
            </p:txBody>
          </p:sp>
          <p:cxnSp>
            <p:nvCxnSpPr>
              <p:cNvPr id="14" name="Straight Arrow Connector 13"/>
              <p:cNvCxnSpPr>
                <a:stCxn id="9" idx="2"/>
                <a:endCxn id="10" idx="0"/>
              </p:cNvCxnSpPr>
              <p:nvPr/>
            </p:nvCxnSpPr>
            <p:spPr>
              <a:xfrm>
                <a:off x="2295525" y="4037670"/>
                <a:ext cx="0" cy="47718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1" idx="3"/>
                <a:endCxn id="12" idx="1"/>
              </p:cNvCxnSpPr>
              <p:nvPr/>
            </p:nvCxnSpPr>
            <p:spPr>
              <a:xfrm>
                <a:off x="1981200" y="5114734"/>
                <a:ext cx="619125"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34" name="TextBox 33"/>
            <p:cNvSpPr txBox="1"/>
            <p:nvPr/>
          </p:nvSpPr>
          <p:spPr>
            <a:xfrm>
              <a:off x="1607848" y="5171483"/>
              <a:ext cx="1533525" cy="369332"/>
            </a:xfrm>
            <a:prstGeom prst="rect">
              <a:avLst/>
            </a:prstGeom>
            <a:noFill/>
          </p:spPr>
          <p:txBody>
            <a:bodyPr wrap="square" rtlCol="0">
              <a:spAutoFit/>
            </a:bodyPr>
            <a:lstStyle/>
            <a:p>
              <a:pPr algn="ctr"/>
              <a:r>
                <a:rPr lang="en-US" dirty="0">
                  <a:latin typeface="Candara" panose="020E0502030303020204" pitchFamily="34" charset="0"/>
                </a:rPr>
                <a:t>Message</a:t>
              </a:r>
            </a:p>
          </p:txBody>
        </p:sp>
      </p:grpSp>
      <p:grpSp>
        <p:nvGrpSpPr>
          <p:cNvPr id="6" name="Group 5">
            <a:extLst>
              <a:ext uri="{FF2B5EF4-FFF2-40B4-BE49-F238E27FC236}">
                <a16:creationId xmlns:a16="http://schemas.microsoft.com/office/drawing/2014/main" id="{88C78618-2FC5-801E-2478-29C457E56B50}"/>
              </a:ext>
            </a:extLst>
          </p:cNvPr>
          <p:cNvGrpSpPr/>
          <p:nvPr/>
        </p:nvGrpSpPr>
        <p:grpSpPr>
          <a:xfrm>
            <a:off x="6634790" y="2623957"/>
            <a:ext cx="4880944" cy="3735660"/>
            <a:chOff x="6634790" y="2623957"/>
            <a:chExt cx="4880944" cy="3735660"/>
          </a:xfrm>
        </p:grpSpPr>
        <p:grpSp>
          <p:nvGrpSpPr>
            <p:cNvPr id="31" name="Group 30"/>
            <p:cNvGrpSpPr/>
            <p:nvPr/>
          </p:nvGrpSpPr>
          <p:grpSpPr>
            <a:xfrm>
              <a:off x="6634790" y="2623957"/>
              <a:ext cx="4880944" cy="3735660"/>
              <a:chOff x="4953000" y="2379390"/>
              <a:chExt cx="3333750" cy="3735660"/>
            </a:xfrm>
          </p:grpSpPr>
          <p:grpSp>
            <p:nvGrpSpPr>
              <p:cNvPr id="18" name="Group 17"/>
              <p:cNvGrpSpPr/>
              <p:nvPr/>
            </p:nvGrpSpPr>
            <p:grpSpPr>
              <a:xfrm>
                <a:off x="4953000" y="2379390"/>
                <a:ext cx="3333750" cy="3735660"/>
                <a:chOff x="628650" y="2055540"/>
                <a:chExt cx="3333750" cy="3735660"/>
              </a:xfrm>
            </p:grpSpPr>
            <p:pic>
              <p:nvPicPr>
                <p:cNvPr id="19" name="Picture 18"/>
                <p:cNvPicPr>
                  <a:picLocks noChangeAspect="1"/>
                </p:cNvPicPr>
                <p:nvPr/>
              </p:nvPicPr>
              <p:blipFill>
                <a:blip r:embed="rId2"/>
                <a:stretch>
                  <a:fillRect/>
                </a:stretch>
              </p:blipFill>
              <p:spPr>
                <a:xfrm>
                  <a:off x="1981200" y="2419350"/>
                  <a:ext cx="628650" cy="762000"/>
                </a:xfrm>
                <a:prstGeom prst="rect">
                  <a:avLst/>
                </a:prstGeom>
              </p:spPr>
            </p:pic>
            <p:sp>
              <p:nvSpPr>
                <p:cNvPr id="20" name="Rectangle 19"/>
                <p:cNvSpPr/>
                <p:nvPr/>
              </p:nvSpPr>
              <p:spPr>
                <a:xfrm>
                  <a:off x="628650" y="2055540"/>
                  <a:ext cx="3333750" cy="3735660"/>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ndara" panose="020E0502030303020204" pitchFamily="34" charset="0"/>
                  </a:endParaRPr>
                </a:p>
              </p:txBody>
            </p:sp>
            <p:sp>
              <p:nvSpPr>
                <p:cNvPr id="21" name="TextBox 20"/>
                <p:cNvSpPr txBox="1"/>
                <p:nvPr/>
              </p:nvSpPr>
              <p:spPr>
                <a:xfrm>
                  <a:off x="1619250" y="2055540"/>
                  <a:ext cx="1619250" cy="369332"/>
                </a:xfrm>
                <a:prstGeom prst="rect">
                  <a:avLst/>
                </a:prstGeom>
                <a:noFill/>
              </p:spPr>
              <p:txBody>
                <a:bodyPr wrap="square" rtlCol="0">
                  <a:spAutoFit/>
                </a:bodyPr>
                <a:lstStyle/>
                <a:p>
                  <a:pPr algn="ctr"/>
                  <a:r>
                    <a:rPr lang="en-US" b="1" dirty="0">
                      <a:latin typeface="Candara" panose="020E0502030303020204" pitchFamily="34" charset="0"/>
                    </a:rPr>
                    <a:t>External Actor</a:t>
                  </a:r>
                </a:p>
              </p:txBody>
            </p:sp>
            <p:sp>
              <p:nvSpPr>
                <p:cNvPr id="22" name="Rectangle 21"/>
                <p:cNvSpPr/>
                <p:nvPr/>
              </p:nvSpPr>
              <p:spPr>
                <a:xfrm>
                  <a:off x="1381125" y="3181350"/>
                  <a:ext cx="1828800" cy="856320"/>
                </a:xfrm>
                <a:prstGeom prst="rect">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andara" panose="020E0502030303020204" pitchFamily="34" charset="0"/>
                    </a:rPr>
                    <a:t>Contract Deployment Transaction</a:t>
                  </a:r>
                </a:p>
              </p:txBody>
            </p:sp>
            <p:sp>
              <p:nvSpPr>
                <p:cNvPr id="23" name="Rounded Rectangle 22"/>
                <p:cNvSpPr/>
                <p:nvPr/>
              </p:nvSpPr>
              <p:spPr>
                <a:xfrm>
                  <a:off x="781050" y="4514850"/>
                  <a:ext cx="3028950" cy="1143000"/>
                </a:xfrm>
                <a:prstGeom prst="round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24" name="Rectangle 23"/>
                <p:cNvSpPr/>
                <p:nvPr/>
              </p:nvSpPr>
              <p:spPr>
                <a:xfrm>
                  <a:off x="1028700" y="4925820"/>
                  <a:ext cx="2540985" cy="6277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andara" panose="020E0502030303020204" pitchFamily="34" charset="0"/>
                    </a:rPr>
                    <a:t>Contract Account</a:t>
                  </a:r>
                </a:p>
              </p:txBody>
            </p:sp>
            <p:cxnSp>
              <p:nvCxnSpPr>
                <p:cNvPr id="26" name="Straight Arrow Connector 25"/>
                <p:cNvCxnSpPr>
                  <a:stCxn id="22" idx="2"/>
                  <a:endCxn id="23" idx="0"/>
                </p:cNvCxnSpPr>
                <p:nvPr/>
              </p:nvCxnSpPr>
              <p:spPr>
                <a:xfrm>
                  <a:off x="2295525" y="4037670"/>
                  <a:ext cx="0" cy="47718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29" name="TextBox 28"/>
              <p:cNvSpPr txBox="1"/>
              <p:nvPr/>
            </p:nvSpPr>
            <p:spPr>
              <a:xfrm>
                <a:off x="5943600" y="4860722"/>
                <a:ext cx="1533525" cy="369332"/>
              </a:xfrm>
              <a:prstGeom prst="rect">
                <a:avLst/>
              </a:prstGeom>
              <a:noFill/>
            </p:spPr>
            <p:txBody>
              <a:bodyPr wrap="square" rtlCol="0">
                <a:spAutoFit/>
              </a:bodyPr>
              <a:lstStyle/>
              <a:p>
                <a:pPr algn="ctr"/>
                <a:r>
                  <a:rPr lang="en-US" dirty="0">
                    <a:latin typeface="Candara" panose="020E0502030303020204" pitchFamily="34" charset="0"/>
                  </a:rPr>
                  <a:t>Creates</a:t>
                </a:r>
              </a:p>
            </p:txBody>
          </p:sp>
        </p:grpSp>
        <p:pic>
          <p:nvPicPr>
            <p:cNvPr id="3" name="Picture 2">
              <a:extLst>
                <a:ext uri="{FF2B5EF4-FFF2-40B4-BE49-F238E27FC236}">
                  <a16:creationId xmlns:a16="http://schemas.microsoft.com/office/drawing/2014/main" id="{51C4FE70-0B9D-A2A4-68DC-4445C0E93C0C}"/>
                </a:ext>
              </a:extLst>
            </p:cNvPr>
            <p:cNvPicPr>
              <a:picLocks noChangeAspect="1"/>
            </p:cNvPicPr>
            <p:nvPr/>
          </p:nvPicPr>
          <p:blipFill>
            <a:blip r:embed="rId2"/>
            <a:stretch>
              <a:fillRect/>
            </a:stretch>
          </p:blipFill>
          <p:spPr>
            <a:xfrm>
              <a:off x="8760436" y="2938855"/>
              <a:ext cx="775030" cy="762000"/>
            </a:xfrm>
            <a:prstGeom prst="rect">
              <a:avLst/>
            </a:prstGeom>
          </p:spPr>
        </p:pic>
      </p:grpSp>
    </p:spTree>
    <p:extLst>
      <p:ext uri="{BB962C8B-B14F-4D97-AF65-F5344CB8AC3E}">
        <p14:creationId xmlns:p14="http://schemas.microsoft.com/office/powerpoint/2010/main" val="2151691143"/>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EIP-1559 Transaction</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29</a:t>
            </a:fld>
            <a:endParaRPr lang="en-US" dirty="0">
              <a:latin typeface="Candara" panose="020E0502030303020204" pitchFamily="34" charset="0"/>
            </a:endParaRPr>
          </a:p>
        </p:txBody>
      </p:sp>
      <p:grpSp>
        <p:nvGrpSpPr>
          <p:cNvPr id="40" name="Group 39"/>
          <p:cNvGrpSpPr/>
          <p:nvPr/>
        </p:nvGrpSpPr>
        <p:grpSpPr>
          <a:xfrm>
            <a:off x="546758" y="1026801"/>
            <a:ext cx="4525552" cy="1323439"/>
            <a:chOff x="-977242" y="1171185"/>
            <a:chExt cx="4525552" cy="1323439"/>
          </a:xfrm>
        </p:grpSpPr>
        <p:sp>
          <p:nvSpPr>
            <p:cNvPr id="19" name="Rectangle 18"/>
            <p:cNvSpPr/>
            <p:nvPr/>
          </p:nvSpPr>
          <p:spPr>
            <a:xfrm>
              <a:off x="-977242" y="1171185"/>
              <a:ext cx="3984524" cy="1323439"/>
            </a:xfrm>
            <a:prstGeom prst="rect">
              <a:avLst/>
            </a:prstGeom>
          </p:spPr>
          <p:txBody>
            <a:bodyPr wrap="square">
              <a:spAutoFit/>
            </a:bodyPr>
            <a:lstStyle/>
            <a:p>
              <a:pPr algn="ctr"/>
              <a:r>
                <a:rPr lang="en-US" sz="1600" dirty="0">
                  <a:latin typeface="Candara" panose="020E0502030303020204" pitchFamily="34" charset="0"/>
                </a:rPr>
                <a:t>The receiving address (if an EOA, the regular </a:t>
              </a:r>
              <a:r>
                <a:rPr lang="en-US" sz="1600" dirty="0" err="1">
                  <a:latin typeface="Candara" panose="020E0502030303020204" pitchFamily="34" charset="0"/>
                </a:rPr>
                <a:t>txn</a:t>
              </a:r>
              <a:r>
                <a:rPr lang="en-US" sz="1600" dirty="0">
                  <a:latin typeface="Candara" panose="020E0502030303020204" pitchFamily="34" charset="0"/>
                </a:rPr>
                <a:t> will transfer value. If a CA, the regular </a:t>
              </a:r>
              <a:r>
                <a:rPr lang="en-US" sz="1600" dirty="0" err="1">
                  <a:latin typeface="Candara" panose="020E0502030303020204" pitchFamily="34" charset="0"/>
                </a:rPr>
                <a:t>txn</a:t>
              </a:r>
              <a:r>
                <a:rPr lang="en-US" sz="1600" dirty="0">
                  <a:latin typeface="Candara" panose="020E0502030303020204" pitchFamily="34" charset="0"/>
                </a:rPr>
                <a:t> will execute the contract code). In case of contract deployment </a:t>
              </a:r>
              <a:r>
                <a:rPr lang="en-US" sz="1600" dirty="0" err="1">
                  <a:latin typeface="Candara" panose="020E0502030303020204" pitchFamily="34" charset="0"/>
                </a:rPr>
                <a:t>txn</a:t>
              </a:r>
              <a:r>
                <a:rPr lang="en-US" sz="1600" dirty="0">
                  <a:latin typeface="Candara" panose="020E0502030303020204" pitchFamily="34" charset="0"/>
                </a:rPr>
                <a:t>, this field is empty</a:t>
              </a:r>
            </a:p>
          </p:txBody>
        </p:sp>
        <p:cxnSp>
          <p:nvCxnSpPr>
            <p:cNvPr id="27" name="Straight Arrow Connector 26"/>
            <p:cNvCxnSpPr>
              <a:cxnSpLocks/>
              <a:endCxn id="19" idx="3"/>
            </p:cNvCxnSpPr>
            <p:nvPr/>
          </p:nvCxnSpPr>
          <p:spPr>
            <a:xfrm flipH="1" flipV="1">
              <a:off x="3007282" y="1832905"/>
              <a:ext cx="541028" cy="54679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41" name="Group 40"/>
          <p:cNvGrpSpPr/>
          <p:nvPr/>
        </p:nvGrpSpPr>
        <p:grpSpPr>
          <a:xfrm>
            <a:off x="487680" y="2965430"/>
            <a:ext cx="4565526" cy="584775"/>
            <a:chOff x="-1036320" y="3109813"/>
            <a:chExt cx="4565526" cy="584775"/>
          </a:xfrm>
        </p:grpSpPr>
        <p:sp>
          <p:nvSpPr>
            <p:cNvPr id="21" name="Rectangle 20"/>
            <p:cNvSpPr/>
            <p:nvPr/>
          </p:nvSpPr>
          <p:spPr>
            <a:xfrm>
              <a:off x="-1036320" y="3109813"/>
              <a:ext cx="3955817" cy="584775"/>
            </a:xfrm>
            <a:prstGeom prst="rect">
              <a:avLst/>
            </a:prstGeom>
          </p:spPr>
          <p:txBody>
            <a:bodyPr wrap="square">
              <a:spAutoFit/>
            </a:bodyPr>
            <a:lstStyle/>
            <a:p>
              <a:pPr algn="ctr"/>
              <a:r>
                <a:rPr lang="en-US" sz="1600" dirty="0">
                  <a:latin typeface="Candara" panose="020E0502030303020204" pitchFamily="34" charset="0"/>
                </a:rPr>
                <a:t>Amount of ETH from sender to recipient (in Wei) </a:t>
              </a:r>
            </a:p>
          </p:txBody>
        </p:sp>
        <p:cxnSp>
          <p:nvCxnSpPr>
            <p:cNvPr id="28" name="Straight Arrow Connector 27"/>
            <p:cNvCxnSpPr>
              <a:cxnSpLocks/>
              <a:endCxn id="21" idx="3"/>
            </p:cNvCxnSpPr>
            <p:nvPr/>
          </p:nvCxnSpPr>
          <p:spPr>
            <a:xfrm flipH="1" flipV="1">
              <a:off x="2919497" y="3402201"/>
              <a:ext cx="609709" cy="2753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487681" y="3703316"/>
            <a:ext cx="4559423" cy="830997"/>
            <a:chOff x="-1036320" y="4057889"/>
            <a:chExt cx="4559423" cy="830997"/>
          </a:xfrm>
        </p:grpSpPr>
        <p:sp>
          <p:nvSpPr>
            <p:cNvPr id="23" name="Rectangle 22"/>
            <p:cNvSpPr/>
            <p:nvPr/>
          </p:nvSpPr>
          <p:spPr>
            <a:xfrm>
              <a:off x="-1036320" y="4057889"/>
              <a:ext cx="3912120" cy="830997"/>
            </a:xfrm>
            <a:prstGeom prst="rect">
              <a:avLst/>
            </a:prstGeom>
          </p:spPr>
          <p:txBody>
            <a:bodyPr wrap="square">
              <a:spAutoFit/>
            </a:bodyPr>
            <a:lstStyle/>
            <a:p>
              <a:pPr algn="ctr"/>
              <a:r>
                <a:rPr lang="en-US" sz="1600" dirty="0">
                  <a:latin typeface="Candara" panose="020E0502030303020204" pitchFamily="34" charset="0"/>
                </a:rPr>
                <a:t>Max amount of gas units to be consumed by </a:t>
              </a:r>
              <a:r>
                <a:rPr lang="en-US" sz="1600" dirty="0" err="1">
                  <a:latin typeface="Candara" panose="020E0502030303020204" pitchFamily="34" charset="0"/>
                </a:rPr>
                <a:t>txn</a:t>
              </a:r>
              <a:r>
                <a:rPr lang="en-US" sz="1600" dirty="0">
                  <a:latin typeface="Candara" panose="020E0502030303020204" pitchFamily="34" charset="0"/>
                </a:rPr>
                <a:t> (generally a guess for complicated </a:t>
              </a:r>
              <a:r>
                <a:rPr lang="en-US" sz="1600" dirty="0" err="1">
                  <a:latin typeface="Candara" panose="020E0502030303020204" pitchFamily="34" charset="0"/>
                </a:rPr>
                <a:t>txns</a:t>
              </a:r>
              <a:r>
                <a:rPr lang="en-US" sz="1600" dirty="0">
                  <a:latin typeface="Candara" panose="020E0502030303020204" pitchFamily="34" charset="0"/>
                </a:rPr>
                <a:t>)</a:t>
              </a:r>
            </a:p>
          </p:txBody>
        </p:sp>
        <p:cxnSp>
          <p:nvCxnSpPr>
            <p:cNvPr id="30" name="Straight Arrow Connector 29"/>
            <p:cNvCxnSpPr>
              <a:cxnSpLocks/>
            </p:cNvCxnSpPr>
            <p:nvPr/>
          </p:nvCxnSpPr>
          <p:spPr>
            <a:xfrm flipH="1" flipV="1">
              <a:off x="2955357" y="4422454"/>
              <a:ext cx="567746" cy="368968"/>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487680" y="4846607"/>
            <a:ext cx="4408169" cy="801337"/>
            <a:chOff x="-877740" y="5386338"/>
            <a:chExt cx="4584629" cy="636073"/>
          </a:xfrm>
        </p:grpSpPr>
        <p:sp>
          <p:nvSpPr>
            <p:cNvPr id="25" name="Rectangle 24"/>
            <p:cNvSpPr/>
            <p:nvPr/>
          </p:nvSpPr>
          <p:spPr>
            <a:xfrm>
              <a:off x="-877740" y="5386338"/>
              <a:ext cx="3760867" cy="584775"/>
            </a:xfrm>
            <a:prstGeom prst="rect">
              <a:avLst/>
            </a:prstGeom>
          </p:spPr>
          <p:txBody>
            <a:bodyPr wrap="square">
              <a:spAutoFit/>
            </a:bodyPr>
            <a:lstStyle/>
            <a:p>
              <a:pPr algn="ctr"/>
              <a:r>
                <a:rPr lang="en-US" sz="1600" dirty="0">
                  <a:latin typeface="Candara" panose="020E0502030303020204" pitchFamily="34" charset="0"/>
                </a:rPr>
                <a:t>Max price in </a:t>
              </a:r>
              <a:r>
                <a:rPr lang="en-US" sz="1600" dirty="0" err="1">
                  <a:latin typeface="Candara" panose="020E0502030303020204" pitchFamily="34" charset="0"/>
                </a:rPr>
                <a:t>Gwei</a:t>
              </a:r>
              <a:r>
                <a:rPr lang="en-US" sz="1600" dirty="0">
                  <a:latin typeface="Candara" panose="020E0502030303020204" pitchFamily="34" charset="0"/>
                </a:rPr>
                <a:t> per gas unit the sender is willing to pay for the </a:t>
              </a:r>
              <a:r>
                <a:rPr lang="en-US" sz="1600" dirty="0" err="1">
                  <a:latin typeface="Candara" panose="020E0502030303020204" pitchFamily="34" charset="0"/>
                </a:rPr>
                <a:t>txn</a:t>
              </a:r>
              <a:endParaRPr lang="en-US" sz="1600" dirty="0">
                <a:latin typeface="Candara" panose="020E0502030303020204" pitchFamily="34" charset="0"/>
              </a:endParaRPr>
            </a:p>
          </p:txBody>
        </p:sp>
        <p:cxnSp>
          <p:nvCxnSpPr>
            <p:cNvPr id="31" name="Straight Arrow Connector 30"/>
            <p:cNvCxnSpPr>
              <a:stCxn id="15" idx="1"/>
            </p:cNvCxnSpPr>
            <p:nvPr/>
          </p:nvCxnSpPr>
          <p:spPr>
            <a:xfrm flipH="1" flipV="1">
              <a:off x="2901619" y="5613296"/>
              <a:ext cx="805270" cy="40911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42" name="Group 41"/>
          <p:cNvGrpSpPr/>
          <p:nvPr/>
        </p:nvGrpSpPr>
        <p:grpSpPr>
          <a:xfrm>
            <a:off x="7671132" y="2492796"/>
            <a:ext cx="4009241" cy="584775"/>
            <a:chOff x="6157045" y="2495541"/>
            <a:chExt cx="4009241" cy="584775"/>
          </a:xfrm>
        </p:grpSpPr>
        <p:sp>
          <p:nvSpPr>
            <p:cNvPr id="20" name="Rectangle 19"/>
            <p:cNvSpPr/>
            <p:nvPr/>
          </p:nvSpPr>
          <p:spPr>
            <a:xfrm>
              <a:off x="6846548" y="2495541"/>
              <a:ext cx="3319738" cy="584775"/>
            </a:xfrm>
            <a:prstGeom prst="rect">
              <a:avLst/>
            </a:prstGeom>
          </p:spPr>
          <p:txBody>
            <a:bodyPr wrap="square">
              <a:spAutoFit/>
            </a:bodyPr>
            <a:lstStyle/>
            <a:p>
              <a:pPr algn="ctr"/>
              <a:r>
                <a:rPr lang="en-US" sz="1600" dirty="0">
                  <a:latin typeface="Candara" panose="020E0502030303020204" pitchFamily="34" charset="0"/>
                </a:rPr>
                <a:t>Identifies the sender – </a:t>
              </a:r>
              <a:r>
                <a:rPr lang="en-US" sz="1600" dirty="0" err="1">
                  <a:latin typeface="Candara" panose="020E0502030303020204" pitchFamily="34" charset="0"/>
                </a:rPr>
                <a:t>txn</a:t>
              </a:r>
              <a:r>
                <a:rPr lang="en-US" sz="1600" dirty="0">
                  <a:latin typeface="Candara" panose="020E0502030303020204" pitchFamily="34" charset="0"/>
                </a:rPr>
                <a:t> is signed with sender’s private key</a:t>
              </a:r>
            </a:p>
          </p:txBody>
        </p:sp>
        <p:cxnSp>
          <p:nvCxnSpPr>
            <p:cNvPr id="33" name="Straight Arrow Connector 32"/>
            <p:cNvCxnSpPr>
              <a:cxnSpLocks/>
              <a:stCxn id="9" idx="3"/>
              <a:endCxn id="20" idx="1"/>
            </p:cNvCxnSpPr>
            <p:nvPr/>
          </p:nvCxnSpPr>
          <p:spPr>
            <a:xfrm>
              <a:off x="6157045" y="2783690"/>
              <a:ext cx="689503" cy="4239"/>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44" name="Group 43"/>
          <p:cNvGrpSpPr/>
          <p:nvPr/>
        </p:nvGrpSpPr>
        <p:grpSpPr>
          <a:xfrm>
            <a:off x="7704512" y="3581755"/>
            <a:ext cx="4030018" cy="830997"/>
            <a:chOff x="6193451" y="3532011"/>
            <a:chExt cx="2870906" cy="830997"/>
          </a:xfrm>
        </p:grpSpPr>
        <p:sp>
          <p:nvSpPr>
            <p:cNvPr id="22" name="Rectangle 21"/>
            <p:cNvSpPr/>
            <p:nvPr/>
          </p:nvSpPr>
          <p:spPr>
            <a:xfrm>
              <a:off x="6660185" y="3532011"/>
              <a:ext cx="2404172" cy="830997"/>
            </a:xfrm>
            <a:prstGeom prst="rect">
              <a:avLst/>
            </a:prstGeom>
          </p:spPr>
          <p:txBody>
            <a:bodyPr wrap="square" anchor="ctr" anchorCtr="0">
              <a:spAutoFit/>
            </a:bodyPr>
            <a:lstStyle/>
            <a:p>
              <a:pPr algn="ctr"/>
              <a:r>
                <a:rPr lang="en-US" sz="1600" dirty="0">
                  <a:latin typeface="Candara" panose="020E0502030303020204" pitchFamily="34" charset="0"/>
                </a:rPr>
                <a:t>Arbitrary data or code (optional). In case of contract deployment </a:t>
              </a:r>
              <a:r>
                <a:rPr lang="en-US" sz="1600" dirty="0" err="1">
                  <a:latin typeface="Candara" panose="020E0502030303020204" pitchFamily="34" charset="0"/>
                </a:rPr>
                <a:t>txn</a:t>
              </a:r>
              <a:r>
                <a:rPr lang="en-US" sz="1600" dirty="0">
                  <a:latin typeface="Candara" panose="020E0502030303020204" pitchFamily="34" charset="0"/>
                </a:rPr>
                <a:t>, this field contains bytecode </a:t>
              </a:r>
            </a:p>
          </p:txBody>
        </p:sp>
        <p:cxnSp>
          <p:nvCxnSpPr>
            <p:cNvPr id="36" name="Straight Arrow Connector 35"/>
            <p:cNvCxnSpPr>
              <a:cxnSpLocks/>
            </p:cNvCxnSpPr>
            <p:nvPr/>
          </p:nvCxnSpPr>
          <p:spPr>
            <a:xfrm>
              <a:off x="6193451" y="3811086"/>
              <a:ext cx="46673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45" name="Group 44"/>
          <p:cNvGrpSpPr/>
          <p:nvPr/>
        </p:nvGrpSpPr>
        <p:grpSpPr>
          <a:xfrm>
            <a:off x="7863638" y="4880536"/>
            <a:ext cx="3988343" cy="584775"/>
            <a:chOff x="6192482" y="5018744"/>
            <a:chExt cx="3988343" cy="584775"/>
          </a:xfrm>
        </p:grpSpPr>
        <p:sp>
          <p:nvSpPr>
            <p:cNvPr id="24" name="Rectangle 23"/>
            <p:cNvSpPr/>
            <p:nvPr/>
          </p:nvSpPr>
          <p:spPr>
            <a:xfrm>
              <a:off x="6644835" y="5018744"/>
              <a:ext cx="3535990" cy="584775"/>
            </a:xfrm>
            <a:prstGeom prst="rect">
              <a:avLst/>
            </a:prstGeom>
          </p:spPr>
          <p:txBody>
            <a:bodyPr wrap="square">
              <a:spAutoFit/>
            </a:bodyPr>
            <a:lstStyle/>
            <a:p>
              <a:pPr algn="ctr"/>
              <a:r>
                <a:rPr lang="en-US" sz="1600" dirty="0">
                  <a:latin typeface="Candara" panose="020E0502030303020204" pitchFamily="34" charset="0"/>
                </a:rPr>
                <a:t>Tip in </a:t>
              </a:r>
              <a:r>
                <a:rPr lang="en-US" sz="1600" dirty="0" err="1">
                  <a:latin typeface="Candara" panose="020E0502030303020204" pitchFamily="34" charset="0"/>
                </a:rPr>
                <a:t>Gwei</a:t>
              </a:r>
              <a:r>
                <a:rPr lang="en-US" sz="1600" dirty="0">
                  <a:latin typeface="Candara" panose="020E0502030303020204" pitchFamily="34" charset="0"/>
                </a:rPr>
                <a:t> per gas unit that the sender is willing to pay to the validator</a:t>
              </a:r>
            </a:p>
          </p:txBody>
        </p:sp>
        <p:cxnSp>
          <p:nvCxnSpPr>
            <p:cNvPr id="38" name="Straight Arrow Connector 37"/>
            <p:cNvCxnSpPr>
              <a:cxnSpLocks/>
            </p:cNvCxnSpPr>
            <p:nvPr/>
          </p:nvCxnSpPr>
          <p:spPr>
            <a:xfrm>
              <a:off x="6192482" y="5255889"/>
              <a:ext cx="364568"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7687886" y="994427"/>
            <a:ext cx="3957356" cy="1077218"/>
            <a:chOff x="6163886" y="1138811"/>
            <a:chExt cx="3957356" cy="1077218"/>
          </a:xfrm>
        </p:grpSpPr>
        <p:cxnSp>
          <p:nvCxnSpPr>
            <p:cNvPr id="48" name="Straight Arrow Connector 47"/>
            <p:cNvCxnSpPr>
              <a:cxnSpLocks/>
              <a:endCxn id="49" idx="1"/>
            </p:cNvCxnSpPr>
            <p:nvPr/>
          </p:nvCxnSpPr>
          <p:spPr>
            <a:xfrm flipV="1">
              <a:off x="6163886" y="1677420"/>
              <a:ext cx="602286" cy="304219"/>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9" name="Rectangle 48"/>
            <p:cNvSpPr/>
            <p:nvPr/>
          </p:nvSpPr>
          <p:spPr>
            <a:xfrm>
              <a:off x="6766172" y="1138811"/>
              <a:ext cx="3355070" cy="1077218"/>
            </a:xfrm>
            <a:prstGeom prst="rect">
              <a:avLst/>
            </a:prstGeom>
          </p:spPr>
          <p:txBody>
            <a:bodyPr wrap="square">
              <a:spAutoFit/>
            </a:bodyPr>
            <a:lstStyle/>
            <a:p>
              <a:pPr algn="ctr"/>
              <a:r>
                <a:rPr lang="en-US" sz="1600" dirty="0">
                  <a:latin typeface="Candara" panose="020E0502030303020204" pitchFamily="34" charset="0"/>
                </a:rPr>
                <a:t>Unique identifier – should be consistent with the account nonce at the time of </a:t>
              </a:r>
              <a:r>
                <a:rPr lang="en-US" sz="1600" dirty="0" err="1">
                  <a:latin typeface="Candara" panose="020E0502030303020204" pitchFamily="34" charset="0"/>
                </a:rPr>
                <a:t>txn</a:t>
              </a:r>
              <a:r>
                <a:rPr lang="en-US" sz="1600" dirty="0">
                  <a:latin typeface="Candara" panose="020E0502030303020204" pitchFamily="34" charset="0"/>
                </a:rPr>
                <a:t> creation (protection against replay attacks)</a:t>
              </a:r>
            </a:p>
          </p:txBody>
        </p:sp>
      </p:grpSp>
      <p:grpSp>
        <p:nvGrpSpPr>
          <p:cNvPr id="5" name="Group 4"/>
          <p:cNvGrpSpPr/>
          <p:nvPr/>
        </p:nvGrpSpPr>
        <p:grpSpPr>
          <a:xfrm>
            <a:off x="4895850" y="1007952"/>
            <a:ext cx="2967788" cy="5477064"/>
            <a:chOff x="3371850" y="1152336"/>
            <a:chExt cx="2967788" cy="5477064"/>
          </a:xfrm>
        </p:grpSpPr>
        <p:grpSp>
          <p:nvGrpSpPr>
            <p:cNvPr id="3" name="Group 2"/>
            <p:cNvGrpSpPr/>
            <p:nvPr/>
          </p:nvGrpSpPr>
          <p:grpSpPr>
            <a:xfrm>
              <a:off x="3371850" y="1152336"/>
              <a:ext cx="2967788" cy="5477064"/>
              <a:chOff x="3371850" y="1152336"/>
              <a:chExt cx="2967788" cy="5477064"/>
            </a:xfrm>
          </p:grpSpPr>
          <p:grpSp>
            <p:nvGrpSpPr>
              <p:cNvPr id="18" name="Group 17"/>
              <p:cNvGrpSpPr/>
              <p:nvPr/>
            </p:nvGrpSpPr>
            <p:grpSpPr>
              <a:xfrm>
                <a:off x="3371850" y="1152336"/>
                <a:ext cx="2967788" cy="5477064"/>
                <a:chOff x="304800" y="969435"/>
                <a:chExt cx="2967788" cy="5477064"/>
              </a:xfrm>
            </p:grpSpPr>
            <p:grpSp>
              <p:nvGrpSpPr>
                <p:cNvPr id="16" name="Group 15"/>
                <p:cNvGrpSpPr/>
                <p:nvPr/>
              </p:nvGrpSpPr>
              <p:grpSpPr>
                <a:xfrm>
                  <a:off x="304800" y="1369545"/>
                  <a:ext cx="2967788" cy="5076954"/>
                  <a:chOff x="3433012" y="1237085"/>
                  <a:chExt cx="2967788" cy="5076954"/>
                </a:xfrm>
              </p:grpSpPr>
              <p:sp>
                <p:nvSpPr>
                  <p:cNvPr id="7" name="Rectangle 6"/>
                  <p:cNvSpPr/>
                  <p:nvPr/>
                </p:nvSpPr>
                <p:spPr>
                  <a:xfrm>
                    <a:off x="3433012" y="1237085"/>
                    <a:ext cx="2967788" cy="5076954"/>
                  </a:xfrm>
                  <a:prstGeom prst="rect">
                    <a:avLst/>
                  </a:prstGeom>
                  <a:solidFill>
                    <a:schemeClr val="accent6">
                      <a:lumMod val="20000"/>
                      <a:lumOff val="8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8" name="Rectangle 7"/>
                  <p:cNvSpPr/>
                  <p:nvPr/>
                </p:nvSpPr>
                <p:spPr>
                  <a:xfrm>
                    <a:off x="3609474" y="1909011"/>
                    <a:ext cx="2598821" cy="3689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Recipient</a:t>
                    </a:r>
                  </a:p>
                </p:txBody>
              </p:sp>
              <p:sp>
                <p:nvSpPr>
                  <p:cNvPr id="9" name="Rectangle 8"/>
                  <p:cNvSpPr/>
                  <p:nvPr/>
                </p:nvSpPr>
                <p:spPr>
                  <a:xfrm>
                    <a:off x="3609473" y="2425484"/>
                    <a:ext cx="2598821" cy="3689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Signature</a:t>
                    </a:r>
                  </a:p>
                </p:txBody>
              </p:sp>
              <p:sp>
                <p:nvSpPr>
                  <p:cNvPr id="10" name="Rectangle 9"/>
                  <p:cNvSpPr/>
                  <p:nvPr/>
                </p:nvSpPr>
                <p:spPr>
                  <a:xfrm>
                    <a:off x="3617495" y="2941957"/>
                    <a:ext cx="2598821" cy="3689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Value</a:t>
                    </a:r>
                  </a:p>
                </p:txBody>
              </p:sp>
              <p:sp>
                <p:nvSpPr>
                  <p:cNvPr id="11" name="Rectangle 10"/>
                  <p:cNvSpPr/>
                  <p:nvPr/>
                </p:nvSpPr>
                <p:spPr>
                  <a:xfrm>
                    <a:off x="3617495" y="3510566"/>
                    <a:ext cx="2598821" cy="3689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Data</a:t>
                    </a:r>
                  </a:p>
                </p:txBody>
              </p:sp>
              <p:sp>
                <p:nvSpPr>
                  <p:cNvPr id="12" name="Rectangle 11"/>
                  <p:cNvSpPr/>
                  <p:nvPr/>
                </p:nvSpPr>
                <p:spPr>
                  <a:xfrm>
                    <a:off x="3617495" y="4116363"/>
                    <a:ext cx="2598821" cy="3689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Gas Limit</a:t>
                    </a:r>
                  </a:p>
                </p:txBody>
              </p:sp>
              <p:sp>
                <p:nvSpPr>
                  <p:cNvPr id="13" name="Rectangle 12"/>
                  <p:cNvSpPr/>
                  <p:nvPr/>
                </p:nvSpPr>
                <p:spPr>
                  <a:xfrm>
                    <a:off x="3609472" y="4722160"/>
                    <a:ext cx="2598821" cy="3689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Max Priority Fee per Gas</a:t>
                    </a:r>
                  </a:p>
                </p:txBody>
              </p:sp>
              <p:sp>
                <p:nvSpPr>
                  <p:cNvPr id="15" name="Rectangle 14"/>
                  <p:cNvSpPr/>
                  <p:nvPr/>
                </p:nvSpPr>
                <p:spPr>
                  <a:xfrm>
                    <a:off x="3609471" y="5271602"/>
                    <a:ext cx="2598821" cy="3689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Max Fee per Gas</a:t>
                    </a:r>
                  </a:p>
                </p:txBody>
              </p:sp>
            </p:grpSp>
            <p:sp>
              <p:nvSpPr>
                <p:cNvPr id="17" name="TextBox 16"/>
                <p:cNvSpPr txBox="1"/>
                <p:nvPr/>
              </p:nvSpPr>
              <p:spPr>
                <a:xfrm>
                  <a:off x="1024688" y="969435"/>
                  <a:ext cx="2209800" cy="400110"/>
                </a:xfrm>
                <a:prstGeom prst="rect">
                  <a:avLst/>
                </a:prstGeom>
                <a:noFill/>
              </p:spPr>
              <p:txBody>
                <a:bodyPr wrap="square" rtlCol="0">
                  <a:spAutoFit/>
                </a:bodyPr>
                <a:lstStyle/>
                <a:p>
                  <a:r>
                    <a:rPr lang="en-US" sz="2000" b="1" dirty="0">
                      <a:latin typeface="Candara" panose="020E0502030303020204" pitchFamily="34" charset="0"/>
                    </a:rPr>
                    <a:t>Transaction</a:t>
                  </a:r>
                </a:p>
              </p:txBody>
            </p:sp>
          </p:grpSp>
          <p:sp>
            <p:nvSpPr>
              <p:cNvPr id="56" name="Rectangle 55"/>
              <p:cNvSpPr/>
              <p:nvPr/>
            </p:nvSpPr>
            <p:spPr>
              <a:xfrm>
                <a:off x="3565065" y="6109588"/>
                <a:ext cx="2598821" cy="3689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Chain ID</a:t>
                </a:r>
              </a:p>
            </p:txBody>
          </p:sp>
        </p:grpSp>
        <p:sp>
          <p:nvSpPr>
            <p:cNvPr id="47" name="Rectangle 46"/>
            <p:cNvSpPr/>
            <p:nvPr/>
          </p:nvSpPr>
          <p:spPr>
            <a:xfrm>
              <a:off x="3565065" y="1691918"/>
              <a:ext cx="2598821" cy="3689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Nonce</a:t>
              </a:r>
            </a:p>
          </p:txBody>
        </p:sp>
      </p:grpSp>
      <p:grpSp>
        <p:nvGrpSpPr>
          <p:cNvPr id="58" name="Group 57"/>
          <p:cNvGrpSpPr/>
          <p:nvPr/>
        </p:nvGrpSpPr>
        <p:grpSpPr>
          <a:xfrm>
            <a:off x="487681" y="5864070"/>
            <a:ext cx="4408170" cy="584775"/>
            <a:chOff x="267146" y="5667464"/>
            <a:chExt cx="3382349" cy="584775"/>
          </a:xfrm>
        </p:grpSpPr>
        <p:sp>
          <p:nvSpPr>
            <p:cNvPr id="59" name="Rectangle 58"/>
            <p:cNvSpPr/>
            <p:nvPr/>
          </p:nvSpPr>
          <p:spPr>
            <a:xfrm>
              <a:off x="267146" y="5667464"/>
              <a:ext cx="2814638" cy="584775"/>
            </a:xfrm>
            <a:prstGeom prst="rect">
              <a:avLst/>
            </a:prstGeom>
          </p:spPr>
          <p:txBody>
            <a:bodyPr wrap="square">
              <a:spAutoFit/>
            </a:bodyPr>
            <a:lstStyle/>
            <a:p>
              <a:pPr algn="ctr"/>
              <a:r>
                <a:rPr lang="en-US" sz="1600" dirty="0">
                  <a:latin typeface="Candara" panose="020E0502030303020204" pitchFamily="34" charset="0"/>
                </a:rPr>
                <a:t>Replay protection on different chains (main chain id is 1)</a:t>
              </a:r>
            </a:p>
          </p:txBody>
        </p:sp>
        <p:cxnSp>
          <p:nvCxnSpPr>
            <p:cNvPr id="60" name="Straight Arrow Connector 59"/>
            <p:cNvCxnSpPr/>
            <p:nvPr/>
          </p:nvCxnSpPr>
          <p:spPr>
            <a:xfrm flipH="1">
              <a:off x="3080868" y="5991343"/>
              <a:ext cx="568627" cy="425"/>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0916334"/>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Accounts &amp; Transactions</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30</a:t>
            </a:fld>
            <a:endParaRPr lang="en-US" dirty="0">
              <a:latin typeface="Candara" panose="020E0502030303020204" pitchFamily="34" charset="0"/>
            </a:endParaRPr>
          </a:p>
        </p:txBody>
      </p:sp>
      <p:grpSp>
        <p:nvGrpSpPr>
          <p:cNvPr id="16" name="Group 15"/>
          <p:cNvGrpSpPr/>
          <p:nvPr/>
        </p:nvGrpSpPr>
        <p:grpSpPr>
          <a:xfrm>
            <a:off x="7568099" y="1100734"/>
            <a:ext cx="3018922" cy="5169568"/>
            <a:chOff x="3371850" y="1152336"/>
            <a:chExt cx="2967788" cy="5477064"/>
          </a:xfrm>
        </p:grpSpPr>
        <p:grpSp>
          <p:nvGrpSpPr>
            <p:cNvPr id="18" name="Group 17"/>
            <p:cNvGrpSpPr/>
            <p:nvPr/>
          </p:nvGrpSpPr>
          <p:grpSpPr>
            <a:xfrm>
              <a:off x="3371850" y="1152336"/>
              <a:ext cx="2967788" cy="5477064"/>
              <a:chOff x="3371850" y="1152336"/>
              <a:chExt cx="2967788" cy="5477064"/>
            </a:xfrm>
          </p:grpSpPr>
          <p:grpSp>
            <p:nvGrpSpPr>
              <p:cNvPr id="19" name="Group 18"/>
              <p:cNvGrpSpPr/>
              <p:nvPr/>
            </p:nvGrpSpPr>
            <p:grpSpPr>
              <a:xfrm>
                <a:off x="3371850" y="1152336"/>
                <a:ext cx="2967788" cy="5477064"/>
                <a:chOff x="304800" y="969435"/>
                <a:chExt cx="2967788" cy="5477064"/>
              </a:xfrm>
            </p:grpSpPr>
            <p:grpSp>
              <p:nvGrpSpPr>
                <p:cNvPr id="21" name="Group 20"/>
                <p:cNvGrpSpPr/>
                <p:nvPr/>
              </p:nvGrpSpPr>
              <p:grpSpPr>
                <a:xfrm>
                  <a:off x="304800" y="1369545"/>
                  <a:ext cx="2967788" cy="5076954"/>
                  <a:chOff x="3433012" y="1237085"/>
                  <a:chExt cx="2967788" cy="5076954"/>
                </a:xfrm>
              </p:grpSpPr>
              <p:sp>
                <p:nvSpPr>
                  <p:cNvPr id="23" name="Rectangle 22"/>
                  <p:cNvSpPr/>
                  <p:nvPr/>
                </p:nvSpPr>
                <p:spPr>
                  <a:xfrm>
                    <a:off x="3433012" y="1237085"/>
                    <a:ext cx="2967788" cy="5076954"/>
                  </a:xfrm>
                  <a:prstGeom prst="rect">
                    <a:avLst/>
                  </a:prstGeom>
                  <a:solidFill>
                    <a:schemeClr val="accent6">
                      <a:lumMod val="20000"/>
                      <a:lumOff val="8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24" name="Rectangle 23"/>
                  <p:cNvSpPr/>
                  <p:nvPr/>
                </p:nvSpPr>
                <p:spPr>
                  <a:xfrm>
                    <a:off x="3609474" y="1909011"/>
                    <a:ext cx="2598821" cy="3689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Recipient</a:t>
                    </a:r>
                  </a:p>
                </p:txBody>
              </p:sp>
              <p:sp>
                <p:nvSpPr>
                  <p:cNvPr id="25" name="Rectangle 24"/>
                  <p:cNvSpPr/>
                  <p:nvPr/>
                </p:nvSpPr>
                <p:spPr>
                  <a:xfrm>
                    <a:off x="3609473" y="2425484"/>
                    <a:ext cx="2598821" cy="3689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Signature</a:t>
                    </a:r>
                  </a:p>
                </p:txBody>
              </p:sp>
              <p:sp>
                <p:nvSpPr>
                  <p:cNvPr id="26" name="Rectangle 25"/>
                  <p:cNvSpPr/>
                  <p:nvPr/>
                </p:nvSpPr>
                <p:spPr>
                  <a:xfrm>
                    <a:off x="3617495" y="2941957"/>
                    <a:ext cx="2598821" cy="3689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Value</a:t>
                    </a:r>
                  </a:p>
                </p:txBody>
              </p:sp>
              <p:sp>
                <p:nvSpPr>
                  <p:cNvPr id="27" name="Rectangle 26"/>
                  <p:cNvSpPr/>
                  <p:nvPr/>
                </p:nvSpPr>
                <p:spPr>
                  <a:xfrm>
                    <a:off x="3617495" y="3510566"/>
                    <a:ext cx="2598821" cy="3689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Data</a:t>
                    </a:r>
                  </a:p>
                </p:txBody>
              </p:sp>
              <p:sp>
                <p:nvSpPr>
                  <p:cNvPr id="28" name="Rectangle 27"/>
                  <p:cNvSpPr/>
                  <p:nvPr/>
                </p:nvSpPr>
                <p:spPr>
                  <a:xfrm>
                    <a:off x="3617495" y="4116363"/>
                    <a:ext cx="2598821" cy="3689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Gas Limit</a:t>
                    </a:r>
                  </a:p>
                </p:txBody>
              </p:sp>
              <p:sp>
                <p:nvSpPr>
                  <p:cNvPr id="29" name="Rectangle 28"/>
                  <p:cNvSpPr/>
                  <p:nvPr/>
                </p:nvSpPr>
                <p:spPr>
                  <a:xfrm>
                    <a:off x="3609472" y="4722160"/>
                    <a:ext cx="2598821" cy="3689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Max Priority Fee per Gas</a:t>
                    </a:r>
                  </a:p>
                </p:txBody>
              </p:sp>
              <p:sp>
                <p:nvSpPr>
                  <p:cNvPr id="30" name="Rectangle 29"/>
                  <p:cNvSpPr/>
                  <p:nvPr/>
                </p:nvSpPr>
                <p:spPr>
                  <a:xfrm>
                    <a:off x="3609471" y="5271602"/>
                    <a:ext cx="2598821" cy="3689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Max Fee per Gas</a:t>
                    </a:r>
                  </a:p>
                </p:txBody>
              </p:sp>
            </p:grpSp>
            <p:sp>
              <p:nvSpPr>
                <p:cNvPr id="22" name="TextBox 21"/>
                <p:cNvSpPr txBox="1"/>
                <p:nvPr/>
              </p:nvSpPr>
              <p:spPr>
                <a:xfrm>
                  <a:off x="1024688" y="969435"/>
                  <a:ext cx="2209800" cy="423909"/>
                </a:xfrm>
                <a:prstGeom prst="rect">
                  <a:avLst/>
                </a:prstGeom>
                <a:noFill/>
              </p:spPr>
              <p:txBody>
                <a:bodyPr wrap="square" rtlCol="0">
                  <a:spAutoFit/>
                </a:bodyPr>
                <a:lstStyle/>
                <a:p>
                  <a:r>
                    <a:rPr lang="en-US" sz="2000" b="1" dirty="0">
                      <a:latin typeface="Candara" panose="020E0502030303020204" pitchFamily="34" charset="0"/>
                    </a:rPr>
                    <a:t>Transaction</a:t>
                  </a:r>
                </a:p>
              </p:txBody>
            </p:sp>
          </p:grpSp>
          <p:sp>
            <p:nvSpPr>
              <p:cNvPr id="20" name="Rectangle 19"/>
              <p:cNvSpPr/>
              <p:nvPr/>
            </p:nvSpPr>
            <p:spPr>
              <a:xfrm>
                <a:off x="3565065" y="6109588"/>
                <a:ext cx="2598821" cy="3689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Chain ID</a:t>
                </a:r>
              </a:p>
            </p:txBody>
          </p:sp>
        </p:grpSp>
        <p:sp>
          <p:nvSpPr>
            <p:cNvPr id="17" name="Rectangle 16"/>
            <p:cNvSpPr/>
            <p:nvPr/>
          </p:nvSpPr>
          <p:spPr>
            <a:xfrm>
              <a:off x="3565065" y="1691918"/>
              <a:ext cx="2598821" cy="3689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Nonce</a:t>
              </a:r>
            </a:p>
          </p:txBody>
        </p:sp>
      </p:grpSp>
      <p:grpSp>
        <p:nvGrpSpPr>
          <p:cNvPr id="3" name="Group 2"/>
          <p:cNvGrpSpPr/>
          <p:nvPr/>
        </p:nvGrpSpPr>
        <p:grpSpPr>
          <a:xfrm>
            <a:off x="1203159" y="1885789"/>
            <a:ext cx="5484416" cy="4214221"/>
            <a:chOff x="331304" y="1885790"/>
            <a:chExt cx="4832269" cy="3532202"/>
          </a:xfrm>
        </p:grpSpPr>
        <p:grpSp>
          <p:nvGrpSpPr>
            <p:cNvPr id="31" name="Group 30"/>
            <p:cNvGrpSpPr/>
            <p:nvPr/>
          </p:nvGrpSpPr>
          <p:grpSpPr>
            <a:xfrm>
              <a:off x="331304" y="2370734"/>
              <a:ext cx="4832269" cy="3047258"/>
              <a:chOff x="3421626" y="1327355"/>
              <a:chExt cx="5389017" cy="3274142"/>
            </a:xfrm>
          </p:grpSpPr>
          <p:sp>
            <p:nvSpPr>
              <p:cNvPr id="36" name="Rectangle 35"/>
              <p:cNvSpPr/>
              <p:nvPr/>
            </p:nvSpPr>
            <p:spPr>
              <a:xfrm>
                <a:off x="3421626" y="1327355"/>
                <a:ext cx="5230217" cy="3274142"/>
              </a:xfrm>
              <a:prstGeom prst="rect">
                <a:avLst/>
              </a:prstGeom>
              <a:solidFill>
                <a:schemeClr val="accent5">
                  <a:lumMod val="20000"/>
                  <a:lumOff val="8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grpSp>
            <p:nvGrpSpPr>
              <p:cNvPr id="32" name="Group 31"/>
              <p:cNvGrpSpPr/>
              <p:nvPr/>
            </p:nvGrpSpPr>
            <p:grpSpPr>
              <a:xfrm>
                <a:off x="5678129" y="1666568"/>
                <a:ext cx="1710813" cy="2580967"/>
                <a:chOff x="5678129" y="1666568"/>
                <a:chExt cx="1710813" cy="2580967"/>
              </a:xfrm>
            </p:grpSpPr>
            <p:sp>
              <p:nvSpPr>
                <p:cNvPr id="43" name="Rectangle 42"/>
                <p:cNvSpPr/>
                <p:nvPr/>
              </p:nvSpPr>
              <p:spPr>
                <a:xfrm>
                  <a:off x="5678129" y="1666568"/>
                  <a:ext cx="1710813" cy="25809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44" name="Oval 43"/>
                <p:cNvSpPr/>
                <p:nvPr/>
              </p:nvSpPr>
              <p:spPr>
                <a:xfrm>
                  <a:off x="5855110" y="1735842"/>
                  <a:ext cx="1371600" cy="52066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nonce</a:t>
                  </a:r>
                </a:p>
              </p:txBody>
            </p:sp>
            <p:sp>
              <p:nvSpPr>
                <p:cNvPr id="45" name="Oval 44"/>
                <p:cNvSpPr/>
                <p:nvPr/>
              </p:nvSpPr>
              <p:spPr>
                <a:xfrm>
                  <a:off x="5847735" y="2359740"/>
                  <a:ext cx="1371600" cy="49441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balance</a:t>
                  </a:r>
                </a:p>
              </p:txBody>
            </p:sp>
            <p:sp>
              <p:nvSpPr>
                <p:cNvPr id="46" name="Oval 45"/>
                <p:cNvSpPr/>
                <p:nvPr/>
              </p:nvSpPr>
              <p:spPr>
                <a:xfrm>
                  <a:off x="5855110" y="2979171"/>
                  <a:ext cx="1371600" cy="5117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Storage hash</a:t>
                  </a:r>
                </a:p>
              </p:txBody>
            </p:sp>
            <p:sp>
              <p:nvSpPr>
                <p:cNvPr id="47" name="Oval 46"/>
                <p:cNvSpPr/>
                <p:nvPr/>
              </p:nvSpPr>
              <p:spPr>
                <a:xfrm>
                  <a:off x="5855110" y="3588982"/>
                  <a:ext cx="1371600" cy="5117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Code hash</a:t>
                  </a:r>
                </a:p>
              </p:txBody>
            </p:sp>
          </p:grpSp>
          <p:grpSp>
            <p:nvGrpSpPr>
              <p:cNvPr id="33" name="Group 32"/>
              <p:cNvGrpSpPr/>
              <p:nvPr/>
            </p:nvGrpSpPr>
            <p:grpSpPr>
              <a:xfrm>
                <a:off x="7083477" y="3013824"/>
                <a:ext cx="1727166" cy="1476225"/>
                <a:chOff x="7083477" y="3013824"/>
                <a:chExt cx="1727166" cy="1476225"/>
              </a:xfrm>
            </p:grpSpPr>
            <p:sp>
              <p:nvSpPr>
                <p:cNvPr id="37" name="Flowchart: Magnetic Disk 36"/>
                <p:cNvSpPr/>
                <p:nvPr/>
              </p:nvSpPr>
              <p:spPr>
                <a:xfrm>
                  <a:off x="7704903" y="3013824"/>
                  <a:ext cx="492564" cy="477072"/>
                </a:xfrm>
                <a:prstGeom prst="flowChartMagneticDisk">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38" name="Rectangular Callout 37"/>
                <p:cNvSpPr/>
                <p:nvPr/>
              </p:nvSpPr>
              <p:spPr>
                <a:xfrm>
                  <a:off x="7683910" y="3746770"/>
                  <a:ext cx="530942" cy="456521"/>
                </a:xfrm>
                <a:prstGeom prst="wedgeRectCallo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cxnSp>
              <p:nvCxnSpPr>
                <p:cNvPr id="39" name="Straight Arrow Connector 38"/>
                <p:cNvCxnSpPr>
                  <a:endCxn id="37" idx="2"/>
                </p:cNvCxnSpPr>
                <p:nvPr/>
              </p:nvCxnSpPr>
              <p:spPr>
                <a:xfrm>
                  <a:off x="7093974" y="3235033"/>
                  <a:ext cx="610929" cy="17327"/>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7083477" y="3894237"/>
                  <a:ext cx="610929" cy="17327"/>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7320262" y="3453415"/>
                  <a:ext cx="1490381" cy="297623"/>
                </a:xfrm>
                <a:prstGeom prst="rect">
                  <a:avLst/>
                </a:prstGeom>
                <a:noFill/>
              </p:spPr>
              <p:txBody>
                <a:bodyPr wrap="square" rtlCol="0">
                  <a:spAutoFit/>
                </a:bodyPr>
                <a:lstStyle/>
                <a:p>
                  <a:r>
                    <a:rPr lang="en-US" sz="1200" dirty="0">
                      <a:latin typeface="Candara" panose="020E0502030303020204" pitchFamily="34" charset="0"/>
                    </a:rPr>
                    <a:t>Account storage</a:t>
                  </a:r>
                </a:p>
              </p:txBody>
            </p:sp>
            <p:sp>
              <p:nvSpPr>
                <p:cNvPr id="42" name="TextBox 41"/>
                <p:cNvSpPr txBox="1"/>
                <p:nvPr/>
              </p:nvSpPr>
              <p:spPr>
                <a:xfrm>
                  <a:off x="7567201" y="4192426"/>
                  <a:ext cx="948149" cy="297623"/>
                </a:xfrm>
                <a:prstGeom prst="rect">
                  <a:avLst/>
                </a:prstGeom>
                <a:noFill/>
              </p:spPr>
              <p:txBody>
                <a:bodyPr wrap="square" rtlCol="0">
                  <a:spAutoFit/>
                </a:bodyPr>
                <a:lstStyle/>
                <a:p>
                  <a:r>
                    <a:rPr lang="en-US" sz="1200" dirty="0">
                      <a:latin typeface="Candara" panose="020E0502030303020204" pitchFamily="34" charset="0"/>
                    </a:rPr>
                    <a:t>EVM Code </a:t>
                  </a:r>
                </a:p>
              </p:txBody>
            </p:sp>
          </p:grpSp>
          <p:sp>
            <p:nvSpPr>
              <p:cNvPr id="34" name="Oval 33"/>
              <p:cNvSpPr/>
              <p:nvPr/>
            </p:nvSpPr>
            <p:spPr>
              <a:xfrm>
                <a:off x="3532239" y="1839078"/>
                <a:ext cx="1371600" cy="52066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Address</a:t>
                </a:r>
              </a:p>
            </p:txBody>
          </p:sp>
          <p:cxnSp>
            <p:nvCxnSpPr>
              <p:cNvPr id="35" name="Straight Arrow Connector 34"/>
              <p:cNvCxnSpPr/>
              <p:nvPr/>
            </p:nvCxnSpPr>
            <p:spPr>
              <a:xfrm>
                <a:off x="4903839" y="2082082"/>
                <a:ext cx="789039" cy="17327"/>
              </a:xfrm>
              <a:prstGeom prst="straightConnector1">
                <a:avLst/>
              </a:prstGeom>
              <a:ln>
                <a:solidFill>
                  <a:schemeClr val="tx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48" name="TextBox 47"/>
            <p:cNvSpPr txBox="1"/>
            <p:nvPr/>
          </p:nvSpPr>
          <p:spPr>
            <a:xfrm>
              <a:off x="1660387" y="1885790"/>
              <a:ext cx="1745889" cy="369332"/>
            </a:xfrm>
            <a:prstGeom prst="rect">
              <a:avLst/>
            </a:prstGeom>
            <a:noFill/>
          </p:spPr>
          <p:txBody>
            <a:bodyPr wrap="square" rtlCol="0">
              <a:spAutoFit/>
            </a:bodyPr>
            <a:lstStyle/>
            <a:p>
              <a:r>
                <a:rPr lang="en-US" b="1" dirty="0">
                  <a:latin typeface="Candara" panose="020E0502030303020204" pitchFamily="34" charset="0"/>
                </a:rPr>
                <a:t>Account State</a:t>
              </a:r>
            </a:p>
          </p:txBody>
        </p:sp>
      </p:grpSp>
    </p:spTree>
    <p:extLst>
      <p:ext uri="{BB962C8B-B14F-4D97-AF65-F5344CB8AC3E}">
        <p14:creationId xmlns:p14="http://schemas.microsoft.com/office/powerpoint/2010/main" val="474126872"/>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Nonce Role</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31</a:t>
            </a:fld>
            <a:endParaRPr lang="en-US" dirty="0">
              <a:latin typeface="Candara" panose="020E0502030303020204" pitchFamily="34" charset="0"/>
            </a:endParaRPr>
          </a:p>
        </p:txBody>
      </p:sp>
      <p:grpSp>
        <p:nvGrpSpPr>
          <p:cNvPr id="15" name="Group 14"/>
          <p:cNvGrpSpPr/>
          <p:nvPr/>
        </p:nvGrpSpPr>
        <p:grpSpPr>
          <a:xfrm>
            <a:off x="4428546" y="2513106"/>
            <a:ext cx="2031264" cy="2548983"/>
            <a:chOff x="4064736" y="1770930"/>
            <a:chExt cx="2031264" cy="2548983"/>
          </a:xfrm>
        </p:grpSpPr>
        <p:grpSp>
          <p:nvGrpSpPr>
            <p:cNvPr id="9" name="Group 8"/>
            <p:cNvGrpSpPr/>
            <p:nvPr/>
          </p:nvGrpSpPr>
          <p:grpSpPr>
            <a:xfrm>
              <a:off x="4076700" y="2294134"/>
              <a:ext cx="2019300" cy="2025779"/>
              <a:chOff x="895350" y="2294134"/>
              <a:chExt cx="2019300" cy="2025779"/>
            </a:xfrm>
          </p:grpSpPr>
          <p:sp>
            <p:nvSpPr>
              <p:cNvPr id="10" name="Rectangle 9"/>
              <p:cNvSpPr/>
              <p:nvPr/>
            </p:nvSpPr>
            <p:spPr>
              <a:xfrm>
                <a:off x="895350" y="2294134"/>
                <a:ext cx="2019300" cy="202577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ndara" panose="020E0502030303020204" pitchFamily="34" charset="0"/>
                  </a:rPr>
                  <a:t>.</a:t>
                </a:r>
              </a:p>
              <a:p>
                <a:pPr algn="ctr"/>
                <a:r>
                  <a:rPr lang="en-US" dirty="0">
                    <a:latin typeface="Candara" panose="020E0502030303020204" pitchFamily="34" charset="0"/>
                  </a:rPr>
                  <a:t>.</a:t>
                </a:r>
              </a:p>
              <a:p>
                <a:pPr algn="ctr"/>
                <a:r>
                  <a:rPr lang="en-US" sz="4000" b="1" dirty="0">
                    <a:solidFill>
                      <a:schemeClr val="tx1"/>
                    </a:solidFill>
                    <a:latin typeface="Candara" panose="020E0502030303020204" pitchFamily="34" charset="0"/>
                  </a:rPr>
                  <a:t>.</a:t>
                </a:r>
              </a:p>
              <a:p>
                <a:pPr algn="ctr"/>
                <a:r>
                  <a:rPr lang="en-US" sz="4000" b="1" dirty="0">
                    <a:solidFill>
                      <a:schemeClr val="tx1"/>
                    </a:solidFill>
                    <a:latin typeface="Candara" panose="020E0502030303020204" pitchFamily="34" charset="0"/>
                  </a:rPr>
                  <a:t>.</a:t>
                </a:r>
              </a:p>
            </p:txBody>
          </p:sp>
          <p:sp>
            <p:nvSpPr>
              <p:cNvPr id="11" name="Rectangle 10"/>
              <p:cNvSpPr/>
              <p:nvPr/>
            </p:nvSpPr>
            <p:spPr>
              <a:xfrm>
                <a:off x="1110916" y="2579884"/>
                <a:ext cx="1524000" cy="5905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andara" panose="020E0502030303020204" pitchFamily="34" charset="0"/>
                  </a:rPr>
                  <a:t>Txn Nonce = 5</a:t>
                </a:r>
              </a:p>
            </p:txBody>
          </p:sp>
        </p:grpSp>
        <p:sp>
          <p:nvSpPr>
            <p:cNvPr id="12" name="TextBox 11"/>
            <p:cNvSpPr txBox="1"/>
            <p:nvPr/>
          </p:nvSpPr>
          <p:spPr>
            <a:xfrm>
              <a:off x="4064736" y="1770930"/>
              <a:ext cx="1976561" cy="523220"/>
            </a:xfrm>
            <a:prstGeom prst="rect">
              <a:avLst/>
            </a:prstGeom>
            <a:noFill/>
          </p:spPr>
          <p:txBody>
            <a:bodyPr wrap="square" rtlCol="0">
              <a:spAutoFit/>
            </a:bodyPr>
            <a:lstStyle/>
            <a:p>
              <a:pPr algn="ctr"/>
              <a:r>
                <a:rPr lang="en-US" sz="1400" dirty="0">
                  <a:latin typeface="Candara" panose="020E0502030303020204" pitchFamily="34" charset="0"/>
                </a:rPr>
                <a:t>Previous </a:t>
              </a:r>
              <a:r>
                <a:rPr lang="en-US" sz="1400" dirty="0" err="1">
                  <a:latin typeface="Candara" panose="020E0502030303020204" pitchFamily="34" charset="0"/>
                </a:rPr>
                <a:t>txn</a:t>
              </a:r>
              <a:r>
                <a:rPr lang="en-US" sz="1400" dirty="0">
                  <a:latin typeface="Candara" panose="020E0502030303020204" pitchFamily="34" charset="0"/>
                </a:rPr>
                <a:t> replayed by an attacker at time </a:t>
              </a:r>
              <a:r>
                <a:rPr lang="en-US" sz="1400" i="1" dirty="0">
                  <a:latin typeface="Candara" panose="020E0502030303020204" pitchFamily="34" charset="0"/>
                </a:rPr>
                <a:t>t</a:t>
              </a:r>
            </a:p>
          </p:txBody>
        </p:sp>
      </p:grpSp>
      <p:sp>
        <p:nvSpPr>
          <p:cNvPr id="16" name="TextBox 15"/>
          <p:cNvSpPr txBox="1"/>
          <p:nvPr/>
        </p:nvSpPr>
        <p:spPr>
          <a:xfrm>
            <a:off x="3120963" y="1292527"/>
            <a:ext cx="5024416" cy="461665"/>
          </a:xfrm>
          <a:prstGeom prst="rect">
            <a:avLst/>
          </a:prstGeom>
          <a:noFill/>
          <a:ln>
            <a:noFill/>
          </a:ln>
        </p:spPr>
        <p:txBody>
          <a:bodyPr wrap="square" rtlCol="0">
            <a:spAutoFit/>
          </a:bodyPr>
          <a:lstStyle/>
          <a:p>
            <a:pPr algn="ctr"/>
            <a:r>
              <a:rPr lang="en-US" sz="2400" dirty="0">
                <a:latin typeface="Candara" panose="020E0502030303020204" pitchFamily="34" charset="0"/>
              </a:rPr>
              <a:t>Will this replay attack succeed? </a:t>
            </a:r>
          </a:p>
        </p:txBody>
      </p:sp>
      <p:grpSp>
        <p:nvGrpSpPr>
          <p:cNvPr id="27" name="Group 26"/>
          <p:cNvGrpSpPr/>
          <p:nvPr/>
        </p:nvGrpSpPr>
        <p:grpSpPr>
          <a:xfrm>
            <a:off x="4345263" y="2932286"/>
            <a:ext cx="2241813" cy="2233825"/>
            <a:chOff x="3365159" y="1318114"/>
            <a:chExt cx="2315922" cy="3258738"/>
          </a:xfrm>
        </p:grpSpPr>
        <p:cxnSp>
          <p:nvCxnSpPr>
            <p:cNvPr id="19" name="Straight Connector 18"/>
            <p:cNvCxnSpPr/>
            <p:nvPr/>
          </p:nvCxnSpPr>
          <p:spPr>
            <a:xfrm>
              <a:off x="3376032" y="1318114"/>
              <a:ext cx="2305049" cy="3258738"/>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3365159" y="1366887"/>
              <a:ext cx="2228850" cy="3192982"/>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6" name="TextBox 25"/>
              <p:cNvSpPr txBox="1"/>
              <p:nvPr/>
            </p:nvSpPr>
            <p:spPr>
              <a:xfrm>
                <a:off x="6861461" y="3034663"/>
                <a:ext cx="4812379" cy="1938992"/>
              </a:xfrm>
              <a:prstGeom prst="rect">
                <a:avLst/>
              </a:prstGeom>
              <a:noFill/>
              <a:ln>
                <a:noFill/>
              </a:ln>
            </p:spPr>
            <p:txBody>
              <a:bodyPr wrap="square" rtlCol="0">
                <a:spAutoFit/>
              </a:bodyPr>
              <a:lstStyle/>
              <a:p>
                <a:r>
                  <a:rPr lang="en-US" sz="2000" dirty="0">
                    <a:latin typeface="Candara" panose="020E0502030303020204" pitchFamily="34" charset="0"/>
                  </a:rPr>
                  <a:t>At time</a:t>
                </a:r>
                <a14:m>
                  <m:oMath xmlns:m="http://schemas.openxmlformats.org/officeDocument/2006/math">
                    <m:r>
                      <a:rPr lang="en-US" sz="2000" i="1" dirty="0">
                        <a:latin typeface="Cambria Math" panose="02040503050406030204" pitchFamily="18" charset="0"/>
                      </a:rPr>
                      <m:t> </m:t>
                    </m:r>
                    <m:r>
                      <a:rPr lang="en-US" sz="2000" i="1" dirty="0">
                        <a:latin typeface="Cambria Math" panose="02040503050406030204" pitchFamily="18" charset="0"/>
                      </a:rPr>
                      <m:t>𝑡</m:t>
                    </m:r>
                  </m:oMath>
                </a14:m>
                <a:r>
                  <a:rPr lang="en-US" sz="2000" dirty="0">
                    <a:latin typeface="Candara" panose="020E0502030303020204" pitchFamily="34" charset="0"/>
                  </a:rPr>
                  <a:t>, account nonce is 5, which means there was a previous </a:t>
                </a:r>
                <a:r>
                  <a:rPr lang="en-US" sz="2000" dirty="0" err="1">
                    <a:latin typeface="Candara" panose="020E0502030303020204" pitchFamily="34" charset="0"/>
                  </a:rPr>
                  <a:t>txn</a:t>
                </a:r>
                <a:r>
                  <a:rPr lang="en-US" sz="2000" dirty="0">
                    <a:latin typeface="Candara" panose="020E0502030303020204" pitchFamily="34" charset="0"/>
                  </a:rPr>
                  <a:t> with the same nonce that was processed by the network and as a result the account nonce was incremented from 4 to 5. The nodes will reject this </a:t>
                </a:r>
                <a:r>
                  <a:rPr lang="en-US" sz="2000" dirty="0" err="1">
                    <a:latin typeface="Candara" panose="020E0502030303020204" pitchFamily="34" charset="0"/>
                  </a:rPr>
                  <a:t>txn</a:t>
                </a:r>
                <a:r>
                  <a:rPr lang="en-US" sz="2000" dirty="0">
                    <a:latin typeface="Candara" panose="020E0502030303020204" pitchFamily="34" charset="0"/>
                  </a:rPr>
                  <a:t> </a:t>
                </a:r>
              </a:p>
            </p:txBody>
          </p:sp>
        </mc:Choice>
        <mc:Fallback xmlns="">
          <p:sp>
            <p:nvSpPr>
              <p:cNvPr id="26" name="TextBox 25"/>
              <p:cNvSpPr txBox="1">
                <a:spLocks noRot="1" noChangeAspect="1" noMove="1" noResize="1" noEditPoints="1" noAdjustHandles="1" noChangeArrowheads="1" noChangeShapeType="1" noTextEdit="1"/>
              </p:cNvSpPr>
              <p:nvPr/>
            </p:nvSpPr>
            <p:spPr>
              <a:xfrm>
                <a:off x="6861461" y="3034663"/>
                <a:ext cx="4812379" cy="1938992"/>
              </a:xfrm>
              <a:prstGeom prst="rect">
                <a:avLst/>
              </a:prstGeom>
              <a:blipFill>
                <a:blip r:embed="rId3"/>
                <a:stretch>
                  <a:fillRect l="-1394" t="-1887" r="-1267" b="-4717"/>
                </a:stretch>
              </a:blipFill>
              <a:ln>
                <a:noFill/>
              </a:ln>
            </p:spPr>
            <p:txBody>
              <a:bodyPr/>
              <a:lstStyle/>
              <a:p>
                <a:r>
                  <a:rPr lang="en-US">
                    <a:noFill/>
                  </a:rPr>
                  <a:t> </a:t>
                </a:r>
              </a:p>
            </p:txBody>
          </p:sp>
        </mc:Fallback>
      </mc:AlternateContent>
      <p:grpSp>
        <p:nvGrpSpPr>
          <p:cNvPr id="6" name="Group 5"/>
          <p:cNvGrpSpPr/>
          <p:nvPr/>
        </p:nvGrpSpPr>
        <p:grpSpPr>
          <a:xfrm>
            <a:off x="1671795" y="2511359"/>
            <a:ext cx="2300399" cy="2529038"/>
            <a:chOff x="60601" y="1038325"/>
            <a:chExt cx="2300399" cy="2529038"/>
          </a:xfrm>
        </p:grpSpPr>
        <p:grpSp>
          <p:nvGrpSpPr>
            <p:cNvPr id="14" name="Group 13"/>
            <p:cNvGrpSpPr/>
            <p:nvPr/>
          </p:nvGrpSpPr>
          <p:grpSpPr>
            <a:xfrm>
              <a:off x="60601" y="1038325"/>
              <a:ext cx="2300399" cy="2529038"/>
              <a:chOff x="629485" y="1734793"/>
              <a:chExt cx="2300399" cy="2529038"/>
            </a:xfrm>
          </p:grpSpPr>
          <p:sp>
            <p:nvSpPr>
              <p:cNvPr id="5" name="Rectangle 4"/>
              <p:cNvSpPr/>
              <p:nvPr/>
            </p:nvSpPr>
            <p:spPr>
              <a:xfrm>
                <a:off x="788189" y="2238052"/>
                <a:ext cx="2019300" cy="202577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ndara" panose="020E0502030303020204" pitchFamily="34" charset="0"/>
                  </a:rPr>
                  <a:t>.</a:t>
                </a:r>
              </a:p>
              <a:p>
                <a:pPr algn="ctr"/>
                <a:r>
                  <a:rPr lang="en-US" dirty="0">
                    <a:latin typeface="Candara" panose="020E0502030303020204" pitchFamily="34" charset="0"/>
                  </a:rPr>
                  <a:t>.</a:t>
                </a:r>
              </a:p>
              <a:p>
                <a:pPr algn="ctr"/>
                <a:r>
                  <a:rPr lang="en-US" sz="4000" b="1" dirty="0">
                    <a:solidFill>
                      <a:schemeClr val="tx1"/>
                    </a:solidFill>
                    <a:latin typeface="Candara" panose="020E0502030303020204" pitchFamily="34" charset="0"/>
                  </a:rPr>
                  <a:t>.</a:t>
                </a:r>
              </a:p>
              <a:p>
                <a:pPr algn="ctr"/>
                <a:r>
                  <a:rPr lang="en-US" sz="4000" b="1" dirty="0">
                    <a:solidFill>
                      <a:schemeClr val="tx1"/>
                    </a:solidFill>
                    <a:latin typeface="Candara" panose="020E0502030303020204" pitchFamily="34" charset="0"/>
                  </a:rPr>
                  <a:t>.</a:t>
                </a:r>
              </a:p>
            </p:txBody>
          </p:sp>
          <p:sp>
            <p:nvSpPr>
              <p:cNvPr id="8" name="TextBox 7"/>
              <p:cNvSpPr txBox="1"/>
              <p:nvPr/>
            </p:nvSpPr>
            <p:spPr>
              <a:xfrm>
                <a:off x="629485" y="1734793"/>
                <a:ext cx="2300399" cy="523220"/>
              </a:xfrm>
              <a:prstGeom prst="rect">
                <a:avLst/>
              </a:prstGeom>
              <a:noFill/>
            </p:spPr>
            <p:txBody>
              <a:bodyPr wrap="square" rtlCol="0">
                <a:spAutoFit/>
              </a:bodyPr>
              <a:lstStyle/>
              <a:p>
                <a:pPr algn="ctr"/>
                <a:r>
                  <a:rPr lang="en-US" sz="1400" dirty="0">
                    <a:latin typeface="Candara" panose="020E0502030303020204" pitchFamily="34" charset="0"/>
                  </a:rPr>
                  <a:t>Alice’s account nonce in world state at time </a:t>
                </a:r>
                <a:r>
                  <a:rPr lang="en-US" sz="1400" i="1" dirty="0">
                    <a:latin typeface="Candara" panose="020E0502030303020204" pitchFamily="34" charset="0"/>
                  </a:rPr>
                  <a:t>t</a:t>
                </a:r>
              </a:p>
            </p:txBody>
          </p:sp>
        </p:grpSp>
        <p:sp>
          <p:nvSpPr>
            <p:cNvPr id="43" name="Oval 42"/>
            <p:cNvSpPr/>
            <p:nvPr/>
          </p:nvSpPr>
          <p:spPr>
            <a:xfrm>
              <a:off x="335347" y="1650280"/>
              <a:ext cx="1721453" cy="68834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andara" panose="020E0502030303020204" pitchFamily="34" charset="0"/>
                </a:rPr>
                <a:t>Account Nonce = 5</a:t>
              </a:r>
            </a:p>
          </p:txBody>
        </p:sp>
      </p:grpSp>
      <p:sp>
        <p:nvSpPr>
          <p:cNvPr id="49" name="TextBox 48"/>
          <p:cNvSpPr txBox="1"/>
          <p:nvPr/>
        </p:nvSpPr>
        <p:spPr>
          <a:xfrm>
            <a:off x="8954596" y="1309885"/>
            <a:ext cx="942573" cy="461665"/>
          </a:xfrm>
          <a:prstGeom prst="rect">
            <a:avLst/>
          </a:prstGeom>
          <a:solidFill>
            <a:schemeClr val="bg1">
              <a:lumMod val="95000"/>
            </a:schemeClr>
          </a:solidFill>
          <a:ln>
            <a:solidFill>
              <a:schemeClr val="tx1"/>
            </a:solidFill>
          </a:ln>
        </p:spPr>
        <p:txBody>
          <a:bodyPr wrap="square" rtlCol="0">
            <a:spAutoFit/>
          </a:bodyPr>
          <a:lstStyle/>
          <a:p>
            <a:pPr algn="ctr"/>
            <a:r>
              <a:rPr lang="en-US" sz="2400" dirty="0">
                <a:latin typeface="Candara" panose="020E0502030303020204" pitchFamily="34" charset="0"/>
              </a:rPr>
              <a:t>No</a:t>
            </a:r>
          </a:p>
        </p:txBody>
      </p:sp>
      <p:sp>
        <p:nvSpPr>
          <p:cNvPr id="50" name="TextBox 49"/>
          <p:cNvSpPr txBox="1"/>
          <p:nvPr/>
        </p:nvSpPr>
        <p:spPr>
          <a:xfrm>
            <a:off x="7800299" y="2455981"/>
            <a:ext cx="2045409" cy="400110"/>
          </a:xfrm>
          <a:prstGeom prst="rect">
            <a:avLst/>
          </a:prstGeom>
          <a:noFill/>
          <a:ln>
            <a:noFill/>
          </a:ln>
        </p:spPr>
        <p:txBody>
          <a:bodyPr wrap="square" rtlCol="0">
            <a:spAutoFit/>
          </a:bodyPr>
          <a:lstStyle/>
          <a:p>
            <a:pPr algn="ctr"/>
            <a:r>
              <a:rPr lang="en-US" sz="2000" dirty="0">
                <a:latin typeface="Candara" panose="020E0502030303020204" pitchFamily="34" charset="0"/>
              </a:rPr>
              <a:t>Why? </a:t>
            </a:r>
          </a:p>
        </p:txBody>
      </p:sp>
      <p:sp>
        <p:nvSpPr>
          <p:cNvPr id="3" name="Rectangle 2"/>
          <p:cNvSpPr/>
          <p:nvPr/>
        </p:nvSpPr>
        <p:spPr>
          <a:xfrm>
            <a:off x="2515745" y="5737916"/>
            <a:ext cx="6910137" cy="461665"/>
          </a:xfrm>
          <a:prstGeom prst="rect">
            <a:avLst/>
          </a:prstGeom>
          <a:noFill/>
          <a:ln>
            <a:noFill/>
          </a:ln>
        </p:spPr>
        <p:txBody>
          <a:bodyPr wrap="square">
            <a:spAutoFit/>
          </a:bodyPr>
          <a:lstStyle/>
          <a:p>
            <a:pPr algn="ctr"/>
            <a:r>
              <a:rPr lang="en-US" sz="2400" dirty="0">
                <a:solidFill>
                  <a:srgbClr val="002060"/>
                </a:solidFill>
                <a:latin typeface="Candara" panose="020E0502030303020204" pitchFamily="34" charset="0"/>
              </a:rPr>
              <a:t>Nonce prevents the replay attacks</a:t>
            </a:r>
          </a:p>
        </p:txBody>
      </p:sp>
    </p:spTree>
    <p:extLst>
      <p:ext uri="{BB962C8B-B14F-4D97-AF65-F5344CB8AC3E}">
        <p14:creationId xmlns:p14="http://schemas.microsoft.com/office/powerpoint/2010/main" val="1111929033"/>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6" grpId="0" animBg="1"/>
      <p:bldP spid="49" grpId="0" animBg="1"/>
      <p:bldP spid="50" grpId="0" animBg="1"/>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Nonce Role</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32</a:t>
            </a:fld>
            <a:endParaRPr lang="en-US" dirty="0">
              <a:latin typeface="Candara" panose="020E0502030303020204" pitchFamily="34" charset="0"/>
            </a:endParaRPr>
          </a:p>
        </p:txBody>
      </p:sp>
      <p:grpSp>
        <p:nvGrpSpPr>
          <p:cNvPr id="33" name="Group 32"/>
          <p:cNvGrpSpPr/>
          <p:nvPr/>
        </p:nvGrpSpPr>
        <p:grpSpPr>
          <a:xfrm>
            <a:off x="5004915" y="1328343"/>
            <a:ext cx="2019300" cy="2522306"/>
            <a:chOff x="4134036" y="1797606"/>
            <a:chExt cx="2019300" cy="2522306"/>
          </a:xfrm>
        </p:grpSpPr>
        <p:grpSp>
          <p:nvGrpSpPr>
            <p:cNvPr id="34" name="Group 33"/>
            <p:cNvGrpSpPr/>
            <p:nvPr/>
          </p:nvGrpSpPr>
          <p:grpSpPr>
            <a:xfrm>
              <a:off x="4134036" y="2294133"/>
              <a:ext cx="2019300" cy="2025779"/>
              <a:chOff x="952686" y="2294133"/>
              <a:chExt cx="2019300" cy="2025779"/>
            </a:xfrm>
          </p:grpSpPr>
          <p:sp>
            <p:nvSpPr>
              <p:cNvPr id="36" name="Rectangle 35"/>
              <p:cNvSpPr/>
              <p:nvPr/>
            </p:nvSpPr>
            <p:spPr>
              <a:xfrm>
                <a:off x="952686" y="2294133"/>
                <a:ext cx="2019300" cy="202577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ndara" panose="020E0502030303020204" pitchFamily="34" charset="0"/>
                  </a:rPr>
                  <a:t>.</a:t>
                </a:r>
              </a:p>
              <a:p>
                <a:pPr algn="ctr"/>
                <a:r>
                  <a:rPr lang="en-US" dirty="0">
                    <a:latin typeface="Candara" panose="020E0502030303020204" pitchFamily="34" charset="0"/>
                  </a:rPr>
                  <a:t>.</a:t>
                </a:r>
              </a:p>
              <a:p>
                <a:pPr algn="ctr"/>
                <a:r>
                  <a:rPr lang="en-US" sz="4000" b="1" dirty="0">
                    <a:solidFill>
                      <a:schemeClr val="tx1"/>
                    </a:solidFill>
                    <a:latin typeface="Candara" panose="020E0502030303020204" pitchFamily="34" charset="0"/>
                  </a:rPr>
                  <a:t>.</a:t>
                </a:r>
              </a:p>
              <a:p>
                <a:pPr algn="ctr"/>
                <a:r>
                  <a:rPr lang="en-US" sz="4000" b="1" dirty="0">
                    <a:solidFill>
                      <a:schemeClr val="tx1"/>
                    </a:solidFill>
                    <a:latin typeface="Candara" panose="020E0502030303020204" pitchFamily="34" charset="0"/>
                  </a:rPr>
                  <a:t>.</a:t>
                </a:r>
              </a:p>
            </p:txBody>
          </p:sp>
          <p:sp>
            <p:nvSpPr>
              <p:cNvPr id="37" name="Rectangle 36"/>
              <p:cNvSpPr/>
              <p:nvPr/>
            </p:nvSpPr>
            <p:spPr>
              <a:xfrm>
                <a:off x="1191879" y="2579884"/>
                <a:ext cx="1524000" cy="5905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andara" panose="020E0502030303020204" pitchFamily="34" charset="0"/>
                  </a:rPr>
                  <a:t>Txn Nonce = 6</a:t>
                </a:r>
              </a:p>
            </p:txBody>
          </p:sp>
        </p:grpSp>
        <p:sp>
          <p:nvSpPr>
            <p:cNvPr id="35" name="TextBox 34"/>
            <p:cNvSpPr txBox="1"/>
            <p:nvPr/>
          </p:nvSpPr>
          <p:spPr>
            <a:xfrm>
              <a:off x="4265404" y="1797606"/>
              <a:ext cx="1826780" cy="523220"/>
            </a:xfrm>
            <a:prstGeom prst="rect">
              <a:avLst/>
            </a:prstGeom>
            <a:noFill/>
          </p:spPr>
          <p:txBody>
            <a:bodyPr wrap="square" rtlCol="0">
              <a:spAutoFit/>
            </a:bodyPr>
            <a:lstStyle/>
            <a:p>
              <a:pPr algn="ctr"/>
              <a:r>
                <a:rPr lang="en-US" sz="1400" dirty="0">
                  <a:latin typeface="Candara" panose="020E0502030303020204" pitchFamily="34" charset="0"/>
                </a:rPr>
                <a:t>Txn 1 created by Alice at time </a:t>
              </a:r>
              <a:r>
                <a:rPr lang="en-US" sz="1400" i="1" dirty="0">
                  <a:latin typeface="Candara" panose="020E0502030303020204" pitchFamily="34" charset="0"/>
                </a:rPr>
                <a:t>t</a:t>
              </a:r>
            </a:p>
          </p:txBody>
        </p:sp>
      </p:grpSp>
      <p:grpSp>
        <p:nvGrpSpPr>
          <p:cNvPr id="38" name="Group 37"/>
          <p:cNvGrpSpPr/>
          <p:nvPr/>
        </p:nvGrpSpPr>
        <p:grpSpPr>
          <a:xfrm>
            <a:off x="7789605" y="1352789"/>
            <a:ext cx="2019300" cy="2497861"/>
            <a:chOff x="4076700" y="1822052"/>
            <a:chExt cx="2019300" cy="2497861"/>
          </a:xfrm>
        </p:grpSpPr>
        <p:grpSp>
          <p:nvGrpSpPr>
            <p:cNvPr id="39" name="Group 38"/>
            <p:cNvGrpSpPr/>
            <p:nvPr/>
          </p:nvGrpSpPr>
          <p:grpSpPr>
            <a:xfrm>
              <a:off x="4076700" y="2294134"/>
              <a:ext cx="2019300" cy="2025779"/>
              <a:chOff x="895350" y="2294134"/>
              <a:chExt cx="2019300" cy="2025779"/>
            </a:xfrm>
          </p:grpSpPr>
          <p:sp>
            <p:nvSpPr>
              <p:cNvPr id="41" name="Rectangle 40"/>
              <p:cNvSpPr/>
              <p:nvPr/>
            </p:nvSpPr>
            <p:spPr>
              <a:xfrm>
                <a:off x="895350" y="2294134"/>
                <a:ext cx="2019300" cy="202577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ndara" panose="020E0502030303020204" pitchFamily="34" charset="0"/>
                  </a:rPr>
                  <a:t>.</a:t>
                </a:r>
              </a:p>
              <a:p>
                <a:pPr algn="ctr"/>
                <a:r>
                  <a:rPr lang="en-US" dirty="0">
                    <a:latin typeface="Candara" panose="020E0502030303020204" pitchFamily="34" charset="0"/>
                  </a:rPr>
                  <a:t>.</a:t>
                </a:r>
              </a:p>
              <a:p>
                <a:pPr algn="ctr"/>
                <a:r>
                  <a:rPr lang="en-US" sz="4000" b="1" dirty="0">
                    <a:solidFill>
                      <a:schemeClr val="tx1"/>
                    </a:solidFill>
                    <a:latin typeface="Candara" panose="020E0502030303020204" pitchFamily="34" charset="0"/>
                  </a:rPr>
                  <a:t>.</a:t>
                </a:r>
              </a:p>
              <a:p>
                <a:pPr algn="ctr"/>
                <a:r>
                  <a:rPr lang="en-US" sz="4000" b="1" dirty="0">
                    <a:solidFill>
                      <a:schemeClr val="tx1"/>
                    </a:solidFill>
                    <a:latin typeface="Candara" panose="020E0502030303020204" pitchFamily="34" charset="0"/>
                  </a:rPr>
                  <a:t>.</a:t>
                </a:r>
              </a:p>
            </p:txBody>
          </p:sp>
          <p:sp>
            <p:nvSpPr>
              <p:cNvPr id="42" name="Rectangle 41"/>
              <p:cNvSpPr/>
              <p:nvPr/>
            </p:nvSpPr>
            <p:spPr>
              <a:xfrm>
                <a:off x="1143000" y="2579884"/>
                <a:ext cx="1524000" cy="5905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andara" panose="020E0502030303020204" pitchFamily="34" charset="0"/>
                  </a:rPr>
                  <a:t>Txn Nonce = 7</a:t>
                </a:r>
              </a:p>
            </p:txBody>
          </p:sp>
        </p:grpSp>
        <p:sp>
          <p:nvSpPr>
            <p:cNvPr id="40" name="TextBox 39"/>
            <p:cNvSpPr txBox="1"/>
            <p:nvPr/>
          </p:nvSpPr>
          <p:spPr>
            <a:xfrm>
              <a:off x="4212107" y="1822052"/>
              <a:ext cx="1847850" cy="523220"/>
            </a:xfrm>
            <a:prstGeom prst="rect">
              <a:avLst/>
            </a:prstGeom>
            <a:noFill/>
          </p:spPr>
          <p:txBody>
            <a:bodyPr wrap="square" rtlCol="0">
              <a:spAutoFit/>
            </a:bodyPr>
            <a:lstStyle/>
            <a:p>
              <a:pPr algn="ctr"/>
              <a:r>
                <a:rPr lang="en-US" sz="1400" dirty="0">
                  <a:latin typeface="Candara" panose="020E0502030303020204" pitchFamily="34" charset="0"/>
                </a:rPr>
                <a:t>Txn 2 created by Alice at time </a:t>
              </a:r>
              <a:r>
                <a:rPr lang="en-US" sz="1400" i="1" dirty="0">
                  <a:latin typeface="Candara" panose="020E0502030303020204" pitchFamily="34" charset="0"/>
                </a:rPr>
                <a:t>t</a:t>
              </a:r>
            </a:p>
          </p:txBody>
        </p:sp>
      </p:grpSp>
      <p:sp>
        <p:nvSpPr>
          <p:cNvPr id="44" name="Rectangle 43"/>
          <p:cNvSpPr/>
          <p:nvPr/>
        </p:nvSpPr>
        <p:spPr>
          <a:xfrm>
            <a:off x="487679" y="4509985"/>
            <a:ext cx="11186159" cy="923330"/>
          </a:xfrm>
          <a:prstGeom prst="rect">
            <a:avLst/>
          </a:prstGeom>
          <a:ln>
            <a:noFill/>
          </a:ln>
        </p:spPr>
        <p:txBody>
          <a:bodyPr wrap="square">
            <a:spAutoFit/>
          </a:bodyPr>
          <a:lstStyle/>
          <a:p>
            <a:r>
              <a:rPr lang="en-US" dirty="0">
                <a:latin typeface="Candara" panose="020E0502030303020204" pitchFamily="34" charset="0"/>
              </a:rPr>
              <a:t>Alice has created two valid </a:t>
            </a:r>
            <a:r>
              <a:rPr lang="en-US" dirty="0" err="1">
                <a:latin typeface="Candara" panose="020E0502030303020204" pitchFamily="34" charset="0"/>
              </a:rPr>
              <a:t>txns</a:t>
            </a:r>
            <a:r>
              <a:rPr lang="en-US" dirty="0">
                <a:latin typeface="Candara" panose="020E0502030303020204" pitchFamily="34" charset="0"/>
              </a:rPr>
              <a:t> that are unconfirmed. Nodes can see both the </a:t>
            </a:r>
            <a:r>
              <a:rPr lang="en-US" dirty="0" err="1">
                <a:latin typeface="Candara" panose="020E0502030303020204" pitchFamily="34" charset="0"/>
              </a:rPr>
              <a:t>txns</a:t>
            </a:r>
            <a:r>
              <a:rPr lang="en-US" dirty="0">
                <a:latin typeface="Candara" panose="020E0502030303020204" pitchFamily="34" charset="0"/>
              </a:rPr>
              <a:t>. The network will process </a:t>
            </a:r>
            <a:r>
              <a:rPr lang="en-US" dirty="0" err="1">
                <a:latin typeface="Candara" panose="020E0502030303020204" pitchFamily="34" charset="0"/>
              </a:rPr>
              <a:t>txn</a:t>
            </a:r>
            <a:r>
              <a:rPr lang="en-US" dirty="0">
                <a:latin typeface="Candara" panose="020E0502030303020204" pitchFamily="34" charset="0"/>
              </a:rPr>
              <a:t> 1 followed by </a:t>
            </a:r>
            <a:r>
              <a:rPr lang="en-US" dirty="0" err="1">
                <a:latin typeface="Candara" panose="020E0502030303020204" pitchFamily="34" charset="0"/>
              </a:rPr>
              <a:t>txn</a:t>
            </a:r>
            <a:r>
              <a:rPr lang="en-US" dirty="0">
                <a:latin typeface="Candara" panose="020E0502030303020204" pitchFamily="34" charset="0"/>
              </a:rPr>
              <a:t> 2 and will update account nonce to 7 in the world state. This technique may be used to accelerate </a:t>
            </a:r>
            <a:r>
              <a:rPr lang="en-US" dirty="0" err="1">
                <a:latin typeface="Candara" panose="020E0502030303020204" pitchFamily="34" charset="0"/>
              </a:rPr>
              <a:t>txn</a:t>
            </a:r>
            <a:r>
              <a:rPr lang="en-US" dirty="0">
                <a:latin typeface="Candara" panose="020E0502030303020204" pitchFamily="34" charset="0"/>
              </a:rPr>
              <a:t> 1 processing that might get stuck due to lower fee</a:t>
            </a:r>
          </a:p>
        </p:txBody>
      </p:sp>
      <p:grpSp>
        <p:nvGrpSpPr>
          <p:cNvPr id="3" name="Group 2"/>
          <p:cNvGrpSpPr/>
          <p:nvPr/>
        </p:nvGrpSpPr>
        <p:grpSpPr>
          <a:xfrm>
            <a:off x="1801754" y="1290280"/>
            <a:ext cx="2092937" cy="2577007"/>
            <a:chOff x="406089" y="3751734"/>
            <a:chExt cx="2092937" cy="2577007"/>
          </a:xfrm>
        </p:grpSpPr>
        <p:grpSp>
          <p:nvGrpSpPr>
            <p:cNvPr id="46" name="Group 45"/>
            <p:cNvGrpSpPr/>
            <p:nvPr/>
          </p:nvGrpSpPr>
          <p:grpSpPr>
            <a:xfrm>
              <a:off x="406089" y="3751734"/>
              <a:ext cx="2092937" cy="2577007"/>
              <a:chOff x="406089" y="3751734"/>
              <a:chExt cx="2092937" cy="2577007"/>
            </a:xfrm>
          </p:grpSpPr>
          <p:sp>
            <p:nvSpPr>
              <p:cNvPr id="31" name="Rectangle 30"/>
              <p:cNvSpPr/>
              <p:nvPr/>
            </p:nvSpPr>
            <p:spPr>
              <a:xfrm>
                <a:off x="479726" y="4302962"/>
                <a:ext cx="2019300" cy="202577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ndara" panose="020E0502030303020204" pitchFamily="34" charset="0"/>
                  </a:rPr>
                  <a:t>.</a:t>
                </a:r>
              </a:p>
              <a:p>
                <a:pPr algn="ctr"/>
                <a:r>
                  <a:rPr lang="en-US" dirty="0">
                    <a:latin typeface="Candara" panose="020E0502030303020204" pitchFamily="34" charset="0"/>
                  </a:rPr>
                  <a:t>.</a:t>
                </a:r>
              </a:p>
              <a:p>
                <a:pPr algn="ctr"/>
                <a:r>
                  <a:rPr lang="en-US" sz="4000" b="1" dirty="0">
                    <a:solidFill>
                      <a:schemeClr val="tx1"/>
                    </a:solidFill>
                    <a:latin typeface="Candara" panose="020E0502030303020204" pitchFamily="34" charset="0"/>
                  </a:rPr>
                  <a:t>.</a:t>
                </a:r>
              </a:p>
              <a:p>
                <a:pPr algn="ctr"/>
                <a:r>
                  <a:rPr lang="en-US" sz="4000" b="1" dirty="0">
                    <a:solidFill>
                      <a:schemeClr val="tx1"/>
                    </a:solidFill>
                    <a:latin typeface="Candara" panose="020E0502030303020204" pitchFamily="34" charset="0"/>
                  </a:rPr>
                  <a:t>.</a:t>
                </a:r>
              </a:p>
            </p:txBody>
          </p:sp>
          <p:sp>
            <p:nvSpPr>
              <p:cNvPr id="45" name="TextBox 44"/>
              <p:cNvSpPr txBox="1"/>
              <p:nvPr/>
            </p:nvSpPr>
            <p:spPr>
              <a:xfrm>
                <a:off x="406089" y="3751734"/>
                <a:ext cx="2092937" cy="523220"/>
              </a:xfrm>
              <a:prstGeom prst="rect">
                <a:avLst/>
              </a:prstGeom>
              <a:noFill/>
            </p:spPr>
            <p:txBody>
              <a:bodyPr wrap="square" rtlCol="0">
                <a:spAutoFit/>
              </a:bodyPr>
              <a:lstStyle/>
              <a:p>
                <a:pPr algn="ctr"/>
                <a:r>
                  <a:rPr lang="en-US" sz="1400" dirty="0">
                    <a:latin typeface="Candara" panose="020E0502030303020204" pitchFamily="34" charset="0"/>
                  </a:rPr>
                  <a:t>Alice’s account nonce in world state at time </a:t>
                </a:r>
                <a:r>
                  <a:rPr lang="en-US" sz="1400" i="1" dirty="0">
                    <a:latin typeface="Candara" panose="020E0502030303020204" pitchFamily="34" charset="0"/>
                  </a:rPr>
                  <a:t>t</a:t>
                </a:r>
              </a:p>
            </p:txBody>
          </p:sp>
        </p:grpSp>
        <p:sp>
          <p:nvSpPr>
            <p:cNvPr id="47" name="Oval 46"/>
            <p:cNvSpPr/>
            <p:nvPr/>
          </p:nvSpPr>
          <p:spPr>
            <a:xfrm>
              <a:off x="644377" y="4512459"/>
              <a:ext cx="1721453" cy="68834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andara" panose="020E0502030303020204" pitchFamily="34" charset="0"/>
                </a:rPr>
                <a:t>Account Nonce = 5</a:t>
              </a:r>
            </a:p>
          </p:txBody>
        </p:sp>
      </p:grpSp>
      <p:sp>
        <p:nvSpPr>
          <p:cNvPr id="48" name="TextBox 47"/>
          <p:cNvSpPr txBox="1"/>
          <p:nvPr/>
        </p:nvSpPr>
        <p:spPr>
          <a:xfrm>
            <a:off x="4959881" y="4000783"/>
            <a:ext cx="2339277" cy="369332"/>
          </a:xfrm>
          <a:prstGeom prst="rect">
            <a:avLst/>
          </a:prstGeom>
          <a:noFill/>
          <a:ln>
            <a:noFill/>
          </a:ln>
        </p:spPr>
        <p:txBody>
          <a:bodyPr wrap="square" rtlCol="0">
            <a:spAutoFit/>
          </a:bodyPr>
          <a:lstStyle/>
          <a:p>
            <a:pPr algn="ctr"/>
            <a:r>
              <a:rPr lang="en-US" dirty="0">
                <a:latin typeface="Candara" panose="020E0502030303020204" pitchFamily="34" charset="0"/>
              </a:rPr>
              <a:t>Which </a:t>
            </a:r>
            <a:r>
              <a:rPr lang="en-US" dirty="0" err="1">
                <a:latin typeface="Candara" panose="020E0502030303020204" pitchFamily="34" charset="0"/>
              </a:rPr>
              <a:t>txn</a:t>
            </a:r>
            <a:r>
              <a:rPr lang="en-US" dirty="0">
                <a:latin typeface="Candara" panose="020E0502030303020204" pitchFamily="34" charset="0"/>
              </a:rPr>
              <a:t> is valid? </a:t>
            </a:r>
          </a:p>
        </p:txBody>
      </p:sp>
      <p:sp>
        <p:nvSpPr>
          <p:cNvPr id="6" name="Rectangle 5"/>
          <p:cNvSpPr/>
          <p:nvPr/>
        </p:nvSpPr>
        <p:spPr>
          <a:xfrm>
            <a:off x="7990928" y="4028316"/>
            <a:ext cx="1976823" cy="369332"/>
          </a:xfrm>
          <a:prstGeom prst="rect">
            <a:avLst/>
          </a:prstGeom>
          <a:solidFill>
            <a:schemeClr val="bg1">
              <a:lumMod val="95000"/>
            </a:schemeClr>
          </a:solidFill>
          <a:ln>
            <a:solidFill>
              <a:schemeClr val="tx1"/>
            </a:solidFill>
          </a:ln>
        </p:spPr>
        <p:txBody>
          <a:bodyPr wrap="none">
            <a:spAutoFit/>
          </a:bodyPr>
          <a:lstStyle/>
          <a:p>
            <a:r>
              <a:rPr lang="en-US" dirty="0">
                <a:latin typeface="Candara" panose="020E0502030303020204" pitchFamily="34" charset="0"/>
              </a:rPr>
              <a:t>Both </a:t>
            </a:r>
            <a:r>
              <a:rPr lang="en-US" dirty="0" err="1">
                <a:latin typeface="Candara" panose="020E0502030303020204" pitchFamily="34" charset="0"/>
              </a:rPr>
              <a:t>txns</a:t>
            </a:r>
            <a:r>
              <a:rPr lang="en-US" dirty="0">
                <a:latin typeface="Candara" panose="020E0502030303020204" pitchFamily="34" charset="0"/>
              </a:rPr>
              <a:t> are valid</a:t>
            </a:r>
          </a:p>
        </p:txBody>
      </p:sp>
      <p:sp>
        <p:nvSpPr>
          <p:cNvPr id="5" name="Rectangle 4"/>
          <p:cNvSpPr/>
          <p:nvPr/>
        </p:nvSpPr>
        <p:spPr>
          <a:xfrm>
            <a:off x="748308" y="5845180"/>
            <a:ext cx="10515600" cy="461665"/>
          </a:xfrm>
          <a:prstGeom prst="rect">
            <a:avLst/>
          </a:prstGeom>
          <a:noFill/>
          <a:ln>
            <a:noFill/>
          </a:ln>
        </p:spPr>
        <p:txBody>
          <a:bodyPr wrap="square">
            <a:spAutoFit/>
          </a:bodyPr>
          <a:lstStyle/>
          <a:p>
            <a:r>
              <a:rPr lang="en-US" sz="2400" dirty="0">
                <a:latin typeface="Candara" panose="020E0502030303020204" pitchFamily="34" charset="0"/>
              </a:rPr>
              <a:t>Nonce allows to choose the order in which transactions will be executed</a:t>
            </a:r>
          </a:p>
        </p:txBody>
      </p:sp>
    </p:spTree>
    <p:extLst>
      <p:ext uri="{BB962C8B-B14F-4D97-AF65-F5344CB8AC3E}">
        <p14:creationId xmlns:p14="http://schemas.microsoft.com/office/powerpoint/2010/main" val="3052725872"/>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8" grpId="0" animBg="1"/>
      <p:bldP spid="6" grpId="0" animBg="1"/>
      <p:bldP spid="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Nonce Role</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33</a:t>
            </a:fld>
            <a:endParaRPr lang="en-US" dirty="0">
              <a:latin typeface="Candara" panose="020E0502030303020204" pitchFamily="34" charset="0"/>
            </a:endParaRPr>
          </a:p>
        </p:txBody>
      </p:sp>
      <p:sp>
        <p:nvSpPr>
          <p:cNvPr id="16" name="TextBox 15"/>
          <p:cNvSpPr txBox="1"/>
          <p:nvPr/>
        </p:nvSpPr>
        <p:spPr>
          <a:xfrm>
            <a:off x="6808712" y="2781342"/>
            <a:ext cx="4865128" cy="1200329"/>
          </a:xfrm>
          <a:prstGeom prst="rect">
            <a:avLst/>
          </a:prstGeom>
          <a:noFill/>
          <a:ln>
            <a:noFill/>
          </a:ln>
        </p:spPr>
        <p:txBody>
          <a:bodyPr wrap="square" rtlCol="0">
            <a:spAutoFit/>
          </a:bodyPr>
          <a:lstStyle/>
          <a:p>
            <a:r>
              <a:rPr lang="en-US" dirty="0">
                <a:latin typeface="Candara" panose="020E0502030303020204" pitchFamily="34" charset="0"/>
              </a:rPr>
              <a:t>It is highly likely that the validator will process </a:t>
            </a:r>
            <a:r>
              <a:rPr lang="en-US" dirty="0" err="1">
                <a:latin typeface="Candara" panose="020E0502030303020204" pitchFamily="34" charset="0"/>
              </a:rPr>
              <a:t>txn</a:t>
            </a:r>
            <a:r>
              <a:rPr lang="en-US" dirty="0">
                <a:latin typeface="Candara" panose="020E0502030303020204" pitchFamily="34" charset="0"/>
              </a:rPr>
              <a:t> 2 with higher max priority fee (tip). After </a:t>
            </a:r>
            <a:r>
              <a:rPr lang="en-US" dirty="0" err="1">
                <a:latin typeface="Candara" panose="020E0502030303020204" pitchFamily="34" charset="0"/>
              </a:rPr>
              <a:t>txn</a:t>
            </a:r>
            <a:r>
              <a:rPr lang="en-US" dirty="0">
                <a:latin typeface="Candara" panose="020E0502030303020204" pitchFamily="34" charset="0"/>
              </a:rPr>
              <a:t> processing, the account state nonce will also be updated to 6 in the world state</a:t>
            </a:r>
          </a:p>
        </p:txBody>
      </p:sp>
      <p:sp>
        <p:nvSpPr>
          <p:cNvPr id="31" name="Rectangle 30"/>
          <p:cNvSpPr/>
          <p:nvPr/>
        </p:nvSpPr>
        <p:spPr>
          <a:xfrm>
            <a:off x="1913236" y="3064142"/>
            <a:ext cx="2019300" cy="233854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ndara" panose="020E0502030303020204" pitchFamily="34" charset="0"/>
              </a:rPr>
              <a:t>.</a:t>
            </a:r>
          </a:p>
          <a:p>
            <a:pPr algn="ctr"/>
            <a:r>
              <a:rPr lang="en-US" dirty="0">
                <a:latin typeface="Candara" panose="020E0502030303020204" pitchFamily="34" charset="0"/>
              </a:rPr>
              <a:t>.</a:t>
            </a:r>
          </a:p>
          <a:p>
            <a:pPr algn="ctr"/>
            <a:r>
              <a:rPr lang="en-US" sz="4000" b="1" dirty="0">
                <a:solidFill>
                  <a:schemeClr val="tx1"/>
                </a:solidFill>
                <a:latin typeface="Candara" panose="020E0502030303020204" pitchFamily="34" charset="0"/>
              </a:rPr>
              <a:t>.</a:t>
            </a:r>
          </a:p>
          <a:p>
            <a:pPr algn="ctr"/>
            <a:r>
              <a:rPr lang="en-US" sz="4000" b="1" dirty="0">
                <a:solidFill>
                  <a:schemeClr val="tx1"/>
                </a:solidFill>
                <a:latin typeface="Candara" panose="020E0502030303020204" pitchFamily="34" charset="0"/>
              </a:rPr>
              <a:t>.</a:t>
            </a:r>
          </a:p>
        </p:txBody>
      </p:sp>
      <p:sp>
        <p:nvSpPr>
          <p:cNvPr id="43" name="TextBox 42"/>
          <p:cNvSpPr txBox="1"/>
          <p:nvPr/>
        </p:nvSpPr>
        <p:spPr>
          <a:xfrm>
            <a:off x="1688483" y="1143735"/>
            <a:ext cx="2418297" cy="830997"/>
          </a:xfrm>
          <a:prstGeom prst="rect">
            <a:avLst/>
          </a:prstGeom>
          <a:noFill/>
        </p:spPr>
        <p:txBody>
          <a:bodyPr wrap="square" rtlCol="0">
            <a:spAutoFit/>
          </a:bodyPr>
          <a:lstStyle/>
          <a:p>
            <a:pPr algn="ctr"/>
            <a:r>
              <a:rPr lang="en-US" sz="1600" dirty="0">
                <a:latin typeface="Candara" panose="020E0502030303020204" pitchFamily="34" charset="0"/>
              </a:rPr>
              <a:t>Two </a:t>
            </a:r>
            <a:r>
              <a:rPr lang="en-US" sz="1600" dirty="0" err="1">
                <a:latin typeface="Candara" panose="020E0502030303020204" pitchFamily="34" charset="0"/>
              </a:rPr>
              <a:t>txns</a:t>
            </a:r>
            <a:r>
              <a:rPr lang="en-US" sz="1600" dirty="0">
                <a:latin typeface="Candara" panose="020E0502030303020204" pitchFamily="34" charset="0"/>
              </a:rPr>
              <a:t> are created by Alice at the same time with the same nonce </a:t>
            </a:r>
          </a:p>
        </p:txBody>
      </p:sp>
      <p:grpSp>
        <p:nvGrpSpPr>
          <p:cNvPr id="3" name="Group 2"/>
          <p:cNvGrpSpPr/>
          <p:nvPr/>
        </p:nvGrpSpPr>
        <p:grpSpPr>
          <a:xfrm>
            <a:off x="4370311" y="1066137"/>
            <a:ext cx="2228850" cy="2820412"/>
            <a:chOff x="2420444" y="1119252"/>
            <a:chExt cx="2228850" cy="2820412"/>
          </a:xfrm>
        </p:grpSpPr>
        <p:sp>
          <p:nvSpPr>
            <p:cNvPr id="36" name="Rectangle 35"/>
            <p:cNvSpPr/>
            <p:nvPr/>
          </p:nvSpPr>
          <p:spPr>
            <a:xfrm>
              <a:off x="2420445" y="1601118"/>
              <a:ext cx="2228849" cy="233854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ndara" panose="020E0502030303020204" pitchFamily="34" charset="0"/>
                </a:rPr>
                <a:t>.</a:t>
              </a:r>
            </a:p>
            <a:p>
              <a:pPr algn="ctr"/>
              <a:r>
                <a:rPr lang="en-US" dirty="0">
                  <a:latin typeface="Candara" panose="020E0502030303020204" pitchFamily="34" charset="0"/>
                </a:rPr>
                <a:t>.</a:t>
              </a:r>
            </a:p>
            <a:p>
              <a:pPr algn="ctr"/>
              <a:endParaRPr lang="en-US" sz="4000" b="1" dirty="0">
                <a:solidFill>
                  <a:schemeClr val="tx1"/>
                </a:solidFill>
                <a:latin typeface="Candara" panose="020E0502030303020204" pitchFamily="34" charset="0"/>
              </a:endParaRPr>
            </a:p>
          </p:txBody>
        </p:sp>
        <p:sp>
          <p:nvSpPr>
            <p:cNvPr id="37" name="Rectangle 36"/>
            <p:cNvSpPr/>
            <p:nvPr/>
          </p:nvSpPr>
          <p:spPr>
            <a:xfrm>
              <a:off x="2629995" y="1778313"/>
              <a:ext cx="1809749" cy="50958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andara" panose="020E0502030303020204" pitchFamily="34" charset="0"/>
                </a:rPr>
                <a:t>Txn Nonce = 6</a:t>
              </a:r>
            </a:p>
          </p:txBody>
        </p:sp>
        <p:sp>
          <p:nvSpPr>
            <p:cNvPr id="35" name="TextBox 34"/>
            <p:cNvSpPr txBox="1"/>
            <p:nvPr/>
          </p:nvSpPr>
          <p:spPr>
            <a:xfrm>
              <a:off x="2420444" y="1119252"/>
              <a:ext cx="2228850" cy="523220"/>
            </a:xfrm>
            <a:prstGeom prst="rect">
              <a:avLst/>
            </a:prstGeom>
            <a:noFill/>
          </p:spPr>
          <p:txBody>
            <a:bodyPr wrap="square" rtlCol="0">
              <a:spAutoFit/>
            </a:bodyPr>
            <a:lstStyle/>
            <a:p>
              <a:pPr algn="ctr"/>
              <a:r>
                <a:rPr lang="en-US" sz="1400" dirty="0">
                  <a:latin typeface="Candara" panose="020E0502030303020204" pitchFamily="34" charset="0"/>
                </a:rPr>
                <a:t>Txn 1 created by Alice at time </a:t>
              </a:r>
              <a:r>
                <a:rPr lang="en-US" sz="1400" i="1" dirty="0">
                  <a:latin typeface="Candara" panose="020E0502030303020204" pitchFamily="34" charset="0"/>
                </a:rPr>
                <a:t>t</a:t>
              </a:r>
            </a:p>
          </p:txBody>
        </p:sp>
        <p:sp>
          <p:nvSpPr>
            <p:cNvPr id="45" name="Rectangle 44"/>
            <p:cNvSpPr/>
            <p:nvPr/>
          </p:nvSpPr>
          <p:spPr>
            <a:xfrm>
              <a:off x="2629995" y="2454282"/>
              <a:ext cx="1809750" cy="5905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2"/>
                  </a:solidFill>
                  <a:latin typeface="Candara" panose="020E0502030303020204" pitchFamily="34" charset="0"/>
                </a:rPr>
                <a:t>Max priority fee per gas = 1 </a:t>
              </a:r>
              <a:r>
                <a:rPr lang="en-US" b="1" dirty="0" err="1">
                  <a:solidFill>
                    <a:schemeClr val="accent2"/>
                  </a:solidFill>
                  <a:latin typeface="Candara" panose="020E0502030303020204" pitchFamily="34" charset="0"/>
                </a:rPr>
                <a:t>Gwei</a:t>
              </a:r>
              <a:endParaRPr lang="en-US" b="1" dirty="0">
                <a:solidFill>
                  <a:schemeClr val="accent2"/>
                </a:solidFill>
                <a:latin typeface="Candara" panose="020E0502030303020204" pitchFamily="34" charset="0"/>
              </a:endParaRPr>
            </a:p>
          </p:txBody>
        </p:sp>
      </p:grpSp>
      <p:grpSp>
        <p:nvGrpSpPr>
          <p:cNvPr id="49" name="Group 48"/>
          <p:cNvGrpSpPr/>
          <p:nvPr/>
        </p:nvGrpSpPr>
        <p:grpSpPr>
          <a:xfrm>
            <a:off x="4370311" y="3845197"/>
            <a:ext cx="2228852" cy="2660810"/>
            <a:chOff x="2420442" y="1129879"/>
            <a:chExt cx="2228852" cy="2809785"/>
          </a:xfrm>
        </p:grpSpPr>
        <p:sp>
          <p:nvSpPr>
            <p:cNvPr id="50" name="Rectangle 49"/>
            <p:cNvSpPr/>
            <p:nvPr/>
          </p:nvSpPr>
          <p:spPr>
            <a:xfrm>
              <a:off x="2420445" y="1601118"/>
              <a:ext cx="2228849" cy="233854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ndara" panose="020E0502030303020204" pitchFamily="34" charset="0"/>
                </a:rPr>
                <a:t>.</a:t>
              </a:r>
            </a:p>
            <a:p>
              <a:pPr algn="ctr"/>
              <a:r>
                <a:rPr lang="en-US" dirty="0">
                  <a:latin typeface="Candara" panose="020E0502030303020204" pitchFamily="34" charset="0"/>
                </a:rPr>
                <a:t>.</a:t>
              </a:r>
            </a:p>
            <a:p>
              <a:pPr algn="ctr"/>
              <a:endParaRPr lang="en-US" sz="4000" b="1" dirty="0">
                <a:solidFill>
                  <a:schemeClr val="tx1"/>
                </a:solidFill>
                <a:latin typeface="Candara" panose="020E0502030303020204" pitchFamily="34" charset="0"/>
              </a:endParaRPr>
            </a:p>
          </p:txBody>
        </p:sp>
        <p:sp>
          <p:nvSpPr>
            <p:cNvPr id="51" name="Rectangle 50"/>
            <p:cNvSpPr/>
            <p:nvPr/>
          </p:nvSpPr>
          <p:spPr>
            <a:xfrm>
              <a:off x="2629995" y="1778313"/>
              <a:ext cx="1809749" cy="50958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andara" panose="020E0502030303020204" pitchFamily="34" charset="0"/>
                </a:rPr>
                <a:t>Txn Nonce = 6</a:t>
              </a:r>
            </a:p>
          </p:txBody>
        </p:sp>
        <p:sp>
          <p:nvSpPr>
            <p:cNvPr id="52" name="TextBox 51"/>
            <p:cNvSpPr txBox="1"/>
            <p:nvPr/>
          </p:nvSpPr>
          <p:spPr>
            <a:xfrm>
              <a:off x="2420442" y="1129879"/>
              <a:ext cx="2228850" cy="523220"/>
            </a:xfrm>
            <a:prstGeom prst="rect">
              <a:avLst/>
            </a:prstGeom>
            <a:noFill/>
          </p:spPr>
          <p:txBody>
            <a:bodyPr wrap="square" rtlCol="0">
              <a:spAutoFit/>
            </a:bodyPr>
            <a:lstStyle/>
            <a:p>
              <a:pPr algn="ctr"/>
              <a:r>
                <a:rPr lang="en-US" sz="1400" dirty="0">
                  <a:latin typeface="Candara" panose="020E0502030303020204" pitchFamily="34" charset="0"/>
                </a:rPr>
                <a:t>Txn 2 created by Alice at time </a:t>
              </a:r>
              <a:r>
                <a:rPr lang="en-US" sz="1400" i="1" dirty="0">
                  <a:latin typeface="Candara" panose="020E0502030303020204" pitchFamily="34" charset="0"/>
                </a:rPr>
                <a:t>t</a:t>
              </a:r>
            </a:p>
          </p:txBody>
        </p:sp>
        <p:sp>
          <p:nvSpPr>
            <p:cNvPr id="53" name="Rectangle 52"/>
            <p:cNvSpPr/>
            <p:nvPr/>
          </p:nvSpPr>
          <p:spPr>
            <a:xfrm>
              <a:off x="2629995" y="2454282"/>
              <a:ext cx="1809750" cy="5905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2"/>
                  </a:solidFill>
                  <a:latin typeface="Candara" panose="020E0502030303020204" pitchFamily="34" charset="0"/>
                </a:rPr>
                <a:t>Max priority fee per gas = 5 </a:t>
              </a:r>
              <a:r>
                <a:rPr lang="en-US" b="1" dirty="0" err="1">
                  <a:solidFill>
                    <a:schemeClr val="accent2"/>
                  </a:solidFill>
                  <a:latin typeface="Candara" panose="020E0502030303020204" pitchFamily="34" charset="0"/>
                </a:rPr>
                <a:t>Gwei</a:t>
              </a:r>
              <a:endParaRPr lang="en-US" b="1" dirty="0">
                <a:solidFill>
                  <a:schemeClr val="accent2"/>
                </a:solidFill>
                <a:latin typeface="Candara" panose="020E0502030303020204" pitchFamily="34" charset="0"/>
              </a:endParaRPr>
            </a:p>
          </p:txBody>
        </p:sp>
      </p:grpSp>
      <p:sp>
        <p:nvSpPr>
          <p:cNvPr id="13" name="TextBox 12"/>
          <p:cNvSpPr txBox="1"/>
          <p:nvPr/>
        </p:nvSpPr>
        <p:spPr>
          <a:xfrm>
            <a:off x="4475089" y="3034864"/>
            <a:ext cx="2019299" cy="707886"/>
          </a:xfrm>
          <a:prstGeom prst="rect">
            <a:avLst/>
          </a:prstGeom>
          <a:noFill/>
        </p:spPr>
        <p:txBody>
          <a:bodyPr wrap="square" rtlCol="0">
            <a:spAutoFit/>
          </a:bodyPr>
          <a:lstStyle/>
          <a:p>
            <a:pPr algn="ctr"/>
            <a:r>
              <a:rPr lang="en-US" sz="4000" dirty="0">
                <a:latin typeface="Candara" panose="020E0502030303020204" pitchFamily="34" charset="0"/>
              </a:rPr>
              <a:t>.</a:t>
            </a:r>
          </a:p>
        </p:txBody>
      </p:sp>
      <p:sp>
        <p:nvSpPr>
          <p:cNvPr id="54" name="TextBox 53"/>
          <p:cNvSpPr txBox="1"/>
          <p:nvPr/>
        </p:nvSpPr>
        <p:spPr>
          <a:xfrm>
            <a:off x="4475088" y="5798120"/>
            <a:ext cx="2019299" cy="707886"/>
          </a:xfrm>
          <a:prstGeom prst="rect">
            <a:avLst/>
          </a:prstGeom>
          <a:noFill/>
        </p:spPr>
        <p:txBody>
          <a:bodyPr wrap="square" rtlCol="0">
            <a:spAutoFit/>
          </a:bodyPr>
          <a:lstStyle/>
          <a:p>
            <a:pPr algn="ctr"/>
            <a:r>
              <a:rPr lang="en-US" sz="4000" dirty="0">
                <a:latin typeface="Candara" panose="020E0502030303020204" pitchFamily="34" charset="0"/>
              </a:rPr>
              <a:t>.</a:t>
            </a:r>
          </a:p>
        </p:txBody>
      </p:sp>
      <p:sp>
        <p:nvSpPr>
          <p:cNvPr id="55" name="TextBox 54"/>
          <p:cNvSpPr txBox="1"/>
          <p:nvPr/>
        </p:nvSpPr>
        <p:spPr>
          <a:xfrm>
            <a:off x="1938082" y="2519731"/>
            <a:ext cx="1994455" cy="523220"/>
          </a:xfrm>
          <a:prstGeom prst="rect">
            <a:avLst/>
          </a:prstGeom>
          <a:noFill/>
        </p:spPr>
        <p:txBody>
          <a:bodyPr wrap="square" rtlCol="0">
            <a:spAutoFit/>
          </a:bodyPr>
          <a:lstStyle/>
          <a:p>
            <a:pPr algn="ctr"/>
            <a:r>
              <a:rPr lang="en-US" sz="1400" dirty="0">
                <a:latin typeface="Candara" panose="020E0502030303020204" pitchFamily="34" charset="0"/>
              </a:rPr>
              <a:t>Alice’s account nonce in world state at time </a:t>
            </a:r>
            <a:r>
              <a:rPr lang="en-US" sz="1400" i="1" dirty="0">
                <a:latin typeface="Candara" panose="020E0502030303020204" pitchFamily="34" charset="0"/>
              </a:rPr>
              <a:t>t</a:t>
            </a:r>
          </a:p>
        </p:txBody>
      </p:sp>
      <p:sp>
        <p:nvSpPr>
          <p:cNvPr id="56" name="TextBox 55"/>
          <p:cNvSpPr txBox="1"/>
          <p:nvPr/>
        </p:nvSpPr>
        <p:spPr>
          <a:xfrm>
            <a:off x="6815245" y="4324180"/>
            <a:ext cx="4865128" cy="1200329"/>
          </a:xfrm>
          <a:prstGeom prst="rect">
            <a:avLst/>
          </a:prstGeom>
          <a:noFill/>
          <a:ln>
            <a:noFill/>
          </a:ln>
        </p:spPr>
        <p:txBody>
          <a:bodyPr wrap="square" rtlCol="0">
            <a:spAutoFit/>
          </a:bodyPr>
          <a:lstStyle/>
          <a:p>
            <a:r>
              <a:rPr lang="en-US" dirty="0">
                <a:latin typeface="Candara" panose="020E0502030303020204" pitchFamily="34" charset="0"/>
              </a:rPr>
              <a:t>This technique may be used to cancel a pending </a:t>
            </a:r>
            <a:r>
              <a:rPr lang="en-US" dirty="0" err="1">
                <a:latin typeface="Candara" panose="020E0502030303020204" pitchFamily="34" charset="0"/>
              </a:rPr>
              <a:t>txn</a:t>
            </a:r>
            <a:r>
              <a:rPr lang="en-US" dirty="0">
                <a:latin typeface="Candara" panose="020E0502030303020204" pitchFamily="34" charset="0"/>
              </a:rPr>
              <a:t> that is taking too long to process. Replace it with a new </a:t>
            </a:r>
            <a:r>
              <a:rPr lang="en-US" dirty="0" err="1">
                <a:latin typeface="Candara" panose="020E0502030303020204" pitchFamily="34" charset="0"/>
              </a:rPr>
              <a:t>txn</a:t>
            </a:r>
            <a:r>
              <a:rPr lang="en-US" dirty="0">
                <a:latin typeface="Candara" panose="020E0502030303020204" pitchFamily="34" charset="0"/>
              </a:rPr>
              <a:t> with the same nonce but with a higher </a:t>
            </a:r>
            <a:r>
              <a:rPr lang="en-US" dirty="0" err="1">
                <a:latin typeface="Candara" panose="020E0502030303020204" pitchFamily="34" charset="0"/>
              </a:rPr>
              <a:t>txn</a:t>
            </a:r>
            <a:r>
              <a:rPr lang="en-US" dirty="0">
                <a:latin typeface="Candara" panose="020E0502030303020204" pitchFamily="34" charset="0"/>
              </a:rPr>
              <a:t> fee</a:t>
            </a:r>
          </a:p>
        </p:txBody>
      </p:sp>
      <p:sp>
        <p:nvSpPr>
          <p:cNvPr id="23" name="Oval 22"/>
          <p:cNvSpPr/>
          <p:nvPr/>
        </p:nvSpPr>
        <p:spPr>
          <a:xfrm>
            <a:off x="2030076" y="3185067"/>
            <a:ext cx="1721453" cy="68834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Candara" panose="020E0502030303020204" pitchFamily="34" charset="0"/>
              </a:rPr>
              <a:t>Account Nonce = 5</a:t>
            </a:r>
          </a:p>
        </p:txBody>
      </p:sp>
      <p:sp>
        <p:nvSpPr>
          <p:cNvPr id="24" name="TextBox 23"/>
          <p:cNvSpPr txBox="1"/>
          <p:nvPr/>
        </p:nvSpPr>
        <p:spPr>
          <a:xfrm>
            <a:off x="7989411" y="1150951"/>
            <a:ext cx="2060858" cy="338554"/>
          </a:xfrm>
          <a:prstGeom prst="rect">
            <a:avLst/>
          </a:prstGeom>
          <a:noFill/>
          <a:ln>
            <a:noFill/>
          </a:ln>
        </p:spPr>
        <p:txBody>
          <a:bodyPr wrap="square" rtlCol="0">
            <a:spAutoFit/>
          </a:bodyPr>
          <a:lstStyle/>
          <a:p>
            <a:pPr algn="ctr"/>
            <a:r>
              <a:rPr lang="en-US" sz="1600" dirty="0">
                <a:latin typeface="Candara" panose="020E0502030303020204" pitchFamily="34" charset="0"/>
              </a:rPr>
              <a:t>Which </a:t>
            </a:r>
            <a:r>
              <a:rPr lang="en-US" sz="1600" dirty="0" err="1">
                <a:latin typeface="Candara" panose="020E0502030303020204" pitchFamily="34" charset="0"/>
              </a:rPr>
              <a:t>txn</a:t>
            </a:r>
            <a:r>
              <a:rPr lang="en-US" sz="1600" dirty="0">
                <a:latin typeface="Candara" panose="020E0502030303020204" pitchFamily="34" charset="0"/>
              </a:rPr>
              <a:t> is valid? </a:t>
            </a:r>
          </a:p>
        </p:txBody>
      </p:sp>
      <p:sp>
        <p:nvSpPr>
          <p:cNvPr id="5" name="Rectangle 4"/>
          <p:cNvSpPr/>
          <p:nvPr/>
        </p:nvSpPr>
        <p:spPr>
          <a:xfrm>
            <a:off x="6808712" y="1673695"/>
            <a:ext cx="4865128" cy="923330"/>
          </a:xfrm>
          <a:prstGeom prst="rect">
            <a:avLst/>
          </a:prstGeom>
          <a:noFill/>
          <a:ln>
            <a:noFill/>
          </a:ln>
        </p:spPr>
        <p:txBody>
          <a:bodyPr wrap="square">
            <a:spAutoFit/>
          </a:bodyPr>
          <a:lstStyle/>
          <a:p>
            <a:r>
              <a:rPr lang="en-US" dirty="0">
                <a:solidFill>
                  <a:srgbClr val="002060"/>
                </a:solidFill>
                <a:latin typeface="Candara" panose="020E0502030303020204" pitchFamily="34" charset="0"/>
              </a:rPr>
              <a:t>Both </a:t>
            </a:r>
            <a:r>
              <a:rPr lang="en-US" dirty="0" err="1">
                <a:solidFill>
                  <a:srgbClr val="002060"/>
                </a:solidFill>
                <a:latin typeface="Candara" panose="020E0502030303020204" pitchFamily="34" charset="0"/>
              </a:rPr>
              <a:t>txns</a:t>
            </a:r>
            <a:r>
              <a:rPr lang="en-US" dirty="0">
                <a:solidFill>
                  <a:srgbClr val="002060"/>
                </a:solidFill>
                <a:latin typeface="Candara" panose="020E0502030303020204" pitchFamily="34" charset="0"/>
              </a:rPr>
              <a:t> are valid. However, as soon as one of them gets confirmed, the other </a:t>
            </a:r>
            <a:r>
              <a:rPr lang="en-US" dirty="0" err="1">
                <a:solidFill>
                  <a:srgbClr val="002060"/>
                </a:solidFill>
                <a:latin typeface="Candara" panose="020E0502030303020204" pitchFamily="34" charset="0"/>
              </a:rPr>
              <a:t>txn</a:t>
            </a:r>
            <a:r>
              <a:rPr lang="en-US" dirty="0">
                <a:solidFill>
                  <a:srgbClr val="002060"/>
                </a:solidFill>
                <a:latin typeface="Candara" panose="020E0502030303020204" pitchFamily="34" charset="0"/>
              </a:rPr>
              <a:t> will become invalid</a:t>
            </a:r>
          </a:p>
        </p:txBody>
      </p:sp>
      <p:sp>
        <p:nvSpPr>
          <p:cNvPr id="26" name="Rectangle 25"/>
          <p:cNvSpPr/>
          <p:nvPr/>
        </p:nvSpPr>
        <p:spPr>
          <a:xfrm>
            <a:off x="6808512" y="5760149"/>
            <a:ext cx="4865128" cy="707886"/>
          </a:xfrm>
          <a:prstGeom prst="rect">
            <a:avLst/>
          </a:prstGeom>
          <a:ln>
            <a:noFill/>
          </a:ln>
        </p:spPr>
        <p:txBody>
          <a:bodyPr wrap="square">
            <a:spAutoFit/>
          </a:bodyPr>
          <a:lstStyle/>
          <a:p>
            <a:pPr algn="ctr"/>
            <a:r>
              <a:rPr lang="en-US" sz="2000" dirty="0">
                <a:solidFill>
                  <a:schemeClr val="accent2"/>
                </a:solidFill>
                <a:latin typeface="Candara" panose="020E0502030303020204" pitchFamily="34" charset="0"/>
              </a:rPr>
              <a:t>We can cancel an unconfirmed </a:t>
            </a:r>
            <a:r>
              <a:rPr lang="en-US" sz="2000" dirty="0" err="1">
                <a:solidFill>
                  <a:schemeClr val="accent2"/>
                </a:solidFill>
                <a:latin typeface="Candara" panose="020E0502030303020204" pitchFamily="34" charset="0"/>
              </a:rPr>
              <a:t>txn</a:t>
            </a:r>
            <a:r>
              <a:rPr lang="en-US" sz="2000" dirty="0">
                <a:solidFill>
                  <a:schemeClr val="accent2"/>
                </a:solidFill>
                <a:latin typeface="Candara" panose="020E0502030303020204" pitchFamily="34" charset="0"/>
              </a:rPr>
              <a:t> by invalidating its nonce </a:t>
            </a:r>
          </a:p>
        </p:txBody>
      </p:sp>
    </p:spTree>
    <p:extLst>
      <p:ext uri="{BB962C8B-B14F-4D97-AF65-F5344CB8AC3E}">
        <p14:creationId xmlns:p14="http://schemas.microsoft.com/office/powerpoint/2010/main" val="408816178"/>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43" grpId="0"/>
      <p:bldP spid="56" grpId="0" animBg="1"/>
      <p:bldP spid="24" grpId="0" animBg="1"/>
      <p:bldP spid="5" grpId="0"/>
      <p:bldP spid="2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68C06-7B07-5900-D3B4-5E6C57F9D3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2F4F57-00CE-0336-3984-63EBB8FAABF8}"/>
              </a:ext>
            </a:extLst>
          </p:cNvPr>
          <p:cNvSpPr>
            <a:spLocks noGrp="1"/>
          </p:cNvSpPr>
          <p:nvPr>
            <p:ph type="title"/>
          </p:nvPr>
        </p:nvSpPr>
        <p:spPr/>
        <p:txBody>
          <a:bodyPr/>
          <a:lstStyle/>
          <a:p>
            <a:r>
              <a:rPr lang="en-PK" dirty="0">
                <a:latin typeface="+mn-lt"/>
              </a:rPr>
              <a:t>Lecture </a:t>
            </a:r>
            <a:r>
              <a:rPr lang="en-US" dirty="0">
                <a:latin typeface="+mn-lt"/>
              </a:rPr>
              <a:t>23</a:t>
            </a:r>
            <a:br>
              <a:rPr lang="en-PK" dirty="0">
                <a:latin typeface="+mn-lt"/>
              </a:rPr>
            </a:br>
            <a:r>
              <a:rPr lang="en-US" dirty="0">
                <a:latin typeface="+mn-lt"/>
              </a:rPr>
              <a:t>Tuesday</a:t>
            </a:r>
            <a:r>
              <a:rPr lang="en-PK" dirty="0">
                <a:latin typeface="+mn-lt"/>
              </a:rPr>
              <a:t>, </a:t>
            </a:r>
            <a:r>
              <a:rPr lang="en-US" dirty="0">
                <a:latin typeface="+mn-lt"/>
              </a:rPr>
              <a:t>Apr</a:t>
            </a:r>
            <a:r>
              <a:rPr lang="en-PK" dirty="0">
                <a:latin typeface="+mn-lt"/>
              </a:rPr>
              <a:t> </a:t>
            </a:r>
            <a:r>
              <a:rPr lang="en-US" dirty="0">
                <a:latin typeface="+mn-lt"/>
              </a:rPr>
              <a:t>21</a:t>
            </a:r>
            <a:r>
              <a:rPr lang="en-PK" dirty="0">
                <a:latin typeface="+mn-lt"/>
              </a:rPr>
              <a:t>, 202</a:t>
            </a:r>
            <a:r>
              <a:rPr lang="en-US" dirty="0">
                <a:latin typeface="+mn-lt"/>
              </a:rPr>
              <a:t>6</a:t>
            </a:r>
            <a:endParaRPr lang="en-PK" dirty="0">
              <a:latin typeface="+mn-lt"/>
            </a:endParaRPr>
          </a:p>
        </p:txBody>
      </p:sp>
      <p:sp>
        <p:nvSpPr>
          <p:cNvPr id="4" name="Slide Number Placeholder 3">
            <a:extLst>
              <a:ext uri="{FF2B5EF4-FFF2-40B4-BE49-F238E27FC236}">
                <a16:creationId xmlns:a16="http://schemas.microsoft.com/office/drawing/2014/main" id="{AE89B2F7-2257-8E3C-33E6-65B11A613432}"/>
              </a:ext>
            </a:extLst>
          </p:cNvPr>
          <p:cNvSpPr>
            <a:spLocks noGrp="1"/>
          </p:cNvSpPr>
          <p:nvPr>
            <p:ph type="sldNum" sz="quarter" idx="12"/>
          </p:nvPr>
        </p:nvSpPr>
        <p:spPr/>
        <p:txBody>
          <a:bodyPr/>
          <a:lstStyle/>
          <a:p>
            <a:fld id="{D57F1E4F-1CFF-5643-939E-217C01CDF565}" type="slidenum">
              <a:rPr lang="en-US" smtClean="0"/>
              <a:pPr/>
              <a:t>34</a:t>
            </a:fld>
            <a:endParaRPr lang="en-US" dirty="0"/>
          </a:p>
        </p:txBody>
      </p:sp>
    </p:spTree>
    <p:extLst>
      <p:ext uri="{BB962C8B-B14F-4D97-AF65-F5344CB8AC3E}">
        <p14:creationId xmlns:p14="http://schemas.microsoft.com/office/powerpoint/2010/main" val="22570311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Contract Deployment</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35</a:t>
            </a:fld>
            <a:endParaRPr lang="en-US" dirty="0">
              <a:latin typeface="Candara" panose="020E0502030303020204" pitchFamily="34" charset="0"/>
            </a:endParaRPr>
          </a:p>
        </p:txBody>
      </p:sp>
      <p:sp>
        <p:nvSpPr>
          <p:cNvPr id="10" name="Curved Down Arrow 9"/>
          <p:cNvSpPr/>
          <p:nvPr/>
        </p:nvSpPr>
        <p:spPr>
          <a:xfrm>
            <a:off x="3368843" y="2256755"/>
            <a:ext cx="5166680" cy="588265"/>
          </a:xfrm>
          <a:prstGeom prst="curvedDownArrow">
            <a:avLst>
              <a:gd name="adj1" fmla="val 41106"/>
              <a:gd name="adj2" fmla="val 113223"/>
              <a:gd name="adj3" fmla="val 4681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Candara" panose="020E0502030303020204" pitchFamily="34" charset="0"/>
            </a:endParaRPr>
          </a:p>
        </p:txBody>
      </p:sp>
      <p:sp>
        <p:nvSpPr>
          <p:cNvPr id="11" name="TextBox 10"/>
          <p:cNvSpPr txBox="1"/>
          <p:nvPr/>
        </p:nvSpPr>
        <p:spPr>
          <a:xfrm>
            <a:off x="1791963" y="1146424"/>
            <a:ext cx="2883451" cy="1200329"/>
          </a:xfrm>
          <a:prstGeom prst="rect">
            <a:avLst/>
          </a:prstGeom>
          <a:noFill/>
        </p:spPr>
        <p:txBody>
          <a:bodyPr wrap="square" rtlCol="0">
            <a:spAutoFit/>
          </a:bodyPr>
          <a:lstStyle/>
          <a:p>
            <a:pPr algn="ctr"/>
            <a:r>
              <a:rPr lang="en-US" dirty="0">
                <a:latin typeface="Candara" panose="020E0502030303020204" pitchFamily="34" charset="0"/>
              </a:rPr>
              <a:t>Smart contract deployment on blockchain means creation of a new address in Ethereum world state</a:t>
            </a:r>
          </a:p>
        </p:txBody>
      </p:sp>
      <p:sp>
        <p:nvSpPr>
          <p:cNvPr id="9" name="Rectangle 8"/>
          <p:cNvSpPr/>
          <p:nvPr/>
        </p:nvSpPr>
        <p:spPr>
          <a:xfrm>
            <a:off x="4844825" y="1101885"/>
            <a:ext cx="2495549" cy="667464"/>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andara" panose="020E0502030303020204" pitchFamily="34" charset="0"/>
              </a:rPr>
              <a:t>Contract Deployment Transaction</a:t>
            </a:r>
          </a:p>
        </p:txBody>
      </p:sp>
      <p:sp>
        <p:nvSpPr>
          <p:cNvPr id="15" name="Rectangle 14"/>
          <p:cNvSpPr/>
          <p:nvPr/>
        </p:nvSpPr>
        <p:spPr>
          <a:xfrm>
            <a:off x="4914900" y="1820625"/>
            <a:ext cx="2249261" cy="30665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Code in Data Field</a:t>
            </a:r>
          </a:p>
        </p:txBody>
      </p:sp>
      <p:sp>
        <p:nvSpPr>
          <p:cNvPr id="16" name="TextBox 15"/>
          <p:cNvSpPr txBox="1"/>
          <p:nvPr/>
        </p:nvSpPr>
        <p:spPr>
          <a:xfrm>
            <a:off x="7516586" y="1289058"/>
            <a:ext cx="2883451" cy="1200329"/>
          </a:xfrm>
          <a:prstGeom prst="rect">
            <a:avLst/>
          </a:prstGeom>
          <a:noFill/>
        </p:spPr>
        <p:txBody>
          <a:bodyPr wrap="square" rtlCol="0">
            <a:spAutoFit/>
          </a:bodyPr>
          <a:lstStyle/>
          <a:p>
            <a:pPr algn="ctr"/>
            <a:r>
              <a:rPr lang="en-US" dirty="0">
                <a:latin typeface="Candara" panose="020E0502030303020204" pitchFamily="34" charset="0"/>
              </a:rPr>
              <a:t>Contract account has a permanent storage, and it is controlled by its EVM code</a:t>
            </a:r>
          </a:p>
        </p:txBody>
      </p:sp>
      <p:sp>
        <p:nvSpPr>
          <p:cNvPr id="18" name="Rectangle 17"/>
          <p:cNvSpPr/>
          <p:nvPr/>
        </p:nvSpPr>
        <p:spPr>
          <a:xfrm>
            <a:off x="4668612" y="3270108"/>
            <a:ext cx="464863"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19" name="TextBox 18"/>
          <p:cNvSpPr txBox="1"/>
          <p:nvPr/>
        </p:nvSpPr>
        <p:spPr>
          <a:xfrm>
            <a:off x="487680" y="5853670"/>
            <a:ext cx="11186160" cy="646331"/>
          </a:xfrm>
          <a:prstGeom prst="rect">
            <a:avLst/>
          </a:prstGeom>
          <a:noFill/>
          <a:ln>
            <a:solidFill>
              <a:schemeClr val="tx1"/>
            </a:solidFill>
          </a:ln>
        </p:spPr>
        <p:txBody>
          <a:bodyPr wrap="square" rtlCol="0">
            <a:spAutoFit/>
          </a:bodyPr>
          <a:lstStyle/>
          <a:p>
            <a:pPr marL="285750" indent="-285750">
              <a:buFont typeface="Arial" panose="020B0604020202020204" pitchFamily="34" charset="0"/>
              <a:buChar char="•"/>
            </a:pPr>
            <a:r>
              <a:rPr lang="en-US" dirty="0">
                <a:latin typeface="Candara" panose="020E0502030303020204" pitchFamily="34" charset="0"/>
              </a:rPr>
              <a:t>Once on blockchain the contract is controlled by its code</a:t>
            </a:r>
          </a:p>
          <a:p>
            <a:pPr marL="285750" indent="-285750">
              <a:buFont typeface="Arial" panose="020B0604020202020204" pitchFamily="34" charset="0"/>
              <a:buChar char="•"/>
            </a:pPr>
            <a:r>
              <a:rPr lang="en-US" dirty="0">
                <a:latin typeface="Candara" panose="020E0502030303020204" pitchFamily="34" charset="0"/>
              </a:rPr>
              <a:t>Contracts </a:t>
            </a:r>
            <a:r>
              <a:rPr lang="en-US" b="1" i="1" dirty="0">
                <a:latin typeface="Candara" panose="020E0502030303020204" pitchFamily="34" charset="0"/>
              </a:rPr>
              <a:t>cannot</a:t>
            </a:r>
            <a:r>
              <a:rPr lang="en-US" dirty="0">
                <a:latin typeface="Candara" panose="020E0502030303020204" pitchFamily="34" charset="0"/>
              </a:rPr>
              <a:t> initiate transactions, but can send message calls (function calls) to other contracts or EOAs</a:t>
            </a:r>
          </a:p>
        </p:txBody>
      </p:sp>
      <p:sp>
        <p:nvSpPr>
          <p:cNvPr id="3" name="Rectangle 2"/>
          <p:cNvSpPr/>
          <p:nvPr/>
        </p:nvSpPr>
        <p:spPr>
          <a:xfrm>
            <a:off x="4785832" y="2926461"/>
            <a:ext cx="288650" cy="194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grpSp>
        <p:nvGrpSpPr>
          <p:cNvPr id="17" name="Group 16"/>
          <p:cNvGrpSpPr/>
          <p:nvPr/>
        </p:nvGrpSpPr>
        <p:grpSpPr>
          <a:xfrm>
            <a:off x="1678975" y="2893731"/>
            <a:ext cx="3891297" cy="2267668"/>
            <a:chOff x="4899309" y="2010879"/>
            <a:chExt cx="4244691" cy="2688711"/>
          </a:xfrm>
        </p:grpSpPr>
        <p:grpSp>
          <p:nvGrpSpPr>
            <p:cNvPr id="20" name="Group 19"/>
            <p:cNvGrpSpPr/>
            <p:nvPr/>
          </p:nvGrpSpPr>
          <p:grpSpPr>
            <a:xfrm>
              <a:off x="5057489" y="2167423"/>
              <a:ext cx="3923070" cy="2375624"/>
              <a:chOff x="5013245" y="2167423"/>
              <a:chExt cx="3923070" cy="2375624"/>
            </a:xfrm>
          </p:grpSpPr>
          <p:sp>
            <p:nvSpPr>
              <p:cNvPr id="22" name="Rounded Rectangle 21"/>
              <p:cNvSpPr/>
              <p:nvPr/>
            </p:nvSpPr>
            <p:spPr>
              <a:xfrm>
                <a:off x="5013245" y="2167423"/>
                <a:ext cx="3923070" cy="237562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23" name="Oval 22"/>
              <p:cNvSpPr/>
              <p:nvPr/>
            </p:nvSpPr>
            <p:spPr>
              <a:xfrm>
                <a:off x="5073436" y="2404132"/>
                <a:ext cx="1268371" cy="45705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ndara" panose="020E0502030303020204" pitchFamily="34" charset="0"/>
                  </a:rPr>
                  <a:t>Address 1</a:t>
                </a:r>
              </a:p>
            </p:txBody>
          </p:sp>
          <p:sp>
            <p:nvSpPr>
              <p:cNvPr id="24" name="Oval 23"/>
              <p:cNvSpPr/>
              <p:nvPr/>
            </p:nvSpPr>
            <p:spPr>
              <a:xfrm>
                <a:off x="5073436" y="2959452"/>
                <a:ext cx="1268371" cy="45705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ndara" panose="020E0502030303020204" pitchFamily="34" charset="0"/>
                  </a:rPr>
                  <a:t>Address 2</a:t>
                </a:r>
              </a:p>
            </p:txBody>
          </p:sp>
          <p:cxnSp>
            <p:nvCxnSpPr>
              <p:cNvPr id="26" name="Straight Arrow Connector 25"/>
              <p:cNvCxnSpPr/>
              <p:nvPr/>
            </p:nvCxnSpPr>
            <p:spPr>
              <a:xfrm>
                <a:off x="6341806" y="2618430"/>
                <a:ext cx="681359" cy="14229"/>
              </a:xfrm>
              <a:prstGeom prst="straightConnector1">
                <a:avLst/>
              </a:prstGeom>
              <a:ln>
                <a:solidFill>
                  <a:schemeClr val="tx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6341805" y="3187979"/>
                <a:ext cx="681359" cy="14229"/>
              </a:xfrm>
              <a:prstGeom prst="straightConnector1">
                <a:avLst/>
              </a:prstGeom>
              <a:ln>
                <a:solidFill>
                  <a:schemeClr val="tx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Oval 28"/>
              <p:cNvSpPr/>
              <p:nvPr/>
            </p:nvSpPr>
            <p:spPr>
              <a:xfrm>
                <a:off x="7023165" y="2397015"/>
                <a:ext cx="1818860" cy="45705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ndara" panose="020E0502030303020204" pitchFamily="34" charset="0"/>
                  </a:rPr>
                  <a:t>Account state 1</a:t>
                </a:r>
              </a:p>
            </p:txBody>
          </p:sp>
          <p:sp>
            <p:nvSpPr>
              <p:cNvPr id="30" name="Oval 29"/>
              <p:cNvSpPr/>
              <p:nvPr/>
            </p:nvSpPr>
            <p:spPr>
              <a:xfrm>
                <a:off x="7023164" y="2959064"/>
                <a:ext cx="1818861" cy="45705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ndara" panose="020E0502030303020204" pitchFamily="34" charset="0"/>
                  </a:rPr>
                  <a:t>Account state 2</a:t>
                </a:r>
              </a:p>
            </p:txBody>
          </p:sp>
        </p:grpSp>
        <p:sp>
          <p:nvSpPr>
            <p:cNvPr id="21" name="Rectangle 20"/>
            <p:cNvSpPr/>
            <p:nvPr/>
          </p:nvSpPr>
          <p:spPr>
            <a:xfrm>
              <a:off x="4899309" y="2010879"/>
              <a:ext cx="4244691" cy="268871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grpSp>
      <p:sp>
        <p:nvSpPr>
          <p:cNvPr id="34" name="Rectangle 33"/>
          <p:cNvSpPr/>
          <p:nvPr/>
        </p:nvSpPr>
        <p:spPr>
          <a:xfrm>
            <a:off x="2651782" y="5229012"/>
            <a:ext cx="2249261" cy="3066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World State at time </a:t>
            </a:r>
            <a:r>
              <a:rPr lang="en-US" sz="1600" i="1" dirty="0">
                <a:solidFill>
                  <a:schemeClr val="tx1"/>
                </a:solidFill>
                <a:latin typeface="Candara" panose="020E0502030303020204" pitchFamily="34" charset="0"/>
              </a:rPr>
              <a:t>t</a:t>
            </a:r>
          </a:p>
        </p:txBody>
      </p:sp>
      <p:sp>
        <p:nvSpPr>
          <p:cNvPr id="35" name="Rectangle 34"/>
          <p:cNvSpPr/>
          <p:nvPr/>
        </p:nvSpPr>
        <p:spPr>
          <a:xfrm>
            <a:off x="7164161" y="5528499"/>
            <a:ext cx="2249261" cy="3066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World State at time </a:t>
            </a:r>
            <a:r>
              <a:rPr lang="en-US" sz="1600" i="1" dirty="0">
                <a:solidFill>
                  <a:schemeClr val="tx1"/>
                </a:solidFill>
                <a:latin typeface="Candara" panose="020E0502030303020204" pitchFamily="34" charset="0"/>
              </a:rPr>
              <a:t>t+1</a:t>
            </a:r>
          </a:p>
        </p:txBody>
      </p:sp>
      <p:grpSp>
        <p:nvGrpSpPr>
          <p:cNvPr id="36" name="Group 35"/>
          <p:cNvGrpSpPr/>
          <p:nvPr/>
        </p:nvGrpSpPr>
        <p:grpSpPr>
          <a:xfrm>
            <a:off x="6292989" y="2720364"/>
            <a:ext cx="4180828" cy="2808133"/>
            <a:chOff x="4899309" y="1816021"/>
            <a:chExt cx="4244691" cy="2883569"/>
          </a:xfrm>
        </p:grpSpPr>
        <p:grpSp>
          <p:nvGrpSpPr>
            <p:cNvPr id="37" name="Group 36"/>
            <p:cNvGrpSpPr/>
            <p:nvPr/>
          </p:nvGrpSpPr>
          <p:grpSpPr>
            <a:xfrm>
              <a:off x="5057489" y="2167423"/>
              <a:ext cx="3923070" cy="2465569"/>
              <a:chOff x="5013245" y="2167423"/>
              <a:chExt cx="3923070" cy="2465569"/>
            </a:xfrm>
          </p:grpSpPr>
          <p:sp>
            <p:nvSpPr>
              <p:cNvPr id="39" name="Rounded Rectangle 38"/>
              <p:cNvSpPr/>
              <p:nvPr/>
            </p:nvSpPr>
            <p:spPr>
              <a:xfrm>
                <a:off x="5013245" y="2167423"/>
                <a:ext cx="3923070" cy="2465569"/>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40" name="Oval 39"/>
              <p:cNvSpPr/>
              <p:nvPr/>
            </p:nvSpPr>
            <p:spPr>
              <a:xfrm>
                <a:off x="5206180" y="2272349"/>
                <a:ext cx="1135626" cy="45705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ndara" panose="020E0502030303020204" pitchFamily="34" charset="0"/>
                  </a:rPr>
                  <a:t>Address 1</a:t>
                </a:r>
              </a:p>
            </p:txBody>
          </p:sp>
          <p:sp>
            <p:nvSpPr>
              <p:cNvPr id="41" name="Oval 40"/>
              <p:cNvSpPr/>
              <p:nvPr/>
            </p:nvSpPr>
            <p:spPr>
              <a:xfrm>
                <a:off x="5157338" y="2827668"/>
                <a:ext cx="1184468" cy="45705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ndara" panose="020E0502030303020204" pitchFamily="34" charset="0"/>
                  </a:rPr>
                  <a:t>Address 2</a:t>
                </a:r>
              </a:p>
            </p:txBody>
          </p:sp>
          <p:cxnSp>
            <p:nvCxnSpPr>
              <p:cNvPr id="42" name="Straight Arrow Connector 41"/>
              <p:cNvCxnSpPr/>
              <p:nvPr/>
            </p:nvCxnSpPr>
            <p:spPr>
              <a:xfrm>
                <a:off x="6341806" y="2486647"/>
                <a:ext cx="681359" cy="14229"/>
              </a:xfrm>
              <a:prstGeom prst="straightConnector1">
                <a:avLst/>
              </a:prstGeom>
              <a:ln>
                <a:solidFill>
                  <a:schemeClr val="tx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a:off x="6341805" y="3056196"/>
                <a:ext cx="681359" cy="14229"/>
              </a:xfrm>
              <a:prstGeom prst="straightConnector1">
                <a:avLst/>
              </a:prstGeom>
              <a:ln>
                <a:solidFill>
                  <a:schemeClr val="tx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Oval 43"/>
              <p:cNvSpPr/>
              <p:nvPr/>
            </p:nvSpPr>
            <p:spPr>
              <a:xfrm>
                <a:off x="7023165" y="2265233"/>
                <a:ext cx="1707880" cy="45705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ndara" panose="020E0502030303020204" pitchFamily="34" charset="0"/>
                  </a:rPr>
                  <a:t>Account state 1</a:t>
                </a:r>
              </a:p>
            </p:txBody>
          </p:sp>
          <p:sp>
            <p:nvSpPr>
              <p:cNvPr id="45" name="Oval 44"/>
              <p:cNvSpPr/>
              <p:nvPr/>
            </p:nvSpPr>
            <p:spPr>
              <a:xfrm>
                <a:off x="7023165" y="2827280"/>
                <a:ext cx="1707880" cy="45705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ndara" panose="020E0502030303020204" pitchFamily="34" charset="0"/>
                  </a:rPr>
                  <a:t>Account state 2</a:t>
                </a:r>
              </a:p>
            </p:txBody>
          </p:sp>
        </p:grpSp>
        <p:sp>
          <p:nvSpPr>
            <p:cNvPr id="38" name="Rectangle 37"/>
            <p:cNvSpPr/>
            <p:nvPr/>
          </p:nvSpPr>
          <p:spPr>
            <a:xfrm>
              <a:off x="4899309" y="1816021"/>
              <a:ext cx="4244691" cy="288356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grpSp>
      <p:grpSp>
        <p:nvGrpSpPr>
          <p:cNvPr id="62" name="Group 61"/>
          <p:cNvGrpSpPr/>
          <p:nvPr/>
        </p:nvGrpSpPr>
        <p:grpSpPr>
          <a:xfrm>
            <a:off x="5702478" y="4302716"/>
            <a:ext cx="4400173" cy="1134983"/>
            <a:chOff x="4178477" y="4380205"/>
            <a:chExt cx="4400173" cy="1134983"/>
          </a:xfrm>
        </p:grpSpPr>
        <p:sp>
          <p:nvSpPr>
            <p:cNvPr id="46" name="Rounded Rectangle 45"/>
            <p:cNvSpPr/>
            <p:nvPr/>
          </p:nvSpPr>
          <p:spPr>
            <a:xfrm>
              <a:off x="5054236" y="4380205"/>
              <a:ext cx="3509464" cy="992343"/>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47" name="Oval 46"/>
            <p:cNvSpPr/>
            <p:nvPr/>
          </p:nvSpPr>
          <p:spPr>
            <a:xfrm>
              <a:off x="5124718" y="4478206"/>
              <a:ext cx="1118540" cy="38548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ndara" panose="020E0502030303020204" pitchFamily="34" charset="0"/>
                </a:rPr>
                <a:t>Address N</a:t>
              </a:r>
            </a:p>
          </p:txBody>
        </p:sp>
        <p:cxnSp>
          <p:nvCxnSpPr>
            <p:cNvPr id="48" name="Straight Arrow Connector 47"/>
            <p:cNvCxnSpPr/>
            <p:nvPr/>
          </p:nvCxnSpPr>
          <p:spPr>
            <a:xfrm>
              <a:off x="6203439" y="4676536"/>
              <a:ext cx="671108" cy="12001"/>
            </a:xfrm>
            <a:prstGeom prst="straightConnector1">
              <a:avLst/>
            </a:prstGeom>
            <a:ln>
              <a:solidFill>
                <a:srgbClr val="FF000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49" name="Oval 48"/>
            <p:cNvSpPr/>
            <p:nvPr/>
          </p:nvSpPr>
          <p:spPr>
            <a:xfrm>
              <a:off x="6874548" y="4483469"/>
              <a:ext cx="1682184" cy="38548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ndara" panose="020E0502030303020204" pitchFamily="34" charset="0"/>
                </a:rPr>
                <a:t>Account state N</a:t>
              </a:r>
            </a:p>
          </p:txBody>
        </p:sp>
        <p:sp>
          <p:nvSpPr>
            <p:cNvPr id="50" name="Flowchart: Magnetic Disk 49"/>
            <p:cNvSpPr/>
            <p:nvPr/>
          </p:nvSpPr>
          <p:spPr>
            <a:xfrm>
              <a:off x="8019788" y="4930715"/>
              <a:ext cx="338102" cy="215447"/>
            </a:xfrm>
            <a:prstGeom prst="flowChartMagneticDisk">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51" name="Rectangular Callout 50"/>
            <p:cNvSpPr/>
            <p:nvPr/>
          </p:nvSpPr>
          <p:spPr>
            <a:xfrm>
              <a:off x="7089155" y="4994883"/>
              <a:ext cx="285233" cy="209642"/>
            </a:xfrm>
            <a:prstGeom prst="wedgeRectCallou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52" name="TextBox 51"/>
            <p:cNvSpPr txBox="1"/>
            <p:nvPr/>
          </p:nvSpPr>
          <p:spPr>
            <a:xfrm>
              <a:off x="7879784" y="5116913"/>
              <a:ext cx="698866" cy="276999"/>
            </a:xfrm>
            <a:prstGeom prst="rect">
              <a:avLst/>
            </a:prstGeom>
            <a:noFill/>
          </p:spPr>
          <p:txBody>
            <a:bodyPr wrap="square" rtlCol="0">
              <a:spAutoFit/>
            </a:bodyPr>
            <a:lstStyle/>
            <a:p>
              <a:r>
                <a:rPr lang="en-US" sz="1200" dirty="0">
                  <a:latin typeface="Candara" panose="020E0502030303020204" pitchFamily="34" charset="0"/>
                </a:rPr>
                <a:t>storage</a:t>
              </a:r>
            </a:p>
          </p:txBody>
        </p:sp>
        <p:sp>
          <p:nvSpPr>
            <p:cNvPr id="54" name="TextBox 53"/>
            <p:cNvSpPr txBox="1"/>
            <p:nvPr/>
          </p:nvSpPr>
          <p:spPr>
            <a:xfrm>
              <a:off x="7011522" y="5172412"/>
              <a:ext cx="698866" cy="276999"/>
            </a:xfrm>
            <a:prstGeom prst="rect">
              <a:avLst/>
            </a:prstGeom>
            <a:noFill/>
          </p:spPr>
          <p:txBody>
            <a:bodyPr wrap="square" rtlCol="0">
              <a:spAutoFit/>
            </a:bodyPr>
            <a:lstStyle/>
            <a:p>
              <a:r>
                <a:rPr lang="en-US" sz="1200" dirty="0">
                  <a:latin typeface="Candara" panose="020E0502030303020204" pitchFamily="34" charset="0"/>
                </a:rPr>
                <a:t>code</a:t>
              </a:r>
            </a:p>
          </p:txBody>
        </p:sp>
        <p:cxnSp>
          <p:nvCxnSpPr>
            <p:cNvPr id="55" name="Straight Arrow Connector 54"/>
            <p:cNvCxnSpPr>
              <a:stCxn id="49" idx="4"/>
              <a:endCxn id="50" idx="2"/>
            </p:cNvCxnSpPr>
            <p:nvPr/>
          </p:nvCxnSpPr>
          <p:spPr>
            <a:xfrm>
              <a:off x="7715640" y="4868951"/>
              <a:ext cx="304148" cy="169488"/>
            </a:xfrm>
            <a:prstGeom prst="straightConnector1">
              <a:avLst/>
            </a:prstGeom>
            <a:ln>
              <a:solidFill>
                <a:srgbClr val="FF0000"/>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flipH="1">
              <a:off x="7374389" y="4889213"/>
              <a:ext cx="214014" cy="174894"/>
            </a:xfrm>
            <a:prstGeom prst="straightConnector1">
              <a:avLst/>
            </a:prstGeom>
            <a:ln>
              <a:solidFill>
                <a:srgbClr val="FF0000"/>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1" name="Double Wave 60"/>
            <p:cNvSpPr/>
            <p:nvPr/>
          </p:nvSpPr>
          <p:spPr>
            <a:xfrm rot="19087592">
              <a:off x="4178477" y="5038932"/>
              <a:ext cx="817401" cy="476256"/>
            </a:xfrm>
            <a:prstGeom prst="doubleWav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andara" panose="020E0502030303020204" pitchFamily="34" charset="0"/>
                </a:rPr>
                <a:t>Create</a:t>
              </a:r>
            </a:p>
          </p:txBody>
        </p:sp>
      </p:grpSp>
    </p:spTree>
    <p:extLst>
      <p:ext uri="{BB962C8B-B14F-4D97-AF65-F5344CB8AC3E}">
        <p14:creationId xmlns:p14="http://schemas.microsoft.com/office/powerpoint/2010/main" val="2497337909"/>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9" grpId="0"/>
      <p:bldP spid="15" grpId="0" animBg="1"/>
      <p:bldP spid="19" grpId="0" animBg="1"/>
      <p:bldP spid="34" grpId="0" animBg="1"/>
      <p:bldP spid="3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Contract Deployment Transaction – Example </a:t>
            </a:r>
          </a:p>
        </p:txBody>
      </p:sp>
      <p:sp>
        <p:nvSpPr>
          <p:cNvPr id="3" name="Content Placeholder 2"/>
          <p:cNvSpPr>
            <a:spLocks noGrp="1"/>
          </p:cNvSpPr>
          <p:nvPr>
            <p:ph idx="1"/>
          </p:nvPr>
        </p:nvSpPr>
        <p:spPr>
          <a:xfrm>
            <a:off x="2170376" y="1126885"/>
            <a:ext cx="7886700" cy="463789"/>
          </a:xfrm>
        </p:spPr>
        <p:txBody>
          <a:bodyPr>
            <a:normAutofit fontScale="70000" lnSpcReduction="20000"/>
          </a:bodyPr>
          <a:lstStyle/>
          <a:p>
            <a:pPr marL="0" indent="0" algn="ctr">
              <a:buNone/>
            </a:pPr>
            <a:r>
              <a:rPr lang="en-US" sz="2400" dirty="0"/>
              <a:t>0xe5af36d9162a89e2da2b99b5afb5fefe85569bc2b0945ed97a36b7333c2b4bfe</a:t>
            </a:r>
          </a:p>
          <a:p>
            <a:pPr algn="ctr"/>
            <a:endParaRPr lang="en-US" dirty="0"/>
          </a:p>
        </p:txBody>
      </p:sp>
      <p:sp>
        <p:nvSpPr>
          <p:cNvPr id="4" name="Slide Number Placeholder 3"/>
          <p:cNvSpPr>
            <a:spLocks noGrp="1"/>
          </p:cNvSpPr>
          <p:nvPr>
            <p:ph type="sldNum" sz="quarter" idx="12"/>
          </p:nvPr>
        </p:nvSpPr>
        <p:spPr/>
        <p:txBody>
          <a:bodyPr/>
          <a:lstStyle/>
          <a:p>
            <a:fld id="{19FE8B7B-3258-47CD-BBC0-34D05FC906E5}" type="slidenum">
              <a:rPr lang="en-US" smtClean="0"/>
              <a:t>36</a:t>
            </a:fld>
            <a:endParaRPr lang="en-US" dirty="0"/>
          </a:p>
        </p:txBody>
      </p:sp>
      <p:pic>
        <p:nvPicPr>
          <p:cNvPr id="6" name="Picture 5"/>
          <p:cNvPicPr>
            <a:picLocks noChangeAspect="1"/>
          </p:cNvPicPr>
          <p:nvPr/>
        </p:nvPicPr>
        <p:blipFill>
          <a:blip r:embed="rId3"/>
          <a:stretch>
            <a:fillRect/>
          </a:stretch>
        </p:blipFill>
        <p:spPr>
          <a:xfrm>
            <a:off x="1944965" y="1645825"/>
            <a:ext cx="8515350" cy="4852834"/>
          </a:xfrm>
          <a:prstGeom prst="rect">
            <a:avLst/>
          </a:prstGeom>
        </p:spPr>
      </p:pic>
      <p:sp>
        <p:nvSpPr>
          <p:cNvPr id="7" name="Rectangle 6"/>
          <p:cNvSpPr/>
          <p:nvPr/>
        </p:nvSpPr>
        <p:spPr>
          <a:xfrm>
            <a:off x="434179" y="6250715"/>
            <a:ext cx="3021571" cy="338554"/>
          </a:xfrm>
          <a:prstGeom prst="rect">
            <a:avLst/>
          </a:prstGeom>
        </p:spPr>
        <p:txBody>
          <a:bodyPr wrap="square">
            <a:spAutoFit/>
          </a:bodyPr>
          <a:lstStyle/>
          <a:p>
            <a:pPr algn="ctr"/>
            <a:r>
              <a:rPr lang="en-US" sz="800" dirty="0">
                <a:hlinkClick r:id="rId4"/>
              </a:rPr>
              <a:t>https://etherscan.io/tx/0xe5af36d9162a89e2da2b99b5afb5fefe85569bc2b0945ed97a36b7333c2b4bfe</a:t>
            </a:r>
            <a:r>
              <a:rPr lang="en-US" sz="800" dirty="0"/>
              <a:t> </a:t>
            </a:r>
          </a:p>
        </p:txBody>
      </p:sp>
      <p:sp>
        <p:nvSpPr>
          <p:cNvPr id="12" name="TextBox 11"/>
          <p:cNvSpPr txBox="1"/>
          <p:nvPr/>
        </p:nvSpPr>
        <p:spPr>
          <a:xfrm>
            <a:off x="6432885" y="2224709"/>
            <a:ext cx="4027430" cy="584775"/>
          </a:xfrm>
          <a:prstGeom prst="rect">
            <a:avLst/>
          </a:prstGeom>
          <a:noFill/>
        </p:spPr>
        <p:txBody>
          <a:bodyPr wrap="square" rtlCol="0">
            <a:spAutoFit/>
          </a:bodyPr>
          <a:lstStyle/>
          <a:p>
            <a:pPr algn="ctr"/>
            <a:r>
              <a:rPr lang="en-US" sz="1600" dirty="0">
                <a:solidFill>
                  <a:srgbClr val="FF0000"/>
                </a:solidFill>
              </a:rPr>
              <a:t>Is there any limit on the size of contract code?</a:t>
            </a:r>
          </a:p>
          <a:p>
            <a:pPr algn="ctr"/>
            <a:r>
              <a:rPr lang="en-US" sz="1600" dirty="0">
                <a:solidFill>
                  <a:srgbClr val="FF0000"/>
                </a:solidFill>
              </a:rPr>
              <a:t>No</a:t>
            </a:r>
          </a:p>
        </p:txBody>
      </p:sp>
      <p:grpSp>
        <p:nvGrpSpPr>
          <p:cNvPr id="16" name="Group 15"/>
          <p:cNvGrpSpPr/>
          <p:nvPr/>
        </p:nvGrpSpPr>
        <p:grpSpPr>
          <a:xfrm>
            <a:off x="4023619" y="3067330"/>
            <a:ext cx="6383209" cy="584775"/>
            <a:chOff x="2499618" y="3067329"/>
            <a:chExt cx="6383209" cy="584775"/>
          </a:xfrm>
        </p:grpSpPr>
        <p:cxnSp>
          <p:nvCxnSpPr>
            <p:cNvPr id="9" name="Straight Arrow Connector 8"/>
            <p:cNvCxnSpPr/>
            <p:nvPr/>
          </p:nvCxnSpPr>
          <p:spPr>
            <a:xfrm flipH="1">
              <a:off x="6544787" y="3287699"/>
              <a:ext cx="469674" cy="988"/>
            </a:xfrm>
            <a:prstGeom prst="straightConnector1">
              <a:avLst/>
            </a:prstGeom>
            <a:ln w="127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5" name="Group 4"/>
            <p:cNvGrpSpPr/>
            <p:nvPr/>
          </p:nvGrpSpPr>
          <p:grpSpPr>
            <a:xfrm>
              <a:off x="2499618" y="3067329"/>
              <a:ext cx="6383209" cy="584775"/>
              <a:chOff x="2499618" y="3067329"/>
              <a:chExt cx="6383209" cy="584775"/>
            </a:xfrm>
          </p:grpSpPr>
          <p:sp>
            <p:nvSpPr>
              <p:cNvPr id="11" name="Rectangle 10"/>
              <p:cNvSpPr/>
              <p:nvPr/>
            </p:nvSpPr>
            <p:spPr>
              <a:xfrm>
                <a:off x="2499618" y="3170838"/>
                <a:ext cx="4019169" cy="233723"/>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6833112" y="3067329"/>
                <a:ext cx="2049715" cy="584775"/>
              </a:xfrm>
              <a:prstGeom prst="rect">
                <a:avLst/>
              </a:prstGeom>
              <a:noFill/>
            </p:spPr>
            <p:txBody>
              <a:bodyPr wrap="square" rtlCol="0">
                <a:spAutoFit/>
              </a:bodyPr>
              <a:lstStyle/>
              <a:p>
                <a:pPr algn="ctr"/>
                <a:r>
                  <a:rPr lang="en-US" sz="1600" dirty="0"/>
                  <a:t>The </a:t>
                </a:r>
                <a:r>
                  <a:rPr lang="en-US" sz="1600" dirty="0" err="1"/>
                  <a:t>txn</a:t>
                </a:r>
                <a:r>
                  <a:rPr lang="en-US" sz="1600" dirty="0"/>
                  <a:t> from EOA created a new CA</a:t>
                </a:r>
              </a:p>
            </p:txBody>
          </p:sp>
        </p:grpSp>
      </p:grpSp>
      <p:grpSp>
        <p:nvGrpSpPr>
          <p:cNvPr id="17" name="Group 16"/>
          <p:cNvGrpSpPr/>
          <p:nvPr/>
        </p:nvGrpSpPr>
        <p:grpSpPr>
          <a:xfrm>
            <a:off x="3933324" y="4013459"/>
            <a:ext cx="6526991" cy="2445806"/>
            <a:chOff x="2409323" y="4013459"/>
            <a:chExt cx="6526991" cy="2445806"/>
          </a:xfrm>
        </p:grpSpPr>
        <p:sp>
          <p:nvSpPr>
            <p:cNvPr id="8" name="Rectangle 7"/>
            <p:cNvSpPr/>
            <p:nvPr/>
          </p:nvSpPr>
          <p:spPr>
            <a:xfrm>
              <a:off x="2409323" y="5525085"/>
              <a:ext cx="6526991" cy="93418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4678640" y="4013459"/>
              <a:ext cx="3836710" cy="954107"/>
            </a:xfrm>
            <a:prstGeom prst="rect">
              <a:avLst/>
            </a:prstGeom>
            <a:noFill/>
          </p:spPr>
          <p:txBody>
            <a:bodyPr wrap="square" rtlCol="0">
              <a:spAutoFit/>
            </a:bodyPr>
            <a:lstStyle/>
            <a:p>
              <a:pPr algn="ctr"/>
              <a:r>
                <a:rPr lang="en-US" sz="1400" dirty="0"/>
                <a:t>Contract code (</a:t>
              </a:r>
              <a:r>
                <a:rPr lang="en-US" sz="1400" dirty="0" err="1"/>
                <a:t>hexcode</a:t>
              </a:r>
              <a:r>
                <a:rPr lang="en-US" sz="1400" dirty="0"/>
                <a:t>) – user writes contract code in high-level language like Solidity, which is converted to bytecode for deployment on blockchain</a:t>
              </a:r>
            </a:p>
          </p:txBody>
        </p:sp>
        <p:cxnSp>
          <p:nvCxnSpPr>
            <p:cNvPr id="14" name="Straight Arrow Connector 13"/>
            <p:cNvCxnSpPr/>
            <p:nvPr/>
          </p:nvCxnSpPr>
          <p:spPr>
            <a:xfrm flipH="1">
              <a:off x="6403532" y="4992894"/>
              <a:ext cx="126507" cy="511836"/>
            </a:xfrm>
            <a:prstGeom prst="straightConnector1">
              <a:avLst/>
            </a:prstGeom>
            <a:ln w="127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19" name="Rectangle 18"/>
          <p:cNvSpPr/>
          <p:nvPr/>
        </p:nvSpPr>
        <p:spPr>
          <a:xfrm>
            <a:off x="3933324" y="2882756"/>
            <a:ext cx="2731027" cy="248688"/>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p:cNvCxnSpPr/>
          <p:nvPr/>
        </p:nvCxnSpPr>
        <p:spPr>
          <a:xfrm flipH="1">
            <a:off x="6664350" y="3001169"/>
            <a:ext cx="609600" cy="0"/>
          </a:xfrm>
          <a:prstGeom prst="straightConnector1">
            <a:avLst/>
          </a:prstGeom>
          <a:ln w="127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7326800" y="2850673"/>
            <a:ext cx="1216192" cy="307777"/>
          </a:xfrm>
          <a:prstGeom prst="rect">
            <a:avLst/>
          </a:prstGeom>
          <a:noFill/>
        </p:spPr>
        <p:txBody>
          <a:bodyPr wrap="square" rtlCol="0">
            <a:spAutoFit/>
          </a:bodyPr>
          <a:lstStyle/>
          <a:p>
            <a:r>
              <a:rPr lang="en-US" sz="1400" dirty="0"/>
              <a:t>EOA address</a:t>
            </a:r>
          </a:p>
        </p:txBody>
      </p:sp>
    </p:spTree>
    <p:extLst>
      <p:ext uri="{BB962C8B-B14F-4D97-AF65-F5344CB8AC3E}">
        <p14:creationId xmlns:p14="http://schemas.microsoft.com/office/powerpoint/2010/main" val="338927451"/>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Size of Contract Code</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37</a:t>
            </a:fld>
            <a:endParaRPr lang="en-US" dirty="0">
              <a:latin typeface="Candara" panose="020E0502030303020204" pitchFamily="34" charset="0"/>
            </a:endParaRPr>
          </a:p>
        </p:txBody>
      </p:sp>
      <p:sp>
        <p:nvSpPr>
          <p:cNvPr id="5" name="Rectangle 4"/>
          <p:cNvSpPr/>
          <p:nvPr/>
        </p:nvSpPr>
        <p:spPr>
          <a:xfrm>
            <a:off x="2510399" y="1043940"/>
            <a:ext cx="6561412" cy="461665"/>
          </a:xfrm>
          <a:prstGeom prst="rect">
            <a:avLst/>
          </a:prstGeom>
        </p:spPr>
        <p:txBody>
          <a:bodyPr wrap="none">
            <a:spAutoFit/>
          </a:bodyPr>
          <a:lstStyle/>
          <a:p>
            <a:r>
              <a:rPr lang="en-US" sz="2400" dirty="0">
                <a:solidFill>
                  <a:srgbClr val="002060"/>
                </a:solidFill>
                <a:latin typeface="Candara" panose="020E0502030303020204" pitchFamily="34" charset="0"/>
              </a:rPr>
              <a:t>There is no limit on the size of contract code field</a:t>
            </a:r>
          </a:p>
        </p:txBody>
      </p:sp>
      <p:sp>
        <p:nvSpPr>
          <p:cNvPr id="6" name="Rectangle 5"/>
          <p:cNvSpPr/>
          <p:nvPr/>
        </p:nvSpPr>
        <p:spPr>
          <a:xfrm>
            <a:off x="601579" y="1788178"/>
            <a:ext cx="8470232" cy="1015663"/>
          </a:xfrm>
          <a:prstGeom prst="rect">
            <a:avLst/>
          </a:prstGeom>
          <a:ln>
            <a:noFill/>
          </a:ln>
        </p:spPr>
        <p:txBody>
          <a:bodyPr wrap="square">
            <a:spAutoFit/>
          </a:bodyPr>
          <a:lstStyle/>
          <a:p>
            <a:r>
              <a:rPr lang="en-US" sz="2000" dirty="0">
                <a:latin typeface="Candara" panose="020E0502030303020204" pitchFamily="34" charset="0"/>
              </a:rPr>
              <a:t>Suppose someone writes a very long code (several hundred MB), includes all the required gas and a huge tip in the </a:t>
            </a:r>
            <a:r>
              <a:rPr lang="en-US" sz="2000" dirty="0" err="1">
                <a:latin typeface="Candara" panose="020E0502030303020204" pitchFamily="34" charset="0"/>
              </a:rPr>
              <a:t>txn</a:t>
            </a:r>
            <a:r>
              <a:rPr lang="en-US" sz="2000" dirty="0">
                <a:latin typeface="Candara" panose="020E0502030303020204" pitchFamily="34" charset="0"/>
              </a:rPr>
              <a:t> and then try to deploy this smart contract on Ethereum. Will this attempt succeed?</a:t>
            </a:r>
          </a:p>
        </p:txBody>
      </p:sp>
      <p:sp>
        <p:nvSpPr>
          <p:cNvPr id="7" name="TextBox 6"/>
          <p:cNvSpPr txBox="1"/>
          <p:nvPr/>
        </p:nvSpPr>
        <p:spPr>
          <a:xfrm>
            <a:off x="9317456" y="2121158"/>
            <a:ext cx="901900" cy="400110"/>
          </a:xfrm>
          <a:prstGeom prst="rect">
            <a:avLst/>
          </a:prstGeom>
          <a:solidFill>
            <a:schemeClr val="bg2"/>
          </a:solidFill>
          <a:ln>
            <a:solidFill>
              <a:schemeClr val="tx1"/>
            </a:solidFill>
          </a:ln>
        </p:spPr>
        <p:txBody>
          <a:bodyPr wrap="square" rtlCol="0">
            <a:spAutoFit/>
          </a:bodyPr>
          <a:lstStyle/>
          <a:p>
            <a:pPr algn="ctr"/>
            <a:r>
              <a:rPr lang="en-US" sz="2000" dirty="0">
                <a:solidFill>
                  <a:srgbClr val="FF0000"/>
                </a:solidFill>
                <a:latin typeface="Candara" panose="020E0502030303020204" pitchFamily="34" charset="0"/>
              </a:rPr>
              <a:t>No</a:t>
            </a:r>
          </a:p>
        </p:txBody>
      </p:sp>
      <p:sp>
        <p:nvSpPr>
          <p:cNvPr id="8" name="Rectangle 7"/>
          <p:cNvSpPr/>
          <p:nvPr/>
        </p:nvSpPr>
        <p:spPr>
          <a:xfrm>
            <a:off x="487680" y="3086414"/>
            <a:ext cx="11186159" cy="830997"/>
          </a:xfrm>
          <a:prstGeom prst="rect">
            <a:avLst/>
          </a:prstGeom>
          <a:ln>
            <a:noFill/>
          </a:ln>
        </p:spPr>
        <p:txBody>
          <a:bodyPr wrap="square">
            <a:spAutoFit/>
          </a:bodyPr>
          <a:lstStyle/>
          <a:p>
            <a:pPr lvl="1" algn="ctr"/>
            <a:r>
              <a:rPr lang="en-US" sz="2400" dirty="0">
                <a:solidFill>
                  <a:schemeClr val="accent2"/>
                </a:solidFill>
                <a:latin typeface="Candara" panose="020E0502030303020204" pitchFamily="34" charset="0"/>
              </a:rPr>
              <a:t>Ethereum avoids this problem by setting an </a:t>
            </a:r>
            <a:r>
              <a:rPr lang="en-US" sz="2400" i="1" dirty="0">
                <a:solidFill>
                  <a:schemeClr val="accent2"/>
                </a:solidFill>
                <a:latin typeface="Candara" panose="020E0502030303020204" pitchFamily="34" charset="0"/>
              </a:rPr>
              <a:t>upper limit on block size in terms of gas units</a:t>
            </a:r>
          </a:p>
        </p:txBody>
      </p:sp>
      <p:sp>
        <p:nvSpPr>
          <p:cNvPr id="9" name="Rectangle 8"/>
          <p:cNvSpPr/>
          <p:nvPr/>
        </p:nvSpPr>
        <p:spPr>
          <a:xfrm>
            <a:off x="2409008" y="4054802"/>
            <a:ext cx="3315033" cy="1247185"/>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Max Block Limit (gas):</a:t>
            </a:r>
          </a:p>
          <a:p>
            <a:pPr algn="ctr"/>
            <a:r>
              <a:rPr lang="en-US" dirty="0">
                <a:solidFill>
                  <a:schemeClr val="tx1"/>
                </a:solidFill>
                <a:latin typeface="Candara" panose="020E0502030303020204" pitchFamily="34" charset="0"/>
              </a:rPr>
              <a:t>30 million gas units (can slightly exceed this limit)</a:t>
            </a:r>
          </a:p>
        </p:txBody>
      </p:sp>
      <p:sp>
        <p:nvSpPr>
          <p:cNvPr id="12" name="Rectangle 11"/>
          <p:cNvSpPr/>
          <p:nvPr/>
        </p:nvSpPr>
        <p:spPr>
          <a:xfrm>
            <a:off x="6452462" y="4054701"/>
            <a:ext cx="2864995" cy="1247287"/>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Target Block Limit (gas):</a:t>
            </a:r>
          </a:p>
          <a:p>
            <a:pPr algn="ctr"/>
            <a:r>
              <a:rPr lang="en-US" dirty="0">
                <a:solidFill>
                  <a:schemeClr val="tx1"/>
                </a:solidFill>
                <a:latin typeface="Candara" panose="020E0502030303020204" pitchFamily="34" charset="0"/>
              </a:rPr>
              <a:t>15 million gas units</a:t>
            </a:r>
          </a:p>
        </p:txBody>
      </p:sp>
      <p:sp>
        <p:nvSpPr>
          <p:cNvPr id="13" name="TextBox 12"/>
          <p:cNvSpPr txBox="1"/>
          <p:nvPr/>
        </p:nvSpPr>
        <p:spPr>
          <a:xfrm>
            <a:off x="487680" y="5700096"/>
            <a:ext cx="11186158" cy="830997"/>
          </a:xfrm>
          <a:prstGeom prst="rect">
            <a:avLst/>
          </a:prstGeom>
          <a:noFill/>
          <a:ln>
            <a:noFill/>
          </a:ln>
        </p:spPr>
        <p:txBody>
          <a:bodyPr wrap="square" rtlCol="0">
            <a:spAutoFit/>
          </a:bodyPr>
          <a:lstStyle/>
          <a:p>
            <a:pPr algn="ctr"/>
            <a:r>
              <a:rPr lang="en-US" sz="2400" dirty="0">
                <a:solidFill>
                  <a:schemeClr val="accent2"/>
                </a:solidFill>
                <a:latin typeface="Candara" panose="020E0502030303020204" pitchFamily="34" charset="0"/>
              </a:rPr>
              <a:t>A single smart contract that consumes more than 30M gas units cannot be deployed on Ethereum blockchain</a:t>
            </a:r>
          </a:p>
        </p:txBody>
      </p:sp>
    </p:spTree>
    <p:extLst>
      <p:ext uri="{BB962C8B-B14F-4D97-AF65-F5344CB8AC3E}">
        <p14:creationId xmlns:p14="http://schemas.microsoft.com/office/powerpoint/2010/main" val="2050310623"/>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animBg="1"/>
      <p:bldP spid="12" grpId="0" animBg="1"/>
      <p:bldP spid="1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Maintaining a Target Gas Limit</a:t>
            </a:r>
          </a:p>
        </p:txBody>
      </p:sp>
      <p:sp>
        <p:nvSpPr>
          <p:cNvPr id="3" name="Content Placeholder 2"/>
          <p:cNvSpPr>
            <a:spLocks noGrp="1"/>
          </p:cNvSpPr>
          <p:nvPr>
            <p:ph idx="1"/>
          </p:nvPr>
        </p:nvSpPr>
        <p:spPr/>
        <p:txBody>
          <a:bodyPr>
            <a:normAutofit/>
          </a:bodyPr>
          <a:lstStyle/>
          <a:p>
            <a:r>
              <a:rPr lang="en-US" dirty="0">
                <a:solidFill>
                  <a:srgbClr val="002060"/>
                </a:solidFill>
              </a:rPr>
              <a:t>The network adjusts the block base fee to maintain a target block gas limit of 15 million units</a:t>
            </a:r>
          </a:p>
          <a:p>
            <a:r>
              <a:rPr lang="en-US" dirty="0"/>
              <a:t>If the last block used </a:t>
            </a:r>
            <a:r>
              <a:rPr lang="en-US" b="1" dirty="0"/>
              <a:t>more</a:t>
            </a:r>
            <a:r>
              <a:rPr lang="en-US" dirty="0"/>
              <a:t> than 50% gas, base fee for the next block will </a:t>
            </a:r>
            <a:r>
              <a:rPr lang="en-US" b="1" dirty="0"/>
              <a:t>increase </a:t>
            </a:r>
          </a:p>
          <a:p>
            <a:r>
              <a:rPr lang="en-US" dirty="0"/>
              <a:t>If the last block used </a:t>
            </a:r>
            <a:r>
              <a:rPr lang="en-US" b="1" dirty="0"/>
              <a:t>less</a:t>
            </a:r>
            <a:r>
              <a:rPr lang="en-US" dirty="0"/>
              <a:t> than 50% gas, base fee for the next block will </a:t>
            </a:r>
            <a:r>
              <a:rPr lang="en-US" b="1" dirty="0"/>
              <a:t>decrease </a:t>
            </a:r>
          </a:p>
          <a:p>
            <a:r>
              <a:rPr lang="en-US" dirty="0"/>
              <a:t>The change in the base fee (increase or decrease) from one block to the next is not more than 12.5%</a:t>
            </a:r>
          </a:p>
          <a:p>
            <a:r>
              <a:rPr lang="en-US" dirty="0">
                <a:solidFill>
                  <a:schemeClr val="accent2"/>
                </a:solidFill>
              </a:rPr>
              <a:t>This base fee is not linked to block generation time (note: Ethereum block is produced every 12 seconds)</a:t>
            </a:r>
          </a:p>
        </p:txBody>
      </p:sp>
      <p:sp>
        <p:nvSpPr>
          <p:cNvPr id="4" name="Slide Number Placeholder 3"/>
          <p:cNvSpPr>
            <a:spLocks noGrp="1"/>
          </p:cNvSpPr>
          <p:nvPr>
            <p:ph type="sldNum" sz="quarter" idx="12"/>
          </p:nvPr>
        </p:nvSpPr>
        <p:spPr/>
        <p:txBody>
          <a:bodyPr/>
          <a:lstStyle/>
          <a:p>
            <a:fld id="{19FE8B7B-3258-47CD-BBC0-34D05FC906E5}" type="slidenum">
              <a:rPr lang="en-US" smtClean="0"/>
              <a:t>38</a:t>
            </a:fld>
            <a:endParaRPr lang="en-US" dirty="0"/>
          </a:p>
        </p:txBody>
      </p:sp>
    </p:spTree>
    <p:extLst>
      <p:ext uri="{BB962C8B-B14F-4D97-AF65-F5344CB8AC3E}">
        <p14:creationId xmlns:p14="http://schemas.microsoft.com/office/powerpoint/2010/main" val="796838049"/>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Percentage Gas Used and Gas Target</a:t>
            </a:r>
          </a:p>
        </p:txBody>
      </p:sp>
      <p:sp>
        <p:nvSpPr>
          <p:cNvPr id="3" name="Content Placeholder 2"/>
          <p:cNvSpPr>
            <a:spLocks noGrp="1"/>
          </p:cNvSpPr>
          <p:nvPr>
            <p:ph idx="1"/>
          </p:nvPr>
        </p:nvSpPr>
        <p:spPr>
          <a:xfrm>
            <a:off x="487679" y="1348969"/>
            <a:ext cx="11186159" cy="4827997"/>
          </a:xfrm>
        </p:spPr>
        <p:txBody>
          <a:bodyPr>
            <a:normAutofit fontScale="92500"/>
          </a:bodyPr>
          <a:lstStyle/>
          <a:p>
            <a:r>
              <a:rPr lang="en-US" dirty="0"/>
              <a:t>Percentage gas used in a block = (Gas used in million / 30 M) x 100</a:t>
            </a:r>
          </a:p>
          <a:p>
            <a:endParaRPr lang="en-US" dirty="0"/>
          </a:p>
          <a:p>
            <a:r>
              <a:rPr lang="en-US" dirty="0"/>
              <a:t>Percentage gas target = ((Gas used in million – 15 M) / 15 M) x 100</a:t>
            </a:r>
          </a:p>
          <a:p>
            <a:endParaRPr lang="en-US" dirty="0"/>
          </a:p>
          <a:p>
            <a:r>
              <a:rPr lang="en-US" dirty="0"/>
              <a:t>Percentage gas used in a block can vary between 0% to 100%</a:t>
            </a:r>
          </a:p>
          <a:p>
            <a:endParaRPr lang="en-US" dirty="0"/>
          </a:p>
          <a:p>
            <a:r>
              <a:rPr lang="en-US" dirty="0"/>
              <a:t>Percentage gas target can vary between -100% to +100% </a:t>
            </a:r>
          </a:p>
          <a:p>
            <a:pPr lvl="1"/>
            <a:r>
              <a:rPr lang="en-US" dirty="0"/>
              <a:t>Negative % means gas consumed is less than 15 M</a:t>
            </a:r>
          </a:p>
          <a:p>
            <a:pPr lvl="1"/>
            <a:r>
              <a:rPr lang="en-US" dirty="0"/>
              <a:t>Positive % means gas consumed in greater than 15 M</a:t>
            </a:r>
          </a:p>
        </p:txBody>
      </p:sp>
      <p:sp>
        <p:nvSpPr>
          <p:cNvPr id="4" name="Slide Number Placeholder 3"/>
          <p:cNvSpPr>
            <a:spLocks noGrp="1"/>
          </p:cNvSpPr>
          <p:nvPr>
            <p:ph type="sldNum" sz="quarter" idx="12"/>
          </p:nvPr>
        </p:nvSpPr>
        <p:spPr/>
        <p:txBody>
          <a:bodyPr/>
          <a:lstStyle/>
          <a:p>
            <a:fld id="{19FE8B7B-3258-47CD-BBC0-34D05FC906E5}" type="slidenum">
              <a:rPr lang="en-US" smtClean="0"/>
              <a:t>39</a:t>
            </a:fld>
            <a:endParaRPr lang="en-US" dirty="0"/>
          </a:p>
        </p:txBody>
      </p:sp>
    </p:spTree>
    <p:extLst>
      <p:ext uri="{BB962C8B-B14F-4D97-AF65-F5344CB8AC3E}">
        <p14:creationId xmlns:p14="http://schemas.microsoft.com/office/powerpoint/2010/main" val="805076125"/>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Block Base Fee calculation</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40</a:t>
            </a:fld>
            <a:endParaRPr lang="en-US" dirty="0">
              <a:latin typeface="Candara" panose="020E0502030303020204" pitchFamily="34" charset="0"/>
            </a:endParaRPr>
          </a:p>
        </p:txBody>
      </p:sp>
      <p:sp>
        <p:nvSpPr>
          <p:cNvPr id="5" name="TextBox 4"/>
          <p:cNvSpPr txBox="1"/>
          <p:nvPr/>
        </p:nvSpPr>
        <p:spPr>
          <a:xfrm>
            <a:off x="487679" y="2747049"/>
            <a:ext cx="8271310" cy="1015663"/>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Candara" panose="020E0502030303020204" pitchFamily="34" charset="0"/>
              </a:rPr>
              <a:t>Base fee for block 143968</a:t>
            </a:r>
            <a:r>
              <a:rPr lang="en-US" sz="2000" u="sng" dirty="0">
                <a:latin typeface="Candara" panose="020E0502030303020204" pitchFamily="34" charset="0"/>
              </a:rPr>
              <a:t>88</a:t>
            </a:r>
            <a:r>
              <a:rPr lang="en-US" sz="2000" dirty="0">
                <a:latin typeface="Candara" panose="020E0502030303020204" pitchFamily="34" charset="0"/>
              </a:rPr>
              <a:t> = 17</a:t>
            </a:r>
            <a:r>
              <a:rPr lang="en-US" sz="2000" b="1" dirty="0">
                <a:latin typeface="Candara" panose="020E0502030303020204" pitchFamily="34" charset="0"/>
              </a:rPr>
              <a:t>.</a:t>
            </a:r>
            <a:r>
              <a:rPr lang="en-US" sz="2000" dirty="0">
                <a:latin typeface="Candara" panose="020E0502030303020204" pitchFamily="34" charset="0"/>
              </a:rPr>
              <a:t>484043191 </a:t>
            </a:r>
            <a:r>
              <a:rPr lang="en-US" sz="2000" dirty="0" err="1">
                <a:latin typeface="Candara" panose="020E0502030303020204" pitchFamily="34" charset="0"/>
              </a:rPr>
              <a:t>Gwei</a:t>
            </a:r>
            <a:endParaRPr lang="en-US" sz="2000" dirty="0">
              <a:latin typeface="Candara" panose="020E0502030303020204" pitchFamily="34" charset="0"/>
            </a:endParaRPr>
          </a:p>
          <a:p>
            <a:pPr marL="342900" indent="-342900">
              <a:buFont typeface="Arial" panose="020B0604020202020204" pitchFamily="34" charset="0"/>
              <a:buChar char="•"/>
            </a:pPr>
            <a:r>
              <a:rPr lang="en-US" sz="2000" dirty="0">
                <a:latin typeface="Candara" panose="020E0502030303020204" pitchFamily="34" charset="0"/>
              </a:rPr>
              <a:t>Gas used in block 143968</a:t>
            </a:r>
            <a:r>
              <a:rPr lang="en-US" sz="2000" u="sng" dirty="0">
                <a:latin typeface="Candara" panose="020E0502030303020204" pitchFamily="34" charset="0"/>
              </a:rPr>
              <a:t>88</a:t>
            </a:r>
            <a:r>
              <a:rPr lang="en-US" sz="2000" dirty="0">
                <a:latin typeface="Candara" panose="020E0502030303020204" pitchFamily="34" charset="0"/>
              </a:rPr>
              <a:t> is 11.06%</a:t>
            </a:r>
          </a:p>
          <a:p>
            <a:pPr marL="342900" indent="-342900">
              <a:buFont typeface="Arial" panose="020B0604020202020204" pitchFamily="34" charset="0"/>
              <a:buChar char="•"/>
            </a:pPr>
            <a:r>
              <a:rPr lang="en-US" sz="2000" dirty="0">
                <a:latin typeface="Candara" panose="020E0502030303020204" pitchFamily="34" charset="0"/>
              </a:rPr>
              <a:t>% change in base fee for block 143968</a:t>
            </a:r>
            <a:r>
              <a:rPr lang="en-US" sz="2000" u="sng" dirty="0">
                <a:latin typeface="Candara" panose="020E0502030303020204" pitchFamily="34" charset="0"/>
              </a:rPr>
              <a:t>89</a:t>
            </a:r>
            <a:r>
              <a:rPr lang="en-US" sz="2000" dirty="0">
                <a:latin typeface="Candara" panose="020E0502030303020204" pitchFamily="34" charset="0"/>
              </a:rPr>
              <a:t> = (11.06 - 50)/4 = -9.375%</a:t>
            </a:r>
          </a:p>
        </p:txBody>
      </p:sp>
      <p:sp>
        <p:nvSpPr>
          <p:cNvPr id="8" name="TextBox 7"/>
          <p:cNvSpPr txBox="1"/>
          <p:nvPr/>
        </p:nvSpPr>
        <p:spPr>
          <a:xfrm>
            <a:off x="487680" y="1062142"/>
            <a:ext cx="11186159" cy="461665"/>
          </a:xfrm>
          <a:prstGeom prst="rect">
            <a:avLst/>
          </a:prstGeom>
          <a:noFill/>
          <a:ln>
            <a:noFill/>
          </a:ln>
        </p:spPr>
        <p:txBody>
          <a:bodyPr wrap="square" rtlCol="0">
            <a:spAutoFit/>
          </a:bodyPr>
          <a:lstStyle/>
          <a:p>
            <a:pPr algn="ctr"/>
            <a:r>
              <a:rPr lang="en-US" sz="2400" dirty="0">
                <a:solidFill>
                  <a:srgbClr val="002060"/>
                </a:solidFill>
                <a:latin typeface="Candara" panose="020E0502030303020204" pitchFamily="34" charset="0"/>
              </a:rPr>
              <a:t>Change in base fee for the next block = (% gas used in current block– 50) /4</a:t>
            </a:r>
          </a:p>
        </p:txBody>
      </p:sp>
      <p:sp>
        <p:nvSpPr>
          <p:cNvPr id="9" name="TextBox 8"/>
          <p:cNvSpPr txBox="1"/>
          <p:nvPr/>
        </p:nvSpPr>
        <p:spPr>
          <a:xfrm>
            <a:off x="487679" y="1664031"/>
            <a:ext cx="11186159" cy="830997"/>
          </a:xfrm>
          <a:prstGeom prst="rect">
            <a:avLst/>
          </a:prstGeom>
          <a:noFill/>
          <a:ln>
            <a:noFill/>
          </a:ln>
        </p:spPr>
        <p:txBody>
          <a:bodyPr wrap="square" rtlCol="0">
            <a:spAutoFit/>
          </a:bodyPr>
          <a:lstStyle/>
          <a:p>
            <a:pPr algn="ctr"/>
            <a:r>
              <a:rPr lang="en-US" sz="2400" dirty="0">
                <a:solidFill>
                  <a:schemeClr val="accent2"/>
                </a:solidFill>
                <a:latin typeface="Candara" panose="020E0502030303020204" pitchFamily="34" charset="0"/>
              </a:rPr>
              <a:t>Base fee for the next block = </a:t>
            </a:r>
          </a:p>
          <a:p>
            <a:pPr algn="ctr"/>
            <a:r>
              <a:rPr lang="en-US" sz="2400" dirty="0">
                <a:solidFill>
                  <a:schemeClr val="accent2"/>
                </a:solidFill>
                <a:latin typeface="Candara" panose="020E0502030303020204" pitchFamily="34" charset="0"/>
              </a:rPr>
              <a:t>Base fee for current block *  [1 + Change in base fee for the next block )]</a:t>
            </a:r>
          </a:p>
        </p:txBody>
      </p:sp>
      <p:pic>
        <p:nvPicPr>
          <p:cNvPr id="10" name="Picture 9"/>
          <p:cNvPicPr>
            <a:picLocks noChangeAspect="1"/>
          </p:cNvPicPr>
          <p:nvPr/>
        </p:nvPicPr>
        <p:blipFill>
          <a:blip r:embed="rId3"/>
          <a:stretch>
            <a:fillRect/>
          </a:stretch>
        </p:blipFill>
        <p:spPr>
          <a:xfrm>
            <a:off x="2993237" y="4652212"/>
            <a:ext cx="6442810" cy="853055"/>
          </a:xfrm>
          <a:prstGeom prst="rect">
            <a:avLst/>
          </a:prstGeom>
        </p:spPr>
      </p:pic>
      <p:pic>
        <p:nvPicPr>
          <p:cNvPr id="11" name="Picture 10"/>
          <p:cNvPicPr>
            <a:picLocks noChangeAspect="1"/>
          </p:cNvPicPr>
          <p:nvPr/>
        </p:nvPicPr>
        <p:blipFill>
          <a:blip r:embed="rId4"/>
          <a:stretch>
            <a:fillRect/>
          </a:stretch>
        </p:blipFill>
        <p:spPr>
          <a:xfrm>
            <a:off x="2993237" y="5683826"/>
            <a:ext cx="6018041" cy="418838"/>
          </a:xfrm>
          <a:prstGeom prst="rect">
            <a:avLst/>
          </a:prstGeom>
        </p:spPr>
      </p:pic>
      <p:sp>
        <p:nvSpPr>
          <p:cNvPr id="12" name="Oval 11"/>
          <p:cNvSpPr/>
          <p:nvPr/>
        </p:nvSpPr>
        <p:spPr>
          <a:xfrm>
            <a:off x="2855496" y="5505267"/>
            <a:ext cx="6930189" cy="815323"/>
          </a:xfrm>
          <a:prstGeom prst="ellipse">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13" name="Rectangle 12"/>
          <p:cNvSpPr/>
          <p:nvPr/>
        </p:nvSpPr>
        <p:spPr>
          <a:xfrm>
            <a:off x="1726821" y="6547751"/>
            <a:ext cx="2257349" cy="253916"/>
          </a:xfrm>
          <a:prstGeom prst="rect">
            <a:avLst/>
          </a:prstGeom>
        </p:spPr>
        <p:txBody>
          <a:bodyPr wrap="none">
            <a:spAutoFit/>
          </a:bodyPr>
          <a:lstStyle/>
          <a:p>
            <a:r>
              <a:rPr lang="en-US" sz="1050" dirty="0">
                <a:latin typeface="Candara" panose="020E0502030303020204" pitchFamily="34" charset="0"/>
                <a:hlinkClick r:id="rId5"/>
              </a:rPr>
              <a:t>https://etherscan.io/block/14396889</a:t>
            </a:r>
            <a:r>
              <a:rPr lang="en-US" sz="1050" dirty="0">
                <a:latin typeface="Candara" panose="020E0502030303020204" pitchFamily="34" charset="0"/>
              </a:rPr>
              <a:t> </a:t>
            </a:r>
          </a:p>
        </p:txBody>
      </p:sp>
      <p:sp>
        <p:nvSpPr>
          <p:cNvPr id="14" name="Content Placeholder 2"/>
          <p:cNvSpPr txBox="1">
            <a:spLocks/>
          </p:cNvSpPr>
          <p:nvPr/>
        </p:nvSpPr>
        <p:spPr>
          <a:xfrm>
            <a:off x="9398137" y="2724462"/>
            <a:ext cx="2662560" cy="1700589"/>
          </a:xfrm>
          <a:prstGeom prst="rect">
            <a:avLst/>
          </a:prstGeom>
          <a:ln>
            <a:solidFill>
              <a:schemeClr val="tx1"/>
            </a:solidFill>
          </a:ln>
        </p:spPr>
        <p:txBody>
          <a:bodyPr vert="horz" lIns="91438" tIns="45719" rIns="91438" bIns="45719" rtlCol="0">
            <a:noAutofit/>
          </a:bodyPr>
          <a:lstStyle>
            <a:lvl1pPr marL="171446" indent="-171446" algn="l" defTabSz="685783" rtl="0" eaLnBrk="1" latinLnBrk="0" hangingPunct="1">
              <a:lnSpc>
                <a:spcPct val="100000"/>
              </a:lnSpc>
              <a:spcBef>
                <a:spcPts val="750"/>
              </a:spcBef>
              <a:buFont typeface="Arial" panose="020B0604020202020204" pitchFamily="34" charset="0"/>
              <a:buChar char="•"/>
              <a:defRPr sz="2200" kern="1200">
                <a:solidFill>
                  <a:schemeClr val="tx1"/>
                </a:solidFill>
                <a:latin typeface="+mn-lt"/>
                <a:ea typeface="+mn-ea"/>
                <a:cs typeface="+mn-cs"/>
              </a:defRPr>
            </a:lvl1pPr>
            <a:lvl2pPr marL="514337" indent="-171446" algn="l" defTabSz="685783" rtl="0" eaLnBrk="1" latinLnBrk="0" hangingPunct="1">
              <a:lnSpc>
                <a:spcPct val="10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28" indent="-171446" algn="l" defTabSz="685783" rtl="0" eaLnBrk="1" latinLnBrk="0" hangingPunct="1">
              <a:lnSpc>
                <a:spcPct val="100000"/>
              </a:lnSpc>
              <a:spcBef>
                <a:spcPts val="375"/>
              </a:spcBef>
              <a:buFont typeface="Arial" panose="020B0604020202020204" pitchFamily="34" charset="0"/>
              <a:buChar char="•"/>
              <a:defRPr sz="1600" kern="1200">
                <a:solidFill>
                  <a:schemeClr val="tx1"/>
                </a:solidFill>
                <a:latin typeface="+mn-lt"/>
                <a:ea typeface="+mn-ea"/>
                <a:cs typeface="+mn-cs"/>
              </a:defRPr>
            </a:lvl3pPr>
            <a:lvl4pPr marL="1200120" indent="-171446" algn="l" defTabSz="685783" rtl="0" eaLnBrk="1" latinLnBrk="0" hangingPunct="1">
              <a:lnSpc>
                <a:spcPct val="100000"/>
              </a:lnSpc>
              <a:spcBef>
                <a:spcPts val="375"/>
              </a:spcBef>
              <a:buFont typeface="Arial" panose="020B0604020202020204" pitchFamily="34" charset="0"/>
              <a:buChar char="•"/>
              <a:defRPr sz="1500" kern="1200">
                <a:solidFill>
                  <a:schemeClr val="tx1"/>
                </a:solidFill>
                <a:latin typeface="+mn-lt"/>
                <a:ea typeface="+mn-ea"/>
                <a:cs typeface="+mn-cs"/>
              </a:defRPr>
            </a:lvl4pPr>
            <a:lvl5pPr marL="1543012" indent="-171446" algn="l" defTabSz="685783" rtl="0" eaLnBrk="1" latinLnBrk="0" hangingPunct="1">
              <a:lnSpc>
                <a:spcPct val="100000"/>
              </a:lnSpc>
              <a:spcBef>
                <a:spcPts val="375"/>
              </a:spcBef>
              <a:buFont typeface="Arial" panose="020B0604020202020204" pitchFamily="34" charset="0"/>
              <a:buChar char="•"/>
              <a:defRPr sz="1500" kern="1200">
                <a:solidFill>
                  <a:schemeClr val="tx1"/>
                </a:solidFill>
                <a:latin typeface="+mn-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9pPr>
          </a:lstStyle>
          <a:p>
            <a:pPr marL="0" indent="0">
              <a:buNone/>
            </a:pPr>
            <a:r>
              <a:rPr lang="en-US" sz="1600" dirty="0">
                <a:latin typeface="Candara" panose="020E0502030303020204" pitchFamily="34" charset="0"/>
              </a:rPr>
              <a:t>Block: </a:t>
            </a:r>
            <a:r>
              <a:rPr lang="en-US" sz="1600" b="1" dirty="0">
                <a:latin typeface="Candara" panose="020E0502030303020204" pitchFamily="34" charset="0"/>
              </a:rPr>
              <a:t>143968</a:t>
            </a:r>
            <a:r>
              <a:rPr lang="en-US" sz="1600" b="1" u="sng" dirty="0">
                <a:latin typeface="Candara" panose="020E0502030303020204" pitchFamily="34" charset="0"/>
              </a:rPr>
              <a:t>88</a:t>
            </a:r>
            <a:endParaRPr lang="en-US" sz="1600" u="sng" dirty="0">
              <a:latin typeface="Candara" panose="020E0502030303020204" pitchFamily="34" charset="0"/>
            </a:endParaRPr>
          </a:p>
          <a:p>
            <a:pPr marL="0" indent="0">
              <a:buNone/>
            </a:pPr>
            <a:r>
              <a:rPr lang="en-US" sz="1600" dirty="0">
                <a:latin typeface="Candara" panose="020E0502030303020204" pitchFamily="34" charset="0"/>
              </a:rPr>
              <a:t>Gas used  = 3.31 M</a:t>
            </a:r>
          </a:p>
          <a:p>
            <a:pPr marL="0" indent="0">
              <a:buNone/>
            </a:pPr>
            <a:r>
              <a:rPr lang="en-US" sz="1600" dirty="0">
                <a:latin typeface="Candara" panose="020E0502030303020204" pitchFamily="34" charset="0"/>
              </a:rPr>
              <a:t>% gas used = 11.06 %</a:t>
            </a:r>
          </a:p>
          <a:p>
            <a:pPr marL="0" indent="0">
              <a:buNone/>
            </a:pPr>
            <a:r>
              <a:rPr lang="en-US" sz="1600" dirty="0">
                <a:latin typeface="Candara" panose="020E0502030303020204" pitchFamily="34" charset="0"/>
              </a:rPr>
              <a:t>% gas target = -78 %</a:t>
            </a:r>
          </a:p>
          <a:p>
            <a:pPr marL="0" indent="0">
              <a:buNone/>
            </a:pPr>
            <a:r>
              <a:rPr lang="en-US" sz="1600" dirty="0">
                <a:latin typeface="Candara" panose="020E0502030303020204" pitchFamily="34" charset="0"/>
              </a:rPr>
              <a:t>Base Fee = 17</a:t>
            </a:r>
            <a:r>
              <a:rPr lang="en-US" sz="1600" b="1" dirty="0">
                <a:latin typeface="Candara" panose="020E0502030303020204" pitchFamily="34" charset="0"/>
              </a:rPr>
              <a:t>.</a:t>
            </a:r>
            <a:r>
              <a:rPr lang="en-US" sz="1600" dirty="0">
                <a:latin typeface="Candara" panose="020E0502030303020204" pitchFamily="34" charset="0"/>
              </a:rPr>
              <a:t>484 </a:t>
            </a:r>
            <a:r>
              <a:rPr lang="en-US" sz="1600" dirty="0" err="1">
                <a:latin typeface="Candara" panose="020E0502030303020204" pitchFamily="34" charset="0"/>
              </a:rPr>
              <a:t>Gwei</a:t>
            </a:r>
            <a:endParaRPr lang="en-US" sz="1600" dirty="0">
              <a:latin typeface="Candara" panose="020E0502030303020204" pitchFamily="34" charset="0"/>
            </a:endParaRPr>
          </a:p>
        </p:txBody>
      </p:sp>
      <p:sp>
        <p:nvSpPr>
          <p:cNvPr id="6" name="TextBox 5">
            <a:extLst>
              <a:ext uri="{FF2B5EF4-FFF2-40B4-BE49-F238E27FC236}">
                <a16:creationId xmlns:a16="http://schemas.microsoft.com/office/drawing/2014/main" id="{58BA618C-D18B-8C33-9C0A-28651466DF31}"/>
              </a:ext>
            </a:extLst>
          </p:cNvPr>
          <p:cNvSpPr txBox="1"/>
          <p:nvPr/>
        </p:nvSpPr>
        <p:spPr>
          <a:xfrm>
            <a:off x="518161" y="3691567"/>
            <a:ext cx="8879976" cy="400110"/>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Candara" panose="020E0502030303020204" pitchFamily="34" charset="0"/>
              </a:rPr>
              <a:t>Base fee for block 14396889 = 17.484043191 x [1 + (-9.375 / 100)] = 15.782 </a:t>
            </a:r>
            <a:r>
              <a:rPr lang="en-US" sz="2000" dirty="0" err="1">
                <a:latin typeface="Candara" panose="020E0502030303020204" pitchFamily="34" charset="0"/>
              </a:rPr>
              <a:t>Gwei</a:t>
            </a:r>
            <a:endParaRPr lang="en-US" sz="2000" dirty="0">
              <a:latin typeface="Candara" panose="020E0502030303020204" pitchFamily="34" charset="0"/>
            </a:endParaRPr>
          </a:p>
        </p:txBody>
      </p:sp>
    </p:spTree>
    <p:extLst>
      <p:ext uri="{BB962C8B-B14F-4D97-AF65-F5344CB8AC3E}">
        <p14:creationId xmlns:p14="http://schemas.microsoft.com/office/powerpoint/2010/main" val="1567176112"/>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 Storing Transactions in Blocks Sufficient?</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41</a:t>
            </a:fld>
            <a:endParaRPr lang="en-US" dirty="0">
              <a:latin typeface="Candara" panose="020E0502030303020204" pitchFamily="34" charset="0"/>
            </a:endParaRPr>
          </a:p>
        </p:txBody>
      </p:sp>
      <p:sp>
        <p:nvSpPr>
          <p:cNvPr id="5" name="TextBox 4"/>
          <p:cNvSpPr txBox="1"/>
          <p:nvPr/>
        </p:nvSpPr>
        <p:spPr>
          <a:xfrm>
            <a:off x="529403" y="5540179"/>
            <a:ext cx="7566318" cy="707886"/>
          </a:xfrm>
          <a:prstGeom prst="rect">
            <a:avLst/>
          </a:prstGeom>
          <a:noFill/>
          <a:ln>
            <a:noFill/>
          </a:ln>
        </p:spPr>
        <p:txBody>
          <a:bodyPr wrap="square" rtlCol="0">
            <a:spAutoFit/>
          </a:bodyPr>
          <a:lstStyle/>
          <a:p>
            <a:pPr algn="ctr"/>
            <a:r>
              <a:rPr lang="en-US" sz="2000" dirty="0">
                <a:latin typeface="Candara" panose="020E0502030303020204" pitchFamily="34" charset="0"/>
              </a:rPr>
              <a:t>Ethereum blocks contain transactions but are transactions sufficient to reproduce and verify everything that happened on blockchain?</a:t>
            </a:r>
          </a:p>
        </p:txBody>
      </p:sp>
      <p:sp>
        <p:nvSpPr>
          <p:cNvPr id="6" name="Content Placeholder 2"/>
          <p:cNvSpPr>
            <a:spLocks noGrp="1"/>
          </p:cNvSpPr>
          <p:nvPr>
            <p:ph idx="1"/>
          </p:nvPr>
        </p:nvSpPr>
        <p:spPr>
          <a:xfrm>
            <a:off x="518160" y="1112935"/>
            <a:ext cx="11192693" cy="757130"/>
          </a:xfrm>
          <a:noFill/>
          <a:ln>
            <a:noFill/>
          </a:ln>
        </p:spPr>
        <p:txBody>
          <a:bodyPr wrap="square" rtlCol="0">
            <a:spAutoFit/>
          </a:bodyPr>
          <a:lstStyle/>
          <a:p>
            <a:pPr marL="0" indent="0" algn="ctr" defTabSz="914377">
              <a:buNone/>
            </a:pPr>
            <a:r>
              <a:rPr lang="en-US" sz="2400" dirty="0"/>
              <a:t>Ethereum block is a collection of transactions and all the transactions inside a block collectively change the world state</a:t>
            </a:r>
          </a:p>
        </p:txBody>
      </p:sp>
      <p:grpSp>
        <p:nvGrpSpPr>
          <p:cNvPr id="7" name="Group 6"/>
          <p:cNvGrpSpPr/>
          <p:nvPr/>
        </p:nvGrpSpPr>
        <p:grpSpPr>
          <a:xfrm>
            <a:off x="2231687" y="2180872"/>
            <a:ext cx="6423029" cy="2862852"/>
            <a:chOff x="1351547" y="2091493"/>
            <a:chExt cx="5943601" cy="2613354"/>
          </a:xfrm>
        </p:grpSpPr>
        <p:sp>
          <p:nvSpPr>
            <p:cNvPr id="8" name="Rounded Rectangle 7"/>
            <p:cNvSpPr/>
            <p:nvPr/>
          </p:nvSpPr>
          <p:spPr>
            <a:xfrm>
              <a:off x="1351547" y="3405437"/>
              <a:ext cx="1780674" cy="1299410"/>
            </a:xfrm>
            <a:prstGeom prst="roundRect">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World State at time </a:t>
              </a:r>
              <a:r>
                <a:rPr lang="en-US" sz="1600" i="1" dirty="0">
                  <a:solidFill>
                    <a:schemeClr val="tx1"/>
                  </a:solidFill>
                  <a:latin typeface="Candara" panose="020E0502030303020204" pitchFamily="34" charset="0"/>
                </a:rPr>
                <a:t>t</a:t>
              </a:r>
              <a:r>
                <a:rPr lang="en-US" sz="1600" dirty="0">
                  <a:solidFill>
                    <a:schemeClr val="tx1"/>
                  </a:solidFill>
                  <a:latin typeface="Candara" panose="020E0502030303020204" pitchFamily="34" charset="0"/>
                </a:rPr>
                <a:t> </a:t>
              </a:r>
            </a:p>
          </p:txBody>
        </p:sp>
        <p:sp>
          <p:nvSpPr>
            <p:cNvPr id="9" name="Rounded Rectangle 8"/>
            <p:cNvSpPr/>
            <p:nvPr/>
          </p:nvSpPr>
          <p:spPr>
            <a:xfrm>
              <a:off x="5514474" y="3405437"/>
              <a:ext cx="1780674" cy="1299410"/>
            </a:xfrm>
            <a:prstGeom prst="roundRect">
              <a:avLst/>
            </a:prstGeom>
            <a:solidFill>
              <a:schemeClr val="accent6">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World State at time </a:t>
              </a:r>
              <a:r>
                <a:rPr lang="en-US" sz="1600" i="1" dirty="0">
                  <a:solidFill>
                    <a:schemeClr val="tx1"/>
                  </a:solidFill>
                  <a:latin typeface="Candara" panose="020E0502030303020204" pitchFamily="34" charset="0"/>
                </a:rPr>
                <a:t>t+1</a:t>
              </a:r>
              <a:r>
                <a:rPr lang="en-US" sz="1600" dirty="0">
                  <a:solidFill>
                    <a:schemeClr val="tx1"/>
                  </a:solidFill>
                  <a:latin typeface="Candara" panose="020E0502030303020204" pitchFamily="34" charset="0"/>
                </a:rPr>
                <a:t> </a:t>
              </a:r>
            </a:p>
          </p:txBody>
        </p:sp>
        <p:sp>
          <p:nvSpPr>
            <p:cNvPr id="10" name="Right Arrow 9"/>
            <p:cNvSpPr/>
            <p:nvPr/>
          </p:nvSpPr>
          <p:spPr>
            <a:xfrm>
              <a:off x="3132221" y="3858626"/>
              <a:ext cx="2382253" cy="393032"/>
            </a:xfrm>
            <a:prstGeom prst="rightArrow">
              <a:avLst/>
            </a:prstGeom>
            <a:solidFill>
              <a:schemeClr val="accent4"/>
            </a:solidFill>
            <a:ln cap="sq">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grpSp>
          <p:nvGrpSpPr>
            <p:cNvPr id="11" name="Group 10"/>
            <p:cNvGrpSpPr/>
            <p:nvPr/>
          </p:nvGrpSpPr>
          <p:grpSpPr>
            <a:xfrm>
              <a:off x="3277101" y="2091493"/>
              <a:ext cx="2076450" cy="1720851"/>
              <a:chOff x="3277101" y="2140652"/>
              <a:chExt cx="2076450" cy="1720851"/>
            </a:xfrm>
          </p:grpSpPr>
          <p:sp>
            <p:nvSpPr>
              <p:cNvPr id="12" name="TextBox 11"/>
              <p:cNvSpPr txBox="1"/>
              <p:nvPr/>
            </p:nvSpPr>
            <p:spPr>
              <a:xfrm>
                <a:off x="3277101" y="2140652"/>
                <a:ext cx="1780674" cy="365240"/>
              </a:xfrm>
              <a:prstGeom prst="rect">
                <a:avLst/>
              </a:prstGeom>
              <a:noFill/>
            </p:spPr>
            <p:txBody>
              <a:bodyPr wrap="square" rtlCol="0">
                <a:spAutoFit/>
              </a:bodyPr>
              <a:lstStyle/>
              <a:p>
                <a:pPr algn="ctr"/>
                <a:r>
                  <a:rPr lang="en-US" sz="2000" dirty="0">
                    <a:latin typeface="Candara" panose="020E0502030303020204" pitchFamily="34" charset="0"/>
                  </a:rPr>
                  <a:t>Block</a:t>
                </a:r>
              </a:p>
            </p:txBody>
          </p:sp>
          <p:pic>
            <p:nvPicPr>
              <p:cNvPr id="13" name="Picture 12"/>
              <p:cNvPicPr>
                <a:picLocks noChangeAspect="1"/>
              </p:cNvPicPr>
              <p:nvPr/>
            </p:nvPicPr>
            <p:blipFill>
              <a:blip r:embed="rId2"/>
              <a:stretch>
                <a:fillRect/>
              </a:stretch>
            </p:blipFill>
            <p:spPr>
              <a:xfrm>
                <a:off x="3277101" y="2594678"/>
                <a:ext cx="2076450" cy="1266825"/>
              </a:xfrm>
              <a:prstGeom prst="rect">
                <a:avLst/>
              </a:prstGeom>
            </p:spPr>
          </p:pic>
        </p:grpSp>
      </p:grpSp>
      <p:sp>
        <p:nvSpPr>
          <p:cNvPr id="14" name="TextBox 13"/>
          <p:cNvSpPr txBox="1"/>
          <p:nvPr/>
        </p:nvSpPr>
        <p:spPr>
          <a:xfrm>
            <a:off x="8053998" y="5580418"/>
            <a:ext cx="3388033" cy="707884"/>
          </a:xfrm>
          <a:prstGeom prst="rect">
            <a:avLst/>
          </a:prstGeom>
          <a:noFill/>
          <a:ln>
            <a:noFill/>
          </a:ln>
        </p:spPr>
        <p:txBody>
          <a:bodyPr vert="horz" wrap="square" lIns="91438" tIns="45719" rIns="91438" bIns="45719" rtlCol="0">
            <a:spAutoFit/>
          </a:bodyPr>
          <a:lstStyle>
            <a:lvl1pPr indent="0" algn="ctr">
              <a:lnSpc>
                <a:spcPct val="100000"/>
              </a:lnSpc>
              <a:spcBef>
                <a:spcPts val="750"/>
              </a:spcBef>
              <a:buFont typeface="Arial" panose="020B0604020202020204" pitchFamily="34" charset="0"/>
              <a:buNone/>
              <a:defRPr sz="2000"/>
            </a:lvl1pPr>
            <a:lvl2pPr marL="514337" indent="-171446" defTabSz="685783">
              <a:lnSpc>
                <a:spcPct val="100000"/>
              </a:lnSpc>
              <a:spcBef>
                <a:spcPts val="375"/>
              </a:spcBef>
              <a:buFont typeface="Arial" panose="020B0604020202020204" pitchFamily="34" charset="0"/>
              <a:buChar char="•"/>
              <a:defRPr sz="2000"/>
            </a:lvl2pPr>
            <a:lvl3pPr marL="857228" indent="-171446" defTabSz="685783">
              <a:lnSpc>
                <a:spcPct val="100000"/>
              </a:lnSpc>
              <a:spcBef>
                <a:spcPts val="375"/>
              </a:spcBef>
              <a:buFont typeface="Arial" panose="020B0604020202020204" pitchFamily="34" charset="0"/>
              <a:buChar char="•"/>
              <a:defRPr sz="1600"/>
            </a:lvl3pPr>
            <a:lvl4pPr marL="1200120" indent="-171446" defTabSz="685783">
              <a:lnSpc>
                <a:spcPct val="100000"/>
              </a:lnSpc>
              <a:spcBef>
                <a:spcPts val="375"/>
              </a:spcBef>
              <a:buFont typeface="Arial" panose="020B0604020202020204" pitchFamily="34" charset="0"/>
              <a:buChar char="•"/>
              <a:defRPr sz="1500"/>
            </a:lvl4pPr>
            <a:lvl5pPr marL="1543012" indent="-171446" defTabSz="685783">
              <a:lnSpc>
                <a:spcPct val="100000"/>
              </a:lnSpc>
              <a:spcBef>
                <a:spcPts val="375"/>
              </a:spcBef>
              <a:buFont typeface="Arial" panose="020B0604020202020204" pitchFamily="34" charset="0"/>
              <a:buChar char="•"/>
              <a:defRPr sz="1500"/>
            </a:lvl5pPr>
            <a:lvl6pPr marL="1885903" indent="-171446" defTabSz="685783">
              <a:lnSpc>
                <a:spcPct val="90000"/>
              </a:lnSpc>
              <a:spcBef>
                <a:spcPts val="375"/>
              </a:spcBef>
              <a:buFont typeface="Arial" panose="020B0604020202020204" pitchFamily="34" charset="0"/>
              <a:buChar char="•"/>
              <a:defRPr sz="1425"/>
            </a:lvl6pPr>
            <a:lvl7pPr marL="2228795" indent="-171446" defTabSz="685783">
              <a:lnSpc>
                <a:spcPct val="90000"/>
              </a:lnSpc>
              <a:spcBef>
                <a:spcPts val="375"/>
              </a:spcBef>
              <a:buFont typeface="Arial" panose="020B0604020202020204" pitchFamily="34" charset="0"/>
              <a:buChar char="•"/>
              <a:defRPr sz="1425"/>
            </a:lvl7pPr>
            <a:lvl8pPr marL="2571686" indent="-171446" defTabSz="685783">
              <a:lnSpc>
                <a:spcPct val="90000"/>
              </a:lnSpc>
              <a:spcBef>
                <a:spcPts val="375"/>
              </a:spcBef>
              <a:buFont typeface="Arial" panose="020B0604020202020204" pitchFamily="34" charset="0"/>
              <a:buChar char="•"/>
              <a:defRPr sz="1425"/>
            </a:lvl8pPr>
            <a:lvl9pPr marL="2914577" indent="-171446" defTabSz="685783">
              <a:lnSpc>
                <a:spcPct val="90000"/>
              </a:lnSpc>
              <a:spcBef>
                <a:spcPts val="375"/>
              </a:spcBef>
              <a:buFont typeface="Arial" panose="020B0604020202020204" pitchFamily="34" charset="0"/>
              <a:buChar char="•"/>
              <a:defRPr sz="1425"/>
            </a:lvl9pPr>
          </a:lstStyle>
          <a:p>
            <a:r>
              <a:rPr lang="en-US" dirty="0">
                <a:latin typeface="Candara" panose="020E0502030303020204" pitchFamily="34" charset="0"/>
              </a:rPr>
              <a:t>No, </a:t>
            </a:r>
            <a:r>
              <a:rPr lang="en-US" dirty="0" err="1">
                <a:latin typeface="Candara" panose="020E0502030303020204" pitchFamily="34" charset="0"/>
              </a:rPr>
              <a:t>txns</a:t>
            </a:r>
            <a:r>
              <a:rPr lang="en-US" dirty="0">
                <a:latin typeface="Candara" panose="020E0502030303020204" pitchFamily="34" charset="0"/>
              </a:rPr>
              <a:t> alone are not sufficient </a:t>
            </a:r>
          </a:p>
        </p:txBody>
      </p:sp>
    </p:spTree>
    <p:extLst>
      <p:ext uri="{BB962C8B-B14F-4D97-AF65-F5344CB8AC3E}">
        <p14:creationId xmlns:p14="http://schemas.microsoft.com/office/powerpoint/2010/main" val="3141181845"/>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Storing Transactions is Not Sufficient</a:t>
            </a:r>
          </a:p>
        </p:txBody>
      </p:sp>
      <p:sp>
        <p:nvSpPr>
          <p:cNvPr id="3" name="Content Placeholder 2"/>
          <p:cNvSpPr>
            <a:spLocks noGrp="1"/>
          </p:cNvSpPr>
          <p:nvPr>
            <p:ph idx="1"/>
          </p:nvPr>
        </p:nvSpPr>
        <p:spPr>
          <a:xfrm>
            <a:off x="499654" y="1106338"/>
            <a:ext cx="11192692" cy="369332"/>
          </a:xfrm>
          <a:ln>
            <a:noFill/>
          </a:ln>
        </p:spPr>
        <p:txBody>
          <a:bodyPr anchor="ctr" anchorCtr="0">
            <a:spAutoFit/>
          </a:bodyPr>
          <a:lstStyle/>
          <a:p>
            <a:pPr marL="0" indent="0" algn="ctr">
              <a:buNone/>
            </a:pPr>
            <a:r>
              <a:rPr lang="en-US" sz="2000" dirty="0"/>
              <a:t>Suppose Alice wants to send 1 ETH to Bob, she creates a </a:t>
            </a:r>
            <a:r>
              <a:rPr lang="en-US" sz="2000" dirty="0" err="1"/>
              <a:t>txn</a:t>
            </a:r>
            <a:r>
              <a:rPr lang="en-US" sz="2000" dirty="0"/>
              <a:t> and broadcasts it on the network</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42</a:t>
            </a:fld>
            <a:endParaRPr lang="en-US" dirty="0">
              <a:latin typeface="Candara" panose="020E0502030303020204" pitchFamily="34" charset="0"/>
            </a:endParaRPr>
          </a:p>
        </p:txBody>
      </p:sp>
      <p:grpSp>
        <p:nvGrpSpPr>
          <p:cNvPr id="5" name="Group 4"/>
          <p:cNvGrpSpPr/>
          <p:nvPr/>
        </p:nvGrpSpPr>
        <p:grpSpPr>
          <a:xfrm>
            <a:off x="1408798" y="1634267"/>
            <a:ext cx="2842491" cy="4136356"/>
            <a:chOff x="6223073" y="983382"/>
            <a:chExt cx="3261950" cy="5523503"/>
          </a:xfrm>
        </p:grpSpPr>
        <p:grpSp>
          <p:nvGrpSpPr>
            <p:cNvPr id="6" name="Group 5"/>
            <p:cNvGrpSpPr/>
            <p:nvPr/>
          </p:nvGrpSpPr>
          <p:grpSpPr>
            <a:xfrm>
              <a:off x="6223073" y="983382"/>
              <a:ext cx="3261950" cy="5523503"/>
              <a:chOff x="207427" y="922996"/>
              <a:chExt cx="3261950" cy="5523503"/>
            </a:xfrm>
          </p:grpSpPr>
          <p:grpSp>
            <p:nvGrpSpPr>
              <p:cNvPr id="9" name="Group 8"/>
              <p:cNvGrpSpPr/>
              <p:nvPr/>
            </p:nvGrpSpPr>
            <p:grpSpPr>
              <a:xfrm>
                <a:off x="304802" y="1369545"/>
                <a:ext cx="2967788" cy="5076954"/>
                <a:chOff x="3433014" y="1237085"/>
                <a:chExt cx="2967788" cy="5076954"/>
              </a:xfrm>
            </p:grpSpPr>
            <p:sp>
              <p:nvSpPr>
                <p:cNvPr id="11" name="Rectangle 10"/>
                <p:cNvSpPr/>
                <p:nvPr/>
              </p:nvSpPr>
              <p:spPr>
                <a:xfrm>
                  <a:off x="3433014" y="1237085"/>
                  <a:ext cx="2967788" cy="5076954"/>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Candara" panose="020E0502030303020204" pitchFamily="34" charset="0"/>
                  </a:endParaRPr>
                </a:p>
              </p:txBody>
            </p:sp>
            <p:sp>
              <p:nvSpPr>
                <p:cNvPr id="12" name="Rectangle 11"/>
                <p:cNvSpPr/>
                <p:nvPr/>
              </p:nvSpPr>
              <p:spPr>
                <a:xfrm>
                  <a:off x="3609474" y="1909011"/>
                  <a:ext cx="2598821" cy="3689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Recipient=Bob</a:t>
                  </a:r>
                </a:p>
              </p:txBody>
            </p:sp>
            <p:sp>
              <p:nvSpPr>
                <p:cNvPr id="13" name="Rectangle 12"/>
                <p:cNvSpPr/>
                <p:nvPr/>
              </p:nvSpPr>
              <p:spPr>
                <a:xfrm>
                  <a:off x="3609473" y="2425484"/>
                  <a:ext cx="2598821" cy="3689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Signature=Alice</a:t>
                  </a:r>
                </a:p>
              </p:txBody>
            </p:sp>
            <p:sp>
              <p:nvSpPr>
                <p:cNvPr id="14" name="Rectangle 13"/>
                <p:cNvSpPr/>
                <p:nvPr/>
              </p:nvSpPr>
              <p:spPr>
                <a:xfrm>
                  <a:off x="3617495" y="2941957"/>
                  <a:ext cx="2598821" cy="3689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Value=1ETH</a:t>
                  </a:r>
                </a:p>
              </p:txBody>
            </p:sp>
            <p:sp>
              <p:nvSpPr>
                <p:cNvPr id="15" name="Rectangle 14"/>
                <p:cNvSpPr/>
                <p:nvPr/>
              </p:nvSpPr>
              <p:spPr>
                <a:xfrm>
                  <a:off x="3617495" y="3510566"/>
                  <a:ext cx="2598821" cy="3689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Data (empty)</a:t>
                  </a:r>
                </a:p>
              </p:txBody>
            </p:sp>
            <p:sp>
              <p:nvSpPr>
                <p:cNvPr id="16" name="Rectangle 15"/>
                <p:cNvSpPr/>
                <p:nvPr/>
              </p:nvSpPr>
              <p:spPr>
                <a:xfrm>
                  <a:off x="3617495" y="4116363"/>
                  <a:ext cx="2598821" cy="3689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Gas Limit=21,000</a:t>
                  </a:r>
                </a:p>
              </p:txBody>
            </p:sp>
            <p:sp>
              <p:nvSpPr>
                <p:cNvPr id="17" name="Rectangle 16"/>
                <p:cNvSpPr/>
                <p:nvPr/>
              </p:nvSpPr>
              <p:spPr>
                <a:xfrm>
                  <a:off x="3609472" y="4662004"/>
                  <a:ext cx="2598822" cy="54049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ndara" panose="020E0502030303020204" pitchFamily="34" charset="0"/>
                    </a:rPr>
                    <a:t>Max Priority Fee per Gas=10Gwei</a:t>
                  </a:r>
                </a:p>
              </p:txBody>
            </p:sp>
            <p:sp>
              <p:nvSpPr>
                <p:cNvPr id="18" name="Rectangle 17"/>
                <p:cNvSpPr/>
                <p:nvPr/>
              </p:nvSpPr>
              <p:spPr>
                <a:xfrm>
                  <a:off x="3609469" y="5322621"/>
                  <a:ext cx="2598821" cy="3689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ndara" panose="020E0502030303020204" pitchFamily="34" charset="0"/>
                    </a:rPr>
                    <a:t>Max Fee per Gas=100Gwei</a:t>
                  </a:r>
                </a:p>
              </p:txBody>
            </p:sp>
          </p:grpSp>
          <p:sp>
            <p:nvSpPr>
              <p:cNvPr id="10" name="TextBox 9"/>
              <p:cNvSpPr txBox="1"/>
              <p:nvPr/>
            </p:nvSpPr>
            <p:spPr>
              <a:xfrm>
                <a:off x="207427" y="922996"/>
                <a:ext cx="3261950" cy="410992"/>
              </a:xfrm>
              <a:prstGeom prst="rect">
                <a:avLst/>
              </a:prstGeom>
              <a:noFill/>
            </p:spPr>
            <p:txBody>
              <a:bodyPr wrap="square" rtlCol="0">
                <a:spAutoFit/>
              </a:bodyPr>
              <a:lstStyle/>
              <a:p>
                <a:pPr algn="ctr"/>
                <a:r>
                  <a:rPr lang="en-US" sz="1400" b="1" dirty="0">
                    <a:latin typeface="Candara" panose="020E0502030303020204" pitchFamily="34" charset="0"/>
                  </a:rPr>
                  <a:t>Transaction created by Alice</a:t>
                </a:r>
              </a:p>
            </p:txBody>
          </p:sp>
        </p:grpSp>
        <p:sp>
          <p:nvSpPr>
            <p:cNvPr id="7" name="Rectangle 6"/>
            <p:cNvSpPr/>
            <p:nvPr/>
          </p:nvSpPr>
          <p:spPr>
            <a:xfrm>
              <a:off x="6496904" y="6004555"/>
              <a:ext cx="2598821" cy="3689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Chain ID=1</a:t>
              </a:r>
            </a:p>
          </p:txBody>
        </p:sp>
        <p:sp>
          <p:nvSpPr>
            <p:cNvPr id="8" name="Rectangle 7"/>
            <p:cNvSpPr/>
            <p:nvPr/>
          </p:nvSpPr>
          <p:spPr>
            <a:xfrm>
              <a:off x="6496903" y="1571215"/>
              <a:ext cx="2598821" cy="3689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Nonce=5</a:t>
              </a:r>
            </a:p>
          </p:txBody>
        </p:sp>
      </p:grpSp>
      <p:sp>
        <p:nvSpPr>
          <p:cNvPr id="19" name="Content Placeholder 2"/>
          <p:cNvSpPr txBox="1">
            <a:spLocks/>
          </p:cNvSpPr>
          <p:nvPr/>
        </p:nvSpPr>
        <p:spPr>
          <a:xfrm>
            <a:off x="4233571" y="2043507"/>
            <a:ext cx="7422552" cy="3652280"/>
          </a:xfrm>
          <a:prstGeom prst="rect">
            <a:avLst/>
          </a:prstGeom>
        </p:spPr>
        <p:txBody>
          <a:bodyPr vert="horz" lIns="91438" tIns="45719" rIns="91438" bIns="45719" rtlCol="0">
            <a:spAutoFit/>
          </a:bodyPr>
          <a:lstStyle>
            <a:lvl1pPr marL="171446" indent="-171446" algn="l" defTabSz="685783" rtl="0" eaLnBrk="1" latinLnBrk="0" hangingPunct="1">
              <a:lnSpc>
                <a:spcPct val="100000"/>
              </a:lnSpc>
              <a:spcBef>
                <a:spcPts val="750"/>
              </a:spcBef>
              <a:buFont typeface="Arial" panose="020B0604020202020204" pitchFamily="34" charset="0"/>
              <a:buChar char="•"/>
              <a:defRPr sz="2200" kern="1200">
                <a:solidFill>
                  <a:schemeClr val="tx1"/>
                </a:solidFill>
                <a:latin typeface="+mn-lt"/>
                <a:ea typeface="+mn-ea"/>
                <a:cs typeface="+mn-cs"/>
              </a:defRPr>
            </a:lvl1pPr>
            <a:lvl2pPr marL="514337" indent="-171446" algn="l" defTabSz="685783" rtl="0" eaLnBrk="1" latinLnBrk="0" hangingPunct="1">
              <a:lnSpc>
                <a:spcPct val="10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28" indent="-171446" algn="l" defTabSz="685783" rtl="0" eaLnBrk="1" latinLnBrk="0" hangingPunct="1">
              <a:lnSpc>
                <a:spcPct val="100000"/>
              </a:lnSpc>
              <a:spcBef>
                <a:spcPts val="375"/>
              </a:spcBef>
              <a:buFont typeface="Arial" panose="020B0604020202020204" pitchFamily="34" charset="0"/>
              <a:buChar char="•"/>
              <a:defRPr sz="1600" kern="1200">
                <a:solidFill>
                  <a:schemeClr val="tx1"/>
                </a:solidFill>
                <a:latin typeface="+mn-lt"/>
                <a:ea typeface="+mn-ea"/>
                <a:cs typeface="+mn-cs"/>
              </a:defRPr>
            </a:lvl3pPr>
            <a:lvl4pPr marL="1200120" indent="-171446" algn="l" defTabSz="685783" rtl="0" eaLnBrk="1" latinLnBrk="0" hangingPunct="1">
              <a:lnSpc>
                <a:spcPct val="100000"/>
              </a:lnSpc>
              <a:spcBef>
                <a:spcPts val="375"/>
              </a:spcBef>
              <a:buFont typeface="Arial" panose="020B0604020202020204" pitchFamily="34" charset="0"/>
              <a:buChar char="•"/>
              <a:defRPr sz="1500" kern="1200">
                <a:solidFill>
                  <a:schemeClr val="tx1"/>
                </a:solidFill>
                <a:latin typeface="+mn-lt"/>
                <a:ea typeface="+mn-ea"/>
                <a:cs typeface="+mn-cs"/>
              </a:defRPr>
            </a:lvl4pPr>
            <a:lvl5pPr marL="1543012" indent="-171446" algn="l" defTabSz="685783" rtl="0" eaLnBrk="1" latinLnBrk="0" hangingPunct="1">
              <a:lnSpc>
                <a:spcPct val="100000"/>
              </a:lnSpc>
              <a:spcBef>
                <a:spcPts val="375"/>
              </a:spcBef>
              <a:buFont typeface="Arial" panose="020B0604020202020204" pitchFamily="34" charset="0"/>
              <a:buChar char="•"/>
              <a:defRPr sz="1500" kern="1200">
                <a:solidFill>
                  <a:schemeClr val="tx1"/>
                </a:solidFill>
                <a:latin typeface="+mn-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9pPr>
          </a:lstStyle>
          <a:p>
            <a:r>
              <a:rPr lang="en-US" sz="1800" dirty="0">
                <a:latin typeface="Candara" panose="020E0502030303020204" pitchFamily="34" charset="0"/>
              </a:rPr>
              <a:t>Just by looking at this </a:t>
            </a:r>
            <a:r>
              <a:rPr lang="en-US" sz="1800" dirty="0" err="1">
                <a:latin typeface="Candara" panose="020E0502030303020204" pitchFamily="34" charset="0"/>
              </a:rPr>
              <a:t>txn</a:t>
            </a:r>
            <a:r>
              <a:rPr lang="en-US" sz="1800" dirty="0">
                <a:latin typeface="Candara" panose="020E0502030303020204" pitchFamily="34" charset="0"/>
              </a:rPr>
              <a:t>, we do not get any information about Alice’s account balance</a:t>
            </a:r>
          </a:p>
          <a:p>
            <a:r>
              <a:rPr lang="en-US" sz="1800" dirty="0">
                <a:latin typeface="Candara" panose="020E0502030303020204" pitchFamily="34" charset="0"/>
              </a:rPr>
              <a:t>Suppose Ethereum changes its </a:t>
            </a:r>
            <a:r>
              <a:rPr lang="en-US" sz="1800" dirty="0" err="1">
                <a:latin typeface="Candara" panose="020E0502030303020204" pitchFamily="34" charset="0"/>
              </a:rPr>
              <a:t>txn</a:t>
            </a:r>
            <a:r>
              <a:rPr lang="en-US" sz="1800" dirty="0">
                <a:latin typeface="Candara" panose="020E0502030303020204" pitchFamily="34" charset="0"/>
              </a:rPr>
              <a:t> format and adds an account balance field inside the </a:t>
            </a:r>
            <a:r>
              <a:rPr lang="en-US" sz="1800" dirty="0" err="1">
                <a:latin typeface="Candara" panose="020E0502030303020204" pitchFamily="34" charset="0"/>
              </a:rPr>
              <a:t>txn</a:t>
            </a:r>
            <a:r>
              <a:rPr lang="en-US" sz="1800" dirty="0">
                <a:latin typeface="Candara" panose="020E0502030303020204" pitchFamily="34" charset="0"/>
              </a:rPr>
              <a:t>. Would this solve the problem?</a:t>
            </a:r>
          </a:p>
          <a:p>
            <a:pPr lvl="1"/>
            <a:r>
              <a:rPr lang="en-US" sz="1800" dirty="0">
                <a:latin typeface="Candara" panose="020E0502030303020204" pitchFamily="34" charset="0"/>
              </a:rPr>
              <a:t>No</a:t>
            </a:r>
          </a:p>
          <a:p>
            <a:r>
              <a:rPr lang="en-US" sz="1800" dirty="0">
                <a:latin typeface="Candara" panose="020E0502030303020204" pitchFamily="34" charset="0"/>
              </a:rPr>
              <a:t>Why?</a:t>
            </a:r>
          </a:p>
          <a:p>
            <a:pPr lvl="1"/>
            <a:r>
              <a:rPr lang="en-US" sz="1800" dirty="0">
                <a:latin typeface="Candara" panose="020E0502030303020204" pitchFamily="34" charset="0"/>
              </a:rPr>
              <a:t>Alice can lie and provide wrong balance</a:t>
            </a:r>
          </a:p>
          <a:p>
            <a:r>
              <a:rPr lang="en-US" sz="1800" dirty="0">
                <a:latin typeface="Candara" panose="020E0502030303020204" pitchFamily="34" charset="0"/>
              </a:rPr>
              <a:t>We do not encounter this problem in Bitcoin because the child </a:t>
            </a:r>
            <a:r>
              <a:rPr lang="en-US" sz="1800" dirty="0" err="1">
                <a:latin typeface="Candara" panose="020E0502030303020204" pitchFamily="34" charset="0"/>
              </a:rPr>
              <a:t>txn</a:t>
            </a:r>
            <a:r>
              <a:rPr lang="en-US" sz="1800" dirty="0">
                <a:latin typeface="Candara" panose="020E0502030303020204" pitchFamily="34" charset="0"/>
              </a:rPr>
              <a:t> inputs are always pointing towards the parent UTXOs that Alice wants to spend</a:t>
            </a:r>
          </a:p>
          <a:p>
            <a:r>
              <a:rPr lang="en-US" sz="1800" dirty="0">
                <a:latin typeface="Candara" panose="020E0502030303020204" pitchFamily="34" charset="0"/>
              </a:rPr>
              <a:t>Ethereum’s account based model therefore necessitates storing and tracking the world state</a:t>
            </a:r>
          </a:p>
        </p:txBody>
      </p:sp>
      <p:sp>
        <p:nvSpPr>
          <p:cNvPr id="21" name="Rectangle 20"/>
          <p:cNvSpPr/>
          <p:nvPr/>
        </p:nvSpPr>
        <p:spPr>
          <a:xfrm>
            <a:off x="487680" y="6051000"/>
            <a:ext cx="11168443" cy="461665"/>
          </a:xfrm>
          <a:prstGeom prst="rect">
            <a:avLst/>
          </a:prstGeom>
          <a:solidFill>
            <a:schemeClr val="bg1">
              <a:lumMod val="95000"/>
            </a:schemeClr>
          </a:solidFill>
          <a:ln>
            <a:solidFill>
              <a:schemeClr val="tx1"/>
            </a:solidFill>
          </a:ln>
        </p:spPr>
        <p:txBody>
          <a:bodyPr wrap="square">
            <a:spAutoFit/>
          </a:bodyPr>
          <a:lstStyle/>
          <a:p>
            <a:pPr lvl="0" algn="ctr">
              <a:defRPr/>
            </a:pPr>
            <a:r>
              <a:rPr lang="en-US" sz="2400" dirty="0">
                <a:latin typeface="Candara" panose="020E0502030303020204" pitchFamily="34" charset="0"/>
              </a:rPr>
              <a:t>How to keep track of Alice’s and all other Ethereum account states?</a:t>
            </a:r>
          </a:p>
        </p:txBody>
      </p:sp>
    </p:spTree>
    <p:extLst>
      <p:ext uri="{BB962C8B-B14F-4D97-AF65-F5344CB8AC3E}">
        <p14:creationId xmlns:p14="http://schemas.microsoft.com/office/powerpoint/2010/main" val="2625678114"/>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Where is the World State Stored?</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43</a:t>
            </a:fld>
            <a:endParaRPr lang="en-US" dirty="0">
              <a:latin typeface="Candara" panose="020E0502030303020204" pitchFamily="34" charset="0"/>
            </a:endParaRPr>
          </a:p>
        </p:txBody>
      </p:sp>
      <p:grpSp>
        <p:nvGrpSpPr>
          <p:cNvPr id="6" name="Group 5"/>
          <p:cNvGrpSpPr/>
          <p:nvPr/>
        </p:nvGrpSpPr>
        <p:grpSpPr>
          <a:xfrm>
            <a:off x="4913549" y="1003707"/>
            <a:ext cx="4561636" cy="2110476"/>
            <a:chOff x="1351547" y="2091493"/>
            <a:chExt cx="5943601" cy="2613354"/>
          </a:xfrm>
        </p:grpSpPr>
        <p:sp>
          <p:nvSpPr>
            <p:cNvPr id="7" name="Rounded Rectangle 6"/>
            <p:cNvSpPr/>
            <p:nvPr/>
          </p:nvSpPr>
          <p:spPr>
            <a:xfrm>
              <a:off x="1351547" y="3405437"/>
              <a:ext cx="1780674" cy="1299410"/>
            </a:xfrm>
            <a:prstGeom prst="roundRect">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World State at time </a:t>
              </a:r>
              <a:r>
                <a:rPr lang="en-US" sz="1600" i="1" dirty="0">
                  <a:solidFill>
                    <a:schemeClr val="tx1"/>
                  </a:solidFill>
                  <a:latin typeface="Candara" panose="020E0502030303020204" pitchFamily="34" charset="0"/>
                </a:rPr>
                <a:t>t</a:t>
              </a:r>
              <a:r>
                <a:rPr lang="en-US" sz="1600" dirty="0">
                  <a:solidFill>
                    <a:schemeClr val="tx1"/>
                  </a:solidFill>
                  <a:latin typeface="Candara" panose="020E0502030303020204" pitchFamily="34" charset="0"/>
                </a:rPr>
                <a:t> </a:t>
              </a:r>
            </a:p>
          </p:txBody>
        </p:sp>
        <p:sp>
          <p:nvSpPr>
            <p:cNvPr id="8" name="Rounded Rectangle 7"/>
            <p:cNvSpPr/>
            <p:nvPr/>
          </p:nvSpPr>
          <p:spPr>
            <a:xfrm>
              <a:off x="5514474" y="3405437"/>
              <a:ext cx="1780674" cy="1299410"/>
            </a:xfrm>
            <a:prstGeom prst="roundRect">
              <a:avLst/>
            </a:prstGeom>
            <a:solidFill>
              <a:schemeClr val="accent6">
                <a:lumMod val="60000"/>
                <a:lumOff val="4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World State at time </a:t>
              </a:r>
              <a:r>
                <a:rPr lang="en-US" sz="1600" i="1" dirty="0">
                  <a:solidFill>
                    <a:schemeClr val="tx1"/>
                  </a:solidFill>
                  <a:latin typeface="Candara" panose="020E0502030303020204" pitchFamily="34" charset="0"/>
                </a:rPr>
                <a:t>t+1</a:t>
              </a:r>
              <a:r>
                <a:rPr lang="en-US" sz="1600" dirty="0">
                  <a:solidFill>
                    <a:schemeClr val="tx1"/>
                  </a:solidFill>
                  <a:latin typeface="Candara" panose="020E0502030303020204" pitchFamily="34" charset="0"/>
                </a:rPr>
                <a:t> </a:t>
              </a:r>
            </a:p>
          </p:txBody>
        </p:sp>
        <p:sp>
          <p:nvSpPr>
            <p:cNvPr id="10" name="Right Arrow 9"/>
            <p:cNvSpPr/>
            <p:nvPr/>
          </p:nvSpPr>
          <p:spPr>
            <a:xfrm>
              <a:off x="3132221" y="3858626"/>
              <a:ext cx="2382253" cy="393032"/>
            </a:xfrm>
            <a:prstGeom prst="rightArrow">
              <a:avLst/>
            </a:prstGeom>
            <a:solidFill>
              <a:schemeClr val="accent4"/>
            </a:solidFill>
            <a:ln cap="sq">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grpSp>
          <p:nvGrpSpPr>
            <p:cNvPr id="5" name="Group 4"/>
            <p:cNvGrpSpPr/>
            <p:nvPr/>
          </p:nvGrpSpPr>
          <p:grpSpPr>
            <a:xfrm>
              <a:off x="3277101" y="2091493"/>
              <a:ext cx="2076450" cy="1720851"/>
              <a:chOff x="3277101" y="2140652"/>
              <a:chExt cx="2076450" cy="1720851"/>
            </a:xfrm>
          </p:grpSpPr>
          <p:sp>
            <p:nvSpPr>
              <p:cNvPr id="12" name="TextBox 11"/>
              <p:cNvSpPr txBox="1"/>
              <p:nvPr/>
            </p:nvSpPr>
            <p:spPr>
              <a:xfrm>
                <a:off x="3277101" y="2140652"/>
                <a:ext cx="1780674" cy="495447"/>
              </a:xfrm>
              <a:prstGeom prst="rect">
                <a:avLst/>
              </a:prstGeom>
              <a:noFill/>
            </p:spPr>
            <p:txBody>
              <a:bodyPr wrap="square" rtlCol="0">
                <a:spAutoFit/>
              </a:bodyPr>
              <a:lstStyle/>
              <a:p>
                <a:pPr algn="ctr"/>
                <a:r>
                  <a:rPr lang="en-US" sz="2000" dirty="0">
                    <a:latin typeface="Candara" panose="020E0502030303020204" pitchFamily="34" charset="0"/>
                  </a:rPr>
                  <a:t>Block</a:t>
                </a:r>
              </a:p>
            </p:txBody>
          </p:sp>
          <p:pic>
            <p:nvPicPr>
              <p:cNvPr id="3" name="Picture 2"/>
              <p:cNvPicPr>
                <a:picLocks noChangeAspect="1"/>
              </p:cNvPicPr>
              <p:nvPr/>
            </p:nvPicPr>
            <p:blipFill>
              <a:blip r:embed="rId3"/>
              <a:stretch>
                <a:fillRect/>
              </a:stretch>
            </p:blipFill>
            <p:spPr>
              <a:xfrm>
                <a:off x="3277101" y="2594678"/>
                <a:ext cx="2076450" cy="1266825"/>
              </a:xfrm>
              <a:prstGeom prst="rect">
                <a:avLst/>
              </a:prstGeom>
            </p:spPr>
          </p:pic>
        </p:grpSp>
      </p:grpSp>
      <p:sp>
        <p:nvSpPr>
          <p:cNvPr id="14" name="Content Placeholder 2"/>
          <p:cNvSpPr txBox="1">
            <a:spLocks/>
          </p:cNvSpPr>
          <p:nvPr/>
        </p:nvSpPr>
        <p:spPr>
          <a:xfrm>
            <a:off x="3069675" y="5913081"/>
            <a:ext cx="6050261" cy="448220"/>
          </a:xfrm>
          <a:prstGeom prst="rect">
            <a:avLst/>
          </a:prstGeom>
          <a:noFill/>
          <a:ln>
            <a:noFill/>
          </a:ln>
        </p:spPr>
        <p:txBody>
          <a:bodyPr vert="horz" lIns="91438" tIns="45719" rIns="91438" bIns="45719" rtlCol="0">
            <a:noAutofit/>
          </a:bodyPr>
          <a:lstStyle>
            <a:lvl1pPr marL="171446" indent="-171446" algn="l" defTabSz="685783" rtl="0" eaLnBrk="1" latinLnBrk="0" hangingPunct="1">
              <a:lnSpc>
                <a:spcPct val="100000"/>
              </a:lnSpc>
              <a:spcBef>
                <a:spcPts val="750"/>
              </a:spcBef>
              <a:buFont typeface="Arial" panose="020B0604020202020204" pitchFamily="34" charset="0"/>
              <a:buChar char="•"/>
              <a:defRPr sz="2200" kern="1200">
                <a:solidFill>
                  <a:schemeClr val="tx1"/>
                </a:solidFill>
                <a:latin typeface="+mn-lt"/>
                <a:ea typeface="+mn-ea"/>
                <a:cs typeface="+mn-cs"/>
              </a:defRPr>
            </a:lvl1pPr>
            <a:lvl2pPr marL="514337" indent="-171446" algn="l" defTabSz="685783" rtl="0" eaLnBrk="1" latinLnBrk="0" hangingPunct="1">
              <a:lnSpc>
                <a:spcPct val="10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28" indent="-171446" algn="l" defTabSz="685783" rtl="0" eaLnBrk="1" latinLnBrk="0" hangingPunct="1">
              <a:lnSpc>
                <a:spcPct val="100000"/>
              </a:lnSpc>
              <a:spcBef>
                <a:spcPts val="375"/>
              </a:spcBef>
              <a:buFont typeface="Arial" panose="020B0604020202020204" pitchFamily="34" charset="0"/>
              <a:buChar char="•"/>
              <a:defRPr sz="1600" kern="1200">
                <a:solidFill>
                  <a:schemeClr val="tx1"/>
                </a:solidFill>
                <a:latin typeface="+mn-lt"/>
                <a:ea typeface="+mn-ea"/>
                <a:cs typeface="+mn-cs"/>
              </a:defRPr>
            </a:lvl3pPr>
            <a:lvl4pPr marL="1200120" indent="-171446" algn="l" defTabSz="685783" rtl="0" eaLnBrk="1" latinLnBrk="0" hangingPunct="1">
              <a:lnSpc>
                <a:spcPct val="100000"/>
              </a:lnSpc>
              <a:spcBef>
                <a:spcPts val="375"/>
              </a:spcBef>
              <a:buFont typeface="Arial" panose="020B0604020202020204" pitchFamily="34" charset="0"/>
              <a:buChar char="•"/>
              <a:defRPr sz="1500" kern="1200">
                <a:solidFill>
                  <a:schemeClr val="tx1"/>
                </a:solidFill>
                <a:latin typeface="+mn-lt"/>
                <a:ea typeface="+mn-ea"/>
                <a:cs typeface="+mn-cs"/>
              </a:defRPr>
            </a:lvl4pPr>
            <a:lvl5pPr marL="1543012" indent="-171446" algn="l" defTabSz="685783" rtl="0" eaLnBrk="1" latinLnBrk="0" hangingPunct="1">
              <a:lnSpc>
                <a:spcPct val="100000"/>
              </a:lnSpc>
              <a:spcBef>
                <a:spcPts val="375"/>
              </a:spcBef>
              <a:buFont typeface="Arial" panose="020B0604020202020204" pitchFamily="34" charset="0"/>
              <a:buChar char="•"/>
              <a:defRPr sz="1500" kern="1200">
                <a:solidFill>
                  <a:schemeClr val="tx1"/>
                </a:solidFill>
                <a:latin typeface="+mn-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9pPr>
          </a:lstStyle>
          <a:p>
            <a:pPr marL="0" indent="0" algn="ctr">
              <a:buNone/>
            </a:pPr>
            <a:r>
              <a:rPr lang="en-US" sz="2800" dirty="0">
                <a:solidFill>
                  <a:schemeClr val="accent2"/>
                </a:solidFill>
                <a:latin typeface="Candara" panose="020E0502030303020204" pitchFamily="34" charset="0"/>
              </a:rPr>
              <a:t>Where is the world state stored?</a:t>
            </a:r>
          </a:p>
        </p:txBody>
      </p:sp>
      <p:grpSp>
        <p:nvGrpSpPr>
          <p:cNvPr id="9" name="Group 8"/>
          <p:cNvGrpSpPr/>
          <p:nvPr/>
        </p:nvGrpSpPr>
        <p:grpSpPr>
          <a:xfrm>
            <a:off x="1675922" y="1513622"/>
            <a:ext cx="1879972" cy="4177027"/>
            <a:chOff x="6320446" y="930864"/>
            <a:chExt cx="2967788" cy="5576021"/>
          </a:xfrm>
        </p:grpSpPr>
        <p:grpSp>
          <p:nvGrpSpPr>
            <p:cNvPr id="25" name="Group 24"/>
            <p:cNvGrpSpPr/>
            <p:nvPr/>
          </p:nvGrpSpPr>
          <p:grpSpPr>
            <a:xfrm>
              <a:off x="6320446" y="930864"/>
              <a:ext cx="2967788" cy="5576021"/>
              <a:chOff x="304800" y="870478"/>
              <a:chExt cx="2967788" cy="5576021"/>
            </a:xfrm>
          </p:grpSpPr>
          <p:grpSp>
            <p:nvGrpSpPr>
              <p:cNvPr id="26" name="Group 25"/>
              <p:cNvGrpSpPr/>
              <p:nvPr/>
            </p:nvGrpSpPr>
            <p:grpSpPr>
              <a:xfrm>
                <a:off x="304800" y="1369545"/>
                <a:ext cx="2967788" cy="5076954"/>
                <a:chOff x="3433012" y="1237085"/>
                <a:chExt cx="2967788" cy="5076954"/>
              </a:xfrm>
            </p:grpSpPr>
            <p:sp>
              <p:nvSpPr>
                <p:cNvPr id="28" name="Rectangle 27"/>
                <p:cNvSpPr/>
                <p:nvPr/>
              </p:nvSpPr>
              <p:spPr>
                <a:xfrm>
                  <a:off x="3433012" y="1237085"/>
                  <a:ext cx="2967788" cy="5076954"/>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29" name="Rectangle 28"/>
                <p:cNvSpPr/>
                <p:nvPr/>
              </p:nvSpPr>
              <p:spPr>
                <a:xfrm>
                  <a:off x="3609474" y="1909011"/>
                  <a:ext cx="2598821" cy="3689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Recipient</a:t>
                  </a:r>
                </a:p>
              </p:txBody>
            </p:sp>
            <p:sp>
              <p:nvSpPr>
                <p:cNvPr id="30" name="Rectangle 29"/>
                <p:cNvSpPr/>
                <p:nvPr/>
              </p:nvSpPr>
              <p:spPr>
                <a:xfrm>
                  <a:off x="3609473" y="2425484"/>
                  <a:ext cx="2598821" cy="3689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Signature</a:t>
                  </a:r>
                </a:p>
              </p:txBody>
            </p:sp>
            <p:sp>
              <p:nvSpPr>
                <p:cNvPr id="31" name="Rectangle 30"/>
                <p:cNvSpPr/>
                <p:nvPr/>
              </p:nvSpPr>
              <p:spPr>
                <a:xfrm>
                  <a:off x="3617495" y="2941957"/>
                  <a:ext cx="2598821" cy="3689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Value</a:t>
                  </a:r>
                </a:p>
              </p:txBody>
            </p:sp>
            <p:sp>
              <p:nvSpPr>
                <p:cNvPr id="32" name="Rectangle 31"/>
                <p:cNvSpPr/>
                <p:nvPr/>
              </p:nvSpPr>
              <p:spPr>
                <a:xfrm>
                  <a:off x="3617495" y="3510566"/>
                  <a:ext cx="2598821" cy="3689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Data</a:t>
                  </a:r>
                </a:p>
              </p:txBody>
            </p:sp>
            <p:sp>
              <p:nvSpPr>
                <p:cNvPr id="33" name="Rectangle 32"/>
                <p:cNvSpPr/>
                <p:nvPr/>
              </p:nvSpPr>
              <p:spPr>
                <a:xfrm>
                  <a:off x="3617495" y="4116363"/>
                  <a:ext cx="2598821" cy="3689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Gas Limit</a:t>
                  </a:r>
                </a:p>
              </p:txBody>
            </p:sp>
            <p:sp>
              <p:nvSpPr>
                <p:cNvPr id="34" name="Rectangle 33"/>
                <p:cNvSpPr/>
                <p:nvPr/>
              </p:nvSpPr>
              <p:spPr>
                <a:xfrm>
                  <a:off x="3609472" y="4662004"/>
                  <a:ext cx="2598822" cy="42912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ndara" panose="020E0502030303020204" pitchFamily="34" charset="0"/>
                    </a:rPr>
                    <a:t>Max Priority Fee per Gas</a:t>
                  </a:r>
                </a:p>
              </p:txBody>
            </p:sp>
            <p:sp>
              <p:nvSpPr>
                <p:cNvPr id="35" name="Rectangle 34"/>
                <p:cNvSpPr/>
                <p:nvPr/>
              </p:nvSpPr>
              <p:spPr>
                <a:xfrm>
                  <a:off x="3609471" y="5271602"/>
                  <a:ext cx="2598821" cy="3689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Max Fee per Gas</a:t>
                  </a:r>
                </a:p>
              </p:txBody>
            </p:sp>
          </p:grpSp>
          <p:sp>
            <p:nvSpPr>
              <p:cNvPr id="27" name="TextBox 26"/>
              <p:cNvSpPr txBox="1"/>
              <p:nvPr/>
            </p:nvSpPr>
            <p:spPr>
              <a:xfrm>
                <a:off x="698087" y="870478"/>
                <a:ext cx="2333026" cy="534117"/>
              </a:xfrm>
              <a:prstGeom prst="rect">
                <a:avLst/>
              </a:prstGeom>
              <a:noFill/>
            </p:spPr>
            <p:txBody>
              <a:bodyPr wrap="square" rtlCol="0">
                <a:spAutoFit/>
              </a:bodyPr>
              <a:lstStyle/>
              <a:p>
                <a:r>
                  <a:rPr lang="en-US" sz="2000" b="1" dirty="0">
                    <a:latin typeface="Candara" panose="020E0502030303020204" pitchFamily="34" charset="0"/>
                  </a:rPr>
                  <a:t>Transaction</a:t>
                </a:r>
              </a:p>
            </p:txBody>
          </p:sp>
        </p:grpSp>
        <p:sp>
          <p:nvSpPr>
            <p:cNvPr id="36" name="Rectangle 35"/>
            <p:cNvSpPr/>
            <p:nvPr/>
          </p:nvSpPr>
          <p:spPr>
            <a:xfrm>
              <a:off x="6496904" y="6004555"/>
              <a:ext cx="2598821" cy="3689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Chain ID</a:t>
              </a:r>
            </a:p>
          </p:txBody>
        </p:sp>
        <p:sp>
          <p:nvSpPr>
            <p:cNvPr id="37" name="Rectangle 36"/>
            <p:cNvSpPr/>
            <p:nvPr/>
          </p:nvSpPr>
          <p:spPr>
            <a:xfrm>
              <a:off x="6496903" y="1571215"/>
              <a:ext cx="2598821" cy="3689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Nonce</a:t>
              </a:r>
            </a:p>
          </p:txBody>
        </p:sp>
      </p:grpSp>
      <p:grpSp>
        <p:nvGrpSpPr>
          <p:cNvPr id="39" name="Group 38"/>
          <p:cNvGrpSpPr/>
          <p:nvPr/>
        </p:nvGrpSpPr>
        <p:grpSpPr>
          <a:xfrm>
            <a:off x="3710356" y="3346939"/>
            <a:ext cx="3278172" cy="2281452"/>
            <a:chOff x="115599" y="4014854"/>
            <a:chExt cx="4300668" cy="2477293"/>
          </a:xfrm>
        </p:grpSpPr>
        <p:grpSp>
          <p:nvGrpSpPr>
            <p:cNvPr id="40" name="Group 39"/>
            <p:cNvGrpSpPr/>
            <p:nvPr/>
          </p:nvGrpSpPr>
          <p:grpSpPr>
            <a:xfrm>
              <a:off x="115599" y="4014854"/>
              <a:ext cx="4300668" cy="2477293"/>
              <a:chOff x="3421626" y="1327355"/>
              <a:chExt cx="5288242" cy="3274142"/>
            </a:xfrm>
          </p:grpSpPr>
          <p:grpSp>
            <p:nvGrpSpPr>
              <p:cNvPr id="42" name="Group 41"/>
              <p:cNvGrpSpPr/>
              <p:nvPr/>
            </p:nvGrpSpPr>
            <p:grpSpPr>
              <a:xfrm>
                <a:off x="5678129" y="1610585"/>
                <a:ext cx="1710813" cy="2636950"/>
                <a:chOff x="5678129" y="1610585"/>
                <a:chExt cx="1710813" cy="2636950"/>
              </a:xfrm>
            </p:grpSpPr>
            <p:sp>
              <p:nvSpPr>
                <p:cNvPr id="53" name="Rectangle 52"/>
                <p:cNvSpPr/>
                <p:nvPr/>
              </p:nvSpPr>
              <p:spPr>
                <a:xfrm>
                  <a:off x="5678129" y="1610585"/>
                  <a:ext cx="1710813" cy="2636950"/>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Candara" panose="020E0502030303020204" pitchFamily="34" charset="0"/>
                  </a:endParaRPr>
                </a:p>
              </p:txBody>
            </p:sp>
            <p:sp>
              <p:nvSpPr>
                <p:cNvPr id="54" name="Oval 53"/>
                <p:cNvSpPr/>
                <p:nvPr/>
              </p:nvSpPr>
              <p:spPr>
                <a:xfrm>
                  <a:off x="5855110" y="1735842"/>
                  <a:ext cx="1371600" cy="52066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Candara" panose="020E0502030303020204" pitchFamily="34" charset="0"/>
                    </a:rPr>
                    <a:t>nonce</a:t>
                  </a:r>
                </a:p>
              </p:txBody>
            </p:sp>
            <p:sp>
              <p:nvSpPr>
                <p:cNvPr id="55" name="Oval 54"/>
                <p:cNvSpPr/>
                <p:nvPr/>
              </p:nvSpPr>
              <p:spPr>
                <a:xfrm>
                  <a:off x="5847735" y="2359740"/>
                  <a:ext cx="1371600" cy="494410"/>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Candara" panose="020E0502030303020204" pitchFamily="34" charset="0"/>
                    </a:rPr>
                    <a:t>balance</a:t>
                  </a:r>
                </a:p>
              </p:txBody>
            </p:sp>
            <p:sp>
              <p:nvSpPr>
                <p:cNvPr id="56" name="Oval 55"/>
                <p:cNvSpPr/>
                <p:nvPr/>
              </p:nvSpPr>
              <p:spPr>
                <a:xfrm>
                  <a:off x="5855110" y="2979171"/>
                  <a:ext cx="1371600" cy="511725"/>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Candara" panose="020E0502030303020204" pitchFamily="34" charset="0"/>
                    </a:rPr>
                    <a:t>Storage hash</a:t>
                  </a:r>
                </a:p>
              </p:txBody>
            </p:sp>
            <p:sp>
              <p:nvSpPr>
                <p:cNvPr id="57" name="Oval 56"/>
                <p:cNvSpPr/>
                <p:nvPr/>
              </p:nvSpPr>
              <p:spPr>
                <a:xfrm>
                  <a:off x="5855110" y="3588982"/>
                  <a:ext cx="1371600" cy="511725"/>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Candara" panose="020E0502030303020204" pitchFamily="34" charset="0"/>
                    </a:rPr>
                    <a:t>Code hash</a:t>
                  </a:r>
                </a:p>
              </p:txBody>
            </p:sp>
          </p:grpSp>
          <p:grpSp>
            <p:nvGrpSpPr>
              <p:cNvPr id="43" name="Group 42"/>
              <p:cNvGrpSpPr/>
              <p:nvPr/>
            </p:nvGrpSpPr>
            <p:grpSpPr>
              <a:xfrm>
                <a:off x="7083477" y="3013824"/>
                <a:ext cx="1626391" cy="1508955"/>
                <a:chOff x="7083477" y="3013824"/>
                <a:chExt cx="1626391" cy="1508955"/>
              </a:xfrm>
            </p:grpSpPr>
            <p:sp>
              <p:nvSpPr>
                <p:cNvPr id="47" name="Flowchart: Magnetic Disk 46"/>
                <p:cNvSpPr/>
                <p:nvPr/>
              </p:nvSpPr>
              <p:spPr>
                <a:xfrm>
                  <a:off x="7704903" y="3013824"/>
                  <a:ext cx="492564" cy="477072"/>
                </a:xfrm>
                <a:prstGeom prst="flowChartMagneticDisk">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a:latin typeface="Candara" panose="020E0502030303020204" pitchFamily="34" charset="0"/>
                  </a:endParaRPr>
                </a:p>
              </p:txBody>
            </p:sp>
            <p:sp>
              <p:nvSpPr>
                <p:cNvPr id="48" name="Rectangular Callout 47"/>
                <p:cNvSpPr/>
                <p:nvPr/>
              </p:nvSpPr>
              <p:spPr>
                <a:xfrm>
                  <a:off x="7683910" y="3746770"/>
                  <a:ext cx="530942" cy="456521"/>
                </a:xfrm>
                <a:prstGeom prst="wedgeRectCallo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Candara" panose="020E0502030303020204" pitchFamily="34" charset="0"/>
                  </a:endParaRPr>
                </a:p>
              </p:txBody>
            </p:sp>
            <p:cxnSp>
              <p:nvCxnSpPr>
                <p:cNvPr id="49" name="Straight Arrow Connector 48"/>
                <p:cNvCxnSpPr>
                  <a:endCxn id="47" idx="2"/>
                </p:cNvCxnSpPr>
                <p:nvPr/>
              </p:nvCxnSpPr>
              <p:spPr>
                <a:xfrm>
                  <a:off x="7093974" y="3235033"/>
                  <a:ext cx="610929" cy="17327"/>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a:off x="7083477" y="3894237"/>
                  <a:ext cx="610929" cy="17327"/>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7280485" y="3458554"/>
                  <a:ext cx="1429383" cy="485863"/>
                </a:xfrm>
                <a:prstGeom prst="rect">
                  <a:avLst/>
                </a:prstGeom>
                <a:noFill/>
                <a:ln w="25400">
                  <a:noFill/>
                </a:ln>
              </p:spPr>
              <p:txBody>
                <a:bodyPr wrap="square" rtlCol="0">
                  <a:spAutoFit/>
                </a:bodyPr>
                <a:lstStyle/>
                <a:p>
                  <a:r>
                    <a:rPr lang="en-US" sz="800" b="1" dirty="0">
                      <a:latin typeface="Candara" panose="020E0502030303020204" pitchFamily="34" charset="0"/>
                    </a:rPr>
                    <a:t>Account storage</a:t>
                  </a:r>
                </a:p>
              </p:txBody>
            </p:sp>
            <p:sp>
              <p:nvSpPr>
                <p:cNvPr id="52" name="TextBox 51"/>
                <p:cNvSpPr txBox="1"/>
                <p:nvPr/>
              </p:nvSpPr>
              <p:spPr>
                <a:xfrm>
                  <a:off x="7400665" y="4213593"/>
                  <a:ext cx="1077357" cy="309186"/>
                </a:xfrm>
                <a:prstGeom prst="rect">
                  <a:avLst/>
                </a:prstGeom>
                <a:noFill/>
                <a:ln>
                  <a:noFill/>
                </a:ln>
              </p:spPr>
              <p:txBody>
                <a:bodyPr wrap="square" rtlCol="0">
                  <a:spAutoFit/>
                </a:bodyPr>
                <a:lstStyle/>
                <a:p>
                  <a:r>
                    <a:rPr lang="en-US" sz="800" b="1" dirty="0">
                      <a:latin typeface="Candara" panose="020E0502030303020204" pitchFamily="34" charset="0"/>
                    </a:rPr>
                    <a:t>EVM Code </a:t>
                  </a:r>
                </a:p>
              </p:txBody>
            </p:sp>
          </p:grpSp>
          <p:sp>
            <p:nvSpPr>
              <p:cNvPr id="44" name="Oval 43"/>
              <p:cNvSpPr/>
              <p:nvPr/>
            </p:nvSpPr>
            <p:spPr>
              <a:xfrm>
                <a:off x="3532239" y="1839078"/>
                <a:ext cx="1371600" cy="52066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latin typeface="Candara" panose="020E0502030303020204" pitchFamily="34" charset="0"/>
                  </a:rPr>
                  <a:t>Address</a:t>
                </a:r>
              </a:p>
            </p:txBody>
          </p:sp>
          <p:cxnSp>
            <p:nvCxnSpPr>
              <p:cNvPr id="45" name="Straight Arrow Connector 44"/>
              <p:cNvCxnSpPr/>
              <p:nvPr/>
            </p:nvCxnSpPr>
            <p:spPr>
              <a:xfrm>
                <a:off x="4903839" y="2082082"/>
                <a:ext cx="789039" cy="17327"/>
              </a:xfrm>
              <a:prstGeom prst="straightConnector1">
                <a:avLst/>
              </a:prstGeom>
              <a:ln>
                <a:solidFill>
                  <a:schemeClr val="tx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46" name="Rectangle 45"/>
              <p:cNvSpPr/>
              <p:nvPr/>
            </p:nvSpPr>
            <p:spPr>
              <a:xfrm>
                <a:off x="3421626" y="1327355"/>
                <a:ext cx="5230217" cy="3274142"/>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Candara" panose="020E0502030303020204" pitchFamily="34" charset="0"/>
                </a:endParaRPr>
              </a:p>
            </p:txBody>
          </p:sp>
        </p:grpSp>
        <p:sp>
          <p:nvSpPr>
            <p:cNvPr id="41" name="TextBox 40"/>
            <p:cNvSpPr txBox="1"/>
            <p:nvPr/>
          </p:nvSpPr>
          <p:spPr>
            <a:xfrm>
              <a:off x="3337335" y="4029423"/>
              <a:ext cx="989349" cy="401036"/>
            </a:xfrm>
            <a:prstGeom prst="rect">
              <a:avLst/>
            </a:prstGeom>
            <a:noFill/>
            <a:ln>
              <a:noFill/>
            </a:ln>
          </p:spPr>
          <p:txBody>
            <a:bodyPr wrap="square" rtlCol="0">
              <a:spAutoFit/>
            </a:bodyPr>
            <a:lstStyle/>
            <a:p>
              <a:pPr algn="ctr"/>
              <a:r>
                <a:rPr lang="en-US" sz="900" dirty="0">
                  <a:latin typeface="Candara" panose="020E0502030303020204" pitchFamily="34" charset="0"/>
                </a:rPr>
                <a:t>Account state</a:t>
              </a:r>
            </a:p>
          </p:txBody>
        </p:sp>
      </p:grpSp>
      <p:grpSp>
        <p:nvGrpSpPr>
          <p:cNvPr id="58" name="Group 57"/>
          <p:cNvGrpSpPr/>
          <p:nvPr/>
        </p:nvGrpSpPr>
        <p:grpSpPr>
          <a:xfrm>
            <a:off x="7084302" y="3346940"/>
            <a:ext cx="3398268" cy="2361223"/>
            <a:chOff x="4899309" y="2010879"/>
            <a:chExt cx="4244691" cy="2688711"/>
          </a:xfrm>
        </p:grpSpPr>
        <p:grpSp>
          <p:nvGrpSpPr>
            <p:cNvPr id="59" name="Group 58"/>
            <p:cNvGrpSpPr/>
            <p:nvPr/>
          </p:nvGrpSpPr>
          <p:grpSpPr>
            <a:xfrm>
              <a:off x="5057489" y="2167423"/>
              <a:ext cx="3923070" cy="2375624"/>
              <a:chOff x="5013245" y="2167423"/>
              <a:chExt cx="3923070" cy="2375624"/>
            </a:xfrm>
          </p:grpSpPr>
          <p:sp>
            <p:nvSpPr>
              <p:cNvPr id="61" name="Rounded Rectangle 60"/>
              <p:cNvSpPr/>
              <p:nvPr/>
            </p:nvSpPr>
            <p:spPr>
              <a:xfrm>
                <a:off x="5013245" y="2167423"/>
                <a:ext cx="3923070" cy="2375624"/>
              </a:xfrm>
              <a:prstGeom prst="roundRect">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Candara" panose="020E0502030303020204" pitchFamily="34" charset="0"/>
                </a:endParaRPr>
              </a:p>
            </p:txBody>
          </p:sp>
          <p:sp>
            <p:nvSpPr>
              <p:cNvPr id="62" name="Oval 61"/>
              <p:cNvSpPr/>
              <p:nvPr/>
            </p:nvSpPr>
            <p:spPr>
              <a:xfrm>
                <a:off x="5206180" y="2404132"/>
                <a:ext cx="1135626" cy="457055"/>
              </a:xfrm>
              <a:prstGeom prst="ellipse">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Candara" panose="020E0502030303020204" pitchFamily="34" charset="0"/>
                  </a:rPr>
                  <a:t>Address 1</a:t>
                </a:r>
              </a:p>
            </p:txBody>
          </p:sp>
          <p:sp>
            <p:nvSpPr>
              <p:cNvPr id="63" name="Oval 62"/>
              <p:cNvSpPr/>
              <p:nvPr/>
            </p:nvSpPr>
            <p:spPr>
              <a:xfrm>
                <a:off x="5206180" y="2959452"/>
                <a:ext cx="1135626" cy="457055"/>
              </a:xfrm>
              <a:prstGeom prst="ellipse">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Candara" panose="020E0502030303020204" pitchFamily="34" charset="0"/>
                  </a:rPr>
                  <a:t>Address 2</a:t>
                </a:r>
              </a:p>
            </p:txBody>
          </p:sp>
          <p:sp>
            <p:nvSpPr>
              <p:cNvPr id="64" name="Oval 63"/>
              <p:cNvSpPr/>
              <p:nvPr/>
            </p:nvSpPr>
            <p:spPr>
              <a:xfrm>
                <a:off x="5206180" y="3507264"/>
                <a:ext cx="1135626" cy="457055"/>
              </a:xfrm>
              <a:prstGeom prst="ellipse">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Candara" panose="020E0502030303020204" pitchFamily="34" charset="0"/>
                  </a:rPr>
                  <a:t>Address 3</a:t>
                </a:r>
              </a:p>
            </p:txBody>
          </p:sp>
          <p:cxnSp>
            <p:nvCxnSpPr>
              <p:cNvPr id="65" name="Straight Arrow Connector 64"/>
              <p:cNvCxnSpPr/>
              <p:nvPr/>
            </p:nvCxnSpPr>
            <p:spPr>
              <a:xfrm>
                <a:off x="6341806" y="2618430"/>
                <a:ext cx="681359" cy="14229"/>
              </a:xfrm>
              <a:prstGeom prst="straightConnector1">
                <a:avLst/>
              </a:prstGeom>
              <a:ln w="22225">
                <a:solidFill>
                  <a:schemeClr val="tx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a:xfrm>
                <a:off x="6341805" y="3187979"/>
                <a:ext cx="681359" cy="14229"/>
              </a:xfrm>
              <a:prstGeom prst="straightConnector1">
                <a:avLst/>
              </a:prstGeom>
              <a:ln w="22225">
                <a:solidFill>
                  <a:schemeClr val="tx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a:off x="6341805" y="3757081"/>
                <a:ext cx="681359" cy="14229"/>
              </a:xfrm>
              <a:prstGeom prst="straightConnector1">
                <a:avLst/>
              </a:prstGeom>
              <a:ln w="22225">
                <a:solidFill>
                  <a:schemeClr val="tx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68" name="Oval 67"/>
              <p:cNvSpPr/>
              <p:nvPr/>
            </p:nvSpPr>
            <p:spPr>
              <a:xfrm>
                <a:off x="7023165" y="2397016"/>
                <a:ext cx="1707880" cy="457055"/>
              </a:xfrm>
              <a:prstGeom prst="ellipse">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Candara" panose="020E0502030303020204" pitchFamily="34" charset="0"/>
                  </a:rPr>
                  <a:t>Account state 1</a:t>
                </a:r>
              </a:p>
            </p:txBody>
          </p:sp>
          <p:sp>
            <p:nvSpPr>
              <p:cNvPr id="69" name="Oval 68"/>
              <p:cNvSpPr/>
              <p:nvPr/>
            </p:nvSpPr>
            <p:spPr>
              <a:xfrm>
                <a:off x="7023165" y="2959064"/>
                <a:ext cx="1707880" cy="457055"/>
              </a:xfrm>
              <a:prstGeom prst="ellipse">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Candara" panose="020E0502030303020204" pitchFamily="34" charset="0"/>
                  </a:rPr>
                  <a:t>Account state 2</a:t>
                </a:r>
              </a:p>
            </p:txBody>
          </p:sp>
          <p:sp>
            <p:nvSpPr>
              <p:cNvPr id="70" name="Oval 69"/>
              <p:cNvSpPr/>
              <p:nvPr/>
            </p:nvSpPr>
            <p:spPr>
              <a:xfrm>
                <a:off x="7023165" y="3542782"/>
                <a:ext cx="1707880" cy="457055"/>
              </a:xfrm>
              <a:prstGeom prst="ellipse">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Candara" panose="020E0502030303020204" pitchFamily="34" charset="0"/>
                  </a:rPr>
                  <a:t>Account state 3</a:t>
                </a:r>
              </a:p>
            </p:txBody>
          </p:sp>
          <p:sp>
            <p:nvSpPr>
              <p:cNvPr id="71" name="TextBox 70"/>
              <p:cNvSpPr txBox="1"/>
              <p:nvPr/>
            </p:nvSpPr>
            <p:spPr>
              <a:xfrm>
                <a:off x="5663379" y="3865939"/>
                <a:ext cx="339215" cy="595787"/>
              </a:xfrm>
              <a:prstGeom prst="rect">
                <a:avLst/>
              </a:prstGeom>
              <a:noFill/>
              <a:ln w="22225">
                <a:noFill/>
              </a:ln>
            </p:spPr>
            <p:txBody>
              <a:bodyPr wrap="square" rtlCol="0">
                <a:spAutoFit/>
              </a:bodyPr>
              <a:lstStyle/>
              <a:p>
                <a:r>
                  <a:rPr lang="en-US" sz="1400" b="1" dirty="0">
                    <a:latin typeface="Candara" panose="020E0502030303020204" pitchFamily="34" charset="0"/>
                  </a:rPr>
                  <a:t>.</a:t>
                </a:r>
              </a:p>
              <a:p>
                <a:r>
                  <a:rPr lang="en-US" sz="1400" b="1" dirty="0">
                    <a:latin typeface="Candara" panose="020E0502030303020204" pitchFamily="34" charset="0"/>
                  </a:rPr>
                  <a:t>.</a:t>
                </a:r>
              </a:p>
            </p:txBody>
          </p:sp>
          <p:sp>
            <p:nvSpPr>
              <p:cNvPr id="72" name="TextBox 71"/>
              <p:cNvSpPr txBox="1"/>
              <p:nvPr/>
            </p:nvSpPr>
            <p:spPr>
              <a:xfrm>
                <a:off x="7781577" y="3887658"/>
                <a:ext cx="339215" cy="595787"/>
              </a:xfrm>
              <a:prstGeom prst="rect">
                <a:avLst/>
              </a:prstGeom>
              <a:noFill/>
              <a:ln w="22225">
                <a:noFill/>
              </a:ln>
            </p:spPr>
            <p:txBody>
              <a:bodyPr wrap="square" rtlCol="0">
                <a:spAutoFit/>
              </a:bodyPr>
              <a:lstStyle/>
              <a:p>
                <a:r>
                  <a:rPr lang="en-US" sz="1400" b="1" dirty="0">
                    <a:latin typeface="Candara" panose="020E0502030303020204" pitchFamily="34" charset="0"/>
                  </a:rPr>
                  <a:t>.</a:t>
                </a:r>
              </a:p>
              <a:p>
                <a:r>
                  <a:rPr lang="en-US" sz="1400" b="1" dirty="0">
                    <a:latin typeface="Candara" panose="020E0502030303020204" pitchFamily="34" charset="0"/>
                  </a:rPr>
                  <a:t>.</a:t>
                </a:r>
              </a:p>
            </p:txBody>
          </p:sp>
        </p:grpSp>
        <p:sp>
          <p:nvSpPr>
            <p:cNvPr id="60" name="Rectangle 59"/>
            <p:cNvSpPr/>
            <p:nvPr/>
          </p:nvSpPr>
          <p:spPr>
            <a:xfrm>
              <a:off x="4899309" y="2010879"/>
              <a:ext cx="4244691" cy="2688711"/>
            </a:xfrm>
            <a:prstGeom prst="rect">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latin typeface="Candara" panose="020E0502030303020204" pitchFamily="34" charset="0"/>
              </a:endParaRPr>
            </a:p>
          </p:txBody>
        </p:sp>
      </p:grpSp>
    </p:spTree>
    <p:extLst>
      <p:ext uri="{BB962C8B-B14F-4D97-AF65-F5344CB8AC3E}">
        <p14:creationId xmlns:p14="http://schemas.microsoft.com/office/powerpoint/2010/main" val="1726369986"/>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World State Trie</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44</a:t>
            </a:fld>
            <a:endParaRPr lang="en-US" dirty="0">
              <a:latin typeface="Candara" panose="020E0502030303020204" pitchFamily="34" charset="0"/>
            </a:endParaRPr>
          </a:p>
        </p:txBody>
      </p:sp>
      <p:grpSp>
        <p:nvGrpSpPr>
          <p:cNvPr id="22" name="Group 21"/>
          <p:cNvGrpSpPr/>
          <p:nvPr/>
        </p:nvGrpSpPr>
        <p:grpSpPr>
          <a:xfrm>
            <a:off x="1641354" y="1142113"/>
            <a:ext cx="4244691" cy="2688711"/>
            <a:chOff x="4899309" y="2010879"/>
            <a:chExt cx="4244691" cy="2688711"/>
          </a:xfrm>
        </p:grpSpPr>
        <p:grpSp>
          <p:nvGrpSpPr>
            <p:cNvPr id="23" name="Group 22"/>
            <p:cNvGrpSpPr/>
            <p:nvPr/>
          </p:nvGrpSpPr>
          <p:grpSpPr>
            <a:xfrm>
              <a:off x="5057489" y="2167423"/>
              <a:ext cx="3923070" cy="2428121"/>
              <a:chOff x="5013245" y="2167423"/>
              <a:chExt cx="3923070" cy="2428121"/>
            </a:xfrm>
          </p:grpSpPr>
          <p:sp>
            <p:nvSpPr>
              <p:cNvPr id="25" name="Rounded Rectangle 24"/>
              <p:cNvSpPr/>
              <p:nvPr/>
            </p:nvSpPr>
            <p:spPr>
              <a:xfrm>
                <a:off x="5013245" y="2167423"/>
                <a:ext cx="3923070" cy="237562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26" name="Oval 25"/>
              <p:cNvSpPr/>
              <p:nvPr/>
            </p:nvSpPr>
            <p:spPr>
              <a:xfrm>
                <a:off x="5206180" y="2404132"/>
                <a:ext cx="1135626" cy="45705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ndara" panose="020E0502030303020204" pitchFamily="34" charset="0"/>
                  </a:rPr>
                  <a:t>Alice Address</a:t>
                </a:r>
              </a:p>
            </p:txBody>
          </p:sp>
          <p:sp>
            <p:nvSpPr>
              <p:cNvPr id="27" name="Oval 26"/>
              <p:cNvSpPr/>
              <p:nvPr/>
            </p:nvSpPr>
            <p:spPr>
              <a:xfrm>
                <a:off x="5206180" y="2959452"/>
                <a:ext cx="1135626" cy="45705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ndara" panose="020E0502030303020204" pitchFamily="34" charset="0"/>
                  </a:rPr>
                  <a:t>Bob Address</a:t>
                </a:r>
              </a:p>
            </p:txBody>
          </p:sp>
          <p:sp>
            <p:nvSpPr>
              <p:cNvPr id="28" name="Oval 27"/>
              <p:cNvSpPr/>
              <p:nvPr/>
            </p:nvSpPr>
            <p:spPr>
              <a:xfrm>
                <a:off x="5206180" y="3507264"/>
                <a:ext cx="1135626" cy="45705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ndara" panose="020E0502030303020204" pitchFamily="34" charset="0"/>
                  </a:rPr>
                  <a:t>Address 3</a:t>
                </a:r>
              </a:p>
            </p:txBody>
          </p:sp>
          <p:cxnSp>
            <p:nvCxnSpPr>
              <p:cNvPr id="29" name="Straight Arrow Connector 28"/>
              <p:cNvCxnSpPr/>
              <p:nvPr/>
            </p:nvCxnSpPr>
            <p:spPr>
              <a:xfrm>
                <a:off x="6341806" y="2618430"/>
                <a:ext cx="681359" cy="14229"/>
              </a:xfrm>
              <a:prstGeom prst="straightConnector1">
                <a:avLst/>
              </a:prstGeom>
              <a:ln>
                <a:solidFill>
                  <a:schemeClr val="tx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6341805" y="3187979"/>
                <a:ext cx="681359" cy="14229"/>
              </a:xfrm>
              <a:prstGeom prst="straightConnector1">
                <a:avLst/>
              </a:prstGeom>
              <a:ln>
                <a:solidFill>
                  <a:schemeClr val="tx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6341805" y="3757081"/>
                <a:ext cx="681359" cy="14229"/>
              </a:xfrm>
              <a:prstGeom prst="straightConnector1">
                <a:avLst/>
              </a:prstGeom>
              <a:ln>
                <a:solidFill>
                  <a:schemeClr val="tx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32" name="Oval 31"/>
              <p:cNvSpPr/>
              <p:nvPr/>
            </p:nvSpPr>
            <p:spPr>
              <a:xfrm>
                <a:off x="7023165" y="2397016"/>
                <a:ext cx="1707880" cy="45705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ndara" panose="020E0502030303020204" pitchFamily="34" charset="0"/>
                  </a:rPr>
                  <a:t>Alice account state</a:t>
                </a:r>
              </a:p>
            </p:txBody>
          </p:sp>
          <p:sp>
            <p:nvSpPr>
              <p:cNvPr id="33" name="Oval 32"/>
              <p:cNvSpPr/>
              <p:nvPr/>
            </p:nvSpPr>
            <p:spPr>
              <a:xfrm>
                <a:off x="7023165" y="2959064"/>
                <a:ext cx="1707880" cy="45705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ndara" panose="020E0502030303020204" pitchFamily="34" charset="0"/>
                  </a:rPr>
                  <a:t>Bob account state</a:t>
                </a:r>
              </a:p>
            </p:txBody>
          </p:sp>
          <p:sp>
            <p:nvSpPr>
              <p:cNvPr id="34" name="Oval 33"/>
              <p:cNvSpPr/>
              <p:nvPr/>
            </p:nvSpPr>
            <p:spPr>
              <a:xfrm>
                <a:off x="7023165" y="3542782"/>
                <a:ext cx="1707880" cy="45705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ndara" panose="020E0502030303020204" pitchFamily="34" charset="0"/>
                  </a:rPr>
                  <a:t>Account state 3</a:t>
                </a:r>
              </a:p>
            </p:txBody>
          </p:sp>
          <p:sp>
            <p:nvSpPr>
              <p:cNvPr id="35" name="TextBox 34"/>
              <p:cNvSpPr txBox="1"/>
              <p:nvPr/>
            </p:nvSpPr>
            <p:spPr>
              <a:xfrm>
                <a:off x="5663379" y="3865939"/>
                <a:ext cx="339215" cy="707886"/>
              </a:xfrm>
              <a:prstGeom prst="rect">
                <a:avLst/>
              </a:prstGeom>
              <a:noFill/>
            </p:spPr>
            <p:txBody>
              <a:bodyPr wrap="square" rtlCol="0">
                <a:spAutoFit/>
              </a:bodyPr>
              <a:lstStyle/>
              <a:p>
                <a:r>
                  <a:rPr lang="en-US" sz="2000" b="1" dirty="0">
                    <a:latin typeface="Candara" panose="020E0502030303020204" pitchFamily="34" charset="0"/>
                  </a:rPr>
                  <a:t>.</a:t>
                </a:r>
              </a:p>
              <a:p>
                <a:r>
                  <a:rPr lang="en-US" sz="2000" b="1" dirty="0">
                    <a:latin typeface="Candara" panose="020E0502030303020204" pitchFamily="34" charset="0"/>
                  </a:rPr>
                  <a:t>.</a:t>
                </a:r>
              </a:p>
            </p:txBody>
          </p:sp>
          <p:sp>
            <p:nvSpPr>
              <p:cNvPr id="36" name="TextBox 35"/>
              <p:cNvSpPr txBox="1"/>
              <p:nvPr/>
            </p:nvSpPr>
            <p:spPr>
              <a:xfrm>
                <a:off x="7781577" y="3887658"/>
                <a:ext cx="339215" cy="707886"/>
              </a:xfrm>
              <a:prstGeom prst="rect">
                <a:avLst/>
              </a:prstGeom>
              <a:noFill/>
            </p:spPr>
            <p:txBody>
              <a:bodyPr wrap="square" rtlCol="0">
                <a:spAutoFit/>
              </a:bodyPr>
              <a:lstStyle/>
              <a:p>
                <a:r>
                  <a:rPr lang="en-US" sz="2000" b="1" dirty="0">
                    <a:latin typeface="Candara" panose="020E0502030303020204" pitchFamily="34" charset="0"/>
                  </a:rPr>
                  <a:t>.</a:t>
                </a:r>
              </a:p>
              <a:p>
                <a:r>
                  <a:rPr lang="en-US" sz="2000" b="1" dirty="0">
                    <a:latin typeface="Candara" panose="020E0502030303020204" pitchFamily="34" charset="0"/>
                  </a:rPr>
                  <a:t>.</a:t>
                </a:r>
              </a:p>
            </p:txBody>
          </p:sp>
        </p:grpSp>
        <p:sp>
          <p:nvSpPr>
            <p:cNvPr id="24" name="Rectangle 23"/>
            <p:cNvSpPr/>
            <p:nvPr/>
          </p:nvSpPr>
          <p:spPr>
            <a:xfrm>
              <a:off x="4899309" y="2010879"/>
              <a:ext cx="4244691" cy="268871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grpSp>
      <p:grpSp>
        <p:nvGrpSpPr>
          <p:cNvPr id="83" name="Group 82"/>
          <p:cNvGrpSpPr/>
          <p:nvPr/>
        </p:nvGrpSpPr>
        <p:grpSpPr>
          <a:xfrm>
            <a:off x="1639599" y="4014855"/>
            <a:ext cx="4325964" cy="2477293"/>
            <a:chOff x="115599" y="4014854"/>
            <a:chExt cx="4325964" cy="2477293"/>
          </a:xfrm>
        </p:grpSpPr>
        <p:grpSp>
          <p:nvGrpSpPr>
            <p:cNvPr id="5" name="Group 4"/>
            <p:cNvGrpSpPr/>
            <p:nvPr/>
          </p:nvGrpSpPr>
          <p:grpSpPr>
            <a:xfrm>
              <a:off x="115599" y="4014854"/>
              <a:ext cx="4325964" cy="2477293"/>
              <a:chOff x="3421626" y="1327355"/>
              <a:chExt cx="5319347" cy="3274142"/>
            </a:xfrm>
          </p:grpSpPr>
          <p:grpSp>
            <p:nvGrpSpPr>
              <p:cNvPr id="6" name="Group 5"/>
              <p:cNvGrpSpPr/>
              <p:nvPr/>
            </p:nvGrpSpPr>
            <p:grpSpPr>
              <a:xfrm>
                <a:off x="5678129" y="1610585"/>
                <a:ext cx="1710813" cy="2636950"/>
                <a:chOff x="5678129" y="1610585"/>
                <a:chExt cx="1710813" cy="2636950"/>
              </a:xfrm>
            </p:grpSpPr>
            <p:sp>
              <p:nvSpPr>
                <p:cNvPr id="17" name="Rectangle 16"/>
                <p:cNvSpPr/>
                <p:nvPr/>
              </p:nvSpPr>
              <p:spPr>
                <a:xfrm>
                  <a:off x="5678129" y="1610585"/>
                  <a:ext cx="1710813" cy="26369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18" name="Oval 17"/>
                <p:cNvSpPr/>
                <p:nvPr/>
              </p:nvSpPr>
              <p:spPr>
                <a:xfrm>
                  <a:off x="5855110" y="1735842"/>
                  <a:ext cx="1371600" cy="52066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andara" panose="020E0502030303020204" pitchFamily="34" charset="0"/>
                    </a:rPr>
                    <a:t>nonce</a:t>
                  </a:r>
                </a:p>
              </p:txBody>
            </p:sp>
            <p:sp>
              <p:nvSpPr>
                <p:cNvPr id="19" name="Oval 18"/>
                <p:cNvSpPr/>
                <p:nvPr/>
              </p:nvSpPr>
              <p:spPr>
                <a:xfrm>
                  <a:off x="5847735" y="2359740"/>
                  <a:ext cx="1371600" cy="49441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andara" panose="020E0502030303020204" pitchFamily="34" charset="0"/>
                    </a:rPr>
                    <a:t>balance</a:t>
                  </a:r>
                </a:p>
              </p:txBody>
            </p:sp>
            <p:sp>
              <p:nvSpPr>
                <p:cNvPr id="20" name="Oval 19"/>
                <p:cNvSpPr/>
                <p:nvPr/>
              </p:nvSpPr>
              <p:spPr>
                <a:xfrm>
                  <a:off x="5855110" y="2979171"/>
                  <a:ext cx="1371600" cy="5117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andara" panose="020E0502030303020204" pitchFamily="34" charset="0"/>
                    </a:rPr>
                    <a:t>Storage hash</a:t>
                  </a:r>
                </a:p>
              </p:txBody>
            </p:sp>
            <p:sp>
              <p:nvSpPr>
                <p:cNvPr id="21" name="Oval 20"/>
                <p:cNvSpPr/>
                <p:nvPr/>
              </p:nvSpPr>
              <p:spPr>
                <a:xfrm>
                  <a:off x="5855110" y="3588982"/>
                  <a:ext cx="1371600" cy="5117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andara" panose="020E0502030303020204" pitchFamily="34" charset="0"/>
                    </a:rPr>
                    <a:t>Code hash</a:t>
                  </a:r>
                </a:p>
              </p:txBody>
            </p:sp>
          </p:grpSp>
          <p:grpSp>
            <p:nvGrpSpPr>
              <p:cNvPr id="7" name="Group 6"/>
              <p:cNvGrpSpPr/>
              <p:nvPr/>
            </p:nvGrpSpPr>
            <p:grpSpPr>
              <a:xfrm>
                <a:off x="7083477" y="3013824"/>
                <a:ext cx="1657496" cy="1524362"/>
                <a:chOff x="7083477" y="3013824"/>
                <a:chExt cx="1657496" cy="1524362"/>
              </a:xfrm>
            </p:grpSpPr>
            <p:sp>
              <p:nvSpPr>
                <p:cNvPr id="11" name="Flowchart: Magnetic Disk 10"/>
                <p:cNvSpPr/>
                <p:nvPr/>
              </p:nvSpPr>
              <p:spPr>
                <a:xfrm>
                  <a:off x="7704903" y="3013824"/>
                  <a:ext cx="492564" cy="477072"/>
                </a:xfrm>
                <a:prstGeom prst="flowChartMagneticDisk">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12" name="Rectangular Callout 11"/>
                <p:cNvSpPr/>
                <p:nvPr/>
              </p:nvSpPr>
              <p:spPr>
                <a:xfrm>
                  <a:off x="7683910" y="3746770"/>
                  <a:ext cx="530942" cy="456521"/>
                </a:xfrm>
                <a:prstGeom prst="wedgeRectCallo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cxnSp>
              <p:nvCxnSpPr>
                <p:cNvPr id="13" name="Straight Arrow Connector 12"/>
                <p:cNvCxnSpPr>
                  <a:endCxn id="11" idx="2"/>
                </p:cNvCxnSpPr>
                <p:nvPr/>
              </p:nvCxnSpPr>
              <p:spPr>
                <a:xfrm>
                  <a:off x="7093974" y="3235033"/>
                  <a:ext cx="610929" cy="17327"/>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7083477" y="3894237"/>
                  <a:ext cx="610929" cy="17327"/>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7311589" y="3458448"/>
                  <a:ext cx="1429384" cy="345760"/>
                </a:xfrm>
                <a:prstGeom prst="rect">
                  <a:avLst/>
                </a:prstGeom>
                <a:noFill/>
              </p:spPr>
              <p:txBody>
                <a:bodyPr wrap="square" rtlCol="0">
                  <a:spAutoFit/>
                </a:bodyPr>
                <a:lstStyle/>
                <a:p>
                  <a:r>
                    <a:rPr lang="en-US" sz="1100" dirty="0">
                      <a:latin typeface="Candara" panose="020E0502030303020204" pitchFamily="34" charset="0"/>
                    </a:rPr>
                    <a:t>Account storage</a:t>
                  </a:r>
                </a:p>
              </p:txBody>
            </p:sp>
            <p:sp>
              <p:nvSpPr>
                <p:cNvPr id="16" name="TextBox 15"/>
                <p:cNvSpPr txBox="1"/>
                <p:nvPr/>
              </p:nvSpPr>
              <p:spPr>
                <a:xfrm>
                  <a:off x="7567201" y="4192426"/>
                  <a:ext cx="1077359" cy="345760"/>
                </a:xfrm>
                <a:prstGeom prst="rect">
                  <a:avLst/>
                </a:prstGeom>
                <a:noFill/>
              </p:spPr>
              <p:txBody>
                <a:bodyPr wrap="square" rtlCol="0">
                  <a:spAutoFit/>
                </a:bodyPr>
                <a:lstStyle/>
                <a:p>
                  <a:r>
                    <a:rPr lang="en-US" sz="1100" dirty="0">
                      <a:latin typeface="Candara" panose="020E0502030303020204" pitchFamily="34" charset="0"/>
                    </a:rPr>
                    <a:t>EVM Code </a:t>
                  </a:r>
                </a:p>
              </p:txBody>
            </p:sp>
          </p:grpSp>
          <p:sp>
            <p:nvSpPr>
              <p:cNvPr id="8" name="Oval 7"/>
              <p:cNvSpPr/>
              <p:nvPr/>
            </p:nvSpPr>
            <p:spPr>
              <a:xfrm>
                <a:off x="3532239" y="1720750"/>
                <a:ext cx="1371600" cy="7573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FF0000"/>
                    </a:solidFill>
                    <a:latin typeface="Candara" panose="020E0502030303020204" pitchFamily="34" charset="0"/>
                  </a:rPr>
                  <a:t>Alice Address</a:t>
                </a:r>
              </a:p>
            </p:txBody>
          </p:sp>
          <p:cxnSp>
            <p:nvCxnSpPr>
              <p:cNvPr id="9" name="Straight Arrow Connector 8"/>
              <p:cNvCxnSpPr/>
              <p:nvPr/>
            </p:nvCxnSpPr>
            <p:spPr>
              <a:xfrm>
                <a:off x="4903839" y="2082082"/>
                <a:ext cx="789039" cy="17327"/>
              </a:xfrm>
              <a:prstGeom prst="straightConnector1">
                <a:avLst/>
              </a:prstGeom>
              <a:ln>
                <a:solidFill>
                  <a:schemeClr val="tx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3421626" y="1327355"/>
                <a:ext cx="5230217" cy="32741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grpSp>
        <p:sp>
          <p:nvSpPr>
            <p:cNvPr id="37" name="TextBox 36"/>
            <p:cNvSpPr txBox="1"/>
            <p:nvPr/>
          </p:nvSpPr>
          <p:spPr>
            <a:xfrm>
              <a:off x="3337335" y="4029423"/>
              <a:ext cx="989349" cy="523220"/>
            </a:xfrm>
            <a:prstGeom prst="rect">
              <a:avLst/>
            </a:prstGeom>
            <a:noFill/>
          </p:spPr>
          <p:txBody>
            <a:bodyPr wrap="square" rtlCol="0">
              <a:spAutoFit/>
            </a:bodyPr>
            <a:lstStyle/>
            <a:p>
              <a:pPr algn="ctr"/>
              <a:r>
                <a:rPr lang="en-US" sz="1400" b="1" dirty="0">
                  <a:solidFill>
                    <a:srgbClr val="FF0000"/>
                  </a:solidFill>
                  <a:latin typeface="Candara" panose="020E0502030303020204" pitchFamily="34" charset="0"/>
                </a:rPr>
                <a:t>Alice’s account</a:t>
              </a:r>
            </a:p>
          </p:txBody>
        </p:sp>
      </p:grpSp>
      <p:sp>
        <p:nvSpPr>
          <p:cNvPr id="50" name="TextBox 49"/>
          <p:cNvSpPr txBox="1"/>
          <p:nvPr/>
        </p:nvSpPr>
        <p:spPr>
          <a:xfrm>
            <a:off x="6230258" y="1157211"/>
            <a:ext cx="5383537" cy="738664"/>
          </a:xfrm>
          <a:prstGeom prst="rect">
            <a:avLst/>
          </a:prstGeom>
          <a:noFill/>
          <a:ln>
            <a:noFill/>
          </a:ln>
        </p:spPr>
        <p:txBody>
          <a:bodyPr wrap="square" rtlCol="0">
            <a:spAutoFit/>
          </a:bodyPr>
          <a:lstStyle/>
          <a:p>
            <a:pPr algn="ctr"/>
            <a:r>
              <a:rPr lang="en-US" sz="1400" dirty="0">
                <a:latin typeface="Candara" panose="020E0502030303020204" pitchFamily="34" charset="0"/>
              </a:rPr>
              <a:t>Solution: Create a world state </a:t>
            </a:r>
            <a:r>
              <a:rPr lang="en-US" sz="1400" dirty="0" err="1">
                <a:latin typeface="Candara" panose="020E0502030303020204" pitchFamily="34" charset="0"/>
              </a:rPr>
              <a:t>trie</a:t>
            </a:r>
            <a:r>
              <a:rPr lang="en-US" sz="1400" dirty="0">
                <a:latin typeface="Candara" panose="020E0502030303020204" pitchFamily="34" charset="0"/>
              </a:rPr>
              <a:t> – pack all the Ethereum account states into a deterministic and cryptographically verifiable structure and then store the state root in the block header </a:t>
            </a:r>
          </a:p>
        </p:txBody>
      </p:sp>
      <p:grpSp>
        <p:nvGrpSpPr>
          <p:cNvPr id="46" name="Group 45"/>
          <p:cNvGrpSpPr/>
          <p:nvPr/>
        </p:nvGrpSpPr>
        <p:grpSpPr>
          <a:xfrm>
            <a:off x="5886044" y="4029423"/>
            <a:ext cx="1288654" cy="2457786"/>
            <a:chOff x="4362044" y="4029423"/>
            <a:chExt cx="1288654" cy="2457786"/>
          </a:xfrm>
        </p:grpSpPr>
        <p:sp>
          <p:nvSpPr>
            <p:cNvPr id="40" name="Rectangle 39"/>
            <p:cNvSpPr/>
            <p:nvPr/>
          </p:nvSpPr>
          <p:spPr>
            <a:xfrm>
              <a:off x="4450245" y="4983021"/>
              <a:ext cx="1200453" cy="987106"/>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FF0000"/>
                  </a:solidFill>
                  <a:latin typeface="Candara" panose="020E0502030303020204" pitchFamily="34" charset="0"/>
                </a:rPr>
                <a:t>Alice’s account state </a:t>
              </a:r>
              <a:r>
                <a:rPr lang="en-US" sz="1200" dirty="0">
                  <a:solidFill>
                    <a:schemeClr val="tx1"/>
                  </a:solidFill>
                  <a:latin typeface="Candara" panose="020E0502030303020204" pitchFamily="34" charset="0"/>
                </a:rPr>
                <a:t>[nonce, balance, storage hash, code hash]</a:t>
              </a:r>
            </a:p>
          </p:txBody>
        </p:sp>
        <p:grpSp>
          <p:nvGrpSpPr>
            <p:cNvPr id="45" name="Group 44"/>
            <p:cNvGrpSpPr/>
            <p:nvPr/>
          </p:nvGrpSpPr>
          <p:grpSpPr>
            <a:xfrm>
              <a:off x="4362044" y="4029423"/>
              <a:ext cx="688428" cy="2457786"/>
              <a:chOff x="4362044" y="4029423"/>
              <a:chExt cx="688428" cy="2457786"/>
            </a:xfrm>
          </p:grpSpPr>
          <p:cxnSp>
            <p:nvCxnSpPr>
              <p:cNvPr id="39" name="Straight Connector 38"/>
              <p:cNvCxnSpPr/>
              <p:nvPr/>
            </p:nvCxnSpPr>
            <p:spPr>
              <a:xfrm>
                <a:off x="4369078" y="4029423"/>
                <a:ext cx="629692" cy="94561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a:endCxn id="40" idx="2"/>
              </p:cNvCxnSpPr>
              <p:nvPr/>
            </p:nvCxnSpPr>
            <p:spPr>
              <a:xfrm flipV="1">
                <a:off x="4362044" y="5970127"/>
                <a:ext cx="688428" cy="51708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grpSp>
        <p:nvGrpSpPr>
          <p:cNvPr id="85" name="Group 84"/>
          <p:cNvGrpSpPr/>
          <p:nvPr/>
        </p:nvGrpSpPr>
        <p:grpSpPr>
          <a:xfrm>
            <a:off x="6574473" y="2192179"/>
            <a:ext cx="3932553" cy="3392466"/>
            <a:chOff x="5050472" y="2192179"/>
            <a:chExt cx="3932553" cy="3392466"/>
          </a:xfrm>
        </p:grpSpPr>
        <p:sp>
          <p:nvSpPr>
            <p:cNvPr id="51" name="Rectangle 50"/>
            <p:cNvSpPr/>
            <p:nvPr/>
          </p:nvSpPr>
          <p:spPr>
            <a:xfrm>
              <a:off x="6208522" y="2192179"/>
              <a:ext cx="1047683" cy="445608"/>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andara" panose="020E0502030303020204" pitchFamily="34" charset="0"/>
                </a:rPr>
                <a:t>State Root</a:t>
              </a:r>
            </a:p>
          </p:txBody>
        </p:sp>
        <p:sp>
          <p:nvSpPr>
            <p:cNvPr id="52" name="Rectangle 51"/>
            <p:cNvSpPr/>
            <p:nvPr/>
          </p:nvSpPr>
          <p:spPr>
            <a:xfrm>
              <a:off x="5127490" y="3589298"/>
              <a:ext cx="786624" cy="445608"/>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andara" panose="020E0502030303020204" pitchFamily="34" charset="0"/>
                </a:rPr>
                <a:t>Hash</a:t>
              </a:r>
            </a:p>
          </p:txBody>
        </p:sp>
        <p:sp>
          <p:nvSpPr>
            <p:cNvPr id="53" name="Rectangle 52"/>
            <p:cNvSpPr/>
            <p:nvPr/>
          </p:nvSpPr>
          <p:spPr>
            <a:xfrm>
              <a:off x="7516627" y="3581930"/>
              <a:ext cx="786624" cy="445608"/>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andara" panose="020E0502030303020204" pitchFamily="34" charset="0"/>
                </a:rPr>
                <a:t>Hash</a:t>
              </a:r>
            </a:p>
          </p:txBody>
        </p:sp>
        <p:sp>
          <p:nvSpPr>
            <p:cNvPr id="55" name="Rectangle 54"/>
            <p:cNvSpPr/>
            <p:nvPr/>
          </p:nvSpPr>
          <p:spPr>
            <a:xfrm>
              <a:off x="5819908" y="4990389"/>
              <a:ext cx="786624" cy="594256"/>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ndara" panose="020E0502030303020204" pitchFamily="34" charset="0"/>
                </a:rPr>
                <a:t>Bob’s account state</a:t>
              </a:r>
            </a:p>
          </p:txBody>
        </p:sp>
        <p:sp>
          <p:nvSpPr>
            <p:cNvPr id="56" name="Rectangle 55"/>
            <p:cNvSpPr/>
            <p:nvPr/>
          </p:nvSpPr>
          <p:spPr>
            <a:xfrm>
              <a:off x="7057222" y="4983021"/>
              <a:ext cx="786624" cy="445608"/>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ndara" panose="020E0502030303020204" pitchFamily="34" charset="0"/>
                </a:rPr>
                <a:t>Account state 3</a:t>
              </a:r>
            </a:p>
          </p:txBody>
        </p:sp>
        <p:sp>
          <p:nvSpPr>
            <p:cNvPr id="57" name="Rectangle 56"/>
            <p:cNvSpPr/>
            <p:nvPr/>
          </p:nvSpPr>
          <p:spPr>
            <a:xfrm>
              <a:off x="8196401" y="5003937"/>
              <a:ext cx="786624" cy="445608"/>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grpSp>
          <p:nvGrpSpPr>
            <p:cNvPr id="72" name="Group 71"/>
            <p:cNvGrpSpPr/>
            <p:nvPr/>
          </p:nvGrpSpPr>
          <p:grpSpPr>
            <a:xfrm>
              <a:off x="5050472" y="2633815"/>
              <a:ext cx="3469027" cy="2356574"/>
              <a:chOff x="5050472" y="2633815"/>
              <a:chExt cx="3469027" cy="2356574"/>
            </a:xfrm>
          </p:grpSpPr>
          <p:cxnSp>
            <p:nvCxnSpPr>
              <p:cNvPr id="59" name="Straight Arrow Connector 58"/>
              <p:cNvCxnSpPr>
                <a:stCxn id="40" idx="0"/>
              </p:cNvCxnSpPr>
              <p:nvPr/>
            </p:nvCxnSpPr>
            <p:spPr>
              <a:xfrm flipV="1">
                <a:off x="5050472" y="4034907"/>
                <a:ext cx="261011" cy="948114"/>
              </a:xfrm>
              <a:prstGeom prst="straightConnector1">
                <a:avLst/>
              </a:prstGeom>
              <a:ln w="1270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55" idx="0"/>
              </p:cNvCxnSpPr>
              <p:nvPr/>
            </p:nvCxnSpPr>
            <p:spPr>
              <a:xfrm flipH="1" flipV="1">
                <a:off x="5793250" y="4034907"/>
                <a:ext cx="419970" cy="955482"/>
              </a:xfrm>
              <a:prstGeom prst="straightConnector1">
                <a:avLst/>
              </a:prstGeom>
              <a:ln w="1270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flipV="1">
                <a:off x="7409158" y="4041680"/>
                <a:ext cx="292137" cy="948115"/>
              </a:xfrm>
              <a:prstGeom prst="straightConnector1">
                <a:avLst/>
              </a:prstGeom>
              <a:ln w="1270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flipH="1" flipV="1">
                <a:off x="8099529" y="4024489"/>
                <a:ext cx="419970" cy="955483"/>
              </a:xfrm>
              <a:prstGeom prst="straightConnector1">
                <a:avLst/>
              </a:prstGeom>
              <a:ln w="1270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a:xfrm flipV="1">
                <a:off x="5525995" y="2633815"/>
                <a:ext cx="1011668" cy="952088"/>
              </a:xfrm>
              <a:prstGeom prst="straightConnector1">
                <a:avLst/>
              </a:prstGeom>
              <a:ln w="1270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stCxn id="53" idx="0"/>
              </p:cNvCxnSpPr>
              <p:nvPr/>
            </p:nvCxnSpPr>
            <p:spPr>
              <a:xfrm flipH="1" flipV="1">
                <a:off x="7010739" y="2639730"/>
                <a:ext cx="899200" cy="942200"/>
              </a:xfrm>
              <a:prstGeom prst="straightConnector1">
                <a:avLst/>
              </a:prstGeom>
              <a:ln w="1270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grpSp>
      </p:grpSp>
      <p:sp>
        <p:nvSpPr>
          <p:cNvPr id="73" name="TextBox 72"/>
          <p:cNvSpPr txBox="1"/>
          <p:nvPr/>
        </p:nvSpPr>
        <p:spPr>
          <a:xfrm>
            <a:off x="7288289" y="5813302"/>
            <a:ext cx="4325506" cy="523220"/>
          </a:xfrm>
          <a:prstGeom prst="rect">
            <a:avLst/>
          </a:prstGeom>
          <a:noFill/>
          <a:ln>
            <a:noFill/>
          </a:ln>
        </p:spPr>
        <p:txBody>
          <a:bodyPr wrap="square" rtlCol="0">
            <a:spAutoFit/>
          </a:bodyPr>
          <a:lstStyle/>
          <a:p>
            <a:r>
              <a:rPr lang="en-US" sz="1400" dirty="0">
                <a:latin typeface="Candara" panose="020E0502030303020204" pitchFamily="34" charset="0"/>
              </a:rPr>
              <a:t>Account states are stored in a modified Merkle Patricia Trie or modified MPT (it is not the same as Merkle tree)</a:t>
            </a:r>
          </a:p>
        </p:txBody>
      </p:sp>
      <p:sp>
        <p:nvSpPr>
          <p:cNvPr id="82" name="Rectangle 81"/>
          <p:cNvSpPr/>
          <p:nvPr/>
        </p:nvSpPr>
        <p:spPr>
          <a:xfrm>
            <a:off x="7537353" y="3131070"/>
            <a:ext cx="1521696" cy="600164"/>
          </a:xfrm>
          <a:prstGeom prst="rect">
            <a:avLst/>
          </a:prstGeom>
        </p:spPr>
        <p:txBody>
          <a:bodyPr wrap="square">
            <a:spAutoFit/>
          </a:bodyPr>
          <a:lstStyle/>
          <a:p>
            <a:pPr algn="ctr"/>
            <a:r>
              <a:rPr lang="en-US" sz="1100" dirty="0">
                <a:latin typeface="Candara" panose="020E0502030303020204" pitchFamily="34" charset="0"/>
              </a:rPr>
              <a:t>The word </a:t>
            </a:r>
            <a:r>
              <a:rPr lang="en-US" sz="1100" i="1" dirty="0" err="1">
                <a:latin typeface="Candara" panose="020E0502030303020204" pitchFamily="34" charset="0"/>
              </a:rPr>
              <a:t>trie</a:t>
            </a:r>
            <a:r>
              <a:rPr lang="en-US" sz="1100" dirty="0">
                <a:latin typeface="Candara" panose="020E0502030303020204" pitchFamily="34" charset="0"/>
              </a:rPr>
              <a:t> is taken from re</a:t>
            </a:r>
            <a:r>
              <a:rPr lang="en-US" sz="1100" b="1" i="1" u="sng" dirty="0">
                <a:latin typeface="Candara" panose="020E0502030303020204" pitchFamily="34" charset="0"/>
              </a:rPr>
              <a:t>trie</a:t>
            </a:r>
            <a:r>
              <a:rPr lang="en-US" sz="1100" dirty="0">
                <a:latin typeface="Candara" panose="020E0502030303020204" pitchFamily="34" charset="0"/>
              </a:rPr>
              <a:t>val (pronounce it as tree) </a:t>
            </a:r>
          </a:p>
        </p:txBody>
      </p:sp>
    </p:spTree>
    <p:extLst>
      <p:ext uri="{BB962C8B-B14F-4D97-AF65-F5344CB8AC3E}">
        <p14:creationId xmlns:p14="http://schemas.microsoft.com/office/powerpoint/2010/main" val="1223828562"/>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73" grpId="0" animBg="1"/>
      <p:bldP spid="8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Merkle Patricia Trie (MPT)</a:t>
            </a:r>
          </a:p>
        </p:txBody>
      </p:sp>
      <p:sp>
        <p:nvSpPr>
          <p:cNvPr id="3" name="Content Placeholder 2"/>
          <p:cNvSpPr>
            <a:spLocks noGrp="1"/>
          </p:cNvSpPr>
          <p:nvPr>
            <p:ph idx="1"/>
          </p:nvPr>
        </p:nvSpPr>
        <p:spPr>
          <a:xfrm>
            <a:off x="5018401" y="1122149"/>
            <a:ext cx="6471757" cy="751496"/>
          </a:xfrm>
          <a:ln>
            <a:noFill/>
          </a:ln>
        </p:spPr>
        <p:txBody>
          <a:bodyPr>
            <a:noAutofit/>
          </a:bodyPr>
          <a:lstStyle/>
          <a:p>
            <a:pPr marL="0" indent="0" algn="ctr">
              <a:buNone/>
            </a:pPr>
            <a:r>
              <a:rPr lang="en-US" sz="2000" dirty="0">
                <a:solidFill>
                  <a:srgbClr val="002060"/>
                </a:solidFill>
              </a:rPr>
              <a:t>Basic idea: A node's position in a tree defines the </a:t>
            </a:r>
            <a:r>
              <a:rPr lang="en-US" sz="2000" b="1" dirty="0">
                <a:solidFill>
                  <a:srgbClr val="002060"/>
                </a:solidFill>
              </a:rPr>
              <a:t>key</a:t>
            </a:r>
            <a:r>
              <a:rPr lang="en-US" sz="2000" dirty="0">
                <a:solidFill>
                  <a:srgbClr val="002060"/>
                </a:solidFill>
              </a:rPr>
              <a:t> with which it is associated</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45</a:t>
            </a:fld>
            <a:endParaRPr lang="en-US" dirty="0">
              <a:latin typeface="Candara" panose="020E0502030303020204" pitchFamily="34" charset="0"/>
            </a:endParaRPr>
          </a:p>
        </p:txBody>
      </p:sp>
      <p:grpSp>
        <p:nvGrpSpPr>
          <p:cNvPr id="23" name="Group 22"/>
          <p:cNvGrpSpPr/>
          <p:nvPr/>
        </p:nvGrpSpPr>
        <p:grpSpPr>
          <a:xfrm>
            <a:off x="1131028" y="1957255"/>
            <a:ext cx="2681354" cy="4724455"/>
            <a:chOff x="424900" y="1717928"/>
            <a:chExt cx="2681354" cy="4910392"/>
          </a:xfrm>
        </p:grpSpPr>
        <p:pic>
          <p:nvPicPr>
            <p:cNvPr id="5" name="Picture 4"/>
            <p:cNvPicPr>
              <a:picLocks noChangeAspect="1"/>
            </p:cNvPicPr>
            <p:nvPr/>
          </p:nvPicPr>
          <p:blipFill>
            <a:blip r:embed="rId3"/>
            <a:stretch>
              <a:fillRect/>
            </a:stretch>
          </p:blipFill>
          <p:spPr>
            <a:xfrm rot="5400000">
              <a:off x="-689619" y="2832447"/>
              <a:ext cx="4910392" cy="2681354"/>
            </a:xfrm>
            <a:prstGeom prst="rect">
              <a:avLst/>
            </a:prstGeom>
          </p:spPr>
        </p:pic>
        <p:sp>
          <p:nvSpPr>
            <p:cNvPr id="7" name="Rectangle 6"/>
            <p:cNvSpPr/>
            <p:nvPr/>
          </p:nvSpPr>
          <p:spPr>
            <a:xfrm>
              <a:off x="2566218" y="5279923"/>
              <a:ext cx="412955" cy="2507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latin typeface="Candara" panose="020E0502030303020204" pitchFamily="34" charset="0"/>
                </a:rPr>
                <a:t>V1</a:t>
              </a:r>
            </a:p>
          </p:txBody>
        </p:sp>
        <p:sp>
          <p:nvSpPr>
            <p:cNvPr id="19" name="Rectangle 18"/>
            <p:cNvSpPr/>
            <p:nvPr/>
          </p:nvSpPr>
          <p:spPr>
            <a:xfrm>
              <a:off x="1939132" y="5279923"/>
              <a:ext cx="412955" cy="2507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latin typeface="Candara" panose="020E0502030303020204" pitchFamily="34" charset="0"/>
                </a:rPr>
                <a:t>V2</a:t>
              </a:r>
            </a:p>
          </p:txBody>
        </p:sp>
        <p:sp>
          <p:nvSpPr>
            <p:cNvPr id="20" name="Rectangle 19"/>
            <p:cNvSpPr/>
            <p:nvPr/>
          </p:nvSpPr>
          <p:spPr>
            <a:xfrm>
              <a:off x="1323526" y="5287297"/>
              <a:ext cx="412955" cy="2507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latin typeface="Candara" panose="020E0502030303020204" pitchFamily="34" charset="0"/>
                </a:rPr>
                <a:t>V3</a:t>
              </a:r>
            </a:p>
          </p:txBody>
        </p:sp>
        <p:sp>
          <p:nvSpPr>
            <p:cNvPr id="21" name="Rectangle 20"/>
            <p:cNvSpPr/>
            <p:nvPr/>
          </p:nvSpPr>
          <p:spPr>
            <a:xfrm>
              <a:off x="1271713" y="6167134"/>
              <a:ext cx="412955" cy="2507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latin typeface="Candara" panose="020E0502030303020204" pitchFamily="34" charset="0"/>
                </a:rPr>
                <a:t>V4</a:t>
              </a:r>
            </a:p>
          </p:txBody>
        </p:sp>
        <p:sp>
          <p:nvSpPr>
            <p:cNvPr id="22" name="Rectangle 21"/>
            <p:cNvSpPr/>
            <p:nvPr/>
          </p:nvSpPr>
          <p:spPr>
            <a:xfrm>
              <a:off x="563267" y="6151152"/>
              <a:ext cx="412955" cy="2507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latin typeface="Candara" panose="020E0502030303020204" pitchFamily="34" charset="0"/>
                </a:rPr>
                <a:t>V5</a:t>
              </a:r>
            </a:p>
          </p:txBody>
        </p:sp>
      </p:grpSp>
      <p:sp>
        <p:nvSpPr>
          <p:cNvPr id="17" name="Rectangle 16"/>
          <p:cNvSpPr/>
          <p:nvPr/>
        </p:nvSpPr>
        <p:spPr>
          <a:xfrm>
            <a:off x="5721983" y="6281071"/>
            <a:ext cx="5670883" cy="253916"/>
          </a:xfrm>
          <a:prstGeom prst="rect">
            <a:avLst/>
          </a:prstGeom>
        </p:spPr>
        <p:txBody>
          <a:bodyPr wrap="square">
            <a:spAutoFit/>
          </a:bodyPr>
          <a:lstStyle/>
          <a:p>
            <a:pPr algn="ctr"/>
            <a:r>
              <a:rPr lang="en-US" sz="1050" dirty="0">
                <a:latin typeface="Candara" panose="020E0502030303020204" pitchFamily="34" charset="0"/>
                <a:hlinkClick r:id="rId4"/>
              </a:rPr>
              <a:t>https://blog.ethereum.org/2019/12/30/eth1x-files-state-of-stateless-ethereum/</a:t>
            </a:r>
            <a:r>
              <a:rPr lang="en-US" sz="1050" dirty="0">
                <a:latin typeface="Candara" panose="020E0502030303020204" pitchFamily="34" charset="0"/>
              </a:rPr>
              <a:t> </a:t>
            </a:r>
          </a:p>
        </p:txBody>
      </p:sp>
      <p:sp>
        <p:nvSpPr>
          <p:cNvPr id="18" name="Rectangle 17"/>
          <p:cNvSpPr/>
          <p:nvPr/>
        </p:nvSpPr>
        <p:spPr>
          <a:xfrm>
            <a:off x="560856" y="1037926"/>
            <a:ext cx="3806608" cy="923330"/>
          </a:xfrm>
          <a:prstGeom prst="rect">
            <a:avLst/>
          </a:prstGeom>
          <a:ln>
            <a:noFill/>
          </a:ln>
        </p:spPr>
        <p:txBody>
          <a:bodyPr wrap="square">
            <a:spAutoFit/>
          </a:bodyPr>
          <a:lstStyle/>
          <a:p>
            <a:pPr algn="ctr"/>
            <a:r>
              <a:rPr lang="en-US" dirty="0">
                <a:latin typeface="Candara" panose="020E0502030303020204" pitchFamily="34" charset="0"/>
              </a:rPr>
              <a:t>Patricia - Practical Algorithm To Retrieve Information Coded In Alphanumeric (1968 paper)</a:t>
            </a:r>
          </a:p>
        </p:txBody>
      </p:sp>
      <p:sp>
        <p:nvSpPr>
          <p:cNvPr id="32" name="TextBox 31"/>
          <p:cNvSpPr txBox="1"/>
          <p:nvPr/>
        </p:nvSpPr>
        <p:spPr>
          <a:xfrm>
            <a:off x="5948986" y="2504315"/>
            <a:ext cx="4554581" cy="707886"/>
          </a:xfrm>
          <a:prstGeom prst="rect">
            <a:avLst/>
          </a:prstGeom>
          <a:noFill/>
          <a:ln>
            <a:noFill/>
          </a:ln>
        </p:spPr>
        <p:txBody>
          <a:bodyPr wrap="square" rtlCol="0">
            <a:spAutoFit/>
          </a:bodyPr>
          <a:lstStyle/>
          <a:p>
            <a:pPr algn="ctr"/>
            <a:r>
              <a:rPr lang="en-US" sz="2000" dirty="0">
                <a:latin typeface="Candara" panose="020E0502030303020204" pitchFamily="34" charset="0"/>
              </a:rPr>
              <a:t>The path to reach value V2: </a:t>
            </a:r>
          </a:p>
          <a:p>
            <a:pPr algn="ctr"/>
            <a:r>
              <a:rPr lang="en-US" sz="2000" dirty="0">
                <a:latin typeface="Candara" panose="020E0502030303020204" pitchFamily="34" charset="0"/>
              </a:rPr>
              <a:t>3-1-1-0</a:t>
            </a:r>
          </a:p>
        </p:txBody>
      </p:sp>
      <p:sp>
        <p:nvSpPr>
          <p:cNvPr id="33" name="TextBox 32"/>
          <p:cNvSpPr txBox="1"/>
          <p:nvPr/>
        </p:nvSpPr>
        <p:spPr>
          <a:xfrm>
            <a:off x="5901373" y="3603467"/>
            <a:ext cx="4554581" cy="707886"/>
          </a:xfrm>
          <a:prstGeom prst="rect">
            <a:avLst/>
          </a:prstGeom>
          <a:noFill/>
          <a:ln>
            <a:noFill/>
          </a:ln>
        </p:spPr>
        <p:txBody>
          <a:bodyPr wrap="square" rtlCol="0">
            <a:spAutoFit/>
          </a:bodyPr>
          <a:lstStyle/>
          <a:p>
            <a:pPr algn="ctr"/>
            <a:r>
              <a:rPr lang="en-US" sz="2000" dirty="0">
                <a:latin typeface="Candara" panose="020E0502030303020204" pitchFamily="34" charset="0"/>
              </a:rPr>
              <a:t>The path to reach value V5: </a:t>
            </a:r>
          </a:p>
          <a:p>
            <a:pPr algn="ctr"/>
            <a:r>
              <a:rPr lang="en-US" sz="2000" dirty="0">
                <a:latin typeface="Candara" panose="020E0502030303020204" pitchFamily="34" charset="0"/>
              </a:rPr>
              <a:t>0-1-0-3-1</a:t>
            </a:r>
          </a:p>
        </p:txBody>
      </p:sp>
      <p:sp>
        <p:nvSpPr>
          <p:cNvPr id="35" name="Freeform 34"/>
          <p:cNvSpPr/>
          <p:nvPr/>
        </p:nvSpPr>
        <p:spPr>
          <a:xfrm>
            <a:off x="2635171" y="2261937"/>
            <a:ext cx="471949" cy="2177328"/>
          </a:xfrm>
          <a:custGeom>
            <a:avLst/>
            <a:gdLst>
              <a:gd name="connsiteX0" fmla="*/ 147484 w 471949"/>
              <a:gd name="connsiteY0" fmla="*/ 0 h 2315497"/>
              <a:gd name="connsiteX1" fmla="*/ 250723 w 471949"/>
              <a:gd name="connsiteY1" fmla="*/ 14748 h 2315497"/>
              <a:gd name="connsiteX2" fmla="*/ 339213 w 471949"/>
              <a:gd name="connsiteY2" fmla="*/ 88490 h 2315497"/>
              <a:gd name="connsiteX3" fmla="*/ 383458 w 471949"/>
              <a:gd name="connsiteY3" fmla="*/ 442451 h 2315497"/>
              <a:gd name="connsiteX4" fmla="*/ 457200 w 471949"/>
              <a:gd name="connsiteY4" fmla="*/ 575187 h 2315497"/>
              <a:gd name="connsiteX5" fmla="*/ 471949 w 471949"/>
              <a:gd name="connsiteY5" fmla="*/ 619432 h 2315497"/>
              <a:gd name="connsiteX6" fmla="*/ 442452 w 471949"/>
              <a:gd name="connsiteY6" fmla="*/ 811161 h 2315497"/>
              <a:gd name="connsiteX7" fmla="*/ 412955 w 471949"/>
              <a:gd name="connsiteY7" fmla="*/ 855406 h 2315497"/>
              <a:gd name="connsiteX8" fmla="*/ 368710 w 471949"/>
              <a:gd name="connsiteY8" fmla="*/ 1032387 h 2315497"/>
              <a:gd name="connsiteX9" fmla="*/ 353962 w 471949"/>
              <a:gd name="connsiteY9" fmla="*/ 1091380 h 2315497"/>
              <a:gd name="connsiteX10" fmla="*/ 339213 w 471949"/>
              <a:gd name="connsiteY10" fmla="*/ 1150374 h 2315497"/>
              <a:gd name="connsiteX11" fmla="*/ 309716 w 471949"/>
              <a:gd name="connsiteY11" fmla="*/ 1312606 h 2315497"/>
              <a:gd name="connsiteX12" fmla="*/ 294968 w 471949"/>
              <a:gd name="connsiteY12" fmla="*/ 1356851 h 2315497"/>
              <a:gd name="connsiteX13" fmla="*/ 265471 w 471949"/>
              <a:gd name="connsiteY13" fmla="*/ 1460090 h 2315497"/>
              <a:gd name="connsiteX14" fmla="*/ 235975 w 471949"/>
              <a:gd name="connsiteY14" fmla="*/ 1504335 h 2315497"/>
              <a:gd name="connsiteX15" fmla="*/ 221226 w 471949"/>
              <a:gd name="connsiteY15" fmla="*/ 1548580 h 2315497"/>
              <a:gd name="connsiteX16" fmla="*/ 191729 w 471949"/>
              <a:gd name="connsiteY16" fmla="*/ 1592826 h 2315497"/>
              <a:gd name="connsiteX17" fmla="*/ 162233 w 471949"/>
              <a:gd name="connsiteY17" fmla="*/ 1651819 h 2315497"/>
              <a:gd name="connsiteX18" fmla="*/ 147484 w 471949"/>
              <a:gd name="connsiteY18" fmla="*/ 1696064 h 2315497"/>
              <a:gd name="connsiteX19" fmla="*/ 117987 w 471949"/>
              <a:gd name="connsiteY19" fmla="*/ 1740309 h 2315497"/>
              <a:gd name="connsiteX20" fmla="*/ 103239 w 471949"/>
              <a:gd name="connsiteY20" fmla="*/ 1784555 h 2315497"/>
              <a:gd name="connsiteX21" fmla="*/ 29497 w 471949"/>
              <a:gd name="connsiteY21" fmla="*/ 1887793 h 2315497"/>
              <a:gd name="connsiteX22" fmla="*/ 0 w 471949"/>
              <a:gd name="connsiteY22" fmla="*/ 2035277 h 2315497"/>
              <a:gd name="connsiteX23" fmla="*/ 14749 w 471949"/>
              <a:gd name="connsiteY23" fmla="*/ 2182761 h 2315497"/>
              <a:gd name="connsiteX24" fmla="*/ 58994 w 471949"/>
              <a:gd name="connsiteY24" fmla="*/ 2271251 h 2315497"/>
              <a:gd name="connsiteX25" fmla="*/ 132736 w 471949"/>
              <a:gd name="connsiteY25" fmla="*/ 2315497 h 2315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71949" h="2315497">
                <a:moveTo>
                  <a:pt x="147484" y="0"/>
                </a:moveTo>
                <a:cubicBezTo>
                  <a:pt x="181897" y="4916"/>
                  <a:pt x="217427" y="4759"/>
                  <a:pt x="250723" y="14748"/>
                </a:cubicBezTo>
                <a:cubicBezTo>
                  <a:pt x="280055" y="23548"/>
                  <a:pt x="320403" y="69680"/>
                  <a:pt x="339213" y="88490"/>
                </a:cubicBezTo>
                <a:cubicBezTo>
                  <a:pt x="389079" y="238082"/>
                  <a:pt x="337002" y="70804"/>
                  <a:pt x="383458" y="442451"/>
                </a:cubicBezTo>
                <a:cubicBezTo>
                  <a:pt x="392353" y="513611"/>
                  <a:pt x="428496" y="489078"/>
                  <a:pt x="457200" y="575187"/>
                </a:cubicBezTo>
                <a:lnTo>
                  <a:pt x="471949" y="619432"/>
                </a:lnTo>
                <a:cubicBezTo>
                  <a:pt x="467720" y="661722"/>
                  <a:pt x="469027" y="758012"/>
                  <a:pt x="442452" y="811161"/>
                </a:cubicBezTo>
                <a:cubicBezTo>
                  <a:pt x="434525" y="827015"/>
                  <a:pt x="422787" y="840658"/>
                  <a:pt x="412955" y="855406"/>
                </a:cubicBezTo>
                <a:lnTo>
                  <a:pt x="368710" y="1032387"/>
                </a:lnTo>
                <a:lnTo>
                  <a:pt x="353962" y="1091380"/>
                </a:lnTo>
                <a:cubicBezTo>
                  <a:pt x="349046" y="1111045"/>
                  <a:pt x="342545" y="1130380"/>
                  <a:pt x="339213" y="1150374"/>
                </a:cubicBezTo>
                <a:cubicBezTo>
                  <a:pt x="332636" y="1189836"/>
                  <a:pt x="320026" y="1271368"/>
                  <a:pt x="309716" y="1312606"/>
                </a:cubicBezTo>
                <a:cubicBezTo>
                  <a:pt x="305945" y="1327688"/>
                  <a:pt x="299239" y="1341903"/>
                  <a:pt x="294968" y="1356851"/>
                </a:cubicBezTo>
                <a:cubicBezTo>
                  <a:pt x="288665" y="1378911"/>
                  <a:pt x="277261" y="1436510"/>
                  <a:pt x="265471" y="1460090"/>
                </a:cubicBezTo>
                <a:cubicBezTo>
                  <a:pt x="257544" y="1475944"/>
                  <a:pt x="243902" y="1488481"/>
                  <a:pt x="235975" y="1504335"/>
                </a:cubicBezTo>
                <a:cubicBezTo>
                  <a:pt x="229023" y="1518240"/>
                  <a:pt x="228179" y="1534675"/>
                  <a:pt x="221226" y="1548580"/>
                </a:cubicBezTo>
                <a:cubicBezTo>
                  <a:pt x="213299" y="1564434"/>
                  <a:pt x="200523" y="1577436"/>
                  <a:pt x="191729" y="1592826"/>
                </a:cubicBezTo>
                <a:cubicBezTo>
                  <a:pt x="180821" y="1611915"/>
                  <a:pt x="170893" y="1631611"/>
                  <a:pt x="162233" y="1651819"/>
                </a:cubicBezTo>
                <a:cubicBezTo>
                  <a:pt x="156109" y="1666108"/>
                  <a:pt x="154437" y="1682159"/>
                  <a:pt x="147484" y="1696064"/>
                </a:cubicBezTo>
                <a:cubicBezTo>
                  <a:pt x="139557" y="1711918"/>
                  <a:pt x="127819" y="1725561"/>
                  <a:pt x="117987" y="1740309"/>
                </a:cubicBezTo>
                <a:cubicBezTo>
                  <a:pt x="113071" y="1755058"/>
                  <a:pt x="110191" y="1770650"/>
                  <a:pt x="103239" y="1784555"/>
                </a:cubicBezTo>
                <a:cubicBezTo>
                  <a:pt x="92457" y="1806119"/>
                  <a:pt x="39516" y="1874434"/>
                  <a:pt x="29497" y="1887793"/>
                </a:cubicBezTo>
                <a:cubicBezTo>
                  <a:pt x="19753" y="1926771"/>
                  <a:pt x="0" y="1999121"/>
                  <a:pt x="0" y="2035277"/>
                </a:cubicBezTo>
                <a:cubicBezTo>
                  <a:pt x="0" y="2084684"/>
                  <a:pt x="7236" y="2133929"/>
                  <a:pt x="14749" y="2182761"/>
                </a:cubicBezTo>
                <a:cubicBezTo>
                  <a:pt x="19111" y="2211114"/>
                  <a:pt x="39106" y="2251363"/>
                  <a:pt x="58994" y="2271251"/>
                </a:cubicBezTo>
                <a:cubicBezTo>
                  <a:pt x="76791" y="2289048"/>
                  <a:pt x="109460" y="2303859"/>
                  <a:pt x="132736" y="2315497"/>
                </a:cubicBezTo>
              </a:path>
            </a:pathLst>
          </a:cu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37" name="Freeform 36"/>
          <p:cNvSpPr/>
          <p:nvPr/>
        </p:nvSpPr>
        <p:spPr>
          <a:xfrm>
            <a:off x="1333740" y="2261937"/>
            <a:ext cx="1108870" cy="2944244"/>
          </a:xfrm>
          <a:custGeom>
            <a:avLst/>
            <a:gdLst>
              <a:gd name="connsiteX0" fmla="*/ 1153947 w 1153947"/>
              <a:gd name="connsiteY0" fmla="*/ 0 h 3067665"/>
              <a:gd name="connsiteX1" fmla="*/ 932722 w 1153947"/>
              <a:gd name="connsiteY1" fmla="*/ 29497 h 3067665"/>
              <a:gd name="connsiteX2" fmla="*/ 888476 w 1153947"/>
              <a:gd name="connsiteY2" fmla="*/ 44245 h 3067665"/>
              <a:gd name="connsiteX3" fmla="*/ 829483 w 1153947"/>
              <a:gd name="connsiteY3" fmla="*/ 58994 h 3067665"/>
              <a:gd name="connsiteX4" fmla="*/ 740993 w 1153947"/>
              <a:gd name="connsiteY4" fmla="*/ 117987 h 3067665"/>
              <a:gd name="connsiteX5" fmla="*/ 637754 w 1153947"/>
              <a:gd name="connsiteY5" fmla="*/ 176981 h 3067665"/>
              <a:gd name="connsiteX6" fmla="*/ 549264 w 1153947"/>
              <a:gd name="connsiteY6" fmla="*/ 206478 h 3067665"/>
              <a:gd name="connsiteX7" fmla="*/ 505018 w 1153947"/>
              <a:gd name="connsiteY7" fmla="*/ 235974 h 3067665"/>
              <a:gd name="connsiteX8" fmla="*/ 446025 w 1153947"/>
              <a:gd name="connsiteY8" fmla="*/ 280219 h 3067665"/>
              <a:gd name="connsiteX9" fmla="*/ 401780 w 1153947"/>
              <a:gd name="connsiteY9" fmla="*/ 294968 h 3067665"/>
              <a:gd name="connsiteX10" fmla="*/ 342786 w 1153947"/>
              <a:gd name="connsiteY10" fmla="*/ 398207 h 3067665"/>
              <a:gd name="connsiteX11" fmla="*/ 298541 w 1153947"/>
              <a:gd name="connsiteY11" fmla="*/ 486697 h 3067665"/>
              <a:gd name="connsiteX12" fmla="*/ 254296 w 1153947"/>
              <a:gd name="connsiteY12" fmla="*/ 589936 h 3067665"/>
              <a:gd name="connsiteX13" fmla="*/ 210051 w 1153947"/>
              <a:gd name="connsiteY13" fmla="*/ 634181 h 3067665"/>
              <a:gd name="connsiteX14" fmla="*/ 136309 w 1153947"/>
              <a:gd name="connsiteY14" fmla="*/ 722671 h 3067665"/>
              <a:gd name="connsiteX15" fmla="*/ 92064 w 1153947"/>
              <a:gd name="connsiteY15" fmla="*/ 811161 h 3067665"/>
              <a:gd name="connsiteX16" fmla="*/ 47818 w 1153947"/>
              <a:gd name="connsiteY16" fmla="*/ 899652 h 3067665"/>
              <a:gd name="connsiteX17" fmla="*/ 47818 w 1153947"/>
              <a:gd name="connsiteY17" fmla="*/ 1342103 h 3067665"/>
              <a:gd name="connsiteX18" fmla="*/ 62567 w 1153947"/>
              <a:gd name="connsiteY18" fmla="*/ 1592826 h 3067665"/>
              <a:gd name="connsiteX19" fmla="*/ 92064 w 1153947"/>
              <a:gd name="connsiteY19" fmla="*/ 1637071 h 3067665"/>
              <a:gd name="connsiteX20" fmla="*/ 239547 w 1153947"/>
              <a:gd name="connsiteY20" fmla="*/ 1710813 h 3067665"/>
              <a:gd name="connsiteX21" fmla="*/ 328038 w 1153947"/>
              <a:gd name="connsiteY21" fmla="*/ 1755058 h 3067665"/>
              <a:gd name="connsiteX22" fmla="*/ 372283 w 1153947"/>
              <a:gd name="connsiteY22" fmla="*/ 1784555 h 3067665"/>
              <a:gd name="connsiteX23" fmla="*/ 460773 w 1153947"/>
              <a:gd name="connsiteY23" fmla="*/ 1961536 h 3067665"/>
              <a:gd name="connsiteX24" fmla="*/ 475522 w 1153947"/>
              <a:gd name="connsiteY24" fmla="*/ 2005781 h 3067665"/>
              <a:gd name="connsiteX25" fmla="*/ 460773 w 1153947"/>
              <a:gd name="connsiteY25" fmla="*/ 2138516 h 3067665"/>
              <a:gd name="connsiteX26" fmla="*/ 446025 w 1153947"/>
              <a:gd name="connsiteY26" fmla="*/ 2182761 h 3067665"/>
              <a:gd name="connsiteX27" fmla="*/ 401780 w 1153947"/>
              <a:gd name="connsiteY27" fmla="*/ 2212258 h 3067665"/>
              <a:gd name="connsiteX28" fmla="*/ 313289 w 1153947"/>
              <a:gd name="connsiteY28" fmla="*/ 2241755 h 3067665"/>
              <a:gd name="connsiteX29" fmla="*/ 210051 w 1153947"/>
              <a:gd name="connsiteY29" fmla="*/ 2286000 h 3067665"/>
              <a:gd name="connsiteX30" fmla="*/ 180554 w 1153947"/>
              <a:gd name="connsiteY30" fmla="*/ 2330245 h 3067665"/>
              <a:gd name="connsiteX31" fmla="*/ 136309 w 1153947"/>
              <a:gd name="connsiteY31" fmla="*/ 2359742 h 3067665"/>
              <a:gd name="connsiteX32" fmla="*/ 121560 w 1153947"/>
              <a:gd name="connsiteY32" fmla="*/ 2403987 h 3067665"/>
              <a:gd name="connsiteX33" fmla="*/ 92064 w 1153947"/>
              <a:gd name="connsiteY33" fmla="*/ 2448232 h 3067665"/>
              <a:gd name="connsiteX34" fmla="*/ 62567 w 1153947"/>
              <a:gd name="connsiteY34" fmla="*/ 2536723 h 3067665"/>
              <a:gd name="connsiteX35" fmla="*/ 47818 w 1153947"/>
              <a:gd name="connsiteY35" fmla="*/ 2580968 h 3067665"/>
              <a:gd name="connsiteX36" fmla="*/ 18322 w 1153947"/>
              <a:gd name="connsiteY36" fmla="*/ 2625213 h 3067665"/>
              <a:gd name="connsiteX37" fmla="*/ 18322 w 1153947"/>
              <a:gd name="connsiteY37" fmla="*/ 2905432 h 3067665"/>
              <a:gd name="connsiteX38" fmla="*/ 92064 w 1153947"/>
              <a:gd name="connsiteY38" fmla="*/ 2993923 h 3067665"/>
              <a:gd name="connsiteX39" fmla="*/ 151057 w 1153947"/>
              <a:gd name="connsiteY39" fmla="*/ 3067665 h 3067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53947" h="3067665">
                <a:moveTo>
                  <a:pt x="1153947" y="0"/>
                </a:moveTo>
                <a:cubicBezTo>
                  <a:pt x="1090050" y="7100"/>
                  <a:pt x="998919" y="14787"/>
                  <a:pt x="932722" y="29497"/>
                </a:cubicBezTo>
                <a:cubicBezTo>
                  <a:pt x="917546" y="32869"/>
                  <a:pt x="903424" y="39974"/>
                  <a:pt x="888476" y="44245"/>
                </a:cubicBezTo>
                <a:cubicBezTo>
                  <a:pt x="868986" y="49814"/>
                  <a:pt x="849147" y="54078"/>
                  <a:pt x="829483" y="58994"/>
                </a:cubicBezTo>
                <a:lnTo>
                  <a:pt x="740993" y="117987"/>
                </a:lnTo>
                <a:cubicBezTo>
                  <a:pt x="701085" y="144592"/>
                  <a:pt x="684531" y="158270"/>
                  <a:pt x="637754" y="176981"/>
                </a:cubicBezTo>
                <a:cubicBezTo>
                  <a:pt x="608886" y="188529"/>
                  <a:pt x="575135" y="189232"/>
                  <a:pt x="549264" y="206478"/>
                </a:cubicBezTo>
                <a:cubicBezTo>
                  <a:pt x="534515" y="216310"/>
                  <a:pt x="519442" y="225671"/>
                  <a:pt x="505018" y="235974"/>
                </a:cubicBezTo>
                <a:cubicBezTo>
                  <a:pt x="485016" y="250261"/>
                  <a:pt x="467367" y="268024"/>
                  <a:pt x="446025" y="280219"/>
                </a:cubicBezTo>
                <a:cubicBezTo>
                  <a:pt x="432527" y="287932"/>
                  <a:pt x="416528" y="290052"/>
                  <a:pt x="401780" y="294968"/>
                </a:cubicBezTo>
                <a:cubicBezTo>
                  <a:pt x="372156" y="339403"/>
                  <a:pt x="365240" y="345813"/>
                  <a:pt x="342786" y="398207"/>
                </a:cubicBezTo>
                <a:cubicBezTo>
                  <a:pt x="306150" y="483692"/>
                  <a:pt x="355227" y="401669"/>
                  <a:pt x="298541" y="486697"/>
                </a:cubicBezTo>
                <a:cubicBezTo>
                  <a:pt x="286505" y="522805"/>
                  <a:pt x="277078" y="558042"/>
                  <a:pt x="254296" y="589936"/>
                </a:cubicBezTo>
                <a:cubicBezTo>
                  <a:pt x="242173" y="606908"/>
                  <a:pt x="223404" y="618158"/>
                  <a:pt x="210051" y="634181"/>
                </a:cubicBezTo>
                <a:cubicBezTo>
                  <a:pt x="107385" y="757380"/>
                  <a:pt x="265571" y="593409"/>
                  <a:pt x="136309" y="722671"/>
                </a:cubicBezTo>
                <a:cubicBezTo>
                  <a:pt x="99236" y="833886"/>
                  <a:pt x="149246" y="696797"/>
                  <a:pt x="92064" y="811161"/>
                </a:cubicBezTo>
                <a:cubicBezTo>
                  <a:pt x="31008" y="933275"/>
                  <a:pt x="132345" y="772863"/>
                  <a:pt x="47818" y="899652"/>
                </a:cubicBezTo>
                <a:cubicBezTo>
                  <a:pt x="-8574" y="1068831"/>
                  <a:pt x="29429" y="937557"/>
                  <a:pt x="47818" y="1342103"/>
                </a:cubicBezTo>
                <a:cubicBezTo>
                  <a:pt x="51620" y="1425735"/>
                  <a:pt x="50148" y="1510033"/>
                  <a:pt x="62567" y="1592826"/>
                </a:cubicBezTo>
                <a:cubicBezTo>
                  <a:pt x="65196" y="1610355"/>
                  <a:pt x="78724" y="1625399"/>
                  <a:pt x="92064" y="1637071"/>
                </a:cubicBezTo>
                <a:cubicBezTo>
                  <a:pt x="162302" y="1698529"/>
                  <a:pt x="166241" y="1692487"/>
                  <a:pt x="239547" y="1710813"/>
                </a:cubicBezTo>
                <a:cubicBezTo>
                  <a:pt x="366356" y="1795352"/>
                  <a:pt x="205910" y="1693994"/>
                  <a:pt x="328038" y="1755058"/>
                </a:cubicBezTo>
                <a:cubicBezTo>
                  <a:pt x="343892" y="1762985"/>
                  <a:pt x="357535" y="1774723"/>
                  <a:pt x="372283" y="1784555"/>
                </a:cubicBezTo>
                <a:cubicBezTo>
                  <a:pt x="448524" y="1898918"/>
                  <a:pt x="420064" y="1839412"/>
                  <a:pt x="460773" y="1961536"/>
                </a:cubicBezTo>
                <a:lnTo>
                  <a:pt x="475522" y="2005781"/>
                </a:lnTo>
                <a:cubicBezTo>
                  <a:pt x="470606" y="2050026"/>
                  <a:pt x="468092" y="2094604"/>
                  <a:pt x="460773" y="2138516"/>
                </a:cubicBezTo>
                <a:cubicBezTo>
                  <a:pt x="458217" y="2153851"/>
                  <a:pt x="455736" y="2170622"/>
                  <a:pt x="446025" y="2182761"/>
                </a:cubicBezTo>
                <a:cubicBezTo>
                  <a:pt x="434952" y="2196602"/>
                  <a:pt x="417978" y="2205059"/>
                  <a:pt x="401780" y="2212258"/>
                </a:cubicBezTo>
                <a:cubicBezTo>
                  <a:pt x="373367" y="2224886"/>
                  <a:pt x="341099" y="2227850"/>
                  <a:pt x="313289" y="2241755"/>
                </a:cubicBezTo>
                <a:cubicBezTo>
                  <a:pt x="240391" y="2278205"/>
                  <a:pt x="275153" y="2264300"/>
                  <a:pt x="210051" y="2286000"/>
                </a:cubicBezTo>
                <a:cubicBezTo>
                  <a:pt x="200219" y="2300748"/>
                  <a:pt x="193088" y="2317711"/>
                  <a:pt x="180554" y="2330245"/>
                </a:cubicBezTo>
                <a:cubicBezTo>
                  <a:pt x="168020" y="2342779"/>
                  <a:pt x="147382" y="2345901"/>
                  <a:pt x="136309" y="2359742"/>
                </a:cubicBezTo>
                <a:cubicBezTo>
                  <a:pt x="126597" y="2371881"/>
                  <a:pt x="128512" y="2390082"/>
                  <a:pt x="121560" y="2403987"/>
                </a:cubicBezTo>
                <a:cubicBezTo>
                  <a:pt x="113633" y="2419841"/>
                  <a:pt x="99263" y="2432035"/>
                  <a:pt x="92064" y="2448232"/>
                </a:cubicBezTo>
                <a:cubicBezTo>
                  <a:pt x="79436" y="2476645"/>
                  <a:pt x="72399" y="2507226"/>
                  <a:pt x="62567" y="2536723"/>
                </a:cubicBezTo>
                <a:cubicBezTo>
                  <a:pt x="57651" y="2551471"/>
                  <a:pt x="56441" y="2568033"/>
                  <a:pt x="47818" y="2580968"/>
                </a:cubicBezTo>
                <a:lnTo>
                  <a:pt x="18322" y="2625213"/>
                </a:lnTo>
                <a:cubicBezTo>
                  <a:pt x="-1587" y="2744662"/>
                  <a:pt x="-10249" y="2753053"/>
                  <a:pt x="18322" y="2905432"/>
                </a:cubicBezTo>
                <a:cubicBezTo>
                  <a:pt x="23638" y="2933786"/>
                  <a:pt x="77350" y="2976266"/>
                  <a:pt x="92064" y="2993923"/>
                </a:cubicBezTo>
                <a:cubicBezTo>
                  <a:pt x="185095" y="3105560"/>
                  <a:pt x="65235" y="2981843"/>
                  <a:pt x="151057" y="3067665"/>
                </a:cubicBezTo>
              </a:path>
            </a:pathLst>
          </a:cu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38" name="Rectangle 37"/>
          <p:cNvSpPr/>
          <p:nvPr/>
        </p:nvSpPr>
        <p:spPr>
          <a:xfrm>
            <a:off x="5061096" y="4539892"/>
            <a:ext cx="6612744" cy="1631216"/>
          </a:xfrm>
          <a:prstGeom prst="rect">
            <a:avLst/>
          </a:prstGeom>
          <a:ln>
            <a:noFill/>
          </a:ln>
        </p:spPr>
        <p:txBody>
          <a:bodyPr wrap="square">
            <a:spAutoFit/>
          </a:bodyPr>
          <a:lstStyle/>
          <a:p>
            <a:pPr algn="ctr"/>
            <a:r>
              <a:rPr lang="en-US" sz="2000" dirty="0">
                <a:solidFill>
                  <a:schemeClr val="accent2"/>
                </a:solidFill>
                <a:latin typeface="Candara" panose="020E0502030303020204" pitchFamily="34" charset="0"/>
              </a:rPr>
              <a:t>Ethereum uses </a:t>
            </a:r>
            <a:r>
              <a:rPr lang="en-US" sz="2000" dirty="0" err="1">
                <a:solidFill>
                  <a:schemeClr val="accent2"/>
                </a:solidFill>
                <a:latin typeface="Candara" panose="020E0502030303020204" pitchFamily="34" charset="0"/>
              </a:rPr>
              <a:t>hexary</a:t>
            </a:r>
            <a:r>
              <a:rPr lang="en-US" sz="2000" dirty="0">
                <a:solidFill>
                  <a:schemeClr val="accent2"/>
                </a:solidFill>
                <a:latin typeface="Candara" panose="020E0502030303020204" pitchFamily="34" charset="0"/>
              </a:rPr>
              <a:t> Patricia tree with 16 choices at each node (a modified version of MPT). It also uses hashing so that the root node becomes a cryptographic fingerprint of the entire data structure. The </a:t>
            </a:r>
            <a:r>
              <a:rPr lang="en-US" sz="2000" dirty="0" err="1">
                <a:solidFill>
                  <a:schemeClr val="accent2"/>
                </a:solidFill>
                <a:latin typeface="Candara" panose="020E0502030303020204" pitchFamily="34" charset="0"/>
              </a:rPr>
              <a:t>trie</a:t>
            </a:r>
            <a:r>
              <a:rPr lang="en-US" sz="2000" dirty="0">
                <a:solidFill>
                  <a:schemeClr val="accent2"/>
                </a:solidFill>
                <a:latin typeface="Candara" panose="020E0502030303020204" pitchFamily="34" charset="0"/>
              </a:rPr>
              <a:t> is implemented as a key-value database </a:t>
            </a:r>
          </a:p>
        </p:txBody>
      </p:sp>
      <p:graphicFrame>
        <p:nvGraphicFramePr>
          <p:cNvPr id="16" name="Table 15"/>
          <p:cNvGraphicFramePr>
            <a:graphicFrameLocks noGrp="1"/>
          </p:cNvGraphicFramePr>
          <p:nvPr/>
        </p:nvGraphicFramePr>
        <p:xfrm>
          <a:off x="2785830" y="6222609"/>
          <a:ext cx="973032" cy="370840"/>
        </p:xfrm>
        <a:graphic>
          <a:graphicData uri="http://schemas.openxmlformats.org/drawingml/2006/table">
            <a:tbl>
              <a:tblPr firstRow="1" bandRow="1">
                <a:tableStyleId>{5940675A-B579-460E-94D1-54222C63F5DA}</a:tableStyleId>
              </a:tblPr>
              <a:tblGrid>
                <a:gridCol w="243258">
                  <a:extLst>
                    <a:ext uri="{9D8B030D-6E8A-4147-A177-3AD203B41FA5}">
                      <a16:colId xmlns:a16="http://schemas.microsoft.com/office/drawing/2014/main" val="20000"/>
                    </a:ext>
                  </a:extLst>
                </a:gridCol>
                <a:gridCol w="243258">
                  <a:extLst>
                    <a:ext uri="{9D8B030D-6E8A-4147-A177-3AD203B41FA5}">
                      <a16:colId xmlns:a16="http://schemas.microsoft.com/office/drawing/2014/main" val="20001"/>
                    </a:ext>
                  </a:extLst>
                </a:gridCol>
                <a:gridCol w="243258">
                  <a:extLst>
                    <a:ext uri="{9D8B030D-6E8A-4147-A177-3AD203B41FA5}">
                      <a16:colId xmlns:a16="http://schemas.microsoft.com/office/drawing/2014/main" val="20002"/>
                    </a:ext>
                  </a:extLst>
                </a:gridCol>
                <a:gridCol w="243258">
                  <a:extLst>
                    <a:ext uri="{9D8B030D-6E8A-4147-A177-3AD203B41FA5}">
                      <a16:colId xmlns:a16="http://schemas.microsoft.com/office/drawing/2014/main" val="20003"/>
                    </a:ext>
                  </a:extLst>
                </a:gridCol>
              </a:tblGrid>
              <a:tr h="370840">
                <a:tc>
                  <a:txBody>
                    <a:bodyPr/>
                    <a:lstStyle/>
                    <a:p>
                      <a:r>
                        <a:rPr lang="en-US" b="1" dirty="0"/>
                        <a:t>0</a:t>
                      </a:r>
                    </a:p>
                  </a:txBody>
                  <a:tcPr anchor="ctr"/>
                </a:tc>
                <a:tc>
                  <a:txBody>
                    <a:bodyPr/>
                    <a:lstStyle/>
                    <a:p>
                      <a:r>
                        <a:rPr lang="en-US" b="1" dirty="0"/>
                        <a:t>1</a:t>
                      </a:r>
                    </a:p>
                  </a:txBody>
                  <a:tcPr anchor="ctr"/>
                </a:tc>
                <a:tc>
                  <a:txBody>
                    <a:bodyPr/>
                    <a:lstStyle/>
                    <a:p>
                      <a:r>
                        <a:rPr lang="en-US" b="1" dirty="0"/>
                        <a:t>2</a:t>
                      </a:r>
                    </a:p>
                  </a:txBody>
                  <a:tcPr anchor="ctr"/>
                </a:tc>
                <a:tc>
                  <a:txBody>
                    <a:bodyPr/>
                    <a:lstStyle/>
                    <a:p>
                      <a:r>
                        <a:rPr lang="en-US" b="1" dirty="0"/>
                        <a:t>3</a:t>
                      </a:r>
                    </a:p>
                  </a:txBody>
                  <a:tcPr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009520559"/>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2">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2">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3">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3">
                                            <p:txEl>
                                              <p:pRg st="1" end="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2" grpId="0" animBg="1"/>
      <p:bldP spid="33" grpId="0" animBg="1"/>
      <p:bldP spid="35" grpId="0" animBg="1"/>
      <p:bldP spid="37" grpId="0" animBg="1"/>
      <p:bldP spid="3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F54A7-0904-E73B-9660-4414DC91A5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591437-5B60-F197-FBA1-15B0A26B9028}"/>
              </a:ext>
            </a:extLst>
          </p:cNvPr>
          <p:cNvSpPr>
            <a:spLocks noGrp="1"/>
          </p:cNvSpPr>
          <p:nvPr>
            <p:ph type="title"/>
          </p:nvPr>
        </p:nvSpPr>
        <p:spPr/>
        <p:txBody>
          <a:bodyPr/>
          <a:lstStyle/>
          <a:p>
            <a:r>
              <a:rPr lang="en-PK" dirty="0">
                <a:latin typeface="+mn-lt"/>
              </a:rPr>
              <a:t>Lecture </a:t>
            </a:r>
            <a:r>
              <a:rPr lang="en-US" dirty="0">
                <a:latin typeface="+mn-lt"/>
              </a:rPr>
              <a:t>24</a:t>
            </a:r>
            <a:br>
              <a:rPr lang="en-PK" dirty="0">
                <a:latin typeface="+mn-lt"/>
              </a:rPr>
            </a:br>
            <a:r>
              <a:rPr lang="en-US" dirty="0">
                <a:latin typeface="+mn-lt"/>
              </a:rPr>
              <a:t>Thursday</a:t>
            </a:r>
            <a:r>
              <a:rPr lang="en-PK" dirty="0">
                <a:latin typeface="+mn-lt"/>
              </a:rPr>
              <a:t>, </a:t>
            </a:r>
            <a:r>
              <a:rPr lang="en-US" dirty="0">
                <a:latin typeface="+mn-lt"/>
              </a:rPr>
              <a:t>Apr</a:t>
            </a:r>
            <a:r>
              <a:rPr lang="en-PK" dirty="0">
                <a:latin typeface="+mn-lt"/>
              </a:rPr>
              <a:t> </a:t>
            </a:r>
            <a:r>
              <a:rPr lang="en-US" dirty="0">
                <a:latin typeface="+mn-lt"/>
              </a:rPr>
              <a:t>23</a:t>
            </a:r>
            <a:r>
              <a:rPr lang="en-PK" dirty="0">
                <a:latin typeface="+mn-lt"/>
              </a:rPr>
              <a:t>, 202</a:t>
            </a:r>
            <a:r>
              <a:rPr lang="en-US" dirty="0">
                <a:latin typeface="+mn-lt"/>
              </a:rPr>
              <a:t>6</a:t>
            </a:r>
            <a:endParaRPr lang="en-PK" dirty="0">
              <a:latin typeface="+mn-lt"/>
            </a:endParaRPr>
          </a:p>
        </p:txBody>
      </p:sp>
      <p:sp>
        <p:nvSpPr>
          <p:cNvPr id="4" name="Slide Number Placeholder 3">
            <a:extLst>
              <a:ext uri="{FF2B5EF4-FFF2-40B4-BE49-F238E27FC236}">
                <a16:creationId xmlns:a16="http://schemas.microsoft.com/office/drawing/2014/main" id="{44C7C38A-E455-ED94-F7A2-084A7B3C3AA9}"/>
              </a:ext>
            </a:extLst>
          </p:cNvPr>
          <p:cNvSpPr>
            <a:spLocks noGrp="1"/>
          </p:cNvSpPr>
          <p:nvPr>
            <p:ph type="sldNum" sz="quarter" idx="12"/>
          </p:nvPr>
        </p:nvSpPr>
        <p:spPr/>
        <p:txBody>
          <a:bodyPr/>
          <a:lstStyle/>
          <a:p>
            <a:fld id="{D57F1E4F-1CFF-5643-939E-217C01CDF565}" type="slidenum">
              <a:rPr lang="en-US" smtClean="0"/>
              <a:pPr/>
              <a:t>46</a:t>
            </a:fld>
            <a:endParaRPr lang="en-US" dirty="0"/>
          </a:p>
        </p:txBody>
      </p:sp>
    </p:spTree>
    <p:extLst>
      <p:ext uri="{BB962C8B-B14F-4D97-AF65-F5344CB8AC3E}">
        <p14:creationId xmlns:p14="http://schemas.microsoft.com/office/powerpoint/2010/main" val="17719285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Hexary</a:t>
            </a:r>
            <a:r>
              <a:rPr lang="en-US" dirty="0"/>
              <a:t> MPT</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47</a:t>
            </a:fld>
            <a:endParaRPr lang="en-US" dirty="0">
              <a:latin typeface="Candara" panose="020E0502030303020204" pitchFamily="34" charset="0"/>
            </a:endParaRPr>
          </a:p>
        </p:txBody>
      </p:sp>
      <p:sp>
        <p:nvSpPr>
          <p:cNvPr id="5" name="Rectangle 4"/>
          <p:cNvSpPr/>
          <p:nvPr/>
        </p:nvSpPr>
        <p:spPr>
          <a:xfrm>
            <a:off x="487681" y="5784261"/>
            <a:ext cx="11074666" cy="400110"/>
          </a:xfrm>
          <a:prstGeom prst="rect">
            <a:avLst/>
          </a:prstGeom>
          <a:noFill/>
          <a:ln>
            <a:noFill/>
          </a:ln>
        </p:spPr>
        <p:txBody>
          <a:bodyPr wrap="square">
            <a:spAutoFit/>
          </a:bodyPr>
          <a:lstStyle/>
          <a:p>
            <a:pPr algn="ctr"/>
            <a:r>
              <a:rPr lang="en-US" sz="2000" dirty="0">
                <a:solidFill>
                  <a:srgbClr val="002060"/>
                </a:solidFill>
                <a:latin typeface="Candara" panose="020E0502030303020204" pitchFamily="34" charset="0"/>
              </a:rPr>
              <a:t>In Ethereum, key to reach an account state in the MPT is the 256-bit hash of its Ethereum address</a:t>
            </a:r>
          </a:p>
        </p:txBody>
      </p:sp>
      <p:pic>
        <p:nvPicPr>
          <p:cNvPr id="8194" name="Picture 2" descr="https://vitalik.ca/images/verkle-files/verkle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6386" y="1249557"/>
            <a:ext cx="7053518" cy="3616769"/>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6352674" y="4565618"/>
            <a:ext cx="5321165" cy="1077218"/>
          </a:xfrm>
          <a:prstGeom prst="rect">
            <a:avLst/>
          </a:prstGeom>
        </p:spPr>
        <p:txBody>
          <a:bodyPr wrap="square">
            <a:spAutoFit/>
          </a:bodyPr>
          <a:lstStyle/>
          <a:p>
            <a:r>
              <a:rPr lang="en-US" sz="1600" dirty="0">
                <a:latin typeface="Candara" panose="020E0502030303020204" pitchFamily="34" charset="0"/>
              </a:rPr>
              <a:t>Start at the root, then go down to the child at position </a:t>
            </a:r>
            <a:r>
              <a:rPr lang="en-US" sz="1600" b="1" dirty="0">
                <a:latin typeface="Candara" panose="020E0502030303020204" pitchFamily="34" charset="0"/>
              </a:rPr>
              <a:t>4</a:t>
            </a:r>
            <a:r>
              <a:rPr lang="en-US" sz="1600" dirty="0">
                <a:latin typeface="Candara" panose="020E0502030303020204" pitchFamily="34" charset="0"/>
              </a:rPr>
              <a:t>, then go down to the child at position </a:t>
            </a:r>
            <a:r>
              <a:rPr lang="en-US" sz="1600" b="1" dirty="0">
                <a:latin typeface="Candara" panose="020E0502030303020204" pitchFamily="34" charset="0"/>
              </a:rPr>
              <a:t>c</a:t>
            </a:r>
            <a:r>
              <a:rPr lang="en-US" sz="1600" dirty="0">
                <a:latin typeface="Candara" panose="020E0502030303020204" pitchFamily="34" charset="0"/>
              </a:rPr>
              <a:t> (remember: c = 12 in hexadecimal), and then go down again to the child at position </a:t>
            </a:r>
            <a:r>
              <a:rPr lang="en-US" sz="1600" b="1" dirty="0">
                <a:latin typeface="Candara" panose="020E0502030303020204" pitchFamily="34" charset="0"/>
              </a:rPr>
              <a:t>e</a:t>
            </a:r>
          </a:p>
        </p:txBody>
      </p:sp>
      <p:sp>
        <p:nvSpPr>
          <p:cNvPr id="8" name="Oval 7"/>
          <p:cNvSpPr/>
          <p:nvPr/>
        </p:nvSpPr>
        <p:spPr>
          <a:xfrm>
            <a:off x="5037221" y="4219075"/>
            <a:ext cx="962526" cy="850231"/>
          </a:xfrm>
          <a:prstGeom prst="ellipse">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9" name="Rectangle 8"/>
          <p:cNvSpPr/>
          <p:nvPr/>
        </p:nvSpPr>
        <p:spPr>
          <a:xfrm>
            <a:off x="7165221" y="3817798"/>
            <a:ext cx="2486525" cy="584775"/>
          </a:xfrm>
          <a:prstGeom prst="rect">
            <a:avLst/>
          </a:prstGeom>
        </p:spPr>
        <p:txBody>
          <a:bodyPr wrap="square">
            <a:spAutoFit/>
          </a:bodyPr>
          <a:lstStyle/>
          <a:p>
            <a:pPr algn="ctr"/>
            <a:r>
              <a:rPr lang="en-US" sz="1600" dirty="0">
                <a:latin typeface="Candara" panose="020E0502030303020204" pitchFamily="34" charset="0"/>
              </a:rPr>
              <a:t>How to get to the node with key </a:t>
            </a:r>
            <a:r>
              <a:rPr lang="en-US" sz="1600" b="1" dirty="0">
                <a:latin typeface="Candara" panose="020E0502030303020204" pitchFamily="34" charset="0"/>
              </a:rPr>
              <a:t>4ce</a:t>
            </a:r>
            <a:r>
              <a:rPr lang="en-US" sz="1600" dirty="0">
                <a:latin typeface="Candara" panose="020E0502030303020204" pitchFamily="34" charset="0"/>
              </a:rPr>
              <a:t>?</a:t>
            </a:r>
          </a:p>
        </p:txBody>
      </p:sp>
      <p:sp>
        <p:nvSpPr>
          <p:cNvPr id="10" name="Rectangle 9"/>
          <p:cNvSpPr/>
          <p:nvPr/>
        </p:nvSpPr>
        <p:spPr>
          <a:xfrm>
            <a:off x="7310791" y="1192868"/>
            <a:ext cx="4251556" cy="646331"/>
          </a:xfrm>
          <a:prstGeom prst="rect">
            <a:avLst/>
          </a:prstGeom>
        </p:spPr>
        <p:txBody>
          <a:bodyPr wrap="square">
            <a:spAutoFit/>
          </a:bodyPr>
          <a:lstStyle/>
          <a:p>
            <a:pPr algn="ctr"/>
            <a:r>
              <a:rPr lang="en-US" dirty="0" err="1">
                <a:latin typeface="Candara" panose="020E0502030303020204" pitchFamily="34" charset="0"/>
              </a:rPr>
              <a:t>Hexary</a:t>
            </a:r>
            <a:r>
              <a:rPr lang="en-US" dirty="0">
                <a:latin typeface="Candara" panose="020E0502030303020204" pitchFamily="34" charset="0"/>
              </a:rPr>
              <a:t> Patricia tree with 16 choices at each node</a:t>
            </a:r>
          </a:p>
        </p:txBody>
      </p:sp>
      <p:sp>
        <p:nvSpPr>
          <p:cNvPr id="3" name="Rectangle 2"/>
          <p:cNvSpPr/>
          <p:nvPr/>
        </p:nvSpPr>
        <p:spPr>
          <a:xfrm>
            <a:off x="8971201" y="6357791"/>
            <a:ext cx="2978229" cy="253916"/>
          </a:xfrm>
          <a:prstGeom prst="rect">
            <a:avLst/>
          </a:prstGeom>
        </p:spPr>
        <p:txBody>
          <a:bodyPr wrap="square">
            <a:spAutoFit/>
          </a:bodyPr>
          <a:lstStyle/>
          <a:p>
            <a:pPr algn="ctr"/>
            <a:r>
              <a:rPr lang="en-US" sz="1050" dirty="0">
                <a:latin typeface="Candara" panose="020E0502030303020204" pitchFamily="34" charset="0"/>
                <a:hlinkClick r:id="rId4"/>
              </a:rPr>
              <a:t>https://vitalik.ca/general/2021/06/18/verkle.html</a:t>
            </a:r>
            <a:r>
              <a:rPr lang="en-US" sz="1050" dirty="0">
                <a:latin typeface="Candara" panose="020E0502030303020204" pitchFamily="34" charset="0"/>
              </a:rPr>
              <a:t> </a:t>
            </a:r>
          </a:p>
        </p:txBody>
      </p:sp>
    </p:spTree>
    <p:extLst>
      <p:ext uri="{BB962C8B-B14F-4D97-AF65-F5344CB8AC3E}">
        <p14:creationId xmlns:p14="http://schemas.microsoft.com/office/powerpoint/2010/main" val="3268347195"/>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animBg="1"/>
      <p:bldP spid="9"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Hexary</a:t>
            </a:r>
            <a:r>
              <a:rPr lang="en-US" dirty="0"/>
              <a:t> MPT</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48</a:t>
            </a:fld>
            <a:endParaRPr lang="en-US" dirty="0">
              <a:latin typeface="Candara" panose="020E0502030303020204" pitchFamily="34" charset="0"/>
            </a:endParaRPr>
          </a:p>
        </p:txBody>
      </p:sp>
      <p:sp>
        <p:nvSpPr>
          <p:cNvPr id="5" name="Rectangle 4"/>
          <p:cNvSpPr/>
          <p:nvPr/>
        </p:nvSpPr>
        <p:spPr>
          <a:xfrm>
            <a:off x="4395538" y="1203158"/>
            <a:ext cx="2983831" cy="3368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0 1 2 3 4 5 6 7 8 9 a b c d e f</a:t>
            </a:r>
          </a:p>
        </p:txBody>
      </p:sp>
      <p:grpSp>
        <p:nvGrpSpPr>
          <p:cNvPr id="3" name="Group 2"/>
          <p:cNvGrpSpPr/>
          <p:nvPr/>
        </p:nvGrpSpPr>
        <p:grpSpPr>
          <a:xfrm>
            <a:off x="3380878" y="1371601"/>
            <a:ext cx="1175081" cy="742831"/>
            <a:chOff x="1856877" y="1371600"/>
            <a:chExt cx="1175081" cy="742831"/>
          </a:xfrm>
        </p:grpSpPr>
        <p:cxnSp>
          <p:nvCxnSpPr>
            <p:cNvPr id="7" name="Straight Arrow Connector 6"/>
            <p:cNvCxnSpPr/>
            <p:nvPr/>
          </p:nvCxnSpPr>
          <p:spPr>
            <a:xfrm flipH="1">
              <a:off x="2249907" y="1371600"/>
              <a:ext cx="782051" cy="389905"/>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1856877" y="1761505"/>
              <a:ext cx="623636" cy="35292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0 -- f</a:t>
              </a:r>
            </a:p>
          </p:txBody>
        </p:sp>
      </p:grpSp>
      <p:grpSp>
        <p:nvGrpSpPr>
          <p:cNvPr id="6" name="Group 5"/>
          <p:cNvGrpSpPr/>
          <p:nvPr/>
        </p:nvGrpSpPr>
        <p:grpSpPr>
          <a:xfrm>
            <a:off x="4083719" y="1429514"/>
            <a:ext cx="740944" cy="681792"/>
            <a:chOff x="2559719" y="1429513"/>
            <a:chExt cx="740944" cy="681792"/>
          </a:xfrm>
        </p:grpSpPr>
        <p:cxnSp>
          <p:nvCxnSpPr>
            <p:cNvPr id="11" name="Straight Arrow Connector 10"/>
            <p:cNvCxnSpPr>
              <a:cxnSpLocks/>
            </p:cNvCxnSpPr>
            <p:nvPr/>
          </p:nvCxnSpPr>
          <p:spPr>
            <a:xfrm flipH="1">
              <a:off x="2871537" y="1429513"/>
              <a:ext cx="429126" cy="331992"/>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2559719" y="1758379"/>
              <a:ext cx="623636" cy="35292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0 -- f</a:t>
              </a:r>
            </a:p>
          </p:txBody>
        </p:sp>
      </p:grpSp>
      <p:grpSp>
        <p:nvGrpSpPr>
          <p:cNvPr id="8" name="Group 7"/>
          <p:cNvGrpSpPr/>
          <p:nvPr/>
        </p:nvGrpSpPr>
        <p:grpSpPr>
          <a:xfrm>
            <a:off x="5419726" y="1371601"/>
            <a:ext cx="2728660" cy="807409"/>
            <a:chOff x="3895726" y="1371601"/>
            <a:chExt cx="2728660" cy="807409"/>
          </a:xfrm>
        </p:grpSpPr>
        <p:sp>
          <p:nvSpPr>
            <p:cNvPr id="16" name="Rectangle 15"/>
            <p:cNvSpPr/>
            <p:nvPr/>
          </p:nvSpPr>
          <p:spPr>
            <a:xfrm>
              <a:off x="6000750" y="1758379"/>
              <a:ext cx="623636" cy="35292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0 -- f</a:t>
              </a:r>
            </a:p>
          </p:txBody>
        </p:sp>
        <p:sp>
          <p:nvSpPr>
            <p:cNvPr id="17" name="Rectangle 16"/>
            <p:cNvSpPr/>
            <p:nvPr/>
          </p:nvSpPr>
          <p:spPr>
            <a:xfrm>
              <a:off x="5295900" y="1761916"/>
              <a:ext cx="623636" cy="35292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0 -- f</a:t>
              </a:r>
            </a:p>
          </p:txBody>
        </p:sp>
        <p:cxnSp>
          <p:nvCxnSpPr>
            <p:cNvPr id="18" name="Straight Arrow Connector 17"/>
            <p:cNvCxnSpPr>
              <a:cxnSpLocks/>
              <a:endCxn id="16" idx="0"/>
            </p:cNvCxnSpPr>
            <p:nvPr/>
          </p:nvCxnSpPr>
          <p:spPr>
            <a:xfrm>
              <a:off x="5688310" y="1371601"/>
              <a:ext cx="624258" cy="386778"/>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endCxn id="17" idx="0"/>
            </p:cNvCxnSpPr>
            <p:nvPr/>
          </p:nvCxnSpPr>
          <p:spPr>
            <a:xfrm>
              <a:off x="5510465" y="1429514"/>
              <a:ext cx="97253" cy="332402"/>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3895726" y="1826084"/>
              <a:ext cx="623636" cy="3529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a:t>
              </a:r>
            </a:p>
          </p:txBody>
        </p:sp>
      </p:grpSp>
      <mc:AlternateContent xmlns:mc="http://schemas.openxmlformats.org/markup-compatibility/2006" xmlns:a14="http://schemas.microsoft.com/office/drawing/2010/main">
        <mc:Choice Requires="a14">
          <p:sp>
            <p:nvSpPr>
              <p:cNvPr id="25" name="TextBox 24"/>
              <p:cNvSpPr txBox="1"/>
              <p:nvPr/>
            </p:nvSpPr>
            <p:spPr>
              <a:xfrm>
                <a:off x="9365582" y="1237153"/>
                <a:ext cx="724905"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600" i="1" dirty="0">
                              <a:latin typeface="Cambria Math" panose="02040503050406030204" pitchFamily="18" charset="0"/>
                            </a:rPr>
                          </m:ctrlPr>
                        </m:sSupPr>
                        <m:e>
                          <m:r>
                            <a:rPr lang="en-US" sz="1600" i="1" dirty="0">
                              <a:latin typeface="Cambria Math" panose="02040503050406030204" pitchFamily="18" charset="0"/>
                            </a:rPr>
                            <m:t>16</m:t>
                          </m:r>
                        </m:e>
                        <m:sup>
                          <m:r>
                            <a:rPr lang="en-US" sz="1600" dirty="0">
                              <a:latin typeface="Cambria Math" panose="02040503050406030204" pitchFamily="18" charset="0"/>
                            </a:rPr>
                            <m:t>1</m:t>
                          </m:r>
                        </m:sup>
                      </m:sSup>
                    </m:oMath>
                  </m:oMathPara>
                </a14:m>
                <a:endParaRPr lang="en-US" sz="1600" dirty="0">
                  <a:latin typeface="Candara" panose="020E0502030303020204" pitchFamily="34" charset="0"/>
                </a:endParaRPr>
              </a:p>
            </p:txBody>
          </p:sp>
        </mc:Choice>
        <mc:Fallback xmlns="">
          <p:sp>
            <p:nvSpPr>
              <p:cNvPr id="25" name="TextBox 24"/>
              <p:cNvSpPr txBox="1">
                <a:spLocks noRot="1" noChangeAspect="1" noMove="1" noResize="1" noEditPoints="1" noAdjustHandles="1" noChangeArrowheads="1" noChangeShapeType="1" noTextEdit="1"/>
              </p:cNvSpPr>
              <p:nvPr/>
            </p:nvSpPr>
            <p:spPr>
              <a:xfrm>
                <a:off x="9365582" y="1237153"/>
                <a:ext cx="724905" cy="338554"/>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9304921" y="1758379"/>
                <a:ext cx="724905"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600" i="1" dirty="0">
                              <a:latin typeface="Cambria Math" panose="02040503050406030204" pitchFamily="18" charset="0"/>
                            </a:rPr>
                          </m:ctrlPr>
                        </m:sSupPr>
                        <m:e>
                          <m:r>
                            <a:rPr lang="en-US" sz="1600" i="1" dirty="0">
                              <a:latin typeface="Cambria Math" panose="02040503050406030204" pitchFamily="18" charset="0"/>
                            </a:rPr>
                            <m:t>16</m:t>
                          </m:r>
                        </m:e>
                        <m:sup>
                          <m:r>
                            <a:rPr lang="en-US" sz="1600" dirty="0">
                              <a:latin typeface="Cambria Math" panose="02040503050406030204" pitchFamily="18" charset="0"/>
                            </a:rPr>
                            <m:t>2</m:t>
                          </m:r>
                        </m:sup>
                      </m:sSup>
                    </m:oMath>
                  </m:oMathPara>
                </a14:m>
                <a:endParaRPr lang="en-US" sz="1600" dirty="0">
                  <a:latin typeface="Candara" panose="020E0502030303020204" pitchFamily="34" charset="0"/>
                </a:endParaRPr>
              </a:p>
            </p:txBody>
          </p:sp>
        </mc:Choice>
        <mc:Fallback xmlns="">
          <p:sp>
            <p:nvSpPr>
              <p:cNvPr id="27" name="TextBox 26"/>
              <p:cNvSpPr txBox="1">
                <a:spLocks noRot="1" noChangeAspect="1" noMove="1" noResize="1" noEditPoints="1" noAdjustHandles="1" noChangeArrowheads="1" noChangeShapeType="1" noTextEdit="1"/>
              </p:cNvSpPr>
              <p:nvPr/>
            </p:nvSpPr>
            <p:spPr>
              <a:xfrm>
                <a:off x="9304921" y="1758379"/>
                <a:ext cx="724905" cy="338554"/>
              </a:xfrm>
              <a:prstGeom prst="rect">
                <a:avLst/>
              </a:prstGeom>
              <a:blipFill>
                <a:blip r:embed="rId3"/>
                <a:stretch>
                  <a:fillRect/>
                </a:stretch>
              </a:blipFill>
            </p:spPr>
            <p:txBody>
              <a:bodyPr/>
              <a:lstStyle/>
              <a:p>
                <a:r>
                  <a:rPr lang="en-US">
                    <a:noFill/>
                  </a:rPr>
                  <a:t> </a:t>
                </a:r>
              </a:p>
            </p:txBody>
          </p:sp>
        </mc:Fallback>
      </mc:AlternateContent>
      <p:grpSp>
        <p:nvGrpSpPr>
          <p:cNvPr id="19" name="Group 18"/>
          <p:cNvGrpSpPr/>
          <p:nvPr/>
        </p:nvGrpSpPr>
        <p:grpSpPr>
          <a:xfrm>
            <a:off x="2202786" y="2002547"/>
            <a:ext cx="1635041" cy="705852"/>
            <a:chOff x="678785" y="2002547"/>
            <a:chExt cx="1635041" cy="705852"/>
          </a:xfrm>
        </p:grpSpPr>
        <p:grpSp>
          <p:nvGrpSpPr>
            <p:cNvPr id="13" name="Group 12"/>
            <p:cNvGrpSpPr/>
            <p:nvPr/>
          </p:nvGrpSpPr>
          <p:grpSpPr>
            <a:xfrm>
              <a:off x="678785" y="2002547"/>
              <a:ext cx="1635041" cy="705852"/>
              <a:chOff x="678785" y="2002547"/>
              <a:chExt cx="1635041" cy="705852"/>
            </a:xfrm>
          </p:grpSpPr>
          <p:grpSp>
            <p:nvGrpSpPr>
              <p:cNvPr id="9" name="Group 8"/>
              <p:cNvGrpSpPr/>
              <p:nvPr/>
            </p:nvGrpSpPr>
            <p:grpSpPr>
              <a:xfrm>
                <a:off x="678785" y="2002547"/>
                <a:ext cx="1318459" cy="705852"/>
                <a:chOff x="678785" y="2002547"/>
                <a:chExt cx="1318459" cy="705852"/>
              </a:xfrm>
            </p:grpSpPr>
            <p:sp>
              <p:nvSpPr>
                <p:cNvPr id="28" name="Rectangle 27"/>
                <p:cNvSpPr/>
                <p:nvPr/>
              </p:nvSpPr>
              <p:spPr>
                <a:xfrm>
                  <a:off x="678785" y="2355473"/>
                  <a:ext cx="623636" cy="35292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0 -- f</a:t>
                  </a:r>
                </a:p>
              </p:txBody>
            </p:sp>
            <p:cxnSp>
              <p:nvCxnSpPr>
                <p:cNvPr id="29" name="Straight Arrow Connector 28"/>
                <p:cNvCxnSpPr>
                  <a:endCxn id="28" idx="0"/>
                </p:cNvCxnSpPr>
                <p:nvPr/>
              </p:nvCxnSpPr>
              <p:spPr>
                <a:xfrm flipH="1">
                  <a:off x="990603" y="2002547"/>
                  <a:ext cx="1006641" cy="352926"/>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a:off x="1545059" y="2007029"/>
                <a:ext cx="768767" cy="701370"/>
                <a:chOff x="1545059" y="2007029"/>
                <a:chExt cx="768767" cy="701370"/>
              </a:xfrm>
            </p:grpSpPr>
            <p:cxnSp>
              <p:nvCxnSpPr>
                <p:cNvPr id="30" name="Straight Arrow Connector 29"/>
                <p:cNvCxnSpPr/>
                <p:nvPr/>
              </p:nvCxnSpPr>
              <p:spPr>
                <a:xfrm flipH="1">
                  <a:off x="1831183" y="2007029"/>
                  <a:ext cx="482643" cy="34844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1545059" y="2355473"/>
                  <a:ext cx="623636" cy="35292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0 -- f</a:t>
                  </a:r>
                </a:p>
              </p:txBody>
            </p:sp>
          </p:grpSp>
        </p:grpSp>
        <p:sp>
          <p:nvSpPr>
            <p:cNvPr id="35" name="Rectangle 34"/>
            <p:cNvSpPr/>
            <p:nvPr/>
          </p:nvSpPr>
          <p:spPr>
            <a:xfrm>
              <a:off x="1118314" y="2355473"/>
              <a:ext cx="623636" cy="3529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ndara" panose="020E0502030303020204" pitchFamily="34" charset="0"/>
                </a:rPr>
                <a:t>---</a:t>
              </a:r>
            </a:p>
          </p:txBody>
        </p:sp>
      </p:grpSp>
      <p:grpSp>
        <p:nvGrpSpPr>
          <p:cNvPr id="14" name="Group 13"/>
          <p:cNvGrpSpPr/>
          <p:nvPr/>
        </p:nvGrpSpPr>
        <p:grpSpPr>
          <a:xfrm>
            <a:off x="3860135" y="2002547"/>
            <a:ext cx="1489910" cy="706262"/>
            <a:chOff x="2336135" y="2002547"/>
            <a:chExt cx="1489910" cy="706262"/>
          </a:xfrm>
        </p:grpSpPr>
        <p:sp>
          <p:nvSpPr>
            <p:cNvPr id="36" name="Rectangle 35"/>
            <p:cNvSpPr/>
            <p:nvPr/>
          </p:nvSpPr>
          <p:spPr>
            <a:xfrm>
              <a:off x="2336135" y="2355883"/>
              <a:ext cx="623636" cy="35292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0 -- f</a:t>
              </a:r>
            </a:p>
          </p:txBody>
        </p:sp>
        <p:sp>
          <p:nvSpPr>
            <p:cNvPr id="37" name="Rectangle 36"/>
            <p:cNvSpPr/>
            <p:nvPr/>
          </p:nvSpPr>
          <p:spPr>
            <a:xfrm>
              <a:off x="3202409" y="2355883"/>
              <a:ext cx="623636" cy="35292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0 -- f</a:t>
              </a:r>
            </a:p>
          </p:txBody>
        </p:sp>
        <p:sp>
          <p:nvSpPr>
            <p:cNvPr id="38" name="Rectangle 37"/>
            <p:cNvSpPr/>
            <p:nvPr/>
          </p:nvSpPr>
          <p:spPr>
            <a:xfrm>
              <a:off x="2775664" y="2355883"/>
              <a:ext cx="623636" cy="3529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ndara" panose="020E0502030303020204" pitchFamily="34" charset="0"/>
                </a:rPr>
                <a:t>---</a:t>
              </a:r>
            </a:p>
          </p:txBody>
        </p:sp>
        <p:cxnSp>
          <p:nvCxnSpPr>
            <p:cNvPr id="39" name="Straight Arrow Connector 38"/>
            <p:cNvCxnSpPr>
              <a:endCxn id="36" idx="0"/>
            </p:cNvCxnSpPr>
            <p:nvPr/>
          </p:nvCxnSpPr>
          <p:spPr>
            <a:xfrm flipH="1">
              <a:off x="2647953" y="2055363"/>
              <a:ext cx="75198" cy="300520"/>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endCxn id="37" idx="0"/>
            </p:cNvCxnSpPr>
            <p:nvPr/>
          </p:nvCxnSpPr>
          <p:spPr>
            <a:xfrm>
              <a:off x="3065548" y="2002547"/>
              <a:ext cx="448679" cy="353336"/>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20" name="Group 19"/>
          <p:cNvGrpSpPr/>
          <p:nvPr/>
        </p:nvGrpSpPr>
        <p:grpSpPr>
          <a:xfrm>
            <a:off x="5351047" y="2022869"/>
            <a:ext cx="3782305" cy="685940"/>
            <a:chOff x="3827046" y="2022869"/>
            <a:chExt cx="3782305" cy="685940"/>
          </a:xfrm>
        </p:grpSpPr>
        <p:sp>
          <p:nvSpPr>
            <p:cNvPr id="43" name="Rectangle 42"/>
            <p:cNvSpPr/>
            <p:nvPr/>
          </p:nvSpPr>
          <p:spPr>
            <a:xfrm>
              <a:off x="3827046" y="2355473"/>
              <a:ext cx="623636" cy="3529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a:t>
              </a:r>
            </a:p>
          </p:txBody>
        </p:sp>
        <p:sp>
          <p:nvSpPr>
            <p:cNvPr id="44" name="Rectangle 43"/>
            <p:cNvSpPr/>
            <p:nvPr/>
          </p:nvSpPr>
          <p:spPr>
            <a:xfrm>
              <a:off x="4510217" y="2355473"/>
              <a:ext cx="623636" cy="35292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0 -- f</a:t>
              </a:r>
            </a:p>
          </p:txBody>
        </p:sp>
        <p:sp>
          <p:nvSpPr>
            <p:cNvPr id="45" name="Rectangle 44"/>
            <p:cNvSpPr/>
            <p:nvPr/>
          </p:nvSpPr>
          <p:spPr>
            <a:xfrm>
              <a:off x="5376491" y="2355473"/>
              <a:ext cx="623636" cy="35292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0 -- f</a:t>
              </a:r>
            </a:p>
          </p:txBody>
        </p:sp>
        <p:sp>
          <p:nvSpPr>
            <p:cNvPr id="46" name="Rectangle 45"/>
            <p:cNvSpPr/>
            <p:nvPr/>
          </p:nvSpPr>
          <p:spPr>
            <a:xfrm>
              <a:off x="4949746" y="2355473"/>
              <a:ext cx="623636" cy="3529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ndara" panose="020E0502030303020204" pitchFamily="34" charset="0"/>
                </a:rPr>
                <a:t>---</a:t>
              </a:r>
            </a:p>
          </p:txBody>
        </p:sp>
        <p:sp>
          <p:nvSpPr>
            <p:cNvPr id="47" name="Rectangle 46"/>
            <p:cNvSpPr/>
            <p:nvPr/>
          </p:nvSpPr>
          <p:spPr>
            <a:xfrm>
              <a:off x="6119441" y="2355883"/>
              <a:ext cx="623636" cy="35292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0 -- f</a:t>
              </a:r>
            </a:p>
          </p:txBody>
        </p:sp>
        <p:sp>
          <p:nvSpPr>
            <p:cNvPr id="48" name="Rectangle 47"/>
            <p:cNvSpPr/>
            <p:nvPr/>
          </p:nvSpPr>
          <p:spPr>
            <a:xfrm>
              <a:off x="6985715" y="2355883"/>
              <a:ext cx="623636" cy="35292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0 -- f</a:t>
              </a:r>
            </a:p>
          </p:txBody>
        </p:sp>
        <p:sp>
          <p:nvSpPr>
            <p:cNvPr id="49" name="Rectangle 48"/>
            <p:cNvSpPr/>
            <p:nvPr/>
          </p:nvSpPr>
          <p:spPr>
            <a:xfrm>
              <a:off x="6558970" y="2355883"/>
              <a:ext cx="623636" cy="3529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andara" panose="020E0502030303020204" pitchFamily="34" charset="0"/>
                </a:rPr>
                <a:t>---</a:t>
              </a:r>
            </a:p>
          </p:txBody>
        </p:sp>
        <p:cxnSp>
          <p:nvCxnSpPr>
            <p:cNvPr id="52" name="Straight Arrow Connector 51"/>
            <p:cNvCxnSpPr>
              <a:endCxn id="44" idx="0"/>
            </p:cNvCxnSpPr>
            <p:nvPr/>
          </p:nvCxnSpPr>
          <p:spPr>
            <a:xfrm flipH="1">
              <a:off x="4822035" y="2022869"/>
              <a:ext cx="631032" cy="33260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endCxn id="45" idx="0"/>
            </p:cNvCxnSpPr>
            <p:nvPr/>
          </p:nvCxnSpPr>
          <p:spPr>
            <a:xfrm flipH="1">
              <a:off x="5688309" y="2027351"/>
              <a:ext cx="81340" cy="328122"/>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endCxn id="47" idx="0"/>
            </p:cNvCxnSpPr>
            <p:nvPr/>
          </p:nvCxnSpPr>
          <p:spPr>
            <a:xfrm>
              <a:off x="6178973" y="2075685"/>
              <a:ext cx="252286" cy="280198"/>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endCxn id="48" idx="0"/>
            </p:cNvCxnSpPr>
            <p:nvPr/>
          </p:nvCxnSpPr>
          <p:spPr>
            <a:xfrm>
              <a:off x="6521370" y="2022869"/>
              <a:ext cx="776163" cy="33301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60" name="TextBox 59"/>
              <p:cNvSpPr txBox="1"/>
              <p:nvPr/>
            </p:nvSpPr>
            <p:spPr>
              <a:xfrm>
                <a:off x="9342154" y="2304265"/>
                <a:ext cx="724905"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600" i="1" dirty="0">
                              <a:latin typeface="Cambria Math" panose="02040503050406030204" pitchFamily="18" charset="0"/>
                            </a:rPr>
                          </m:ctrlPr>
                        </m:sSupPr>
                        <m:e>
                          <m:r>
                            <a:rPr lang="en-US" sz="1600" i="1" dirty="0">
                              <a:latin typeface="Cambria Math" panose="02040503050406030204" pitchFamily="18" charset="0"/>
                            </a:rPr>
                            <m:t>16</m:t>
                          </m:r>
                        </m:e>
                        <m:sup>
                          <m:r>
                            <a:rPr lang="en-US" sz="1600" dirty="0">
                              <a:latin typeface="Cambria Math" panose="02040503050406030204" pitchFamily="18" charset="0"/>
                            </a:rPr>
                            <m:t>3</m:t>
                          </m:r>
                        </m:sup>
                      </m:sSup>
                    </m:oMath>
                  </m:oMathPara>
                </a14:m>
                <a:endParaRPr lang="en-US" sz="1600" dirty="0">
                  <a:latin typeface="Candara" panose="020E0502030303020204" pitchFamily="34" charset="0"/>
                </a:endParaRPr>
              </a:p>
            </p:txBody>
          </p:sp>
        </mc:Choice>
        <mc:Fallback xmlns="">
          <p:sp>
            <p:nvSpPr>
              <p:cNvPr id="60" name="TextBox 59"/>
              <p:cNvSpPr txBox="1">
                <a:spLocks noRot="1" noChangeAspect="1" noMove="1" noResize="1" noEditPoints="1" noAdjustHandles="1" noChangeArrowheads="1" noChangeShapeType="1" noTextEdit="1"/>
              </p:cNvSpPr>
              <p:nvPr/>
            </p:nvSpPr>
            <p:spPr>
              <a:xfrm>
                <a:off x="9342154" y="2304265"/>
                <a:ext cx="724905" cy="33855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p:cNvSpPr txBox="1"/>
              <p:nvPr/>
            </p:nvSpPr>
            <p:spPr>
              <a:xfrm>
                <a:off x="9766388" y="4428031"/>
                <a:ext cx="724905"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600" i="1" dirty="0">
                              <a:latin typeface="Cambria Math" panose="02040503050406030204" pitchFamily="18" charset="0"/>
                            </a:rPr>
                          </m:ctrlPr>
                        </m:sSupPr>
                        <m:e>
                          <m:r>
                            <a:rPr lang="en-US" sz="1600" i="1" dirty="0">
                              <a:latin typeface="Cambria Math" panose="02040503050406030204" pitchFamily="18" charset="0"/>
                            </a:rPr>
                            <m:t>16</m:t>
                          </m:r>
                        </m:e>
                        <m:sup>
                          <m:r>
                            <a:rPr lang="en-US" sz="1600" dirty="0">
                              <a:latin typeface="Cambria Math" panose="02040503050406030204" pitchFamily="18" charset="0"/>
                            </a:rPr>
                            <m:t>64</m:t>
                          </m:r>
                        </m:sup>
                      </m:sSup>
                    </m:oMath>
                  </m:oMathPara>
                </a14:m>
                <a:endParaRPr lang="en-US" sz="1600" dirty="0">
                  <a:latin typeface="Candara" panose="020E0502030303020204" pitchFamily="34" charset="0"/>
                </a:endParaRPr>
              </a:p>
            </p:txBody>
          </p:sp>
        </mc:Choice>
        <mc:Fallback xmlns="">
          <p:sp>
            <p:nvSpPr>
              <p:cNvPr id="65" name="TextBox 64"/>
              <p:cNvSpPr txBox="1">
                <a:spLocks noRot="1" noChangeAspect="1" noMove="1" noResize="1" noEditPoints="1" noAdjustHandles="1" noChangeArrowheads="1" noChangeShapeType="1" noTextEdit="1"/>
              </p:cNvSpPr>
              <p:nvPr/>
            </p:nvSpPr>
            <p:spPr>
              <a:xfrm>
                <a:off x="9766388" y="4428031"/>
                <a:ext cx="724905" cy="338554"/>
              </a:xfrm>
              <a:prstGeom prst="rect">
                <a:avLst/>
              </a:prstGeom>
              <a:blipFill>
                <a:blip r:embed="rId5"/>
                <a:stretch>
                  <a:fillRect/>
                </a:stretch>
              </a:blipFill>
            </p:spPr>
            <p:txBody>
              <a:bodyPr/>
              <a:lstStyle/>
              <a:p>
                <a:r>
                  <a:rPr lang="en-US">
                    <a:noFill/>
                  </a:rPr>
                  <a:t> </a:t>
                </a:r>
              </a:p>
            </p:txBody>
          </p:sp>
        </mc:Fallback>
      </mc:AlternateContent>
      <p:grpSp>
        <p:nvGrpSpPr>
          <p:cNvPr id="22" name="Group 21"/>
          <p:cNvGrpSpPr/>
          <p:nvPr/>
        </p:nvGrpSpPr>
        <p:grpSpPr>
          <a:xfrm>
            <a:off x="1724562" y="2884863"/>
            <a:ext cx="8042694" cy="1879643"/>
            <a:chOff x="200562" y="2884862"/>
            <a:chExt cx="8042694" cy="1879643"/>
          </a:xfrm>
        </p:grpSpPr>
        <p:sp>
          <p:nvSpPr>
            <p:cNvPr id="62" name="Rectangle 61"/>
            <p:cNvSpPr/>
            <p:nvPr/>
          </p:nvSpPr>
          <p:spPr>
            <a:xfrm>
              <a:off x="200562" y="4379904"/>
              <a:ext cx="623636" cy="35292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0 -- f</a:t>
              </a:r>
            </a:p>
          </p:txBody>
        </p:sp>
        <p:sp>
          <p:nvSpPr>
            <p:cNvPr id="63" name="Rectangle 62"/>
            <p:cNvSpPr/>
            <p:nvPr/>
          </p:nvSpPr>
          <p:spPr>
            <a:xfrm>
              <a:off x="7619620" y="4411579"/>
              <a:ext cx="623636" cy="35292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andara" panose="020E0502030303020204" pitchFamily="34" charset="0"/>
                </a:rPr>
                <a:t>0 -- f</a:t>
              </a:r>
            </a:p>
          </p:txBody>
        </p:sp>
        <p:cxnSp>
          <p:nvCxnSpPr>
            <p:cNvPr id="67" name="Straight Connector 66"/>
            <p:cNvCxnSpPr/>
            <p:nvPr/>
          </p:nvCxnSpPr>
          <p:spPr>
            <a:xfrm flipH="1">
              <a:off x="512380" y="2994441"/>
              <a:ext cx="478224" cy="112838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7348999" y="3065574"/>
              <a:ext cx="492582" cy="1057247"/>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4169801" y="2884862"/>
              <a:ext cx="37743" cy="1526717"/>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flipH="1">
              <a:off x="1518202" y="4576060"/>
              <a:ext cx="1257462" cy="1198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flipH="1">
              <a:off x="6040071" y="4568548"/>
              <a:ext cx="1257462" cy="1198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7" name="TextBox 76"/>
              <p:cNvSpPr txBox="1"/>
              <p:nvPr/>
            </p:nvSpPr>
            <p:spPr>
              <a:xfrm>
                <a:off x="2948058" y="4854086"/>
                <a:ext cx="5758549" cy="372410"/>
              </a:xfrm>
              <a:prstGeom prst="rect">
                <a:avLst/>
              </a:prstGeom>
              <a:noFill/>
              <a:ln>
                <a:noFill/>
              </a:ln>
            </p:spPr>
            <p:txBody>
              <a:bodyPr wrap="square" rtlCol="0">
                <a:spAutoFit/>
              </a:bodyPr>
              <a:lstStyle/>
              <a:p>
                <a:pPr algn="ctr"/>
                <a:r>
                  <a:rPr lang="en-US" dirty="0">
                    <a:latin typeface="Candara" panose="020E0502030303020204" pitchFamily="34" charset="0"/>
                  </a:rPr>
                  <a:t>Total positions or keys at the 64</a:t>
                </a:r>
                <a:r>
                  <a:rPr lang="en-US" baseline="30000" dirty="0">
                    <a:latin typeface="Candara" panose="020E0502030303020204" pitchFamily="34" charset="0"/>
                  </a:rPr>
                  <a:t>th</a:t>
                </a:r>
                <a:r>
                  <a:rPr lang="en-US" dirty="0">
                    <a:latin typeface="Candara" panose="020E0502030303020204" pitchFamily="34" charset="0"/>
                  </a:rPr>
                  <a:t> level are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16</m:t>
                        </m:r>
                      </m:e>
                      <m:sup>
                        <m:r>
                          <a:rPr lang="en-US" i="1">
                            <a:latin typeface="Cambria Math" panose="02040503050406030204" pitchFamily="18" charset="0"/>
                          </a:rPr>
                          <m:t>64</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256</m:t>
                        </m:r>
                      </m:sup>
                    </m:sSup>
                  </m:oMath>
                </a14:m>
                <a:endParaRPr lang="en-US" dirty="0">
                  <a:latin typeface="Candara" panose="020E0502030303020204" pitchFamily="34" charset="0"/>
                </a:endParaRPr>
              </a:p>
            </p:txBody>
          </p:sp>
        </mc:Choice>
        <mc:Fallback xmlns="">
          <p:sp>
            <p:nvSpPr>
              <p:cNvPr id="77" name="TextBox 76"/>
              <p:cNvSpPr txBox="1">
                <a:spLocks noRot="1" noChangeAspect="1" noMove="1" noResize="1" noEditPoints="1" noAdjustHandles="1" noChangeArrowheads="1" noChangeShapeType="1" noTextEdit="1"/>
              </p:cNvSpPr>
              <p:nvPr/>
            </p:nvSpPr>
            <p:spPr>
              <a:xfrm>
                <a:off x="2948058" y="4854086"/>
                <a:ext cx="5758549" cy="372410"/>
              </a:xfrm>
              <a:prstGeom prst="rect">
                <a:avLst/>
              </a:prstGeom>
              <a:blipFill>
                <a:blip r:embed="rId6"/>
                <a:stretch>
                  <a:fillRect t="-6557" b="-26230"/>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p:cNvSpPr txBox="1"/>
              <p:nvPr/>
            </p:nvSpPr>
            <p:spPr>
              <a:xfrm>
                <a:off x="5974683" y="5396873"/>
                <a:ext cx="4055143" cy="372410"/>
              </a:xfrm>
              <a:prstGeom prst="rect">
                <a:avLst/>
              </a:prstGeom>
              <a:noFill/>
              <a:ln>
                <a:noFill/>
              </a:ln>
            </p:spPr>
            <p:txBody>
              <a:bodyPr wrap="square" rtlCol="0">
                <a:spAutoFit/>
              </a:bodyPr>
              <a:lstStyle/>
              <a:p>
                <a:pPr algn="ctr"/>
                <a:r>
                  <a:rPr lang="en-US" dirty="0">
                    <a:latin typeface="Candara" panose="020E0502030303020204" pitchFamily="34" charset="0"/>
                  </a:rPr>
                  <a:t>Do we need all the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256</m:t>
                        </m:r>
                      </m:sup>
                    </m:sSup>
                  </m:oMath>
                </a14:m>
                <a:r>
                  <a:rPr lang="en-US" dirty="0">
                    <a:latin typeface="Candara" panose="020E0502030303020204" pitchFamily="34" charset="0"/>
                  </a:rPr>
                  <a:t> leafs (keys)? </a:t>
                </a:r>
              </a:p>
            </p:txBody>
          </p:sp>
        </mc:Choice>
        <mc:Fallback xmlns="">
          <p:sp>
            <p:nvSpPr>
              <p:cNvPr id="78" name="TextBox 77"/>
              <p:cNvSpPr txBox="1">
                <a:spLocks noRot="1" noChangeAspect="1" noMove="1" noResize="1" noEditPoints="1" noAdjustHandles="1" noChangeArrowheads="1" noChangeShapeType="1" noTextEdit="1"/>
              </p:cNvSpPr>
              <p:nvPr/>
            </p:nvSpPr>
            <p:spPr>
              <a:xfrm>
                <a:off x="5974683" y="5396873"/>
                <a:ext cx="4055143" cy="372410"/>
              </a:xfrm>
              <a:prstGeom prst="rect">
                <a:avLst/>
              </a:prstGeom>
              <a:blipFill>
                <a:blip r:embed="rId7"/>
                <a:stretch>
                  <a:fillRect t="-6557" b="-26230"/>
                </a:stretch>
              </a:blipFill>
              <a:ln>
                <a:noFill/>
              </a:ln>
            </p:spPr>
            <p:txBody>
              <a:bodyPr/>
              <a:lstStyle/>
              <a:p>
                <a:r>
                  <a:rPr lang="en-US">
                    <a:noFill/>
                  </a:rPr>
                  <a:t> </a:t>
                </a:r>
              </a:p>
            </p:txBody>
          </p:sp>
        </mc:Fallback>
      </mc:AlternateContent>
      <p:sp>
        <p:nvSpPr>
          <p:cNvPr id="80" name="TextBox 79"/>
          <p:cNvSpPr txBox="1"/>
          <p:nvPr/>
        </p:nvSpPr>
        <p:spPr>
          <a:xfrm>
            <a:off x="1552075" y="5621768"/>
            <a:ext cx="3487156" cy="646331"/>
          </a:xfrm>
          <a:prstGeom prst="rect">
            <a:avLst/>
          </a:prstGeom>
          <a:noFill/>
          <a:ln>
            <a:noFill/>
          </a:ln>
        </p:spPr>
        <p:txBody>
          <a:bodyPr wrap="square" rtlCol="0">
            <a:spAutoFit/>
          </a:bodyPr>
          <a:lstStyle/>
          <a:p>
            <a:pPr algn="ctr"/>
            <a:r>
              <a:rPr lang="en-US" dirty="0">
                <a:solidFill>
                  <a:srgbClr val="002060"/>
                </a:solidFill>
                <a:latin typeface="Candara" panose="020E0502030303020204" pitchFamily="34" charset="0"/>
              </a:rPr>
              <a:t>In a tree like structure, a leaf has no child</a:t>
            </a:r>
          </a:p>
        </p:txBody>
      </p:sp>
      <mc:AlternateContent xmlns:mc="http://schemas.openxmlformats.org/markup-compatibility/2006" xmlns:a14="http://schemas.microsoft.com/office/drawing/2010/main">
        <mc:Choice Requires="a14">
          <p:sp>
            <p:nvSpPr>
              <p:cNvPr id="81" name="TextBox 80"/>
              <p:cNvSpPr txBox="1"/>
              <p:nvPr/>
            </p:nvSpPr>
            <p:spPr>
              <a:xfrm>
                <a:off x="5974683" y="5950764"/>
                <a:ext cx="4064667" cy="649409"/>
              </a:xfrm>
              <a:prstGeom prst="rect">
                <a:avLst/>
              </a:prstGeom>
              <a:noFill/>
              <a:ln>
                <a:noFill/>
              </a:ln>
            </p:spPr>
            <p:txBody>
              <a:bodyPr wrap="square" rtlCol="0">
                <a:spAutoFit/>
              </a:bodyPr>
              <a:lstStyle/>
              <a:p>
                <a:pPr algn="ctr"/>
                <a:r>
                  <a:rPr lang="en-US" dirty="0">
                    <a:latin typeface="Candara" panose="020E0502030303020204" pitchFamily="34" charset="0"/>
                  </a:rPr>
                  <a:t>No, because </a:t>
                </a:r>
                <a:r>
                  <a:rPr lang="en-US" dirty="0">
                    <a:solidFill>
                      <a:schemeClr val="accent2"/>
                    </a:solidFill>
                    <a:latin typeface="Candara" panose="020E0502030303020204" pitchFamily="34" charset="0"/>
                  </a:rPr>
                  <a:t>total Ethereum addresses are far less than </a:t>
                </a:r>
                <a14:m>
                  <m:oMath xmlns:m="http://schemas.openxmlformats.org/officeDocument/2006/math">
                    <m:sSup>
                      <m:sSupPr>
                        <m:ctrlPr>
                          <a:rPr lang="en-US" i="1">
                            <a:solidFill>
                              <a:schemeClr val="accent2"/>
                            </a:solidFill>
                            <a:latin typeface="Cambria Math" panose="02040503050406030204" pitchFamily="18" charset="0"/>
                          </a:rPr>
                        </m:ctrlPr>
                      </m:sSupPr>
                      <m:e>
                        <m:r>
                          <a:rPr lang="en-US" i="1">
                            <a:solidFill>
                              <a:schemeClr val="accent2"/>
                            </a:solidFill>
                            <a:latin typeface="Cambria Math" panose="02040503050406030204" pitchFamily="18" charset="0"/>
                          </a:rPr>
                          <m:t>2</m:t>
                        </m:r>
                      </m:e>
                      <m:sup>
                        <m:r>
                          <a:rPr lang="en-US" i="1">
                            <a:solidFill>
                              <a:schemeClr val="accent2"/>
                            </a:solidFill>
                            <a:latin typeface="Cambria Math" panose="02040503050406030204" pitchFamily="18" charset="0"/>
                          </a:rPr>
                          <m:t>256</m:t>
                        </m:r>
                      </m:sup>
                    </m:sSup>
                  </m:oMath>
                </a14:m>
                <a:endParaRPr lang="en-US" dirty="0">
                  <a:latin typeface="Candara" panose="020E0502030303020204" pitchFamily="34" charset="0"/>
                </a:endParaRPr>
              </a:p>
            </p:txBody>
          </p:sp>
        </mc:Choice>
        <mc:Fallback xmlns="">
          <p:sp>
            <p:nvSpPr>
              <p:cNvPr id="81" name="TextBox 80"/>
              <p:cNvSpPr txBox="1">
                <a:spLocks noRot="1" noChangeAspect="1" noMove="1" noResize="1" noEditPoints="1" noAdjustHandles="1" noChangeArrowheads="1" noChangeShapeType="1" noTextEdit="1"/>
              </p:cNvSpPr>
              <p:nvPr/>
            </p:nvSpPr>
            <p:spPr>
              <a:xfrm>
                <a:off x="5974683" y="5950764"/>
                <a:ext cx="4064667" cy="649409"/>
              </a:xfrm>
              <a:prstGeom prst="rect">
                <a:avLst/>
              </a:prstGeom>
              <a:blipFill>
                <a:blip r:embed="rId8"/>
                <a:stretch>
                  <a:fillRect t="-4673" r="-150" b="-14019"/>
                </a:stretch>
              </a:blipFill>
              <a:ln>
                <a:noFill/>
              </a:ln>
            </p:spPr>
            <p:txBody>
              <a:bodyPr/>
              <a:lstStyle/>
              <a:p>
                <a:r>
                  <a:rPr lang="en-US">
                    <a:noFill/>
                  </a:rPr>
                  <a:t> </a:t>
                </a:r>
              </a:p>
            </p:txBody>
          </p:sp>
        </mc:Fallback>
      </mc:AlternateContent>
      <p:sp>
        <p:nvSpPr>
          <p:cNvPr id="23" name="TextBox 22"/>
          <p:cNvSpPr txBox="1"/>
          <p:nvPr/>
        </p:nvSpPr>
        <p:spPr>
          <a:xfrm>
            <a:off x="7552575" y="1170474"/>
            <a:ext cx="1565356" cy="338554"/>
          </a:xfrm>
          <a:prstGeom prst="rect">
            <a:avLst/>
          </a:prstGeom>
          <a:noFill/>
        </p:spPr>
        <p:txBody>
          <a:bodyPr wrap="square" rtlCol="0">
            <a:spAutoFit/>
          </a:bodyPr>
          <a:lstStyle/>
          <a:p>
            <a:r>
              <a:rPr lang="en-US" sz="1600" dirty="0">
                <a:latin typeface="Candara" panose="020E0502030303020204" pitchFamily="34" charset="0"/>
              </a:rPr>
              <a:t>Root node level</a:t>
            </a:r>
          </a:p>
        </p:txBody>
      </p:sp>
    </p:spTree>
    <p:extLst>
      <p:ext uri="{BB962C8B-B14F-4D97-AF65-F5344CB8AC3E}">
        <p14:creationId xmlns:p14="http://schemas.microsoft.com/office/powerpoint/2010/main" val="95699432"/>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7" grpId="0"/>
      <p:bldP spid="60" grpId="0"/>
      <p:bldP spid="65" grpId="0"/>
      <p:bldP spid="77" grpId="0" animBg="1"/>
      <p:bldP spid="78" grpId="0" animBg="1"/>
      <p:bldP spid="80" grpId="0"/>
      <p:bldP spid="81"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822FAF71-7375-32E1-8A17-BFF3C1DDB139}"/>
              </a:ext>
            </a:extLst>
          </p:cNvPr>
          <p:cNvPicPr>
            <a:picLocks noChangeAspect="1"/>
          </p:cNvPicPr>
          <p:nvPr/>
        </p:nvPicPr>
        <p:blipFill>
          <a:blip r:embed="rId2"/>
          <a:stretch>
            <a:fillRect/>
          </a:stretch>
        </p:blipFill>
        <p:spPr>
          <a:xfrm>
            <a:off x="2285999" y="1125437"/>
            <a:ext cx="7919791" cy="4356854"/>
          </a:xfrm>
          <a:prstGeom prst="rect">
            <a:avLst/>
          </a:prstGeom>
        </p:spPr>
      </p:pic>
      <p:sp>
        <p:nvSpPr>
          <p:cNvPr id="2" name="Title 1"/>
          <p:cNvSpPr>
            <a:spLocks noGrp="1"/>
          </p:cNvSpPr>
          <p:nvPr>
            <p:ph type="title"/>
          </p:nvPr>
        </p:nvSpPr>
        <p:spPr/>
        <p:txBody>
          <a:bodyPr/>
          <a:lstStyle/>
          <a:p>
            <a:r>
              <a:rPr lang="en-US" dirty="0"/>
              <a:t>Ethereum Unique Addresses</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49</a:t>
            </a:fld>
            <a:endParaRPr lang="en-US" dirty="0">
              <a:latin typeface="Candara" panose="020E0502030303020204" pitchFamily="34" charset="0"/>
            </a:endParaRPr>
          </a:p>
        </p:txBody>
      </p:sp>
      <p:sp>
        <p:nvSpPr>
          <p:cNvPr id="7" name="TextBox 6"/>
          <p:cNvSpPr txBox="1"/>
          <p:nvPr/>
        </p:nvSpPr>
        <p:spPr>
          <a:xfrm>
            <a:off x="4090219" y="2430769"/>
            <a:ext cx="3176855" cy="646331"/>
          </a:xfrm>
          <a:prstGeom prst="rect">
            <a:avLst/>
          </a:prstGeom>
          <a:solidFill>
            <a:schemeClr val="bg1">
              <a:lumMod val="95000"/>
            </a:schemeClr>
          </a:solidFill>
        </p:spPr>
        <p:txBody>
          <a:bodyPr wrap="square" rtlCol="0">
            <a:spAutoFit/>
          </a:bodyPr>
          <a:lstStyle/>
          <a:p>
            <a:pPr algn="ctr"/>
            <a:r>
              <a:rPr lang="en-US" dirty="0">
                <a:latin typeface="Candara" panose="020E0502030303020204" pitchFamily="34" charset="0"/>
              </a:rPr>
              <a:t>There are almost 350 million unique addresses on Ethereum</a:t>
            </a:r>
          </a:p>
        </p:txBody>
      </p:sp>
      <mc:AlternateContent xmlns:mc="http://schemas.openxmlformats.org/markup-compatibility/2006" xmlns:a14="http://schemas.microsoft.com/office/drawing/2010/main">
        <mc:Choice Requires="a14">
          <p:sp>
            <p:nvSpPr>
              <p:cNvPr id="3" name="TextBox 2"/>
              <p:cNvSpPr txBox="1"/>
              <p:nvPr/>
            </p:nvSpPr>
            <p:spPr>
              <a:xfrm>
                <a:off x="511627" y="5522779"/>
                <a:ext cx="11186160" cy="1015663"/>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Candara" panose="020E0502030303020204" pitchFamily="34" charset="0"/>
                  </a:rPr>
                  <a:t>350 million is approximately equal to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2</m:t>
                        </m:r>
                      </m:e>
                      <m:sup>
                        <m:r>
                          <a:rPr lang="en-US" sz="2000" i="1">
                            <a:latin typeface="Cambria Math" panose="02040503050406030204" pitchFamily="18" charset="0"/>
                          </a:rPr>
                          <m:t>28</m:t>
                        </m:r>
                        <m:r>
                          <a:rPr lang="en-US" sz="2000" b="0" i="1" smtClean="0">
                            <a:latin typeface="Cambria Math" panose="02040503050406030204" pitchFamily="18" charset="0"/>
                          </a:rPr>
                          <m:t>.39</m:t>
                        </m:r>
                      </m:sup>
                    </m:sSup>
                  </m:oMath>
                </a14:m>
                <a:endParaRPr lang="en-US" sz="2000" dirty="0">
                  <a:latin typeface="Candara" panose="020E0502030303020204" pitchFamily="34" charset="0"/>
                </a:endParaRPr>
              </a:p>
              <a:p>
                <a:pPr marL="342900" indent="-342900">
                  <a:buFont typeface="Arial" panose="020B0604020202020204" pitchFamily="34" charset="0"/>
                  <a:buChar char="•"/>
                </a:pPr>
                <a:r>
                  <a:rPr lang="en-US" sz="2000" dirty="0">
                    <a:latin typeface="Candara" panose="020E0502030303020204" pitchFamily="34" charset="0"/>
                  </a:rPr>
                  <a:t>This allows Ethereum to significantly compress the </a:t>
                </a:r>
                <a:r>
                  <a:rPr lang="en-US" sz="2000" dirty="0" err="1">
                    <a:latin typeface="Candara" panose="020E0502030303020204" pitchFamily="34" charset="0"/>
                  </a:rPr>
                  <a:t>trie</a:t>
                </a:r>
                <a:r>
                  <a:rPr lang="en-US" sz="2000" dirty="0">
                    <a:latin typeface="Candara" panose="020E0502030303020204" pitchFamily="34" charset="0"/>
                  </a:rPr>
                  <a:t> with a lot less leaf nodes because there are several branches without child nodes in the </a:t>
                </a:r>
                <a:r>
                  <a:rPr lang="en-US" sz="2000" dirty="0" err="1">
                    <a:latin typeface="Candara" panose="020E0502030303020204" pitchFamily="34" charset="0"/>
                  </a:rPr>
                  <a:t>hexary</a:t>
                </a:r>
                <a:r>
                  <a:rPr lang="en-US" sz="2000" dirty="0">
                    <a:latin typeface="Candara" panose="020E0502030303020204" pitchFamily="34" charset="0"/>
                  </a:rPr>
                  <a:t> tire</a:t>
                </a:r>
              </a:p>
            </p:txBody>
          </p:sp>
        </mc:Choice>
        <mc:Fallback xmlns="">
          <p:sp>
            <p:nvSpPr>
              <p:cNvPr id="3" name="TextBox 2"/>
              <p:cNvSpPr txBox="1">
                <a:spLocks noRot="1" noChangeAspect="1" noMove="1" noResize="1" noEditPoints="1" noAdjustHandles="1" noChangeArrowheads="1" noChangeShapeType="1" noTextEdit="1"/>
              </p:cNvSpPr>
              <p:nvPr/>
            </p:nvSpPr>
            <p:spPr>
              <a:xfrm>
                <a:off x="511627" y="5522779"/>
                <a:ext cx="11186160" cy="1015663"/>
              </a:xfrm>
              <a:prstGeom prst="rect">
                <a:avLst/>
              </a:prstGeom>
              <a:blipFill>
                <a:blip r:embed="rId3"/>
                <a:stretch>
                  <a:fillRect l="-490" t="-3593" b="-9581"/>
                </a:stretch>
              </a:blipFill>
            </p:spPr>
            <p:txBody>
              <a:bodyPr/>
              <a:lstStyle/>
              <a:p>
                <a:r>
                  <a:rPr lang="en-US">
                    <a:noFill/>
                  </a:rPr>
                  <a:t> </a:t>
                </a:r>
              </a:p>
            </p:txBody>
          </p:sp>
        </mc:Fallback>
      </mc:AlternateContent>
      <p:sp>
        <p:nvSpPr>
          <p:cNvPr id="6" name="Rectangle 5"/>
          <p:cNvSpPr/>
          <p:nvPr/>
        </p:nvSpPr>
        <p:spPr>
          <a:xfrm>
            <a:off x="5678646" y="1193530"/>
            <a:ext cx="2215671" cy="261610"/>
          </a:xfrm>
          <a:prstGeom prst="rect">
            <a:avLst/>
          </a:prstGeom>
        </p:spPr>
        <p:txBody>
          <a:bodyPr wrap="none">
            <a:spAutoFit/>
          </a:bodyPr>
          <a:lstStyle/>
          <a:p>
            <a:r>
              <a:rPr lang="en-US" sz="1100" dirty="0">
                <a:latin typeface="Candara" panose="020E0502030303020204" pitchFamily="34" charset="0"/>
                <a:hlinkClick r:id="rId4"/>
              </a:rPr>
              <a:t>https://etherscan.io/chart/address</a:t>
            </a:r>
            <a:r>
              <a:rPr lang="en-US" sz="1100" dirty="0">
                <a:latin typeface="Candara" panose="020E0502030303020204" pitchFamily="34" charset="0"/>
              </a:rPr>
              <a:t> </a:t>
            </a:r>
          </a:p>
        </p:txBody>
      </p:sp>
    </p:spTree>
    <p:extLst>
      <p:ext uri="{BB962C8B-B14F-4D97-AF65-F5344CB8AC3E}">
        <p14:creationId xmlns:p14="http://schemas.microsoft.com/office/powerpoint/2010/main" val="4001979351"/>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Ethereum’s Modified MPT</a:t>
            </a:r>
          </a:p>
        </p:txBody>
      </p:sp>
      <p:sp>
        <p:nvSpPr>
          <p:cNvPr id="3" name="Content Placeholder 2"/>
          <p:cNvSpPr>
            <a:spLocks noGrp="1"/>
          </p:cNvSpPr>
          <p:nvPr>
            <p:ph idx="1"/>
          </p:nvPr>
        </p:nvSpPr>
        <p:spPr>
          <a:xfrm>
            <a:off x="542107" y="1087120"/>
            <a:ext cx="11162213" cy="5313680"/>
          </a:xfrm>
        </p:spPr>
        <p:txBody>
          <a:bodyPr anchor="ctr" anchorCtr="0">
            <a:normAutofit lnSpcReduction="10000"/>
          </a:bodyPr>
          <a:lstStyle/>
          <a:p>
            <a:r>
              <a:rPr lang="en-US" dirty="0"/>
              <a:t>Ethereum defines three types of nodes in its modified MPT</a:t>
            </a:r>
          </a:p>
          <a:p>
            <a:pPr lvl="1"/>
            <a:r>
              <a:rPr lang="en-US" dirty="0">
                <a:solidFill>
                  <a:schemeClr val="accent2"/>
                </a:solidFill>
              </a:rPr>
              <a:t>Leaf Node</a:t>
            </a:r>
            <a:r>
              <a:rPr lang="en-US" dirty="0"/>
              <a:t>: A node with no child</a:t>
            </a:r>
          </a:p>
          <a:p>
            <a:pPr lvl="1"/>
            <a:r>
              <a:rPr lang="en-US" dirty="0">
                <a:solidFill>
                  <a:schemeClr val="accent2"/>
                </a:solidFill>
              </a:rPr>
              <a:t>Extension node</a:t>
            </a:r>
            <a:r>
              <a:rPr lang="en-US" dirty="0"/>
              <a:t>: A node with only one child node</a:t>
            </a:r>
          </a:p>
          <a:p>
            <a:pPr lvl="1"/>
            <a:r>
              <a:rPr lang="en-US" dirty="0">
                <a:solidFill>
                  <a:schemeClr val="accent2"/>
                </a:solidFill>
              </a:rPr>
              <a:t>Branch node</a:t>
            </a:r>
            <a:r>
              <a:rPr lang="en-US" dirty="0"/>
              <a:t>: A node with more than one child node (any number from 2 to 16)</a:t>
            </a:r>
          </a:p>
          <a:p>
            <a:r>
              <a:rPr lang="en-US" dirty="0"/>
              <a:t>This distinction of nodes allow Ethereum to compress the MPT </a:t>
            </a:r>
          </a:p>
          <a:p>
            <a:pPr lvl="1"/>
            <a:r>
              <a:rPr lang="en-US" dirty="0"/>
              <a:t>Leaf node stores a key and a value (value is account state)</a:t>
            </a:r>
          </a:p>
          <a:p>
            <a:pPr lvl="1"/>
            <a:r>
              <a:rPr lang="en-US" dirty="0"/>
              <a:t>Extension node also stores a key and a value (value is the hash of the child node)</a:t>
            </a:r>
          </a:p>
          <a:p>
            <a:pPr lvl="1"/>
            <a:r>
              <a:rPr lang="en-US" dirty="0"/>
              <a:t>Branch node has 17 items that include 16 slots (for hex digits 0-f) and a value (either empty or non-empty if some key ends here). The next nibble of the key determines which branch slot to follow </a:t>
            </a:r>
          </a:p>
        </p:txBody>
      </p:sp>
      <p:sp>
        <p:nvSpPr>
          <p:cNvPr id="4" name="Slide Number Placeholder 3"/>
          <p:cNvSpPr>
            <a:spLocks noGrp="1"/>
          </p:cNvSpPr>
          <p:nvPr>
            <p:ph type="sldNum" sz="quarter" idx="12"/>
          </p:nvPr>
        </p:nvSpPr>
        <p:spPr/>
        <p:txBody>
          <a:bodyPr/>
          <a:lstStyle/>
          <a:p>
            <a:fld id="{19FE8B7B-3258-47CD-BBC0-34D05FC906E5}" type="slidenum">
              <a:rPr lang="en-US" smtClean="0"/>
              <a:t>50</a:t>
            </a:fld>
            <a:endParaRPr lang="en-US" dirty="0"/>
          </a:p>
        </p:txBody>
      </p:sp>
    </p:spTree>
    <p:extLst>
      <p:ext uri="{BB962C8B-B14F-4D97-AF65-F5344CB8AC3E}">
        <p14:creationId xmlns:p14="http://schemas.microsoft.com/office/powerpoint/2010/main" val="3819660440"/>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Ethereum’s Modified MPT</a:t>
            </a:r>
          </a:p>
        </p:txBody>
      </p:sp>
      <p:sp>
        <p:nvSpPr>
          <p:cNvPr id="3" name="Content Placeholder 2"/>
          <p:cNvSpPr>
            <a:spLocks noGrp="1"/>
          </p:cNvSpPr>
          <p:nvPr>
            <p:ph idx="1"/>
          </p:nvPr>
        </p:nvSpPr>
        <p:spPr>
          <a:xfrm>
            <a:off x="487680" y="1187355"/>
            <a:ext cx="11192693" cy="2614624"/>
          </a:xfrm>
        </p:spPr>
        <p:txBody>
          <a:bodyPr>
            <a:normAutofit/>
          </a:bodyPr>
          <a:lstStyle/>
          <a:p>
            <a:r>
              <a:rPr lang="en-US" sz="2000" dirty="0"/>
              <a:t>To differentiate between the leaf and the extension nodes (because both store two items), following prefixes are used:</a:t>
            </a:r>
          </a:p>
          <a:p>
            <a:pPr lvl="1"/>
            <a:r>
              <a:rPr lang="en-US" sz="1800" dirty="0">
                <a:solidFill>
                  <a:srgbClr val="002060"/>
                </a:solidFill>
              </a:rPr>
              <a:t>0000 (0x0): Extension node with even number of nibbles </a:t>
            </a:r>
          </a:p>
          <a:p>
            <a:pPr lvl="1"/>
            <a:r>
              <a:rPr lang="en-US" sz="1800" dirty="0">
                <a:solidFill>
                  <a:srgbClr val="002060"/>
                </a:solidFill>
              </a:rPr>
              <a:t>0001 (0x1): Extension node with odd number of nibbles</a:t>
            </a:r>
          </a:p>
          <a:p>
            <a:pPr lvl="1"/>
            <a:r>
              <a:rPr lang="en-US" sz="1800" dirty="0">
                <a:solidFill>
                  <a:schemeClr val="accent2"/>
                </a:solidFill>
              </a:rPr>
              <a:t>0010 (0x2): Leaf node with even number of nibbles</a:t>
            </a:r>
          </a:p>
          <a:p>
            <a:pPr lvl="1"/>
            <a:r>
              <a:rPr lang="en-US" sz="1800" dirty="0">
                <a:solidFill>
                  <a:schemeClr val="accent2"/>
                </a:solidFill>
              </a:rPr>
              <a:t>0011 (0x3): Leaf node with odd number of nibbles</a:t>
            </a:r>
          </a:p>
          <a:p>
            <a:r>
              <a:rPr lang="en-US" sz="2000" dirty="0"/>
              <a:t>Computers cannot store half of byte, so padding is also used with the prefix to convert the key into bytes</a:t>
            </a:r>
          </a:p>
        </p:txBody>
      </p:sp>
      <p:sp>
        <p:nvSpPr>
          <p:cNvPr id="4" name="Slide Number Placeholder 3"/>
          <p:cNvSpPr>
            <a:spLocks noGrp="1"/>
          </p:cNvSpPr>
          <p:nvPr>
            <p:ph type="sldNum" sz="quarter" idx="12"/>
          </p:nvPr>
        </p:nvSpPr>
        <p:spPr/>
        <p:txBody>
          <a:bodyPr/>
          <a:lstStyle/>
          <a:p>
            <a:fld id="{19FE8B7B-3258-47CD-BBC0-34D05FC906E5}" type="slidenum">
              <a:rPr lang="en-US" smtClean="0"/>
              <a:t>51</a:t>
            </a:fld>
            <a:endParaRPr lang="en-US" dirty="0"/>
          </a:p>
        </p:txBody>
      </p:sp>
      <p:sp>
        <p:nvSpPr>
          <p:cNvPr id="8" name="TextBox 7"/>
          <p:cNvSpPr txBox="1"/>
          <p:nvPr/>
        </p:nvSpPr>
        <p:spPr>
          <a:xfrm>
            <a:off x="487681" y="3977020"/>
            <a:ext cx="4773930" cy="2308324"/>
          </a:xfrm>
          <a:prstGeom prst="rect">
            <a:avLst/>
          </a:prstGeom>
          <a:noFill/>
          <a:ln>
            <a:solidFill>
              <a:srgbClr val="7030A0"/>
            </a:solidFill>
          </a:ln>
        </p:spPr>
        <p:txBody>
          <a:bodyPr wrap="square" rtlCol="0">
            <a:spAutoFit/>
          </a:bodyPr>
          <a:lstStyle/>
          <a:p>
            <a:pPr algn="ctr"/>
            <a:r>
              <a:rPr lang="en-US" sz="2400" b="1" u="sng" dirty="0"/>
              <a:t>Even nibbles</a:t>
            </a:r>
          </a:p>
          <a:p>
            <a:pPr algn="ctr"/>
            <a:endParaRPr lang="en-US" sz="2000" b="1" u="sng" dirty="0"/>
          </a:p>
          <a:p>
            <a:pPr algn="ctr"/>
            <a:r>
              <a:rPr lang="en-US" sz="2000" b="1" dirty="0"/>
              <a:t>Example: [4,5,6,7]</a:t>
            </a:r>
          </a:p>
          <a:p>
            <a:pPr marL="285750" indent="-285750" algn="ctr">
              <a:buFont typeface="Arial" panose="020B0604020202020204" pitchFamily="34" charset="0"/>
              <a:buChar char="•"/>
            </a:pPr>
            <a:r>
              <a:rPr lang="en-US" sz="2000" dirty="0">
                <a:solidFill>
                  <a:srgbClr val="002060"/>
                </a:solidFill>
              </a:rPr>
              <a:t>Extension node: After prefix padding [00,45,67] </a:t>
            </a:r>
          </a:p>
          <a:p>
            <a:pPr marL="285750" indent="-285750" algn="ctr">
              <a:buFont typeface="Arial" panose="020B0604020202020204" pitchFamily="34" charset="0"/>
              <a:buChar char="•"/>
            </a:pPr>
            <a:r>
              <a:rPr lang="en-US" sz="2000" dirty="0">
                <a:solidFill>
                  <a:schemeClr val="accent2"/>
                </a:solidFill>
              </a:rPr>
              <a:t>Leaf node: After prefix padding [20,45,67] </a:t>
            </a:r>
          </a:p>
        </p:txBody>
      </p:sp>
      <p:sp>
        <p:nvSpPr>
          <p:cNvPr id="6" name="TextBox 5">
            <a:extLst>
              <a:ext uri="{FF2B5EF4-FFF2-40B4-BE49-F238E27FC236}">
                <a16:creationId xmlns:a16="http://schemas.microsoft.com/office/drawing/2014/main" id="{F4E992DB-1B6C-2CC0-BC0D-268304B5AB15}"/>
              </a:ext>
            </a:extLst>
          </p:cNvPr>
          <p:cNvSpPr txBox="1"/>
          <p:nvPr/>
        </p:nvSpPr>
        <p:spPr>
          <a:xfrm>
            <a:off x="6559818" y="3977020"/>
            <a:ext cx="4773930" cy="2308324"/>
          </a:xfrm>
          <a:prstGeom prst="rect">
            <a:avLst/>
          </a:prstGeom>
          <a:noFill/>
          <a:ln>
            <a:solidFill>
              <a:srgbClr val="7030A0"/>
            </a:solidFill>
          </a:ln>
        </p:spPr>
        <p:txBody>
          <a:bodyPr wrap="square">
            <a:spAutoFit/>
          </a:bodyPr>
          <a:lstStyle/>
          <a:p>
            <a:pPr algn="ctr"/>
            <a:r>
              <a:rPr lang="en-US" sz="2400" b="1" u="sng" dirty="0"/>
              <a:t>Odd nibbles </a:t>
            </a:r>
          </a:p>
          <a:p>
            <a:pPr algn="ctr"/>
            <a:endParaRPr lang="en-US" sz="2000" b="1" u="sng" dirty="0"/>
          </a:p>
          <a:p>
            <a:pPr algn="ctr"/>
            <a:r>
              <a:rPr lang="en-US" sz="2000" b="1" dirty="0"/>
              <a:t>Example: [5,6,7,8,9]</a:t>
            </a:r>
          </a:p>
          <a:p>
            <a:pPr marL="285750" indent="-285750" algn="ctr">
              <a:buFont typeface="Arial" panose="020B0604020202020204" pitchFamily="34" charset="0"/>
              <a:buChar char="•"/>
            </a:pPr>
            <a:r>
              <a:rPr lang="en-US" sz="2000" dirty="0">
                <a:solidFill>
                  <a:srgbClr val="002060"/>
                </a:solidFill>
              </a:rPr>
              <a:t>Extension node: After prefix padding [15,67,89] </a:t>
            </a:r>
          </a:p>
          <a:p>
            <a:pPr marL="285750" indent="-285750" algn="ctr">
              <a:buFont typeface="Arial" panose="020B0604020202020204" pitchFamily="34" charset="0"/>
              <a:buChar char="•"/>
            </a:pPr>
            <a:r>
              <a:rPr lang="en-US" sz="2000" dirty="0">
                <a:solidFill>
                  <a:schemeClr val="accent2"/>
                </a:solidFill>
              </a:rPr>
              <a:t>Leaf node: After prefix padding [35,67,89]</a:t>
            </a:r>
          </a:p>
        </p:txBody>
      </p:sp>
    </p:spTree>
    <p:extLst>
      <p:ext uri="{BB962C8B-B14F-4D97-AF65-F5344CB8AC3E}">
        <p14:creationId xmlns:p14="http://schemas.microsoft.com/office/powerpoint/2010/main" val="176309861"/>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bg/>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xEl>
                                              <p:pRg st="0" end="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xEl>
                                              <p:pRg st="2" end="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xEl>
                                              <p:pRg st="3" end="3"/>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animBg="1"/>
      <p:bldP spid="6"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able 14"/>
          <p:cNvGraphicFramePr>
            <a:graphicFrameLocks noGrp="1"/>
          </p:cNvGraphicFramePr>
          <p:nvPr/>
        </p:nvGraphicFramePr>
        <p:xfrm>
          <a:off x="1517130" y="2506756"/>
          <a:ext cx="3779771" cy="2225040"/>
        </p:xfrm>
        <a:graphic>
          <a:graphicData uri="http://schemas.openxmlformats.org/drawingml/2006/table">
            <a:tbl>
              <a:tblPr firstRow="1" bandRow="1">
                <a:tableStyleId>{5940675A-B579-460E-94D1-54222C63F5DA}</a:tableStyleId>
              </a:tblPr>
              <a:tblGrid>
                <a:gridCol w="395853">
                  <a:extLst>
                    <a:ext uri="{9D8B030D-6E8A-4147-A177-3AD203B41FA5}">
                      <a16:colId xmlns:a16="http://schemas.microsoft.com/office/drawing/2014/main" val="20000"/>
                    </a:ext>
                  </a:extLst>
                </a:gridCol>
                <a:gridCol w="401906">
                  <a:extLst>
                    <a:ext uri="{9D8B030D-6E8A-4147-A177-3AD203B41FA5}">
                      <a16:colId xmlns:a16="http://schemas.microsoft.com/office/drawing/2014/main" val="20001"/>
                    </a:ext>
                  </a:extLst>
                </a:gridCol>
                <a:gridCol w="401906">
                  <a:extLst>
                    <a:ext uri="{9D8B030D-6E8A-4147-A177-3AD203B41FA5}">
                      <a16:colId xmlns:a16="http://schemas.microsoft.com/office/drawing/2014/main" val="20002"/>
                    </a:ext>
                  </a:extLst>
                </a:gridCol>
                <a:gridCol w="405941">
                  <a:extLst>
                    <a:ext uri="{9D8B030D-6E8A-4147-A177-3AD203B41FA5}">
                      <a16:colId xmlns:a16="http://schemas.microsoft.com/office/drawing/2014/main" val="20003"/>
                    </a:ext>
                  </a:extLst>
                </a:gridCol>
                <a:gridCol w="401906">
                  <a:extLst>
                    <a:ext uri="{9D8B030D-6E8A-4147-A177-3AD203B41FA5}">
                      <a16:colId xmlns:a16="http://schemas.microsoft.com/office/drawing/2014/main" val="20004"/>
                    </a:ext>
                  </a:extLst>
                </a:gridCol>
                <a:gridCol w="401906">
                  <a:extLst>
                    <a:ext uri="{9D8B030D-6E8A-4147-A177-3AD203B41FA5}">
                      <a16:colId xmlns:a16="http://schemas.microsoft.com/office/drawing/2014/main" val="20005"/>
                    </a:ext>
                  </a:extLst>
                </a:gridCol>
                <a:gridCol w="401906">
                  <a:extLst>
                    <a:ext uri="{9D8B030D-6E8A-4147-A177-3AD203B41FA5}">
                      <a16:colId xmlns:a16="http://schemas.microsoft.com/office/drawing/2014/main" val="20006"/>
                    </a:ext>
                  </a:extLst>
                </a:gridCol>
                <a:gridCol w="968447">
                  <a:extLst>
                    <a:ext uri="{9D8B030D-6E8A-4147-A177-3AD203B41FA5}">
                      <a16:colId xmlns:a16="http://schemas.microsoft.com/office/drawing/2014/main" val="20007"/>
                    </a:ext>
                  </a:extLst>
                </a:gridCol>
              </a:tblGrid>
              <a:tr h="370840">
                <a:tc gridSpan="8">
                  <a:txBody>
                    <a:bodyPr/>
                    <a:lstStyle/>
                    <a:p>
                      <a:pPr algn="ctr"/>
                      <a:r>
                        <a:rPr lang="en-US" sz="1800" b="1" dirty="0"/>
                        <a:t>Simplified World State</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a:endParaRPr lang="en-US" sz="1600" b="1" dirty="0"/>
                    </a:p>
                  </a:txBody>
                  <a:tcPr/>
                </a:tc>
                <a:extLst>
                  <a:ext uri="{0D108BD9-81ED-4DB2-BD59-A6C34878D82A}">
                    <a16:rowId xmlns:a16="http://schemas.microsoft.com/office/drawing/2014/main" val="10000"/>
                  </a:ext>
                </a:extLst>
              </a:tr>
              <a:tr h="370840">
                <a:tc gridSpan="7">
                  <a:txBody>
                    <a:bodyPr/>
                    <a:lstStyle/>
                    <a:p>
                      <a:pPr algn="ctr"/>
                      <a:r>
                        <a:rPr lang="en-US" sz="1600" b="1" dirty="0"/>
                        <a:t>Account Keys</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a:txBody>
                    <a:bodyPr/>
                    <a:lstStyle/>
                    <a:p>
                      <a:pPr algn="ctr"/>
                      <a:r>
                        <a:rPr lang="en-US" sz="1600" b="1" dirty="0"/>
                        <a:t>Values</a:t>
                      </a:r>
                    </a:p>
                  </a:txBody>
                  <a:tcPr/>
                </a:tc>
                <a:extLst>
                  <a:ext uri="{0D108BD9-81ED-4DB2-BD59-A6C34878D82A}">
                    <a16:rowId xmlns:a16="http://schemas.microsoft.com/office/drawing/2014/main" val="10001"/>
                  </a:ext>
                </a:extLst>
              </a:tr>
              <a:tr h="370840">
                <a:tc>
                  <a:txBody>
                    <a:bodyPr/>
                    <a:lstStyle/>
                    <a:p>
                      <a:pPr algn="ctr"/>
                      <a:r>
                        <a:rPr lang="en-US" sz="1600" b="1" dirty="0"/>
                        <a:t>a</a:t>
                      </a:r>
                    </a:p>
                  </a:txBody>
                  <a:tcPr>
                    <a:solidFill>
                      <a:schemeClr val="bg1">
                        <a:lumMod val="95000"/>
                      </a:schemeClr>
                    </a:solidFill>
                  </a:tcPr>
                </a:tc>
                <a:tc>
                  <a:txBody>
                    <a:bodyPr/>
                    <a:lstStyle/>
                    <a:p>
                      <a:pPr algn="ctr"/>
                      <a:r>
                        <a:rPr lang="en-US" sz="1600" b="1" dirty="0"/>
                        <a:t>7</a:t>
                      </a:r>
                    </a:p>
                  </a:txBody>
                  <a:tcPr>
                    <a:solidFill>
                      <a:schemeClr val="bg1">
                        <a:lumMod val="95000"/>
                      </a:schemeClr>
                    </a:solidFill>
                  </a:tcPr>
                </a:tc>
                <a:tc>
                  <a:txBody>
                    <a:bodyPr/>
                    <a:lstStyle/>
                    <a:p>
                      <a:pPr algn="ctr"/>
                      <a:r>
                        <a:rPr lang="en-US" sz="1600" b="1" dirty="0"/>
                        <a:t>1</a:t>
                      </a:r>
                    </a:p>
                  </a:txBody>
                  <a:tcPr>
                    <a:solidFill>
                      <a:schemeClr val="bg1">
                        <a:lumMod val="95000"/>
                      </a:schemeClr>
                    </a:solidFill>
                  </a:tcPr>
                </a:tc>
                <a:tc>
                  <a:txBody>
                    <a:bodyPr/>
                    <a:lstStyle/>
                    <a:p>
                      <a:pPr algn="ctr"/>
                      <a:r>
                        <a:rPr lang="en-US" sz="1600" b="1" dirty="0"/>
                        <a:t>1</a:t>
                      </a:r>
                    </a:p>
                  </a:txBody>
                  <a:tcPr>
                    <a:solidFill>
                      <a:schemeClr val="bg1">
                        <a:lumMod val="95000"/>
                      </a:schemeClr>
                    </a:solidFill>
                  </a:tcPr>
                </a:tc>
                <a:tc>
                  <a:txBody>
                    <a:bodyPr/>
                    <a:lstStyle/>
                    <a:p>
                      <a:pPr algn="ctr"/>
                      <a:r>
                        <a:rPr lang="en-US" sz="1600" b="1" dirty="0"/>
                        <a:t>3</a:t>
                      </a:r>
                    </a:p>
                  </a:txBody>
                  <a:tcPr>
                    <a:solidFill>
                      <a:schemeClr val="bg1">
                        <a:lumMod val="95000"/>
                      </a:schemeClr>
                    </a:solidFill>
                  </a:tcPr>
                </a:tc>
                <a:tc>
                  <a:txBody>
                    <a:bodyPr/>
                    <a:lstStyle/>
                    <a:p>
                      <a:pPr algn="ctr"/>
                      <a:r>
                        <a:rPr lang="en-US" sz="1600" b="1" dirty="0"/>
                        <a:t>5</a:t>
                      </a:r>
                    </a:p>
                  </a:txBody>
                  <a:tcPr>
                    <a:solidFill>
                      <a:schemeClr val="bg1">
                        <a:lumMod val="95000"/>
                      </a:schemeClr>
                    </a:solidFill>
                  </a:tcPr>
                </a:tc>
                <a:tc>
                  <a:txBody>
                    <a:bodyPr/>
                    <a:lstStyle/>
                    <a:p>
                      <a:pPr algn="ctr"/>
                      <a:r>
                        <a:rPr lang="en-US" sz="1600" b="1" dirty="0"/>
                        <a:t>5</a:t>
                      </a:r>
                    </a:p>
                  </a:txBody>
                  <a:tcPr>
                    <a:solidFill>
                      <a:schemeClr val="bg1">
                        <a:lumMod val="95000"/>
                      </a:schemeClr>
                    </a:solidFill>
                  </a:tcPr>
                </a:tc>
                <a:tc>
                  <a:txBody>
                    <a:bodyPr/>
                    <a:lstStyle/>
                    <a:p>
                      <a:pPr algn="ctr"/>
                      <a:r>
                        <a:rPr lang="en-US" sz="1600" b="1" dirty="0"/>
                        <a:t>45.0 ETH</a:t>
                      </a:r>
                    </a:p>
                  </a:txBody>
                  <a:tcPr>
                    <a:solidFill>
                      <a:schemeClr val="bg1">
                        <a:lumMod val="95000"/>
                      </a:schemeClr>
                    </a:solidFill>
                  </a:tcPr>
                </a:tc>
                <a:extLst>
                  <a:ext uri="{0D108BD9-81ED-4DB2-BD59-A6C34878D82A}">
                    <a16:rowId xmlns:a16="http://schemas.microsoft.com/office/drawing/2014/main" val="10002"/>
                  </a:ext>
                </a:extLst>
              </a:tr>
              <a:tr h="370840">
                <a:tc>
                  <a:txBody>
                    <a:bodyPr/>
                    <a:lstStyle/>
                    <a:p>
                      <a:pPr algn="ctr"/>
                      <a:r>
                        <a:rPr lang="en-US" sz="1600" b="1" dirty="0"/>
                        <a:t>a</a:t>
                      </a:r>
                    </a:p>
                  </a:txBody>
                  <a:tcPr>
                    <a:solidFill>
                      <a:schemeClr val="accent1">
                        <a:lumMod val="20000"/>
                        <a:lumOff val="80000"/>
                      </a:schemeClr>
                    </a:solidFill>
                  </a:tcPr>
                </a:tc>
                <a:tc>
                  <a:txBody>
                    <a:bodyPr/>
                    <a:lstStyle/>
                    <a:p>
                      <a:pPr algn="ctr"/>
                      <a:r>
                        <a:rPr lang="en-US" sz="1600" b="1" dirty="0"/>
                        <a:t>7</a:t>
                      </a:r>
                    </a:p>
                  </a:txBody>
                  <a:tcPr>
                    <a:solidFill>
                      <a:schemeClr val="accent1">
                        <a:lumMod val="20000"/>
                        <a:lumOff val="80000"/>
                      </a:schemeClr>
                    </a:solidFill>
                  </a:tcPr>
                </a:tc>
                <a:tc>
                  <a:txBody>
                    <a:bodyPr/>
                    <a:lstStyle/>
                    <a:p>
                      <a:pPr algn="ctr"/>
                      <a:r>
                        <a:rPr lang="en-US" sz="1600" b="1" dirty="0"/>
                        <a:t>7</a:t>
                      </a:r>
                    </a:p>
                  </a:txBody>
                  <a:tcPr>
                    <a:solidFill>
                      <a:schemeClr val="accent1">
                        <a:lumMod val="20000"/>
                        <a:lumOff val="80000"/>
                      </a:schemeClr>
                    </a:solidFill>
                  </a:tcPr>
                </a:tc>
                <a:tc>
                  <a:txBody>
                    <a:bodyPr/>
                    <a:lstStyle/>
                    <a:p>
                      <a:pPr algn="ctr"/>
                      <a:r>
                        <a:rPr lang="en-US" sz="1600" b="1" dirty="0"/>
                        <a:t>d</a:t>
                      </a:r>
                    </a:p>
                  </a:txBody>
                  <a:tcPr>
                    <a:solidFill>
                      <a:schemeClr val="accent1">
                        <a:lumMod val="20000"/>
                        <a:lumOff val="80000"/>
                      </a:schemeClr>
                    </a:solidFill>
                  </a:tcPr>
                </a:tc>
                <a:tc>
                  <a:txBody>
                    <a:bodyPr/>
                    <a:lstStyle/>
                    <a:p>
                      <a:pPr algn="ctr"/>
                      <a:r>
                        <a:rPr lang="en-US" sz="1600" b="1" dirty="0"/>
                        <a:t>3</a:t>
                      </a:r>
                    </a:p>
                  </a:txBody>
                  <a:tcPr>
                    <a:solidFill>
                      <a:schemeClr val="accent1">
                        <a:lumMod val="20000"/>
                        <a:lumOff val="80000"/>
                      </a:schemeClr>
                    </a:solidFill>
                  </a:tcPr>
                </a:tc>
                <a:tc>
                  <a:txBody>
                    <a:bodyPr/>
                    <a:lstStyle/>
                    <a:p>
                      <a:pPr algn="ctr"/>
                      <a:r>
                        <a:rPr lang="en-US" sz="1600" b="1" dirty="0"/>
                        <a:t>3</a:t>
                      </a:r>
                    </a:p>
                  </a:txBody>
                  <a:tcPr>
                    <a:solidFill>
                      <a:schemeClr val="accent1">
                        <a:lumMod val="20000"/>
                        <a:lumOff val="80000"/>
                      </a:schemeClr>
                    </a:solidFill>
                  </a:tcPr>
                </a:tc>
                <a:tc>
                  <a:txBody>
                    <a:bodyPr/>
                    <a:lstStyle/>
                    <a:p>
                      <a:pPr algn="ctr"/>
                      <a:r>
                        <a:rPr lang="en-US" sz="1600" b="1" dirty="0"/>
                        <a:t>7</a:t>
                      </a:r>
                    </a:p>
                  </a:txBody>
                  <a:tcPr>
                    <a:solidFill>
                      <a:schemeClr val="accent1">
                        <a:lumMod val="20000"/>
                        <a:lumOff val="80000"/>
                      </a:schemeClr>
                    </a:solidFill>
                  </a:tcPr>
                </a:tc>
                <a:tc>
                  <a:txBody>
                    <a:bodyPr/>
                    <a:lstStyle/>
                    <a:p>
                      <a:pPr algn="ctr"/>
                      <a:r>
                        <a:rPr lang="en-US" sz="1600" b="1" dirty="0"/>
                        <a:t>1.00 WEI</a:t>
                      </a:r>
                    </a:p>
                  </a:txBody>
                  <a:tcPr>
                    <a:solidFill>
                      <a:schemeClr val="accent1">
                        <a:lumMod val="20000"/>
                        <a:lumOff val="80000"/>
                      </a:schemeClr>
                    </a:solidFill>
                  </a:tcPr>
                </a:tc>
                <a:extLst>
                  <a:ext uri="{0D108BD9-81ED-4DB2-BD59-A6C34878D82A}">
                    <a16:rowId xmlns:a16="http://schemas.microsoft.com/office/drawing/2014/main" val="10003"/>
                  </a:ext>
                </a:extLst>
              </a:tr>
              <a:tr h="370840">
                <a:tc>
                  <a:txBody>
                    <a:bodyPr/>
                    <a:lstStyle/>
                    <a:p>
                      <a:pPr algn="ctr"/>
                      <a:r>
                        <a:rPr lang="en-US" sz="1600" b="1" kern="1200" dirty="0">
                          <a:solidFill>
                            <a:schemeClr val="tx1"/>
                          </a:solidFill>
                          <a:latin typeface="+mn-lt"/>
                          <a:ea typeface="+mn-ea"/>
                          <a:cs typeface="+mn-cs"/>
                        </a:rPr>
                        <a:t>a</a:t>
                      </a:r>
                    </a:p>
                  </a:txBody>
                  <a:tcPr>
                    <a:solidFill>
                      <a:schemeClr val="accent6">
                        <a:lumMod val="20000"/>
                        <a:lumOff val="80000"/>
                      </a:schemeClr>
                    </a:solidFill>
                  </a:tcPr>
                </a:tc>
                <a:tc>
                  <a:txBody>
                    <a:bodyPr/>
                    <a:lstStyle/>
                    <a:p>
                      <a:pPr algn="ctr"/>
                      <a:r>
                        <a:rPr lang="en-US" sz="1600" b="1" kern="1200" dirty="0">
                          <a:solidFill>
                            <a:schemeClr val="tx1"/>
                          </a:solidFill>
                          <a:latin typeface="+mn-lt"/>
                          <a:ea typeface="+mn-ea"/>
                          <a:cs typeface="+mn-cs"/>
                        </a:rPr>
                        <a:t>7</a:t>
                      </a:r>
                    </a:p>
                  </a:txBody>
                  <a:tcPr>
                    <a:solidFill>
                      <a:schemeClr val="accent6">
                        <a:lumMod val="20000"/>
                        <a:lumOff val="80000"/>
                      </a:schemeClr>
                    </a:solidFill>
                  </a:tcPr>
                </a:tc>
                <a:tc>
                  <a:txBody>
                    <a:bodyPr/>
                    <a:lstStyle/>
                    <a:p>
                      <a:pPr algn="ctr"/>
                      <a:r>
                        <a:rPr lang="en-US" sz="1600" b="1" kern="1200" dirty="0">
                          <a:solidFill>
                            <a:schemeClr val="tx1"/>
                          </a:solidFill>
                          <a:latin typeface="+mn-lt"/>
                          <a:ea typeface="+mn-ea"/>
                          <a:cs typeface="+mn-cs"/>
                        </a:rPr>
                        <a:t>f</a:t>
                      </a:r>
                    </a:p>
                  </a:txBody>
                  <a:tcPr>
                    <a:solidFill>
                      <a:schemeClr val="accent6">
                        <a:lumMod val="20000"/>
                        <a:lumOff val="80000"/>
                      </a:schemeClr>
                    </a:solidFill>
                  </a:tcPr>
                </a:tc>
                <a:tc>
                  <a:txBody>
                    <a:bodyPr/>
                    <a:lstStyle/>
                    <a:p>
                      <a:pPr algn="ctr"/>
                      <a:r>
                        <a:rPr lang="en-US" sz="1600" b="1" kern="1200" dirty="0">
                          <a:solidFill>
                            <a:schemeClr val="tx1"/>
                          </a:solidFill>
                          <a:latin typeface="+mn-lt"/>
                          <a:ea typeface="+mn-ea"/>
                          <a:cs typeface="+mn-cs"/>
                        </a:rPr>
                        <a:t>9</a:t>
                      </a:r>
                    </a:p>
                  </a:txBody>
                  <a:tcPr>
                    <a:solidFill>
                      <a:schemeClr val="accent6">
                        <a:lumMod val="20000"/>
                        <a:lumOff val="80000"/>
                      </a:schemeClr>
                    </a:solidFill>
                  </a:tcPr>
                </a:tc>
                <a:tc>
                  <a:txBody>
                    <a:bodyPr/>
                    <a:lstStyle/>
                    <a:p>
                      <a:pPr algn="ctr"/>
                      <a:r>
                        <a:rPr lang="en-US" sz="1600" b="1" kern="1200" dirty="0">
                          <a:solidFill>
                            <a:schemeClr val="tx1"/>
                          </a:solidFill>
                          <a:latin typeface="+mn-lt"/>
                          <a:ea typeface="+mn-ea"/>
                          <a:cs typeface="+mn-cs"/>
                        </a:rPr>
                        <a:t>3</a:t>
                      </a:r>
                    </a:p>
                  </a:txBody>
                  <a:tcPr>
                    <a:solidFill>
                      <a:schemeClr val="accent6">
                        <a:lumMod val="20000"/>
                        <a:lumOff val="80000"/>
                      </a:schemeClr>
                    </a:solidFill>
                  </a:tcPr>
                </a:tc>
                <a:tc>
                  <a:txBody>
                    <a:bodyPr/>
                    <a:lstStyle/>
                    <a:p>
                      <a:pPr algn="ctr"/>
                      <a:r>
                        <a:rPr lang="en-US" sz="1600" b="1" kern="1200" dirty="0">
                          <a:solidFill>
                            <a:schemeClr val="tx1"/>
                          </a:solidFill>
                          <a:latin typeface="+mn-lt"/>
                          <a:ea typeface="+mn-ea"/>
                          <a:cs typeface="+mn-cs"/>
                        </a:rPr>
                        <a:t>6</a:t>
                      </a:r>
                    </a:p>
                  </a:txBody>
                  <a:tcPr>
                    <a:solidFill>
                      <a:schemeClr val="accent6">
                        <a:lumMod val="20000"/>
                        <a:lumOff val="80000"/>
                      </a:schemeClr>
                    </a:solidFill>
                  </a:tcPr>
                </a:tc>
                <a:tc>
                  <a:txBody>
                    <a:bodyPr/>
                    <a:lstStyle/>
                    <a:p>
                      <a:pPr algn="ctr"/>
                      <a:r>
                        <a:rPr lang="en-US" sz="1600" b="1" kern="1200" dirty="0">
                          <a:solidFill>
                            <a:schemeClr val="tx1"/>
                          </a:solidFill>
                          <a:latin typeface="+mn-lt"/>
                          <a:ea typeface="+mn-ea"/>
                          <a:cs typeface="+mn-cs"/>
                        </a:rPr>
                        <a:t>5</a:t>
                      </a:r>
                    </a:p>
                  </a:txBody>
                  <a:tcPr>
                    <a:solidFill>
                      <a:schemeClr val="accent6">
                        <a:lumMod val="20000"/>
                        <a:lumOff val="80000"/>
                      </a:schemeClr>
                    </a:solidFill>
                  </a:tcPr>
                </a:tc>
                <a:tc>
                  <a:txBody>
                    <a:bodyPr/>
                    <a:lstStyle/>
                    <a:p>
                      <a:pPr algn="ctr"/>
                      <a:r>
                        <a:rPr lang="en-US" sz="1800" b="1" kern="1200" dirty="0">
                          <a:solidFill>
                            <a:schemeClr val="tx1"/>
                          </a:solidFill>
                          <a:latin typeface="+mn-lt"/>
                          <a:ea typeface="+mn-ea"/>
                          <a:cs typeface="+mn-cs"/>
                        </a:rPr>
                        <a:t>1.1 ETH</a:t>
                      </a:r>
                    </a:p>
                  </a:txBody>
                  <a:tcPr>
                    <a:solidFill>
                      <a:schemeClr val="accent6">
                        <a:lumMod val="20000"/>
                        <a:lumOff val="80000"/>
                      </a:schemeClr>
                    </a:solidFill>
                  </a:tcPr>
                </a:tc>
                <a:extLst>
                  <a:ext uri="{0D108BD9-81ED-4DB2-BD59-A6C34878D82A}">
                    <a16:rowId xmlns:a16="http://schemas.microsoft.com/office/drawing/2014/main" val="10004"/>
                  </a:ext>
                </a:extLst>
              </a:tr>
              <a:tr h="370840">
                <a:tc>
                  <a:txBody>
                    <a:bodyPr/>
                    <a:lstStyle/>
                    <a:p>
                      <a:pPr algn="ctr"/>
                      <a:r>
                        <a:rPr lang="en-US" sz="1600" b="1" dirty="0"/>
                        <a:t>a</a:t>
                      </a:r>
                    </a:p>
                  </a:txBody>
                  <a:tcPr>
                    <a:solidFill>
                      <a:schemeClr val="accent4">
                        <a:lumMod val="20000"/>
                        <a:lumOff val="80000"/>
                      </a:schemeClr>
                    </a:solidFill>
                  </a:tcPr>
                </a:tc>
                <a:tc>
                  <a:txBody>
                    <a:bodyPr/>
                    <a:lstStyle/>
                    <a:p>
                      <a:pPr algn="ctr"/>
                      <a:r>
                        <a:rPr lang="en-US" sz="1600" b="1" dirty="0"/>
                        <a:t>7</a:t>
                      </a:r>
                    </a:p>
                  </a:txBody>
                  <a:tcPr>
                    <a:solidFill>
                      <a:schemeClr val="accent4">
                        <a:lumMod val="20000"/>
                        <a:lumOff val="80000"/>
                      </a:schemeClr>
                    </a:solidFill>
                  </a:tcPr>
                </a:tc>
                <a:tc>
                  <a:txBody>
                    <a:bodyPr/>
                    <a:lstStyle/>
                    <a:p>
                      <a:pPr algn="ctr"/>
                      <a:r>
                        <a:rPr lang="en-US" sz="1600" b="1" dirty="0"/>
                        <a:t>7</a:t>
                      </a:r>
                    </a:p>
                  </a:txBody>
                  <a:tcPr>
                    <a:solidFill>
                      <a:schemeClr val="accent4">
                        <a:lumMod val="20000"/>
                        <a:lumOff val="80000"/>
                      </a:schemeClr>
                    </a:solidFill>
                  </a:tcPr>
                </a:tc>
                <a:tc>
                  <a:txBody>
                    <a:bodyPr/>
                    <a:lstStyle/>
                    <a:p>
                      <a:pPr algn="ctr"/>
                      <a:r>
                        <a:rPr lang="en-US" sz="1600" b="1" dirty="0"/>
                        <a:t>d</a:t>
                      </a:r>
                    </a:p>
                  </a:txBody>
                  <a:tcPr>
                    <a:solidFill>
                      <a:schemeClr val="accent4">
                        <a:lumMod val="20000"/>
                        <a:lumOff val="80000"/>
                      </a:schemeClr>
                    </a:solidFill>
                  </a:tcPr>
                </a:tc>
                <a:tc>
                  <a:txBody>
                    <a:bodyPr/>
                    <a:lstStyle/>
                    <a:p>
                      <a:pPr algn="ctr"/>
                      <a:r>
                        <a:rPr lang="en-US" sz="1600" b="1" dirty="0"/>
                        <a:t>3</a:t>
                      </a:r>
                    </a:p>
                  </a:txBody>
                  <a:tcPr>
                    <a:solidFill>
                      <a:schemeClr val="accent4">
                        <a:lumMod val="20000"/>
                        <a:lumOff val="80000"/>
                      </a:schemeClr>
                    </a:solidFill>
                  </a:tcPr>
                </a:tc>
                <a:tc>
                  <a:txBody>
                    <a:bodyPr/>
                    <a:lstStyle/>
                    <a:p>
                      <a:pPr algn="ctr"/>
                      <a:r>
                        <a:rPr lang="en-US" sz="1600" b="1" dirty="0"/>
                        <a:t>9</a:t>
                      </a:r>
                    </a:p>
                  </a:txBody>
                  <a:tcPr>
                    <a:solidFill>
                      <a:schemeClr val="accent4">
                        <a:lumMod val="20000"/>
                        <a:lumOff val="80000"/>
                      </a:schemeClr>
                    </a:solidFill>
                  </a:tcPr>
                </a:tc>
                <a:tc>
                  <a:txBody>
                    <a:bodyPr/>
                    <a:lstStyle/>
                    <a:p>
                      <a:pPr algn="ctr"/>
                      <a:r>
                        <a:rPr lang="en-US" sz="1600" b="1" dirty="0"/>
                        <a:t>7</a:t>
                      </a:r>
                    </a:p>
                  </a:txBody>
                  <a:tcPr>
                    <a:solidFill>
                      <a:schemeClr val="accent4">
                        <a:lumMod val="20000"/>
                        <a:lumOff val="80000"/>
                      </a:schemeClr>
                    </a:solidFill>
                  </a:tcPr>
                </a:tc>
                <a:tc>
                  <a:txBody>
                    <a:bodyPr/>
                    <a:lstStyle/>
                    <a:p>
                      <a:pPr algn="ctr"/>
                      <a:r>
                        <a:rPr lang="en-US" sz="1600" b="1" dirty="0"/>
                        <a:t>0.12 ETH</a:t>
                      </a:r>
                    </a:p>
                  </a:txBody>
                  <a:tcPr>
                    <a:solidFill>
                      <a:schemeClr val="accent4">
                        <a:lumMod val="20000"/>
                        <a:lumOff val="80000"/>
                      </a:schemeClr>
                    </a:solidFill>
                  </a:tcPr>
                </a:tc>
                <a:extLst>
                  <a:ext uri="{0D108BD9-81ED-4DB2-BD59-A6C34878D82A}">
                    <a16:rowId xmlns:a16="http://schemas.microsoft.com/office/drawing/2014/main" val="10005"/>
                  </a:ext>
                </a:extLst>
              </a:tr>
            </a:tbl>
          </a:graphicData>
        </a:graphic>
      </p:graphicFrame>
      <p:sp>
        <p:nvSpPr>
          <p:cNvPr id="2" name="Title 1"/>
          <p:cNvSpPr>
            <a:spLocks noGrp="1"/>
          </p:cNvSpPr>
          <p:nvPr>
            <p:ph type="title"/>
          </p:nvPr>
        </p:nvSpPr>
        <p:spPr/>
        <p:txBody>
          <a:bodyPr/>
          <a:lstStyle/>
          <a:p>
            <a:r>
              <a:rPr lang="en-US" dirty="0"/>
              <a:t>Simplified Modified MPT Example</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52</a:t>
            </a:fld>
            <a:endParaRPr lang="en-US" dirty="0">
              <a:latin typeface="Candara" panose="020E0502030303020204" pitchFamily="34" charset="0"/>
            </a:endParaRPr>
          </a:p>
        </p:txBody>
      </p:sp>
      <p:sp>
        <p:nvSpPr>
          <p:cNvPr id="6" name="Rectangle 5"/>
          <p:cNvSpPr/>
          <p:nvPr/>
        </p:nvSpPr>
        <p:spPr>
          <a:xfrm>
            <a:off x="1571804" y="3136559"/>
            <a:ext cx="723502" cy="1698671"/>
          </a:xfrm>
          <a:prstGeom prst="rect">
            <a:avLst/>
          </a:prstGeom>
          <a:noFill/>
          <a:ln w="28575">
            <a:solidFill>
              <a:srgbClr val="FFC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7" name="TextBox 6"/>
          <p:cNvSpPr txBox="1"/>
          <p:nvPr/>
        </p:nvSpPr>
        <p:spPr>
          <a:xfrm>
            <a:off x="502920" y="976656"/>
            <a:ext cx="11186160" cy="461665"/>
          </a:xfrm>
          <a:prstGeom prst="rect">
            <a:avLst/>
          </a:prstGeom>
          <a:noFill/>
          <a:ln>
            <a:noFill/>
          </a:ln>
        </p:spPr>
        <p:txBody>
          <a:bodyPr wrap="square" rtlCol="0">
            <a:spAutoFit/>
          </a:bodyPr>
          <a:lstStyle/>
          <a:p>
            <a:pPr algn="ctr"/>
            <a:r>
              <a:rPr lang="en-US" sz="2400" dirty="0">
                <a:solidFill>
                  <a:srgbClr val="002060"/>
                </a:solidFill>
                <a:latin typeface="Candara" panose="020E0502030303020204" pitchFamily="34" charset="0"/>
              </a:rPr>
              <a:t>Develop an Ethereum-like Modified MPT for the following simplified world state</a:t>
            </a:r>
          </a:p>
        </p:txBody>
      </p:sp>
      <p:sp>
        <p:nvSpPr>
          <p:cNvPr id="8" name="TextBox 7"/>
          <p:cNvSpPr txBox="1"/>
          <p:nvPr/>
        </p:nvSpPr>
        <p:spPr>
          <a:xfrm>
            <a:off x="6024579" y="2332369"/>
            <a:ext cx="5682814" cy="3416320"/>
          </a:xfrm>
          <a:prstGeom prst="rect">
            <a:avLst/>
          </a:prstGeom>
          <a:noFill/>
        </p:spPr>
        <p:txBody>
          <a:bodyPr wrap="square" rtlCol="0">
            <a:spAutoFit/>
          </a:bodyPr>
          <a:lstStyle/>
          <a:p>
            <a:pPr marL="342900" indent="-342900">
              <a:buFont typeface="Arial" panose="020B0604020202020204" pitchFamily="34" charset="0"/>
              <a:buChar char="•"/>
            </a:pPr>
            <a:r>
              <a:rPr lang="en-US" dirty="0">
                <a:latin typeface="Candara" panose="020E0502030303020204" pitchFamily="34" charset="0"/>
              </a:rPr>
              <a:t>We develop MPT from the root node and start from the first nibbles of the account addresses</a:t>
            </a:r>
          </a:p>
          <a:p>
            <a:pPr marL="342900" indent="-342900">
              <a:buFont typeface="Arial" panose="020B0604020202020204" pitchFamily="34" charset="0"/>
              <a:buChar char="•"/>
            </a:pPr>
            <a:r>
              <a:rPr lang="en-US" dirty="0">
                <a:latin typeface="Candara" panose="020E0502030303020204" pitchFamily="34" charset="0"/>
              </a:rPr>
              <a:t>All the accounts have the same first two nibbles i.e., </a:t>
            </a:r>
            <a:r>
              <a:rPr lang="en-US" b="1" dirty="0">
                <a:latin typeface="Candara" panose="020E0502030303020204" pitchFamily="34" charset="0"/>
              </a:rPr>
              <a:t>a7</a:t>
            </a:r>
            <a:r>
              <a:rPr lang="en-US" dirty="0">
                <a:latin typeface="Candara" panose="020E0502030303020204" pitchFamily="34" charset="0"/>
              </a:rPr>
              <a:t>. Therefore, we group these two nibbles (compression)</a:t>
            </a:r>
          </a:p>
          <a:p>
            <a:pPr marL="342900" indent="-342900">
              <a:buFont typeface="Arial" panose="020B0604020202020204" pitchFamily="34" charset="0"/>
              <a:buChar char="•"/>
            </a:pPr>
            <a:r>
              <a:rPr lang="en-US" dirty="0">
                <a:latin typeface="Candara" panose="020E0502030303020204" pitchFamily="34" charset="0"/>
              </a:rPr>
              <a:t>The third nibbles of the addresses are </a:t>
            </a:r>
            <a:r>
              <a:rPr lang="en-US" b="1" dirty="0">
                <a:latin typeface="Candara" panose="020E0502030303020204" pitchFamily="34" charset="0"/>
              </a:rPr>
              <a:t>1</a:t>
            </a:r>
            <a:r>
              <a:rPr lang="en-US" dirty="0">
                <a:latin typeface="Candara" panose="020E0502030303020204" pitchFamily="34" charset="0"/>
              </a:rPr>
              <a:t>, </a:t>
            </a:r>
            <a:r>
              <a:rPr lang="en-US" b="1" dirty="0">
                <a:latin typeface="Candara" panose="020E0502030303020204" pitchFamily="34" charset="0"/>
              </a:rPr>
              <a:t>7</a:t>
            </a:r>
            <a:r>
              <a:rPr lang="en-US" dirty="0">
                <a:latin typeface="Candara" panose="020E0502030303020204" pitchFamily="34" charset="0"/>
              </a:rPr>
              <a:t>, </a:t>
            </a:r>
            <a:r>
              <a:rPr lang="en-US" b="1" dirty="0">
                <a:latin typeface="Candara" panose="020E0502030303020204" pitchFamily="34" charset="0"/>
              </a:rPr>
              <a:t>f</a:t>
            </a:r>
            <a:r>
              <a:rPr lang="en-US" dirty="0">
                <a:latin typeface="Candara" panose="020E0502030303020204" pitchFamily="34" charset="0"/>
              </a:rPr>
              <a:t>, </a:t>
            </a:r>
            <a:r>
              <a:rPr lang="en-US" b="1" dirty="0">
                <a:latin typeface="Candara" panose="020E0502030303020204" pitchFamily="34" charset="0"/>
              </a:rPr>
              <a:t>7</a:t>
            </a:r>
            <a:r>
              <a:rPr lang="en-US" dirty="0">
                <a:latin typeface="Candara" panose="020E0502030303020204" pitchFamily="34" charset="0"/>
              </a:rPr>
              <a:t> respectively. The next node would therefore be a branch node and since there is only one child of root node, the root node is an extension node</a:t>
            </a:r>
          </a:p>
          <a:p>
            <a:pPr marL="342900" indent="-342900">
              <a:buFont typeface="Arial" panose="020B0604020202020204" pitchFamily="34" charset="0"/>
              <a:buChar char="•"/>
            </a:pPr>
            <a:r>
              <a:rPr lang="en-US" dirty="0">
                <a:latin typeface="Candara" panose="020E0502030303020204" pitchFamily="34" charset="0"/>
              </a:rPr>
              <a:t>Root node key contains even number of nibbles; therefore, we also add a prefix </a:t>
            </a:r>
            <a:r>
              <a:rPr lang="en-US" b="1" dirty="0">
                <a:latin typeface="Candara" panose="020E0502030303020204" pitchFamily="34" charset="0"/>
              </a:rPr>
              <a:t>0x00</a:t>
            </a:r>
            <a:endParaRPr lang="en-US" dirty="0">
              <a:latin typeface="Candara" panose="020E0502030303020204" pitchFamily="34" charset="0"/>
            </a:endParaRPr>
          </a:p>
          <a:p>
            <a:pPr marL="342900" indent="-342900">
              <a:buFont typeface="Arial" panose="020B0604020202020204" pitchFamily="34" charset="0"/>
              <a:buChar char="•"/>
            </a:pPr>
            <a:r>
              <a:rPr lang="en-US" dirty="0">
                <a:latin typeface="Candara" panose="020E0502030303020204" pitchFamily="34" charset="0"/>
              </a:rPr>
              <a:t>The complete key of the root node is </a:t>
            </a:r>
            <a:r>
              <a:rPr lang="en-US" b="1" dirty="0">
                <a:latin typeface="Candara" panose="020E0502030303020204" pitchFamily="34" charset="0"/>
              </a:rPr>
              <a:t>0x00a7</a:t>
            </a:r>
          </a:p>
        </p:txBody>
      </p:sp>
      <p:sp>
        <p:nvSpPr>
          <p:cNvPr id="9" name="Rectangle 8"/>
          <p:cNvSpPr/>
          <p:nvPr/>
        </p:nvSpPr>
        <p:spPr>
          <a:xfrm>
            <a:off x="890337" y="1508400"/>
            <a:ext cx="5115927" cy="923330"/>
          </a:xfrm>
          <a:prstGeom prst="rect">
            <a:avLst/>
          </a:prstGeom>
        </p:spPr>
        <p:txBody>
          <a:bodyPr wrap="square">
            <a:spAutoFit/>
          </a:bodyPr>
          <a:lstStyle/>
          <a:p>
            <a:pPr algn="ctr"/>
            <a:r>
              <a:rPr lang="en-US" dirty="0">
                <a:latin typeface="Candara" panose="020E0502030303020204" pitchFamily="34" charset="0"/>
              </a:rPr>
              <a:t>There are four accounts (4 addresses) so there will be a total of 4 leaf nodes. All the addresses are 7 nibble long</a:t>
            </a:r>
          </a:p>
        </p:txBody>
      </p:sp>
      <p:sp>
        <p:nvSpPr>
          <p:cNvPr id="11" name="TextBox 10"/>
          <p:cNvSpPr txBox="1"/>
          <p:nvPr/>
        </p:nvSpPr>
        <p:spPr>
          <a:xfrm>
            <a:off x="4237046" y="6055834"/>
            <a:ext cx="1847493" cy="523220"/>
          </a:xfrm>
          <a:prstGeom prst="rect">
            <a:avLst/>
          </a:prstGeom>
          <a:noFill/>
        </p:spPr>
        <p:txBody>
          <a:bodyPr wrap="square" rtlCol="0">
            <a:spAutoFit/>
          </a:bodyPr>
          <a:lstStyle/>
          <a:p>
            <a:pPr algn="ctr"/>
            <a:r>
              <a:rPr lang="en-US" sz="1400" dirty="0">
                <a:latin typeface="Candara" panose="020E0502030303020204" pitchFamily="34" charset="0"/>
              </a:rPr>
              <a:t>Only one child that is a branch node</a:t>
            </a:r>
          </a:p>
        </p:txBody>
      </p:sp>
      <p:graphicFrame>
        <p:nvGraphicFramePr>
          <p:cNvPr id="16" name="Table 15"/>
          <p:cNvGraphicFramePr>
            <a:graphicFrameLocks noGrp="1"/>
          </p:cNvGraphicFramePr>
          <p:nvPr/>
        </p:nvGraphicFramePr>
        <p:xfrm>
          <a:off x="1567528" y="4943314"/>
          <a:ext cx="3210744" cy="1112520"/>
        </p:xfrm>
        <a:graphic>
          <a:graphicData uri="http://schemas.openxmlformats.org/drawingml/2006/table">
            <a:tbl>
              <a:tblPr firstRow="1" bandRow="1">
                <a:tableStyleId>{5940675A-B579-460E-94D1-54222C63F5DA}</a:tableStyleId>
              </a:tblPr>
              <a:tblGrid>
                <a:gridCol w="700034">
                  <a:extLst>
                    <a:ext uri="{9D8B030D-6E8A-4147-A177-3AD203B41FA5}">
                      <a16:colId xmlns:a16="http://schemas.microsoft.com/office/drawing/2014/main" val="20000"/>
                    </a:ext>
                  </a:extLst>
                </a:gridCol>
                <a:gridCol w="1473673">
                  <a:extLst>
                    <a:ext uri="{9D8B030D-6E8A-4147-A177-3AD203B41FA5}">
                      <a16:colId xmlns:a16="http://schemas.microsoft.com/office/drawing/2014/main" val="20001"/>
                    </a:ext>
                  </a:extLst>
                </a:gridCol>
                <a:gridCol w="1037037">
                  <a:extLst>
                    <a:ext uri="{9D8B030D-6E8A-4147-A177-3AD203B41FA5}">
                      <a16:colId xmlns:a16="http://schemas.microsoft.com/office/drawing/2014/main" val="20002"/>
                    </a:ext>
                  </a:extLst>
                </a:gridCol>
              </a:tblGrid>
              <a:tr h="370840">
                <a:tc gridSpan="3">
                  <a:txBody>
                    <a:bodyPr/>
                    <a:lstStyle/>
                    <a:p>
                      <a:pPr algn="ctr"/>
                      <a:r>
                        <a:rPr lang="en-US" sz="1600" b="1" dirty="0"/>
                        <a:t>Root: Extension Node</a:t>
                      </a:r>
                    </a:p>
                  </a:txBody>
                  <a:tcPr>
                    <a:solidFill>
                      <a:schemeClr val="accent2">
                        <a:lumMod val="20000"/>
                        <a:lumOff val="80000"/>
                      </a:schemeClr>
                    </a:solidFill>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pPr algn="ctr"/>
                      <a:r>
                        <a:rPr lang="en-US" sz="1400" b="1" dirty="0"/>
                        <a:t>Prefix</a:t>
                      </a:r>
                    </a:p>
                  </a:txBody>
                  <a:tcPr>
                    <a:solidFill>
                      <a:schemeClr val="accent2">
                        <a:lumMod val="20000"/>
                        <a:lumOff val="80000"/>
                      </a:schemeClr>
                    </a:solidFill>
                  </a:tcPr>
                </a:tc>
                <a:tc>
                  <a:txBody>
                    <a:bodyPr/>
                    <a:lstStyle/>
                    <a:p>
                      <a:pPr algn="ctr"/>
                      <a:r>
                        <a:rPr lang="en-US" sz="1400" b="1" dirty="0"/>
                        <a:t>Shared nibble(s)</a:t>
                      </a:r>
                    </a:p>
                  </a:txBody>
                  <a:tcPr>
                    <a:solidFill>
                      <a:schemeClr val="accent2">
                        <a:lumMod val="20000"/>
                        <a:lumOff val="80000"/>
                      </a:schemeClr>
                    </a:solidFill>
                  </a:tcPr>
                </a:tc>
                <a:tc>
                  <a:txBody>
                    <a:bodyPr/>
                    <a:lstStyle/>
                    <a:p>
                      <a:pPr algn="ctr"/>
                      <a:r>
                        <a:rPr lang="en-US" sz="1400" b="1" dirty="0"/>
                        <a:t>Next node</a:t>
                      </a:r>
                    </a:p>
                  </a:txBody>
                  <a:tcPr>
                    <a:solidFill>
                      <a:schemeClr val="accent2">
                        <a:lumMod val="20000"/>
                        <a:lumOff val="80000"/>
                      </a:schemeClr>
                    </a:solidFill>
                  </a:tcPr>
                </a:tc>
                <a:extLst>
                  <a:ext uri="{0D108BD9-81ED-4DB2-BD59-A6C34878D82A}">
                    <a16:rowId xmlns:a16="http://schemas.microsoft.com/office/drawing/2014/main" val="10001"/>
                  </a:ext>
                </a:extLst>
              </a:tr>
              <a:tr h="370840">
                <a:tc>
                  <a:txBody>
                    <a:bodyPr/>
                    <a:lstStyle/>
                    <a:p>
                      <a:pPr algn="ctr"/>
                      <a:r>
                        <a:rPr lang="en-US" sz="1800" b="1" dirty="0"/>
                        <a:t>0x00</a:t>
                      </a:r>
                    </a:p>
                  </a:txBody>
                  <a:tcPr>
                    <a:solidFill>
                      <a:schemeClr val="accent2">
                        <a:lumMod val="20000"/>
                        <a:lumOff val="80000"/>
                      </a:schemeClr>
                    </a:solidFill>
                  </a:tcPr>
                </a:tc>
                <a:tc>
                  <a:txBody>
                    <a:bodyPr/>
                    <a:lstStyle/>
                    <a:p>
                      <a:pPr algn="ctr"/>
                      <a:r>
                        <a:rPr lang="en-US" sz="1800" b="1" dirty="0"/>
                        <a:t>a7</a:t>
                      </a:r>
                    </a:p>
                  </a:txBody>
                  <a:tcPr>
                    <a:solidFill>
                      <a:schemeClr val="accent2">
                        <a:lumMod val="20000"/>
                        <a:lumOff val="80000"/>
                      </a:schemeClr>
                    </a:solidFill>
                  </a:tcPr>
                </a:tc>
                <a:tc>
                  <a:txBody>
                    <a:bodyPr/>
                    <a:lstStyle/>
                    <a:p>
                      <a:pPr algn="ctr"/>
                      <a:endParaRPr lang="en-US" sz="1400" b="1" dirty="0"/>
                    </a:p>
                  </a:txBody>
                  <a:tcPr>
                    <a:solidFill>
                      <a:schemeClr val="accent2">
                        <a:lumMod val="20000"/>
                        <a:lumOff val="80000"/>
                      </a:schemeClr>
                    </a:solidFill>
                  </a:tcPr>
                </a:tc>
                <a:extLst>
                  <a:ext uri="{0D108BD9-81ED-4DB2-BD59-A6C34878D82A}">
                    <a16:rowId xmlns:a16="http://schemas.microsoft.com/office/drawing/2014/main" val="10002"/>
                  </a:ext>
                </a:extLst>
              </a:tr>
            </a:tbl>
          </a:graphicData>
        </a:graphic>
      </p:graphicFrame>
      <p:cxnSp>
        <p:nvCxnSpPr>
          <p:cNvPr id="19" name="Straight Connector 18"/>
          <p:cNvCxnSpPr/>
          <p:nvPr/>
        </p:nvCxnSpPr>
        <p:spPr>
          <a:xfrm>
            <a:off x="4283240" y="5779677"/>
            <a:ext cx="0" cy="380992"/>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sp>
        <p:nvSpPr>
          <p:cNvPr id="20" name="Oval 19"/>
          <p:cNvSpPr/>
          <p:nvPr/>
        </p:nvSpPr>
        <p:spPr>
          <a:xfrm>
            <a:off x="1549213" y="5254874"/>
            <a:ext cx="664594" cy="800961"/>
          </a:xfrm>
          <a:prstGeom prst="ellipse">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Tree>
    <p:extLst>
      <p:ext uri="{BB962C8B-B14F-4D97-AF65-F5344CB8AC3E}">
        <p14:creationId xmlns:p14="http://schemas.microsoft.com/office/powerpoint/2010/main" val="2562713076"/>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p:bldP spid="20"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3"/>
          <a:stretch>
            <a:fillRect/>
          </a:stretch>
        </p:blipFill>
        <p:spPr>
          <a:xfrm>
            <a:off x="1997274" y="939671"/>
            <a:ext cx="2861045" cy="1735271"/>
          </a:xfrm>
          <a:prstGeom prst="rect">
            <a:avLst/>
          </a:prstGeom>
        </p:spPr>
      </p:pic>
      <p:pic>
        <p:nvPicPr>
          <p:cNvPr id="10" name="Picture 9"/>
          <p:cNvPicPr>
            <a:picLocks noChangeAspect="1"/>
          </p:cNvPicPr>
          <p:nvPr/>
        </p:nvPicPr>
        <p:blipFill>
          <a:blip r:embed="rId4"/>
          <a:stretch>
            <a:fillRect/>
          </a:stretch>
        </p:blipFill>
        <p:spPr>
          <a:xfrm>
            <a:off x="5807577" y="1626556"/>
            <a:ext cx="3840547" cy="771019"/>
          </a:xfrm>
          <a:prstGeom prst="rect">
            <a:avLst/>
          </a:prstGeom>
        </p:spPr>
      </p:pic>
      <p:sp>
        <p:nvSpPr>
          <p:cNvPr id="2" name="Title 1"/>
          <p:cNvSpPr>
            <a:spLocks noGrp="1"/>
          </p:cNvSpPr>
          <p:nvPr>
            <p:ph type="title"/>
          </p:nvPr>
        </p:nvSpPr>
        <p:spPr/>
        <p:txBody>
          <a:bodyPr/>
          <a:lstStyle/>
          <a:p>
            <a:r>
              <a:rPr lang="en-US" dirty="0"/>
              <a:t>Simplified Modified MPT Example</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53</a:t>
            </a:fld>
            <a:endParaRPr lang="en-US" dirty="0">
              <a:latin typeface="Candara" panose="020E0502030303020204" pitchFamily="34" charset="0"/>
            </a:endParaRPr>
          </a:p>
        </p:txBody>
      </p:sp>
      <p:sp>
        <p:nvSpPr>
          <p:cNvPr id="6" name="TextBox 5"/>
          <p:cNvSpPr txBox="1"/>
          <p:nvPr/>
        </p:nvSpPr>
        <p:spPr>
          <a:xfrm>
            <a:off x="5133475" y="1001488"/>
            <a:ext cx="6540365" cy="523220"/>
          </a:xfrm>
          <a:prstGeom prst="rect">
            <a:avLst/>
          </a:prstGeom>
          <a:noFill/>
          <a:ln>
            <a:solidFill>
              <a:schemeClr val="tx1"/>
            </a:solidFill>
          </a:ln>
        </p:spPr>
        <p:txBody>
          <a:bodyPr wrap="square" rtlCol="0">
            <a:spAutoFit/>
          </a:bodyPr>
          <a:lstStyle/>
          <a:p>
            <a:pPr algn="ctr"/>
            <a:r>
              <a:rPr lang="en-US" sz="1400" dirty="0">
                <a:latin typeface="Candara" panose="020E0502030303020204" pitchFamily="34" charset="0"/>
              </a:rPr>
              <a:t>The branch node originating from the root node has 17 items, but it has only three child nodes that originate from the positions </a:t>
            </a:r>
            <a:r>
              <a:rPr lang="en-US" sz="1400" b="1" dirty="0">
                <a:latin typeface="Candara" panose="020E0502030303020204" pitchFamily="34" charset="0"/>
              </a:rPr>
              <a:t>1</a:t>
            </a:r>
            <a:r>
              <a:rPr lang="en-US" sz="1400" dirty="0">
                <a:latin typeface="Candara" panose="020E0502030303020204" pitchFamily="34" charset="0"/>
              </a:rPr>
              <a:t>,</a:t>
            </a:r>
            <a:r>
              <a:rPr lang="en-US" sz="1400" b="1" dirty="0">
                <a:latin typeface="Candara" panose="020E0502030303020204" pitchFamily="34" charset="0"/>
              </a:rPr>
              <a:t> 7</a:t>
            </a:r>
            <a:r>
              <a:rPr lang="en-US" sz="1400" dirty="0">
                <a:latin typeface="Candara" panose="020E0502030303020204" pitchFamily="34" charset="0"/>
              </a:rPr>
              <a:t>, and </a:t>
            </a:r>
            <a:r>
              <a:rPr lang="en-US" sz="1400" b="1" dirty="0">
                <a:latin typeface="Candara" panose="020E0502030303020204" pitchFamily="34" charset="0"/>
              </a:rPr>
              <a:t>f</a:t>
            </a:r>
          </a:p>
        </p:txBody>
      </p:sp>
      <p:sp>
        <p:nvSpPr>
          <p:cNvPr id="8" name="Rectangle 7"/>
          <p:cNvSpPr/>
          <p:nvPr/>
        </p:nvSpPr>
        <p:spPr>
          <a:xfrm>
            <a:off x="2630905" y="1542644"/>
            <a:ext cx="304800" cy="1132297"/>
          </a:xfrm>
          <a:prstGeom prst="rect">
            <a:avLst/>
          </a:prstGeom>
          <a:noFill/>
          <a:ln w="28575">
            <a:solidFill>
              <a:srgbClr val="FFC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13" name="TextBox 12"/>
          <p:cNvSpPr txBox="1"/>
          <p:nvPr/>
        </p:nvSpPr>
        <p:spPr>
          <a:xfrm>
            <a:off x="487679" y="2857255"/>
            <a:ext cx="7838174" cy="1077218"/>
          </a:xfrm>
          <a:prstGeom prst="rect">
            <a:avLst/>
          </a:prstGeom>
          <a:noFill/>
          <a:ln>
            <a:solidFill>
              <a:schemeClr val="tx1"/>
            </a:solidFill>
          </a:ln>
        </p:spPr>
        <p:txBody>
          <a:bodyPr wrap="square" rtlCol="0">
            <a:spAutoFit/>
          </a:bodyPr>
          <a:lstStyle/>
          <a:p>
            <a:r>
              <a:rPr lang="en-US" sz="1600" dirty="0">
                <a:latin typeface="Candara" panose="020E0502030303020204" pitchFamily="34" charset="0"/>
              </a:rPr>
              <a:t>The child node originating from position </a:t>
            </a:r>
            <a:r>
              <a:rPr lang="en-US" sz="1600" b="1" dirty="0">
                <a:latin typeface="Candara" panose="020E0502030303020204" pitchFamily="34" charset="0"/>
              </a:rPr>
              <a:t>1</a:t>
            </a:r>
            <a:r>
              <a:rPr lang="en-US" sz="1600" dirty="0">
                <a:latin typeface="Candara" panose="020E0502030303020204" pitchFamily="34" charset="0"/>
              </a:rPr>
              <a:t> of the branch node can be declared a leaf node for account 1 by grouping the remaining four nibbles </a:t>
            </a:r>
            <a:r>
              <a:rPr lang="en-US" sz="1600" b="1" dirty="0">
                <a:latin typeface="Candara" panose="020E0502030303020204" pitchFamily="34" charset="0"/>
              </a:rPr>
              <a:t>1355</a:t>
            </a:r>
            <a:r>
              <a:rPr lang="en-US" sz="1600" dirty="0">
                <a:latin typeface="Candara" panose="020E0502030303020204" pitchFamily="34" charset="0"/>
              </a:rPr>
              <a:t> (compression). We add a prefix </a:t>
            </a:r>
            <a:r>
              <a:rPr lang="en-US" sz="1600" b="1" dirty="0">
                <a:latin typeface="Candara" panose="020E0502030303020204" pitchFamily="34" charset="0"/>
              </a:rPr>
              <a:t>0x20</a:t>
            </a:r>
            <a:r>
              <a:rPr lang="en-US" sz="1600" dirty="0">
                <a:latin typeface="Candara" panose="020E0502030303020204" pitchFamily="34" charset="0"/>
              </a:rPr>
              <a:t> since the leaf node has even number of nibbles. The key for this leaf node becomes </a:t>
            </a:r>
            <a:r>
              <a:rPr lang="en-US" sz="1600" b="1" dirty="0">
                <a:latin typeface="Candara" panose="020E0502030303020204" pitchFamily="34" charset="0"/>
              </a:rPr>
              <a:t>0x201355</a:t>
            </a:r>
            <a:r>
              <a:rPr lang="en-US" sz="1600" dirty="0">
                <a:latin typeface="Candara" panose="020E0502030303020204" pitchFamily="34" charset="0"/>
              </a:rPr>
              <a:t> and the value is </a:t>
            </a:r>
            <a:r>
              <a:rPr lang="en-US" sz="1600" b="1" dirty="0">
                <a:latin typeface="Candara" panose="020E0502030303020204" pitchFamily="34" charset="0"/>
              </a:rPr>
              <a:t>45.0 ETH </a:t>
            </a:r>
            <a:endParaRPr lang="en-US" sz="1600" dirty="0">
              <a:latin typeface="Candara" panose="020E0502030303020204" pitchFamily="34" charset="0"/>
            </a:endParaRPr>
          </a:p>
        </p:txBody>
      </p:sp>
      <p:sp>
        <p:nvSpPr>
          <p:cNvPr id="16" name="Rectangle 15"/>
          <p:cNvSpPr/>
          <p:nvPr/>
        </p:nvSpPr>
        <p:spPr>
          <a:xfrm>
            <a:off x="475765" y="4082949"/>
            <a:ext cx="7838173" cy="1077218"/>
          </a:xfrm>
          <a:prstGeom prst="rect">
            <a:avLst/>
          </a:prstGeom>
          <a:ln>
            <a:solidFill>
              <a:schemeClr val="tx1"/>
            </a:solidFill>
          </a:ln>
        </p:spPr>
        <p:txBody>
          <a:bodyPr wrap="square">
            <a:spAutoFit/>
          </a:bodyPr>
          <a:lstStyle/>
          <a:p>
            <a:r>
              <a:rPr lang="en-US" sz="1600" dirty="0">
                <a:latin typeface="Candara" panose="020E0502030303020204" pitchFamily="34" charset="0"/>
              </a:rPr>
              <a:t>Similarly, the child node originating from position </a:t>
            </a:r>
            <a:r>
              <a:rPr lang="en-US" sz="1600" b="1" dirty="0">
                <a:latin typeface="Candara" panose="020E0502030303020204" pitchFamily="34" charset="0"/>
              </a:rPr>
              <a:t>f</a:t>
            </a:r>
            <a:r>
              <a:rPr lang="en-US" sz="1600" dirty="0">
                <a:latin typeface="Candara" panose="020E0502030303020204" pitchFamily="34" charset="0"/>
              </a:rPr>
              <a:t> of the branch node can also be declared a leaf node for account 3 by grouping the remaining four nibbles </a:t>
            </a:r>
            <a:r>
              <a:rPr lang="en-US" sz="1600" b="1" dirty="0">
                <a:latin typeface="Candara" panose="020E0502030303020204" pitchFamily="34" charset="0"/>
              </a:rPr>
              <a:t>9365 </a:t>
            </a:r>
            <a:r>
              <a:rPr lang="en-US" sz="1600" dirty="0">
                <a:latin typeface="Candara" panose="020E0502030303020204" pitchFamily="34" charset="0"/>
              </a:rPr>
              <a:t>(compression).</a:t>
            </a:r>
            <a:r>
              <a:rPr lang="en-US" sz="1600" b="1" dirty="0">
                <a:latin typeface="Candara" panose="020E0502030303020204" pitchFamily="34" charset="0"/>
              </a:rPr>
              <a:t> </a:t>
            </a:r>
            <a:r>
              <a:rPr lang="en-US" sz="1600" dirty="0">
                <a:latin typeface="Candara" panose="020E0502030303020204" pitchFamily="34" charset="0"/>
              </a:rPr>
              <a:t>We add a prefix </a:t>
            </a:r>
            <a:r>
              <a:rPr lang="en-US" sz="1600" b="1" dirty="0">
                <a:latin typeface="Candara" panose="020E0502030303020204" pitchFamily="34" charset="0"/>
              </a:rPr>
              <a:t>0x20</a:t>
            </a:r>
            <a:r>
              <a:rPr lang="en-US" sz="1600" dirty="0">
                <a:latin typeface="Candara" panose="020E0502030303020204" pitchFamily="34" charset="0"/>
              </a:rPr>
              <a:t> since the leaf node has even number of nibbles. The key for this leaf node becomes </a:t>
            </a:r>
            <a:r>
              <a:rPr lang="en-US" sz="1600" b="1" dirty="0">
                <a:latin typeface="Candara" panose="020E0502030303020204" pitchFamily="34" charset="0"/>
              </a:rPr>
              <a:t>0x209365</a:t>
            </a:r>
            <a:r>
              <a:rPr lang="en-US" sz="1600" dirty="0">
                <a:latin typeface="Candara" panose="020E0502030303020204" pitchFamily="34" charset="0"/>
              </a:rPr>
              <a:t> and the value is </a:t>
            </a:r>
            <a:r>
              <a:rPr lang="en-US" sz="1600" b="1" dirty="0">
                <a:latin typeface="Candara" panose="020E0502030303020204" pitchFamily="34" charset="0"/>
              </a:rPr>
              <a:t>1.1 ETH</a:t>
            </a:r>
            <a:endParaRPr lang="en-US" sz="1600" dirty="0">
              <a:latin typeface="Candara" panose="020E0502030303020204" pitchFamily="34" charset="0"/>
            </a:endParaRPr>
          </a:p>
        </p:txBody>
      </p:sp>
      <p:sp>
        <p:nvSpPr>
          <p:cNvPr id="18" name="Content Placeholder 2"/>
          <p:cNvSpPr>
            <a:spLocks noGrp="1"/>
          </p:cNvSpPr>
          <p:nvPr>
            <p:ph idx="1"/>
          </p:nvPr>
        </p:nvSpPr>
        <p:spPr>
          <a:xfrm>
            <a:off x="475765" y="5428964"/>
            <a:ext cx="7344879" cy="978729"/>
          </a:xfrm>
          <a:ln>
            <a:solidFill>
              <a:schemeClr val="tx1"/>
            </a:solidFill>
          </a:ln>
        </p:spPr>
        <p:txBody>
          <a:bodyPr wrap="square">
            <a:spAutoFit/>
          </a:bodyPr>
          <a:lstStyle/>
          <a:p>
            <a:pPr marL="0" indent="0">
              <a:buNone/>
            </a:pPr>
            <a:r>
              <a:rPr lang="en-US" sz="1600" dirty="0"/>
              <a:t>The child node originating from position </a:t>
            </a:r>
            <a:r>
              <a:rPr lang="en-US" sz="1600" b="1" dirty="0"/>
              <a:t>7 </a:t>
            </a:r>
            <a:r>
              <a:rPr lang="en-US" sz="1600" dirty="0"/>
              <a:t>has common nibbles, therefore it is an extension node. We group two common nibbles </a:t>
            </a:r>
            <a:r>
              <a:rPr lang="en-US" sz="1600" b="1" dirty="0"/>
              <a:t>d3</a:t>
            </a:r>
            <a:r>
              <a:rPr lang="en-US" sz="1600" dirty="0"/>
              <a:t> (compression) and add a prefix </a:t>
            </a:r>
            <a:r>
              <a:rPr lang="en-US" sz="1600" b="1" dirty="0"/>
              <a:t>0x00</a:t>
            </a:r>
            <a:r>
              <a:rPr lang="en-US" sz="1600" dirty="0"/>
              <a:t> since the extension node has even number of nibbles. The key for this extension node becomes </a:t>
            </a:r>
            <a:r>
              <a:rPr lang="en-US" sz="1600" b="1" dirty="0"/>
              <a:t>0x00d3</a:t>
            </a:r>
            <a:endParaRPr lang="en-US" sz="1600" dirty="0"/>
          </a:p>
        </p:txBody>
      </p:sp>
      <p:cxnSp>
        <p:nvCxnSpPr>
          <p:cNvPr id="20" name="Straight Connector 19"/>
          <p:cNvCxnSpPr/>
          <p:nvPr/>
        </p:nvCxnSpPr>
        <p:spPr>
          <a:xfrm>
            <a:off x="6128085" y="2189608"/>
            <a:ext cx="0" cy="346356"/>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7397853" y="2189608"/>
            <a:ext cx="0" cy="346356"/>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9071812" y="2189608"/>
            <a:ext cx="0" cy="346356"/>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nvGraphicFramePr>
        <p:xfrm>
          <a:off x="8562542" y="2778049"/>
          <a:ext cx="3014980" cy="1112520"/>
        </p:xfrm>
        <a:graphic>
          <a:graphicData uri="http://schemas.openxmlformats.org/drawingml/2006/table">
            <a:tbl>
              <a:tblPr firstRow="1" bandRow="1">
                <a:tableStyleId>{5940675A-B579-460E-94D1-54222C63F5DA}</a:tableStyleId>
              </a:tblPr>
              <a:tblGrid>
                <a:gridCol w="657352">
                  <a:extLst>
                    <a:ext uri="{9D8B030D-6E8A-4147-A177-3AD203B41FA5}">
                      <a16:colId xmlns:a16="http://schemas.microsoft.com/office/drawing/2014/main" val="20000"/>
                    </a:ext>
                  </a:extLst>
                </a:gridCol>
                <a:gridCol w="833628">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tblGrid>
              <a:tr h="370840">
                <a:tc gridSpan="3">
                  <a:txBody>
                    <a:bodyPr/>
                    <a:lstStyle/>
                    <a:p>
                      <a:pPr algn="ctr"/>
                      <a:r>
                        <a:rPr lang="en-US" sz="1600" b="1" dirty="0"/>
                        <a:t>Leaf Node</a:t>
                      </a:r>
                    </a:p>
                  </a:txBody>
                  <a:tcPr>
                    <a:solidFill>
                      <a:schemeClr val="accent6">
                        <a:lumMod val="40000"/>
                        <a:lumOff val="60000"/>
                      </a:schemeClr>
                    </a:solidFill>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pPr algn="ctr"/>
                      <a:r>
                        <a:rPr lang="en-US" sz="1400" b="1" dirty="0"/>
                        <a:t>Prefix</a:t>
                      </a:r>
                    </a:p>
                  </a:txBody>
                  <a:tcPr>
                    <a:solidFill>
                      <a:schemeClr val="accent6">
                        <a:lumMod val="40000"/>
                        <a:lumOff val="60000"/>
                      </a:schemeClr>
                    </a:solidFill>
                  </a:tcPr>
                </a:tc>
                <a:tc>
                  <a:txBody>
                    <a:bodyPr/>
                    <a:lstStyle/>
                    <a:p>
                      <a:pPr algn="ctr"/>
                      <a:r>
                        <a:rPr lang="en-US" sz="1400" b="1" dirty="0"/>
                        <a:t>Key-end</a:t>
                      </a:r>
                    </a:p>
                  </a:txBody>
                  <a:tcPr>
                    <a:solidFill>
                      <a:schemeClr val="accent6">
                        <a:lumMod val="40000"/>
                        <a:lumOff val="60000"/>
                      </a:schemeClr>
                    </a:solidFill>
                  </a:tcPr>
                </a:tc>
                <a:tc>
                  <a:txBody>
                    <a:bodyPr/>
                    <a:lstStyle/>
                    <a:p>
                      <a:pPr algn="ctr"/>
                      <a:r>
                        <a:rPr lang="en-US" sz="1400" b="1" dirty="0"/>
                        <a:t>Value</a:t>
                      </a:r>
                    </a:p>
                  </a:txBody>
                  <a:tcPr>
                    <a:solidFill>
                      <a:schemeClr val="accent6">
                        <a:lumMod val="40000"/>
                        <a:lumOff val="60000"/>
                      </a:schemeClr>
                    </a:solidFill>
                  </a:tcPr>
                </a:tc>
                <a:extLst>
                  <a:ext uri="{0D108BD9-81ED-4DB2-BD59-A6C34878D82A}">
                    <a16:rowId xmlns:a16="http://schemas.microsoft.com/office/drawing/2014/main" val="10001"/>
                  </a:ext>
                </a:extLst>
              </a:tr>
              <a:tr h="370840">
                <a:tc>
                  <a:txBody>
                    <a:bodyPr/>
                    <a:lstStyle/>
                    <a:p>
                      <a:pPr algn="ctr"/>
                      <a:r>
                        <a:rPr lang="en-US" sz="1800" b="1" dirty="0"/>
                        <a:t>0x20</a:t>
                      </a:r>
                    </a:p>
                  </a:txBody>
                  <a:tcPr>
                    <a:solidFill>
                      <a:schemeClr val="accent6">
                        <a:lumMod val="40000"/>
                        <a:lumOff val="60000"/>
                      </a:schemeClr>
                    </a:solidFill>
                  </a:tcPr>
                </a:tc>
                <a:tc>
                  <a:txBody>
                    <a:bodyPr/>
                    <a:lstStyle/>
                    <a:p>
                      <a:pPr algn="ctr"/>
                      <a:r>
                        <a:rPr lang="en-US" sz="1800" b="1" dirty="0"/>
                        <a:t>1355</a:t>
                      </a:r>
                    </a:p>
                  </a:txBody>
                  <a:tcPr>
                    <a:solidFill>
                      <a:schemeClr val="accent6">
                        <a:lumMod val="40000"/>
                        <a:lumOff val="60000"/>
                      </a:schemeClr>
                    </a:solidFill>
                  </a:tcPr>
                </a:tc>
                <a:tc>
                  <a:txBody>
                    <a:bodyPr/>
                    <a:lstStyle/>
                    <a:p>
                      <a:pPr algn="ctr"/>
                      <a:r>
                        <a:rPr lang="en-US" sz="1800" b="1" dirty="0"/>
                        <a:t>45.0 ETH</a:t>
                      </a:r>
                    </a:p>
                  </a:txBody>
                  <a:tcPr>
                    <a:solidFill>
                      <a:schemeClr val="accent6">
                        <a:lumMod val="40000"/>
                        <a:lumOff val="60000"/>
                      </a:schemeClr>
                    </a:solidFill>
                  </a:tcPr>
                </a:tc>
                <a:extLst>
                  <a:ext uri="{0D108BD9-81ED-4DB2-BD59-A6C34878D82A}">
                    <a16:rowId xmlns:a16="http://schemas.microsoft.com/office/drawing/2014/main" val="10002"/>
                  </a:ext>
                </a:extLst>
              </a:tr>
            </a:tbl>
          </a:graphicData>
        </a:graphic>
      </p:graphicFrame>
      <p:graphicFrame>
        <p:nvGraphicFramePr>
          <p:cNvPr id="24" name="Table 23"/>
          <p:cNvGraphicFramePr>
            <a:graphicFrameLocks noGrp="1"/>
          </p:cNvGraphicFramePr>
          <p:nvPr/>
        </p:nvGraphicFramePr>
        <p:xfrm>
          <a:off x="8562542" y="4021559"/>
          <a:ext cx="3014980" cy="1112520"/>
        </p:xfrm>
        <a:graphic>
          <a:graphicData uri="http://schemas.openxmlformats.org/drawingml/2006/table">
            <a:tbl>
              <a:tblPr firstRow="1" bandRow="1">
                <a:tableStyleId>{5940675A-B579-460E-94D1-54222C63F5DA}</a:tableStyleId>
              </a:tblPr>
              <a:tblGrid>
                <a:gridCol w="657352">
                  <a:extLst>
                    <a:ext uri="{9D8B030D-6E8A-4147-A177-3AD203B41FA5}">
                      <a16:colId xmlns:a16="http://schemas.microsoft.com/office/drawing/2014/main" val="20000"/>
                    </a:ext>
                  </a:extLst>
                </a:gridCol>
                <a:gridCol w="833628">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tblGrid>
              <a:tr h="370840">
                <a:tc gridSpan="3">
                  <a:txBody>
                    <a:bodyPr/>
                    <a:lstStyle/>
                    <a:p>
                      <a:pPr algn="ctr"/>
                      <a:r>
                        <a:rPr lang="en-US" sz="1600" b="1" dirty="0"/>
                        <a:t>Leaf Node</a:t>
                      </a:r>
                    </a:p>
                  </a:txBody>
                  <a:tcPr>
                    <a:solidFill>
                      <a:schemeClr val="accent6">
                        <a:lumMod val="40000"/>
                        <a:lumOff val="60000"/>
                      </a:schemeClr>
                    </a:solidFill>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pPr algn="ctr"/>
                      <a:r>
                        <a:rPr lang="en-US" sz="1400" b="1" dirty="0"/>
                        <a:t>Prefix</a:t>
                      </a:r>
                    </a:p>
                  </a:txBody>
                  <a:tcPr>
                    <a:solidFill>
                      <a:schemeClr val="accent6">
                        <a:lumMod val="40000"/>
                        <a:lumOff val="60000"/>
                      </a:schemeClr>
                    </a:solidFill>
                  </a:tcPr>
                </a:tc>
                <a:tc>
                  <a:txBody>
                    <a:bodyPr/>
                    <a:lstStyle/>
                    <a:p>
                      <a:pPr algn="ctr"/>
                      <a:r>
                        <a:rPr lang="en-US" sz="1400" b="1" dirty="0"/>
                        <a:t>Key-end</a:t>
                      </a:r>
                    </a:p>
                  </a:txBody>
                  <a:tcPr>
                    <a:solidFill>
                      <a:schemeClr val="accent6">
                        <a:lumMod val="40000"/>
                        <a:lumOff val="60000"/>
                      </a:schemeClr>
                    </a:solidFill>
                  </a:tcPr>
                </a:tc>
                <a:tc>
                  <a:txBody>
                    <a:bodyPr/>
                    <a:lstStyle/>
                    <a:p>
                      <a:pPr algn="ctr"/>
                      <a:r>
                        <a:rPr lang="en-US" sz="1400" b="1" dirty="0"/>
                        <a:t>Value</a:t>
                      </a:r>
                    </a:p>
                  </a:txBody>
                  <a:tcPr>
                    <a:solidFill>
                      <a:schemeClr val="accent6">
                        <a:lumMod val="40000"/>
                        <a:lumOff val="60000"/>
                      </a:schemeClr>
                    </a:solidFill>
                  </a:tcPr>
                </a:tc>
                <a:extLst>
                  <a:ext uri="{0D108BD9-81ED-4DB2-BD59-A6C34878D82A}">
                    <a16:rowId xmlns:a16="http://schemas.microsoft.com/office/drawing/2014/main" val="10001"/>
                  </a:ext>
                </a:extLst>
              </a:tr>
              <a:tr h="370840">
                <a:tc>
                  <a:txBody>
                    <a:bodyPr/>
                    <a:lstStyle/>
                    <a:p>
                      <a:pPr algn="ctr"/>
                      <a:r>
                        <a:rPr lang="en-US" sz="1800" b="1" dirty="0"/>
                        <a:t>0x20</a:t>
                      </a:r>
                    </a:p>
                  </a:txBody>
                  <a:tcPr>
                    <a:solidFill>
                      <a:schemeClr val="accent6">
                        <a:lumMod val="40000"/>
                        <a:lumOff val="60000"/>
                      </a:schemeClr>
                    </a:solidFill>
                  </a:tcPr>
                </a:tc>
                <a:tc>
                  <a:txBody>
                    <a:bodyPr/>
                    <a:lstStyle/>
                    <a:p>
                      <a:pPr algn="ctr"/>
                      <a:r>
                        <a:rPr lang="en-US" sz="1800" b="1" dirty="0"/>
                        <a:t>9365</a:t>
                      </a:r>
                    </a:p>
                  </a:txBody>
                  <a:tcPr>
                    <a:solidFill>
                      <a:schemeClr val="accent6">
                        <a:lumMod val="40000"/>
                        <a:lumOff val="60000"/>
                      </a:schemeClr>
                    </a:solidFill>
                  </a:tcPr>
                </a:tc>
                <a:tc>
                  <a:txBody>
                    <a:bodyPr/>
                    <a:lstStyle/>
                    <a:p>
                      <a:pPr algn="ctr"/>
                      <a:r>
                        <a:rPr lang="en-US" sz="1800" b="1" dirty="0"/>
                        <a:t>1.1 ETH</a:t>
                      </a:r>
                    </a:p>
                  </a:txBody>
                  <a:tcPr>
                    <a:solidFill>
                      <a:schemeClr val="accent6">
                        <a:lumMod val="40000"/>
                        <a:lumOff val="60000"/>
                      </a:schemeClr>
                    </a:solidFill>
                  </a:tcPr>
                </a:tc>
                <a:extLst>
                  <a:ext uri="{0D108BD9-81ED-4DB2-BD59-A6C34878D82A}">
                    <a16:rowId xmlns:a16="http://schemas.microsoft.com/office/drawing/2014/main" val="10002"/>
                  </a:ext>
                </a:extLst>
              </a:tr>
            </a:tbl>
          </a:graphicData>
        </a:graphic>
      </p:graphicFrame>
      <p:graphicFrame>
        <p:nvGraphicFramePr>
          <p:cNvPr id="25" name="Table 24"/>
          <p:cNvGraphicFramePr>
            <a:graphicFrameLocks noGrp="1"/>
          </p:cNvGraphicFramePr>
          <p:nvPr/>
        </p:nvGraphicFramePr>
        <p:xfrm>
          <a:off x="8043796" y="5321552"/>
          <a:ext cx="3210744" cy="1112520"/>
        </p:xfrm>
        <a:graphic>
          <a:graphicData uri="http://schemas.openxmlformats.org/drawingml/2006/table">
            <a:tbl>
              <a:tblPr firstRow="1" bandRow="1">
                <a:tableStyleId>{5940675A-B579-460E-94D1-54222C63F5DA}</a:tableStyleId>
              </a:tblPr>
              <a:tblGrid>
                <a:gridCol w="700034">
                  <a:extLst>
                    <a:ext uri="{9D8B030D-6E8A-4147-A177-3AD203B41FA5}">
                      <a16:colId xmlns:a16="http://schemas.microsoft.com/office/drawing/2014/main" val="20000"/>
                    </a:ext>
                  </a:extLst>
                </a:gridCol>
                <a:gridCol w="1473673">
                  <a:extLst>
                    <a:ext uri="{9D8B030D-6E8A-4147-A177-3AD203B41FA5}">
                      <a16:colId xmlns:a16="http://schemas.microsoft.com/office/drawing/2014/main" val="20001"/>
                    </a:ext>
                  </a:extLst>
                </a:gridCol>
                <a:gridCol w="1037037">
                  <a:extLst>
                    <a:ext uri="{9D8B030D-6E8A-4147-A177-3AD203B41FA5}">
                      <a16:colId xmlns:a16="http://schemas.microsoft.com/office/drawing/2014/main" val="20002"/>
                    </a:ext>
                  </a:extLst>
                </a:gridCol>
              </a:tblGrid>
              <a:tr h="370840">
                <a:tc gridSpan="3">
                  <a:txBody>
                    <a:bodyPr/>
                    <a:lstStyle/>
                    <a:p>
                      <a:pPr algn="ctr"/>
                      <a:r>
                        <a:rPr lang="en-US" sz="1600" b="1" dirty="0"/>
                        <a:t>Extension Node</a:t>
                      </a:r>
                    </a:p>
                  </a:txBody>
                  <a:tcPr>
                    <a:solidFill>
                      <a:schemeClr val="accent2">
                        <a:lumMod val="20000"/>
                        <a:lumOff val="80000"/>
                      </a:schemeClr>
                    </a:solidFill>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pPr algn="ctr"/>
                      <a:r>
                        <a:rPr lang="en-US" sz="1400" b="1" dirty="0"/>
                        <a:t>Prefix</a:t>
                      </a:r>
                    </a:p>
                  </a:txBody>
                  <a:tcPr>
                    <a:solidFill>
                      <a:schemeClr val="accent2">
                        <a:lumMod val="20000"/>
                        <a:lumOff val="80000"/>
                      </a:schemeClr>
                    </a:solidFill>
                  </a:tcPr>
                </a:tc>
                <a:tc>
                  <a:txBody>
                    <a:bodyPr/>
                    <a:lstStyle/>
                    <a:p>
                      <a:pPr algn="ctr"/>
                      <a:r>
                        <a:rPr lang="en-US" sz="1400" b="1" dirty="0"/>
                        <a:t>Shared nibble(s)</a:t>
                      </a:r>
                    </a:p>
                  </a:txBody>
                  <a:tcPr>
                    <a:solidFill>
                      <a:schemeClr val="accent2">
                        <a:lumMod val="20000"/>
                        <a:lumOff val="80000"/>
                      </a:schemeClr>
                    </a:solidFill>
                  </a:tcPr>
                </a:tc>
                <a:tc>
                  <a:txBody>
                    <a:bodyPr/>
                    <a:lstStyle/>
                    <a:p>
                      <a:pPr algn="ctr"/>
                      <a:r>
                        <a:rPr lang="en-US" sz="1400" b="1" dirty="0"/>
                        <a:t>Next node</a:t>
                      </a:r>
                    </a:p>
                  </a:txBody>
                  <a:tcPr>
                    <a:solidFill>
                      <a:schemeClr val="accent2">
                        <a:lumMod val="20000"/>
                        <a:lumOff val="80000"/>
                      </a:schemeClr>
                    </a:solidFill>
                  </a:tcPr>
                </a:tc>
                <a:extLst>
                  <a:ext uri="{0D108BD9-81ED-4DB2-BD59-A6C34878D82A}">
                    <a16:rowId xmlns:a16="http://schemas.microsoft.com/office/drawing/2014/main" val="10001"/>
                  </a:ext>
                </a:extLst>
              </a:tr>
              <a:tr h="370840">
                <a:tc>
                  <a:txBody>
                    <a:bodyPr/>
                    <a:lstStyle/>
                    <a:p>
                      <a:pPr algn="ctr"/>
                      <a:r>
                        <a:rPr lang="en-US" sz="1800" b="1" dirty="0"/>
                        <a:t>0x00</a:t>
                      </a:r>
                    </a:p>
                  </a:txBody>
                  <a:tcPr>
                    <a:solidFill>
                      <a:schemeClr val="accent2">
                        <a:lumMod val="20000"/>
                        <a:lumOff val="80000"/>
                      </a:schemeClr>
                    </a:solidFill>
                  </a:tcPr>
                </a:tc>
                <a:tc>
                  <a:txBody>
                    <a:bodyPr/>
                    <a:lstStyle/>
                    <a:p>
                      <a:pPr algn="ctr"/>
                      <a:r>
                        <a:rPr lang="en-US" sz="1800" b="1" dirty="0"/>
                        <a:t>d3</a:t>
                      </a:r>
                    </a:p>
                  </a:txBody>
                  <a:tcPr>
                    <a:solidFill>
                      <a:schemeClr val="accent2">
                        <a:lumMod val="20000"/>
                        <a:lumOff val="80000"/>
                      </a:schemeClr>
                    </a:solidFill>
                  </a:tcPr>
                </a:tc>
                <a:tc>
                  <a:txBody>
                    <a:bodyPr/>
                    <a:lstStyle/>
                    <a:p>
                      <a:pPr algn="ctr"/>
                      <a:endParaRPr lang="en-US" sz="1400" b="1" dirty="0"/>
                    </a:p>
                  </a:txBody>
                  <a:tcPr>
                    <a:solidFill>
                      <a:schemeClr val="accent2">
                        <a:lumMod val="20000"/>
                        <a:lumOff val="80000"/>
                      </a:schemeClr>
                    </a:solidFill>
                  </a:tcPr>
                </a:tc>
                <a:extLst>
                  <a:ext uri="{0D108BD9-81ED-4DB2-BD59-A6C34878D82A}">
                    <a16:rowId xmlns:a16="http://schemas.microsoft.com/office/drawing/2014/main" val="10002"/>
                  </a:ext>
                </a:extLst>
              </a:tr>
            </a:tbl>
          </a:graphicData>
        </a:graphic>
      </p:graphicFrame>
      <p:cxnSp>
        <p:nvCxnSpPr>
          <p:cNvPr id="26" name="Straight Connector 25"/>
          <p:cNvCxnSpPr/>
          <p:nvPr/>
        </p:nvCxnSpPr>
        <p:spPr>
          <a:xfrm>
            <a:off x="10738503" y="6260894"/>
            <a:ext cx="0" cy="346356"/>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2935705" y="1780672"/>
            <a:ext cx="528393" cy="359579"/>
          </a:xfrm>
          <a:prstGeom prst="ellipse">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27" name="Oval 26"/>
          <p:cNvSpPr/>
          <p:nvPr/>
        </p:nvSpPr>
        <p:spPr>
          <a:xfrm>
            <a:off x="2946532" y="2320324"/>
            <a:ext cx="528393" cy="359579"/>
          </a:xfrm>
          <a:prstGeom prst="ellipse">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Tree>
    <p:extLst>
      <p:ext uri="{BB962C8B-B14F-4D97-AF65-F5344CB8AC3E}">
        <p14:creationId xmlns:p14="http://schemas.microsoft.com/office/powerpoint/2010/main" val="1624296173"/>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bg/>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3" grpId="0" animBg="1"/>
      <p:bldP spid="16" grpId="0" animBg="1"/>
      <p:bldP spid="18" grpId="0" build="p" animBg="1"/>
      <p:bldP spid="19" grpId="0" animBg="1"/>
      <p:bldP spid="27"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p:cNvPicPr>
            <a:picLocks noChangeAspect="1"/>
          </p:cNvPicPr>
          <p:nvPr/>
        </p:nvPicPr>
        <p:blipFill>
          <a:blip r:embed="rId2"/>
          <a:stretch>
            <a:fillRect/>
          </a:stretch>
        </p:blipFill>
        <p:spPr>
          <a:xfrm>
            <a:off x="1997274" y="1084052"/>
            <a:ext cx="2526601" cy="1532425"/>
          </a:xfrm>
          <a:prstGeom prst="rect">
            <a:avLst/>
          </a:prstGeom>
        </p:spPr>
      </p:pic>
      <p:sp>
        <p:nvSpPr>
          <p:cNvPr id="2" name="Title 1"/>
          <p:cNvSpPr>
            <a:spLocks noGrp="1"/>
          </p:cNvSpPr>
          <p:nvPr>
            <p:ph type="title"/>
          </p:nvPr>
        </p:nvSpPr>
        <p:spPr/>
        <p:txBody>
          <a:bodyPr/>
          <a:lstStyle/>
          <a:p>
            <a:r>
              <a:rPr lang="en-US" dirty="0"/>
              <a:t>Simplified Modified MPT Example</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54</a:t>
            </a:fld>
            <a:endParaRPr lang="en-US" dirty="0">
              <a:latin typeface="Candara" panose="020E0502030303020204" pitchFamily="34" charset="0"/>
            </a:endParaRPr>
          </a:p>
        </p:txBody>
      </p:sp>
      <p:sp>
        <p:nvSpPr>
          <p:cNvPr id="8" name="TextBox 7"/>
          <p:cNvSpPr txBox="1"/>
          <p:nvPr/>
        </p:nvSpPr>
        <p:spPr>
          <a:xfrm>
            <a:off x="1681036" y="2818703"/>
            <a:ext cx="4045997" cy="738664"/>
          </a:xfrm>
          <a:prstGeom prst="rect">
            <a:avLst/>
          </a:prstGeom>
          <a:noFill/>
          <a:ln>
            <a:solidFill>
              <a:schemeClr val="tx1"/>
            </a:solidFill>
          </a:ln>
        </p:spPr>
        <p:txBody>
          <a:bodyPr wrap="square" rtlCol="0">
            <a:spAutoFit/>
          </a:bodyPr>
          <a:lstStyle/>
          <a:p>
            <a:pPr algn="ctr"/>
            <a:r>
              <a:rPr lang="en-US" sz="1400" dirty="0">
                <a:latin typeface="Candara" panose="020E0502030303020204" pitchFamily="34" charset="0"/>
              </a:rPr>
              <a:t>The child node of this extension node (0x00d3) is a branch node because the second last nibbles of accounts 2 and 4 are different: </a:t>
            </a:r>
            <a:r>
              <a:rPr lang="en-US" sz="1400" b="1" dirty="0">
                <a:latin typeface="Candara" panose="020E0502030303020204" pitchFamily="34" charset="0"/>
              </a:rPr>
              <a:t>3</a:t>
            </a:r>
            <a:r>
              <a:rPr lang="en-US" sz="1400" dirty="0">
                <a:latin typeface="Candara" panose="020E0502030303020204" pitchFamily="34" charset="0"/>
              </a:rPr>
              <a:t> and </a:t>
            </a:r>
            <a:r>
              <a:rPr lang="en-US" sz="1400" b="1" dirty="0">
                <a:latin typeface="Candara" panose="020E0502030303020204" pitchFamily="34" charset="0"/>
              </a:rPr>
              <a:t>9</a:t>
            </a:r>
            <a:r>
              <a:rPr lang="en-US" sz="1400" dirty="0">
                <a:latin typeface="Candara" panose="020E0502030303020204" pitchFamily="34" charset="0"/>
              </a:rPr>
              <a:t> respectively</a:t>
            </a:r>
          </a:p>
        </p:txBody>
      </p:sp>
      <p:sp>
        <p:nvSpPr>
          <p:cNvPr id="10" name="TextBox 9"/>
          <p:cNvSpPr txBox="1"/>
          <p:nvPr/>
        </p:nvSpPr>
        <p:spPr>
          <a:xfrm>
            <a:off x="2869715" y="3735261"/>
            <a:ext cx="6384502" cy="307777"/>
          </a:xfrm>
          <a:prstGeom prst="rect">
            <a:avLst/>
          </a:prstGeom>
          <a:noFill/>
          <a:ln>
            <a:solidFill>
              <a:schemeClr val="tx1"/>
            </a:solidFill>
          </a:ln>
        </p:spPr>
        <p:txBody>
          <a:bodyPr wrap="square" rtlCol="0">
            <a:spAutoFit/>
          </a:bodyPr>
          <a:lstStyle/>
          <a:p>
            <a:pPr algn="ctr"/>
            <a:r>
              <a:rPr lang="en-US" sz="1400" dirty="0">
                <a:latin typeface="Candara" panose="020E0502030303020204" pitchFamily="34" charset="0"/>
              </a:rPr>
              <a:t>There are two child nodes of this branch node and both of them are leaf nodes</a:t>
            </a:r>
          </a:p>
        </p:txBody>
      </p:sp>
      <p:sp>
        <p:nvSpPr>
          <p:cNvPr id="11" name="TextBox 10"/>
          <p:cNvSpPr txBox="1"/>
          <p:nvPr/>
        </p:nvSpPr>
        <p:spPr>
          <a:xfrm>
            <a:off x="935073" y="4231869"/>
            <a:ext cx="4791960" cy="954107"/>
          </a:xfrm>
          <a:prstGeom prst="rect">
            <a:avLst/>
          </a:prstGeom>
          <a:noFill/>
          <a:ln>
            <a:solidFill>
              <a:schemeClr val="tx1"/>
            </a:solidFill>
          </a:ln>
        </p:spPr>
        <p:txBody>
          <a:bodyPr wrap="square" rtlCol="0">
            <a:spAutoFit/>
          </a:bodyPr>
          <a:lstStyle/>
          <a:p>
            <a:r>
              <a:rPr lang="en-US" sz="1400" dirty="0">
                <a:latin typeface="Candara" panose="020E0502030303020204" pitchFamily="34" charset="0"/>
              </a:rPr>
              <a:t>The child node originating from position </a:t>
            </a:r>
            <a:r>
              <a:rPr lang="en-US" sz="1400" b="1" dirty="0">
                <a:latin typeface="Candara" panose="020E0502030303020204" pitchFamily="34" charset="0"/>
              </a:rPr>
              <a:t>3</a:t>
            </a:r>
            <a:r>
              <a:rPr lang="en-US" sz="1400" dirty="0">
                <a:latin typeface="Candara" panose="020E0502030303020204" pitchFamily="34" charset="0"/>
              </a:rPr>
              <a:t> is a leaf node for account 2. We add a prefix </a:t>
            </a:r>
            <a:r>
              <a:rPr lang="en-US" sz="1400" b="1" dirty="0">
                <a:latin typeface="Candara" panose="020E0502030303020204" pitchFamily="34" charset="0"/>
              </a:rPr>
              <a:t>0x3</a:t>
            </a:r>
            <a:r>
              <a:rPr lang="en-US" sz="1400" dirty="0">
                <a:latin typeface="Candara" panose="020E0502030303020204" pitchFamily="34" charset="0"/>
              </a:rPr>
              <a:t> since the leaf node has odd number of nibbles (only one).  The key for this node becomes </a:t>
            </a:r>
            <a:r>
              <a:rPr lang="en-US" sz="1400" b="1" dirty="0">
                <a:latin typeface="Candara" panose="020E0502030303020204" pitchFamily="34" charset="0"/>
              </a:rPr>
              <a:t>0x37</a:t>
            </a:r>
            <a:r>
              <a:rPr lang="en-US" sz="1400" dirty="0">
                <a:latin typeface="Candara" panose="020E0502030303020204" pitchFamily="34" charset="0"/>
              </a:rPr>
              <a:t> and the value is </a:t>
            </a:r>
            <a:r>
              <a:rPr lang="en-US" sz="1400" b="1" dirty="0">
                <a:latin typeface="Candara" panose="020E0502030303020204" pitchFamily="34" charset="0"/>
              </a:rPr>
              <a:t>1.00 WEI</a:t>
            </a:r>
          </a:p>
        </p:txBody>
      </p:sp>
      <p:sp>
        <p:nvSpPr>
          <p:cNvPr id="19" name="Oval 18"/>
          <p:cNvSpPr/>
          <p:nvPr/>
        </p:nvSpPr>
        <p:spPr>
          <a:xfrm>
            <a:off x="3377596" y="1790318"/>
            <a:ext cx="169419" cy="291725"/>
          </a:xfrm>
          <a:prstGeom prst="ellipse">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20" name="Oval 19"/>
          <p:cNvSpPr/>
          <p:nvPr/>
        </p:nvSpPr>
        <p:spPr>
          <a:xfrm>
            <a:off x="3377596" y="2295818"/>
            <a:ext cx="169419" cy="291725"/>
          </a:xfrm>
          <a:prstGeom prst="ellipse">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21" name="TextBox 20"/>
          <p:cNvSpPr txBox="1"/>
          <p:nvPr/>
        </p:nvSpPr>
        <p:spPr>
          <a:xfrm>
            <a:off x="6751681" y="4249509"/>
            <a:ext cx="4380931" cy="954107"/>
          </a:xfrm>
          <a:prstGeom prst="rect">
            <a:avLst/>
          </a:prstGeom>
          <a:noFill/>
          <a:ln>
            <a:solidFill>
              <a:schemeClr val="tx1"/>
            </a:solidFill>
          </a:ln>
        </p:spPr>
        <p:txBody>
          <a:bodyPr wrap="square" rtlCol="0">
            <a:spAutoFit/>
          </a:bodyPr>
          <a:lstStyle/>
          <a:p>
            <a:r>
              <a:rPr lang="en-US" sz="1400" dirty="0">
                <a:latin typeface="Candara" panose="020E0502030303020204" pitchFamily="34" charset="0"/>
              </a:rPr>
              <a:t>The child node originating from position </a:t>
            </a:r>
            <a:r>
              <a:rPr lang="en-US" sz="1400" b="1" dirty="0">
                <a:latin typeface="Candara" panose="020E0502030303020204" pitchFamily="34" charset="0"/>
              </a:rPr>
              <a:t>9</a:t>
            </a:r>
            <a:r>
              <a:rPr lang="en-US" sz="1400" dirty="0">
                <a:latin typeface="Candara" panose="020E0502030303020204" pitchFamily="34" charset="0"/>
              </a:rPr>
              <a:t> is a leaf node for account 4. We add a prefix </a:t>
            </a:r>
            <a:r>
              <a:rPr lang="en-US" sz="1400" b="1" dirty="0">
                <a:latin typeface="Candara" panose="020E0502030303020204" pitchFamily="34" charset="0"/>
              </a:rPr>
              <a:t>0x3</a:t>
            </a:r>
            <a:r>
              <a:rPr lang="en-US" sz="1400" dirty="0">
                <a:latin typeface="Candara" panose="020E0502030303020204" pitchFamily="34" charset="0"/>
              </a:rPr>
              <a:t> since the leaf node has odd number of nibbles (again only one).  The key for this node becomes </a:t>
            </a:r>
            <a:r>
              <a:rPr lang="en-US" sz="1400" b="1" dirty="0">
                <a:latin typeface="Candara" panose="020E0502030303020204" pitchFamily="34" charset="0"/>
              </a:rPr>
              <a:t>0x37</a:t>
            </a:r>
            <a:r>
              <a:rPr lang="en-US" sz="1400" dirty="0">
                <a:latin typeface="Candara" panose="020E0502030303020204" pitchFamily="34" charset="0"/>
              </a:rPr>
              <a:t> and the value is </a:t>
            </a:r>
            <a:r>
              <a:rPr lang="en-US" sz="1400" b="1" dirty="0">
                <a:latin typeface="Candara" panose="020E0502030303020204" pitchFamily="34" charset="0"/>
              </a:rPr>
              <a:t>0.12 ETH</a:t>
            </a:r>
          </a:p>
        </p:txBody>
      </p:sp>
      <p:graphicFrame>
        <p:nvGraphicFramePr>
          <p:cNvPr id="24" name="Table 23"/>
          <p:cNvGraphicFramePr>
            <a:graphicFrameLocks noGrp="1"/>
          </p:cNvGraphicFramePr>
          <p:nvPr/>
        </p:nvGraphicFramePr>
        <p:xfrm>
          <a:off x="6198225" y="1200707"/>
          <a:ext cx="3210744" cy="1112520"/>
        </p:xfrm>
        <a:graphic>
          <a:graphicData uri="http://schemas.openxmlformats.org/drawingml/2006/table">
            <a:tbl>
              <a:tblPr firstRow="1" bandRow="1">
                <a:tableStyleId>{5940675A-B579-460E-94D1-54222C63F5DA}</a:tableStyleId>
              </a:tblPr>
              <a:tblGrid>
                <a:gridCol w="700034">
                  <a:extLst>
                    <a:ext uri="{9D8B030D-6E8A-4147-A177-3AD203B41FA5}">
                      <a16:colId xmlns:a16="http://schemas.microsoft.com/office/drawing/2014/main" val="20000"/>
                    </a:ext>
                  </a:extLst>
                </a:gridCol>
                <a:gridCol w="1473673">
                  <a:extLst>
                    <a:ext uri="{9D8B030D-6E8A-4147-A177-3AD203B41FA5}">
                      <a16:colId xmlns:a16="http://schemas.microsoft.com/office/drawing/2014/main" val="20001"/>
                    </a:ext>
                  </a:extLst>
                </a:gridCol>
                <a:gridCol w="1037037">
                  <a:extLst>
                    <a:ext uri="{9D8B030D-6E8A-4147-A177-3AD203B41FA5}">
                      <a16:colId xmlns:a16="http://schemas.microsoft.com/office/drawing/2014/main" val="20002"/>
                    </a:ext>
                  </a:extLst>
                </a:gridCol>
              </a:tblGrid>
              <a:tr h="370840">
                <a:tc gridSpan="3">
                  <a:txBody>
                    <a:bodyPr/>
                    <a:lstStyle/>
                    <a:p>
                      <a:pPr algn="ctr"/>
                      <a:r>
                        <a:rPr lang="en-US" sz="1600" b="1" dirty="0"/>
                        <a:t>Extension Node</a:t>
                      </a:r>
                    </a:p>
                  </a:txBody>
                  <a:tcPr>
                    <a:solidFill>
                      <a:schemeClr val="accent2">
                        <a:lumMod val="20000"/>
                        <a:lumOff val="80000"/>
                      </a:schemeClr>
                    </a:solidFill>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pPr algn="ctr"/>
                      <a:r>
                        <a:rPr lang="en-US" sz="1400" b="1" dirty="0"/>
                        <a:t>Prefix</a:t>
                      </a:r>
                    </a:p>
                  </a:txBody>
                  <a:tcPr>
                    <a:solidFill>
                      <a:schemeClr val="accent2">
                        <a:lumMod val="20000"/>
                        <a:lumOff val="80000"/>
                      </a:schemeClr>
                    </a:solidFill>
                  </a:tcPr>
                </a:tc>
                <a:tc>
                  <a:txBody>
                    <a:bodyPr/>
                    <a:lstStyle/>
                    <a:p>
                      <a:pPr algn="ctr"/>
                      <a:r>
                        <a:rPr lang="en-US" sz="1400" b="1" dirty="0"/>
                        <a:t>Shared nibble(s)</a:t>
                      </a:r>
                    </a:p>
                  </a:txBody>
                  <a:tcPr>
                    <a:solidFill>
                      <a:schemeClr val="accent2">
                        <a:lumMod val="20000"/>
                        <a:lumOff val="80000"/>
                      </a:schemeClr>
                    </a:solidFill>
                  </a:tcPr>
                </a:tc>
                <a:tc>
                  <a:txBody>
                    <a:bodyPr/>
                    <a:lstStyle/>
                    <a:p>
                      <a:pPr algn="ctr"/>
                      <a:r>
                        <a:rPr lang="en-US" sz="1400" b="1" dirty="0"/>
                        <a:t>Next node</a:t>
                      </a:r>
                    </a:p>
                  </a:txBody>
                  <a:tcPr>
                    <a:solidFill>
                      <a:schemeClr val="accent2">
                        <a:lumMod val="20000"/>
                        <a:lumOff val="80000"/>
                      </a:schemeClr>
                    </a:solidFill>
                  </a:tcPr>
                </a:tc>
                <a:extLst>
                  <a:ext uri="{0D108BD9-81ED-4DB2-BD59-A6C34878D82A}">
                    <a16:rowId xmlns:a16="http://schemas.microsoft.com/office/drawing/2014/main" val="10001"/>
                  </a:ext>
                </a:extLst>
              </a:tr>
              <a:tr h="370840">
                <a:tc>
                  <a:txBody>
                    <a:bodyPr/>
                    <a:lstStyle/>
                    <a:p>
                      <a:pPr algn="ctr"/>
                      <a:r>
                        <a:rPr lang="en-US" sz="1800" b="1" dirty="0"/>
                        <a:t>0x00</a:t>
                      </a:r>
                    </a:p>
                  </a:txBody>
                  <a:tcPr>
                    <a:solidFill>
                      <a:schemeClr val="accent2">
                        <a:lumMod val="20000"/>
                        <a:lumOff val="80000"/>
                      </a:schemeClr>
                    </a:solidFill>
                  </a:tcPr>
                </a:tc>
                <a:tc>
                  <a:txBody>
                    <a:bodyPr/>
                    <a:lstStyle/>
                    <a:p>
                      <a:pPr algn="ctr"/>
                      <a:r>
                        <a:rPr lang="en-US" sz="1800" b="1" dirty="0"/>
                        <a:t>d3</a:t>
                      </a:r>
                    </a:p>
                  </a:txBody>
                  <a:tcPr>
                    <a:solidFill>
                      <a:schemeClr val="accent2">
                        <a:lumMod val="20000"/>
                        <a:lumOff val="80000"/>
                      </a:schemeClr>
                    </a:solidFill>
                  </a:tcPr>
                </a:tc>
                <a:tc>
                  <a:txBody>
                    <a:bodyPr/>
                    <a:lstStyle/>
                    <a:p>
                      <a:pPr algn="ctr"/>
                      <a:endParaRPr lang="en-US" sz="1400" b="1" dirty="0"/>
                    </a:p>
                  </a:txBody>
                  <a:tcPr>
                    <a:solidFill>
                      <a:schemeClr val="accent2">
                        <a:lumMod val="20000"/>
                        <a:lumOff val="80000"/>
                      </a:schemeClr>
                    </a:solidFill>
                  </a:tcPr>
                </a:tc>
                <a:extLst>
                  <a:ext uri="{0D108BD9-81ED-4DB2-BD59-A6C34878D82A}">
                    <a16:rowId xmlns:a16="http://schemas.microsoft.com/office/drawing/2014/main" val="10002"/>
                  </a:ext>
                </a:extLst>
              </a:tr>
            </a:tbl>
          </a:graphicData>
        </a:graphic>
      </p:graphicFrame>
      <p:cxnSp>
        <p:nvCxnSpPr>
          <p:cNvPr id="25" name="Straight Connector 24"/>
          <p:cNvCxnSpPr/>
          <p:nvPr/>
        </p:nvCxnSpPr>
        <p:spPr>
          <a:xfrm>
            <a:off x="8949807" y="2140049"/>
            <a:ext cx="1688" cy="678654"/>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pic>
        <p:nvPicPr>
          <p:cNvPr id="26" name="Picture 25"/>
          <p:cNvPicPr>
            <a:picLocks noChangeAspect="1"/>
          </p:cNvPicPr>
          <p:nvPr/>
        </p:nvPicPr>
        <p:blipFill>
          <a:blip r:embed="rId3"/>
          <a:stretch>
            <a:fillRect/>
          </a:stretch>
        </p:blipFill>
        <p:spPr>
          <a:xfrm>
            <a:off x="5905847" y="2786349"/>
            <a:ext cx="3840547" cy="771019"/>
          </a:xfrm>
          <a:prstGeom prst="rect">
            <a:avLst/>
          </a:prstGeom>
        </p:spPr>
      </p:pic>
      <p:cxnSp>
        <p:nvCxnSpPr>
          <p:cNvPr id="27" name="Straight Connector 26"/>
          <p:cNvCxnSpPr/>
          <p:nvPr/>
        </p:nvCxnSpPr>
        <p:spPr>
          <a:xfrm>
            <a:off x="6673163" y="3390014"/>
            <a:ext cx="0" cy="346356"/>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7906455" y="3406056"/>
            <a:ext cx="0" cy="346356"/>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graphicFrame>
        <p:nvGraphicFramePr>
          <p:cNvPr id="29" name="Table 28"/>
          <p:cNvGraphicFramePr>
            <a:graphicFrameLocks noGrp="1"/>
          </p:cNvGraphicFramePr>
          <p:nvPr/>
        </p:nvGraphicFramePr>
        <p:xfrm>
          <a:off x="1870105" y="5321915"/>
          <a:ext cx="3014980" cy="1112520"/>
        </p:xfrm>
        <a:graphic>
          <a:graphicData uri="http://schemas.openxmlformats.org/drawingml/2006/table">
            <a:tbl>
              <a:tblPr firstRow="1" bandRow="1">
                <a:tableStyleId>{5940675A-B579-460E-94D1-54222C63F5DA}</a:tableStyleId>
              </a:tblPr>
              <a:tblGrid>
                <a:gridCol w="657352">
                  <a:extLst>
                    <a:ext uri="{9D8B030D-6E8A-4147-A177-3AD203B41FA5}">
                      <a16:colId xmlns:a16="http://schemas.microsoft.com/office/drawing/2014/main" val="20000"/>
                    </a:ext>
                  </a:extLst>
                </a:gridCol>
                <a:gridCol w="833628">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tblGrid>
              <a:tr h="370840">
                <a:tc gridSpan="3">
                  <a:txBody>
                    <a:bodyPr/>
                    <a:lstStyle/>
                    <a:p>
                      <a:pPr algn="ctr"/>
                      <a:r>
                        <a:rPr lang="en-US" sz="1600" b="1" dirty="0"/>
                        <a:t>Leaf Node</a:t>
                      </a:r>
                    </a:p>
                  </a:txBody>
                  <a:tcPr>
                    <a:solidFill>
                      <a:schemeClr val="accent6">
                        <a:lumMod val="40000"/>
                        <a:lumOff val="60000"/>
                      </a:schemeClr>
                    </a:solidFill>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pPr algn="ctr"/>
                      <a:r>
                        <a:rPr lang="en-US" sz="1400" b="1" dirty="0"/>
                        <a:t>Prefix</a:t>
                      </a:r>
                    </a:p>
                  </a:txBody>
                  <a:tcPr>
                    <a:solidFill>
                      <a:schemeClr val="accent6">
                        <a:lumMod val="40000"/>
                        <a:lumOff val="60000"/>
                      </a:schemeClr>
                    </a:solidFill>
                  </a:tcPr>
                </a:tc>
                <a:tc>
                  <a:txBody>
                    <a:bodyPr/>
                    <a:lstStyle/>
                    <a:p>
                      <a:pPr algn="ctr"/>
                      <a:r>
                        <a:rPr lang="en-US" sz="1400" b="1" dirty="0"/>
                        <a:t>Key-end</a:t>
                      </a:r>
                    </a:p>
                  </a:txBody>
                  <a:tcPr>
                    <a:solidFill>
                      <a:schemeClr val="accent6">
                        <a:lumMod val="40000"/>
                        <a:lumOff val="60000"/>
                      </a:schemeClr>
                    </a:solidFill>
                  </a:tcPr>
                </a:tc>
                <a:tc>
                  <a:txBody>
                    <a:bodyPr/>
                    <a:lstStyle/>
                    <a:p>
                      <a:pPr algn="ctr"/>
                      <a:r>
                        <a:rPr lang="en-US" sz="1400" b="1" dirty="0"/>
                        <a:t>Value</a:t>
                      </a:r>
                    </a:p>
                  </a:txBody>
                  <a:tcPr>
                    <a:solidFill>
                      <a:schemeClr val="accent6">
                        <a:lumMod val="40000"/>
                        <a:lumOff val="60000"/>
                      </a:schemeClr>
                    </a:solidFill>
                  </a:tcPr>
                </a:tc>
                <a:extLst>
                  <a:ext uri="{0D108BD9-81ED-4DB2-BD59-A6C34878D82A}">
                    <a16:rowId xmlns:a16="http://schemas.microsoft.com/office/drawing/2014/main" val="10001"/>
                  </a:ext>
                </a:extLst>
              </a:tr>
              <a:tr h="370840">
                <a:tc>
                  <a:txBody>
                    <a:bodyPr/>
                    <a:lstStyle/>
                    <a:p>
                      <a:pPr algn="ctr"/>
                      <a:r>
                        <a:rPr lang="en-US" sz="1600" b="1" dirty="0"/>
                        <a:t>0x3</a:t>
                      </a:r>
                    </a:p>
                  </a:txBody>
                  <a:tcPr>
                    <a:solidFill>
                      <a:schemeClr val="accent6">
                        <a:lumMod val="40000"/>
                        <a:lumOff val="60000"/>
                      </a:schemeClr>
                    </a:solidFill>
                  </a:tcPr>
                </a:tc>
                <a:tc>
                  <a:txBody>
                    <a:bodyPr/>
                    <a:lstStyle/>
                    <a:p>
                      <a:pPr algn="ctr"/>
                      <a:r>
                        <a:rPr lang="en-US" sz="1600" b="1" dirty="0"/>
                        <a:t>7</a:t>
                      </a:r>
                    </a:p>
                  </a:txBody>
                  <a:tcPr>
                    <a:solidFill>
                      <a:schemeClr val="accent6">
                        <a:lumMod val="40000"/>
                        <a:lumOff val="60000"/>
                      </a:schemeClr>
                    </a:solidFill>
                  </a:tcPr>
                </a:tc>
                <a:tc>
                  <a:txBody>
                    <a:bodyPr/>
                    <a:lstStyle/>
                    <a:p>
                      <a:pPr algn="ctr"/>
                      <a:r>
                        <a:rPr lang="en-US" sz="1600" b="1" dirty="0"/>
                        <a:t>1.00 WEI</a:t>
                      </a:r>
                    </a:p>
                  </a:txBody>
                  <a:tcPr>
                    <a:solidFill>
                      <a:schemeClr val="accent6">
                        <a:lumMod val="40000"/>
                        <a:lumOff val="60000"/>
                      </a:schemeClr>
                    </a:solidFill>
                  </a:tcPr>
                </a:tc>
                <a:extLst>
                  <a:ext uri="{0D108BD9-81ED-4DB2-BD59-A6C34878D82A}">
                    <a16:rowId xmlns:a16="http://schemas.microsoft.com/office/drawing/2014/main" val="10002"/>
                  </a:ext>
                </a:extLst>
              </a:tr>
            </a:tbl>
          </a:graphicData>
        </a:graphic>
      </p:graphicFrame>
      <p:graphicFrame>
        <p:nvGraphicFramePr>
          <p:cNvPr id="31" name="Table 30"/>
          <p:cNvGraphicFramePr>
            <a:graphicFrameLocks noGrp="1"/>
          </p:cNvGraphicFramePr>
          <p:nvPr/>
        </p:nvGraphicFramePr>
        <p:xfrm>
          <a:off x="7543169" y="5321915"/>
          <a:ext cx="3014980" cy="1112520"/>
        </p:xfrm>
        <a:graphic>
          <a:graphicData uri="http://schemas.openxmlformats.org/drawingml/2006/table">
            <a:tbl>
              <a:tblPr firstRow="1" bandRow="1">
                <a:tableStyleId>{5940675A-B579-460E-94D1-54222C63F5DA}</a:tableStyleId>
              </a:tblPr>
              <a:tblGrid>
                <a:gridCol w="657352">
                  <a:extLst>
                    <a:ext uri="{9D8B030D-6E8A-4147-A177-3AD203B41FA5}">
                      <a16:colId xmlns:a16="http://schemas.microsoft.com/office/drawing/2014/main" val="20000"/>
                    </a:ext>
                  </a:extLst>
                </a:gridCol>
                <a:gridCol w="833628">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tblGrid>
              <a:tr h="370840">
                <a:tc gridSpan="3">
                  <a:txBody>
                    <a:bodyPr/>
                    <a:lstStyle/>
                    <a:p>
                      <a:pPr algn="ctr"/>
                      <a:r>
                        <a:rPr lang="en-US" sz="1600" b="1" dirty="0"/>
                        <a:t>Leaf Node</a:t>
                      </a:r>
                    </a:p>
                  </a:txBody>
                  <a:tcPr>
                    <a:solidFill>
                      <a:schemeClr val="accent6">
                        <a:lumMod val="40000"/>
                        <a:lumOff val="60000"/>
                      </a:schemeClr>
                    </a:solidFill>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pPr algn="ctr"/>
                      <a:r>
                        <a:rPr lang="en-US" sz="1400" b="1" dirty="0"/>
                        <a:t>Prefix</a:t>
                      </a:r>
                    </a:p>
                  </a:txBody>
                  <a:tcPr>
                    <a:solidFill>
                      <a:schemeClr val="accent6">
                        <a:lumMod val="40000"/>
                        <a:lumOff val="60000"/>
                      </a:schemeClr>
                    </a:solidFill>
                  </a:tcPr>
                </a:tc>
                <a:tc>
                  <a:txBody>
                    <a:bodyPr/>
                    <a:lstStyle/>
                    <a:p>
                      <a:pPr algn="ctr"/>
                      <a:r>
                        <a:rPr lang="en-US" sz="1400" b="1" dirty="0"/>
                        <a:t>Key-end</a:t>
                      </a:r>
                    </a:p>
                  </a:txBody>
                  <a:tcPr>
                    <a:solidFill>
                      <a:schemeClr val="accent6">
                        <a:lumMod val="40000"/>
                        <a:lumOff val="60000"/>
                      </a:schemeClr>
                    </a:solidFill>
                  </a:tcPr>
                </a:tc>
                <a:tc>
                  <a:txBody>
                    <a:bodyPr/>
                    <a:lstStyle/>
                    <a:p>
                      <a:pPr algn="ctr"/>
                      <a:r>
                        <a:rPr lang="en-US" sz="1400" b="1" dirty="0"/>
                        <a:t>Value</a:t>
                      </a:r>
                    </a:p>
                  </a:txBody>
                  <a:tcPr>
                    <a:solidFill>
                      <a:schemeClr val="accent6">
                        <a:lumMod val="40000"/>
                        <a:lumOff val="60000"/>
                      </a:schemeClr>
                    </a:solidFill>
                  </a:tcPr>
                </a:tc>
                <a:extLst>
                  <a:ext uri="{0D108BD9-81ED-4DB2-BD59-A6C34878D82A}">
                    <a16:rowId xmlns:a16="http://schemas.microsoft.com/office/drawing/2014/main" val="10001"/>
                  </a:ext>
                </a:extLst>
              </a:tr>
              <a:tr h="370840">
                <a:tc>
                  <a:txBody>
                    <a:bodyPr/>
                    <a:lstStyle/>
                    <a:p>
                      <a:pPr algn="ctr"/>
                      <a:r>
                        <a:rPr lang="en-US" sz="1600" b="1" dirty="0"/>
                        <a:t>0x3</a:t>
                      </a:r>
                    </a:p>
                  </a:txBody>
                  <a:tcPr>
                    <a:solidFill>
                      <a:schemeClr val="accent6">
                        <a:lumMod val="40000"/>
                        <a:lumOff val="60000"/>
                      </a:schemeClr>
                    </a:solidFill>
                  </a:tcPr>
                </a:tc>
                <a:tc>
                  <a:txBody>
                    <a:bodyPr/>
                    <a:lstStyle/>
                    <a:p>
                      <a:pPr algn="ctr"/>
                      <a:r>
                        <a:rPr lang="en-US" sz="1600" b="1" dirty="0"/>
                        <a:t>7</a:t>
                      </a:r>
                    </a:p>
                  </a:txBody>
                  <a:tcPr>
                    <a:solidFill>
                      <a:schemeClr val="accent6">
                        <a:lumMod val="40000"/>
                        <a:lumOff val="60000"/>
                      </a:schemeClr>
                    </a:solidFill>
                  </a:tcPr>
                </a:tc>
                <a:tc>
                  <a:txBody>
                    <a:bodyPr/>
                    <a:lstStyle/>
                    <a:p>
                      <a:pPr algn="ctr"/>
                      <a:r>
                        <a:rPr lang="en-US" sz="1600" b="1" dirty="0"/>
                        <a:t>0.12 ETH</a:t>
                      </a:r>
                    </a:p>
                  </a:txBody>
                  <a:tcPr>
                    <a:solidFill>
                      <a:schemeClr val="accent6">
                        <a:lumMod val="40000"/>
                        <a:lumOff val="60000"/>
                      </a:schemeClr>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673308295"/>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9" grpId="0" animBg="1"/>
      <p:bldP spid="20" grpId="0" animBg="1"/>
      <p:bldP spid="21"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Simplified Modified MPT Example</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55</a:t>
            </a:fld>
            <a:endParaRPr lang="en-US" dirty="0">
              <a:latin typeface="Candara" panose="020E0502030303020204" pitchFamily="34" charset="0"/>
            </a:endParaRPr>
          </a:p>
        </p:txBody>
      </p:sp>
      <p:pic>
        <p:nvPicPr>
          <p:cNvPr id="8" name="Picture 7"/>
          <p:cNvPicPr>
            <a:picLocks noChangeAspect="1"/>
          </p:cNvPicPr>
          <p:nvPr/>
        </p:nvPicPr>
        <p:blipFill>
          <a:blip r:embed="rId2"/>
          <a:stretch>
            <a:fillRect/>
          </a:stretch>
        </p:blipFill>
        <p:spPr>
          <a:xfrm>
            <a:off x="1674211" y="3193341"/>
            <a:ext cx="6669690" cy="953973"/>
          </a:xfrm>
          <a:prstGeom prst="rect">
            <a:avLst/>
          </a:prstGeom>
        </p:spPr>
      </p:pic>
      <p:cxnSp>
        <p:nvCxnSpPr>
          <p:cNvPr id="10" name="Straight Connector 9"/>
          <p:cNvCxnSpPr/>
          <p:nvPr/>
        </p:nvCxnSpPr>
        <p:spPr>
          <a:xfrm>
            <a:off x="5875441" y="3918719"/>
            <a:ext cx="0" cy="419091"/>
          </a:xfrm>
          <a:prstGeom prst="line">
            <a:avLst/>
          </a:prstGeom>
          <a:ln w="38100">
            <a:solidFill>
              <a:schemeClr val="tx1"/>
            </a:solidFill>
            <a:headEnd type="ova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3"/>
          <a:stretch>
            <a:fillRect/>
          </a:stretch>
        </p:blipFill>
        <p:spPr>
          <a:xfrm>
            <a:off x="3841298" y="4368938"/>
            <a:ext cx="4848225" cy="971550"/>
          </a:xfrm>
          <a:prstGeom prst="rect">
            <a:avLst/>
          </a:prstGeom>
        </p:spPr>
      </p:pic>
      <p:pic>
        <p:nvPicPr>
          <p:cNvPr id="13" name="Picture 12"/>
          <p:cNvPicPr>
            <a:picLocks noChangeAspect="1"/>
          </p:cNvPicPr>
          <p:nvPr/>
        </p:nvPicPr>
        <p:blipFill>
          <a:blip r:embed="rId4"/>
          <a:stretch>
            <a:fillRect/>
          </a:stretch>
        </p:blipFill>
        <p:spPr>
          <a:xfrm>
            <a:off x="1674210" y="5548345"/>
            <a:ext cx="2508160" cy="932722"/>
          </a:xfrm>
          <a:prstGeom prst="rect">
            <a:avLst/>
          </a:prstGeom>
        </p:spPr>
      </p:pic>
      <p:cxnSp>
        <p:nvCxnSpPr>
          <p:cNvPr id="14" name="Straight Connector 13"/>
          <p:cNvCxnSpPr>
            <a:endCxn id="13" idx="0"/>
          </p:cNvCxnSpPr>
          <p:nvPr/>
        </p:nvCxnSpPr>
        <p:spPr>
          <a:xfrm flipH="1">
            <a:off x="2928290" y="5167311"/>
            <a:ext cx="1834210" cy="381035"/>
          </a:xfrm>
          <a:prstGeom prst="line">
            <a:avLst/>
          </a:prstGeom>
          <a:ln w="38100">
            <a:solidFill>
              <a:schemeClr val="tx1"/>
            </a:solidFill>
            <a:headEnd type="oval"/>
          </a:ln>
        </p:spPr>
        <p:style>
          <a:lnRef idx="1">
            <a:schemeClr val="accent1"/>
          </a:lnRef>
          <a:fillRef idx="0">
            <a:schemeClr val="accent1"/>
          </a:fillRef>
          <a:effectRef idx="0">
            <a:schemeClr val="accent1"/>
          </a:effectRef>
          <a:fontRef idx="minor">
            <a:schemeClr val="tx1"/>
          </a:fontRef>
        </p:style>
      </p:cxnSp>
      <p:pic>
        <p:nvPicPr>
          <p:cNvPr id="16" name="Picture 15"/>
          <p:cNvPicPr>
            <a:picLocks noChangeAspect="1"/>
          </p:cNvPicPr>
          <p:nvPr/>
        </p:nvPicPr>
        <p:blipFill>
          <a:blip r:embed="rId5"/>
          <a:stretch>
            <a:fillRect/>
          </a:stretch>
        </p:blipFill>
        <p:spPr>
          <a:xfrm>
            <a:off x="5736951" y="5562209"/>
            <a:ext cx="2419350" cy="929938"/>
          </a:xfrm>
          <a:prstGeom prst="rect">
            <a:avLst/>
          </a:prstGeom>
        </p:spPr>
      </p:pic>
      <p:cxnSp>
        <p:nvCxnSpPr>
          <p:cNvPr id="17" name="Straight Connector 16"/>
          <p:cNvCxnSpPr>
            <a:endCxn id="16" idx="0"/>
          </p:cNvCxnSpPr>
          <p:nvPr/>
        </p:nvCxnSpPr>
        <p:spPr>
          <a:xfrm>
            <a:off x="6411238" y="5167311"/>
            <a:ext cx="535388" cy="394899"/>
          </a:xfrm>
          <a:prstGeom prst="line">
            <a:avLst/>
          </a:prstGeom>
          <a:ln w="38100">
            <a:solidFill>
              <a:schemeClr val="tx1"/>
            </a:solidFill>
            <a:headEnd type="oval"/>
          </a:ln>
        </p:spPr>
        <p:style>
          <a:lnRef idx="1">
            <a:schemeClr val="accent1"/>
          </a:lnRef>
          <a:fillRef idx="0">
            <a:schemeClr val="accent1"/>
          </a:fillRef>
          <a:effectRef idx="0">
            <a:schemeClr val="accent1"/>
          </a:effectRef>
          <a:fontRef idx="minor">
            <a:schemeClr val="tx1"/>
          </a:fontRef>
        </p:style>
      </p:cxnSp>
      <p:pic>
        <p:nvPicPr>
          <p:cNvPr id="26" name="Picture 25"/>
          <p:cNvPicPr>
            <a:picLocks noChangeAspect="1"/>
          </p:cNvPicPr>
          <p:nvPr/>
        </p:nvPicPr>
        <p:blipFill>
          <a:blip r:embed="rId6"/>
          <a:stretch>
            <a:fillRect/>
          </a:stretch>
        </p:blipFill>
        <p:spPr>
          <a:xfrm>
            <a:off x="7608809" y="1089829"/>
            <a:ext cx="2851507" cy="1729486"/>
          </a:xfrm>
          <a:prstGeom prst="rect">
            <a:avLst/>
          </a:prstGeom>
        </p:spPr>
      </p:pic>
      <p:sp>
        <p:nvSpPr>
          <p:cNvPr id="15" name="TextBox 14"/>
          <p:cNvSpPr txBox="1"/>
          <p:nvPr/>
        </p:nvSpPr>
        <p:spPr>
          <a:xfrm>
            <a:off x="8782967" y="3976995"/>
            <a:ext cx="2419344" cy="1815882"/>
          </a:xfrm>
          <a:prstGeom prst="rect">
            <a:avLst/>
          </a:prstGeom>
          <a:noFill/>
          <a:ln>
            <a:noFill/>
          </a:ln>
        </p:spPr>
        <p:txBody>
          <a:bodyPr wrap="square" rtlCol="0">
            <a:spAutoFit/>
          </a:bodyPr>
          <a:lstStyle/>
          <a:p>
            <a:pPr algn="ctr"/>
            <a:r>
              <a:rPr lang="en-US" sz="1600" dirty="0">
                <a:solidFill>
                  <a:schemeClr val="accent2"/>
                </a:solidFill>
                <a:latin typeface="Candara" panose="020E0502030303020204" pitchFamily="34" charset="0"/>
              </a:rPr>
              <a:t>The values of the intermediate nodes (extension and branch) are the hashes of their respective child node contents (keys and values)</a:t>
            </a:r>
          </a:p>
        </p:txBody>
      </p:sp>
      <p:pic>
        <p:nvPicPr>
          <p:cNvPr id="3" name="Picture 2"/>
          <p:cNvPicPr>
            <a:picLocks noChangeAspect="1"/>
          </p:cNvPicPr>
          <p:nvPr/>
        </p:nvPicPr>
        <p:blipFill>
          <a:blip r:embed="rId7"/>
          <a:stretch>
            <a:fillRect/>
          </a:stretch>
        </p:blipFill>
        <p:spPr>
          <a:xfrm>
            <a:off x="2591714" y="2011396"/>
            <a:ext cx="4742537" cy="953215"/>
          </a:xfrm>
          <a:prstGeom prst="rect">
            <a:avLst/>
          </a:prstGeom>
        </p:spPr>
      </p:pic>
      <p:pic>
        <p:nvPicPr>
          <p:cNvPr id="18" name="Picture 17"/>
          <p:cNvPicPr>
            <a:picLocks noChangeAspect="1"/>
          </p:cNvPicPr>
          <p:nvPr/>
        </p:nvPicPr>
        <p:blipFill>
          <a:blip r:embed="rId8"/>
          <a:stretch>
            <a:fillRect/>
          </a:stretch>
        </p:blipFill>
        <p:spPr>
          <a:xfrm>
            <a:off x="1674211" y="1100658"/>
            <a:ext cx="2152287" cy="803942"/>
          </a:xfrm>
          <a:prstGeom prst="rect">
            <a:avLst/>
          </a:prstGeom>
        </p:spPr>
      </p:pic>
      <p:cxnSp>
        <p:nvCxnSpPr>
          <p:cNvPr id="19" name="Straight Connector 18"/>
          <p:cNvCxnSpPr/>
          <p:nvPr/>
        </p:nvCxnSpPr>
        <p:spPr>
          <a:xfrm>
            <a:off x="3437041" y="1735250"/>
            <a:ext cx="0" cy="286245"/>
          </a:xfrm>
          <a:prstGeom prst="line">
            <a:avLst/>
          </a:prstGeom>
          <a:ln w="381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2998891" y="2829532"/>
            <a:ext cx="0" cy="346357"/>
          </a:xfrm>
          <a:prstGeom prst="line">
            <a:avLst/>
          </a:prstGeom>
          <a:ln w="381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4580041" y="2829532"/>
            <a:ext cx="0" cy="346357"/>
          </a:xfrm>
          <a:prstGeom prst="line">
            <a:avLst/>
          </a:prstGeom>
          <a:ln w="381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6675541" y="2846984"/>
            <a:ext cx="0" cy="346357"/>
          </a:xfrm>
          <a:prstGeom prst="line">
            <a:avLst/>
          </a:prstGeom>
          <a:ln w="38100">
            <a:solidFill>
              <a:schemeClr val="tx1"/>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7274827"/>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Ethereum Unique Addresses</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56</a:t>
            </a:fld>
            <a:endParaRPr lang="en-US" dirty="0">
              <a:latin typeface="Candara" panose="020E0502030303020204" pitchFamily="34" charset="0"/>
            </a:endParaRPr>
          </a:p>
        </p:txBody>
      </p:sp>
      <p:sp>
        <p:nvSpPr>
          <p:cNvPr id="6" name="Rectangle 5"/>
          <p:cNvSpPr/>
          <p:nvPr/>
        </p:nvSpPr>
        <p:spPr>
          <a:xfrm>
            <a:off x="5501926" y="2830480"/>
            <a:ext cx="2215671" cy="261610"/>
          </a:xfrm>
          <a:prstGeom prst="rect">
            <a:avLst/>
          </a:prstGeom>
        </p:spPr>
        <p:txBody>
          <a:bodyPr wrap="none">
            <a:spAutoFit/>
          </a:bodyPr>
          <a:lstStyle/>
          <a:p>
            <a:r>
              <a:rPr lang="en-US" sz="1100" dirty="0">
                <a:latin typeface="Candara" panose="020E0502030303020204" pitchFamily="34" charset="0"/>
                <a:hlinkClick r:id="rId2"/>
              </a:rPr>
              <a:t>https://etherscan.io/chart/address</a:t>
            </a:r>
            <a:r>
              <a:rPr lang="en-US" sz="1100" dirty="0">
                <a:latin typeface="Candara" panose="020E0502030303020204" pitchFamily="34" charset="0"/>
              </a:rPr>
              <a:t> </a:t>
            </a:r>
          </a:p>
        </p:txBody>
      </p:sp>
      <p:sp>
        <p:nvSpPr>
          <p:cNvPr id="8" name="TextBox 7"/>
          <p:cNvSpPr txBox="1"/>
          <p:nvPr/>
        </p:nvSpPr>
        <p:spPr>
          <a:xfrm>
            <a:off x="662805" y="1080897"/>
            <a:ext cx="10483727" cy="830997"/>
          </a:xfrm>
          <a:prstGeom prst="rect">
            <a:avLst/>
          </a:prstGeom>
          <a:noFill/>
          <a:ln>
            <a:noFill/>
          </a:ln>
        </p:spPr>
        <p:txBody>
          <a:bodyPr wrap="square" rtlCol="0">
            <a:spAutoFit/>
          </a:bodyPr>
          <a:lstStyle/>
          <a:p>
            <a:pPr algn="ctr"/>
            <a:r>
              <a:rPr lang="en-US" sz="2400" dirty="0">
                <a:latin typeface="Candara" panose="020E0502030303020204" pitchFamily="34" charset="0"/>
              </a:rPr>
              <a:t>Is the requirement to keep track of all the account states makes Ethereum less efficient?</a:t>
            </a:r>
          </a:p>
        </p:txBody>
      </p:sp>
      <p:pic>
        <p:nvPicPr>
          <p:cNvPr id="3" name="Picture 2">
            <a:extLst>
              <a:ext uri="{FF2B5EF4-FFF2-40B4-BE49-F238E27FC236}">
                <a16:creationId xmlns:a16="http://schemas.microsoft.com/office/drawing/2014/main" id="{F859864F-6B54-9FD0-AD5A-A9B439ED793A}"/>
              </a:ext>
            </a:extLst>
          </p:cNvPr>
          <p:cNvPicPr>
            <a:picLocks noChangeAspect="1"/>
          </p:cNvPicPr>
          <p:nvPr/>
        </p:nvPicPr>
        <p:blipFill>
          <a:blip r:embed="rId3"/>
          <a:stretch>
            <a:fillRect/>
          </a:stretch>
        </p:blipFill>
        <p:spPr>
          <a:xfrm>
            <a:off x="2310063" y="2066416"/>
            <a:ext cx="7919791" cy="4356854"/>
          </a:xfrm>
          <a:prstGeom prst="rect">
            <a:avLst/>
          </a:prstGeom>
        </p:spPr>
      </p:pic>
    </p:spTree>
    <p:extLst>
      <p:ext uri="{BB962C8B-B14F-4D97-AF65-F5344CB8AC3E}">
        <p14:creationId xmlns:p14="http://schemas.microsoft.com/office/powerpoint/2010/main" val="873589304"/>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BC9EC38-0677-BF44-FCBF-F21322C89506}"/>
              </a:ext>
            </a:extLst>
          </p:cNvPr>
          <p:cNvPicPr>
            <a:picLocks noChangeAspect="1"/>
          </p:cNvPicPr>
          <p:nvPr/>
        </p:nvPicPr>
        <p:blipFill>
          <a:blip r:embed="rId2"/>
          <a:stretch>
            <a:fillRect/>
          </a:stretch>
        </p:blipFill>
        <p:spPr>
          <a:xfrm>
            <a:off x="3011802" y="1087120"/>
            <a:ext cx="6137916" cy="3419910"/>
          </a:xfrm>
          <a:prstGeom prst="rect">
            <a:avLst/>
          </a:prstGeom>
        </p:spPr>
      </p:pic>
      <p:sp>
        <p:nvSpPr>
          <p:cNvPr id="2" name="Title 1"/>
          <p:cNvSpPr>
            <a:spLocks noGrp="1"/>
          </p:cNvSpPr>
          <p:nvPr>
            <p:ph type="title"/>
          </p:nvPr>
        </p:nvSpPr>
        <p:spPr/>
        <p:txBody>
          <a:bodyPr/>
          <a:lstStyle/>
          <a:p>
            <a:r>
              <a:rPr lang="en-US" dirty="0"/>
              <a:t>Daily Active Ethereum Addresses</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57</a:t>
            </a:fld>
            <a:endParaRPr lang="en-US" dirty="0">
              <a:latin typeface="Candara" panose="020E0502030303020204" pitchFamily="34" charset="0"/>
            </a:endParaRPr>
          </a:p>
        </p:txBody>
      </p:sp>
      <p:sp>
        <p:nvSpPr>
          <p:cNvPr id="6" name="Rectangle 5"/>
          <p:cNvSpPr/>
          <p:nvPr/>
        </p:nvSpPr>
        <p:spPr>
          <a:xfrm>
            <a:off x="5625994" y="1188495"/>
            <a:ext cx="2598788" cy="261610"/>
          </a:xfrm>
          <a:prstGeom prst="rect">
            <a:avLst/>
          </a:prstGeom>
        </p:spPr>
        <p:txBody>
          <a:bodyPr wrap="none">
            <a:spAutoFit/>
          </a:bodyPr>
          <a:lstStyle/>
          <a:p>
            <a:r>
              <a:rPr lang="en-US" sz="1100" dirty="0">
                <a:latin typeface="Candara" panose="020E0502030303020204" pitchFamily="34" charset="0"/>
                <a:hlinkClick r:id="rId3"/>
              </a:rPr>
              <a:t>https://etherscan.io/chart/active-address</a:t>
            </a:r>
            <a:r>
              <a:rPr lang="en-US" sz="1100" dirty="0">
                <a:latin typeface="Candara" panose="020E0502030303020204" pitchFamily="34" charset="0"/>
              </a:rPr>
              <a:t> </a:t>
            </a:r>
          </a:p>
        </p:txBody>
      </p:sp>
      <p:sp>
        <p:nvSpPr>
          <p:cNvPr id="7" name="TextBox 6"/>
          <p:cNvSpPr txBox="1"/>
          <p:nvPr/>
        </p:nvSpPr>
        <p:spPr>
          <a:xfrm>
            <a:off x="661737" y="4800454"/>
            <a:ext cx="11012103" cy="1631216"/>
          </a:xfrm>
          <a:prstGeom prst="rect">
            <a:avLst/>
          </a:prstGeom>
          <a:noFill/>
          <a:ln>
            <a:noFill/>
          </a:ln>
        </p:spPr>
        <p:txBody>
          <a:bodyPr wrap="square" rtlCol="0">
            <a:spAutoFit/>
          </a:bodyPr>
          <a:lstStyle/>
          <a:p>
            <a:pPr marL="285750" indent="-285750">
              <a:buFont typeface="Arial" panose="020B0604020202020204" pitchFamily="34" charset="0"/>
              <a:buChar char="•"/>
            </a:pPr>
            <a:r>
              <a:rPr lang="en-US" sz="2000" dirty="0">
                <a:latin typeface="Candara" panose="020E0502030303020204" pitchFamily="34" charset="0"/>
              </a:rPr>
              <a:t>Daily active Ethereum addresses are only around 0.5 M to 0.8 M. This is just a small fraction of total Ethereum addresses (0.8/225)x100 = 0.355% </a:t>
            </a:r>
          </a:p>
          <a:p>
            <a:pPr marL="285750" indent="-285750">
              <a:buFont typeface="Arial" panose="020B0604020202020204" pitchFamily="34" charset="0"/>
              <a:buChar char="•"/>
            </a:pPr>
            <a:r>
              <a:rPr lang="en-US" sz="2000" dirty="0">
                <a:latin typeface="Candara" panose="020E0502030303020204" pitchFamily="34" charset="0"/>
              </a:rPr>
              <a:t>The number of accounts touched in a single block is even small (few hundred)</a:t>
            </a:r>
          </a:p>
          <a:p>
            <a:pPr marL="285750" indent="-285750">
              <a:buFont typeface="Arial" panose="020B0604020202020204" pitchFamily="34" charset="0"/>
              <a:buChar char="•"/>
            </a:pPr>
            <a:r>
              <a:rPr lang="en-US" sz="2000" dirty="0">
                <a:solidFill>
                  <a:srgbClr val="002060"/>
                </a:solidFill>
                <a:latin typeface="Candara" panose="020E0502030303020204" pitchFamily="34" charset="0"/>
              </a:rPr>
              <a:t>After every block only a small part of the tree needs to be changed. Thus, between two adjacent blocks the vast majority of the </a:t>
            </a:r>
            <a:r>
              <a:rPr lang="en-US" sz="2000" dirty="0" err="1">
                <a:solidFill>
                  <a:srgbClr val="002060"/>
                </a:solidFill>
                <a:latin typeface="Candara" panose="020E0502030303020204" pitchFamily="34" charset="0"/>
              </a:rPr>
              <a:t>trie</a:t>
            </a:r>
            <a:r>
              <a:rPr lang="en-US" sz="2000" dirty="0">
                <a:solidFill>
                  <a:srgbClr val="002060"/>
                </a:solidFill>
                <a:latin typeface="Candara" panose="020E0502030303020204" pitchFamily="34" charset="0"/>
              </a:rPr>
              <a:t> remains the same, which makes the problem manageable</a:t>
            </a:r>
          </a:p>
        </p:txBody>
      </p:sp>
    </p:spTree>
    <p:extLst>
      <p:ext uri="{BB962C8B-B14F-4D97-AF65-F5344CB8AC3E}">
        <p14:creationId xmlns:p14="http://schemas.microsoft.com/office/powerpoint/2010/main" val="358122767"/>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State Trie Update – Example</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58</a:t>
            </a:fld>
            <a:endParaRPr lang="en-US" dirty="0">
              <a:latin typeface="Candara" panose="020E0502030303020204" pitchFamily="34" charset="0"/>
            </a:endParaRPr>
          </a:p>
        </p:txBody>
      </p:sp>
      <p:sp>
        <p:nvSpPr>
          <p:cNvPr id="6" name="TextBox 5"/>
          <p:cNvSpPr txBox="1"/>
          <p:nvPr/>
        </p:nvSpPr>
        <p:spPr>
          <a:xfrm>
            <a:off x="1962751" y="5058475"/>
            <a:ext cx="4577766" cy="830997"/>
          </a:xfrm>
          <a:prstGeom prst="rect">
            <a:avLst/>
          </a:prstGeom>
          <a:noFill/>
          <a:ln>
            <a:noFill/>
          </a:ln>
        </p:spPr>
        <p:txBody>
          <a:bodyPr wrap="square" rtlCol="0">
            <a:spAutoFit/>
          </a:bodyPr>
          <a:lstStyle/>
          <a:p>
            <a:pPr algn="ctr"/>
            <a:r>
              <a:rPr lang="en-US" sz="1600" dirty="0">
                <a:latin typeface="Candara" panose="020E0502030303020204" pitchFamily="34" charset="0"/>
              </a:rPr>
              <a:t>Suppose a new (5</a:t>
            </a:r>
            <a:r>
              <a:rPr lang="en-US" sz="1600" baseline="30000" dirty="0">
                <a:latin typeface="Candara" panose="020E0502030303020204" pitchFamily="34" charset="0"/>
              </a:rPr>
              <a:t>th</a:t>
            </a:r>
            <a:r>
              <a:rPr lang="en-US" sz="1600" dirty="0">
                <a:latin typeface="Candara" panose="020E0502030303020204" pitchFamily="34" charset="0"/>
              </a:rPr>
              <a:t>) Ethereum account (0xa351234) is created in our simplified world state, and it receives 10 ETH from 0xa711355 account</a:t>
            </a:r>
          </a:p>
        </p:txBody>
      </p:sp>
      <p:graphicFrame>
        <p:nvGraphicFramePr>
          <p:cNvPr id="7" name="Table 6"/>
          <p:cNvGraphicFramePr>
            <a:graphicFrameLocks noGrp="1"/>
          </p:cNvGraphicFramePr>
          <p:nvPr/>
        </p:nvGraphicFramePr>
        <p:xfrm>
          <a:off x="7186865" y="4104689"/>
          <a:ext cx="3321579" cy="2346960"/>
        </p:xfrm>
        <a:graphic>
          <a:graphicData uri="http://schemas.openxmlformats.org/drawingml/2006/table">
            <a:tbl>
              <a:tblPr firstRow="1" bandRow="1">
                <a:tableStyleId>{5940675A-B579-460E-94D1-54222C63F5DA}</a:tableStyleId>
              </a:tblPr>
              <a:tblGrid>
                <a:gridCol w="347867">
                  <a:extLst>
                    <a:ext uri="{9D8B030D-6E8A-4147-A177-3AD203B41FA5}">
                      <a16:colId xmlns:a16="http://schemas.microsoft.com/office/drawing/2014/main" val="20000"/>
                    </a:ext>
                  </a:extLst>
                </a:gridCol>
                <a:gridCol w="353186">
                  <a:extLst>
                    <a:ext uri="{9D8B030D-6E8A-4147-A177-3AD203B41FA5}">
                      <a16:colId xmlns:a16="http://schemas.microsoft.com/office/drawing/2014/main" val="20001"/>
                    </a:ext>
                  </a:extLst>
                </a:gridCol>
                <a:gridCol w="353186">
                  <a:extLst>
                    <a:ext uri="{9D8B030D-6E8A-4147-A177-3AD203B41FA5}">
                      <a16:colId xmlns:a16="http://schemas.microsoft.com/office/drawing/2014/main" val="20002"/>
                    </a:ext>
                  </a:extLst>
                </a:gridCol>
                <a:gridCol w="356732">
                  <a:extLst>
                    <a:ext uri="{9D8B030D-6E8A-4147-A177-3AD203B41FA5}">
                      <a16:colId xmlns:a16="http://schemas.microsoft.com/office/drawing/2014/main" val="20003"/>
                    </a:ext>
                  </a:extLst>
                </a:gridCol>
                <a:gridCol w="353186">
                  <a:extLst>
                    <a:ext uri="{9D8B030D-6E8A-4147-A177-3AD203B41FA5}">
                      <a16:colId xmlns:a16="http://schemas.microsoft.com/office/drawing/2014/main" val="20004"/>
                    </a:ext>
                  </a:extLst>
                </a:gridCol>
                <a:gridCol w="353186">
                  <a:extLst>
                    <a:ext uri="{9D8B030D-6E8A-4147-A177-3AD203B41FA5}">
                      <a16:colId xmlns:a16="http://schemas.microsoft.com/office/drawing/2014/main" val="20005"/>
                    </a:ext>
                  </a:extLst>
                </a:gridCol>
                <a:gridCol w="353186">
                  <a:extLst>
                    <a:ext uri="{9D8B030D-6E8A-4147-A177-3AD203B41FA5}">
                      <a16:colId xmlns:a16="http://schemas.microsoft.com/office/drawing/2014/main" val="20006"/>
                    </a:ext>
                  </a:extLst>
                </a:gridCol>
                <a:gridCol w="851050">
                  <a:extLst>
                    <a:ext uri="{9D8B030D-6E8A-4147-A177-3AD203B41FA5}">
                      <a16:colId xmlns:a16="http://schemas.microsoft.com/office/drawing/2014/main" val="20007"/>
                    </a:ext>
                  </a:extLst>
                </a:gridCol>
              </a:tblGrid>
              <a:tr h="333892">
                <a:tc gridSpan="8">
                  <a:txBody>
                    <a:bodyPr/>
                    <a:lstStyle/>
                    <a:p>
                      <a:pPr algn="ctr"/>
                      <a:r>
                        <a:rPr lang="en-US" sz="1600" b="1" dirty="0"/>
                        <a:t>Simplified World State</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a:endParaRPr lang="en-US" sz="1600" b="1" dirty="0"/>
                    </a:p>
                  </a:txBody>
                  <a:tcPr/>
                </a:tc>
                <a:extLst>
                  <a:ext uri="{0D108BD9-81ED-4DB2-BD59-A6C34878D82A}">
                    <a16:rowId xmlns:a16="http://schemas.microsoft.com/office/drawing/2014/main" val="10000"/>
                  </a:ext>
                </a:extLst>
              </a:tr>
              <a:tr h="333892">
                <a:tc gridSpan="7">
                  <a:txBody>
                    <a:bodyPr/>
                    <a:lstStyle/>
                    <a:p>
                      <a:pPr algn="ctr"/>
                      <a:r>
                        <a:rPr lang="en-US" sz="1600" b="1" dirty="0"/>
                        <a:t>Account Keys</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a:txBody>
                    <a:bodyPr/>
                    <a:lstStyle/>
                    <a:p>
                      <a:pPr algn="ctr"/>
                      <a:r>
                        <a:rPr lang="en-US" sz="1600" b="1" dirty="0"/>
                        <a:t>Values</a:t>
                      </a:r>
                    </a:p>
                  </a:txBody>
                  <a:tcPr/>
                </a:tc>
                <a:extLst>
                  <a:ext uri="{0D108BD9-81ED-4DB2-BD59-A6C34878D82A}">
                    <a16:rowId xmlns:a16="http://schemas.microsoft.com/office/drawing/2014/main" val="10001"/>
                  </a:ext>
                </a:extLst>
              </a:tr>
              <a:tr h="333892">
                <a:tc>
                  <a:txBody>
                    <a:bodyPr/>
                    <a:lstStyle/>
                    <a:p>
                      <a:pPr algn="ctr"/>
                      <a:r>
                        <a:rPr lang="en-US" sz="1600" b="1" dirty="0">
                          <a:solidFill>
                            <a:schemeClr val="bg1"/>
                          </a:solidFill>
                        </a:rPr>
                        <a:t>a</a:t>
                      </a:r>
                    </a:p>
                  </a:txBody>
                  <a:tcPr>
                    <a:solidFill>
                      <a:schemeClr val="accent2"/>
                    </a:solidFill>
                  </a:tcPr>
                </a:tc>
                <a:tc>
                  <a:txBody>
                    <a:bodyPr/>
                    <a:lstStyle/>
                    <a:p>
                      <a:pPr algn="ctr"/>
                      <a:r>
                        <a:rPr lang="en-US" sz="1600" b="1" dirty="0">
                          <a:solidFill>
                            <a:schemeClr val="bg1"/>
                          </a:solidFill>
                        </a:rPr>
                        <a:t>3</a:t>
                      </a:r>
                    </a:p>
                  </a:txBody>
                  <a:tcPr>
                    <a:solidFill>
                      <a:schemeClr val="accent2"/>
                    </a:solidFill>
                  </a:tcPr>
                </a:tc>
                <a:tc>
                  <a:txBody>
                    <a:bodyPr/>
                    <a:lstStyle/>
                    <a:p>
                      <a:pPr algn="ctr"/>
                      <a:r>
                        <a:rPr lang="en-US" sz="1600" b="1" dirty="0">
                          <a:solidFill>
                            <a:schemeClr val="bg1"/>
                          </a:solidFill>
                        </a:rPr>
                        <a:t>5</a:t>
                      </a:r>
                    </a:p>
                  </a:txBody>
                  <a:tcPr>
                    <a:solidFill>
                      <a:schemeClr val="accent2"/>
                    </a:solidFill>
                  </a:tcPr>
                </a:tc>
                <a:tc>
                  <a:txBody>
                    <a:bodyPr/>
                    <a:lstStyle/>
                    <a:p>
                      <a:pPr algn="ctr"/>
                      <a:r>
                        <a:rPr lang="en-US" sz="1600" b="1" dirty="0">
                          <a:solidFill>
                            <a:schemeClr val="bg1"/>
                          </a:solidFill>
                        </a:rPr>
                        <a:t>1</a:t>
                      </a:r>
                    </a:p>
                  </a:txBody>
                  <a:tcPr>
                    <a:solidFill>
                      <a:schemeClr val="accent2"/>
                    </a:solidFill>
                  </a:tcPr>
                </a:tc>
                <a:tc>
                  <a:txBody>
                    <a:bodyPr/>
                    <a:lstStyle/>
                    <a:p>
                      <a:pPr algn="ctr"/>
                      <a:r>
                        <a:rPr lang="en-US" sz="1600" b="1" dirty="0">
                          <a:solidFill>
                            <a:schemeClr val="bg1"/>
                          </a:solidFill>
                        </a:rPr>
                        <a:t>2</a:t>
                      </a:r>
                    </a:p>
                  </a:txBody>
                  <a:tcPr>
                    <a:solidFill>
                      <a:schemeClr val="accent2"/>
                    </a:solidFill>
                  </a:tcPr>
                </a:tc>
                <a:tc>
                  <a:txBody>
                    <a:bodyPr/>
                    <a:lstStyle/>
                    <a:p>
                      <a:pPr algn="ctr"/>
                      <a:r>
                        <a:rPr lang="en-US" sz="1600" b="1" dirty="0">
                          <a:solidFill>
                            <a:schemeClr val="bg1"/>
                          </a:solidFill>
                        </a:rPr>
                        <a:t>3</a:t>
                      </a:r>
                    </a:p>
                  </a:txBody>
                  <a:tcPr>
                    <a:solidFill>
                      <a:schemeClr val="accent2"/>
                    </a:solidFill>
                  </a:tcPr>
                </a:tc>
                <a:tc>
                  <a:txBody>
                    <a:bodyPr/>
                    <a:lstStyle/>
                    <a:p>
                      <a:pPr algn="ctr"/>
                      <a:r>
                        <a:rPr lang="en-US" sz="1600" b="1" dirty="0">
                          <a:solidFill>
                            <a:schemeClr val="bg1"/>
                          </a:solidFill>
                        </a:rPr>
                        <a:t>4</a:t>
                      </a:r>
                    </a:p>
                  </a:txBody>
                  <a:tcPr>
                    <a:solidFill>
                      <a:schemeClr val="accent2"/>
                    </a:solidFill>
                  </a:tcPr>
                </a:tc>
                <a:tc>
                  <a:txBody>
                    <a:bodyPr/>
                    <a:lstStyle/>
                    <a:p>
                      <a:pPr algn="ctr"/>
                      <a:r>
                        <a:rPr lang="en-US" sz="1400" b="1" dirty="0">
                          <a:solidFill>
                            <a:schemeClr val="bg1"/>
                          </a:solidFill>
                        </a:rPr>
                        <a:t>10.0 ETH</a:t>
                      </a:r>
                    </a:p>
                  </a:txBody>
                  <a:tcPr>
                    <a:solidFill>
                      <a:schemeClr val="accent2"/>
                    </a:solidFill>
                  </a:tcPr>
                </a:tc>
                <a:extLst>
                  <a:ext uri="{0D108BD9-81ED-4DB2-BD59-A6C34878D82A}">
                    <a16:rowId xmlns:a16="http://schemas.microsoft.com/office/drawing/2014/main" val="10002"/>
                  </a:ext>
                </a:extLst>
              </a:tr>
              <a:tr h="333892">
                <a:tc>
                  <a:txBody>
                    <a:bodyPr/>
                    <a:lstStyle/>
                    <a:p>
                      <a:pPr algn="ctr"/>
                      <a:r>
                        <a:rPr lang="en-US" sz="1600" b="1" dirty="0"/>
                        <a:t>a</a:t>
                      </a:r>
                    </a:p>
                  </a:txBody>
                  <a:tcPr>
                    <a:solidFill>
                      <a:schemeClr val="bg1">
                        <a:lumMod val="95000"/>
                      </a:schemeClr>
                    </a:solidFill>
                  </a:tcPr>
                </a:tc>
                <a:tc>
                  <a:txBody>
                    <a:bodyPr/>
                    <a:lstStyle/>
                    <a:p>
                      <a:pPr algn="ctr"/>
                      <a:r>
                        <a:rPr lang="en-US" sz="1600" b="1" dirty="0"/>
                        <a:t>7</a:t>
                      </a:r>
                    </a:p>
                  </a:txBody>
                  <a:tcPr>
                    <a:solidFill>
                      <a:schemeClr val="bg1">
                        <a:lumMod val="95000"/>
                      </a:schemeClr>
                    </a:solidFill>
                  </a:tcPr>
                </a:tc>
                <a:tc>
                  <a:txBody>
                    <a:bodyPr/>
                    <a:lstStyle/>
                    <a:p>
                      <a:pPr algn="ctr"/>
                      <a:r>
                        <a:rPr lang="en-US" sz="1600" b="1" dirty="0"/>
                        <a:t>1</a:t>
                      </a:r>
                    </a:p>
                  </a:txBody>
                  <a:tcPr>
                    <a:solidFill>
                      <a:schemeClr val="bg1">
                        <a:lumMod val="95000"/>
                      </a:schemeClr>
                    </a:solidFill>
                  </a:tcPr>
                </a:tc>
                <a:tc>
                  <a:txBody>
                    <a:bodyPr/>
                    <a:lstStyle/>
                    <a:p>
                      <a:pPr algn="ctr"/>
                      <a:r>
                        <a:rPr lang="en-US" sz="1600" b="1" dirty="0"/>
                        <a:t>1</a:t>
                      </a:r>
                    </a:p>
                  </a:txBody>
                  <a:tcPr>
                    <a:solidFill>
                      <a:schemeClr val="bg1">
                        <a:lumMod val="95000"/>
                      </a:schemeClr>
                    </a:solidFill>
                  </a:tcPr>
                </a:tc>
                <a:tc>
                  <a:txBody>
                    <a:bodyPr/>
                    <a:lstStyle/>
                    <a:p>
                      <a:pPr algn="ctr"/>
                      <a:r>
                        <a:rPr lang="en-US" sz="1600" b="1" dirty="0"/>
                        <a:t>3</a:t>
                      </a:r>
                    </a:p>
                  </a:txBody>
                  <a:tcPr>
                    <a:solidFill>
                      <a:schemeClr val="bg1">
                        <a:lumMod val="95000"/>
                      </a:schemeClr>
                    </a:solidFill>
                  </a:tcPr>
                </a:tc>
                <a:tc>
                  <a:txBody>
                    <a:bodyPr/>
                    <a:lstStyle/>
                    <a:p>
                      <a:pPr algn="ctr"/>
                      <a:r>
                        <a:rPr lang="en-US" sz="1600" b="1" dirty="0"/>
                        <a:t>5</a:t>
                      </a:r>
                    </a:p>
                  </a:txBody>
                  <a:tcPr>
                    <a:solidFill>
                      <a:schemeClr val="bg1">
                        <a:lumMod val="95000"/>
                      </a:schemeClr>
                    </a:solidFill>
                  </a:tcPr>
                </a:tc>
                <a:tc>
                  <a:txBody>
                    <a:bodyPr/>
                    <a:lstStyle/>
                    <a:p>
                      <a:pPr algn="ctr"/>
                      <a:r>
                        <a:rPr lang="en-US" sz="1600" b="1" dirty="0"/>
                        <a:t>5</a:t>
                      </a:r>
                    </a:p>
                  </a:txBody>
                  <a:tcPr>
                    <a:solidFill>
                      <a:schemeClr val="bg1">
                        <a:lumMod val="95000"/>
                      </a:schemeClr>
                    </a:solidFill>
                  </a:tcPr>
                </a:tc>
                <a:tc>
                  <a:txBody>
                    <a:bodyPr/>
                    <a:lstStyle/>
                    <a:p>
                      <a:pPr algn="ctr"/>
                      <a:r>
                        <a:rPr lang="en-US" sz="1400" b="1" dirty="0"/>
                        <a:t>35.0 ETH</a:t>
                      </a:r>
                    </a:p>
                  </a:txBody>
                  <a:tcPr>
                    <a:solidFill>
                      <a:schemeClr val="bg1">
                        <a:lumMod val="95000"/>
                      </a:schemeClr>
                    </a:solidFill>
                  </a:tcPr>
                </a:tc>
                <a:extLst>
                  <a:ext uri="{0D108BD9-81ED-4DB2-BD59-A6C34878D82A}">
                    <a16:rowId xmlns:a16="http://schemas.microsoft.com/office/drawing/2014/main" val="10003"/>
                  </a:ext>
                </a:extLst>
              </a:tr>
              <a:tr h="333892">
                <a:tc>
                  <a:txBody>
                    <a:bodyPr/>
                    <a:lstStyle/>
                    <a:p>
                      <a:pPr algn="ctr"/>
                      <a:r>
                        <a:rPr lang="en-US" sz="1600" b="1" dirty="0"/>
                        <a:t>a</a:t>
                      </a:r>
                    </a:p>
                  </a:txBody>
                  <a:tcPr>
                    <a:solidFill>
                      <a:schemeClr val="accent1">
                        <a:lumMod val="20000"/>
                        <a:lumOff val="80000"/>
                      </a:schemeClr>
                    </a:solidFill>
                  </a:tcPr>
                </a:tc>
                <a:tc>
                  <a:txBody>
                    <a:bodyPr/>
                    <a:lstStyle/>
                    <a:p>
                      <a:pPr algn="ctr"/>
                      <a:r>
                        <a:rPr lang="en-US" sz="1600" b="1" dirty="0"/>
                        <a:t>7</a:t>
                      </a:r>
                    </a:p>
                  </a:txBody>
                  <a:tcPr>
                    <a:solidFill>
                      <a:schemeClr val="accent1">
                        <a:lumMod val="20000"/>
                        <a:lumOff val="80000"/>
                      </a:schemeClr>
                    </a:solidFill>
                  </a:tcPr>
                </a:tc>
                <a:tc>
                  <a:txBody>
                    <a:bodyPr/>
                    <a:lstStyle/>
                    <a:p>
                      <a:pPr algn="ctr"/>
                      <a:r>
                        <a:rPr lang="en-US" sz="1600" b="1" dirty="0"/>
                        <a:t>7</a:t>
                      </a:r>
                    </a:p>
                  </a:txBody>
                  <a:tcPr>
                    <a:solidFill>
                      <a:schemeClr val="accent1">
                        <a:lumMod val="20000"/>
                        <a:lumOff val="80000"/>
                      </a:schemeClr>
                    </a:solidFill>
                  </a:tcPr>
                </a:tc>
                <a:tc>
                  <a:txBody>
                    <a:bodyPr/>
                    <a:lstStyle/>
                    <a:p>
                      <a:pPr algn="ctr"/>
                      <a:r>
                        <a:rPr lang="en-US" sz="1600" b="1" dirty="0"/>
                        <a:t>d</a:t>
                      </a:r>
                    </a:p>
                  </a:txBody>
                  <a:tcPr>
                    <a:solidFill>
                      <a:schemeClr val="accent1">
                        <a:lumMod val="20000"/>
                        <a:lumOff val="80000"/>
                      </a:schemeClr>
                    </a:solidFill>
                  </a:tcPr>
                </a:tc>
                <a:tc>
                  <a:txBody>
                    <a:bodyPr/>
                    <a:lstStyle/>
                    <a:p>
                      <a:pPr algn="ctr"/>
                      <a:r>
                        <a:rPr lang="en-US" sz="1600" b="1" dirty="0"/>
                        <a:t>3</a:t>
                      </a:r>
                    </a:p>
                  </a:txBody>
                  <a:tcPr>
                    <a:solidFill>
                      <a:schemeClr val="accent1">
                        <a:lumMod val="20000"/>
                        <a:lumOff val="80000"/>
                      </a:schemeClr>
                    </a:solidFill>
                  </a:tcPr>
                </a:tc>
                <a:tc>
                  <a:txBody>
                    <a:bodyPr/>
                    <a:lstStyle/>
                    <a:p>
                      <a:pPr algn="ctr"/>
                      <a:r>
                        <a:rPr lang="en-US" sz="1600" b="1" dirty="0"/>
                        <a:t>3</a:t>
                      </a:r>
                    </a:p>
                  </a:txBody>
                  <a:tcPr>
                    <a:solidFill>
                      <a:schemeClr val="accent1">
                        <a:lumMod val="20000"/>
                        <a:lumOff val="80000"/>
                      </a:schemeClr>
                    </a:solidFill>
                  </a:tcPr>
                </a:tc>
                <a:tc>
                  <a:txBody>
                    <a:bodyPr/>
                    <a:lstStyle/>
                    <a:p>
                      <a:pPr algn="ctr"/>
                      <a:r>
                        <a:rPr lang="en-US" sz="1600" b="1" dirty="0"/>
                        <a:t>7</a:t>
                      </a:r>
                    </a:p>
                  </a:txBody>
                  <a:tcPr>
                    <a:solidFill>
                      <a:schemeClr val="accent1">
                        <a:lumMod val="20000"/>
                        <a:lumOff val="80000"/>
                      </a:schemeClr>
                    </a:solidFill>
                  </a:tcPr>
                </a:tc>
                <a:tc>
                  <a:txBody>
                    <a:bodyPr/>
                    <a:lstStyle/>
                    <a:p>
                      <a:pPr algn="ctr"/>
                      <a:r>
                        <a:rPr lang="en-US" sz="1400" b="1" dirty="0"/>
                        <a:t>1.00 WEI</a:t>
                      </a:r>
                    </a:p>
                  </a:txBody>
                  <a:tcPr>
                    <a:solidFill>
                      <a:schemeClr val="accent1">
                        <a:lumMod val="20000"/>
                        <a:lumOff val="80000"/>
                      </a:schemeClr>
                    </a:solidFill>
                  </a:tcPr>
                </a:tc>
                <a:extLst>
                  <a:ext uri="{0D108BD9-81ED-4DB2-BD59-A6C34878D82A}">
                    <a16:rowId xmlns:a16="http://schemas.microsoft.com/office/drawing/2014/main" val="10004"/>
                  </a:ext>
                </a:extLst>
              </a:tr>
              <a:tr h="333892">
                <a:tc>
                  <a:txBody>
                    <a:bodyPr/>
                    <a:lstStyle/>
                    <a:p>
                      <a:pPr algn="ctr"/>
                      <a:r>
                        <a:rPr lang="en-US" sz="1600" b="1" kern="1200" dirty="0">
                          <a:solidFill>
                            <a:schemeClr val="tx1"/>
                          </a:solidFill>
                          <a:latin typeface="+mn-lt"/>
                          <a:ea typeface="+mn-ea"/>
                          <a:cs typeface="+mn-cs"/>
                        </a:rPr>
                        <a:t>a</a:t>
                      </a:r>
                    </a:p>
                  </a:txBody>
                  <a:tcPr>
                    <a:solidFill>
                      <a:schemeClr val="accent6">
                        <a:lumMod val="20000"/>
                        <a:lumOff val="80000"/>
                      </a:schemeClr>
                    </a:solidFill>
                  </a:tcPr>
                </a:tc>
                <a:tc>
                  <a:txBody>
                    <a:bodyPr/>
                    <a:lstStyle/>
                    <a:p>
                      <a:pPr algn="ctr"/>
                      <a:r>
                        <a:rPr lang="en-US" sz="1600" b="1" kern="1200" dirty="0">
                          <a:solidFill>
                            <a:schemeClr val="tx1"/>
                          </a:solidFill>
                          <a:latin typeface="+mn-lt"/>
                          <a:ea typeface="+mn-ea"/>
                          <a:cs typeface="+mn-cs"/>
                        </a:rPr>
                        <a:t>7</a:t>
                      </a:r>
                    </a:p>
                  </a:txBody>
                  <a:tcPr>
                    <a:solidFill>
                      <a:schemeClr val="accent6">
                        <a:lumMod val="20000"/>
                        <a:lumOff val="80000"/>
                      </a:schemeClr>
                    </a:solidFill>
                  </a:tcPr>
                </a:tc>
                <a:tc>
                  <a:txBody>
                    <a:bodyPr/>
                    <a:lstStyle/>
                    <a:p>
                      <a:pPr algn="ctr"/>
                      <a:r>
                        <a:rPr lang="en-US" sz="1600" b="1" kern="1200" dirty="0">
                          <a:solidFill>
                            <a:schemeClr val="tx1"/>
                          </a:solidFill>
                          <a:latin typeface="+mn-lt"/>
                          <a:ea typeface="+mn-ea"/>
                          <a:cs typeface="+mn-cs"/>
                        </a:rPr>
                        <a:t>f</a:t>
                      </a:r>
                    </a:p>
                  </a:txBody>
                  <a:tcPr>
                    <a:solidFill>
                      <a:schemeClr val="accent6">
                        <a:lumMod val="20000"/>
                        <a:lumOff val="80000"/>
                      </a:schemeClr>
                    </a:solidFill>
                  </a:tcPr>
                </a:tc>
                <a:tc>
                  <a:txBody>
                    <a:bodyPr/>
                    <a:lstStyle/>
                    <a:p>
                      <a:pPr algn="ctr"/>
                      <a:r>
                        <a:rPr lang="en-US" sz="1600" b="1" kern="1200" dirty="0">
                          <a:solidFill>
                            <a:schemeClr val="tx1"/>
                          </a:solidFill>
                          <a:latin typeface="+mn-lt"/>
                          <a:ea typeface="+mn-ea"/>
                          <a:cs typeface="+mn-cs"/>
                        </a:rPr>
                        <a:t>9</a:t>
                      </a:r>
                    </a:p>
                  </a:txBody>
                  <a:tcPr>
                    <a:solidFill>
                      <a:schemeClr val="accent6">
                        <a:lumMod val="20000"/>
                        <a:lumOff val="80000"/>
                      </a:schemeClr>
                    </a:solidFill>
                  </a:tcPr>
                </a:tc>
                <a:tc>
                  <a:txBody>
                    <a:bodyPr/>
                    <a:lstStyle/>
                    <a:p>
                      <a:pPr algn="ctr"/>
                      <a:r>
                        <a:rPr lang="en-US" sz="1600" b="1" kern="1200" dirty="0">
                          <a:solidFill>
                            <a:schemeClr val="tx1"/>
                          </a:solidFill>
                          <a:latin typeface="+mn-lt"/>
                          <a:ea typeface="+mn-ea"/>
                          <a:cs typeface="+mn-cs"/>
                        </a:rPr>
                        <a:t>3</a:t>
                      </a:r>
                    </a:p>
                  </a:txBody>
                  <a:tcPr>
                    <a:solidFill>
                      <a:schemeClr val="accent6">
                        <a:lumMod val="20000"/>
                        <a:lumOff val="80000"/>
                      </a:schemeClr>
                    </a:solidFill>
                  </a:tcPr>
                </a:tc>
                <a:tc>
                  <a:txBody>
                    <a:bodyPr/>
                    <a:lstStyle/>
                    <a:p>
                      <a:pPr algn="ctr"/>
                      <a:r>
                        <a:rPr lang="en-US" sz="1600" b="1" kern="1200" dirty="0">
                          <a:solidFill>
                            <a:schemeClr val="tx1"/>
                          </a:solidFill>
                          <a:latin typeface="+mn-lt"/>
                          <a:ea typeface="+mn-ea"/>
                          <a:cs typeface="+mn-cs"/>
                        </a:rPr>
                        <a:t>6</a:t>
                      </a:r>
                    </a:p>
                  </a:txBody>
                  <a:tcPr>
                    <a:solidFill>
                      <a:schemeClr val="accent6">
                        <a:lumMod val="20000"/>
                        <a:lumOff val="80000"/>
                      </a:schemeClr>
                    </a:solidFill>
                  </a:tcPr>
                </a:tc>
                <a:tc>
                  <a:txBody>
                    <a:bodyPr/>
                    <a:lstStyle/>
                    <a:p>
                      <a:pPr algn="ctr"/>
                      <a:r>
                        <a:rPr lang="en-US" sz="1600" b="1" kern="1200" dirty="0">
                          <a:solidFill>
                            <a:schemeClr val="tx1"/>
                          </a:solidFill>
                          <a:latin typeface="+mn-lt"/>
                          <a:ea typeface="+mn-ea"/>
                          <a:cs typeface="+mn-cs"/>
                        </a:rPr>
                        <a:t>5</a:t>
                      </a:r>
                    </a:p>
                  </a:txBody>
                  <a:tcPr>
                    <a:solidFill>
                      <a:schemeClr val="accent6">
                        <a:lumMod val="20000"/>
                        <a:lumOff val="80000"/>
                      </a:schemeClr>
                    </a:solidFill>
                  </a:tcPr>
                </a:tc>
                <a:tc>
                  <a:txBody>
                    <a:bodyPr/>
                    <a:lstStyle/>
                    <a:p>
                      <a:pPr algn="ctr"/>
                      <a:r>
                        <a:rPr lang="en-US" sz="1600" b="1" kern="1200" dirty="0">
                          <a:solidFill>
                            <a:schemeClr val="tx1"/>
                          </a:solidFill>
                          <a:latin typeface="+mn-lt"/>
                          <a:ea typeface="+mn-ea"/>
                          <a:cs typeface="+mn-cs"/>
                        </a:rPr>
                        <a:t>1.1 ETH</a:t>
                      </a:r>
                    </a:p>
                  </a:txBody>
                  <a:tcPr>
                    <a:solidFill>
                      <a:schemeClr val="accent6">
                        <a:lumMod val="20000"/>
                        <a:lumOff val="80000"/>
                      </a:schemeClr>
                    </a:solidFill>
                  </a:tcPr>
                </a:tc>
                <a:extLst>
                  <a:ext uri="{0D108BD9-81ED-4DB2-BD59-A6C34878D82A}">
                    <a16:rowId xmlns:a16="http://schemas.microsoft.com/office/drawing/2014/main" val="10005"/>
                  </a:ext>
                </a:extLst>
              </a:tr>
              <a:tr h="333892">
                <a:tc>
                  <a:txBody>
                    <a:bodyPr/>
                    <a:lstStyle/>
                    <a:p>
                      <a:pPr algn="ctr"/>
                      <a:r>
                        <a:rPr lang="en-US" sz="1600" b="1" dirty="0"/>
                        <a:t>a</a:t>
                      </a:r>
                    </a:p>
                  </a:txBody>
                  <a:tcPr>
                    <a:solidFill>
                      <a:schemeClr val="accent4">
                        <a:lumMod val="20000"/>
                        <a:lumOff val="80000"/>
                      </a:schemeClr>
                    </a:solidFill>
                  </a:tcPr>
                </a:tc>
                <a:tc>
                  <a:txBody>
                    <a:bodyPr/>
                    <a:lstStyle/>
                    <a:p>
                      <a:pPr algn="ctr"/>
                      <a:r>
                        <a:rPr lang="en-US" sz="1600" b="1" dirty="0"/>
                        <a:t>7</a:t>
                      </a:r>
                    </a:p>
                  </a:txBody>
                  <a:tcPr>
                    <a:solidFill>
                      <a:schemeClr val="accent4">
                        <a:lumMod val="20000"/>
                        <a:lumOff val="80000"/>
                      </a:schemeClr>
                    </a:solidFill>
                  </a:tcPr>
                </a:tc>
                <a:tc>
                  <a:txBody>
                    <a:bodyPr/>
                    <a:lstStyle/>
                    <a:p>
                      <a:pPr algn="ctr"/>
                      <a:r>
                        <a:rPr lang="en-US" sz="1600" b="1" dirty="0"/>
                        <a:t>7</a:t>
                      </a:r>
                    </a:p>
                  </a:txBody>
                  <a:tcPr>
                    <a:solidFill>
                      <a:schemeClr val="accent4">
                        <a:lumMod val="20000"/>
                        <a:lumOff val="80000"/>
                      </a:schemeClr>
                    </a:solidFill>
                  </a:tcPr>
                </a:tc>
                <a:tc>
                  <a:txBody>
                    <a:bodyPr/>
                    <a:lstStyle/>
                    <a:p>
                      <a:pPr algn="ctr"/>
                      <a:r>
                        <a:rPr lang="en-US" sz="1600" b="1" dirty="0"/>
                        <a:t>d</a:t>
                      </a:r>
                    </a:p>
                  </a:txBody>
                  <a:tcPr>
                    <a:solidFill>
                      <a:schemeClr val="accent4">
                        <a:lumMod val="20000"/>
                        <a:lumOff val="80000"/>
                      </a:schemeClr>
                    </a:solidFill>
                  </a:tcPr>
                </a:tc>
                <a:tc>
                  <a:txBody>
                    <a:bodyPr/>
                    <a:lstStyle/>
                    <a:p>
                      <a:pPr algn="ctr"/>
                      <a:r>
                        <a:rPr lang="en-US" sz="1600" b="1" dirty="0"/>
                        <a:t>3</a:t>
                      </a:r>
                    </a:p>
                  </a:txBody>
                  <a:tcPr>
                    <a:solidFill>
                      <a:schemeClr val="accent4">
                        <a:lumMod val="20000"/>
                        <a:lumOff val="80000"/>
                      </a:schemeClr>
                    </a:solidFill>
                  </a:tcPr>
                </a:tc>
                <a:tc>
                  <a:txBody>
                    <a:bodyPr/>
                    <a:lstStyle/>
                    <a:p>
                      <a:pPr algn="ctr"/>
                      <a:r>
                        <a:rPr lang="en-US" sz="1600" b="1" dirty="0"/>
                        <a:t>9</a:t>
                      </a:r>
                    </a:p>
                  </a:txBody>
                  <a:tcPr>
                    <a:solidFill>
                      <a:schemeClr val="accent4">
                        <a:lumMod val="20000"/>
                        <a:lumOff val="80000"/>
                      </a:schemeClr>
                    </a:solidFill>
                  </a:tcPr>
                </a:tc>
                <a:tc>
                  <a:txBody>
                    <a:bodyPr/>
                    <a:lstStyle/>
                    <a:p>
                      <a:pPr algn="ctr"/>
                      <a:r>
                        <a:rPr lang="en-US" sz="1600" b="1" dirty="0"/>
                        <a:t>7</a:t>
                      </a:r>
                    </a:p>
                  </a:txBody>
                  <a:tcPr>
                    <a:solidFill>
                      <a:schemeClr val="accent4">
                        <a:lumMod val="20000"/>
                        <a:lumOff val="80000"/>
                      </a:schemeClr>
                    </a:solidFill>
                  </a:tcPr>
                </a:tc>
                <a:tc>
                  <a:txBody>
                    <a:bodyPr/>
                    <a:lstStyle/>
                    <a:p>
                      <a:pPr algn="ctr"/>
                      <a:r>
                        <a:rPr lang="en-US" sz="1400" b="1" dirty="0"/>
                        <a:t>0.12 ETH</a:t>
                      </a:r>
                    </a:p>
                  </a:txBody>
                  <a:tcPr>
                    <a:solidFill>
                      <a:schemeClr val="accent4">
                        <a:lumMod val="20000"/>
                        <a:lumOff val="80000"/>
                      </a:schemeClr>
                    </a:solidFill>
                  </a:tcPr>
                </a:tc>
                <a:extLst>
                  <a:ext uri="{0D108BD9-81ED-4DB2-BD59-A6C34878D82A}">
                    <a16:rowId xmlns:a16="http://schemas.microsoft.com/office/drawing/2014/main" val="10006"/>
                  </a:ext>
                </a:extLst>
              </a:tr>
            </a:tbl>
          </a:graphicData>
        </a:graphic>
      </p:graphicFrame>
      <p:cxnSp>
        <p:nvCxnSpPr>
          <p:cNvPr id="9" name="Straight Arrow Connector 8"/>
          <p:cNvCxnSpPr>
            <a:cxnSpLocks/>
            <a:stCxn id="6" idx="3"/>
          </p:cNvCxnSpPr>
          <p:nvPr/>
        </p:nvCxnSpPr>
        <p:spPr>
          <a:xfrm flipV="1">
            <a:off x="6540517" y="5069999"/>
            <a:ext cx="598220" cy="403975"/>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2"/>
          <a:stretch>
            <a:fillRect/>
          </a:stretch>
        </p:blipFill>
        <p:spPr>
          <a:xfrm>
            <a:off x="1962750" y="1229315"/>
            <a:ext cx="4734828" cy="3641186"/>
          </a:xfrm>
          <a:prstGeom prst="rect">
            <a:avLst/>
          </a:prstGeom>
          <a:ln>
            <a:solidFill>
              <a:schemeClr val="tx1"/>
            </a:solidFill>
          </a:ln>
        </p:spPr>
      </p:pic>
      <p:pic>
        <p:nvPicPr>
          <p:cNvPr id="12" name="Picture 11"/>
          <p:cNvPicPr>
            <a:picLocks noChangeAspect="1"/>
          </p:cNvPicPr>
          <p:nvPr/>
        </p:nvPicPr>
        <p:blipFill>
          <a:blip r:embed="rId3"/>
          <a:stretch>
            <a:fillRect/>
          </a:stretch>
        </p:blipFill>
        <p:spPr>
          <a:xfrm>
            <a:off x="7588779" y="1419659"/>
            <a:ext cx="2871537" cy="1741634"/>
          </a:xfrm>
          <a:prstGeom prst="rect">
            <a:avLst/>
          </a:prstGeom>
        </p:spPr>
      </p:pic>
      <p:cxnSp>
        <p:nvCxnSpPr>
          <p:cNvPr id="13" name="Straight Arrow Connector 12"/>
          <p:cNvCxnSpPr>
            <a:stCxn id="12" idx="1"/>
          </p:cNvCxnSpPr>
          <p:nvPr/>
        </p:nvCxnSpPr>
        <p:spPr>
          <a:xfrm flipH="1">
            <a:off x="6697578" y="2290476"/>
            <a:ext cx="891200" cy="0"/>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436281" y="6104424"/>
            <a:ext cx="2947813" cy="369332"/>
          </a:xfrm>
          <a:prstGeom prst="rect">
            <a:avLst/>
          </a:prstGeom>
          <a:solidFill>
            <a:schemeClr val="bg1">
              <a:lumMod val="95000"/>
            </a:schemeClr>
          </a:solidFill>
          <a:ln>
            <a:solidFill>
              <a:schemeClr val="tx1"/>
            </a:solidFill>
          </a:ln>
        </p:spPr>
        <p:txBody>
          <a:bodyPr wrap="square" rtlCol="0">
            <a:spAutoFit/>
          </a:bodyPr>
          <a:lstStyle/>
          <a:p>
            <a:pPr algn="ctr"/>
            <a:r>
              <a:rPr lang="en-US" dirty="0">
                <a:latin typeface="Candara" panose="020E0502030303020204" pitchFamily="34" charset="0"/>
              </a:rPr>
              <a:t>Create a new state </a:t>
            </a:r>
            <a:r>
              <a:rPr lang="en-US" dirty="0" err="1">
                <a:latin typeface="Candara" panose="020E0502030303020204" pitchFamily="34" charset="0"/>
              </a:rPr>
              <a:t>trie</a:t>
            </a:r>
            <a:r>
              <a:rPr lang="en-US" dirty="0">
                <a:latin typeface="Candara" panose="020E0502030303020204" pitchFamily="34" charset="0"/>
              </a:rPr>
              <a:t>?</a:t>
            </a:r>
          </a:p>
        </p:txBody>
      </p:sp>
    </p:spTree>
    <p:extLst>
      <p:ext uri="{BB962C8B-B14F-4D97-AF65-F5344CB8AC3E}">
        <p14:creationId xmlns:p14="http://schemas.microsoft.com/office/powerpoint/2010/main" val="2698100077"/>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0"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State Trie Update – Example</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59</a:t>
            </a:fld>
            <a:endParaRPr lang="en-US" dirty="0">
              <a:latin typeface="Candara" panose="020E0502030303020204" pitchFamily="34" charset="0"/>
            </a:endParaRPr>
          </a:p>
        </p:txBody>
      </p:sp>
      <p:graphicFrame>
        <p:nvGraphicFramePr>
          <p:cNvPr id="5" name="Table 4"/>
          <p:cNvGraphicFramePr>
            <a:graphicFrameLocks noGrp="1"/>
          </p:cNvGraphicFramePr>
          <p:nvPr/>
        </p:nvGraphicFramePr>
        <p:xfrm>
          <a:off x="1764632" y="1285290"/>
          <a:ext cx="3321579" cy="2346960"/>
        </p:xfrm>
        <a:graphic>
          <a:graphicData uri="http://schemas.openxmlformats.org/drawingml/2006/table">
            <a:tbl>
              <a:tblPr firstRow="1" bandRow="1">
                <a:tableStyleId>{5940675A-B579-460E-94D1-54222C63F5DA}</a:tableStyleId>
              </a:tblPr>
              <a:tblGrid>
                <a:gridCol w="347867">
                  <a:extLst>
                    <a:ext uri="{9D8B030D-6E8A-4147-A177-3AD203B41FA5}">
                      <a16:colId xmlns:a16="http://schemas.microsoft.com/office/drawing/2014/main" val="20000"/>
                    </a:ext>
                  </a:extLst>
                </a:gridCol>
                <a:gridCol w="353186">
                  <a:extLst>
                    <a:ext uri="{9D8B030D-6E8A-4147-A177-3AD203B41FA5}">
                      <a16:colId xmlns:a16="http://schemas.microsoft.com/office/drawing/2014/main" val="20001"/>
                    </a:ext>
                  </a:extLst>
                </a:gridCol>
                <a:gridCol w="353186">
                  <a:extLst>
                    <a:ext uri="{9D8B030D-6E8A-4147-A177-3AD203B41FA5}">
                      <a16:colId xmlns:a16="http://schemas.microsoft.com/office/drawing/2014/main" val="20002"/>
                    </a:ext>
                  </a:extLst>
                </a:gridCol>
                <a:gridCol w="356732">
                  <a:extLst>
                    <a:ext uri="{9D8B030D-6E8A-4147-A177-3AD203B41FA5}">
                      <a16:colId xmlns:a16="http://schemas.microsoft.com/office/drawing/2014/main" val="20003"/>
                    </a:ext>
                  </a:extLst>
                </a:gridCol>
                <a:gridCol w="353186">
                  <a:extLst>
                    <a:ext uri="{9D8B030D-6E8A-4147-A177-3AD203B41FA5}">
                      <a16:colId xmlns:a16="http://schemas.microsoft.com/office/drawing/2014/main" val="20004"/>
                    </a:ext>
                  </a:extLst>
                </a:gridCol>
                <a:gridCol w="353186">
                  <a:extLst>
                    <a:ext uri="{9D8B030D-6E8A-4147-A177-3AD203B41FA5}">
                      <a16:colId xmlns:a16="http://schemas.microsoft.com/office/drawing/2014/main" val="20005"/>
                    </a:ext>
                  </a:extLst>
                </a:gridCol>
                <a:gridCol w="353186">
                  <a:extLst>
                    <a:ext uri="{9D8B030D-6E8A-4147-A177-3AD203B41FA5}">
                      <a16:colId xmlns:a16="http://schemas.microsoft.com/office/drawing/2014/main" val="20006"/>
                    </a:ext>
                  </a:extLst>
                </a:gridCol>
                <a:gridCol w="851050">
                  <a:extLst>
                    <a:ext uri="{9D8B030D-6E8A-4147-A177-3AD203B41FA5}">
                      <a16:colId xmlns:a16="http://schemas.microsoft.com/office/drawing/2014/main" val="20007"/>
                    </a:ext>
                  </a:extLst>
                </a:gridCol>
              </a:tblGrid>
              <a:tr h="333892">
                <a:tc gridSpan="8">
                  <a:txBody>
                    <a:bodyPr/>
                    <a:lstStyle/>
                    <a:p>
                      <a:pPr algn="ctr"/>
                      <a:r>
                        <a:rPr lang="en-US" sz="1600" b="1" dirty="0"/>
                        <a:t>Simplified World State</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a:endParaRPr lang="en-US" sz="1600" b="1" dirty="0"/>
                    </a:p>
                  </a:txBody>
                  <a:tcPr/>
                </a:tc>
                <a:extLst>
                  <a:ext uri="{0D108BD9-81ED-4DB2-BD59-A6C34878D82A}">
                    <a16:rowId xmlns:a16="http://schemas.microsoft.com/office/drawing/2014/main" val="10000"/>
                  </a:ext>
                </a:extLst>
              </a:tr>
              <a:tr h="333892">
                <a:tc gridSpan="7">
                  <a:txBody>
                    <a:bodyPr/>
                    <a:lstStyle/>
                    <a:p>
                      <a:pPr algn="ctr"/>
                      <a:r>
                        <a:rPr lang="en-US" sz="1600" b="1" dirty="0"/>
                        <a:t>Account Keys</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a:txBody>
                    <a:bodyPr/>
                    <a:lstStyle/>
                    <a:p>
                      <a:pPr algn="ctr"/>
                      <a:r>
                        <a:rPr lang="en-US" sz="1600" b="1" dirty="0"/>
                        <a:t>Values</a:t>
                      </a:r>
                    </a:p>
                  </a:txBody>
                  <a:tcPr/>
                </a:tc>
                <a:extLst>
                  <a:ext uri="{0D108BD9-81ED-4DB2-BD59-A6C34878D82A}">
                    <a16:rowId xmlns:a16="http://schemas.microsoft.com/office/drawing/2014/main" val="10001"/>
                  </a:ext>
                </a:extLst>
              </a:tr>
              <a:tr h="333892">
                <a:tc>
                  <a:txBody>
                    <a:bodyPr/>
                    <a:lstStyle/>
                    <a:p>
                      <a:pPr algn="ctr"/>
                      <a:r>
                        <a:rPr lang="en-US" sz="1600" b="1" dirty="0">
                          <a:solidFill>
                            <a:schemeClr val="bg1"/>
                          </a:solidFill>
                        </a:rPr>
                        <a:t>a</a:t>
                      </a:r>
                    </a:p>
                  </a:txBody>
                  <a:tcPr>
                    <a:solidFill>
                      <a:schemeClr val="accent2"/>
                    </a:solidFill>
                  </a:tcPr>
                </a:tc>
                <a:tc>
                  <a:txBody>
                    <a:bodyPr/>
                    <a:lstStyle/>
                    <a:p>
                      <a:pPr algn="ctr"/>
                      <a:r>
                        <a:rPr lang="en-US" sz="1600" b="1" dirty="0">
                          <a:solidFill>
                            <a:schemeClr val="bg1"/>
                          </a:solidFill>
                        </a:rPr>
                        <a:t>3</a:t>
                      </a:r>
                    </a:p>
                  </a:txBody>
                  <a:tcPr>
                    <a:solidFill>
                      <a:schemeClr val="accent2"/>
                    </a:solidFill>
                  </a:tcPr>
                </a:tc>
                <a:tc>
                  <a:txBody>
                    <a:bodyPr/>
                    <a:lstStyle/>
                    <a:p>
                      <a:pPr algn="ctr"/>
                      <a:r>
                        <a:rPr lang="en-US" sz="1600" b="1" dirty="0">
                          <a:solidFill>
                            <a:schemeClr val="bg1"/>
                          </a:solidFill>
                        </a:rPr>
                        <a:t>5</a:t>
                      </a:r>
                    </a:p>
                  </a:txBody>
                  <a:tcPr>
                    <a:solidFill>
                      <a:schemeClr val="accent2"/>
                    </a:solidFill>
                  </a:tcPr>
                </a:tc>
                <a:tc>
                  <a:txBody>
                    <a:bodyPr/>
                    <a:lstStyle/>
                    <a:p>
                      <a:pPr algn="ctr"/>
                      <a:r>
                        <a:rPr lang="en-US" sz="1600" b="1" dirty="0">
                          <a:solidFill>
                            <a:schemeClr val="bg1"/>
                          </a:solidFill>
                        </a:rPr>
                        <a:t>1</a:t>
                      </a:r>
                    </a:p>
                  </a:txBody>
                  <a:tcPr>
                    <a:solidFill>
                      <a:schemeClr val="accent2"/>
                    </a:solidFill>
                  </a:tcPr>
                </a:tc>
                <a:tc>
                  <a:txBody>
                    <a:bodyPr/>
                    <a:lstStyle/>
                    <a:p>
                      <a:pPr algn="ctr"/>
                      <a:r>
                        <a:rPr lang="en-US" sz="1600" b="1" dirty="0">
                          <a:solidFill>
                            <a:schemeClr val="bg1"/>
                          </a:solidFill>
                        </a:rPr>
                        <a:t>2</a:t>
                      </a:r>
                    </a:p>
                  </a:txBody>
                  <a:tcPr>
                    <a:solidFill>
                      <a:schemeClr val="accent2"/>
                    </a:solidFill>
                  </a:tcPr>
                </a:tc>
                <a:tc>
                  <a:txBody>
                    <a:bodyPr/>
                    <a:lstStyle/>
                    <a:p>
                      <a:pPr algn="ctr"/>
                      <a:r>
                        <a:rPr lang="en-US" sz="1600" b="1" dirty="0">
                          <a:solidFill>
                            <a:schemeClr val="bg1"/>
                          </a:solidFill>
                        </a:rPr>
                        <a:t>3</a:t>
                      </a:r>
                    </a:p>
                  </a:txBody>
                  <a:tcPr>
                    <a:solidFill>
                      <a:schemeClr val="accent2"/>
                    </a:solidFill>
                  </a:tcPr>
                </a:tc>
                <a:tc>
                  <a:txBody>
                    <a:bodyPr/>
                    <a:lstStyle/>
                    <a:p>
                      <a:pPr algn="ctr"/>
                      <a:r>
                        <a:rPr lang="en-US" sz="1600" b="1" dirty="0">
                          <a:solidFill>
                            <a:schemeClr val="bg1"/>
                          </a:solidFill>
                        </a:rPr>
                        <a:t>4</a:t>
                      </a:r>
                    </a:p>
                  </a:txBody>
                  <a:tcPr>
                    <a:solidFill>
                      <a:schemeClr val="accent2"/>
                    </a:solidFill>
                  </a:tcPr>
                </a:tc>
                <a:tc>
                  <a:txBody>
                    <a:bodyPr/>
                    <a:lstStyle/>
                    <a:p>
                      <a:pPr algn="ctr"/>
                      <a:r>
                        <a:rPr lang="en-US" sz="1400" b="1" dirty="0">
                          <a:solidFill>
                            <a:schemeClr val="bg1"/>
                          </a:solidFill>
                        </a:rPr>
                        <a:t>10.0 ETH</a:t>
                      </a:r>
                    </a:p>
                  </a:txBody>
                  <a:tcPr>
                    <a:solidFill>
                      <a:schemeClr val="accent2"/>
                    </a:solidFill>
                  </a:tcPr>
                </a:tc>
                <a:extLst>
                  <a:ext uri="{0D108BD9-81ED-4DB2-BD59-A6C34878D82A}">
                    <a16:rowId xmlns:a16="http://schemas.microsoft.com/office/drawing/2014/main" val="10002"/>
                  </a:ext>
                </a:extLst>
              </a:tr>
              <a:tr h="333892">
                <a:tc>
                  <a:txBody>
                    <a:bodyPr/>
                    <a:lstStyle/>
                    <a:p>
                      <a:pPr algn="ctr"/>
                      <a:r>
                        <a:rPr lang="en-US" sz="1600" b="1" dirty="0"/>
                        <a:t>a</a:t>
                      </a:r>
                    </a:p>
                  </a:txBody>
                  <a:tcPr>
                    <a:solidFill>
                      <a:schemeClr val="bg1">
                        <a:lumMod val="95000"/>
                      </a:schemeClr>
                    </a:solidFill>
                  </a:tcPr>
                </a:tc>
                <a:tc>
                  <a:txBody>
                    <a:bodyPr/>
                    <a:lstStyle/>
                    <a:p>
                      <a:pPr algn="ctr"/>
                      <a:r>
                        <a:rPr lang="en-US" sz="1600" b="1" dirty="0"/>
                        <a:t>7</a:t>
                      </a:r>
                    </a:p>
                  </a:txBody>
                  <a:tcPr>
                    <a:solidFill>
                      <a:schemeClr val="bg1">
                        <a:lumMod val="95000"/>
                      </a:schemeClr>
                    </a:solidFill>
                  </a:tcPr>
                </a:tc>
                <a:tc>
                  <a:txBody>
                    <a:bodyPr/>
                    <a:lstStyle/>
                    <a:p>
                      <a:pPr algn="ctr"/>
                      <a:r>
                        <a:rPr lang="en-US" sz="1600" b="1" dirty="0"/>
                        <a:t>1</a:t>
                      </a:r>
                    </a:p>
                  </a:txBody>
                  <a:tcPr>
                    <a:solidFill>
                      <a:schemeClr val="bg1">
                        <a:lumMod val="95000"/>
                      </a:schemeClr>
                    </a:solidFill>
                  </a:tcPr>
                </a:tc>
                <a:tc>
                  <a:txBody>
                    <a:bodyPr/>
                    <a:lstStyle/>
                    <a:p>
                      <a:pPr algn="ctr"/>
                      <a:r>
                        <a:rPr lang="en-US" sz="1600" b="1" dirty="0"/>
                        <a:t>1</a:t>
                      </a:r>
                    </a:p>
                  </a:txBody>
                  <a:tcPr>
                    <a:solidFill>
                      <a:schemeClr val="bg1">
                        <a:lumMod val="95000"/>
                      </a:schemeClr>
                    </a:solidFill>
                  </a:tcPr>
                </a:tc>
                <a:tc>
                  <a:txBody>
                    <a:bodyPr/>
                    <a:lstStyle/>
                    <a:p>
                      <a:pPr algn="ctr"/>
                      <a:r>
                        <a:rPr lang="en-US" sz="1600" b="1" dirty="0"/>
                        <a:t>3</a:t>
                      </a:r>
                    </a:p>
                  </a:txBody>
                  <a:tcPr>
                    <a:solidFill>
                      <a:schemeClr val="bg1">
                        <a:lumMod val="95000"/>
                      </a:schemeClr>
                    </a:solidFill>
                  </a:tcPr>
                </a:tc>
                <a:tc>
                  <a:txBody>
                    <a:bodyPr/>
                    <a:lstStyle/>
                    <a:p>
                      <a:pPr algn="ctr"/>
                      <a:r>
                        <a:rPr lang="en-US" sz="1600" b="1" dirty="0"/>
                        <a:t>5</a:t>
                      </a:r>
                    </a:p>
                  </a:txBody>
                  <a:tcPr>
                    <a:solidFill>
                      <a:schemeClr val="bg1">
                        <a:lumMod val="95000"/>
                      </a:schemeClr>
                    </a:solidFill>
                  </a:tcPr>
                </a:tc>
                <a:tc>
                  <a:txBody>
                    <a:bodyPr/>
                    <a:lstStyle/>
                    <a:p>
                      <a:pPr algn="ctr"/>
                      <a:r>
                        <a:rPr lang="en-US" sz="1600" b="1" dirty="0"/>
                        <a:t>5</a:t>
                      </a:r>
                    </a:p>
                  </a:txBody>
                  <a:tcPr>
                    <a:solidFill>
                      <a:schemeClr val="bg1">
                        <a:lumMod val="95000"/>
                      </a:schemeClr>
                    </a:solidFill>
                  </a:tcPr>
                </a:tc>
                <a:tc>
                  <a:txBody>
                    <a:bodyPr/>
                    <a:lstStyle/>
                    <a:p>
                      <a:pPr algn="ctr"/>
                      <a:r>
                        <a:rPr lang="en-US" sz="1400" b="1" dirty="0"/>
                        <a:t>35.0 ETH</a:t>
                      </a:r>
                    </a:p>
                  </a:txBody>
                  <a:tcPr>
                    <a:solidFill>
                      <a:schemeClr val="bg1">
                        <a:lumMod val="95000"/>
                      </a:schemeClr>
                    </a:solidFill>
                  </a:tcPr>
                </a:tc>
                <a:extLst>
                  <a:ext uri="{0D108BD9-81ED-4DB2-BD59-A6C34878D82A}">
                    <a16:rowId xmlns:a16="http://schemas.microsoft.com/office/drawing/2014/main" val="10003"/>
                  </a:ext>
                </a:extLst>
              </a:tr>
              <a:tr h="333892">
                <a:tc>
                  <a:txBody>
                    <a:bodyPr/>
                    <a:lstStyle/>
                    <a:p>
                      <a:pPr algn="ctr"/>
                      <a:r>
                        <a:rPr lang="en-US" sz="1600" b="1" dirty="0"/>
                        <a:t>a</a:t>
                      </a:r>
                    </a:p>
                  </a:txBody>
                  <a:tcPr>
                    <a:solidFill>
                      <a:schemeClr val="accent1">
                        <a:lumMod val="20000"/>
                        <a:lumOff val="80000"/>
                      </a:schemeClr>
                    </a:solidFill>
                  </a:tcPr>
                </a:tc>
                <a:tc>
                  <a:txBody>
                    <a:bodyPr/>
                    <a:lstStyle/>
                    <a:p>
                      <a:pPr algn="ctr"/>
                      <a:r>
                        <a:rPr lang="en-US" sz="1600" b="1" dirty="0"/>
                        <a:t>7</a:t>
                      </a:r>
                    </a:p>
                  </a:txBody>
                  <a:tcPr>
                    <a:solidFill>
                      <a:schemeClr val="accent1">
                        <a:lumMod val="20000"/>
                        <a:lumOff val="80000"/>
                      </a:schemeClr>
                    </a:solidFill>
                  </a:tcPr>
                </a:tc>
                <a:tc>
                  <a:txBody>
                    <a:bodyPr/>
                    <a:lstStyle/>
                    <a:p>
                      <a:pPr algn="ctr"/>
                      <a:r>
                        <a:rPr lang="en-US" sz="1600" b="1" dirty="0"/>
                        <a:t>7</a:t>
                      </a:r>
                    </a:p>
                  </a:txBody>
                  <a:tcPr>
                    <a:solidFill>
                      <a:schemeClr val="accent1">
                        <a:lumMod val="20000"/>
                        <a:lumOff val="80000"/>
                      </a:schemeClr>
                    </a:solidFill>
                  </a:tcPr>
                </a:tc>
                <a:tc>
                  <a:txBody>
                    <a:bodyPr/>
                    <a:lstStyle/>
                    <a:p>
                      <a:pPr algn="ctr"/>
                      <a:r>
                        <a:rPr lang="en-US" sz="1600" b="1" dirty="0"/>
                        <a:t>d</a:t>
                      </a:r>
                    </a:p>
                  </a:txBody>
                  <a:tcPr>
                    <a:solidFill>
                      <a:schemeClr val="accent1">
                        <a:lumMod val="20000"/>
                        <a:lumOff val="80000"/>
                      </a:schemeClr>
                    </a:solidFill>
                  </a:tcPr>
                </a:tc>
                <a:tc>
                  <a:txBody>
                    <a:bodyPr/>
                    <a:lstStyle/>
                    <a:p>
                      <a:pPr algn="ctr"/>
                      <a:r>
                        <a:rPr lang="en-US" sz="1600" b="1" dirty="0"/>
                        <a:t>3</a:t>
                      </a:r>
                    </a:p>
                  </a:txBody>
                  <a:tcPr>
                    <a:solidFill>
                      <a:schemeClr val="accent1">
                        <a:lumMod val="20000"/>
                        <a:lumOff val="80000"/>
                      </a:schemeClr>
                    </a:solidFill>
                  </a:tcPr>
                </a:tc>
                <a:tc>
                  <a:txBody>
                    <a:bodyPr/>
                    <a:lstStyle/>
                    <a:p>
                      <a:pPr algn="ctr"/>
                      <a:r>
                        <a:rPr lang="en-US" sz="1600" b="1" dirty="0"/>
                        <a:t>3</a:t>
                      </a:r>
                    </a:p>
                  </a:txBody>
                  <a:tcPr>
                    <a:solidFill>
                      <a:schemeClr val="accent1">
                        <a:lumMod val="20000"/>
                        <a:lumOff val="80000"/>
                      </a:schemeClr>
                    </a:solidFill>
                  </a:tcPr>
                </a:tc>
                <a:tc>
                  <a:txBody>
                    <a:bodyPr/>
                    <a:lstStyle/>
                    <a:p>
                      <a:pPr algn="ctr"/>
                      <a:r>
                        <a:rPr lang="en-US" sz="1600" b="1" dirty="0"/>
                        <a:t>7</a:t>
                      </a:r>
                    </a:p>
                  </a:txBody>
                  <a:tcPr>
                    <a:solidFill>
                      <a:schemeClr val="accent1">
                        <a:lumMod val="20000"/>
                        <a:lumOff val="80000"/>
                      </a:schemeClr>
                    </a:solidFill>
                  </a:tcPr>
                </a:tc>
                <a:tc>
                  <a:txBody>
                    <a:bodyPr/>
                    <a:lstStyle/>
                    <a:p>
                      <a:pPr algn="ctr"/>
                      <a:r>
                        <a:rPr lang="en-US" sz="1400" b="1" dirty="0"/>
                        <a:t>1.00 WEI</a:t>
                      </a:r>
                    </a:p>
                  </a:txBody>
                  <a:tcPr>
                    <a:solidFill>
                      <a:schemeClr val="accent1">
                        <a:lumMod val="20000"/>
                        <a:lumOff val="80000"/>
                      </a:schemeClr>
                    </a:solidFill>
                  </a:tcPr>
                </a:tc>
                <a:extLst>
                  <a:ext uri="{0D108BD9-81ED-4DB2-BD59-A6C34878D82A}">
                    <a16:rowId xmlns:a16="http://schemas.microsoft.com/office/drawing/2014/main" val="10004"/>
                  </a:ext>
                </a:extLst>
              </a:tr>
              <a:tr h="333892">
                <a:tc>
                  <a:txBody>
                    <a:bodyPr/>
                    <a:lstStyle/>
                    <a:p>
                      <a:pPr algn="ctr"/>
                      <a:r>
                        <a:rPr lang="en-US" sz="1600" b="1" kern="1200" dirty="0">
                          <a:solidFill>
                            <a:schemeClr val="tx1"/>
                          </a:solidFill>
                          <a:latin typeface="+mn-lt"/>
                          <a:ea typeface="+mn-ea"/>
                          <a:cs typeface="+mn-cs"/>
                        </a:rPr>
                        <a:t>a</a:t>
                      </a:r>
                    </a:p>
                  </a:txBody>
                  <a:tcPr>
                    <a:solidFill>
                      <a:schemeClr val="accent6">
                        <a:lumMod val="20000"/>
                        <a:lumOff val="80000"/>
                      </a:schemeClr>
                    </a:solidFill>
                  </a:tcPr>
                </a:tc>
                <a:tc>
                  <a:txBody>
                    <a:bodyPr/>
                    <a:lstStyle/>
                    <a:p>
                      <a:pPr algn="ctr"/>
                      <a:r>
                        <a:rPr lang="en-US" sz="1600" b="1" kern="1200" dirty="0">
                          <a:solidFill>
                            <a:schemeClr val="tx1"/>
                          </a:solidFill>
                          <a:latin typeface="+mn-lt"/>
                          <a:ea typeface="+mn-ea"/>
                          <a:cs typeface="+mn-cs"/>
                        </a:rPr>
                        <a:t>7</a:t>
                      </a:r>
                    </a:p>
                  </a:txBody>
                  <a:tcPr>
                    <a:solidFill>
                      <a:schemeClr val="accent6">
                        <a:lumMod val="20000"/>
                        <a:lumOff val="80000"/>
                      </a:schemeClr>
                    </a:solidFill>
                  </a:tcPr>
                </a:tc>
                <a:tc>
                  <a:txBody>
                    <a:bodyPr/>
                    <a:lstStyle/>
                    <a:p>
                      <a:pPr algn="ctr"/>
                      <a:r>
                        <a:rPr lang="en-US" sz="1600" b="1" kern="1200" dirty="0">
                          <a:solidFill>
                            <a:schemeClr val="tx1"/>
                          </a:solidFill>
                          <a:latin typeface="+mn-lt"/>
                          <a:ea typeface="+mn-ea"/>
                          <a:cs typeface="+mn-cs"/>
                        </a:rPr>
                        <a:t>f</a:t>
                      </a:r>
                    </a:p>
                  </a:txBody>
                  <a:tcPr>
                    <a:solidFill>
                      <a:schemeClr val="accent6">
                        <a:lumMod val="20000"/>
                        <a:lumOff val="80000"/>
                      </a:schemeClr>
                    </a:solidFill>
                  </a:tcPr>
                </a:tc>
                <a:tc>
                  <a:txBody>
                    <a:bodyPr/>
                    <a:lstStyle/>
                    <a:p>
                      <a:pPr algn="ctr"/>
                      <a:r>
                        <a:rPr lang="en-US" sz="1600" b="1" kern="1200" dirty="0">
                          <a:solidFill>
                            <a:schemeClr val="tx1"/>
                          </a:solidFill>
                          <a:latin typeface="+mn-lt"/>
                          <a:ea typeface="+mn-ea"/>
                          <a:cs typeface="+mn-cs"/>
                        </a:rPr>
                        <a:t>9</a:t>
                      </a:r>
                    </a:p>
                  </a:txBody>
                  <a:tcPr>
                    <a:solidFill>
                      <a:schemeClr val="accent6">
                        <a:lumMod val="20000"/>
                        <a:lumOff val="80000"/>
                      </a:schemeClr>
                    </a:solidFill>
                  </a:tcPr>
                </a:tc>
                <a:tc>
                  <a:txBody>
                    <a:bodyPr/>
                    <a:lstStyle/>
                    <a:p>
                      <a:pPr algn="ctr"/>
                      <a:r>
                        <a:rPr lang="en-US" sz="1600" b="1" kern="1200" dirty="0">
                          <a:solidFill>
                            <a:schemeClr val="tx1"/>
                          </a:solidFill>
                          <a:latin typeface="+mn-lt"/>
                          <a:ea typeface="+mn-ea"/>
                          <a:cs typeface="+mn-cs"/>
                        </a:rPr>
                        <a:t>3</a:t>
                      </a:r>
                    </a:p>
                  </a:txBody>
                  <a:tcPr>
                    <a:solidFill>
                      <a:schemeClr val="accent6">
                        <a:lumMod val="20000"/>
                        <a:lumOff val="80000"/>
                      </a:schemeClr>
                    </a:solidFill>
                  </a:tcPr>
                </a:tc>
                <a:tc>
                  <a:txBody>
                    <a:bodyPr/>
                    <a:lstStyle/>
                    <a:p>
                      <a:pPr algn="ctr"/>
                      <a:r>
                        <a:rPr lang="en-US" sz="1600" b="1" kern="1200" dirty="0">
                          <a:solidFill>
                            <a:schemeClr val="tx1"/>
                          </a:solidFill>
                          <a:latin typeface="+mn-lt"/>
                          <a:ea typeface="+mn-ea"/>
                          <a:cs typeface="+mn-cs"/>
                        </a:rPr>
                        <a:t>6</a:t>
                      </a:r>
                    </a:p>
                  </a:txBody>
                  <a:tcPr>
                    <a:solidFill>
                      <a:schemeClr val="accent6">
                        <a:lumMod val="20000"/>
                        <a:lumOff val="80000"/>
                      </a:schemeClr>
                    </a:solidFill>
                  </a:tcPr>
                </a:tc>
                <a:tc>
                  <a:txBody>
                    <a:bodyPr/>
                    <a:lstStyle/>
                    <a:p>
                      <a:pPr algn="ctr"/>
                      <a:r>
                        <a:rPr lang="en-US" sz="1600" b="1" kern="1200" dirty="0">
                          <a:solidFill>
                            <a:schemeClr val="tx1"/>
                          </a:solidFill>
                          <a:latin typeface="+mn-lt"/>
                          <a:ea typeface="+mn-ea"/>
                          <a:cs typeface="+mn-cs"/>
                        </a:rPr>
                        <a:t>5</a:t>
                      </a:r>
                    </a:p>
                  </a:txBody>
                  <a:tcPr>
                    <a:solidFill>
                      <a:schemeClr val="accent6">
                        <a:lumMod val="20000"/>
                        <a:lumOff val="80000"/>
                      </a:schemeClr>
                    </a:solidFill>
                  </a:tcPr>
                </a:tc>
                <a:tc>
                  <a:txBody>
                    <a:bodyPr/>
                    <a:lstStyle/>
                    <a:p>
                      <a:pPr algn="ctr"/>
                      <a:r>
                        <a:rPr lang="en-US" sz="1600" b="1" kern="1200" dirty="0">
                          <a:solidFill>
                            <a:schemeClr val="tx1"/>
                          </a:solidFill>
                          <a:latin typeface="+mn-lt"/>
                          <a:ea typeface="+mn-ea"/>
                          <a:cs typeface="+mn-cs"/>
                        </a:rPr>
                        <a:t>1.1 ETH</a:t>
                      </a:r>
                    </a:p>
                  </a:txBody>
                  <a:tcPr>
                    <a:solidFill>
                      <a:schemeClr val="accent6">
                        <a:lumMod val="20000"/>
                        <a:lumOff val="80000"/>
                      </a:schemeClr>
                    </a:solidFill>
                  </a:tcPr>
                </a:tc>
                <a:extLst>
                  <a:ext uri="{0D108BD9-81ED-4DB2-BD59-A6C34878D82A}">
                    <a16:rowId xmlns:a16="http://schemas.microsoft.com/office/drawing/2014/main" val="10005"/>
                  </a:ext>
                </a:extLst>
              </a:tr>
              <a:tr h="333892">
                <a:tc>
                  <a:txBody>
                    <a:bodyPr/>
                    <a:lstStyle/>
                    <a:p>
                      <a:pPr algn="ctr"/>
                      <a:r>
                        <a:rPr lang="en-US" sz="1600" b="1" dirty="0"/>
                        <a:t>a</a:t>
                      </a:r>
                    </a:p>
                  </a:txBody>
                  <a:tcPr>
                    <a:solidFill>
                      <a:schemeClr val="accent4">
                        <a:lumMod val="20000"/>
                        <a:lumOff val="80000"/>
                      </a:schemeClr>
                    </a:solidFill>
                  </a:tcPr>
                </a:tc>
                <a:tc>
                  <a:txBody>
                    <a:bodyPr/>
                    <a:lstStyle/>
                    <a:p>
                      <a:pPr algn="ctr"/>
                      <a:r>
                        <a:rPr lang="en-US" sz="1600" b="1" dirty="0"/>
                        <a:t>7</a:t>
                      </a:r>
                    </a:p>
                  </a:txBody>
                  <a:tcPr>
                    <a:solidFill>
                      <a:schemeClr val="accent4">
                        <a:lumMod val="20000"/>
                        <a:lumOff val="80000"/>
                      </a:schemeClr>
                    </a:solidFill>
                  </a:tcPr>
                </a:tc>
                <a:tc>
                  <a:txBody>
                    <a:bodyPr/>
                    <a:lstStyle/>
                    <a:p>
                      <a:pPr algn="ctr"/>
                      <a:r>
                        <a:rPr lang="en-US" sz="1600" b="1" dirty="0"/>
                        <a:t>7</a:t>
                      </a:r>
                    </a:p>
                  </a:txBody>
                  <a:tcPr>
                    <a:solidFill>
                      <a:schemeClr val="accent4">
                        <a:lumMod val="20000"/>
                        <a:lumOff val="80000"/>
                      </a:schemeClr>
                    </a:solidFill>
                  </a:tcPr>
                </a:tc>
                <a:tc>
                  <a:txBody>
                    <a:bodyPr/>
                    <a:lstStyle/>
                    <a:p>
                      <a:pPr algn="ctr"/>
                      <a:r>
                        <a:rPr lang="en-US" sz="1600" b="1" dirty="0"/>
                        <a:t>d</a:t>
                      </a:r>
                    </a:p>
                  </a:txBody>
                  <a:tcPr>
                    <a:solidFill>
                      <a:schemeClr val="accent4">
                        <a:lumMod val="20000"/>
                        <a:lumOff val="80000"/>
                      </a:schemeClr>
                    </a:solidFill>
                  </a:tcPr>
                </a:tc>
                <a:tc>
                  <a:txBody>
                    <a:bodyPr/>
                    <a:lstStyle/>
                    <a:p>
                      <a:pPr algn="ctr"/>
                      <a:r>
                        <a:rPr lang="en-US" sz="1600" b="1" dirty="0"/>
                        <a:t>3</a:t>
                      </a:r>
                    </a:p>
                  </a:txBody>
                  <a:tcPr>
                    <a:solidFill>
                      <a:schemeClr val="accent4">
                        <a:lumMod val="20000"/>
                        <a:lumOff val="80000"/>
                      </a:schemeClr>
                    </a:solidFill>
                  </a:tcPr>
                </a:tc>
                <a:tc>
                  <a:txBody>
                    <a:bodyPr/>
                    <a:lstStyle/>
                    <a:p>
                      <a:pPr algn="ctr"/>
                      <a:r>
                        <a:rPr lang="en-US" sz="1600" b="1" dirty="0"/>
                        <a:t>9</a:t>
                      </a:r>
                    </a:p>
                  </a:txBody>
                  <a:tcPr>
                    <a:solidFill>
                      <a:schemeClr val="accent4">
                        <a:lumMod val="20000"/>
                        <a:lumOff val="80000"/>
                      </a:schemeClr>
                    </a:solidFill>
                  </a:tcPr>
                </a:tc>
                <a:tc>
                  <a:txBody>
                    <a:bodyPr/>
                    <a:lstStyle/>
                    <a:p>
                      <a:pPr algn="ctr"/>
                      <a:r>
                        <a:rPr lang="en-US" sz="1600" b="1" dirty="0"/>
                        <a:t>7</a:t>
                      </a:r>
                    </a:p>
                  </a:txBody>
                  <a:tcPr>
                    <a:solidFill>
                      <a:schemeClr val="accent4">
                        <a:lumMod val="20000"/>
                        <a:lumOff val="80000"/>
                      </a:schemeClr>
                    </a:solidFill>
                  </a:tcPr>
                </a:tc>
                <a:tc>
                  <a:txBody>
                    <a:bodyPr/>
                    <a:lstStyle/>
                    <a:p>
                      <a:pPr algn="ctr"/>
                      <a:r>
                        <a:rPr lang="en-US" sz="1400" b="1" dirty="0"/>
                        <a:t>0.12 ETH</a:t>
                      </a:r>
                    </a:p>
                  </a:txBody>
                  <a:tcPr>
                    <a:solidFill>
                      <a:schemeClr val="accent4">
                        <a:lumMod val="20000"/>
                        <a:lumOff val="80000"/>
                      </a:schemeClr>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8639704" y="1470220"/>
            <a:ext cx="2356822" cy="954107"/>
          </a:xfrm>
          <a:prstGeom prst="rect">
            <a:avLst/>
          </a:prstGeom>
          <a:noFill/>
        </p:spPr>
        <p:txBody>
          <a:bodyPr wrap="square" rtlCol="0">
            <a:spAutoFit/>
          </a:bodyPr>
          <a:lstStyle/>
          <a:p>
            <a:pPr algn="ctr"/>
            <a:r>
              <a:rPr lang="en-US" sz="1400" dirty="0">
                <a:latin typeface="Candara" panose="020E0502030303020204" pitchFamily="34" charset="0"/>
              </a:rPr>
              <a:t>Root node is once again an extension node with only one child – child is a branch node</a:t>
            </a:r>
          </a:p>
        </p:txBody>
      </p:sp>
      <p:graphicFrame>
        <p:nvGraphicFramePr>
          <p:cNvPr id="7" name="Table 6"/>
          <p:cNvGraphicFramePr>
            <a:graphicFrameLocks noGrp="1"/>
          </p:cNvGraphicFramePr>
          <p:nvPr/>
        </p:nvGraphicFramePr>
        <p:xfrm>
          <a:off x="5384614" y="1321702"/>
          <a:ext cx="3210744" cy="1112520"/>
        </p:xfrm>
        <a:graphic>
          <a:graphicData uri="http://schemas.openxmlformats.org/drawingml/2006/table">
            <a:tbl>
              <a:tblPr firstRow="1" bandRow="1">
                <a:tableStyleId>{5940675A-B579-460E-94D1-54222C63F5DA}</a:tableStyleId>
              </a:tblPr>
              <a:tblGrid>
                <a:gridCol w="700034">
                  <a:extLst>
                    <a:ext uri="{9D8B030D-6E8A-4147-A177-3AD203B41FA5}">
                      <a16:colId xmlns:a16="http://schemas.microsoft.com/office/drawing/2014/main" val="20000"/>
                    </a:ext>
                  </a:extLst>
                </a:gridCol>
                <a:gridCol w="1473673">
                  <a:extLst>
                    <a:ext uri="{9D8B030D-6E8A-4147-A177-3AD203B41FA5}">
                      <a16:colId xmlns:a16="http://schemas.microsoft.com/office/drawing/2014/main" val="20001"/>
                    </a:ext>
                  </a:extLst>
                </a:gridCol>
                <a:gridCol w="1037037">
                  <a:extLst>
                    <a:ext uri="{9D8B030D-6E8A-4147-A177-3AD203B41FA5}">
                      <a16:colId xmlns:a16="http://schemas.microsoft.com/office/drawing/2014/main" val="20002"/>
                    </a:ext>
                  </a:extLst>
                </a:gridCol>
              </a:tblGrid>
              <a:tr h="370840">
                <a:tc gridSpan="3">
                  <a:txBody>
                    <a:bodyPr/>
                    <a:lstStyle/>
                    <a:p>
                      <a:pPr algn="ctr"/>
                      <a:r>
                        <a:rPr lang="en-US" sz="1600" b="1" dirty="0"/>
                        <a:t>Root: Extension Node</a:t>
                      </a:r>
                    </a:p>
                  </a:txBody>
                  <a:tcPr>
                    <a:solidFill>
                      <a:schemeClr val="accent2">
                        <a:lumMod val="20000"/>
                        <a:lumOff val="80000"/>
                      </a:schemeClr>
                    </a:solidFill>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pPr algn="ctr"/>
                      <a:r>
                        <a:rPr lang="en-US" sz="1400" b="1" dirty="0"/>
                        <a:t>Prefix</a:t>
                      </a:r>
                    </a:p>
                  </a:txBody>
                  <a:tcPr>
                    <a:solidFill>
                      <a:schemeClr val="accent2">
                        <a:lumMod val="20000"/>
                        <a:lumOff val="80000"/>
                      </a:schemeClr>
                    </a:solidFill>
                  </a:tcPr>
                </a:tc>
                <a:tc>
                  <a:txBody>
                    <a:bodyPr/>
                    <a:lstStyle/>
                    <a:p>
                      <a:pPr algn="ctr"/>
                      <a:r>
                        <a:rPr lang="en-US" sz="1400" b="1" dirty="0"/>
                        <a:t>Shared nibble(s)</a:t>
                      </a:r>
                    </a:p>
                  </a:txBody>
                  <a:tcPr>
                    <a:solidFill>
                      <a:schemeClr val="accent2">
                        <a:lumMod val="20000"/>
                        <a:lumOff val="80000"/>
                      </a:schemeClr>
                    </a:solidFill>
                  </a:tcPr>
                </a:tc>
                <a:tc>
                  <a:txBody>
                    <a:bodyPr/>
                    <a:lstStyle/>
                    <a:p>
                      <a:pPr algn="ctr"/>
                      <a:r>
                        <a:rPr lang="en-US" sz="1400" b="1" dirty="0"/>
                        <a:t>Next node</a:t>
                      </a:r>
                    </a:p>
                  </a:txBody>
                  <a:tcPr>
                    <a:solidFill>
                      <a:schemeClr val="accent2">
                        <a:lumMod val="20000"/>
                        <a:lumOff val="80000"/>
                      </a:schemeClr>
                    </a:solidFill>
                  </a:tcPr>
                </a:tc>
                <a:extLst>
                  <a:ext uri="{0D108BD9-81ED-4DB2-BD59-A6C34878D82A}">
                    <a16:rowId xmlns:a16="http://schemas.microsoft.com/office/drawing/2014/main" val="10001"/>
                  </a:ext>
                </a:extLst>
              </a:tr>
              <a:tr h="370840">
                <a:tc>
                  <a:txBody>
                    <a:bodyPr/>
                    <a:lstStyle/>
                    <a:p>
                      <a:pPr algn="ctr"/>
                      <a:r>
                        <a:rPr lang="en-US" sz="1800" b="1" dirty="0"/>
                        <a:t>0x1</a:t>
                      </a:r>
                    </a:p>
                  </a:txBody>
                  <a:tcPr>
                    <a:solidFill>
                      <a:schemeClr val="accent2">
                        <a:lumMod val="20000"/>
                        <a:lumOff val="80000"/>
                      </a:schemeClr>
                    </a:solidFill>
                  </a:tcPr>
                </a:tc>
                <a:tc>
                  <a:txBody>
                    <a:bodyPr/>
                    <a:lstStyle/>
                    <a:p>
                      <a:pPr algn="ctr"/>
                      <a:r>
                        <a:rPr lang="en-US" sz="1800" b="1" dirty="0"/>
                        <a:t>a</a:t>
                      </a:r>
                    </a:p>
                  </a:txBody>
                  <a:tcPr>
                    <a:solidFill>
                      <a:schemeClr val="accent2">
                        <a:lumMod val="20000"/>
                        <a:lumOff val="80000"/>
                      </a:schemeClr>
                    </a:solidFill>
                  </a:tcPr>
                </a:tc>
                <a:tc>
                  <a:txBody>
                    <a:bodyPr/>
                    <a:lstStyle/>
                    <a:p>
                      <a:pPr algn="ctr"/>
                      <a:endParaRPr lang="en-US" sz="1400" b="1" dirty="0"/>
                    </a:p>
                  </a:txBody>
                  <a:tcPr>
                    <a:solidFill>
                      <a:schemeClr val="accent2">
                        <a:lumMod val="20000"/>
                        <a:lumOff val="80000"/>
                      </a:schemeClr>
                    </a:solidFill>
                  </a:tcPr>
                </a:tc>
                <a:extLst>
                  <a:ext uri="{0D108BD9-81ED-4DB2-BD59-A6C34878D82A}">
                    <a16:rowId xmlns:a16="http://schemas.microsoft.com/office/drawing/2014/main" val="10002"/>
                  </a:ext>
                </a:extLst>
              </a:tr>
            </a:tbl>
          </a:graphicData>
        </a:graphic>
      </p:graphicFrame>
      <p:cxnSp>
        <p:nvCxnSpPr>
          <p:cNvPr id="8" name="Straight Connector 7"/>
          <p:cNvCxnSpPr/>
          <p:nvPr/>
        </p:nvCxnSpPr>
        <p:spPr>
          <a:xfrm>
            <a:off x="8100326" y="2235555"/>
            <a:ext cx="0" cy="380992"/>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1764632" y="1933580"/>
            <a:ext cx="388019" cy="1698671"/>
          </a:xfrm>
          <a:prstGeom prst="rect">
            <a:avLst/>
          </a:prstGeom>
          <a:noFill/>
          <a:ln w="28575">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Candara" panose="020E0502030303020204" pitchFamily="34" charset="0"/>
            </a:endParaRPr>
          </a:p>
        </p:txBody>
      </p:sp>
      <p:pic>
        <p:nvPicPr>
          <p:cNvPr id="10" name="Picture 9"/>
          <p:cNvPicPr>
            <a:picLocks noChangeAspect="1"/>
          </p:cNvPicPr>
          <p:nvPr/>
        </p:nvPicPr>
        <p:blipFill>
          <a:blip r:embed="rId2"/>
          <a:stretch>
            <a:fillRect/>
          </a:stretch>
        </p:blipFill>
        <p:spPr>
          <a:xfrm>
            <a:off x="5248473" y="2591984"/>
            <a:ext cx="4983776" cy="1000531"/>
          </a:xfrm>
          <a:prstGeom prst="rect">
            <a:avLst/>
          </a:prstGeom>
        </p:spPr>
      </p:pic>
      <p:cxnSp>
        <p:nvCxnSpPr>
          <p:cNvPr id="11" name="Straight Connector 10"/>
          <p:cNvCxnSpPr>
            <a:endCxn id="13" idx="0"/>
          </p:cNvCxnSpPr>
          <p:nvPr/>
        </p:nvCxnSpPr>
        <p:spPr>
          <a:xfrm flipH="1">
            <a:off x="3425420" y="3459073"/>
            <a:ext cx="2798918" cy="808035"/>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7315268" y="3419336"/>
            <a:ext cx="0" cy="346356"/>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graphicFrame>
        <p:nvGraphicFramePr>
          <p:cNvPr id="13" name="Table 12"/>
          <p:cNvGraphicFramePr>
            <a:graphicFrameLocks noGrp="1"/>
          </p:cNvGraphicFramePr>
          <p:nvPr/>
        </p:nvGraphicFramePr>
        <p:xfrm>
          <a:off x="1917930" y="4267107"/>
          <a:ext cx="3014980" cy="1112520"/>
        </p:xfrm>
        <a:graphic>
          <a:graphicData uri="http://schemas.openxmlformats.org/drawingml/2006/table">
            <a:tbl>
              <a:tblPr firstRow="1" bandRow="1">
                <a:tableStyleId>{5940675A-B579-460E-94D1-54222C63F5DA}</a:tableStyleId>
              </a:tblPr>
              <a:tblGrid>
                <a:gridCol w="657352">
                  <a:extLst>
                    <a:ext uri="{9D8B030D-6E8A-4147-A177-3AD203B41FA5}">
                      <a16:colId xmlns:a16="http://schemas.microsoft.com/office/drawing/2014/main" val="20000"/>
                    </a:ext>
                  </a:extLst>
                </a:gridCol>
                <a:gridCol w="833628">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tblGrid>
              <a:tr h="370840">
                <a:tc gridSpan="3">
                  <a:txBody>
                    <a:bodyPr/>
                    <a:lstStyle/>
                    <a:p>
                      <a:pPr algn="ctr"/>
                      <a:r>
                        <a:rPr lang="en-US" sz="1600" b="1" dirty="0"/>
                        <a:t>Leaf Node</a:t>
                      </a:r>
                    </a:p>
                  </a:txBody>
                  <a:tcPr>
                    <a:solidFill>
                      <a:schemeClr val="accent6">
                        <a:lumMod val="40000"/>
                        <a:lumOff val="60000"/>
                      </a:schemeClr>
                    </a:solidFill>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pPr algn="ctr"/>
                      <a:r>
                        <a:rPr lang="en-US" sz="1400" b="1" dirty="0"/>
                        <a:t>Prefix</a:t>
                      </a:r>
                    </a:p>
                  </a:txBody>
                  <a:tcPr>
                    <a:solidFill>
                      <a:schemeClr val="accent6">
                        <a:lumMod val="40000"/>
                        <a:lumOff val="60000"/>
                      </a:schemeClr>
                    </a:solidFill>
                  </a:tcPr>
                </a:tc>
                <a:tc>
                  <a:txBody>
                    <a:bodyPr/>
                    <a:lstStyle/>
                    <a:p>
                      <a:pPr algn="ctr"/>
                      <a:r>
                        <a:rPr lang="en-US" sz="1400" b="1" dirty="0"/>
                        <a:t>Key-end</a:t>
                      </a:r>
                    </a:p>
                  </a:txBody>
                  <a:tcPr>
                    <a:solidFill>
                      <a:schemeClr val="accent6">
                        <a:lumMod val="40000"/>
                        <a:lumOff val="60000"/>
                      </a:schemeClr>
                    </a:solidFill>
                  </a:tcPr>
                </a:tc>
                <a:tc>
                  <a:txBody>
                    <a:bodyPr/>
                    <a:lstStyle/>
                    <a:p>
                      <a:pPr algn="ctr"/>
                      <a:r>
                        <a:rPr lang="en-US" sz="1400" b="1" dirty="0"/>
                        <a:t>Value</a:t>
                      </a:r>
                    </a:p>
                  </a:txBody>
                  <a:tcPr>
                    <a:solidFill>
                      <a:schemeClr val="accent6">
                        <a:lumMod val="40000"/>
                        <a:lumOff val="60000"/>
                      </a:schemeClr>
                    </a:solidFill>
                  </a:tcPr>
                </a:tc>
                <a:extLst>
                  <a:ext uri="{0D108BD9-81ED-4DB2-BD59-A6C34878D82A}">
                    <a16:rowId xmlns:a16="http://schemas.microsoft.com/office/drawing/2014/main" val="10001"/>
                  </a:ext>
                </a:extLst>
              </a:tr>
              <a:tr h="370840">
                <a:tc>
                  <a:txBody>
                    <a:bodyPr/>
                    <a:lstStyle/>
                    <a:p>
                      <a:pPr algn="ctr"/>
                      <a:r>
                        <a:rPr lang="en-US" sz="1800" b="1" dirty="0"/>
                        <a:t>0x3</a:t>
                      </a:r>
                    </a:p>
                  </a:txBody>
                  <a:tcPr>
                    <a:solidFill>
                      <a:schemeClr val="accent6">
                        <a:lumMod val="40000"/>
                        <a:lumOff val="60000"/>
                      </a:schemeClr>
                    </a:solidFill>
                  </a:tcPr>
                </a:tc>
                <a:tc>
                  <a:txBody>
                    <a:bodyPr/>
                    <a:lstStyle/>
                    <a:p>
                      <a:pPr algn="ctr"/>
                      <a:r>
                        <a:rPr lang="en-US" sz="1800" b="1" dirty="0"/>
                        <a:t>51234</a:t>
                      </a:r>
                    </a:p>
                  </a:txBody>
                  <a:tcPr>
                    <a:solidFill>
                      <a:schemeClr val="accent6">
                        <a:lumMod val="40000"/>
                        <a:lumOff val="60000"/>
                      </a:schemeClr>
                    </a:solidFill>
                  </a:tcPr>
                </a:tc>
                <a:tc>
                  <a:txBody>
                    <a:bodyPr/>
                    <a:lstStyle/>
                    <a:p>
                      <a:pPr algn="ctr"/>
                      <a:r>
                        <a:rPr lang="en-US" sz="1800" b="1" dirty="0"/>
                        <a:t>10.0 ETH</a:t>
                      </a:r>
                    </a:p>
                  </a:txBody>
                  <a:tcPr>
                    <a:solidFill>
                      <a:schemeClr val="accent6">
                        <a:lumMod val="40000"/>
                        <a:lumOff val="60000"/>
                      </a:schemeClr>
                    </a:solidFill>
                  </a:tcPr>
                </a:tc>
                <a:extLst>
                  <a:ext uri="{0D108BD9-81ED-4DB2-BD59-A6C34878D82A}">
                    <a16:rowId xmlns:a16="http://schemas.microsoft.com/office/drawing/2014/main" val="10002"/>
                  </a:ext>
                </a:extLst>
              </a:tr>
            </a:tbl>
          </a:graphicData>
        </a:graphic>
      </p:graphicFrame>
      <p:cxnSp>
        <p:nvCxnSpPr>
          <p:cNvPr id="18" name="Straight Arrow Connector 17"/>
          <p:cNvCxnSpPr/>
          <p:nvPr/>
        </p:nvCxnSpPr>
        <p:spPr>
          <a:xfrm>
            <a:off x="5366234" y="6021765"/>
            <a:ext cx="838866" cy="1"/>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037348" y="5598986"/>
            <a:ext cx="3347267" cy="830997"/>
          </a:xfrm>
          <a:prstGeom prst="rect">
            <a:avLst/>
          </a:prstGeom>
          <a:noFill/>
          <a:ln>
            <a:noFill/>
          </a:ln>
        </p:spPr>
        <p:txBody>
          <a:bodyPr wrap="square" rtlCol="0">
            <a:spAutoFit/>
          </a:bodyPr>
          <a:lstStyle/>
          <a:p>
            <a:pPr algn="ctr"/>
            <a:r>
              <a:rPr lang="en-US" sz="1600" dirty="0">
                <a:solidFill>
                  <a:srgbClr val="002060"/>
                </a:solidFill>
                <a:latin typeface="Candara" panose="020E0502030303020204" pitchFamily="34" charset="0"/>
              </a:rPr>
              <a:t>This portion of the </a:t>
            </a:r>
            <a:r>
              <a:rPr lang="en-US" sz="1600" dirty="0" err="1">
                <a:solidFill>
                  <a:srgbClr val="002060"/>
                </a:solidFill>
                <a:latin typeface="Candara" panose="020E0502030303020204" pitchFamily="34" charset="0"/>
              </a:rPr>
              <a:t>trie</a:t>
            </a:r>
            <a:r>
              <a:rPr lang="en-US" sz="1600" dirty="0">
                <a:solidFill>
                  <a:srgbClr val="002060"/>
                </a:solidFill>
                <a:latin typeface="Candara" panose="020E0502030303020204" pitchFamily="34" charset="0"/>
              </a:rPr>
              <a:t> remains the same (account 0xa711355 state is updated)</a:t>
            </a:r>
          </a:p>
        </p:txBody>
      </p:sp>
      <p:grpSp>
        <p:nvGrpSpPr>
          <p:cNvPr id="24" name="Group 23"/>
          <p:cNvGrpSpPr/>
          <p:nvPr/>
        </p:nvGrpSpPr>
        <p:grpSpPr>
          <a:xfrm>
            <a:off x="6192255" y="3769209"/>
            <a:ext cx="4039994" cy="2722939"/>
            <a:chOff x="2389811" y="1915047"/>
            <a:chExt cx="4364378" cy="2812467"/>
          </a:xfrm>
        </p:grpSpPr>
        <p:pic>
          <p:nvPicPr>
            <p:cNvPr id="25" name="Picture 24"/>
            <p:cNvPicPr>
              <a:picLocks noChangeAspect="1"/>
            </p:cNvPicPr>
            <p:nvPr/>
          </p:nvPicPr>
          <p:blipFill>
            <a:blip r:embed="rId3"/>
            <a:stretch>
              <a:fillRect/>
            </a:stretch>
          </p:blipFill>
          <p:spPr>
            <a:xfrm>
              <a:off x="2389811" y="1915047"/>
              <a:ext cx="4364378" cy="2812467"/>
            </a:xfrm>
            <a:prstGeom prst="rect">
              <a:avLst/>
            </a:prstGeom>
            <a:ln>
              <a:solidFill>
                <a:schemeClr val="tx1"/>
              </a:solidFill>
            </a:ln>
          </p:spPr>
        </p:pic>
        <p:pic>
          <p:nvPicPr>
            <p:cNvPr id="26" name="Picture 25"/>
            <p:cNvPicPr>
              <a:picLocks noChangeAspect="1"/>
            </p:cNvPicPr>
            <p:nvPr/>
          </p:nvPicPr>
          <p:blipFill>
            <a:blip r:embed="rId4"/>
            <a:stretch>
              <a:fillRect/>
            </a:stretch>
          </p:blipFill>
          <p:spPr>
            <a:xfrm>
              <a:off x="2389811" y="2630905"/>
              <a:ext cx="1267789" cy="582121"/>
            </a:xfrm>
            <a:prstGeom prst="rect">
              <a:avLst/>
            </a:prstGeom>
          </p:spPr>
        </p:pic>
      </p:grpSp>
      <p:sp>
        <p:nvSpPr>
          <p:cNvPr id="27" name="Oval 26"/>
          <p:cNvSpPr/>
          <p:nvPr/>
        </p:nvSpPr>
        <p:spPr>
          <a:xfrm>
            <a:off x="6779035" y="4823367"/>
            <a:ext cx="586780" cy="202502"/>
          </a:xfrm>
          <a:prstGeom prst="ellipse">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Tree>
    <p:extLst>
      <p:ext uri="{BB962C8B-B14F-4D97-AF65-F5344CB8AC3E}">
        <p14:creationId xmlns:p14="http://schemas.microsoft.com/office/powerpoint/2010/main" val="154935282"/>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animBg="1"/>
      <p:bldP spid="22" grpId="0"/>
      <p:bldP spid="27"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State Trie Update – Example</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60</a:t>
            </a:fld>
            <a:endParaRPr lang="en-US" dirty="0">
              <a:latin typeface="Candara" panose="020E0502030303020204" pitchFamily="34" charset="0"/>
            </a:endParaRPr>
          </a:p>
        </p:txBody>
      </p:sp>
      <p:sp>
        <p:nvSpPr>
          <p:cNvPr id="7" name="TextBox 6"/>
          <p:cNvSpPr txBox="1"/>
          <p:nvPr/>
        </p:nvSpPr>
        <p:spPr>
          <a:xfrm>
            <a:off x="518160" y="999973"/>
            <a:ext cx="6620577" cy="584775"/>
          </a:xfrm>
          <a:prstGeom prst="rect">
            <a:avLst/>
          </a:prstGeom>
          <a:noFill/>
          <a:ln>
            <a:noFill/>
          </a:ln>
        </p:spPr>
        <p:txBody>
          <a:bodyPr wrap="square" rtlCol="0">
            <a:spAutoFit/>
          </a:bodyPr>
          <a:lstStyle/>
          <a:p>
            <a:pPr algn="ctr"/>
            <a:r>
              <a:rPr lang="en-US" sz="1600" dirty="0">
                <a:latin typeface="Candara" panose="020E0502030303020204" pitchFamily="34" charset="0"/>
              </a:rPr>
              <a:t>Suppose another (6</a:t>
            </a:r>
            <a:r>
              <a:rPr lang="en-US" sz="1600" baseline="30000" dirty="0">
                <a:latin typeface="Candara" panose="020E0502030303020204" pitchFamily="34" charset="0"/>
              </a:rPr>
              <a:t>th</a:t>
            </a:r>
            <a:r>
              <a:rPr lang="en-US" sz="1600" dirty="0">
                <a:latin typeface="Candara" panose="020E0502030303020204" pitchFamily="34" charset="0"/>
              </a:rPr>
              <a:t>) Ethereum account (0x2f5d9eb) is created in our simplified world state, and it receives 7.0 ETH from 0xa351234 account</a:t>
            </a:r>
          </a:p>
        </p:txBody>
      </p:sp>
      <p:pic>
        <p:nvPicPr>
          <p:cNvPr id="8" name="Picture 7"/>
          <p:cNvPicPr>
            <a:picLocks noChangeAspect="1"/>
          </p:cNvPicPr>
          <p:nvPr/>
        </p:nvPicPr>
        <p:blipFill>
          <a:blip r:embed="rId2"/>
          <a:stretch>
            <a:fillRect/>
          </a:stretch>
        </p:blipFill>
        <p:spPr>
          <a:xfrm>
            <a:off x="2457451" y="2522227"/>
            <a:ext cx="3622508" cy="727246"/>
          </a:xfrm>
          <a:prstGeom prst="rect">
            <a:avLst/>
          </a:prstGeom>
        </p:spPr>
      </p:pic>
      <p:sp>
        <p:nvSpPr>
          <p:cNvPr id="9" name="TextBox 8"/>
          <p:cNvSpPr txBox="1"/>
          <p:nvPr/>
        </p:nvSpPr>
        <p:spPr>
          <a:xfrm>
            <a:off x="2177716" y="1878756"/>
            <a:ext cx="4054795" cy="584775"/>
          </a:xfrm>
          <a:prstGeom prst="rect">
            <a:avLst/>
          </a:prstGeom>
          <a:noFill/>
          <a:ln>
            <a:noFill/>
          </a:ln>
        </p:spPr>
        <p:txBody>
          <a:bodyPr wrap="square" rtlCol="0">
            <a:spAutoFit/>
          </a:bodyPr>
          <a:lstStyle/>
          <a:p>
            <a:pPr algn="ctr"/>
            <a:r>
              <a:rPr lang="en-US" sz="1600" dirty="0">
                <a:latin typeface="Candara" panose="020E0502030303020204" pitchFamily="34" charset="0"/>
              </a:rPr>
              <a:t>Root node is a branch node with two child nodes originating from positions </a:t>
            </a:r>
            <a:r>
              <a:rPr lang="en-US" sz="1600" b="1" dirty="0">
                <a:latin typeface="Candara" panose="020E0502030303020204" pitchFamily="34" charset="0"/>
              </a:rPr>
              <a:t>2</a:t>
            </a:r>
            <a:r>
              <a:rPr lang="en-US" sz="1600" dirty="0">
                <a:latin typeface="Candara" panose="020E0502030303020204" pitchFamily="34" charset="0"/>
              </a:rPr>
              <a:t> and </a:t>
            </a:r>
            <a:r>
              <a:rPr lang="en-US" sz="1600" b="1" dirty="0">
                <a:latin typeface="Candara" panose="020E0502030303020204" pitchFamily="34" charset="0"/>
              </a:rPr>
              <a:t>a</a:t>
            </a:r>
          </a:p>
        </p:txBody>
      </p:sp>
      <p:cxnSp>
        <p:nvCxnSpPr>
          <p:cNvPr id="10" name="Straight Connector 9"/>
          <p:cNvCxnSpPr/>
          <p:nvPr/>
        </p:nvCxnSpPr>
        <p:spPr>
          <a:xfrm flipH="1">
            <a:off x="2457451" y="3148616"/>
            <a:ext cx="510338" cy="346356"/>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pic>
        <p:nvPicPr>
          <p:cNvPr id="15" name="Picture 14"/>
          <p:cNvPicPr>
            <a:picLocks noChangeAspect="1"/>
          </p:cNvPicPr>
          <p:nvPr/>
        </p:nvPicPr>
        <p:blipFill>
          <a:blip r:embed="rId3"/>
          <a:stretch>
            <a:fillRect/>
          </a:stretch>
        </p:blipFill>
        <p:spPr>
          <a:xfrm>
            <a:off x="1620254" y="3494973"/>
            <a:ext cx="1716504" cy="719824"/>
          </a:xfrm>
          <a:prstGeom prst="rect">
            <a:avLst/>
          </a:prstGeom>
        </p:spPr>
      </p:pic>
      <p:grpSp>
        <p:nvGrpSpPr>
          <p:cNvPr id="41" name="Group 40"/>
          <p:cNvGrpSpPr/>
          <p:nvPr/>
        </p:nvGrpSpPr>
        <p:grpSpPr>
          <a:xfrm>
            <a:off x="3609473" y="3148616"/>
            <a:ext cx="5630780" cy="3348676"/>
            <a:chOff x="2085473" y="3220808"/>
            <a:chExt cx="5630780" cy="3348676"/>
          </a:xfrm>
        </p:grpSpPr>
        <p:cxnSp>
          <p:nvCxnSpPr>
            <p:cNvPr id="11" name="Straight Connector 10"/>
            <p:cNvCxnSpPr/>
            <p:nvPr/>
          </p:nvCxnSpPr>
          <p:spPr>
            <a:xfrm>
              <a:off x="3032026" y="3220808"/>
              <a:ext cx="0" cy="346356"/>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pic>
          <p:nvPicPr>
            <p:cNvPr id="17" name="Picture 16"/>
            <p:cNvPicPr>
              <a:picLocks noChangeAspect="1"/>
            </p:cNvPicPr>
            <p:nvPr/>
          </p:nvPicPr>
          <p:blipFill>
            <a:blip r:embed="rId2"/>
            <a:stretch>
              <a:fillRect/>
            </a:stretch>
          </p:blipFill>
          <p:spPr>
            <a:xfrm>
              <a:off x="2085473" y="3567165"/>
              <a:ext cx="3988179" cy="719824"/>
            </a:xfrm>
            <a:prstGeom prst="rect">
              <a:avLst/>
            </a:prstGeom>
          </p:spPr>
        </p:pic>
        <p:cxnSp>
          <p:nvCxnSpPr>
            <p:cNvPr id="18" name="Straight Connector 17"/>
            <p:cNvCxnSpPr/>
            <p:nvPr/>
          </p:nvCxnSpPr>
          <p:spPr>
            <a:xfrm>
              <a:off x="2855494" y="4219828"/>
              <a:ext cx="6080" cy="312661"/>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pic>
          <p:nvPicPr>
            <p:cNvPr id="20" name="Picture 19"/>
            <p:cNvPicPr>
              <a:picLocks noChangeAspect="1"/>
            </p:cNvPicPr>
            <p:nvPr/>
          </p:nvPicPr>
          <p:blipFill>
            <a:blip r:embed="rId4"/>
            <a:stretch>
              <a:fillRect/>
            </a:stretch>
          </p:blipFill>
          <p:spPr>
            <a:xfrm>
              <a:off x="2138028" y="4493553"/>
              <a:ext cx="1582879" cy="587358"/>
            </a:xfrm>
            <a:prstGeom prst="rect">
              <a:avLst/>
            </a:prstGeom>
          </p:spPr>
        </p:pic>
        <p:grpSp>
          <p:nvGrpSpPr>
            <p:cNvPr id="24" name="Group 23"/>
            <p:cNvGrpSpPr/>
            <p:nvPr/>
          </p:nvGrpSpPr>
          <p:grpSpPr>
            <a:xfrm>
              <a:off x="4363454" y="4532489"/>
              <a:ext cx="3352799" cy="2036995"/>
              <a:chOff x="2389811" y="1915047"/>
              <a:chExt cx="4364378" cy="2812467"/>
            </a:xfrm>
          </p:grpSpPr>
          <p:pic>
            <p:nvPicPr>
              <p:cNvPr id="25" name="Picture 24"/>
              <p:cNvPicPr>
                <a:picLocks noChangeAspect="1"/>
              </p:cNvPicPr>
              <p:nvPr/>
            </p:nvPicPr>
            <p:blipFill>
              <a:blip r:embed="rId5"/>
              <a:stretch>
                <a:fillRect/>
              </a:stretch>
            </p:blipFill>
            <p:spPr>
              <a:xfrm>
                <a:off x="2389811" y="1915047"/>
                <a:ext cx="4364378" cy="2812467"/>
              </a:xfrm>
              <a:prstGeom prst="rect">
                <a:avLst/>
              </a:prstGeom>
              <a:ln>
                <a:solidFill>
                  <a:schemeClr val="tx1"/>
                </a:solidFill>
              </a:ln>
            </p:spPr>
          </p:pic>
          <p:pic>
            <p:nvPicPr>
              <p:cNvPr id="26" name="Picture 25"/>
              <p:cNvPicPr>
                <a:picLocks noChangeAspect="1"/>
              </p:cNvPicPr>
              <p:nvPr/>
            </p:nvPicPr>
            <p:blipFill>
              <a:blip r:embed="rId6"/>
              <a:stretch>
                <a:fillRect/>
              </a:stretch>
            </p:blipFill>
            <p:spPr>
              <a:xfrm>
                <a:off x="2389811" y="2630905"/>
                <a:ext cx="1267789" cy="582121"/>
              </a:xfrm>
              <a:prstGeom prst="rect">
                <a:avLst/>
              </a:prstGeom>
            </p:spPr>
          </p:pic>
        </p:grpSp>
        <p:cxnSp>
          <p:nvCxnSpPr>
            <p:cNvPr id="27" name="Straight Connector 26"/>
            <p:cNvCxnSpPr>
              <a:endCxn id="25" idx="0"/>
            </p:cNvCxnSpPr>
            <p:nvPr/>
          </p:nvCxnSpPr>
          <p:spPr>
            <a:xfrm>
              <a:off x="3720907" y="4176961"/>
              <a:ext cx="2318947" cy="355528"/>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grpSp>
      <p:pic>
        <p:nvPicPr>
          <p:cNvPr id="29" name="Picture 28"/>
          <p:cNvPicPr>
            <a:picLocks noChangeAspect="1"/>
          </p:cNvPicPr>
          <p:nvPr/>
        </p:nvPicPr>
        <p:blipFill>
          <a:blip r:embed="rId7"/>
          <a:stretch>
            <a:fillRect/>
          </a:stretch>
        </p:blipFill>
        <p:spPr>
          <a:xfrm>
            <a:off x="7299227" y="999972"/>
            <a:ext cx="2868528" cy="2371426"/>
          </a:xfrm>
          <a:prstGeom prst="rect">
            <a:avLst/>
          </a:prstGeom>
        </p:spPr>
      </p:pic>
      <p:sp>
        <p:nvSpPr>
          <p:cNvPr id="34" name="Rectangle 33"/>
          <p:cNvSpPr/>
          <p:nvPr/>
        </p:nvSpPr>
        <p:spPr>
          <a:xfrm>
            <a:off x="3520162" y="3371398"/>
            <a:ext cx="5794601" cy="326201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35" name="TextBox 34"/>
          <p:cNvSpPr txBox="1"/>
          <p:nvPr/>
        </p:nvSpPr>
        <p:spPr>
          <a:xfrm>
            <a:off x="1603184" y="5122666"/>
            <a:ext cx="1573154" cy="1169551"/>
          </a:xfrm>
          <a:prstGeom prst="rect">
            <a:avLst/>
          </a:prstGeom>
          <a:noFill/>
          <a:ln>
            <a:noFill/>
          </a:ln>
        </p:spPr>
        <p:txBody>
          <a:bodyPr wrap="square" rtlCol="0">
            <a:spAutoFit/>
          </a:bodyPr>
          <a:lstStyle/>
          <a:p>
            <a:pPr algn="ctr"/>
            <a:r>
              <a:rPr lang="en-US" sz="1400" dirty="0">
                <a:solidFill>
                  <a:srgbClr val="002060"/>
                </a:solidFill>
                <a:latin typeface="Candara" panose="020E0502030303020204" pitchFamily="34" charset="0"/>
              </a:rPr>
              <a:t>This portion of the </a:t>
            </a:r>
            <a:r>
              <a:rPr lang="en-US" sz="1400" dirty="0" err="1">
                <a:solidFill>
                  <a:srgbClr val="002060"/>
                </a:solidFill>
                <a:latin typeface="Candara" panose="020E0502030303020204" pitchFamily="34" charset="0"/>
              </a:rPr>
              <a:t>trie</a:t>
            </a:r>
            <a:r>
              <a:rPr lang="en-US" sz="1400" dirty="0">
                <a:solidFill>
                  <a:srgbClr val="002060"/>
                </a:solidFill>
                <a:latin typeface="Candara" panose="020E0502030303020204" pitchFamily="34" charset="0"/>
              </a:rPr>
              <a:t> remains the same (account 0xa351234 state is updated)</a:t>
            </a:r>
          </a:p>
        </p:txBody>
      </p:sp>
      <p:cxnSp>
        <p:nvCxnSpPr>
          <p:cNvPr id="36" name="Straight Arrow Connector 35"/>
          <p:cNvCxnSpPr/>
          <p:nvPr/>
        </p:nvCxnSpPr>
        <p:spPr>
          <a:xfrm>
            <a:off x="3178312" y="5821063"/>
            <a:ext cx="346639" cy="0"/>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7268376" y="1610940"/>
            <a:ext cx="388019" cy="1698671"/>
          </a:xfrm>
          <a:prstGeom prst="rect">
            <a:avLst/>
          </a:prstGeom>
          <a:noFill/>
          <a:ln w="28575">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Candara" panose="020E0502030303020204" pitchFamily="34" charset="0"/>
            </a:endParaRPr>
          </a:p>
        </p:txBody>
      </p:sp>
      <p:sp>
        <p:nvSpPr>
          <p:cNvPr id="42" name="TextBox 41"/>
          <p:cNvSpPr txBox="1"/>
          <p:nvPr/>
        </p:nvSpPr>
        <p:spPr>
          <a:xfrm>
            <a:off x="9363752" y="4712528"/>
            <a:ext cx="1237441" cy="1200329"/>
          </a:xfrm>
          <a:prstGeom prst="rect">
            <a:avLst/>
          </a:prstGeom>
          <a:noFill/>
          <a:ln>
            <a:noFill/>
          </a:ln>
        </p:spPr>
        <p:txBody>
          <a:bodyPr wrap="square" rtlCol="0">
            <a:spAutoFit/>
          </a:bodyPr>
          <a:lstStyle/>
          <a:p>
            <a:pPr algn="ctr"/>
            <a:r>
              <a:rPr lang="en-US" sz="1200" dirty="0">
                <a:solidFill>
                  <a:schemeClr val="accent2"/>
                </a:solidFill>
                <a:latin typeface="Candara" panose="020E0502030303020204" pitchFamily="34" charset="0"/>
              </a:rPr>
              <a:t>Only a small part of the </a:t>
            </a:r>
            <a:r>
              <a:rPr lang="en-US" sz="1200" dirty="0" err="1">
                <a:solidFill>
                  <a:schemeClr val="accent2"/>
                </a:solidFill>
                <a:latin typeface="Candara" panose="020E0502030303020204" pitchFamily="34" charset="0"/>
              </a:rPr>
              <a:t>trie</a:t>
            </a:r>
            <a:r>
              <a:rPr lang="en-US" sz="1200" dirty="0">
                <a:solidFill>
                  <a:schemeClr val="accent2"/>
                </a:solidFill>
                <a:latin typeface="Candara" panose="020E0502030303020204" pitchFamily="34" charset="0"/>
              </a:rPr>
              <a:t> is updated, which makes the problem manageable</a:t>
            </a:r>
          </a:p>
        </p:txBody>
      </p:sp>
      <p:sp>
        <p:nvSpPr>
          <p:cNvPr id="43" name="Oval 42"/>
          <p:cNvSpPr/>
          <p:nvPr/>
        </p:nvSpPr>
        <p:spPr>
          <a:xfrm>
            <a:off x="4475816" y="4773860"/>
            <a:ext cx="830748" cy="245499"/>
          </a:xfrm>
          <a:prstGeom prst="ellipse">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Tree>
    <p:extLst>
      <p:ext uri="{BB962C8B-B14F-4D97-AF65-F5344CB8AC3E}">
        <p14:creationId xmlns:p14="http://schemas.microsoft.com/office/powerpoint/2010/main" val="2623241350"/>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4" grpId="0" animBg="1"/>
      <p:bldP spid="35" grpId="0"/>
      <p:bldP spid="40" grpId="0" animBg="1"/>
      <p:bldP spid="42" grpId="0"/>
      <p:bldP spid="43"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hash of addresses as path key?</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09600" y="3051041"/>
                <a:ext cx="10972800" cy="3468642"/>
              </a:xfrm>
            </p:spPr>
            <p:txBody>
              <a:bodyPr wrap="square" anchor="ctr" anchorCtr="0">
                <a:spAutoFit/>
              </a:bodyPr>
              <a:lstStyle/>
              <a:p>
                <a:r>
                  <a:rPr lang="en-US" sz="2400" dirty="0"/>
                  <a:t>Ethereum account addresses are 160-bit (40 nibble) long which means </a:t>
                </a:r>
                <a14:m>
                  <m:oMath xmlns:m="http://schemas.openxmlformats.org/officeDocument/2006/math">
                    <m:sSup>
                      <m:sSupPr>
                        <m:ctrlPr>
                          <a:rPr lang="en-US" sz="2400" b="0" i="1" dirty="0" smtClean="0">
                            <a:latin typeface="Cambria Math" panose="02040503050406030204" pitchFamily="18" charset="0"/>
                          </a:rPr>
                        </m:ctrlPr>
                      </m:sSupPr>
                      <m:e>
                        <m:r>
                          <a:rPr lang="en-US" sz="2400" b="0" i="1" dirty="0" smtClean="0">
                            <a:latin typeface="Cambria Math" panose="02040503050406030204" pitchFamily="18" charset="0"/>
                          </a:rPr>
                          <m:t>16</m:t>
                        </m:r>
                      </m:e>
                      <m:sup>
                        <m:r>
                          <a:rPr lang="en-US" sz="2400" b="0" i="1" dirty="0" smtClean="0">
                            <a:latin typeface="Cambria Math" panose="02040503050406030204" pitchFamily="18" charset="0"/>
                          </a:rPr>
                          <m:t>40</m:t>
                        </m:r>
                      </m:sup>
                    </m:sSup>
                    <m:r>
                      <a:rPr lang="en-US" sz="2400" b="0" i="1" dirty="0" smtClean="0">
                        <a:latin typeface="Cambria Math" panose="02040503050406030204" pitchFamily="18" charset="0"/>
                      </a:rPr>
                      <m:t>=</m:t>
                    </m:r>
                    <m:sSup>
                      <m:sSupPr>
                        <m:ctrlPr>
                          <a:rPr lang="en-US" sz="2400" b="0" i="1" dirty="0" smtClean="0">
                            <a:latin typeface="Cambria Math" panose="02040503050406030204" pitchFamily="18" charset="0"/>
                          </a:rPr>
                        </m:ctrlPr>
                      </m:sSupPr>
                      <m:e>
                        <m:r>
                          <a:rPr lang="en-US" sz="2400" b="0" i="1" dirty="0" smtClean="0">
                            <a:latin typeface="Cambria Math" panose="02040503050406030204" pitchFamily="18" charset="0"/>
                          </a:rPr>
                          <m:t>2</m:t>
                        </m:r>
                      </m:e>
                      <m:sup>
                        <m:r>
                          <a:rPr lang="en-US" sz="2400" b="0" i="1" dirty="0" smtClean="0">
                            <a:latin typeface="Cambria Math" panose="02040503050406030204" pitchFamily="18" charset="0"/>
                          </a:rPr>
                          <m:t>160</m:t>
                        </m:r>
                      </m:sup>
                    </m:sSup>
                  </m:oMath>
                </a14:m>
                <a:r>
                  <a:rPr lang="en-US" sz="2400" dirty="0"/>
                  <a:t> distinct leaves can be constructed. Current unique Ethereum addresses are roughly </a:t>
                </a:r>
                <a14:m>
                  <m:oMath xmlns:m="http://schemas.openxmlformats.org/officeDocument/2006/math">
                    <m:sSup>
                      <m:sSupPr>
                        <m:ctrlPr>
                          <a:rPr lang="en-US" sz="2400" i="1" dirty="0" smtClean="0">
                            <a:latin typeface="Cambria Math" panose="02040503050406030204" pitchFamily="18" charset="0"/>
                          </a:rPr>
                        </m:ctrlPr>
                      </m:sSupPr>
                      <m:e>
                        <m:r>
                          <a:rPr lang="en-US" sz="2400" i="1" dirty="0" smtClean="0">
                            <a:latin typeface="Cambria Math" panose="02040503050406030204" pitchFamily="18" charset="0"/>
                          </a:rPr>
                          <m:t>2</m:t>
                        </m:r>
                      </m:e>
                      <m:sup>
                        <m:r>
                          <a:rPr lang="en-US" sz="2400" i="1" dirty="0" smtClean="0">
                            <a:latin typeface="Cambria Math" panose="02040503050406030204" pitchFamily="18" charset="0"/>
                          </a:rPr>
                          <m:t>28</m:t>
                        </m:r>
                      </m:sup>
                    </m:sSup>
                  </m:oMath>
                </a14:m>
                <a:r>
                  <a:rPr lang="en-US" sz="2400" dirty="0"/>
                  <a:t>, which is a lot smaller number than </a:t>
                </a:r>
                <a14:m>
                  <m:oMath xmlns:m="http://schemas.openxmlformats.org/officeDocument/2006/math">
                    <m:sSup>
                      <m:sSupPr>
                        <m:ctrlPr>
                          <a:rPr lang="en-US" sz="2400" i="1" dirty="0" smtClean="0">
                            <a:latin typeface="Cambria Math" panose="02040503050406030204" pitchFamily="18" charset="0"/>
                          </a:rPr>
                        </m:ctrlPr>
                      </m:sSupPr>
                      <m:e>
                        <m:r>
                          <a:rPr lang="en-US" sz="2400" i="1" dirty="0" smtClean="0">
                            <a:latin typeface="Cambria Math" panose="02040503050406030204" pitchFamily="18" charset="0"/>
                          </a:rPr>
                          <m:t>2</m:t>
                        </m:r>
                      </m:e>
                      <m:sup>
                        <m:r>
                          <a:rPr lang="en-US" sz="2400" b="0" i="1" dirty="0" smtClean="0">
                            <a:latin typeface="Cambria Math" panose="02040503050406030204" pitchFamily="18" charset="0"/>
                          </a:rPr>
                          <m:t>160</m:t>
                        </m:r>
                      </m:sup>
                    </m:sSup>
                  </m:oMath>
                </a14:m>
                <a:endParaRPr lang="en-US" sz="2400" dirty="0"/>
              </a:p>
              <a:p>
                <a:r>
                  <a:rPr lang="en-US" sz="2400" dirty="0"/>
                  <a:t>Why Ethereum uses 256-bit (64 nibble) hash of account addresses to build a state </a:t>
                </a:r>
                <a:r>
                  <a:rPr lang="en-US" sz="2400" dirty="0" err="1"/>
                  <a:t>trie</a:t>
                </a:r>
                <a:r>
                  <a:rPr lang="en-US" sz="2400" dirty="0"/>
                  <a:t>?</a:t>
                </a:r>
              </a:p>
              <a:p>
                <a:r>
                  <a:rPr lang="en-US" sz="2400" dirty="0"/>
                  <a:t>When account address is hashed, it randomizes its string representation and contributes to more random distribution of branching in the state </a:t>
                </a:r>
                <a:r>
                  <a:rPr lang="en-US" sz="2400" dirty="0" err="1"/>
                  <a:t>trie</a:t>
                </a:r>
                <a:endParaRPr lang="en-US" sz="2400" dirty="0"/>
              </a:p>
              <a:p>
                <a:r>
                  <a:rPr lang="en-US" sz="2400" dirty="0"/>
                  <a:t>This makes it impossible to construct account addresses in a way that degrades the resulting </a:t>
                </a:r>
                <a:r>
                  <a:rPr lang="en-US" sz="2400" dirty="0" err="1"/>
                  <a:t>trie</a:t>
                </a:r>
                <a:r>
                  <a:rPr lang="en-US" sz="2400" dirty="0"/>
                  <a:t> by containing long paths with minimal branching </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609600" y="3051041"/>
                <a:ext cx="10972800" cy="3468642"/>
              </a:xfrm>
              <a:blipFill>
                <a:blip r:embed="rId3"/>
                <a:stretch>
                  <a:fillRect l="-722" t="-1930" r="-278" b="-3333"/>
                </a:stretch>
              </a:blipFill>
            </p:spPr>
            <p:txBody>
              <a:bodyPr/>
              <a:lstStyle/>
              <a:p>
                <a:r>
                  <a:rPr lang="en-PK">
                    <a:noFill/>
                  </a:rPr>
                  <a:t> </a:t>
                </a:r>
              </a:p>
            </p:txBody>
          </p:sp>
        </mc:Fallback>
      </mc:AlternateContent>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61</a:t>
            </a:fld>
            <a:endParaRPr lang="en-US" dirty="0">
              <a:latin typeface="Candara" panose="020E0502030303020204" pitchFamily="34" charset="0"/>
            </a:endParaRPr>
          </a:p>
        </p:txBody>
      </p:sp>
      <p:sp>
        <p:nvSpPr>
          <p:cNvPr id="6" name="TextBox 5">
            <a:extLst>
              <a:ext uri="{FF2B5EF4-FFF2-40B4-BE49-F238E27FC236}">
                <a16:creationId xmlns:a16="http://schemas.microsoft.com/office/drawing/2014/main" id="{0EEC3132-74CB-A847-F209-ED16F1DA5F75}"/>
              </a:ext>
            </a:extLst>
          </p:cNvPr>
          <p:cNvSpPr txBox="1"/>
          <p:nvPr/>
        </p:nvSpPr>
        <p:spPr>
          <a:xfrm>
            <a:off x="6460108" y="1284939"/>
            <a:ext cx="5122292" cy="1323439"/>
          </a:xfrm>
          <a:prstGeom prst="rect">
            <a:avLst/>
          </a:prstGeom>
          <a:noFill/>
        </p:spPr>
        <p:txBody>
          <a:bodyPr wrap="square">
            <a:spAutoFit/>
          </a:bodyPr>
          <a:lstStyle/>
          <a:p>
            <a:pPr>
              <a:buNone/>
            </a:pPr>
            <a:r>
              <a:rPr lang="en-US" sz="2000" b="1" dirty="0"/>
              <a:t>Trie key = hash(account address)</a:t>
            </a:r>
            <a:endParaRPr lang="en-US" sz="2000" dirty="0"/>
          </a:p>
          <a:p>
            <a:pPr>
              <a:buFont typeface="Arial" panose="020B0604020202020204" pitchFamily="34" charset="0"/>
              <a:buChar char="•"/>
            </a:pPr>
            <a:r>
              <a:rPr lang="en-US" sz="2000" dirty="0"/>
              <a:t> Input: </a:t>
            </a:r>
            <a:r>
              <a:rPr lang="en-US" sz="2000" b="1" dirty="0"/>
              <a:t>Ethereum address (160 bits / 20 bytes)</a:t>
            </a:r>
            <a:r>
              <a:rPr lang="en-US" sz="2000" dirty="0"/>
              <a:t> </a:t>
            </a:r>
          </a:p>
          <a:p>
            <a:pPr>
              <a:buFont typeface="Arial" panose="020B0604020202020204" pitchFamily="34" charset="0"/>
              <a:buChar char="•"/>
            </a:pPr>
            <a:r>
              <a:rPr lang="en-US" sz="2000" dirty="0"/>
              <a:t> Hash: </a:t>
            </a:r>
            <a:r>
              <a:rPr lang="en-US" sz="2000" b="1" dirty="0"/>
              <a:t>Keccak-256 (256-bit output)</a:t>
            </a:r>
            <a:r>
              <a:rPr lang="en-US" sz="2000" dirty="0"/>
              <a:t> </a:t>
            </a:r>
          </a:p>
          <a:p>
            <a:pPr>
              <a:buFont typeface="Arial" panose="020B0604020202020204" pitchFamily="34" charset="0"/>
              <a:buChar char="•"/>
            </a:pPr>
            <a:r>
              <a:rPr lang="en-US" sz="2000" dirty="0"/>
              <a:t> Output: </a:t>
            </a:r>
            <a:r>
              <a:rPr lang="en-US" sz="2000" b="1" dirty="0"/>
              <a:t>256-bit key used in the state </a:t>
            </a:r>
            <a:r>
              <a:rPr lang="en-US" sz="2000" b="1" dirty="0" err="1"/>
              <a:t>trie</a:t>
            </a:r>
            <a:endParaRPr lang="en-US" sz="2000" dirty="0"/>
          </a:p>
        </p:txBody>
      </p:sp>
      <p:sp>
        <p:nvSpPr>
          <p:cNvPr id="8" name="TextBox 7">
            <a:extLst>
              <a:ext uri="{FF2B5EF4-FFF2-40B4-BE49-F238E27FC236}">
                <a16:creationId xmlns:a16="http://schemas.microsoft.com/office/drawing/2014/main" id="{336CF04F-479D-151A-10BF-7B2D707581D0}"/>
              </a:ext>
            </a:extLst>
          </p:cNvPr>
          <p:cNvSpPr txBox="1"/>
          <p:nvPr/>
        </p:nvSpPr>
        <p:spPr>
          <a:xfrm>
            <a:off x="609600" y="1346493"/>
            <a:ext cx="5941323" cy="1200329"/>
          </a:xfrm>
          <a:prstGeom prst="rect">
            <a:avLst/>
          </a:prstGeom>
          <a:noFill/>
        </p:spPr>
        <p:txBody>
          <a:bodyPr wrap="square">
            <a:spAutoFit/>
          </a:bodyPr>
          <a:lstStyle/>
          <a:p>
            <a:pPr>
              <a:buNone/>
            </a:pPr>
            <a:r>
              <a:rPr lang="en-US" b="1" dirty="0"/>
              <a:t>Account Address = last 160 bits of hash(public key)</a:t>
            </a:r>
            <a:endParaRPr lang="en-US" dirty="0"/>
          </a:p>
          <a:p>
            <a:pPr>
              <a:buFont typeface="Arial" panose="020B0604020202020204" pitchFamily="34" charset="0"/>
              <a:buChar char="•"/>
            </a:pPr>
            <a:r>
              <a:rPr lang="en-US" dirty="0"/>
              <a:t> Public key: </a:t>
            </a:r>
            <a:r>
              <a:rPr lang="en-US" b="1" dirty="0"/>
              <a:t>uncompressed ECDSA public key (512 b / 64 B)</a:t>
            </a:r>
            <a:endParaRPr lang="en-US" dirty="0"/>
          </a:p>
          <a:p>
            <a:pPr>
              <a:buFont typeface="Arial" panose="020B0604020202020204" pitchFamily="34" charset="0"/>
              <a:buChar char="•"/>
            </a:pPr>
            <a:r>
              <a:rPr lang="en-US" dirty="0"/>
              <a:t> Hash: </a:t>
            </a:r>
            <a:r>
              <a:rPr lang="en-US" b="1" dirty="0"/>
              <a:t>Keccak-256 (256-bit output)</a:t>
            </a:r>
            <a:r>
              <a:rPr lang="en-US" dirty="0"/>
              <a:t> </a:t>
            </a:r>
          </a:p>
          <a:p>
            <a:pPr>
              <a:buFont typeface="Arial" panose="020B0604020202020204" pitchFamily="34" charset="0"/>
              <a:buChar char="•"/>
            </a:pPr>
            <a:r>
              <a:rPr lang="en-US" dirty="0"/>
              <a:t> Take the </a:t>
            </a:r>
            <a:r>
              <a:rPr lang="en-US" b="1" dirty="0"/>
              <a:t>rightmost 160 bits (20 bytes)</a:t>
            </a:r>
            <a:r>
              <a:rPr lang="en-US" dirty="0"/>
              <a:t> → Ethereum address</a:t>
            </a:r>
          </a:p>
        </p:txBody>
      </p:sp>
    </p:spTree>
    <p:extLst>
      <p:ext uri="{BB962C8B-B14F-4D97-AF65-F5344CB8AC3E}">
        <p14:creationId xmlns:p14="http://schemas.microsoft.com/office/powerpoint/2010/main" val="2047620123"/>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8"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Ethereum Tries</a:t>
            </a:r>
          </a:p>
        </p:txBody>
      </p:sp>
      <p:sp>
        <p:nvSpPr>
          <p:cNvPr id="3" name="Content Placeholder 2"/>
          <p:cNvSpPr>
            <a:spLocks noGrp="1"/>
          </p:cNvSpPr>
          <p:nvPr>
            <p:ph idx="1"/>
          </p:nvPr>
        </p:nvSpPr>
        <p:spPr>
          <a:xfrm>
            <a:off x="721896" y="1827106"/>
            <a:ext cx="5229726" cy="1508004"/>
          </a:xfrm>
          <a:solidFill>
            <a:schemeClr val="accent5">
              <a:lumMod val="20000"/>
              <a:lumOff val="80000"/>
            </a:schemeClr>
          </a:solidFill>
          <a:ln>
            <a:solidFill>
              <a:schemeClr val="tx1"/>
            </a:solidFill>
          </a:ln>
        </p:spPr>
        <p:txBody>
          <a:bodyPr>
            <a:noAutofit/>
          </a:bodyPr>
          <a:lstStyle/>
          <a:p>
            <a:pPr marL="0" indent="0" algn="ctr">
              <a:buNone/>
            </a:pPr>
            <a:r>
              <a:rPr lang="en-US" sz="1600" b="1" u="sng" dirty="0"/>
              <a:t>State Trie</a:t>
            </a:r>
          </a:p>
          <a:p>
            <a:pPr marL="0" indent="0" algn="ctr">
              <a:buNone/>
            </a:pPr>
            <a:r>
              <a:rPr lang="en-US" sz="1600" dirty="0"/>
              <a:t>It is a representation of the world state containing all the addresses of all the accounts and maps them to the account states (MPT structure)</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62</a:t>
            </a:fld>
            <a:endParaRPr lang="en-US" dirty="0">
              <a:latin typeface="Candara" panose="020E0502030303020204" pitchFamily="34" charset="0"/>
            </a:endParaRPr>
          </a:p>
        </p:txBody>
      </p:sp>
      <p:sp>
        <p:nvSpPr>
          <p:cNvPr id="5" name="Rectangle 4"/>
          <p:cNvSpPr/>
          <p:nvPr/>
        </p:nvSpPr>
        <p:spPr>
          <a:xfrm>
            <a:off x="721896" y="5010701"/>
            <a:ext cx="5229726" cy="1323439"/>
          </a:xfrm>
          <a:prstGeom prst="rect">
            <a:avLst/>
          </a:prstGeom>
          <a:solidFill>
            <a:schemeClr val="accent2">
              <a:lumMod val="20000"/>
              <a:lumOff val="80000"/>
            </a:schemeClr>
          </a:solidFill>
          <a:ln>
            <a:solidFill>
              <a:schemeClr val="tx1"/>
            </a:solidFill>
          </a:ln>
        </p:spPr>
        <p:txBody>
          <a:bodyPr wrap="square">
            <a:spAutoFit/>
          </a:bodyPr>
          <a:lstStyle/>
          <a:p>
            <a:pPr algn="ctr"/>
            <a:r>
              <a:rPr lang="en-US" sz="1600" b="1" u="sng" dirty="0">
                <a:latin typeface="Candara" panose="020E0502030303020204" pitchFamily="34" charset="0"/>
              </a:rPr>
              <a:t>Storage Trie </a:t>
            </a:r>
            <a:endParaRPr lang="en-US" sz="1600" u="sng" dirty="0">
              <a:latin typeface="Candara" panose="020E0502030303020204" pitchFamily="34" charset="0"/>
            </a:endParaRPr>
          </a:p>
          <a:p>
            <a:pPr algn="ctr"/>
            <a:r>
              <a:rPr lang="en-US" sz="1600" dirty="0">
                <a:latin typeface="Candara" panose="020E0502030303020204" pitchFamily="34" charset="0"/>
              </a:rPr>
              <a:t>For every account, there is a storage </a:t>
            </a:r>
            <a:r>
              <a:rPr lang="en-US" sz="1600" dirty="0" err="1">
                <a:latin typeface="Candara" panose="020E0502030303020204" pitchFamily="34" charset="0"/>
              </a:rPr>
              <a:t>trie</a:t>
            </a:r>
            <a:r>
              <a:rPr lang="en-US" sz="1600" dirty="0">
                <a:latin typeface="Candara" panose="020E0502030303020204" pitchFamily="34" charset="0"/>
              </a:rPr>
              <a:t>, which contains the storage contents and storage addressing scheme of this account. Every account state in the world </a:t>
            </a:r>
            <a:r>
              <a:rPr lang="en-US" sz="1600" dirty="0" err="1">
                <a:latin typeface="Candara" panose="020E0502030303020204" pitchFamily="34" charset="0"/>
              </a:rPr>
              <a:t>trie</a:t>
            </a:r>
            <a:r>
              <a:rPr lang="en-US" sz="1600" dirty="0">
                <a:latin typeface="Candara" panose="020E0502030303020204" pitchFamily="34" charset="0"/>
              </a:rPr>
              <a:t> contains the root of the storage </a:t>
            </a:r>
            <a:r>
              <a:rPr lang="en-US" sz="1600" dirty="0" err="1">
                <a:latin typeface="Candara" panose="020E0502030303020204" pitchFamily="34" charset="0"/>
              </a:rPr>
              <a:t>trie</a:t>
            </a:r>
            <a:r>
              <a:rPr lang="en-US" sz="1600" dirty="0">
                <a:latin typeface="Candara" panose="020E0502030303020204" pitchFamily="34" charset="0"/>
              </a:rPr>
              <a:t> of this account (</a:t>
            </a:r>
            <a:r>
              <a:rPr lang="en-US" sz="1600" dirty="0" err="1">
                <a:latin typeface="Candara" panose="020E0502030303020204" pitchFamily="34" charset="0"/>
              </a:rPr>
              <a:t>storagehash</a:t>
            </a:r>
            <a:r>
              <a:rPr lang="en-US" sz="1600" dirty="0">
                <a:latin typeface="Candara" panose="020E0502030303020204" pitchFamily="34" charset="0"/>
              </a:rPr>
              <a:t>)</a:t>
            </a:r>
          </a:p>
        </p:txBody>
      </p:sp>
      <p:sp>
        <p:nvSpPr>
          <p:cNvPr id="6" name="Rectangle 5"/>
          <p:cNvSpPr/>
          <p:nvPr/>
        </p:nvSpPr>
        <p:spPr>
          <a:xfrm>
            <a:off x="6096000" y="2081242"/>
            <a:ext cx="5229726" cy="830997"/>
          </a:xfrm>
          <a:prstGeom prst="rect">
            <a:avLst/>
          </a:prstGeom>
          <a:solidFill>
            <a:schemeClr val="accent6">
              <a:lumMod val="20000"/>
              <a:lumOff val="80000"/>
            </a:schemeClr>
          </a:solidFill>
          <a:ln>
            <a:solidFill>
              <a:schemeClr val="tx1"/>
            </a:solidFill>
          </a:ln>
        </p:spPr>
        <p:txBody>
          <a:bodyPr wrap="square">
            <a:spAutoFit/>
          </a:bodyPr>
          <a:lstStyle/>
          <a:p>
            <a:pPr algn="ctr"/>
            <a:r>
              <a:rPr lang="en-US" sz="1600" b="1" u="sng" dirty="0">
                <a:latin typeface="Candara" panose="020E0502030303020204" pitchFamily="34" charset="0"/>
              </a:rPr>
              <a:t>Transaction Trie </a:t>
            </a:r>
          </a:p>
          <a:p>
            <a:pPr algn="ctr"/>
            <a:r>
              <a:rPr lang="en-US" sz="1600" dirty="0">
                <a:latin typeface="Candara" panose="020E0502030303020204" pitchFamily="34" charset="0"/>
              </a:rPr>
              <a:t>With every new block, a new transaction </a:t>
            </a:r>
            <a:r>
              <a:rPr lang="en-US" sz="1600" dirty="0" err="1">
                <a:latin typeface="Candara" panose="020E0502030303020204" pitchFamily="34" charset="0"/>
              </a:rPr>
              <a:t>trie</a:t>
            </a:r>
            <a:r>
              <a:rPr lang="en-US" sz="1600" dirty="0">
                <a:latin typeface="Candara" panose="020E0502030303020204" pitchFamily="34" charset="0"/>
              </a:rPr>
              <a:t> (MPT) is built up, containing all the transactions from the block  </a:t>
            </a:r>
          </a:p>
        </p:txBody>
      </p:sp>
      <p:sp>
        <p:nvSpPr>
          <p:cNvPr id="7" name="Rectangle 6"/>
          <p:cNvSpPr/>
          <p:nvPr/>
        </p:nvSpPr>
        <p:spPr>
          <a:xfrm>
            <a:off x="721896" y="3688694"/>
            <a:ext cx="10603829" cy="1077218"/>
          </a:xfrm>
          <a:prstGeom prst="rect">
            <a:avLst/>
          </a:prstGeom>
          <a:solidFill>
            <a:schemeClr val="accent4">
              <a:lumMod val="20000"/>
              <a:lumOff val="80000"/>
            </a:schemeClr>
          </a:solidFill>
          <a:ln>
            <a:solidFill>
              <a:schemeClr val="tx1"/>
            </a:solidFill>
          </a:ln>
        </p:spPr>
        <p:txBody>
          <a:bodyPr wrap="square">
            <a:spAutoFit/>
          </a:bodyPr>
          <a:lstStyle/>
          <a:p>
            <a:pPr algn="ctr"/>
            <a:r>
              <a:rPr lang="en-US" sz="1600" b="1" u="sng" dirty="0">
                <a:latin typeface="Candara" panose="020E0502030303020204" pitchFamily="34" charset="0"/>
              </a:rPr>
              <a:t>Transaction Receipt Trie</a:t>
            </a:r>
          </a:p>
          <a:p>
            <a:pPr algn="ctr"/>
            <a:r>
              <a:rPr lang="en-US" sz="1600" dirty="0">
                <a:latin typeface="Candara" panose="020E0502030303020204" pitchFamily="34" charset="0"/>
              </a:rPr>
              <a:t>Transaction receipts are used to record the outcomes of the transaction execution. Information such as transaction status code, cumulative gas used in the block, logs (logger’s address, log data, log topic), and a bloom filter (256-bit hash of logs) are used to build this </a:t>
            </a:r>
            <a:r>
              <a:rPr lang="en-US" sz="1600" dirty="0" err="1">
                <a:latin typeface="Candara" panose="020E0502030303020204" pitchFamily="34" charset="0"/>
              </a:rPr>
              <a:t>trie</a:t>
            </a:r>
            <a:r>
              <a:rPr lang="en-US" sz="1600" dirty="0">
                <a:latin typeface="Candara" panose="020E0502030303020204" pitchFamily="34" charset="0"/>
              </a:rPr>
              <a:t> (MPT structure)</a:t>
            </a:r>
          </a:p>
        </p:txBody>
      </p:sp>
      <p:sp>
        <p:nvSpPr>
          <p:cNvPr id="9" name="TextBox 8"/>
          <p:cNvSpPr txBox="1"/>
          <p:nvPr/>
        </p:nvSpPr>
        <p:spPr>
          <a:xfrm>
            <a:off x="7158789" y="5119498"/>
            <a:ext cx="4166936" cy="1200329"/>
          </a:xfrm>
          <a:prstGeom prst="rect">
            <a:avLst/>
          </a:prstGeom>
          <a:solidFill>
            <a:schemeClr val="bg1">
              <a:lumMod val="95000"/>
            </a:schemeClr>
          </a:solidFill>
          <a:ln>
            <a:solidFill>
              <a:schemeClr val="tx1"/>
            </a:solidFill>
          </a:ln>
        </p:spPr>
        <p:txBody>
          <a:bodyPr wrap="square" rtlCol="0">
            <a:spAutoFit/>
          </a:bodyPr>
          <a:lstStyle/>
          <a:p>
            <a:pPr algn="ctr"/>
            <a:r>
              <a:rPr lang="en-US" dirty="0">
                <a:latin typeface="Candara" panose="020E0502030303020204" pitchFamily="34" charset="0"/>
              </a:rPr>
              <a:t>Roots of state </a:t>
            </a:r>
            <a:r>
              <a:rPr lang="en-US" dirty="0" err="1">
                <a:latin typeface="Candara" panose="020E0502030303020204" pitchFamily="34" charset="0"/>
              </a:rPr>
              <a:t>trie</a:t>
            </a:r>
            <a:r>
              <a:rPr lang="en-US" dirty="0">
                <a:latin typeface="Candara" panose="020E0502030303020204" pitchFamily="34" charset="0"/>
              </a:rPr>
              <a:t>, transaction </a:t>
            </a:r>
            <a:r>
              <a:rPr lang="en-US" dirty="0" err="1">
                <a:latin typeface="Candara" panose="020E0502030303020204" pitchFamily="34" charset="0"/>
              </a:rPr>
              <a:t>trie</a:t>
            </a:r>
            <a:r>
              <a:rPr lang="en-US" dirty="0">
                <a:latin typeface="Candara" panose="020E0502030303020204" pitchFamily="34" charset="0"/>
              </a:rPr>
              <a:t>, and transaction receipt </a:t>
            </a:r>
            <a:r>
              <a:rPr lang="en-US" dirty="0" err="1">
                <a:latin typeface="Candara" panose="020E0502030303020204" pitchFamily="34" charset="0"/>
              </a:rPr>
              <a:t>trie</a:t>
            </a:r>
            <a:r>
              <a:rPr lang="en-US" dirty="0">
                <a:latin typeface="Candara" panose="020E0502030303020204" pitchFamily="34" charset="0"/>
              </a:rPr>
              <a:t> are hashed (Keccak-256 hash) and included in the block header</a:t>
            </a:r>
          </a:p>
        </p:txBody>
      </p:sp>
      <p:sp>
        <p:nvSpPr>
          <p:cNvPr id="8" name="Rectangle 7"/>
          <p:cNvSpPr/>
          <p:nvPr/>
        </p:nvSpPr>
        <p:spPr>
          <a:xfrm>
            <a:off x="582793" y="1222019"/>
            <a:ext cx="11074542" cy="461665"/>
          </a:xfrm>
          <a:prstGeom prst="rect">
            <a:avLst/>
          </a:prstGeom>
          <a:noFill/>
          <a:ln>
            <a:noFill/>
          </a:ln>
        </p:spPr>
        <p:txBody>
          <a:bodyPr wrap="square">
            <a:spAutoFit/>
          </a:bodyPr>
          <a:lstStyle/>
          <a:p>
            <a:pPr algn="ctr"/>
            <a:r>
              <a:rPr lang="en-US" sz="2400" dirty="0">
                <a:solidFill>
                  <a:srgbClr val="002060"/>
                </a:solidFill>
                <a:latin typeface="Candara" panose="020E0502030303020204" pitchFamily="34" charset="0"/>
              </a:rPr>
              <a:t>In Ethereum, the universal data structure is Merkle Patricia Trie (MPT)</a:t>
            </a:r>
          </a:p>
        </p:txBody>
      </p:sp>
    </p:spTree>
    <p:extLst>
      <p:ext uri="{BB962C8B-B14F-4D97-AF65-F5344CB8AC3E}">
        <p14:creationId xmlns:p14="http://schemas.microsoft.com/office/powerpoint/2010/main" val="1279003146"/>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5" grpId="0" animBg="1"/>
      <p:bldP spid="6" grpId="0" animBg="1"/>
      <p:bldP spid="7" grpId="0" animBg="1"/>
      <p:bldP spid="9"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Rectangle 85"/>
          <p:cNvSpPr/>
          <p:nvPr/>
        </p:nvSpPr>
        <p:spPr>
          <a:xfrm>
            <a:off x="8472917" y="1116882"/>
            <a:ext cx="2004536" cy="172904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pic>
        <p:nvPicPr>
          <p:cNvPr id="87" name="Picture 86"/>
          <p:cNvPicPr>
            <a:picLocks noChangeAspect="1"/>
          </p:cNvPicPr>
          <p:nvPr/>
        </p:nvPicPr>
        <p:blipFill>
          <a:blip r:embed="rId3"/>
          <a:stretch>
            <a:fillRect/>
          </a:stretch>
        </p:blipFill>
        <p:spPr>
          <a:xfrm>
            <a:off x="8553127" y="1449020"/>
            <a:ext cx="1786145" cy="1340585"/>
          </a:xfrm>
          <a:prstGeom prst="rect">
            <a:avLst/>
          </a:prstGeom>
        </p:spPr>
      </p:pic>
      <p:sp>
        <p:nvSpPr>
          <p:cNvPr id="81" name="Rectangle 80"/>
          <p:cNvSpPr/>
          <p:nvPr/>
        </p:nvSpPr>
        <p:spPr>
          <a:xfrm>
            <a:off x="4468616" y="3001934"/>
            <a:ext cx="2004536" cy="172904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pic>
        <p:nvPicPr>
          <p:cNvPr id="82" name="Picture 81"/>
          <p:cNvPicPr>
            <a:picLocks noChangeAspect="1"/>
          </p:cNvPicPr>
          <p:nvPr/>
        </p:nvPicPr>
        <p:blipFill>
          <a:blip r:embed="rId3"/>
          <a:stretch>
            <a:fillRect/>
          </a:stretch>
        </p:blipFill>
        <p:spPr>
          <a:xfrm>
            <a:off x="4548826" y="3334072"/>
            <a:ext cx="1786145" cy="1340585"/>
          </a:xfrm>
          <a:prstGeom prst="rect">
            <a:avLst/>
          </a:prstGeom>
        </p:spPr>
      </p:pic>
      <p:sp>
        <p:nvSpPr>
          <p:cNvPr id="54" name="TextBox 53"/>
          <p:cNvSpPr txBox="1"/>
          <p:nvPr/>
        </p:nvSpPr>
        <p:spPr>
          <a:xfrm>
            <a:off x="8531840" y="1090220"/>
            <a:ext cx="1986087" cy="338554"/>
          </a:xfrm>
          <a:prstGeom prst="rect">
            <a:avLst/>
          </a:prstGeom>
          <a:noFill/>
        </p:spPr>
        <p:txBody>
          <a:bodyPr wrap="square" rtlCol="0">
            <a:spAutoFit/>
          </a:bodyPr>
          <a:lstStyle/>
          <a:p>
            <a:r>
              <a:rPr lang="en-US" sz="1600" dirty="0">
                <a:latin typeface="Candara" panose="020E0502030303020204" pitchFamily="34" charset="0"/>
              </a:rPr>
              <a:t>Account Storage Trie</a:t>
            </a:r>
          </a:p>
        </p:txBody>
      </p:sp>
      <p:sp>
        <p:nvSpPr>
          <p:cNvPr id="45" name="Rectangle 44"/>
          <p:cNvSpPr/>
          <p:nvPr/>
        </p:nvSpPr>
        <p:spPr>
          <a:xfrm>
            <a:off x="4468616" y="1116882"/>
            <a:ext cx="2004536" cy="172904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5" name="Rectangle 4"/>
          <p:cNvSpPr/>
          <p:nvPr/>
        </p:nvSpPr>
        <p:spPr>
          <a:xfrm>
            <a:off x="1876927" y="1228784"/>
            <a:ext cx="1668379" cy="5064400"/>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2" name="Title 1"/>
          <p:cNvSpPr>
            <a:spLocks noGrp="1"/>
          </p:cNvSpPr>
          <p:nvPr>
            <p:ph type="title"/>
          </p:nvPr>
        </p:nvSpPr>
        <p:spPr/>
        <p:txBody>
          <a:bodyPr/>
          <a:lstStyle/>
          <a:p>
            <a:r>
              <a:rPr lang="en-US" dirty="0"/>
              <a:t>State Tries in Block Header</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63</a:t>
            </a:fld>
            <a:endParaRPr lang="en-US" dirty="0">
              <a:latin typeface="Candara" panose="020E0502030303020204" pitchFamily="34" charset="0"/>
            </a:endParaRPr>
          </a:p>
        </p:txBody>
      </p:sp>
      <p:sp>
        <p:nvSpPr>
          <p:cNvPr id="6" name="Rectangle 5"/>
          <p:cNvSpPr/>
          <p:nvPr/>
        </p:nvSpPr>
        <p:spPr>
          <a:xfrm>
            <a:off x="1941095" y="1775127"/>
            <a:ext cx="1540042" cy="21501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7" name="Rectangle 6"/>
          <p:cNvSpPr/>
          <p:nvPr/>
        </p:nvSpPr>
        <p:spPr>
          <a:xfrm>
            <a:off x="1925053" y="4243656"/>
            <a:ext cx="1540042" cy="18764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sp>
        <p:nvSpPr>
          <p:cNvPr id="8" name="TextBox 7"/>
          <p:cNvSpPr txBox="1"/>
          <p:nvPr/>
        </p:nvSpPr>
        <p:spPr>
          <a:xfrm>
            <a:off x="2314016" y="1318398"/>
            <a:ext cx="1152024" cy="369332"/>
          </a:xfrm>
          <a:prstGeom prst="rect">
            <a:avLst/>
          </a:prstGeom>
          <a:noFill/>
        </p:spPr>
        <p:txBody>
          <a:bodyPr wrap="square" rtlCol="0">
            <a:spAutoFit/>
          </a:bodyPr>
          <a:lstStyle/>
          <a:p>
            <a:r>
              <a:rPr lang="en-US" dirty="0">
                <a:latin typeface="Candara" panose="020E0502030303020204" pitchFamily="34" charset="0"/>
              </a:rPr>
              <a:t>Block</a:t>
            </a:r>
          </a:p>
        </p:txBody>
      </p:sp>
      <p:sp>
        <p:nvSpPr>
          <p:cNvPr id="11" name="Rectangle 10"/>
          <p:cNvSpPr/>
          <p:nvPr/>
        </p:nvSpPr>
        <p:spPr>
          <a:xfrm>
            <a:off x="1992228" y="1893685"/>
            <a:ext cx="1443790" cy="29759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Parent Hash</a:t>
            </a:r>
          </a:p>
        </p:txBody>
      </p:sp>
      <p:sp>
        <p:nvSpPr>
          <p:cNvPr id="12" name="Rectangle 11"/>
          <p:cNvSpPr/>
          <p:nvPr/>
        </p:nvSpPr>
        <p:spPr>
          <a:xfrm>
            <a:off x="1992228" y="2264948"/>
            <a:ext cx="1443790" cy="29759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State Root</a:t>
            </a:r>
          </a:p>
        </p:txBody>
      </p:sp>
      <p:sp>
        <p:nvSpPr>
          <p:cNvPr id="13" name="Rectangle 12"/>
          <p:cNvSpPr/>
          <p:nvPr/>
        </p:nvSpPr>
        <p:spPr>
          <a:xfrm>
            <a:off x="1992228" y="2622415"/>
            <a:ext cx="1443790" cy="29759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Receipt Root </a:t>
            </a:r>
          </a:p>
        </p:txBody>
      </p:sp>
      <p:sp>
        <p:nvSpPr>
          <p:cNvPr id="14" name="Rectangle 13"/>
          <p:cNvSpPr/>
          <p:nvPr/>
        </p:nvSpPr>
        <p:spPr>
          <a:xfrm>
            <a:off x="1989220" y="2996037"/>
            <a:ext cx="1443790" cy="29759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Txn Root</a:t>
            </a:r>
          </a:p>
        </p:txBody>
      </p:sp>
      <p:sp>
        <p:nvSpPr>
          <p:cNvPr id="15" name="TextBox 14"/>
          <p:cNvSpPr txBox="1"/>
          <p:nvPr/>
        </p:nvSpPr>
        <p:spPr>
          <a:xfrm>
            <a:off x="2489533" y="3180333"/>
            <a:ext cx="734930" cy="830997"/>
          </a:xfrm>
          <a:prstGeom prst="rect">
            <a:avLst/>
          </a:prstGeom>
          <a:noFill/>
        </p:spPr>
        <p:txBody>
          <a:bodyPr wrap="square" rtlCol="0">
            <a:spAutoFit/>
          </a:bodyPr>
          <a:lstStyle/>
          <a:p>
            <a:r>
              <a:rPr lang="en-US" sz="2400" b="1" dirty="0">
                <a:latin typeface="Candara" panose="020E0502030303020204" pitchFamily="34" charset="0"/>
              </a:rPr>
              <a:t>.</a:t>
            </a:r>
          </a:p>
          <a:p>
            <a:r>
              <a:rPr lang="en-US" sz="2400" b="1" dirty="0">
                <a:latin typeface="Candara" panose="020E0502030303020204" pitchFamily="34" charset="0"/>
              </a:rPr>
              <a:t>.</a:t>
            </a:r>
          </a:p>
        </p:txBody>
      </p:sp>
      <p:sp>
        <p:nvSpPr>
          <p:cNvPr id="16" name="Rectangle 15"/>
          <p:cNvSpPr/>
          <p:nvPr/>
        </p:nvSpPr>
        <p:spPr>
          <a:xfrm>
            <a:off x="1973178" y="4591252"/>
            <a:ext cx="1443790" cy="29759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Txn 1</a:t>
            </a:r>
          </a:p>
        </p:txBody>
      </p:sp>
      <p:sp>
        <p:nvSpPr>
          <p:cNvPr id="17" name="Rectangle 16"/>
          <p:cNvSpPr/>
          <p:nvPr/>
        </p:nvSpPr>
        <p:spPr>
          <a:xfrm>
            <a:off x="1992227" y="4996990"/>
            <a:ext cx="1443790" cy="29759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Txn 2</a:t>
            </a:r>
          </a:p>
        </p:txBody>
      </p:sp>
      <p:sp>
        <p:nvSpPr>
          <p:cNvPr id="18" name="Rectangle 17"/>
          <p:cNvSpPr/>
          <p:nvPr/>
        </p:nvSpPr>
        <p:spPr>
          <a:xfrm>
            <a:off x="1979192" y="5727739"/>
            <a:ext cx="1443790" cy="29759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ndara" panose="020E0502030303020204" pitchFamily="34" charset="0"/>
              </a:rPr>
              <a:t>Txn N</a:t>
            </a:r>
          </a:p>
        </p:txBody>
      </p:sp>
      <p:sp>
        <p:nvSpPr>
          <p:cNvPr id="19" name="TextBox 18"/>
          <p:cNvSpPr txBox="1"/>
          <p:nvPr/>
        </p:nvSpPr>
        <p:spPr>
          <a:xfrm>
            <a:off x="2508583" y="5222545"/>
            <a:ext cx="734930" cy="461665"/>
          </a:xfrm>
          <a:prstGeom prst="rect">
            <a:avLst/>
          </a:prstGeom>
          <a:noFill/>
        </p:spPr>
        <p:txBody>
          <a:bodyPr wrap="square" rtlCol="0">
            <a:spAutoFit/>
          </a:bodyPr>
          <a:lstStyle/>
          <a:p>
            <a:r>
              <a:rPr lang="en-US" sz="2400" b="1" dirty="0">
                <a:latin typeface="Candara" panose="020E0502030303020204" pitchFamily="34" charset="0"/>
              </a:rPr>
              <a:t>.</a:t>
            </a:r>
          </a:p>
        </p:txBody>
      </p:sp>
      <p:pic>
        <p:nvPicPr>
          <p:cNvPr id="3" name="Picture 2"/>
          <p:cNvPicPr>
            <a:picLocks noChangeAspect="1"/>
          </p:cNvPicPr>
          <p:nvPr/>
        </p:nvPicPr>
        <p:blipFill>
          <a:blip r:embed="rId4"/>
          <a:stretch>
            <a:fillRect/>
          </a:stretch>
        </p:blipFill>
        <p:spPr>
          <a:xfrm>
            <a:off x="6880157" y="1277654"/>
            <a:ext cx="1194684" cy="1558210"/>
          </a:xfrm>
          <a:prstGeom prst="rect">
            <a:avLst/>
          </a:prstGeom>
        </p:spPr>
      </p:pic>
      <p:pic>
        <p:nvPicPr>
          <p:cNvPr id="27" name="Picture 26"/>
          <p:cNvPicPr>
            <a:picLocks noChangeAspect="1"/>
          </p:cNvPicPr>
          <p:nvPr/>
        </p:nvPicPr>
        <p:blipFill>
          <a:blip r:embed="rId3"/>
          <a:stretch>
            <a:fillRect/>
          </a:stretch>
        </p:blipFill>
        <p:spPr>
          <a:xfrm>
            <a:off x="4548826" y="1449020"/>
            <a:ext cx="1786145" cy="1340585"/>
          </a:xfrm>
          <a:prstGeom prst="rect">
            <a:avLst/>
          </a:prstGeom>
        </p:spPr>
      </p:pic>
      <p:sp>
        <p:nvSpPr>
          <p:cNvPr id="28" name="TextBox 27"/>
          <p:cNvSpPr txBox="1"/>
          <p:nvPr/>
        </p:nvSpPr>
        <p:spPr>
          <a:xfrm>
            <a:off x="4693339" y="1090220"/>
            <a:ext cx="1724980" cy="338554"/>
          </a:xfrm>
          <a:prstGeom prst="rect">
            <a:avLst/>
          </a:prstGeom>
          <a:noFill/>
        </p:spPr>
        <p:txBody>
          <a:bodyPr wrap="square" rtlCol="0">
            <a:spAutoFit/>
          </a:bodyPr>
          <a:lstStyle/>
          <a:p>
            <a:r>
              <a:rPr lang="en-US" sz="1600" dirty="0">
                <a:latin typeface="Candara" panose="020E0502030303020204" pitchFamily="34" charset="0"/>
              </a:rPr>
              <a:t>World State Trie</a:t>
            </a:r>
          </a:p>
        </p:txBody>
      </p:sp>
      <p:cxnSp>
        <p:nvCxnSpPr>
          <p:cNvPr id="30" name="Straight Connector 29"/>
          <p:cNvCxnSpPr/>
          <p:nvPr/>
        </p:nvCxnSpPr>
        <p:spPr>
          <a:xfrm flipV="1">
            <a:off x="6352209" y="1277655"/>
            <a:ext cx="527948" cy="129943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6352209" y="2734091"/>
            <a:ext cx="547138" cy="6247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V="1">
            <a:off x="7905750" y="1565611"/>
            <a:ext cx="1295400" cy="625670"/>
          </a:xfrm>
          <a:prstGeom prst="line">
            <a:avLst/>
          </a:prstGeom>
          <a:ln>
            <a:solidFill>
              <a:schemeClr val="tx1"/>
            </a:solidFill>
            <a:prstDash val="dash"/>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12" idx="3"/>
          </p:cNvCxnSpPr>
          <p:nvPr/>
        </p:nvCxnSpPr>
        <p:spPr>
          <a:xfrm flipV="1">
            <a:off x="3436018" y="1524062"/>
            <a:ext cx="1778070" cy="889684"/>
          </a:xfrm>
          <a:prstGeom prst="line">
            <a:avLst/>
          </a:prstGeom>
          <a:ln>
            <a:solidFill>
              <a:schemeClr val="tx1"/>
            </a:solidFill>
            <a:prstDash val="dash"/>
            <a:headEnd type="stealth" w="lg" len="lg"/>
            <a:tailEnd type="none"/>
          </a:ln>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a:xfrm>
            <a:off x="4837381" y="3006504"/>
            <a:ext cx="1986087" cy="338554"/>
          </a:xfrm>
          <a:prstGeom prst="rect">
            <a:avLst/>
          </a:prstGeom>
          <a:noFill/>
        </p:spPr>
        <p:txBody>
          <a:bodyPr wrap="square" rtlCol="0">
            <a:spAutoFit/>
          </a:bodyPr>
          <a:lstStyle/>
          <a:p>
            <a:r>
              <a:rPr lang="en-US" sz="1600" dirty="0">
                <a:latin typeface="Candara" panose="020E0502030303020204" pitchFamily="34" charset="0"/>
              </a:rPr>
              <a:t>Receipt Trie</a:t>
            </a:r>
          </a:p>
        </p:txBody>
      </p:sp>
      <p:pic>
        <p:nvPicPr>
          <p:cNvPr id="70" name="Picture 69"/>
          <p:cNvPicPr>
            <a:picLocks noChangeAspect="1"/>
          </p:cNvPicPr>
          <p:nvPr/>
        </p:nvPicPr>
        <p:blipFill>
          <a:blip r:embed="rId5"/>
          <a:stretch>
            <a:fillRect/>
          </a:stretch>
        </p:blipFill>
        <p:spPr>
          <a:xfrm>
            <a:off x="6880157" y="3155702"/>
            <a:ext cx="1194684" cy="1609289"/>
          </a:xfrm>
          <a:prstGeom prst="rect">
            <a:avLst/>
          </a:prstGeom>
        </p:spPr>
      </p:pic>
      <p:cxnSp>
        <p:nvCxnSpPr>
          <p:cNvPr id="71" name="Straight Connector 70"/>
          <p:cNvCxnSpPr/>
          <p:nvPr/>
        </p:nvCxnSpPr>
        <p:spPr>
          <a:xfrm flipV="1">
            <a:off x="6352209" y="3165766"/>
            <a:ext cx="547138" cy="1317345"/>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6333019" y="4628753"/>
            <a:ext cx="566328" cy="7927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a:off x="3401533" y="2760146"/>
            <a:ext cx="1815070" cy="652728"/>
          </a:xfrm>
          <a:prstGeom prst="line">
            <a:avLst/>
          </a:prstGeom>
          <a:ln>
            <a:solidFill>
              <a:schemeClr val="tx1"/>
            </a:solidFill>
            <a:prstDash val="dash"/>
            <a:headEnd type="stealth" w="lg" len="lg"/>
            <a:tailEnd type="none"/>
          </a:ln>
        </p:spPr>
        <p:style>
          <a:lnRef idx="1">
            <a:schemeClr val="accent1"/>
          </a:lnRef>
          <a:fillRef idx="0">
            <a:schemeClr val="accent1"/>
          </a:fillRef>
          <a:effectRef idx="0">
            <a:schemeClr val="accent1"/>
          </a:effectRef>
          <a:fontRef idx="minor">
            <a:schemeClr val="tx1"/>
          </a:fontRef>
        </p:style>
      </p:cxnSp>
      <p:sp>
        <p:nvSpPr>
          <p:cNvPr id="83" name="Rectangle 82"/>
          <p:cNvSpPr/>
          <p:nvPr/>
        </p:nvSpPr>
        <p:spPr>
          <a:xfrm>
            <a:off x="4468616" y="4863216"/>
            <a:ext cx="2004536" cy="172904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ndara" panose="020E0502030303020204" pitchFamily="34" charset="0"/>
            </a:endParaRPr>
          </a:p>
        </p:txBody>
      </p:sp>
      <p:pic>
        <p:nvPicPr>
          <p:cNvPr id="84" name="Picture 83"/>
          <p:cNvPicPr>
            <a:picLocks noChangeAspect="1"/>
          </p:cNvPicPr>
          <p:nvPr/>
        </p:nvPicPr>
        <p:blipFill>
          <a:blip r:embed="rId3"/>
          <a:stretch>
            <a:fillRect/>
          </a:stretch>
        </p:blipFill>
        <p:spPr>
          <a:xfrm>
            <a:off x="4586926" y="5195354"/>
            <a:ext cx="1786145" cy="1340585"/>
          </a:xfrm>
          <a:prstGeom prst="rect">
            <a:avLst/>
          </a:prstGeom>
        </p:spPr>
      </p:pic>
      <p:sp>
        <p:nvSpPr>
          <p:cNvPr id="103" name="TextBox 102"/>
          <p:cNvSpPr txBox="1"/>
          <p:nvPr/>
        </p:nvSpPr>
        <p:spPr>
          <a:xfrm>
            <a:off x="4748172" y="4804597"/>
            <a:ext cx="1724980" cy="338554"/>
          </a:xfrm>
          <a:prstGeom prst="rect">
            <a:avLst/>
          </a:prstGeom>
          <a:noFill/>
        </p:spPr>
        <p:txBody>
          <a:bodyPr wrap="square" rtlCol="0">
            <a:spAutoFit/>
          </a:bodyPr>
          <a:lstStyle/>
          <a:p>
            <a:r>
              <a:rPr lang="en-US" sz="1600" dirty="0">
                <a:latin typeface="Candara" panose="020E0502030303020204" pitchFamily="34" charset="0"/>
              </a:rPr>
              <a:t>Transaction Trie</a:t>
            </a:r>
          </a:p>
        </p:txBody>
      </p:sp>
      <p:pic>
        <p:nvPicPr>
          <p:cNvPr id="104" name="Picture 103"/>
          <p:cNvPicPr>
            <a:picLocks noChangeAspect="1"/>
          </p:cNvPicPr>
          <p:nvPr/>
        </p:nvPicPr>
        <p:blipFill>
          <a:blip r:embed="rId6"/>
          <a:stretch>
            <a:fillRect/>
          </a:stretch>
        </p:blipFill>
        <p:spPr>
          <a:xfrm>
            <a:off x="8505856" y="4470564"/>
            <a:ext cx="1395524" cy="2204145"/>
          </a:xfrm>
          <a:prstGeom prst="rect">
            <a:avLst/>
          </a:prstGeom>
        </p:spPr>
      </p:pic>
      <p:cxnSp>
        <p:nvCxnSpPr>
          <p:cNvPr id="105" name="Straight Connector 104"/>
          <p:cNvCxnSpPr/>
          <p:nvPr/>
        </p:nvCxnSpPr>
        <p:spPr>
          <a:xfrm flipV="1">
            <a:off x="6372028" y="4470564"/>
            <a:ext cx="2133903" cy="182262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a:off x="6372028" y="6532258"/>
            <a:ext cx="2181099" cy="11862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a:off x="3422983" y="4783940"/>
            <a:ext cx="1196853" cy="174831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124" name="Group 123"/>
          <p:cNvGrpSpPr/>
          <p:nvPr/>
        </p:nvGrpSpPr>
        <p:grpSpPr>
          <a:xfrm>
            <a:off x="3433011" y="3100842"/>
            <a:ext cx="1787765" cy="2193744"/>
            <a:chOff x="1909010" y="3100842"/>
            <a:chExt cx="1787765" cy="2193744"/>
          </a:xfrm>
        </p:grpSpPr>
        <p:cxnSp>
          <p:nvCxnSpPr>
            <p:cNvPr id="111" name="Straight Connector 110"/>
            <p:cNvCxnSpPr/>
            <p:nvPr/>
          </p:nvCxnSpPr>
          <p:spPr>
            <a:xfrm>
              <a:off x="2452007" y="5271264"/>
              <a:ext cx="1244768" cy="23322"/>
            </a:xfrm>
            <a:prstGeom prst="line">
              <a:avLst/>
            </a:prstGeom>
            <a:ln>
              <a:solidFill>
                <a:schemeClr val="tx1"/>
              </a:solidFill>
              <a:prstDash val="dash"/>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p:nvPr/>
          </p:nvCxnSpPr>
          <p:spPr>
            <a:xfrm>
              <a:off x="2457450" y="3144835"/>
              <a:ext cx="1" cy="2111438"/>
            </a:xfrm>
            <a:prstGeom prst="line">
              <a:avLst/>
            </a:prstGeom>
            <a:ln>
              <a:solidFill>
                <a:schemeClr val="tx1"/>
              </a:solidFill>
              <a:prstDash val="dash"/>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p:nvCxnSpPr>
          <p:spPr>
            <a:xfrm flipV="1">
              <a:off x="1909010" y="3100842"/>
              <a:ext cx="557025" cy="25"/>
            </a:xfrm>
            <a:prstGeom prst="line">
              <a:avLst/>
            </a:prstGeom>
            <a:ln>
              <a:solidFill>
                <a:schemeClr val="tx1"/>
              </a:solidFill>
              <a:prstDash val="dash"/>
              <a:headEnd type="stealth" w="lg" len="lg"/>
              <a:tailEnd type="none"/>
            </a:ln>
          </p:spPr>
          <p:style>
            <a:lnRef idx="1">
              <a:schemeClr val="accent1"/>
            </a:lnRef>
            <a:fillRef idx="0">
              <a:schemeClr val="accent1"/>
            </a:fillRef>
            <a:effectRef idx="0">
              <a:schemeClr val="accent1"/>
            </a:effectRef>
            <a:fontRef idx="minor">
              <a:schemeClr val="tx1"/>
            </a:fontRef>
          </p:style>
        </p:cxnSp>
      </p:grpSp>
      <p:sp>
        <p:nvSpPr>
          <p:cNvPr id="125" name="Rectangle 124"/>
          <p:cNvSpPr/>
          <p:nvPr/>
        </p:nvSpPr>
        <p:spPr>
          <a:xfrm>
            <a:off x="8472917" y="2934523"/>
            <a:ext cx="1987399" cy="1169551"/>
          </a:xfrm>
          <a:prstGeom prst="rect">
            <a:avLst/>
          </a:prstGeom>
          <a:ln>
            <a:noFill/>
          </a:ln>
        </p:spPr>
        <p:txBody>
          <a:bodyPr wrap="square">
            <a:spAutoFit/>
          </a:bodyPr>
          <a:lstStyle/>
          <a:p>
            <a:pPr algn="ctr"/>
            <a:r>
              <a:rPr lang="en-US" sz="1400" dirty="0">
                <a:solidFill>
                  <a:schemeClr val="accent2"/>
                </a:solidFill>
                <a:latin typeface="Candara" panose="020E0502030303020204" pitchFamily="34" charset="0"/>
              </a:rPr>
              <a:t>Intricate interlink of hundreds of millions of tiny cryptographic proofs (</a:t>
            </a:r>
            <a:r>
              <a:rPr lang="en-US" sz="1400" dirty="0" err="1">
                <a:solidFill>
                  <a:schemeClr val="accent2"/>
                </a:solidFill>
                <a:latin typeface="Candara" panose="020E0502030303020204" pitchFamily="34" charset="0"/>
              </a:rPr>
              <a:t>trie</a:t>
            </a:r>
            <a:r>
              <a:rPr lang="en-US" sz="1400" dirty="0">
                <a:solidFill>
                  <a:schemeClr val="accent2"/>
                </a:solidFill>
                <a:latin typeface="Candara" panose="020E0502030303020204" pitchFamily="34" charset="0"/>
              </a:rPr>
              <a:t> nodes) to secure the chain</a:t>
            </a:r>
          </a:p>
        </p:txBody>
      </p:sp>
      <p:sp>
        <p:nvSpPr>
          <p:cNvPr id="9" name="TextBox 8">
            <a:extLst>
              <a:ext uri="{FF2B5EF4-FFF2-40B4-BE49-F238E27FC236}">
                <a16:creationId xmlns:a16="http://schemas.microsoft.com/office/drawing/2014/main" id="{01ECAE7D-94CA-803E-D2C5-CF06947F8FA4}"/>
              </a:ext>
            </a:extLst>
          </p:cNvPr>
          <p:cNvSpPr txBox="1"/>
          <p:nvPr/>
        </p:nvSpPr>
        <p:spPr>
          <a:xfrm>
            <a:off x="6735570" y="955344"/>
            <a:ext cx="1582499" cy="369332"/>
          </a:xfrm>
          <a:prstGeom prst="rect">
            <a:avLst/>
          </a:prstGeom>
          <a:noFill/>
        </p:spPr>
        <p:txBody>
          <a:bodyPr wrap="square" rtlCol="0">
            <a:spAutoFit/>
          </a:bodyPr>
          <a:lstStyle/>
          <a:p>
            <a:r>
              <a:rPr lang="en-US" dirty="0"/>
              <a:t>Account State</a:t>
            </a:r>
            <a:endParaRPr lang="en-PK" dirty="0"/>
          </a:p>
        </p:txBody>
      </p:sp>
      <p:sp>
        <p:nvSpPr>
          <p:cNvPr id="10" name="TextBox 9">
            <a:extLst>
              <a:ext uri="{FF2B5EF4-FFF2-40B4-BE49-F238E27FC236}">
                <a16:creationId xmlns:a16="http://schemas.microsoft.com/office/drawing/2014/main" id="{0333A731-B97B-8431-A2D3-B9D98818F3DD}"/>
              </a:ext>
            </a:extLst>
          </p:cNvPr>
          <p:cNvSpPr txBox="1"/>
          <p:nvPr/>
        </p:nvSpPr>
        <p:spPr>
          <a:xfrm>
            <a:off x="6615714" y="2865288"/>
            <a:ext cx="1986087" cy="369332"/>
          </a:xfrm>
          <a:prstGeom prst="rect">
            <a:avLst/>
          </a:prstGeom>
          <a:noFill/>
        </p:spPr>
        <p:txBody>
          <a:bodyPr wrap="square" rtlCol="0">
            <a:spAutoFit/>
          </a:bodyPr>
          <a:lstStyle/>
          <a:p>
            <a:r>
              <a:rPr lang="en-US" dirty="0"/>
              <a:t>Tx Execution Data</a:t>
            </a:r>
            <a:endParaRPr lang="en-PK" dirty="0"/>
          </a:p>
        </p:txBody>
      </p:sp>
      <p:sp>
        <p:nvSpPr>
          <p:cNvPr id="20" name="TextBox 19">
            <a:extLst>
              <a:ext uri="{FF2B5EF4-FFF2-40B4-BE49-F238E27FC236}">
                <a16:creationId xmlns:a16="http://schemas.microsoft.com/office/drawing/2014/main" id="{E4CCFBFC-6604-7518-50DA-C4D8D2BC86B8}"/>
              </a:ext>
            </a:extLst>
          </p:cNvPr>
          <p:cNvSpPr txBox="1"/>
          <p:nvPr/>
        </p:nvSpPr>
        <p:spPr>
          <a:xfrm>
            <a:off x="8601801" y="4176981"/>
            <a:ext cx="1299579" cy="369332"/>
          </a:xfrm>
          <a:prstGeom prst="rect">
            <a:avLst/>
          </a:prstGeom>
          <a:noFill/>
        </p:spPr>
        <p:txBody>
          <a:bodyPr wrap="square" rtlCol="0">
            <a:spAutoFit/>
          </a:bodyPr>
          <a:lstStyle/>
          <a:p>
            <a:r>
              <a:rPr lang="en-US" dirty="0"/>
              <a:t>Transaction</a:t>
            </a:r>
            <a:endParaRPr lang="en-PK" dirty="0"/>
          </a:p>
        </p:txBody>
      </p:sp>
    </p:spTree>
    <p:extLst>
      <p:ext uri="{BB962C8B-B14F-4D97-AF65-F5344CB8AC3E}">
        <p14:creationId xmlns:p14="http://schemas.microsoft.com/office/powerpoint/2010/main" val="3420801219"/>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7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8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7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0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6"/>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7"/>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9"/>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105"/>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07"/>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09"/>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84"/>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03"/>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83"/>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124"/>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4"/>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15"/>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nimBg="1"/>
      <p:bldP spid="81" grpId="0" animBg="1"/>
      <p:bldP spid="54" grpId="0"/>
      <p:bldP spid="45" grpId="0" animBg="1"/>
      <p:bldP spid="7" grpId="0" animBg="1"/>
      <p:bldP spid="12" grpId="0" animBg="1"/>
      <p:bldP spid="13" grpId="0" animBg="1"/>
      <p:bldP spid="14" grpId="0" animBg="1"/>
      <p:bldP spid="15" grpId="0"/>
      <p:bldP spid="16" grpId="0" animBg="1"/>
      <p:bldP spid="17" grpId="0" animBg="1"/>
      <p:bldP spid="18" grpId="0" animBg="1"/>
      <p:bldP spid="19" grpId="0"/>
      <p:bldP spid="28" grpId="0"/>
      <p:bldP spid="62" grpId="0"/>
      <p:bldP spid="83" grpId="0" animBg="1"/>
      <p:bldP spid="103" grpId="0"/>
      <p:bldP spid="125" grpId="0"/>
      <p:bldP spid="9" grpId="0"/>
      <p:bldP spid="10" grpId="0"/>
      <p:bldP spid="20"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Ethereum Full Node</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64</a:t>
            </a:fld>
            <a:endParaRPr lang="en-US" dirty="0">
              <a:latin typeface="Candara" panose="020E0502030303020204" pitchFamily="34" charset="0"/>
            </a:endParaRPr>
          </a:p>
        </p:txBody>
      </p:sp>
      <p:sp>
        <p:nvSpPr>
          <p:cNvPr id="10" name="TextBox 9"/>
          <p:cNvSpPr txBox="1"/>
          <p:nvPr/>
        </p:nvSpPr>
        <p:spPr>
          <a:xfrm>
            <a:off x="487679" y="5474381"/>
            <a:ext cx="11186159" cy="923330"/>
          </a:xfrm>
          <a:prstGeom prst="rect">
            <a:avLst/>
          </a:prstGeom>
          <a:noFill/>
        </p:spPr>
        <p:txBody>
          <a:bodyPr wrap="square" rtlCol="0">
            <a:spAutoFit/>
          </a:bodyPr>
          <a:lstStyle/>
          <a:p>
            <a:pPr marL="342900" indent="-342900">
              <a:buFont typeface="Arial" panose="020B0604020202020204" pitchFamily="34" charset="0"/>
              <a:buChar char="•"/>
            </a:pPr>
            <a:r>
              <a:rPr lang="en-US" dirty="0">
                <a:latin typeface="Candara" panose="020E0502030303020204" pitchFamily="34" charset="0"/>
              </a:rPr>
              <a:t>There are roughly 11,000 synchronized Ethereum full nodes spread across the world, which are validating the transactions and constantly updating the world state </a:t>
            </a:r>
            <a:r>
              <a:rPr lang="en-US" dirty="0" err="1">
                <a:latin typeface="Candara" panose="020E0502030303020204" pitchFamily="34" charset="0"/>
              </a:rPr>
              <a:t>trie</a:t>
            </a:r>
            <a:endParaRPr lang="en-US" dirty="0">
              <a:latin typeface="Candara" panose="020E0502030303020204" pitchFamily="34" charset="0"/>
            </a:endParaRPr>
          </a:p>
          <a:p>
            <a:pPr marL="342900" indent="-342900">
              <a:buFont typeface="Arial" panose="020B0604020202020204" pitchFamily="34" charset="0"/>
              <a:buChar char="•"/>
            </a:pPr>
            <a:r>
              <a:rPr lang="en-US" dirty="0">
                <a:latin typeface="Candara" panose="020E0502030303020204" pitchFamily="34" charset="0"/>
              </a:rPr>
              <a:t>The interest in a blockchain project (health) may be gauged from the number of full nodes in the network </a:t>
            </a:r>
          </a:p>
        </p:txBody>
      </p:sp>
      <p:sp>
        <p:nvSpPr>
          <p:cNvPr id="11" name="Content Placeholder 2"/>
          <p:cNvSpPr>
            <a:spLocks noGrp="1"/>
          </p:cNvSpPr>
          <p:nvPr>
            <p:ph idx="1"/>
          </p:nvPr>
        </p:nvSpPr>
        <p:spPr>
          <a:xfrm>
            <a:off x="487680" y="1024359"/>
            <a:ext cx="11186160" cy="1666949"/>
          </a:xfrm>
          <a:ln>
            <a:noFill/>
          </a:ln>
        </p:spPr>
        <p:txBody>
          <a:bodyPr>
            <a:noAutofit/>
          </a:bodyPr>
          <a:lstStyle/>
          <a:p>
            <a:pPr marL="0" indent="0">
              <a:buNone/>
            </a:pPr>
            <a:r>
              <a:rPr lang="en-US" sz="1800" dirty="0"/>
              <a:t>Running an Ethereum full node requires</a:t>
            </a:r>
          </a:p>
          <a:p>
            <a:pPr lvl="1"/>
            <a:r>
              <a:rPr lang="en-US" sz="1800" dirty="0"/>
              <a:t>Downloading all the blocks</a:t>
            </a:r>
          </a:p>
          <a:p>
            <a:pPr lvl="1"/>
            <a:r>
              <a:rPr lang="en-US" sz="1800" dirty="0"/>
              <a:t>Downloading the world state </a:t>
            </a:r>
            <a:r>
              <a:rPr lang="en-US" sz="1800" dirty="0" err="1"/>
              <a:t>trie</a:t>
            </a:r>
            <a:r>
              <a:rPr lang="en-US" sz="1800" dirty="0"/>
              <a:t> (a data structure with 350 M accounts and billions of MPT nodes)</a:t>
            </a:r>
          </a:p>
          <a:p>
            <a:pPr lvl="1"/>
            <a:r>
              <a:rPr lang="en-US" sz="1800" dirty="0"/>
              <a:t>Cross-checking the information in blocks and </a:t>
            </a:r>
            <a:r>
              <a:rPr lang="en-US" sz="1800" b="1" dirty="0"/>
              <a:t>executing the codes</a:t>
            </a:r>
            <a:r>
              <a:rPr lang="en-US" sz="1800" dirty="0"/>
              <a:t> to validate states</a:t>
            </a:r>
          </a:p>
        </p:txBody>
      </p:sp>
      <p:pic>
        <p:nvPicPr>
          <p:cNvPr id="7" name="Picture 6">
            <a:extLst>
              <a:ext uri="{FF2B5EF4-FFF2-40B4-BE49-F238E27FC236}">
                <a16:creationId xmlns:a16="http://schemas.microsoft.com/office/drawing/2014/main" id="{3712C09B-CAA4-B8C3-D5AD-263AC50CF644}"/>
              </a:ext>
            </a:extLst>
          </p:cNvPr>
          <p:cNvPicPr>
            <a:picLocks noChangeAspect="1"/>
          </p:cNvPicPr>
          <p:nvPr/>
        </p:nvPicPr>
        <p:blipFill>
          <a:blip r:embed="rId3"/>
          <a:stretch>
            <a:fillRect/>
          </a:stretch>
        </p:blipFill>
        <p:spPr>
          <a:xfrm>
            <a:off x="1431757" y="2691308"/>
            <a:ext cx="4343063" cy="2493340"/>
          </a:xfrm>
          <a:prstGeom prst="rect">
            <a:avLst/>
          </a:prstGeom>
        </p:spPr>
      </p:pic>
      <p:pic>
        <p:nvPicPr>
          <p:cNvPr id="9" name="Picture 8">
            <a:extLst>
              <a:ext uri="{FF2B5EF4-FFF2-40B4-BE49-F238E27FC236}">
                <a16:creationId xmlns:a16="http://schemas.microsoft.com/office/drawing/2014/main" id="{082E494F-E36B-5942-7DF8-EF3173A87647}"/>
              </a:ext>
            </a:extLst>
          </p:cNvPr>
          <p:cNvPicPr>
            <a:picLocks noChangeAspect="1"/>
          </p:cNvPicPr>
          <p:nvPr/>
        </p:nvPicPr>
        <p:blipFill>
          <a:blip r:embed="rId4"/>
          <a:stretch>
            <a:fillRect/>
          </a:stretch>
        </p:blipFill>
        <p:spPr>
          <a:xfrm>
            <a:off x="7089540" y="2755399"/>
            <a:ext cx="4170469" cy="2718982"/>
          </a:xfrm>
          <a:prstGeom prst="rect">
            <a:avLst/>
          </a:prstGeom>
        </p:spPr>
      </p:pic>
    </p:spTree>
    <p:extLst>
      <p:ext uri="{BB962C8B-B14F-4D97-AF65-F5344CB8AC3E}">
        <p14:creationId xmlns:p14="http://schemas.microsoft.com/office/powerpoint/2010/main" val="1009301359"/>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Full Node Limitation</a:t>
            </a:r>
          </a:p>
        </p:txBody>
      </p:sp>
      <p:sp>
        <p:nvSpPr>
          <p:cNvPr id="3" name="Content Placeholder 2"/>
          <p:cNvSpPr>
            <a:spLocks noGrp="1"/>
          </p:cNvSpPr>
          <p:nvPr>
            <p:ph idx="1"/>
          </p:nvPr>
        </p:nvSpPr>
        <p:spPr>
          <a:xfrm>
            <a:off x="2887508" y="2698600"/>
            <a:ext cx="6230915" cy="317718"/>
          </a:xfrm>
        </p:spPr>
        <p:txBody>
          <a:bodyPr>
            <a:noAutofit/>
          </a:bodyPr>
          <a:lstStyle/>
          <a:p>
            <a:pPr marL="0" indent="0" algn="ctr">
              <a:buNone/>
            </a:pPr>
            <a:r>
              <a:rPr lang="en-US" sz="2000" dirty="0"/>
              <a:t>Alice’s account balance changed in the following way</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65</a:t>
            </a:fld>
            <a:endParaRPr lang="en-US" dirty="0">
              <a:latin typeface="Candara" panose="020E0502030303020204" pitchFamily="34" charset="0"/>
            </a:endParaRPr>
          </a:p>
        </p:txBody>
      </p:sp>
      <p:graphicFrame>
        <p:nvGraphicFramePr>
          <p:cNvPr id="5" name="Table 4"/>
          <p:cNvGraphicFramePr>
            <a:graphicFrameLocks noGrp="1"/>
          </p:cNvGraphicFramePr>
          <p:nvPr/>
        </p:nvGraphicFramePr>
        <p:xfrm>
          <a:off x="2393493" y="3076200"/>
          <a:ext cx="7218945" cy="741680"/>
        </p:xfrm>
        <a:graphic>
          <a:graphicData uri="http://schemas.openxmlformats.org/drawingml/2006/table">
            <a:tbl>
              <a:tblPr firstRow="1" bandRow="1">
                <a:tableStyleId>{5C22544A-7EE6-4342-B048-85BDC9FD1C3A}</a:tableStyleId>
              </a:tblPr>
              <a:tblGrid>
                <a:gridCol w="1443789">
                  <a:extLst>
                    <a:ext uri="{9D8B030D-6E8A-4147-A177-3AD203B41FA5}">
                      <a16:colId xmlns:a16="http://schemas.microsoft.com/office/drawing/2014/main" val="20000"/>
                    </a:ext>
                  </a:extLst>
                </a:gridCol>
                <a:gridCol w="1443789">
                  <a:extLst>
                    <a:ext uri="{9D8B030D-6E8A-4147-A177-3AD203B41FA5}">
                      <a16:colId xmlns:a16="http://schemas.microsoft.com/office/drawing/2014/main" val="20001"/>
                    </a:ext>
                  </a:extLst>
                </a:gridCol>
                <a:gridCol w="1443789">
                  <a:extLst>
                    <a:ext uri="{9D8B030D-6E8A-4147-A177-3AD203B41FA5}">
                      <a16:colId xmlns:a16="http://schemas.microsoft.com/office/drawing/2014/main" val="20002"/>
                    </a:ext>
                  </a:extLst>
                </a:gridCol>
                <a:gridCol w="1443789">
                  <a:extLst>
                    <a:ext uri="{9D8B030D-6E8A-4147-A177-3AD203B41FA5}">
                      <a16:colId xmlns:a16="http://schemas.microsoft.com/office/drawing/2014/main" val="20003"/>
                    </a:ext>
                  </a:extLst>
                </a:gridCol>
                <a:gridCol w="1443789">
                  <a:extLst>
                    <a:ext uri="{9D8B030D-6E8A-4147-A177-3AD203B41FA5}">
                      <a16:colId xmlns:a16="http://schemas.microsoft.com/office/drawing/2014/main" val="20004"/>
                    </a:ext>
                  </a:extLst>
                </a:gridCol>
              </a:tblGrid>
              <a:tr h="370840">
                <a:tc>
                  <a:txBody>
                    <a:bodyPr/>
                    <a:lstStyle/>
                    <a:p>
                      <a:r>
                        <a:rPr lang="en-US" sz="1800" b="1" dirty="0"/>
                        <a:t>Mar 14</a:t>
                      </a:r>
                    </a:p>
                  </a:txBody>
                  <a:tcPr/>
                </a:tc>
                <a:tc>
                  <a:txBody>
                    <a:bodyPr/>
                    <a:lstStyle/>
                    <a:p>
                      <a:r>
                        <a:rPr lang="en-US" sz="1800" b="1" dirty="0"/>
                        <a:t>Mar 15</a:t>
                      </a:r>
                    </a:p>
                  </a:txBody>
                  <a:tcPr/>
                </a:tc>
                <a:tc>
                  <a:txBody>
                    <a:bodyPr/>
                    <a:lstStyle/>
                    <a:p>
                      <a:r>
                        <a:rPr lang="en-US" sz="1800" b="1" dirty="0"/>
                        <a:t>Mar 16</a:t>
                      </a:r>
                    </a:p>
                  </a:txBody>
                  <a:tcPr/>
                </a:tc>
                <a:tc>
                  <a:txBody>
                    <a:bodyPr/>
                    <a:lstStyle/>
                    <a:p>
                      <a:r>
                        <a:rPr lang="en-US" sz="1800" b="1" dirty="0"/>
                        <a:t>Mar 17</a:t>
                      </a:r>
                    </a:p>
                  </a:txBody>
                  <a:tcPr/>
                </a:tc>
                <a:tc>
                  <a:txBody>
                    <a:bodyPr/>
                    <a:lstStyle/>
                    <a:p>
                      <a:r>
                        <a:rPr lang="en-US" sz="1800" b="1" dirty="0"/>
                        <a:t>Mar 18</a:t>
                      </a:r>
                    </a:p>
                  </a:txBody>
                  <a:tcPr/>
                </a:tc>
                <a:extLst>
                  <a:ext uri="{0D108BD9-81ED-4DB2-BD59-A6C34878D82A}">
                    <a16:rowId xmlns:a16="http://schemas.microsoft.com/office/drawing/2014/main" val="10000"/>
                  </a:ext>
                </a:extLst>
              </a:tr>
              <a:tr h="370840">
                <a:tc>
                  <a:txBody>
                    <a:bodyPr/>
                    <a:lstStyle/>
                    <a:p>
                      <a:r>
                        <a:rPr lang="en-US" sz="1800" b="1" dirty="0"/>
                        <a:t>5 ETH</a:t>
                      </a:r>
                    </a:p>
                  </a:txBody>
                  <a:tcPr/>
                </a:tc>
                <a:tc>
                  <a:txBody>
                    <a:bodyPr/>
                    <a:lstStyle/>
                    <a:p>
                      <a:r>
                        <a:rPr lang="en-US" sz="1800" b="1" dirty="0"/>
                        <a:t>4.9 ETH</a:t>
                      </a:r>
                    </a:p>
                  </a:txBody>
                  <a:tcPr/>
                </a:tc>
                <a:tc>
                  <a:txBody>
                    <a:bodyPr/>
                    <a:lstStyle/>
                    <a:p>
                      <a:r>
                        <a:rPr lang="en-US" sz="1800" b="1" dirty="0"/>
                        <a:t>4.7 ETH</a:t>
                      </a:r>
                    </a:p>
                  </a:txBody>
                  <a:tcPr/>
                </a:tc>
                <a:tc>
                  <a:txBody>
                    <a:bodyPr/>
                    <a:lstStyle/>
                    <a:p>
                      <a:r>
                        <a:rPr lang="en-US" sz="1800" b="1" dirty="0"/>
                        <a:t>5.3 ETH</a:t>
                      </a:r>
                    </a:p>
                  </a:txBody>
                  <a:tcPr/>
                </a:tc>
                <a:tc>
                  <a:txBody>
                    <a:bodyPr/>
                    <a:lstStyle/>
                    <a:p>
                      <a:r>
                        <a:rPr lang="en-US" sz="1800" b="1" dirty="0"/>
                        <a:t>3.3 ETH</a:t>
                      </a:r>
                    </a:p>
                  </a:txBody>
                  <a:tcPr/>
                </a:tc>
                <a:extLst>
                  <a:ext uri="{0D108BD9-81ED-4DB2-BD59-A6C34878D82A}">
                    <a16:rowId xmlns:a16="http://schemas.microsoft.com/office/drawing/2014/main" val="10001"/>
                  </a:ext>
                </a:extLst>
              </a:tr>
            </a:tbl>
          </a:graphicData>
        </a:graphic>
      </p:graphicFrame>
      <p:sp>
        <p:nvSpPr>
          <p:cNvPr id="6" name="Rectangle 5"/>
          <p:cNvSpPr/>
          <p:nvPr/>
        </p:nvSpPr>
        <p:spPr>
          <a:xfrm>
            <a:off x="494213" y="4735463"/>
            <a:ext cx="5623735" cy="584775"/>
          </a:xfrm>
          <a:prstGeom prst="rect">
            <a:avLst/>
          </a:prstGeom>
        </p:spPr>
        <p:txBody>
          <a:bodyPr wrap="square">
            <a:spAutoFit/>
          </a:bodyPr>
          <a:lstStyle/>
          <a:p>
            <a:r>
              <a:rPr lang="en-US" sz="1600" dirty="0">
                <a:latin typeface="Candara" panose="020E0502030303020204" pitchFamily="34" charset="0"/>
              </a:rPr>
              <a:t>Suppose you are running a full node and want to check Alice’s account balance. What value will you find in the state </a:t>
            </a:r>
            <a:r>
              <a:rPr lang="en-US" sz="1600" dirty="0" err="1">
                <a:latin typeface="Candara" panose="020E0502030303020204" pitchFamily="34" charset="0"/>
              </a:rPr>
              <a:t>trie</a:t>
            </a:r>
            <a:r>
              <a:rPr lang="en-US" sz="1600" dirty="0">
                <a:latin typeface="Candara" panose="020E0502030303020204" pitchFamily="34" charset="0"/>
              </a:rPr>
              <a:t>? </a:t>
            </a:r>
          </a:p>
        </p:txBody>
      </p:sp>
      <p:sp>
        <p:nvSpPr>
          <p:cNvPr id="7" name="Rectangle 6"/>
          <p:cNvSpPr/>
          <p:nvPr/>
        </p:nvSpPr>
        <p:spPr>
          <a:xfrm>
            <a:off x="487680" y="5474126"/>
            <a:ext cx="5623735" cy="584775"/>
          </a:xfrm>
          <a:prstGeom prst="rect">
            <a:avLst/>
          </a:prstGeom>
        </p:spPr>
        <p:txBody>
          <a:bodyPr wrap="square">
            <a:spAutoFit/>
          </a:bodyPr>
          <a:lstStyle/>
          <a:p>
            <a:r>
              <a:rPr lang="en-US" sz="1600" dirty="0">
                <a:latin typeface="Candara" panose="020E0502030303020204" pitchFamily="34" charset="0"/>
              </a:rPr>
              <a:t>Suppose you want to know Alice’s account balance on Mar 15. Will you be able to find it in the state </a:t>
            </a:r>
            <a:r>
              <a:rPr lang="en-US" sz="1600" dirty="0" err="1">
                <a:latin typeface="Candara" panose="020E0502030303020204" pitchFamily="34" charset="0"/>
              </a:rPr>
              <a:t>trie</a:t>
            </a:r>
            <a:r>
              <a:rPr lang="en-US" sz="1600" dirty="0">
                <a:latin typeface="Candara" panose="020E0502030303020204" pitchFamily="34" charset="0"/>
              </a:rPr>
              <a:t>? </a:t>
            </a:r>
          </a:p>
        </p:txBody>
      </p:sp>
      <p:sp>
        <p:nvSpPr>
          <p:cNvPr id="8" name="Rectangle 7"/>
          <p:cNvSpPr/>
          <p:nvPr/>
        </p:nvSpPr>
        <p:spPr>
          <a:xfrm>
            <a:off x="8038256" y="4935517"/>
            <a:ext cx="3635584" cy="1077218"/>
          </a:xfrm>
          <a:prstGeom prst="rect">
            <a:avLst/>
          </a:prstGeom>
          <a:ln>
            <a:noFill/>
          </a:ln>
        </p:spPr>
        <p:txBody>
          <a:bodyPr wrap="square">
            <a:spAutoFit/>
          </a:bodyPr>
          <a:lstStyle/>
          <a:p>
            <a:pPr algn="ctr"/>
            <a:r>
              <a:rPr lang="en-US" sz="1600" dirty="0">
                <a:latin typeface="Candara" panose="020E0502030303020204" pitchFamily="34" charset="0"/>
              </a:rPr>
              <a:t>Why?</a:t>
            </a:r>
          </a:p>
          <a:p>
            <a:pPr algn="ctr"/>
            <a:r>
              <a:rPr lang="en-US" sz="1600" dirty="0">
                <a:latin typeface="Candara" panose="020E0502030303020204" pitchFamily="34" charset="0"/>
              </a:rPr>
              <a:t>State </a:t>
            </a:r>
            <a:r>
              <a:rPr lang="en-US" sz="1600" dirty="0" err="1">
                <a:latin typeface="Candara" panose="020E0502030303020204" pitchFamily="34" charset="0"/>
              </a:rPr>
              <a:t>trie</a:t>
            </a:r>
            <a:r>
              <a:rPr lang="en-US" sz="1600" dirty="0">
                <a:latin typeface="Candara" panose="020E0502030303020204" pitchFamily="34" charset="0"/>
              </a:rPr>
              <a:t> only stores the updated information about the accounts, there is no archive of all historical states</a:t>
            </a:r>
          </a:p>
        </p:txBody>
      </p:sp>
      <p:sp>
        <p:nvSpPr>
          <p:cNvPr id="9" name="Rectangle 8"/>
          <p:cNvSpPr/>
          <p:nvPr/>
        </p:nvSpPr>
        <p:spPr>
          <a:xfrm>
            <a:off x="6524311" y="4879298"/>
            <a:ext cx="898003" cy="369332"/>
          </a:xfrm>
          <a:prstGeom prst="rect">
            <a:avLst/>
          </a:prstGeom>
          <a:solidFill>
            <a:schemeClr val="bg1">
              <a:lumMod val="95000"/>
            </a:schemeClr>
          </a:solidFill>
          <a:ln>
            <a:solidFill>
              <a:schemeClr val="tx1"/>
            </a:solidFill>
          </a:ln>
        </p:spPr>
        <p:txBody>
          <a:bodyPr wrap="none">
            <a:spAutoFit/>
          </a:bodyPr>
          <a:lstStyle/>
          <a:p>
            <a:r>
              <a:rPr lang="en-US" dirty="0">
                <a:latin typeface="Candara" panose="020E0502030303020204" pitchFamily="34" charset="0"/>
              </a:rPr>
              <a:t>3.3 ETH</a:t>
            </a:r>
          </a:p>
        </p:txBody>
      </p:sp>
      <p:sp>
        <p:nvSpPr>
          <p:cNvPr id="10" name="Rectangle 9"/>
          <p:cNvSpPr/>
          <p:nvPr/>
        </p:nvSpPr>
        <p:spPr>
          <a:xfrm>
            <a:off x="6727357" y="5617961"/>
            <a:ext cx="500458" cy="400110"/>
          </a:xfrm>
          <a:prstGeom prst="rect">
            <a:avLst/>
          </a:prstGeom>
          <a:solidFill>
            <a:schemeClr val="bg1">
              <a:lumMod val="95000"/>
            </a:schemeClr>
          </a:solidFill>
          <a:ln>
            <a:solidFill>
              <a:schemeClr val="tx1"/>
            </a:solidFill>
          </a:ln>
        </p:spPr>
        <p:txBody>
          <a:bodyPr wrap="none">
            <a:spAutoFit/>
          </a:bodyPr>
          <a:lstStyle/>
          <a:p>
            <a:r>
              <a:rPr lang="en-US" sz="2000" dirty="0">
                <a:latin typeface="Candara" panose="020E0502030303020204" pitchFamily="34" charset="0"/>
              </a:rPr>
              <a:t>No</a:t>
            </a:r>
          </a:p>
        </p:txBody>
      </p:sp>
      <p:sp>
        <p:nvSpPr>
          <p:cNvPr id="11" name="Rectangle 10"/>
          <p:cNvSpPr/>
          <p:nvPr/>
        </p:nvSpPr>
        <p:spPr>
          <a:xfrm>
            <a:off x="494214" y="1070751"/>
            <a:ext cx="11186160" cy="1631216"/>
          </a:xfrm>
          <a:prstGeom prst="rect">
            <a:avLst/>
          </a:prstGeom>
          <a:ln>
            <a:noFill/>
          </a:ln>
        </p:spPr>
        <p:txBody>
          <a:bodyPr wrap="square">
            <a:spAutoFit/>
          </a:bodyPr>
          <a:lstStyle/>
          <a:p>
            <a:r>
              <a:rPr lang="en-US" sz="2000" dirty="0">
                <a:latin typeface="Candara" panose="020E0502030303020204" pitchFamily="34" charset="0"/>
              </a:rPr>
              <a:t>Suppose Alice’s account balance on Mar 14 was 5 ETH, and then she made the following transactions:</a:t>
            </a:r>
          </a:p>
          <a:p>
            <a:pPr marL="800100" lvl="1" indent="-342900">
              <a:buFont typeface="Arial" panose="020B0604020202020204" pitchFamily="34" charset="0"/>
              <a:buChar char="•"/>
            </a:pPr>
            <a:r>
              <a:rPr lang="en-US" sz="2000" dirty="0">
                <a:latin typeface="Candara" panose="020E0502030303020204" pitchFamily="34" charset="0"/>
              </a:rPr>
              <a:t>Sent 0.1 ETH to Bob on Mar 15</a:t>
            </a:r>
          </a:p>
          <a:p>
            <a:pPr marL="800100" lvl="1" indent="-342900">
              <a:buFont typeface="Arial" panose="020B0604020202020204" pitchFamily="34" charset="0"/>
              <a:buChar char="•"/>
            </a:pPr>
            <a:r>
              <a:rPr lang="en-US" sz="2000" dirty="0">
                <a:latin typeface="Candara" panose="020E0502030303020204" pitchFamily="34" charset="0"/>
              </a:rPr>
              <a:t>Sent 0.2 ETH to Kevin on Mar 16</a:t>
            </a:r>
          </a:p>
          <a:p>
            <a:pPr marL="800100" lvl="1" indent="-342900">
              <a:buFont typeface="Arial" panose="020B0604020202020204" pitchFamily="34" charset="0"/>
              <a:buChar char="•"/>
            </a:pPr>
            <a:r>
              <a:rPr lang="en-US" sz="2000" dirty="0">
                <a:latin typeface="Candara" panose="020E0502030303020204" pitchFamily="34" charset="0"/>
              </a:rPr>
              <a:t>Received 0.6 ETH from her mom on Mar 17</a:t>
            </a:r>
          </a:p>
          <a:p>
            <a:pPr marL="800100" lvl="1" indent="-342900">
              <a:buFont typeface="Arial" panose="020B0604020202020204" pitchFamily="34" charset="0"/>
              <a:buChar char="•"/>
            </a:pPr>
            <a:r>
              <a:rPr lang="en-US" sz="2000" dirty="0">
                <a:latin typeface="Candara" panose="020E0502030303020204" pitchFamily="34" charset="0"/>
              </a:rPr>
              <a:t>Paid 2 ETH to buy NFT on Mar 18</a:t>
            </a:r>
          </a:p>
        </p:txBody>
      </p:sp>
      <p:sp>
        <p:nvSpPr>
          <p:cNvPr id="12" name="Rectangle 11"/>
          <p:cNvSpPr/>
          <p:nvPr/>
        </p:nvSpPr>
        <p:spPr>
          <a:xfrm>
            <a:off x="2381287" y="3984720"/>
            <a:ext cx="7302033" cy="400110"/>
          </a:xfrm>
          <a:prstGeom prst="rect">
            <a:avLst/>
          </a:prstGeom>
        </p:spPr>
        <p:txBody>
          <a:bodyPr wrap="square">
            <a:spAutoFit/>
          </a:bodyPr>
          <a:lstStyle/>
          <a:p>
            <a:pPr algn="ctr"/>
            <a:r>
              <a:rPr lang="en-US" sz="2000" dirty="0">
                <a:latin typeface="Candara" panose="020E0502030303020204" pitchFamily="34" charset="0"/>
              </a:rPr>
              <a:t>Assume, Alice has not made any other transaction after Mar 18 </a:t>
            </a:r>
          </a:p>
        </p:txBody>
      </p:sp>
    </p:spTree>
    <p:extLst>
      <p:ext uri="{BB962C8B-B14F-4D97-AF65-F5344CB8AC3E}">
        <p14:creationId xmlns:p14="http://schemas.microsoft.com/office/powerpoint/2010/main" val="2529174699"/>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7" grpId="0"/>
      <p:bldP spid="8" grpId="0" animBg="1"/>
      <p:bldP spid="9" grpId="0" animBg="1"/>
      <p:bldP spid="10" grpId="0" animBg="1"/>
      <p:bldP spid="12"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Ethereum Node Types</a:t>
            </a:r>
          </a:p>
        </p:txBody>
      </p:sp>
      <p:sp>
        <p:nvSpPr>
          <p:cNvPr id="3" name="Content Placeholder 2"/>
          <p:cNvSpPr>
            <a:spLocks noGrp="1"/>
          </p:cNvSpPr>
          <p:nvPr>
            <p:ph idx="1"/>
          </p:nvPr>
        </p:nvSpPr>
        <p:spPr>
          <a:xfrm>
            <a:off x="1817109" y="3156823"/>
            <a:ext cx="8424512" cy="1748136"/>
          </a:xfrm>
          <a:ln>
            <a:solidFill>
              <a:schemeClr val="tx1"/>
            </a:solidFill>
          </a:ln>
        </p:spPr>
        <p:txBody>
          <a:bodyPr>
            <a:noAutofit/>
          </a:bodyPr>
          <a:lstStyle/>
          <a:p>
            <a:pPr marL="0" indent="0" algn="ctr">
              <a:buNone/>
            </a:pPr>
            <a:r>
              <a:rPr lang="en-US" sz="2000" b="1" u="sng" dirty="0"/>
              <a:t>Archive Node</a:t>
            </a:r>
          </a:p>
          <a:p>
            <a:r>
              <a:rPr lang="en-US" sz="1800" dirty="0"/>
              <a:t>An archive node stores everything kept in the full node </a:t>
            </a:r>
          </a:p>
          <a:p>
            <a:r>
              <a:rPr lang="en-US" sz="1800" dirty="0"/>
              <a:t>Builds and stores an archive of all the historical states </a:t>
            </a:r>
          </a:p>
          <a:p>
            <a:r>
              <a:rPr lang="en-US" sz="1800" dirty="0"/>
              <a:t>This node contains the complete information including all the past and present states of all the Ethereum accounts</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66</a:t>
            </a:fld>
            <a:endParaRPr lang="en-US" dirty="0">
              <a:latin typeface="Candara" panose="020E0502030303020204" pitchFamily="34" charset="0"/>
            </a:endParaRPr>
          </a:p>
        </p:txBody>
      </p:sp>
      <p:sp>
        <p:nvSpPr>
          <p:cNvPr id="6" name="Rectangle 5"/>
          <p:cNvSpPr/>
          <p:nvPr/>
        </p:nvSpPr>
        <p:spPr>
          <a:xfrm>
            <a:off x="487680" y="5211042"/>
            <a:ext cx="11098731" cy="954107"/>
          </a:xfrm>
          <a:prstGeom prst="rect">
            <a:avLst/>
          </a:prstGeom>
          <a:solidFill>
            <a:schemeClr val="bg1">
              <a:lumMod val="95000"/>
            </a:schemeClr>
          </a:solidFill>
          <a:ln>
            <a:solidFill>
              <a:schemeClr val="tx1"/>
            </a:solidFill>
          </a:ln>
        </p:spPr>
        <p:txBody>
          <a:bodyPr wrap="square">
            <a:spAutoFit/>
          </a:bodyPr>
          <a:lstStyle/>
          <a:p>
            <a:pPr algn="ctr"/>
            <a:r>
              <a:rPr lang="en-US" sz="2800" dirty="0">
                <a:latin typeface="Candara" panose="020E0502030303020204" pitchFamily="34" charset="0"/>
              </a:rPr>
              <a:t>Bitcoin has full nodes and light nodes but there is no concept of archive node in Bitcoin</a:t>
            </a:r>
          </a:p>
        </p:txBody>
      </p:sp>
      <p:sp>
        <p:nvSpPr>
          <p:cNvPr id="12" name="TextBox 11"/>
          <p:cNvSpPr txBox="1"/>
          <p:nvPr/>
        </p:nvSpPr>
        <p:spPr>
          <a:xfrm>
            <a:off x="487680" y="1166632"/>
            <a:ext cx="5455920" cy="1785104"/>
          </a:xfrm>
          <a:prstGeom prst="rect">
            <a:avLst/>
          </a:prstGeom>
          <a:noFill/>
          <a:ln>
            <a:solidFill>
              <a:schemeClr val="tx1"/>
            </a:solidFill>
          </a:ln>
        </p:spPr>
        <p:txBody>
          <a:bodyPr wrap="square" rtlCol="0">
            <a:spAutoFit/>
          </a:bodyPr>
          <a:lstStyle/>
          <a:p>
            <a:pPr algn="ctr"/>
            <a:r>
              <a:rPr lang="en-US" sz="2000" b="1" u="sng" dirty="0">
                <a:latin typeface="Candara" panose="020E0502030303020204" pitchFamily="34" charset="0"/>
              </a:rPr>
              <a:t>Full Node</a:t>
            </a:r>
          </a:p>
          <a:p>
            <a:pPr marL="342900" indent="-342900">
              <a:buFont typeface="Arial" panose="020B0604020202020204" pitchFamily="34" charset="0"/>
              <a:buChar char="•"/>
            </a:pPr>
            <a:r>
              <a:rPr lang="en-US" dirty="0">
                <a:latin typeface="Candara" panose="020E0502030303020204" pitchFamily="34" charset="0"/>
              </a:rPr>
              <a:t>Stores full blockchain data</a:t>
            </a:r>
          </a:p>
          <a:p>
            <a:pPr marL="342900" indent="-342900">
              <a:buFont typeface="Arial" panose="020B0604020202020204" pitchFamily="34" charset="0"/>
              <a:buChar char="•"/>
            </a:pPr>
            <a:r>
              <a:rPr lang="en-US" dirty="0">
                <a:latin typeface="Candara" panose="020E0502030303020204" pitchFamily="34" charset="0"/>
              </a:rPr>
              <a:t>Participates in block validation, verifies all blocks and states</a:t>
            </a:r>
          </a:p>
          <a:p>
            <a:pPr marL="342900" indent="-342900">
              <a:buFont typeface="Arial" panose="020B0604020202020204" pitchFamily="34" charset="0"/>
              <a:buChar char="•"/>
            </a:pPr>
            <a:r>
              <a:rPr lang="en-US" dirty="0">
                <a:latin typeface="Candara" panose="020E0502030303020204" pitchFamily="34" charset="0"/>
              </a:rPr>
              <a:t>Serves the network and provides data on request</a:t>
            </a:r>
          </a:p>
          <a:p>
            <a:pPr marL="342900" indent="-342900">
              <a:buFont typeface="Arial" panose="020B0604020202020204" pitchFamily="34" charset="0"/>
              <a:buChar char="•"/>
            </a:pPr>
            <a:r>
              <a:rPr lang="en-US" dirty="0">
                <a:latin typeface="Candara" panose="020E0502030303020204" pitchFamily="34" charset="0"/>
              </a:rPr>
              <a:t>All states can be derived from a full node</a:t>
            </a:r>
          </a:p>
        </p:txBody>
      </p:sp>
      <p:sp>
        <p:nvSpPr>
          <p:cNvPr id="13" name="TextBox 12"/>
          <p:cNvSpPr txBox="1"/>
          <p:nvPr/>
        </p:nvSpPr>
        <p:spPr>
          <a:xfrm>
            <a:off x="6029366" y="1166632"/>
            <a:ext cx="5644474" cy="1785104"/>
          </a:xfrm>
          <a:prstGeom prst="rect">
            <a:avLst/>
          </a:prstGeom>
          <a:noFill/>
          <a:ln>
            <a:solidFill>
              <a:schemeClr val="tx1"/>
            </a:solidFill>
          </a:ln>
        </p:spPr>
        <p:txBody>
          <a:bodyPr wrap="square" rtlCol="0">
            <a:spAutoFit/>
          </a:bodyPr>
          <a:lstStyle/>
          <a:p>
            <a:pPr algn="ctr"/>
            <a:r>
              <a:rPr lang="en-US" sz="2000" b="1" u="sng" dirty="0">
                <a:latin typeface="Candara" panose="020E0502030303020204" pitchFamily="34" charset="0"/>
              </a:rPr>
              <a:t>Light Node</a:t>
            </a:r>
          </a:p>
          <a:p>
            <a:pPr marL="342900" indent="-342900">
              <a:buFont typeface="Arial" panose="020B0604020202020204" pitchFamily="34" charset="0"/>
              <a:buChar char="•"/>
            </a:pPr>
            <a:r>
              <a:rPr lang="en-US" dirty="0">
                <a:latin typeface="Candara" panose="020E0502030303020204" pitchFamily="34" charset="0"/>
              </a:rPr>
              <a:t>Stores the headers and requests everything else</a:t>
            </a:r>
          </a:p>
          <a:p>
            <a:pPr marL="342900" indent="-342900">
              <a:buFont typeface="Arial" panose="020B0604020202020204" pitchFamily="34" charset="0"/>
              <a:buChar char="•"/>
            </a:pPr>
            <a:r>
              <a:rPr lang="en-US" dirty="0">
                <a:latin typeface="Candara" panose="020E0502030303020204" pitchFamily="34" charset="0"/>
              </a:rPr>
              <a:t>Can verify the validity of the data against the state roots in the block headers</a:t>
            </a:r>
          </a:p>
          <a:p>
            <a:pPr marL="342900" indent="-342900">
              <a:buFont typeface="Arial" panose="020B0604020202020204" pitchFamily="34" charset="0"/>
              <a:buChar char="•"/>
            </a:pPr>
            <a:r>
              <a:rPr lang="en-US" dirty="0">
                <a:latin typeface="Candara" panose="020E0502030303020204" pitchFamily="34" charset="0"/>
              </a:rPr>
              <a:t>Useful for low-capacity devices (embedded devices or mobile phones)</a:t>
            </a:r>
          </a:p>
        </p:txBody>
      </p:sp>
      <p:sp>
        <p:nvSpPr>
          <p:cNvPr id="15" name="Rectangle 14"/>
          <p:cNvSpPr/>
          <p:nvPr/>
        </p:nvSpPr>
        <p:spPr>
          <a:xfrm>
            <a:off x="1529615" y="6332709"/>
            <a:ext cx="3614888" cy="246221"/>
          </a:xfrm>
          <a:prstGeom prst="rect">
            <a:avLst/>
          </a:prstGeom>
        </p:spPr>
        <p:txBody>
          <a:bodyPr wrap="square">
            <a:spAutoFit/>
          </a:bodyPr>
          <a:lstStyle/>
          <a:p>
            <a:pPr algn="ctr"/>
            <a:r>
              <a:rPr lang="en-US" sz="1000" dirty="0">
                <a:latin typeface="Candara" panose="020E0502030303020204" pitchFamily="34" charset="0"/>
                <a:hlinkClick r:id="rId3"/>
              </a:rPr>
              <a:t>https://ethereum.org/en/developers/docs/nodes-and-clients/</a:t>
            </a:r>
            <a:r>
              <a:rPr lang="en-US" sz="1000" dirty="0">
                <a:latin typeface="Candara" panose="020E0502030303020204" pitchFamily="34" charset="0"/>
              </a:rPr>
              <a:t> </a:t>
            </a:r>
          </a:p>
        </p:txBody>
      </p:sp>
    </p:spTree>
    <p:extLst>
      <p:ext uri="{BB962C8B-B14F-4D97-AF65-F5344CB8AC3E}">
        <p14:creationId xmlns:p14="http://schemas.microsoft.com/office/powerpoint/2010/main" val="1680615622"/>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bg/>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6" grpId="0" animBg="1"/>
      <p:bldP spid="13"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Merge – Switch to </a:t>
            </a:r>
            <a:r>
              <a:rPr lang="en-US" dirty="0" err="1"/>
              <a:t>PoS</a:t>
            </a:r>
            <a:r>
              <a:rPr lang="en-US" dirty="0"/>
              <a:t> Consensus</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67</a:t>
            </a:fld>
            <a:endParaRPr lang="en-US" dirty="0">
              <a:latin typeface="Candara" panose="020E0502030303020204" pitchFamily="34" charset="0"/>
            </a:endParaRPr>
          </a:p>
        </p:txBody>
      </p:sp>
      <p:sp>
        <p:nvSpPr>
          <p:cNvPr id="6" name="Rectangle 5"/>
          <p:cNvSpPr/>
          <p:nvPr/>
        </p:nvSpPr>
        <p:spPr>
          <a:xfrm>
            <a:off x="487680" y="1053244"/>
            <a:ext cx="11169816" cy="707886"/>
          </a:xfrm>
          <a:prstGeom prst="rect">
            <a:avLst/>
          </a:prstGeom>
          <a:ln>
            <a:solidFill>
              <a:schemeClr val="tx1"/>
            </a:solidFill>
          </a:ln>
        </p:spPr>
        <p:txBody>
          <a:bodyPr wrap="square">
            <a:spAutoFit/>
          </a:bodyPr>
          <a:lstStyle/>
          <a:p>
            <a:pPr algn="ctr"/>
            <a:r>
              <a:rPr lang="en-US" sz="2000" dirty="0">
                <a:latin typeface="Candara" panose="020E0502030303020204" pitchFamily="34" charset="0"/>
              </a:rPr>
              <a:t>Ethereum switched from PoW to </a:t>
            </a:r>
            <a:r>
              <a:rPr lang="en-US" sz="2000" dirty="0" err="1">
                <a:latin typeface="Candara" panose="020E0502030303020204" pitchFamily="34" charset="0"/>
              </a:rPr>
              <a:t>PoS</a:t>
            </a:r>
            <a:r>
              <a:rPr lang="en-US" sz="2000" dirty="0">
                <a:latin typeface="Candara" panose="020E0502030303020204" pitchFamily="34" charset="0"/>
              </a:rPr>
              <a:t> on Sep 15, 2022, and this event is known as </a:t>
            </a:r>
          </a:p>
          <a:p>
            <a:pPr algn="ctr"/>
            <a:r>
              <a:rPr lang="en-US" sz="2000" dirty="0">
                <a:latin typeface="Candara" panose="020E0502030303020204" pitchFamily="34" charset="0"/>
              </a:rPr>
              <a:t>‘The Merge’</a:t>
            </a:r>
          </a:p>
        </p:txBody>
      </p:sp>
      <p:pic>
        <p:nvPicPr>
          <p:cNvPr id="7" name="Picture 6"/>
          <p:cNvPicPr>
            <a:picLocks noChangeAspect="1"/>
          </p:cNvPicPr>
          <p:nvPr/>
        </p:nvPicPr>
        <p:blipFill>
          <a:blip r:embed="rId3"/>
          <a:stretch>
            <a:fillRect/>
          </a:stretch>
        </p:blipFill>
        <p:spPr>
          <a:xfrm>
            <a:off x="518160" y="3844181"/>
            <a:ext cx="6399998" cy="2595941"/>
          </a:xfrm>
          <a:prstGeom prst="rect">
            <a:avLst/>
          </a:prstGeom>
        </p:spPr>
      </p:pic>
      <p:sp>
        <p:nvSpPr>
          <p:cNvPr id="8" name="Rectangle 7"/>
          <p:cNvSpPr/>
          <p:nvPr/>
        </p:nvSpPr>
        <p:spPr>
          <a:xfrm>
            <a:off x="487678" y="3347805"/>
            <a:ext cx="11169817" cy="400110"/>
          </a:xfrm>
          <a:prstGeom prst="rect">
            <a:avLst/>
          </a:prstGeom>
          <a:ln>
            <a:solidFill>
              <a:schemeClr val="tx1"/>
            </a:solidFill>
          </a:ln>
        </p:spPr>
        <p:txBody>
          <a:bodyPr wrap="square">
            <a:spAutoFit/>
          </a:bodyPr>
          <a:lstStyle/>
          <a:p>
            <a:pPr algn="ctr"/>
            <a:r>
              <a:rPr lang="en-US" sz="2000" dirty="0">
                <a:latin typeface="Candara" panose="020E0502030303020204" pitchFamily="34" charset="0"/>
              </a:rPr>
              <a:t>The Merge was the joining of the original execution layer of Ethereum with the </a:t>
            </a:r>
            <a:r>
              <a:rPr lang="en-US" sz="2000" dirty="0" err="1">
                <a:latin typeface="Candara" panose="020E0502030303020204" pitchFamily="34" charset="0"/>
              </a:rPr>
              <a:t>PoS</a:t>
            </a:r>
            <a:r>
              <a:rPr lang="en-US" sz="2000" dirty="0">
                <a:latin typeface="Candara" panose="020E0502030303020204" pitchFamily="34" charset="0"/>
              </a:rPr>
              <a:t> Beacon Chain </a:t>
            </a:r>
          </a:p>
        </p:txBody>
      </p:sp>
      <p:sp>
        <p:nvSpPr>
          <p:cNvPr id="9" name="Rectangle 8"/>
          <p:cNvSpPr/>
          <p:nvPr/>
        </p:nvSpPr>
        <p:spPr>
          <a:xfrm>
            <a:off x="487680" y="1991438"/>
            <a:ext cx="11169816" cy="1015663"/>
          </a:xfrm>
          <a:prstGeom prst="rect">
            <a:avLst/>
          </a:prstGeom>
          <a:ln>
            <a:solidFill>
              <a:schemeClr val="tx1"/>
            </a:solidFill>
          </a:ln>
        </p:spPr>
        <p:txBody>
          <a:bodyPr wrap="square">
            <a:spAutoFit/>
          </a:bodyPr>
          <a:lstStyle/>
          <a:p>
            <a:pPr algn="ctr"/>
            <a:r>
              <a:rPr lang="en-US" sz="2000" dirty="0">
                <a:latin typeface="Candara" panose="020E0502030303020204" pitchFamily="34" charset="0"/>
              </a:rPr>
              <a:t>Ethereum </a:t>
            </a:r>
            <a:r>
              <a:rPr lang="en-US" sz="2000" dirty="0" err="1">
                <a:latin typeface="Candara" panose="020E0502030303020204" pitchFamily="34" charset="0"/>
              </a:rPr>
              <a:t>Mainent</a:t>
            </a:r>
            <a:r>
              <a:rPr lang="en-US" sz="2000" dirty="0">
                <a:latin typeface="Candara" panose="020E0502030303020204" pitchFamily="34" charset="0"/>
              </a:rPr>
              <a:t> was launched on July 30, 2015, with PoW consensus layer. On Dec 1, 2020, the Beacon Chain (with new </a:t>
            </a:r>
            <a:r>
              <a:rPr lang="en-US" sz="2000" dirty="0" err="1">
                <a:latin typeface="Candara" panose="020E0502030303020204" pitchFamily="34" charset="0"/>
              </a:rPr>
              <a:t>PoS</a:t>
            </a:r>
            <a:r>
              <a:rPr lang="en-US" sz="2000" dirty="0">
                <a:latin typeface="Candara" panose="020E0502030303020204" pitchFamily="34" charset="0"/>
              </a:rPr>
              <a:t> consensus layer) was created as a separate blockchain to Mainnet, running in parallel</a:t>
            </a:r>
          </a:p>
        </p:txBody>
      </p:sp>
      <p:sp>
        <p:nvSpPr>
          <p:cNvPr id="10" name="Rectangle 9"/>
          <p:cNvSpPr/>
          <p:nvPr/>
        </p:nvSpPr>
        <p:spPr>
          <a:xfrm>
            <a:off x="7218947" y="4558262"/>
            <a:ext cx="4454893" cy="923330"/>
          </a:xfrm>
          <a:prstGeom prst="rect">
            <a:avLst/>
          </a:prstGeom>
          <a:ln>
            <a:solidFill>
              <a:schemeClr val="tx1"/>
            </a:solidFill>
          </a:ln>
        </p:spPr>
        <p:txBody>
          <a:bodyPr wrap="square">
            <a:spAutoFit/>
          </a:bodyPr>
          <a:lstStyle/>
          <a:p>
            <a:pPr algn="ctr"/>
            <a:r>
              <a:rPr lang="en-US" dirty="0">
                <a:latin typeface="Candara" panose="020E0502030303020204" pitchFamily="34" charset="0"/>
              </a:rPr>
              <a:t>The Merge represents the formal adoption of the Beacon Chain as the new consensus layer to the original Mainnet execution layer</a:t>
            </a:r>
          </a:p>
        </p:txBody>
      </p:sp>
    </p:spTree>
    <p:extLst>
      <p:ext uri="{BB962C8B-B14F-4D97-AF65-F5344CB8AC3E}">
        <p14:creationId xmlns:p14="http://schemas.microsoft.com/office/powerpoint/2010/main" val="3759211245"/>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PoW</a:t>
            </a:r>
            <a:r>
              <a:rPr lang="en-US" dirty="0"/>
              <a:t> vs </a:t>
            </a:r>
            <a:r>
              <a:rPr lang="en-US" dirty="0" err="1"/>
              <a:t>PoS</a:t>
            </a:r>
            <a:endParaRPr lang="en-US" dirty="0"/>
          </a:p>
        </p:txBody>
      </p:sp>
      <p:sp>
        <p:nvSpPr>
          <p:cNvPr id="4" name="Slide Number Placeholder 3"/>
          <p:cNvSpPr>
            <a:spLocks noGrp="1"/>
          </p:cNvSpPr>
          <p:nvPr>
            <p:ph type="sldNum" sz="quarter" idx="12"/>
          </p:nvPr>
        </p:nvSpPr>
        <p:spPr/>
        <p:txBody>
          <a:bodyPr/>
          <a:lstStyle/>
          <a:p>
            <a:fld id="{19FE8B7B-3258-47CD-BBC0-34D05FC906E5}" type="slidenum">
              <a:rPr lang="en-US" smtClean="0"/>
              <a:t>68</a:t>
            </a:fld>
            <a:endParaRPr lang="en-US" dirty="0"/>
          </a:p>
        </p:txBody>
      </p:sp>
      <p:sp>
        <p:nvSpPr>
          <p:cNvPr id="6" name="Rectangle 5"/>
          <p:cNvSpPr/>
          <p:nvPr/>
        </p:nvSpPr>
        <p:spPr>
          <a:xfrm>
            <a:off x="3810000" y="6383481"/>
            <a:ext cx="4572000" cy="261610"/>
          </a:xfrm>
          <a:prstGeom prst="rect">
            <a:avLst/>
          </a:prstGeom>
        </p:spPr>
        <p:txBody>
          <a:bodyPr>
            <a:spAutoFit/>
          </a:bodyPr>
          <a:lstStyle/>
          <a:p>
            <a:r>
              <a:rPr lang="en-US" sz="1100" dirty="0">
                <a:hlinkClick r:id="rId2"/>
              </a:rPr>
              <a:t>https://www.alchemy.com/overviews/what-is-the-ethereum-beacon-chain</a:t>
            </a:r>
            <a:r>
              <a:rPr lang="en-US" sz="1100" dirty="0"/>
              <a:t> </a:t>
            </a:r>
          </a:p>
        </p:txBody>
      </p:sp>
      <p:pic>
        <p:nvPicPr>
          <p:cNvPr id="7" name="Picture 6"/>
          <p:cNvPicPr>
            <a:picLocks noChangeAspect="1"/>
          </p:cNvPicPr>
          <p:nvPr/>
        </p:nvPicPr>
        <p:blipFill>
          <a:blip r:embed="rId3"/>
          <a:stretch>
            <a:fillRect/>
          </a:stretch>
        </p:blipFill>
        <p:spPr>
          <a:xfrm>
            <a:off x="6010276" y="2863040"/>
            <a:ext cx="3933825" cy="1438275"/>
          </a:xfrm>
          <a:prstGeom prst="rect">
            <a:avLst/>
          </a:prstGeom>
        </p:spPr>
      </p:pic>
      <p:pic>
        <p:nvPicPr>
          <p:cNvPr id="10" name="Picture 9"/>
          <p:cNvPicPr>
            <a:picLocks noChangeAspect="1"/>
          </p:cNvPicPr>
          <p:nvPr/>
        </p:nvPicPr>
        <p:blipFill>
          <a:blip r:embed="rId4"/>
          <a:stretch>
            <a:fillRect/>
          </a:stretch>
        </p:blipFill>
        <p:spPr>
          <a:xfrm>
            <a:off x="1743075" y="2858143"/>
            <a:ext cx="3943350" cy="1400175"/>
          </a:xfrm>
          <a:prstGeom prst="rect">
            <a:avLst/>
          </a:prstGeom>
        </p:spPr>
      </p:pic>
      <p:pic>
        <p:nvPicPr>
          <p:cNvPr id="11" name="Picture 10"/>
          <p:cNvPicPr>
            <a:picLocks noChangeAspect="1"/>
          </p:cNvPicPr>
          <p:nvPr/>
        </p:nvPicPr>
        <p:blipFill>
          <a:blip r:embed="rId5"/>
          <a:stretch>
            <a:fillRect/>
          </a:stretch>
        </p:blipFill>
        <p:spPr>
          <a:xfrm>
            <a:off x="1743076" y="4564848"/>
            <a:ext cx="3952875" cy="1333500"/>
          </a:xfrm>
          <a:prstGeom prst="rect">
            <a:avLst/>
          </a:prstGeom>
        </p:spPr>
      </p:pic>
      <p:pic>
        <p:nvPicPr>
          <p:cNvPr id="12" name="Picture 11"/>
          <p:cNvPicPr>
            <a:picLocks noChangeAspect="1"/>
          </p:cNvPicPr>
          <p:nvPr/>
        </p:nvPicPr>
        <p:blipFill>
          <a:blip r:embed="rId6"/>
          <a:stretch>
            <a:fillRect/>
          </a:stretch>
        </p:blipFill>
        <p:spPr>
          <a:xfrm>
            <a:off x="6010276" y="4574980"/>
            <a:ext cx="3952875" cy="1333500"/>
          </a:xfrm>
          <a:prstGeom prst="rect">
            <a:avLst/>
          </a:prstGeom>
        </p:spPr>
      </p:pic>
      <p:sp>
        <p:nvSpPr>
          <p:cNvPr id="13" name="Rectangle 12"/>
          <p:cNvSpPr/>
          <p:nvPr/>
        </p:nvSpPr>
        <p:spPr>
          <a:xfrm>
            <a:off x="1743075" y="1855539"/>
            <a:ext cx="3943350" cy="9144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Miners</a:t>
            </a:r>
          </a:p>
        </p:txBody>
      </p:sp>
      <p:pic>
        <p:nvPicPr>
          <p:cNvPr id="14" name="Picture 13"/>
          <p:cNvPicPr>
            <a:picLocks noChangeAspect="1"/>
          </p:cNvPicPr>
          <p:nvPr/>
        </p:nvPicPr>
        <p:blipFill>
          <a:blip r:embed="rId7"/>
          <a:stretch>
            <a:fillRect/>
          </a:stretch>
        </p:blipFill>
        <p:spPr>
          <a:xfrm>
            <a:off x="1697356" y="1052962"/>
            <a:ext cx="8341995" cy="714375"/>
          </a:xfrm>
          <a:prstGeom prst="rect">
            <a:avLst/>
          </a:prstGeom>
        </p:spPr>
      </p:pic>
      <p:sp>
        <p:nvSpPr>
          <p:cNvPr id="15" name="Rectangle 14"/>
          <p:cNvSpPr/>
          <p:nvPr/>
        </p:nvSpPr>
        <p:spPr>
          <a:xfrm>
            <a:off x="6010276" y="1848561"/>
            <a:ext cx="3933825" cy="914400"/>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Validators</a:t>
            </a:r>
          </a:p>
        </p:txBody>
      </p:sp>
    </p:spTree>
    <p:extLst>
      <p:ext uri="{BB962C8B-B14F-4D97-AF65-F5344CB8AC3E}">
        <p14:creationId xmlns:p14="http://schemas.microsoft.com/office/powerpoint/2010/main" val="3167391100"/>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8594C-CE6A-D185-9E4C-92144FC51511}"/>
              </a:ext>
            </a:extLst>
          </p:cNvPr>
          <p:cNvSpPr>
            <a:spLocks noGrp="1"/>
          </p:cNvSpPr>
          <p:nvPr>
            <p:ph type="title"/>
          </p:nvPr>
        </p:nvSpPr>
        <p:spPr/>
        <p:txBody>
          <a:bodyPr/>
          <a:lstStyle/>
          <a:p>
            <a:r>
              <a:rPr lang="en-US" dirty="0"/>
              <a:t>Scalability </a:t>
            </a:r>
          </a:p>
        </p:txBody>
      </p:sp>
      <p:sp>
        <p:nvSpPr>
          <p:cNvPr id="4" name="Slide Number Placeholder 3">
            <a:extLst>
              <a:ext uri="{FF2B5EF4-FFF2-40B4-BE49-F238E27FC236}">
                <a16:creationId xmlns:a16="http://schemas.microsoft.com/office/drawing/2014/main" id="{D33833F2-B459-D0E3-A023-5DF45942F694}"/>
              </a:ext>
            </a:extLst>
          </p:cNvPr>
          <p:cNvSpPr>
            <a:spLocks noGrp="1"/>
          </p:cNvSpPr>
          <p:nvPr>
            <p:ph type="sldNum" sz="quarter" idx="12"/>
          </p:nvPr>
        </p:nvSpPr>
        <p:spPr/>
        <p:txBody>
          <a:bodyPr/>
          <a:lstStyle/>
          <a:p>
            <a:fld id="{D57F1E4F-1CFF-5643-939E-217C01CDF565}" type="slidenum">
              <a:rPr lang="en-US" smtClean="0"/>
              <a:pPr/>
              <a:t>69</a:t>
            </a:fld>
            <a:endParaRPr lang="en-US" dirty="0"/>
          </a:p>
        </p:txBody>
      </p:sp>
      <p:pic>
        <p:nvPicPr>
          <p:cNvPr id="6" name="Picture 5">
            <a:extLst>
              <a:ext uri="{FF2B5EF4-FFF2-40B4-BE49-F238E27FC236}">
                <a16:creationId xmlns:a16="http://schemas.microsoft.com/office/drawing/2014/main" id="{5BBBA60C-912E-4EDF-BF66-B9161C77B77D}"/>
              </a:ext>
            </a:extLst>
          </p:cNvPr>
          <p:cNvPicPr>
            <a:picLocks noChangeAspect="1"/>
          </p:cNvPicPr>
          <p:nvPr/>
        </p:nvPicPr>
        <p:blipFill>
          <a:blip r:embed="rId2"/>
          <a:stretch>
            <a:fillRect/>
          </a:stretch>
        </p:blipFill>
        <p:spPr>
          <a:xfrm>
            <a:off x="336883" y="1040081"/>
            <a:ext cx="7230980" cy="3806610"/>
          </a:xfrm>
          <a:prstGeom prst="rect">
            <a:avLst/>
          </a:prstGeom>
        </p:spPr>
      </p:pic>
      <p:sp>
        <p:nvSpPr>
          <p:cNvPr id="7" name="TextBox 6">
            <a:extLst>
              <a:ext uri="{FF2B5EF4-FFF2-40B4-BE49-F238E27FC236}">
                <a16:creationId xmlns:a16="http://schemas.microsoft.com/office/drawing/2014/main" id="{C127FE6F-57E1-25B8-FA97-F23F553455DF}"/>
              </a:ext>
            </a:extLst>
          </p:cNvPr>
          <p:cNvSpPr txBox="1"/>
          <p:nvPr/>
        </p:nvSpPr>
        <p:spPr>
          <a:xfrm>
            <a:off x="7892714" y="1360083"/>
            <a:ext cx="4070686" cy="923330"/>
          </a:xfrm>
          <a:prstGeom prst="rect">
            <a:avLst/>
          </a:prstGeom>
          <a:solidFill>
            <a:schemeClr val="accent5">
              <a:lumMod val="20000"/>
              <a:lumOff val="80000"/>
            </a:schemeClr>
          </a:solidFill>
          <a:ln>
            <a:solidFill>
              <a:schemeClr val="tx1"/>
            </a:solidFill>
          </a:ln>
        </p:spPr>
        <p:txBody>
          <a:bodyPr wrap="square" rtlCol="0">
            <a:spAutoFit/>
          </a:bodyPr>
          <a:lstStyle/>
          <a:p>
            <a:pPr marL="342900" indent="-342900">
              <a:buFont typeface="Arial" panose="020B0604020202020204" pitchFamily="34" charset="0"/>
              <a:buChar char="•"/>
            </a:pPr>
            <a:r>
              <a:rPr lang="en-US" dirty="0">
                <a:latin typeface="Candara" panose="020E0502030303020204" pitchFamily="34" charset="0"/>
              </a:rPr>
              <a:t>Ethereum Throughput = 17.36 </a:t>
            </a:r>
            <a:r>
              <a:rPr lang="en-US" dirty="0" err="1">
                <a:latin typeface="Candara" panose="020E0502030303020204" pitchFamily="34" charset="0"/>
              </a:rPr>
              <a:t>txns</a:t>
            </a:r>
            <a:r>
              <a:rPr lang="en-US" dirty="0">
                <a:latin typeface="Candara" panose="020E0502030303020204" pitchFamily="34" charset="0"/>
              </a:rPr>
              <a:t>/s</a:t>
            </a:r>
          </a:p>
          <a:p>
            <a:pPr marL="342900" indent="-342900">
              <a:buFont typeface="Arial" panose="020B0604020202020204" pitchFamily="34" charset="0"/>
              <a:buChar char="•"/>
            </a:pPr>
            <a:r>
              <a:rPr lang="en-US" dirty="0">
                <a:latin typeface="Candara" panose="020E0502030303020204" pitchFamily="34" charset="0"/>
              </a:rPr>
              <a:t>Ethereum throughput is 3 to 4 times greater than Bitcoin’s </a:t>
            </a:r>
            <a:r>
              <a:rPr lang="en-US" dirty="0" err="1">
                <a:latin typeface="Candara" panose="020E0502030303020204" pitchFamily="34" charset="0"/>
              </a:rPr>
              <a:t>througput</a:t>
            </a:r>
            <a:endParaRPr lang="en-US" dirty="0">
              <a:latin typeface="Candara" panose="020E0502030303020204" pitchFamily="34" charset="0"/>
            </a:endParaRPr>
          </a:p>
        </p:txBody>
      </p:sp>
      <p:sp>
        <p:nvSpPr>
          <p:cNvPr id="8" name="TextBox 7">
            <a:extLst>
              <a:ext uri="{FF2B5EF4-FFF2-40B4-BE49-F238E27FC236}">
                <a16:creationId xmlns:a16="http://schemas.microsoft.com/office/drawing/2014/main" id="{0F8A3ADC-63BA-9626-3CA1-0DD1805AB000}"/>
              </a:ext>
            </a:extLst>
          </p:cNvPr>
          <p:cNvSpPr txBox="1"/>
          <p:nvPr/>
        </p:nvSpPr>
        <p:spPr>
          <a:xfrm>
            <a:off x="7892715" y="3020453"/>
            <a:ext cx="3781125" cy="1754326"/>
          </a:xfrm>
          <a:prstGeom prst="rect">
            <a:avLst/>
          </a:prstGeom>
          <a:solidFill>
            <a:schemeClr val="accent4">
              <a:lumMod val="40000"/>
              <a:lumOff val="60000"/>
            </a:schemeClr>
          </a:solidFill>
          <a:ln>
            <a:solidFill>
              <a:schemeClr val="tx1"/>
            </a:solidFill>
          </a:ln>
        </p:spPr>
        <p:txBody>
          <a:bodyPr wrap="square" rtlCol="0">
            <a:spAutoFit/>
          </a:bodyPr>
          <a:lstStyle/>
          <a:p>
            <a:pPr algn="ctr"/>
            <a:r>
              <a:rPr lang="en-US" dirty="0">
                <a:latin typeface="Candara" panose="020E0502030303020204" pitchFamily="34" charset="0"/>
              </a:rPr>
              <a:t>Ethereum also suffers from throughput and scalability problems, and these issues are much more serious because Ethereum is an enabling platform for stablecoins, Web 3 and decentralized applications </a:t>
            </a:r>
          </a:p>
        </p:txBody>
      </p:sp>
      <p:sp>
        <p:nvSpPr>
          <p:cNvPr id="9" name="TextBox 8">
            <a:extLst>
              <a:ext uri="{FF2B5EF4-FFF2-40B4-BE49-F238E27FC236}">
                <a16:creationId xmlns:a16="http://schemas.microsoft.com/office/drawing/2014/main" id="{72C2294D-1CEE-629D-8C24-022895E57EC5}"/>
              </a:ext>
            </a:extLst>
          </p:cNvPr>
          <p:cNvSpPr txBox="1"/>
          <p:nvPr/>
        </p:nvSpPr>
        <p:spPr>
          <a:xfrm>
            <a:off x="487680" y="5047742"/>
            <a:ext cx="11072879" cy="1323439"/>
          </a:xfrm>
          <a:prstGeom prst="rect">
            <a:avLst/>
          </a:prstGeom>
          <a:noFill/>
        </p:spPr>
        <p:txBody>
          <a:bodyPr wrap="square" rtlCol="0">
            <a:spAutoFit/>
          </a:bodyPr>
          <a:lstStyle/>
          <a:p>
            <a:pPr marL="342900" indent="-342900" algn="l">
              <a:buFont typeface="Arial" panose="020B0604020202020204" pitchFamily="34" charset="0"/>
              <a:buChar char="•"/>
            </a:pPr>
            <a:r>
              <a:rPr lang="en-US" sz="2000" dirty="0">
                <a:latin typeface="Candara" panose="020E0502030303020204" pitchFamily="34" charset="0"/>
              </a:rPr>
              <a:t>The switch from PoW to </a:t>
            </a:r>
            <a:r>
              <a:rPr lang="en-US" sz="2000" dirty="0" err="1">
                <a:latin typeface="Candara" panose="020E0502030303020204" pitchFamily="34" charset="0"/>
              </a:rPr>
              <a:t>PoS</a:t>
            </a:r>
            <a:r>
              <a:rPr lang="en-US" sz="2000" dirty="0">
                <a:latin typeface="Candara" panose="020E0502030303020204" pitchFamily="34" charset="0"/>
              </a:rPr>
              <a:t> did not directly solve the scalability issue </a:t>
            </a:r>
          </a:p>
          <a:p>
            <a:pPr marL="342900" indent="-342900" algn="l">
              <a:buFont typeface="Arial" panose="020B0604020202020204" pitchFamily="34" charset="0"/>
              <a:buChar char="•"/>
            </a:pPr>
            <a:r>
              <a:rPr lang="en-US" sz="2000" dirty="0">
                <a:latin typeface="Candara" panose="020E0502030303020204" pitchFamily="34" charset="0"/>
              </a:rPr>
              <a:t>The throughput is almost the same because block size and block generation rate were kept same</a:t>
            </a:r>
          </a:p>
          <a:p>
            <a:pPr marL="800100" lvl="1" indent="-342900">
              <a:buFont typeface="Arial" panose="020B0604020202020204" pitchFamily="34" charset="0"/>
              <a:buChar char="•"/>
            </a:pPr>
            <a:r>
              <a:rPr lang="en-US" sz="2000" dirty="0">
                <a:latin typeface="Candara" panose="020E0502030303020204" pitchFamily="34" charset="0"/>
              </a:rPr>
              <a:t>Block size: around 100 to 200 kB</a:t>
            </a:r>
          </a:p>
          <a:p>
            <a:pPr marL="800100" lvl="1" indent="-342900">
              <a:buFont typeface="Arial" panose="020B0604020202020204" pitchFamily="34" charset="0"/>
              <a:buChar char="•"/>
            </a:pPr>
            <a:r>
              <a:rPr lang="en-US" sz="2000" dirty="0">
                <a:latin typeface="Candara" panose="020E0502030303020204" pitchFamily="34" charset="0"/>
              </a:rPr>
              <a:t>Block generation rate: 12 s</a:t>
            </a:r>
          </a:p>
        </p:txBody>
      </p:sp>
      <p:sp>
        <p:nvSpPr>
          <p:cNvPr id="11" name="TextBox 10">
            <a:extLst>
              <a:ext uri="{FF2B5EF4-FFF2-40B4-BE49-F238E27FC236}">
                <a16:creationId xmlns:a16="http://schemas.microsoft.com/office/drawing/2014/main" id="{2CD01866-F8C9-9DFE-CB07-F11282A966B0}"/>
              </a:ext>
            </a:extLst>
          </p:cNvPr>
          <p:cNvSpPr txBox="1"/>
          <p:nvPr/>
        </p:nvSpPr>
        <p:spPr>
          <a:xfrm>
            <a:off x="2776287" y="1554463"/>
            <a:ext cx="2890587" cy="261610"/>
          </a:xfrm>
          <a:prstGeom prst="rect">
            <a:avLst/>
          </a:prstGeom>
          <a:noFill/>
        </p:spPr>
        <p:txBody>
          <a:bodyPr wrap="square">
            <a:spAutoFit/>
          </a:bodyPr>
          <a:lstStyle/>
          <a:p>
            <a:r>
              <a:rPr lang="en-US" sz="1100" dirty="0">
                <a:latin typeface="Candara" panose="020E0502030303020204" pitchFamily="34" charset="0"/>
                <a:hlinkClick r:id="rId3"/>
              </a:rPr>
              <a:t>https://etherscan.io/chart/tx</a:t>
            </a:r>
            <a:r>
              <a:rPr lang="en-US" sz="1100" dirty="0">
                <a:latin typeface="Candara" panose="020E0502030303020204" pitchFamily="34" charset="0"/>
              </a:rPr>
              <a:t> </a:t>
            </a:r>
          </a:p>
        </p:txBody>
      </p:sp>
    </p:spTree>
    <p:extLst>
      <p:ext uri="{BB962C8B-B14F-4D97-AF65-F5344CB8AC3E}">
        <p14:creationId xmlns:p14="http://schemas.microsoft.com/office/powerpoint/2010/main" val="3950384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7B934-7C92-B7CE-F41E-769948E6EAF4}"/>
              </a:ext>
            </a:extLst>
          </p:cNvPr>
          <p:cNvSpPr>
            <a:spLocks noGrp="1"/>
          </p:cNvSpPr>
          <p:nvPr>
            <p:ph type="title"/>
          </p:nvPr>
        </p:nvSpPr>
        <p:spPr/>
        <p:txBody>
          <a:bodyPr/>
          <a:lstStyle/>
          <a:p>
            <a:r>
              <a:rPr lang="en-US" dirty="0"/>
              <a:t>Reasons for the Merge</a:t>
            </a:r>
          </a:p>
        </p:txBody>
      </p:sp>
      <p:sp>
        <p:nvSpPr>
          <p:cNvPr id="3" name="Content Placeholder 2">
            <a:extLst>
              <a:ext uri="{FF2B5EF4-FFF2-40B4-BE49-F238E27FC236}">
                <a16:creationId xmlns:a16="http://schemas.microsoft.com/office/drawing/2014/main" id="{33165940-6A53-3495-E8CC-B75E9B92EA40}"/>
              </a:ext>
            </a:extLst>
          </p:cNvPr>
          <p:cNvSpPr>
            <a:spLocks noGrp="1"/>
          </p:cNvSpPr>
          <p:nvPr>
            <p:ph idx="1"/>
          </p:nvPr>
        </p:nvSpPr>
        <p:spPr>
          <a:xfrm>
            <a:off x="487680" y="1134880"/>
            <a:ext cx="11186160" cy="5226559"/>
          </a:xfrm>
        </p:spPr>
        <p:txBody>
          <a:bodyPr anchor="ctr" anchorCtr="0">
            <a:spAutoFit/>
          </a:bodyPr>
          <a:lstStyle/>
          <a:p>
            <a:r>
              <a:rPr lang="en-US" sz="2400" dirty="0"/>
              <a:t>Ethereum’s switch from PoW to </a:t>
            </a:r>
            <a:r>
              <a:rPr lang="en-US" sz="2400" dirty="0" err="1"/>
              <a:t>PoS</a:t>
            </a:r>
            <a:r>
              <a:rPr lang="en-US" sz="2400" dirty="0"/>
              <a:t> did not change its block size or block generation rate </a:t>
            </a:r>
          </a:p>
          <a:p>
            <a:r>
              <a:rPr lang="en-US" sz="2400" dirty="0"/>
              <a:t>So, why did Ethereum made this switch?</a:t>
            </a:r>
          </a:p>
          <a:p>
            <a:r>
              <a:rPr lang="en-US" sz="2400" b="1" dirty="0"/>
              <a:t>Massive energy reduction </a:t>
            </a:r>
          </a:p>
          <a:p>
            <a:pPr lvl="1"/>
            <a:r>
              <a:rPr lang="en-US" sz="2000" dirty="0" err="1"/>
              <a:t>PoS</a:t>
            </a:r>
            <a:r>
              <a:rPr lang="en-US" sz="2000" dirty="0"/>
              <a:t> reduced Ethereum’s energy usage by &gt;99.9%, eliminating the environmental cost of PoW</a:t>
            </a:r>
          </a:p>
          <a:p>
            <a:r>
              <a:rPr lang="en-US" sz="2400" b="1" dirty="0"/>
              <a:t>Stronger economic security</a:t>
            </a:r>
          </a:p>
          <a:p>
            <a:pPr lvl="1"/>
            <a:r>
              <a:rPr lang="en-US" sz="2000" dirty="0"/>
              <a:t>Attacks become more expensive because malicious validators ETH can be slashed </a:t>
            </a:r>
          </a:p>
          <a:p>
            <a:r>
              <a:rPr lang="en-US" sz="2400" b="1" dirty="0"/>
              <a:t>Better long-term sustainability</a:t>
            </a:r>
          </a:p>
          <a:p>
            <a:pPr lvl="1"/>
            <a:r>
              <a:rPr lang="en-US" sz="2000" dirty="0" err="1"/>
              <a:t>PoS</a:t>
            </a:r>
            <a:r>
              <a:rPr lang="en-US" sz="2000" dirty="0"/>
              <a:t> requires far lower creation of ETH, allowing ETH to become deflationary  </a:t>
            </a:r>
          </a:p>
          <a:p>
            <a:r>
              <a:rPr lang="en-US" sz="2400" b="1" dirty="0"/>
              <a:t>Broader decentralization </a:t>
            </a:r>
          </a:p>
          <a:p>
            <a:pPr lvl="1"/>
            <a:r>
              <a:rPr lang="en-US" sz="2000" dirty="0"/>
              <a:t>No dependence on any specialized hardware enabling many more participants to join validation</a:t>
            </a:r>
          </a:p>
          <a:p>
            <a:r>
              <a:rPr lang="en-US" sz="2400" b="1" dirty="0"/>
              <a:t>Foundation for future scalability</a:t>
            </a:r>
          </a:p>
          <a:p>
            <a:pPr lvl="1"/>
            <a:r>
              <a:rPr lang="en-US" sz="2000" dirty="0" err="1"/>
              <a:t>PoS</a:t>
            </a:r>
            <a:r>
              <a:rPr lang="en-US" sz="2000" dirty="0"/>
              <a:t> is required for sharding</a:t>
            </a:r>
          </a:p>
        </p:txBody>
      </p:sp>
      <p:sp>
        <p:nvSpPr>
          <p:cNvPr id="4" name="Slide Number Placeholder 3">
            <a:extLst>
              <a:ext uri="{FF2B5EF4-FFF2-40B4-BE49-F238E27FC236}">
                <a16:creationId xmlns:a16="http://schemas.microsoft.com/office/drawing/2014/main" id="{A9062CF7-16F2-F304-3BAC-65D3D6ABD884}"/>
              </a:ext>
            </a:extLst>
          </p:cNvPr>
          <p:cNvSpPr>
            <a:spLocks noGrp="1"/>
          </p:cNvSpPr>
          <p:nvPr>
            <p:ph type="sldNum" sz="quarter" idx="12"/>
          </p:nvPr>
        </p:nvSpPr>
        <p:spPr/>
        <p:txBody>
          <a:bodyPr/>
          <a:lstStyle/>
          <a:p>
            <a:fld id="{D57F1E4F-1CFF-5643-939E-217C01CDF565}" type="slidenum">
              <a:rPr lang="en-US" smtClean="0"/>
              <a:pPr/>
              <a:t>70</a:t>
            </a:fld>
            <a:endParaRPr lang="en-US" dirty="0">
              <a:latin typeface="Candara" panose="020E0502030303020204" pitchFamily="34" charset="0"/>
            </a:endParaRPr>
          </a:p>
        </p:txBody>
      </p:sp>
    </p:spTree>
    <p:extLst>
      <p:ext uri="{BB962C8B-B14F-4D97-AF65-F5344CB8AC3E}">
        <p14:creationId xmlns:p14="http://schemas.microsoft.com/office/powerpoint/2010/main" val="1602455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Ethereum </a:t>
            </a:r>
            <a:r>
              <a:rPr lang="en-US" dirty="0" err="1"/>
              <a:t>PoS</a:t>
            </a:r>
            <a:r>
              <a:rPr lang="en-US" dirty="0"/>
              <a:t> Energy Consumption</a:t>
            </a:r>
          </a:p>
        </p:txBody>
      </p:sp>
      <p:sp>
        <p:nvSpPr>
          <p:cNvPr id="4" name="Slide Number Placeholder 3"/>
          <p:cNvSpPr>
            <a:spLocks noGrp="1"/>
          </p:cNvSpPr>
          <p:nvPr>
            <p:ph type="sldNum" sz="quarter" idx="12"/>
          </p:nvPr>
        </p:nvSpPr>
        <p:spPr/>
        <p:txBody>
          <a:bodyPr/>
          <a:lstStyle/>
          <a:p>
            <a:fld id="{19FE8B7B-3258-47CD-BBC0-34D05FC906E5}" type="slidenum">
              <a:rPr lang="en-US" smtClean="0"/>
              <a:t>71</a:t>
            </a:fld>
            <a:endParaRPr lang="en-US" dirty="0"/>
          </a:p>
        </p:txBody>
      </p:sp>
      <p:sp>
        <p:nvSpPr>
          <p:cNvPr id="6" name="Rectangle 5"/>
          <p:cNvSpPr/>
          <p:nvPr/>
        </p:nvSpPr>
        <p:spPr>
          <a:xfrm>
            <a:off x="1965388" y="6325014"/>
            <a:ext cx="8654716" cy="253916"/>
          </a:xfrm>
          <a:prstGeom prst="rect">
            <a:avLst/>
          </a:prstGeom>
        </p:spPr>
        <p:txBody>
          <a:bodyPr wrap="square">
            <a:spAutoFit/>
          </a:bodyPr>
          <a:lstStyle/>
          <a:p>
            <a:r>
              <a:rPr lang="en-US" sz="1050" dirty="0">
                <a:hlinkClick r:id="rId3"/>
              </a:rPr>
              <a:t>https://ethereum.org/en/energy-consumption/#:~:text=This%20yielded%20an%20estimate%20of,regional%2Dspecific%20carbon%20intensity%20factors</a:t>
            </a:r>
            <a:r>
              <a:rPr lang="en-US" sz="1050" dirty="0"/>
              <a:t>. </a:t>
            </a:r>
          </a:p>
        </p:txBody>
      </p:sp>
      <p:sp>
        <p:nvSpPr>
          <p:cNvPr id="9" name="TextBox 8"/>
          <p:cNvSpPr txBox="1"/>
          <p:nvPr/>
        </p:nvSpPr>
        <p:spPr>
          <a:xfrm>
            <a:off x="4367462" y="1859340"/>
            <a:ext cx="7306377" cy="2308324"/>
          </a:xfrm>
          <a:prstGeom prst="rect">
            <a:avLst/>
          </a:prstGeom>
          <a:noFill/>
        </p:spPr>
        <p:txBody>
          <a:bodyPr wrap="square" rtlCol="0">
            <a:spAutoFit/>
          </a:bodyPr>
          <a:lstStyle/>
          <a:p>
            <a:pPr marL="285750" indent="-285750">
              <a:buFont typeface="Arial" panose="020B0604020202020204" pitchFamily="34" charset="0"/>
              <a:buChar char="•"/>
            </a:pPr>
            <a:r>
              <a:rPr lang="en-US" sz="2400" dirty="0" err="1">
                <a:latin typeface="Candara" panose="020E0502030303020204" pitchFamily="34" charset="0"/>
              </a:rPr>
              <a:t>PoS</a:t>
            </a:r>
            <a:r>
              <a:rPr lang="en-US" sz="2400" dirty="0">
                <a:latin typeface="Candara" panose="020E0502030303020204" pitchFamily="34" charset="0"/>
              </a:rPr>
              <a:t> Ethereum: </a:t>
            </a:r>
          </a:p>
          <a:p>
            <a:pPr marL="742950" lvl="1" indent="-285750">
              <a:buFont typeface="Arial" panose="020B0604020202020204" pitchFamily="34" charset="0"/>
              <a:buChar char="•"/>
            </a:pPr>
            <a:r>
              <a:rPr lang="en-US" sz="2400" dirty="0">
                <a:latin typeface="Candara" panose="020E0502030303020204" pitchFamily="34" charset="0"/>
              </a:rPr>
              <a:t>0.0026 TWh = 2.6 million energy units per year</a:t>
            </a:r>
          </a:p>
          <a:p>
            <a:pPr marL="742950" lvl="1" indent="-285750">
              <a:buFont typeface="Arial" panose="020B0604020202020204" pitchFamily="34" charset="0"/>
              <a:buChar char="•"/>
            </a:pPr>
            <a:r>
              <a:rPr lang="en-US" sz="2400" dirty="0">
                <a:latin typeface="Candara" panose="020E0502030303020204" pitchFamily="34" charset="0"/>
              </a:rPr>
              <a:t>7123.28 units per day </a:t>
            </a:r>
          </a:p>
          <a:p>
            <a:pPr marL="742950" lvl="1" indent="-285750">
              <a:buFont typeface="Arial" panose="020B0604020202020204" pitchFamily="34" charset="0"/>
              <a:buChar char="•"/>
            </a:pPr>
            <a:r>
              <a:rPr lang="en-US" sz="2400" dirty="0">
                <a:latin typeface="Candara" panose="020E0502030303020204" pitchFamily="34" charset="0"/>
              </a:rPr>
              <a:t>296.8 units per hour </a:t>
            </a:r>
          </a:p>
          <a:p>
            <a:pPr marL="742950" lvl="1" indent="-285750">
              <a:buFont typeface="Arial" panose="020B0604020202020204" pitchFamily="34" charset="0"/>
              <a:buChar char="•"/>
            </a:pPr>
            <a:r>
              <a:rPr lang="en-US" sz="2400" dirty="0">
                <a:latin typeface="Candara" panose="020E0502030303020204" pitchFamily="34" charset="0"/>
              </a:rPr>
              <a:t>0.989 (~ 1) energy units per block (12s block generation)</a:t>
            </a:r>
          </a:p>
        </p:txBody>
      </p:sp>
      <p:sp>
        <p:nvSpPr>
          <p:cNvPr id="10" name="TextBox 9"/>
          <p:cNvSpPr txBox="1"/>
          <p:nvPr/>
        </p:nvSpPr>
        <p:spPr>
          <a:xfrm>
            <a:off x="5967663" y="4680203"/>
            <a:ext cx="1457450" cy="307777"/>
          </a:xfrm>
          <a:prstGeom prst="rect">
            <a:avLst/>
          </a:prstGeom>
          <a:noFill/>
        </p:spPr>
        <p:txBody>
          <a:bodyPr wrap="none" rtlCol="0">
            <a:spAutoFit/>
          </a:bodyPr>
          <a:lstStyle/>
          <a:p>
            <a:r>
              <a:rPr lang="en-US" sz="1400" dirty="0"/>
              <a:t>= 2.6 million kWh</a:t>
            </a:r>
          </a:p>
        </p:txBody>
      </p:sp>
      <p:grpSp>
        <p:nvGrpSpPr>
          <p:cNvPr id="12" name="Group 11">
            <a:extLst>
              <a:ext uri="{FF2B5EF4-FFF2-40B4-BE49-F238E27FC236}">
                <a16:creationId xmlns:a16="http://schemas.microsoft.com/office/drawing/2014/main" id="{293F2E77-B0EC-2D71-CBC7-E76557A38971}"/>
              </a:ext>
            </a:extLst>
          </p:cNvPr>
          <p:cNvGrpSpPr/>
          <p:nvPr/>
        </p:nvGrpSpPr>
        <p:grpSpPr>
          <a:xfrm>
            <a:off x="715314" y="1195485"/>
            <a:ext cx="5252349" cy="4998076"/>
            <a:chOff x="715314" y="1195484"/>
            <a:chExt cx="5953125" cy="5351815"/>
          </a:xfrm>
        </p:grpSpPr>
        <p:pic>
          <p:nvPicPr>
            <p:cNvPr id="3" name="Picture 2">
              <a:extLst>
                <a:ext uri="{FF2B5EF4-FFF2-40B4-BE49-F238E27FC236}">
                  <a16:creationId xmlns:a16="http://schemas.microsoft.com/office/drawing/2014/main" id="{689D0B76-8899-4998-B9EF-321849E7DF18}"/>
                </a:ext>
              </a:extLst>
            </p:cNvPr>
            <p:cNvPicPr>
              <a:picLocks noChangeAspect="1"/>
            </p:cNvPicPr>
            <p:nvPr/>
          </p:nvPicPr>
          <p:blipFill>
            <a:blip r:embed="rId4"/>
            <a:stretch>
              <a:fillRect/>
            </a:stretch>
          </p:blipFill>
          <p:spPr>
            <a:xfrm>
              <a:off x="715314" y="1195484"/>
              <a:ext cx="5953125" cy="4762500"/>
            </a:xfrm>
            <a:prstGeom prst="rect">
              <a:avLst/>
            </a:prstGeom>
          </p:spPr>
        </p:pic>
        <p:sp>
          <p:nvSpPr>
            <p:cNvPr id="11" name="TextBox 10">
              <a:extLst>
                <a:ext uri="{FF2B5EF4-FFF2-40B4-BE49-F238E27FC236}">
                  <a16:creationId xmlns:a16="http://schemas.microsoft.com/office/drawing/2014/main" id="{A3E09348-64A8-F68C-4DBE-3F3E9C266F8F}"/>
                </a:ext>
              </a:extLst>
            </p:cNvPr>
            <p:cNvSpPr txBox="1"/>
            <p:nvPr/>
          </p:nvSpPr>
          <p:spPr>
            <a:xfrm>
              <a:off x="1363705" y="5855224"/>
              <a:ext cx="4922903" cy="692075"/>
            </a:xfrm>
            <a:prstGeom prst="rect">
              <a:avLst/>
            </a:prstGeom>
            <a:noFill/>
          </p:spPr>
          <p:txBody>
            <a:bodyPr wrap="square" anchor="ctr" anchorCtr="0">
              <a:spAutoFit/>
            </a:bodyPr>
            <a:lstStyle/>
            <a:p>
              <a:pPr algn="ctr"/>
              <a:r>
                <a:rPr lang="en-US" dirty="0">
                  <a:latin typeface="Candara" panose="020E0502030303020204" pitchFamily="34" charset="0"/>
                </a:rPr>
                <a:t>Annual Energy Consumption in TWh/yr</a:t>
              </a:r>
            </a:p>
            <a:p>
              <a:pPr algn="ctr"/>
              <a:endParaRPr lang="en-US" dirty="0">
                <a:latin typeface="Candara" panose="020E0502030303020204" pitchFamily="34" charset="0"/>
              </a:endParaRPr>
            </a:p>
          </p:txBody>
        </p:sp>
      </p:grpSp>
    </p:spTree>
    <p:extLst>
      <p:ext uri="{BB962C8B-B14F-4D97-AF65-F5344CB8AC3E}">
        <p14:creationId xmlns:p14="http://schemas.microsoft.com/office/powerpoint/2010/main" val="3253135057"/>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Ethereum </a:t>
            </a:r>
            <a:r>
              <a:rPr lang="en-US" dirty="0" err="1"/>
              <a:t>PoS</a:t>
            </a:r>
            <a:endParaRPr lang="en-US" dirty="0"/>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72</a:t>
            </a:fld>
            <a:endParaRPr lang="en-US" dirty="0">
              <a:latin typeface="Candara" panose="020E0502030303020204" pitchFamily="34" charset="0"/>
            </a:endParaRPr>
          </a:p>
        </p:txBody>
      </p:sp>
      <p:sp>
        <p:nvSpPr>
          <p:cNvPr id="6" name="TextBox 5"/>
          <p:cNvSpPr txBox="1"/>
          <p:nvPr/>
        </p:nvSpPr>
        <p:spPr>
          <a:xfrm>
            <a:off x="1065556" y="1152545"/>
            <a:ext cx="9967402" cy="982035"/>
          </a:xfrm>
          <a:prstGeom prst="rect">
            <a:avLst/>
          </a:prstGeom>
          <a:ln>
            <a:solidFill>
              <a:schemeClr val="tx1"/>
            </a:solidFill>
          </a:ln>
        </p:spPr>
        <p:txBody>
          <a:bodyPr vert="horz" lIns="91438" tIns="45719" rIns="91438" bIns="45719" rtlCol="0">
            <a:noAutofit/>
          </a:bodyPr>
          <a:lstStyle>
            <a:lvl1pPr marL="171446" indent="-171446" defTabSz="685783">
              <a:lnSpc>
                <a:spcPct val="100000"/>
              </a:lnSpc>
              <a:spcBef>
                <a:spcPts val="750"/>
              </a:spcBef>
              <a:buFont typeface="Arial" panose="020B0604020202020204" pitchFamily="34" charset="0"/>
              <a:buChar char="•"/>
            </a:lvl1pPr>
            <a:lvl2pPr marL="514337" lvl="1" indent="-171446" defTabSz="685783">
              <a:lnSpc>
                <a:spcPct val="100000"/>
              </a:lnSpc>
              <a:spcBef>
                <a:spcPts val="375"/>
              </a:spcBef>
              <a:buFont typeface="Arial" panose="020B0604020202020204" pitchFamily="34" charset="0"/>
              <a:buChar char="•"/>
              <a:defRPr sz="1800"/>
            </a:lvl2pPr>
            <a:lvl3pPr marL="857228" indent="-171446" defTabSz="685783">
              <a:lnSpc>
                <a:spcPct val="100000"/>
              </a:lnSpc>
              <a:spcBef>
                <a:spcPts val="375"/>
              </a:spcBef>
              <a:buFont typeface="Arial" panose="020B0604020202020204" pitchFamily="34" charset="0"/>
              <a:buChar char="•"/>
              <a:defRPr sz="1600"/>
            </a:lvl3pPr>
            <a:lvl4pPr marL="1200120" indent="-171446" defTabSz="685783">
              <a:lnSpc>
                <a:spcPct val="100000"/>
              </a:lnSpc>
              <a:spcBef>
                <a:spcPts val="375"/>
              </a:spcBef>
              <a:buFont typeface="Arial" panose="020B0604020202020204" pitchFamily="34" charset="0"/>
              <a:buChar char="•"/>
              <a:defRPr sz="1500"/>
            </a:lvl4pPr>
            <a:lvl5pPr marL="1543012" indent="-171446" defTabSz="685783">
              <a:lnSpc>
                <a:spcPct val="100000"/>
              </a:lnSpc>
              <a:spcBef>
                <a:spcPts val="375"/>
              </a:spcBef>
              <a:buFont typeface="Arial" panose="020B0604020202020204" pitchFamily="34" charset="0"/>
              <a:buChar char="•"/>
              <a:defRPr sz="1500"/>
            </a:lvl5pPr>
            <a:lvl6pPr marL="1885903" indent="-171446" defTabSz="685783">
              <a:lnSpc>
                <a:spcPct val="90000"/>
              </a:lnSpc>
              <a:spcBef>
                <a:spcPts val="375"/>
              </a:spcBef>
              <a:buFont typeface="Arial" panose="020B0604020202020204" pitchFamily="34" charset="0"/>
              <a:buChar char="•"/>
              <a:defRPr sz="1425"/>
            </a:lvl6pPr>
            <a:lvl7pPr marL="2228795" indent="-171446" defTabSz="685783">
              <a:lnSpc>
                <a:spcPct val="90000"/>
              </a:lnSpc>
              <a:spcBef>
                <a:spcPts val="375"/>
              </a:spcBef>
              <a:buFont typeface="Arial" panose="020B0604020202020204" pitchFamily="34" charset="0"/>
              <a:buChar char="•"/>
              <a:defRPr sz="1425"/>
            </a:lvl7pPr>
            <a:lvl8pPr marL="2571686" indent="-171446" defTabSz="685783">
              <a:lnSpc>
                <a:spcPct val="90000"/>
              </a:lnSpc>
              <a:spcBef>
                <a:spcPts val="375"/>
              </a:spcBef>
              <a:buFont typeface="Arial" panose="020B0604020202020204" pitchFamily="34" charset="0"/>
              <a:buChar char="•"/>
              <a:defRPr sz="1425"/>
            </a:lvl8pPr>
            <a:lvl9pPr marL="2914577" indent="-171446" defTabSz="685783">
              <a:lnSpc>
                <a:spcPct val="90000"/>
              </a:lnSpc>
              <a:spcBef>
                <a:spcPts val="375"/>
              </a:spcBef>
              <a:buFont typeface="Arial" panose="020B0604020202020204" pitchFamily="34" charset="0"/>
              <a:buChar char="•"/>
              <a:defRPr sz="1425"/>
            </a:lvl9pPr>
          </a:lstStyle>
          <a:p>
            <a:pPr marL="0" indent="0" algn="ctr">
              <a:buNone/>
            </a:pPr>
            <a:r>
              <a:rPr lang="en-US" sz="2000" dirty="0">
                <a:latin typeface="Candara" panose="020E0502030303020204" pitchFamily="34" charset="0"/>
              </a:rPr>
              <a:t>ETH are locked in a smart contract called Beacon Deposit Contract deployed on Ethereum blockchain </a:t>
            </a:r>
          </a:p>
        </p:txBody>
      </p:sp>
      <p:sp>
        <p:nvSpPr>
          <p:cNvPr id="11" name="Rectangle 10"/>
          <p:cNvSpPr/>
          <p:nvPr/>
        </p:nvSpPr>
        <p:spPr>
          <a:xfrm>
            <a:off x="3591224" y="6348098"/>
            <a:ext cx="4676436" cy="230832"/>
          </a:xfrm>
          <a:prstGeom prst="rect">
            <a:avLst/>
          </a:prstGeom>
        </p:spPr>
        <p:txBody>
          <a:bodyPr wrap="square">
            <a:spAutoFit/>
          </a:bodyPr>
          <a:lstStyle/>
          <a:p>
            <a:pPr algn="ctr"/>
            <a:r>
              <a:rPr lang="en-US" sz="900" dirty="0">
                <a:latin typeface="Candara" panose="020E0502030303020204" pitchFamily="34" charset="0"/>
                <a:hlinkClick r:id="rId3"/>
              </a:rPr>
              <a:t>https://etherscan.io/address/0x00000000219ab540356cbb839cbe05303d7705fa</a:t>
            </a:r>
            <a:r>
              <a:rPr lang="en-US" sz="900" dirty="0">
                <a:latin typeface="Candara" panose="020E0502030303020204" pitchFamily="34" charset="0"/>
              </a:rPr>
              <a:t> </a:t>
            </a:r>
          </a:p>
        </p:txBody>
      </p:sp>
      <p:grpSp>
        <p:nvGrpSpPr>
          <p:cNvPr id="9" name="Group 8">
            <a:extLst>
              <a:ext uri="{FF2B5EF4-FFF2-40B4-BE49-F238E27FC236}">
                <a16:creationId xmlns:a16="http://schemas.microsoft.com/office/drawing/2014/main" id="{2B0955CE-E916-4795-1AA3-D8DFBA6B6E05}"/>
              </a:ext>
            </a:extLst>
          </p:cNvPr>
          <p:cNvGrpSpPr/>
          <p:nvPr/>
        </p:nvGrpSpPr>
        <p:grpSpPr>
          <a:xfrm>
            <a:off x="5451107" y="2649357"/>
            <a:ext cx="5974643" cy="3314987"/>
            <a:chOff x="5451107" y="2649357"/>
            <a:chExt cx="5974643" cy="3314987"/>
          </a:xfrm>
        </p:grpSpPr>
        <p:pic>
          <p:nvPicPr>
            <p:cNvPr id="5" name="Picture 4">
              <a:extLst>
                <a:ext uri="{FF2B5EF4-FFF2-40B4-BE49-F238E27FC236}">
                  <a16:creationId xmlns:a16="http://schemas.microsoft.com/office/drawing/2014/main" id="{A36F3555-A29B-11E0-8DEB-6A54C5342CA2}"/>
                </a:ext>
              </a:extLst>
            </p:cNvPr>
            <p:cNvPicPr>
              <a:picLocks noChangeAspect="1"/>
            </p:cNvPicPr>
            <p:nvPr/>
          </p:nvPicPr>
          <p:blipFill>
            <a:blip r:embed="rId4"/>
            <a:stretch>
              <a:fillRect/>
            </a:stretch>
          </p:blipFill>
          <p:spPr>
            <a:xfrm>
              <a:off x="5451107" y="2649357"/>
              <a:ext cx="5974643" cy="3314987"/>
            </a:xfrm>
            <a:prstGeom prst="rect">
              <a:avLst/>
            </a:prstGeom>
          </p:spPr>
        </p:pic>
        <p:sp>
          <p:nvSpPr>
            <p:cNvPr id="12" name="Rectangle 11">
              <a:extLst>
                <a:ext uri="{FF2B5EF4-FFF2-40B4-BE49-F238E27FC236}">
                  <a16:creationId xmlns:a16="http://schemas.microsoft.com/office/drawing/2014/main" id="{E0396952-08A5-1570-AE12-83695EB2EA01}"/>
                </a:ext>
              </a:extLst>
            </p:cNvPr>
            <p:cNvSpPr/>
            <p:nvPr/>
          </p:nvSpPr>
          <p:spPr>
            <a:xfrm>
              <a:off x="7821356" y="2800225"/>
              <a:ext cx="2103461" cy="253916"/>
            </a:xfrm>
            <a:prstGeom prst="rect">
              <a:avLst/>
            </a:prstGeom>
          </p:spPr>
          <p:txBody>
            <a:bodyPr wrap="none">
              <a:spAutoFit/>
            </a:bodyPr>
            <a:lstStyle/>
            <a:p>
              <a:r>
                <a:rPr lang="en-US" sz="1050" dirty="0">
                  <a:latin typeface="Candara" panose="020E0502030303020204" pitchFamily="34" charset="0"/>
                  <a:hlinkClick r:id="rId5"/>
                </a:rPr>
                <a:t>https://beaconscan.com/statistics</a:t>
              </a:r>
              <a:r>
                <a:rPr lang="en-US" sz="1050" dirty="0">
                  <a:latin typeface="Candara" panose="020E0502030303020204" pitchFamily="34" charset="0"/>
                </a:rPr>
                <a:t> </a:t>
              </a:r>
            </a:p>
          </p:txBody>
        </p:sp>
      </p:grpSp>
      <p:pic>
        <p:nvPicPr>
          <p:cNvPr id="14" name="Picture 13">
            <a:extLst>
              <a:ext uri="{FF2B5EF4-FFF2-40B4-BE49-F238E27FC236}">
                <a16:creationId xmlns:a16="http://schemas.microsoft.com/office/drawing/2014/main" id="{7E08E761-7D66-860E-A2AC-5BB6BC040344}"/>
              </a:ext>
            </a:extLst>
          </p:cNvPr>
          <p:cNvPicPr>
            <a:picLocks noChangeAspect="1"/>
          </p:cNvPicPr>
          <p:nvPr/>
        </p:nvPicPr>
        <p:blipFill>
          <a:blip r:embed="rId6"/>
          <a:stretch>
            <a:fillRect/>
          </a:stretch>
        </p:blipFill>
        <p:spPr>
          <a:xfrm>
            <a:off x="671281" y="3003605"/>
            <a:ext cx="4676435" cy="2202224"/>
          </a:xfrm>
          <a:prstGeom prst="rect">
            <a:avLst/>
          </a:prstGeom>
        </p:spPr>
      </p:pic>
    </p:spTree>
    <p:extLst>
      <p:ext uri="{BB962C8B-B14F-4D97-AF65-F5344CB8AC3E}">
        <p14:creationId xmlns:p14="http://schemas.microsoft.com/office/powerpoint/2010/main" val="831490142"/>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51D522-A3E6-833F-211D-75F4D539949D}"/>
              </a:ext>
            </a:extLst>
          </p:cNvPr>
          <p:cNvPicPr>
            <a:picLocks noChangeAspect="1"/>
          </p:cNvPicPr>
          <p:nvPr/>
        </p:nvPicPr>
        <p:blipFill>
          <a:blip r:embed="rId3"/>
          <a:stretch>
            <a:fillRect/>
          </a:stretch>
        </p:blipFill>
        <p:spPr>
          <a:xfrm>
            <a:off x="6080760" y="1175762"/>
            <a:ext cx="5974643" cy="3314987"/>
          </a:xfrm>
          <a:prstGeom prst="rect">
            <a:avLst/>
          </a:prstGeom>
        </p:spPr>
      </p:pic>
      <p:sp>
        <p:nvSpPr>
          <p:cNvPr id="2" name="Title 1"/>
          <p:cNvSpPr>
            <a:spLocks noGrp="1"/>
          </p:cNvSpPr>
          <p:nvPr>
            <p:ph type="title"/>
          </p:nvPr>
        </p:nvSpPr>
        <p:spPr/>
        <p:txBody>
          <a:bodyPr/>
          <a:lstStyle/>
          <a:p>
            <a:r>
              <a:rPr lang="en-US" dirty="0"/>
              <a:t>Ethereum </a:t>
            </a:r>
            <a:r>
              <a:rPr lang="en-US" dirty="0" err="1"/>
              <a:t>PoS</a:t>
            </a:r>
            <a:r>
              <a:rPr lang="en-US" dirty="0"/>
              <a:t> – Validators</a:t>
            </a:r>
          </a:p>
        </p:txBody>
      </p:sp>
      <p:sp>
        <p:nvSpPr>
          <p:cNvPr id="4" name="Slide Number Placeholder 3"/>
          <p:cNvSpPr>
            <a:spLocks noGrp="1"/>
          </p:cNvSpPr>
          <p:nvPr>
            <p:ph type="sldNum" sz="quarter" idx="12"/>
          </p:nvPr>
        </p:nvSpPr>
        <p:spPr/>
        <p:txBody>
          <a:bodyPr/>
          <a:lstStyle/>
          <a:p>
            <a:fld id="{19FE8B7B-3258-47CD-BBC0-34D05FC906E5}" type="slidenum">
              <a:rPr lang="en-US" smtClean="0">
                <a:latin typeface="Candara" panose="020E0502030303020204" pitchFamily="34" charset="0"/>
              </a:rPr>
              <a:t>73</a:t>
            </a:fld>
            <a:endParaRPr lang="en-US" dirty="0">
              <a:latin typeface="Candara" panose="020E0502030303020204" pitchFamily="34" charset="0"/>
            </a:endParaRPr>
          </a:p>
        </p:txBody>
      </p:sp>
      <p:sp>
        <p:nvSpPr>
          <p:cNvPr id="12" name="TextBox 11"/>
          <p:cNvSpPr txBox="1"/>
          <p:nvPr/>
        </p:nvSpPr>
        <p:spPr>
          <a:xfrm>
            <a:off x="487680" y="1353124"/>
            <a:ext cx="5196842" cy="646331"/>
          </a:xfrm>
          <a:prstGeom prst="rect">
            <a:avLst/>
          </a:prstGeom>
          <a:ln>
            <a:solidFill>
              <a:schemeClr val="tx1"/>
            </a:solidFill>
          </a:ln>
        </p:spPr>
        <p:txBody>
          <a:bodyPr wrap="square">
            <a:spAutoFit/>
          </a:bodyPr>
          <a:lstStyle>
            <a:defPPr>
              <a:defRPr lang="en-US"/>
            </a:defPPr>
            <a:lvl1pPr algn="ctr">
              <a:defRPr sz="1800"/>
            </a:lvl1pPr>
          </a:lstStyle>
          <a:p>
            <a:r>
              <a:rPr lang="en-US" dirty="0">
                <a:latin typeface="Candara" panose="020E0502030303020204" pitchFamily="34" charset="0"/>
              </a:rPr>
              <a:t>Validators are nodes who have staked 32 ETH to participate in the system</a:t>
            </a:r>
          </a:p>
        </p:txBody>
      </p:sp>
      <p:sp>
        <p:nvSpPr>
          <p:cNvPr id="14" name="Rectangle 13"/>
          <p:cNvSpPr/>
          <p:nvPr/>
        </p:nvSpPr>
        <p:spPr>
          <a:xfrm>
            <a:off x="482906" y="4671398"/>
            <a:ext cx="5201618" cy="1200329"/>
          </a:xfrm>
          <a:prstGeom prst="rect">
            <a:avLst/>
          </a:prstGeom>
          <a:ln>
            <a:solidFill>
              <a:schemeClr val="tx1"/>
            </a:solidFill>
          </a:ln>
        </p:spPr>
        <p:txBody>
          <a:bodyPr wrap="square">
            <a:spAutoFit/>
          </a:bodyPr>
          <a:lstStyle/>
          <a:p>
            <a:pPr algn="ctr"/>
            <a:r>
              <a:rPr lang="en-US" dirty="0">
                <a:latin typeface="Candara" panose="020E0502030303020204" pitchFamily="34" charset="0"/>
              </a:rPr>
              <a:t>A validator is chosen at random by the network (using RANDAO mechanism) to create new blocks, share them with the network and earn rewards (no intense computational puzzles are solved)</a:t>
            </a:r>
          </a:p>
        </p:txBody>
      </p:sp>
      <p:sp>
        <p:nvSpPr>
          <p:cNvPr id="17" name="Rectangle 16"/>
          <p:cNvSpPr/>
          <p:nvPr/>
        </p:nvSpPr>
        <p:spPr>
          <a:xfrm>
            <a:off x="482905" y="2319764"/>
            <a:ext cx="5196842" cy="1477328"/>
          </a:xfrm>
          <a:prstGeom prst="rect">
            <a:avLst/>
          </a:prstGeom>
          <a:ln>
            <a:solidFill>
              <a:schemeClr val="tx1"/>
            </a:solidFill>
          </a:ln>
        </p:spPr>
        <p:txBody>
          <a:bodyPr wrap="square">
            <a:spAutoFit/>
          </a:bodyPr>
          <a:lstStyle/>
          <a:p>
            <a:pPr algn="ctr"/>
            <a:r>
              <a:rPr lang="en-US" dirty="0">
                <a:latin typeface="Candara" panose="020E0502030303020204" pitchFamily="34" charset="0"/>
              </a:rPr>
              <a:t>More stake means more chance of creating the next block. For example, if Alice has staked 320 ETH and Bob has only 32 ETH, then Alice can activate 10 validators and has 10 times more probability of creating the next block than Bob </a:t>
            </a:r>
          </a:p>
        </p:txBody>
      </p:sp>
      <p:sp>
        <p:nvSpPr>
          <p:cNvPr id="18" name="Rectangle 17"/>
          <p:cNvSpPr/>
          <p:nvPr/>
        </p:nvSpPr>
        <p:spPr>
          <a:xfrm>
            <a:off x="6096000" y="4671398"/>
            <a:ext cx="5334000" cy="1200329"/>
          </a:xfrm>
          <a:prstGeom prst="rect">
            <a:avLst/>
          </a:prstGeom>
          <a:ln>
            <a:solidFill>
              <a:schemeClr val="tx1"/>
            </a:solidFill>
          </a:ln>
        </p:spPr>
        <p:txBody>
          <a:bodyPr wrap="square">
            <a:spAutoFit/>
          </a:bodyPr>
          <a:lstStyle/>
          <a:p>
            <a:pPr algn="ctr"/>
            <a:r>
              <a:rPr lang="en-US" dirty="0">
                <a:latin typeface="Candara" panose="020E0502030303020204" pitchFamily="34" charset="0"/>
              </a:rPr>
              <a:t>Becoming a validator is a commitment because a validator is expected to maintain sufficient hardware and connectivity to participate in block validation and proposal</a:t>
            </a:r>
          </a:p>
        </p:txBody>
      </p:sp>
      <p:sp>
        <p:nvSpPr>
          <p:cNvPr id="5" name="Rectangle 4"/>
          <p:cNvSpPr/>
          <p:nvPr/>
        </p:nvSpPr>
        <p:spPr>
          <a:xfrm>
            <a:off x="7704846" y="1239695"/>
            <a:ext cx="2103461" cy="253916"/>
          </a:xfrm>
          <a:prstGeom prst="rect">
            <a:avLst/>
          </a:prstGeom>
        </p:spPr>
        <p:txBody>
          <a:bodyPr wrap="none">
            <a:spAutoFit/>
          </a:bodyPr>
          <a:lstStyle/>
          <a:p>
            <a:r>
              <a:rPr lang="en-US" sz="1050" dirty="0">
                <a:latin typeface="Candara" panose="020E0502030303020204" pitchFamily="34" charset="0"/>
                <a:hlinkClick r:id="rId4"/>
              </a:rPr>
              <a:t>https://beaconscan.com/statistics</a:t>
            </a:r>
            <a:r>
              <a:rPr lang="en-US" sz="1050" dirty="0">
                <a:latin typeface="Candara" panose="020E0502030303020204" pitchFamily="34" charset="0"/>
              </a:rPr>
              <a:t> </a:t>
            </a:r>
          </a:p>
        </p:txBody>
      </p:sp>
    </p:spTree>
    <p:extLst>
      <p:ext uri="{BB962C8B-B14F-4D97-AF65-F5344CB8AC3E}">
        <p14:creationId xmlns:p14="http://schemas.microsoft.com/office/powerpoint/2010/main" val="3825920326"/>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18"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Roles of Validator and Network</a:t>
            </a:r>
          </a:p>
        </p:txBody>
      </p:sp>
      <p:sp>
        <p:nvSpPr>
          <p:cNvPr id="4" name="Slide Number Placeholder 3"/>
          <p:cNvSpPr>
            <a:spLocks noGrp="1"/>
          </p:cNvSpPr>
          <p:nvPr>
            <p:ph type="sldNum" sz="quarter" idx="12"/>
          </p:nvPr>
        </p:nvSpPr>
        <p:spPr/>
        <p:txBody>
          <a:bodyPr/>
          <a:lstStyle/>
          <a:p>
            <a:fld id="{19FE8B7B-3258-47CD-BBC0-34D05FC906E5}" type="slidenum">
              <a:rPr lang="en-US" smtClean="0"/>
              <a:t>74</a:t>
            </a:fld>
            <a:endParaRPr lang="en-US" dirty="0"/>
          </a:p>
        </p:txBody>
      </p:sp>
      <p:sp>
        <p:nvSpPr>
          <p:cNvPr id="5" name="Rectangle 4"/>
          <p:cNvSpPr/>
          <p:nvPr/>
        </p:nvSpPr>
        <p:spPr>
          <a:xfrm>
            <a:off x="276727" y="6437117"/>
            <a:ext cx="5065296" cy="246221"/>
          </a:xfrm>
          <a:prstGeom prst="rect">
            <a:avLst/>
          </a:prstGeom>
        </p:spPr>
        <p:txBody>
          <a:bodyPr wrap="square">
            <a:spAutoFit/>
          </a:bodyPr>
          <a:lstStyle/>
          <a:p>
            <a:pPr algn="ctr"/>
            <a:r>
              <a:rPr lang="en-US" sz="1000" dirty="0">
                <a:hlinkClick r:id="rId3"/>
              </a:rPr>
              <a:t>https://ethereum.org/en/developers/docs/consensus-mechanisms/pos/</a:t>
            </a:r>
            <a:r>
              <a:rPr lang="en-US" sz="1000" dirty="0"/>
              <a:t> </a:t>
            </a:r>
          </a:p>
        </p:txBody>
      </p:sp>
      <p:sp>
        <p:nvSpPr>
          <p:cNvPr id="8" name="TextBox 7"/>
          <p:cNvSpPr txBox="1"/>
          <p:nvPr/>
        </p:nvSpPr>
        <p:spPr>
          <a:xfrm>
            <a:off x="4491789" y="1151644"/>
            <a:ext cx="2999874" cy="523220"/>
          </a:xfrm>
          <a:prstGeom prst="rect">
            <a:avLst/>
          </a:prstGeom>
          <a:solidFill>
            <a:schemeClr val="accent6">
              <a:lumMod val="40000"/>
              <a:lumOff val="60000"/>
            </a:schemeClr>
          </a:solidFill>
          <a:ln>
            <a:solidFill>
              <a:schemeClr val="tx1"/>
            </a:solidFill>
          </a:ln>
        </p:spPr>
        <p:txBody>
          <a:bodyPr wrap="square" rtlCol="0">
            <a:spAutoFit/>
          </a:bodyPr>
          <a:lstStyle/>
          <a:p>
            <a:pPr algn="ctr"/>
            <a:r>
              <a:rPr lang="en-US" sz="2800" dirty="0"/>
              <a:t>Validator Role</a:t>
            </a:r>
          </a:p>
        </p:txBody>
      </p:sp>
      <p:sp>
        <p:nvSpPr>
          <p:cNvPr id="9" name="Rectangle 8"/>
          <p:cNvSpPr/>
          <p:nvPr/>
        </p:nvSpPr>
        <p:spPr>
          <a:xfrm>
            <a:off x="2630905" y="2394694"/>
            <a:ext cx="2711117" cy="1003154"/>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Proposer Role: Create blocks when chosen </a:t>
            </a:r>
          </a:p>
        </p:txBody>
      </p:sp>
      <p:sp>
        <p:nvSpPr>
          <p:cNvPr id="11" name="Rectangle 10"/>
          <p:cNvSpPr/>
          <p:nvPr/>
        </p:nvSpPr>
        <p:spPr>
          <a:xfrm>
            <a:off x="6721646" y="4798176"/>
            <a:ext cx="3341770" cy="731048"/>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Reward validators for block creation and attestation</a:t>
            </a:r>
          </a:p>
        </p:txBody>
      </p:sp>
      <p:sp>
        <p:nvSpPr>
          <p:cNvPr id="13" name="Rectangle 12"/>
          <p:cNvSpPr/>
          <p:nvPr/>
        </p:nvSpPr>
        <p:spPr>
          <a:xfrm>
            <a:off x="6697580" y="2394695"/>
            <a:ext cx="2979820" cy="1092257"/>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Attester Role: Attest blocks and confirm chain heads and checkpoints</a:t>
            </a:r>
          </a:p>
        </p:txBody>
      </p:sp>
      <p:sp>
        <p:nvSpPr>
          <p:cNvPr id="14" name="Rectangle 13"/>
          <p:cNvSpPr/>
          <p:nvPr/>
        </p:nvSpPr>
        <p:spPr>
          <a:xfrm>
            <a:off x="6721646" y="5689694"/>
            <a:ext cx="3341770" cy="767469"/>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Slash stake for creating or attesting malicious blocks</a:t>
            </a:r>
          </a:p>
        </p:txBody>
      </p:sp>
      <p:cxnSp>
        <p:nvCxnSpPr>
          <p:cNvPr id="16" name="Straight Arrow Connector 15"/>
          <p:cNvCxnSpPr>
            <a:stCxn id="8" idx="2"/>
            <a:endCxn id="9" idx="0"/>
          </p:cNvCxnSpPr>
          <p:nvPr/>
        </p:nvCxnSpPr>
        <p:spPr>
          <a:xfrm flipH="1">
            <a:off x="3986464" y="1674864"/>
            <a:ext cx="2005263" cy="719830"/>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8" idx="2"/>
            <a:endCxn id="13" idx="0"/>
          </p:cNvCxnSpPr>
          <p:nvPr/>
        </p:nvCxnSpPr>
        <p:spPr>
          <a:xfrm>
            <a:off x="5991726" y="1674864"/>
            <a:ext cx="2195764" cy="719830"/>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2606839" y="4503363"/>
            <a:ext cx="2711117" cy="891516"/>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Network Role</a:t>
            </a:r>
          </a:p>
        </p:txBody>
      </p:sp>
      <p:cxnSp>
        <p:nvCxnSpPr>
          <p:cNvPr id="24" name="Straight Arrow Connector 23"/>
          <p:cNvCxnSpPr>
            <a:stCxn id="23" idx="3"/>
          </p:cNvCxnSpPr>
          <p:nvPr/>
        </p:nvCxnSpPr>
        <p:spPr>
          <a:xfrm>
            <a:off x="5317956" y="4949122"/>
            <a:ext cx="1379625" cy="83041"/>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23" idx="3"/>
            <a:endCxn id="14" idx="1"/>
          </p:cNvCxnSpPr>
          <p:nvPr/>
        </p:nvCxnSpPr>
        <p:spPr>
          <a:xfrm>
            <a:off x="5317956" y="4949122"/>
            <a:ext cx="1403691" cy="112430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nvGrpSpPr>
          <p:cNvPr id="22" name="Group 21"/>
          <p:cNvGrpSpPr/>
          <p:nvPr/>
        </p:nvGrpSpPr>
        <p:grpSpPr>
          <a:xfrm>
            <a:off x="5317956" y="3696533"/>
            <a:ext cx="4745461" cy="1252588"/>
            <a:chOff x="3793955" y="3696533"/>
            <a:chExt cx="4745461" cy="1252588"/>
          </a:xfrm>
        </p:grpSpPr>
        <p:sp>
          <p:nvSpPr>
            <p:cNvPr id="19" name="Rectangle 18"/>
            <p:cNvSpPr/>
            <p:nvPr/>
          </p:nvSpPr>
          <p:spPr>
            <a:xfrm>
              <a:off x="5197646" y="3696533"/>
              <a:ext cx="3341770" cy="941175"/>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Pseudo-randomly select proposers and form attestation committees </a:t>
              </a:r>
            </a:p>
          </p:txBody>
        </p:sp>
        <p:cxnSp>
          <p:nvCxnSpPr>
            <p:cNvPr id="20" name="Straight Arrow Connector 19"/>
            <p:cNvCxnSpPr>
              <a:stCxn id="23" idx="3"/>
              <a:endCxn id="19" idx="1"/>
            </p:cNvCxnSpPr>
            <p:nvPr/>
          </p:nvCxnSpPr>
          <p:spPr>
            <a:xfrm flipV="1">
              <a:off x="3793955" y="4167121"/>
              <a:ext cx="1403691" cy="782000"/>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29" name="Rectangle 28"/>
          <p:cNvSpPr/>
          <p:nvPr/>
        </p:nvSpPr>
        <p:spPr>
          <a:xfrm>
            <a:off x="1771450" y="5595906"/>
            <a:ext cx="4034990" cy="830997"/>
          </a:xfrm>
          <a:prstGeom prst="rect">
            <a:avLst/>
          </a:prstGeom>
          <a:ln>
            <a:solidFill>
              <a:schemeClr val="tx1"/>
            </a:solidFill>
          </a:ln>
        </p:spPr>
        <p:txBody>
          <a:bodyPr wrap="square">
            <a:spAutoFit/>
          </a:bodyPr>
          <a:lstStyle/>
          <a:p>
            <a:pPr algn="ctr"/>
            <a:r>
              <a:rPr lang="en-US" sz="1600" dirty="0"/>
              <a:t>Network is not any separate physical entity, it is the collection of all the stakeholders such as validators, full nodes, users, etc.</a:t>
            </a:r>
          </a:p>
        </p:txBody>
      </p:sp>
    </p:spTree>
    <p:extLst>
      <p:ext uri="{BB962C8B-B14F-4D97-AF65-F5344CB8AC3E}">
        <p14:creationId xmlns:p14="http://schemas.microsoft.com/office/powerpoint/2010/main" val="769878738"/>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4" grpId="0" animBg="1"/>
      <p:bldP spid="23" grpId="0" animBg="1"/>
      <p:bldP spid="29"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8E06C-6634-3476-3CC0-8519922474AF}"/>
              </a:ext>
            </a:extLst>
          </p:cNvPr>
          <p:cNvSpPr>
            <a:spLocks noGrp="1"/>
          </p:cNvSpPr>
          <p:nvPr>
            <p:ph type="title"/>
          </p:nvPr>
        </p:nvSpPr>
        <p:spPr/>
        <p:txBody>
          <a:bodyPr/>
          <a:lstStyle/>
          <a:p>
            <a:r>
              <a:rPr lang="en-US" dirty="0"/>
              <a:t>Transaction Fee</a:t>
            </a:r>
          </a:p>
        </p:txBody>
      </p:sp>
      <p:sp>
        <p:nvSpPr>
          <p:cNvPr id="4" name="Slide Number Placeholder 3">
            <a:extLst>
              <a:ext uri="{FF2B5EF4-FFF2-40B4-BE49-F238E27FC236}">
                <a16:creationId xmlns:a16="http://schemas.microsoft.com/office/drawing/2014/main" id="{CA0423A3-F52A-E0F1-5CCB-33935A3DACA4}"/>
              </a:ext>
            </a:extLst>
          </p:cNvPr>
          <p:cNvSpPr>
            <a:spLocks noGrp="1"/>
          </p:cNvSpPr>
          <p:nvPr>
            <p:ph type="sldNum" sz="quarter" idx="12"/>
          </p:nvPr>
        </p:nvSpPr>
        <p:spPr/>
        <p:txBody>
          <a:bodyPr/>
          <a:lstStyle/>
          <a:p>
            <a:fld id="{D57F1E4F-1CFF-5643-939E-217C01CDF565}" type="slidenum">
              <a:rPr lang="en-US" smtClean="0"/>
              <a:pPr/>
              <a:t>75</a:t>
            </a:fld>
            <a:endParaRPr lang="en-US" dirty="0"/>
          </a:p>
        </p:txBody>
      </p:sp>
      <p:sp>
        <p:nvSpPr>
          <p:cNvPr id="10" name="TextBox 9">
            <a:extLst>
              <a:ext uri="{FF2B5EF4-FFF2-40B4-BE49-F238E27FC236}">
                <a16:creationId xmlns:a16="http://schemas.microsoft.com/office/drawing/2014/main" id="{A6A9BD92-3815-F835-4979-94005872F00A}"/>
              </a:ext>
            </a:extLst>
          </p:cNvPr>
          <p:cNvSpPr txBox="1"/>
          <p:nvPr/>
        </p:nvSpPr>
        <p:spPr>
          <a:xfrm>
            <a:off x="7066214" y="2797146"/>
            <a:ext cx="4607626" cy="3170099"/>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Candara" panose="020E0502030303020204" pitchFamily="34" charset="0"/>
              </a:rPr>
              <a:t>A typical ETH transfer costs 21k gas units</a:t>
            </a:r>
          </a:p>
          <a:p>
            <a:pPr marL="285750" indent="-285750">
              <a:buFont typeface="Arial" panose="020B0604020202020204" pitchFamily="34" charset="0"/>
              <a:buChar char="•"/>
            </a:pPr>
            <a:r>
              <a:rPr lang="en-US" sz="2000" dirty="0">
                <a:latin typeface="Candara" panose="020E0502030303020204" pitchFamily="34" charset="0"/>
              </a:rPr>
              <a:t>An ERC-20 token transfer requires around 45k to 75k gas units</a:t>
            </a:r>
          </a:p>
          <a:p>
            <a:pPr marL="285750" indent="-285750">
              <a:buFont typeface="Arial" panose="020B0604020202020204" pitchFamily="34" charset="0"/>
              <a:buChar char="•"/>
            </a:pPr>
            <a:r>
              <a:rPr lang="en-US" sz="2000" dirty="0">
                <a:latin typeface="Candara" panose="020E0502030303020204" pitchFamily="34" charset="0"/>
              </a:rPr>
              <a:t>Contract deployment costs millions of gas units depending on code complexity</a:t>
            </a:r>
          </a:p>
          <a:p>
            <a:pPr marL="285750" indent="-285750">
              <a:buFont typeface="Arial" panose="020B0604020202020204" pitchFamily="34" charset="0"/>
              <a:buChar char="•"/>
            </a:pPr>
            <a:r>
              <a:rPr lang="en-US" sz="2000" dirty="0">
                <a:latin typeface="Candara" panose="020E0502030303020204" pitchFamily="34" charset="0"/>
              </a:rPr>
              <a:t>Ethereum gas prices are variable, so transaction costs can have a significant financial impact</a:t>
            </a:r>
          </a:p>
        </p:txBody>
      </p:sp>
      <p:pic>
        <p:nvPicPr>
          <p:cNvPr id="11" name="Picture 10">
            <a:extLst>
              <a:ext uri="{FF2B5EF4-FFF2-40B4-BE49-F238E27FC236}">
                <a16:creationId xmlns:a16="http://schemas.microsoft.com/office/drawing/2014/main" id="{EA205781-C1CC-7378-B794-F0F27BAEAB6E}"/>
              </a:ext>
            </a:extLst>
          </p:cNvPr>
          <p:cNvPicPr>
            <a:picLocks noChangeAspect="1"/>
          </p:cNvPicPr>
          <p:nvPr/>
        </p:nvPicPr>
        <p:blipFill>
          <a:blip r:embed="rId2"/>
          <a:stretch>
            <a:fillRect/>
          </a:stretch>
        </p:blipFill>
        <p:spPr>
          <a:xfrm>
            <a:off x="808354" y="2736572"/>
            <a:ext cx="6067124" cy="3291249"/>
          </a:xfrm>
          <a:prstGeom prst="rect">
            <a:avLst/>
          </a:prstGeom>
          <a:ln>
            <a:solidFill>
              <a:schemeClr val="tx1"/>
            </a:solidFill>
          </a:ln>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3B14AE1-24A0-509B-7164-A690D15A1A83}"/>
                  </a:ext>
                </a:extLst>
              </p:cNvPr>
              <p:cNvSpPr txBox="1"/>
              <p:nvPr/>
            </p:nvSpPr>
            <p:spPr>
              <a:xfrm>
                <a:off x="518160" y="1087120"/>
                <a:ext cx="11155680" cy="1200329"/>
              </a:xfrm>
              <a:prstGeom prst="rect">
                <a:avLst/>
              </a:prstGeom>
              <a:noFill/>
            </p:spPr>
            <p:txBody>
              <a:bodyPr wrap="square">
                <a:spAutoFit/>
              </a:bodyPr>
              <a:lstStyle/>
              <a:p>
                <a:pPr marL="285750" indent="-285750">
                  <a:buFont typeface="Arial" panose="020B0604020202020204" pitchFamily="34" charset="0"/>
                  <a:buChar char="•"/>
                </a:pPr>
                <a:r>
                  <a:rPr lang="en-US" sz="2400" dirty="0">
                    <a:solidFill>
                      <a:srgbClr val="7030A0"/>
                    </a:solidFill>
                    <a:latin typeface="Candara" panose="020E0502030303020204" pitchFamily="34" charset="0"/>
                  </a:rPr>
                  <a:t>1 ETH = </a:t>
                </a:r>
                <a14:m>
                  <m:oMath xmlns:m="http://schemas.openxmlformats.org/officeDocument/2006/math">
                    <m:sSup>
                      <m:sSupPr>
                        <m:ctrlPr>
                          <a:rPr lang="en-US" sz="2400" b="0" i="1" dirty="0" smtClean="0">
                            <a:solidFill>
                              <a:srgbClr val="7030A0"/>
                            </a:solidFill>
                            <a:latin typeface="Cambria Math" panose="02040503050406030204" pitchFamily="18" charset="0"/>
                          </a:rPr>
                        </m:ctrlPr>
                      </m:sSupPr>
                      <m:e>
                        <m:r>
                          <a:rPr lang="en-US" sz="2400" i="1" dirty="0" smtClean="0">
                            <a:solidFill>
                              <a:srgbClr val="7030A0"/>
                            </a:solidFill>
                            <a:latin typeface="Cambria Math" panose="02040503050406030204" pitchFamily="18" charset="0"/>
                          </a:rPr>
                          <m:t>10</m:t>
                        </m:r>
                      </m:e>
                      <m:sup>
                        <m:r>
                          <a:rPr lang="en-US" sz="2400" b="0" i="1" dirty="0" smtClean="0">
                            <a:solidFill>
                              <a:srgbClr val="7030A0"/>
                            </a:solidFill>
                            <a:latin typeface="Cambria Math" panose="02040503050406030204" pitchFamily="18" charset="0"/>
                          </a:rPr>
                          <m:t>18</m:t>
                        </m:r>
                      </m:sup>
                    </m:sSup>
                  </m:oMath>
                </a14:m>
                <a:r>
                  <a:rPr lang="en-US" sz="2400" dirty="0">
                    <a:solidFill>
                      <a:srgbClr val="7030A0"/>
                    </a:solidFill>
                    <a:latin typeface="Candara" panose="020E0502030303020204" pitchFamily="34" charset="0"/>
                  </a:rPr>
                  <a:t> </a:t>
                </a:r>
                <a:r>
                  <a:rPr lang="en-US" sz="2400" dirty="0" err="1">
                    <a:solidFill>
                      <a:srgbClr val="7030A0"/>
                    </a:solidFill>
                    <a:latin typeface="Candara" panose="020E0502030303020204" pitchFamily="34" charset="0"/>
                  </a:rPr>
                  <a:t>wei</a:t>
                </a:r>
                <a:r>
                  <a:rPr lang="en-US" sz="2400" dirty="0">
                    <a:solidFill>
                      <a:srgbClr val="7030A0"/>
                    </a:solidFill>
                    <a:latin typeface="Candara" panose="020E0502030303020204" pitchFamily="34" charset="0"/>
                  </a:rPr>
                  <a:t> = </a:t>
                </a:r>
                <a14:m>
                  <m:oMath xmlns:m="http://schemas.openxmlformats.org/officeDocument/2006/math">
                    <m:sSup>
                      <m:sSupPr>
                        <m:ctrlPr>
                          <a:rPr lang="en-US" sz="2400" b="0" i="1" smtClean="0">
                            <a:solidFill>
                              <a:srgbClr val="7030A0"/>
                            </a:solidFill>
                            <a:latin typeface="Cambria Math" panose="02040503050406030204" pitchFamily="18" charset="0"/>
                          </a:rPr>
                        </m:ctrlPr>
                      </m:sSupPr>
                      <m:e>
                        <m:r>
                          <a:rPr lang="en-US" sz="2400" b="0" i="1" smtClean="0">
                            <a:solidFill>
                              <a:srgbClr val="7030A0"/>
                            </a:solidFill>
                            <a:latin typeface="Cambria Math" panose="02040503050406030204" pitchFamily="18" charset="0"/>
                          </a:rPr>
                          <m:t>10</m:t>
                        </m:r>
                      </m:e>
                      <m:sup>
                        <m:r>
                          <a:rPr lang="en-US" sz="2400" b="0" i="1" smtClean="0">
                            <a:solidFill>
                              <a:srgbClr val="7030A0"/>
                            </a:solidFill>
                            <a:latin typeface="Cambria Math" panose="02040503050406030204" pitchFamily="18" charset="0"/>
                          </a:rPr>
                          <m:t>9</m:t>
                        </m:r>
                      </m:sup>
                    </m:sSup>
                    <m:r>
                      <a:rPr lang="en-US" sz="2400" b="0" i="1" smtClean="0">
                        <a:solidFill>
                          <a:srgbClr val="7030A0"/>
                        </a:solidFill>
                        <a:latin typeface="Cambria Math" panose="02040503050406030204" pitchFamily="18" charset="0"/>
                      </a:rPr>
                      <m:t> </m:t>
                    </m:r>
                    <m:r>
                      <a:rPr lang="en-US" sz="2400" b="0" i="1" smtClean="0">
                        <a:solidFill>
                          <a:srgbClr val="7030A0"/>
                        </a:solidFill>
                        <a:latin typeface="Cambria Math" panose="02040503050406030204" pitchFamily="18" charset="0"/>
                        <a:ea typeface="Cambria Math" panose="02040503050406030204" pitchFamily="18" charset="0"/>
                      </a:rPr>
                      <m:t>×</m:t>
                    </m:r>
                    <m:sSup>
                      <m:sSupPr>
                        <m:ctrlPr>
                          <a:rPr lang="en-US" sz="2400" b="0" i="1" smtClean="0">
                            <a:solidFill>
                              <a:srgbClr val="7030A0"/>
                            </a:solidFill>
                            <a:latin typeface="Cambria Math" panose="02040503050406030204" pitchFamily="18" charset="0"/>
                            <a:ea typeface="Cambria Math" panose="02040503050406030204" pitchFamily="18" charset="0"/>
                          </a:rPr>
                        </m:ctrlPr>
                      </m:sSupPr>
                      <m:e>
                        <m:r>
                          <a:rPr lang="en-US" sz="2400" b="0" i="1" smtClean="0">
                            <a:solidFill>
                              <a:srgbClr val="7030A0"/>
                            </a:solidFill>
                            <a:latin typeface="Cambria Math" panose="02040503050406030204" pitchFamily="18" charset="0"/>
                            <a:ea typeface="Cambria Math" panose="02040503050406030204" pitchFamily="18" charset="0"/>
                          </a:rPr>
                          <m:t>(10</m:t>
                        </m:r>
                      </m:e>
                      <m:sup>
                        <m:r>
                          <a:rPr lang="en-US" sz="2400" b="0" i="1" smtClean="0">
                            <a:solidFill>
                              <a:srgbClr val="7030A0"/>
                            </a:solidFill>
                            <a:latin typeface="Cambria Math" panose="02040503050406030204" pitchFamily="18" charset="0"/>
                            <a:ea typeface="Cambria Math" panose="02040503050406030204" pitchFamily="18" charset="0"/>
                          </a:rPr>
                          <m:t>9</m:t>
                        </m:r>
                      </m:sup>
                    </m:sSup>
                  </m:oMath>
                </a14:m>
                <a:r>
                  <a:rPr lang="en-US" sz="2400" dirty="0">
                    <a:solidFill>
                      <a:srgbClr val="7030A0"/>
                    </a:solidFill>
                    <a:latin typeface="Candara" panose="020E0502030303020204" pitchFamily="34" charset="0"/>
                  </a:rPr>
                  <a:t> wei) = </a:t>
                </a:r>
                <a14:m>
                  <m:oMath xmlns:m="http://schemas.openxmlformats.org/officeDocument/2006/math">
                    <m:sSup>
                      <m:sSupPr>
                        <m:ctrlPr>
                          <a:rPr lang="en-US" sz="2400" b="0" i="1" smtClean="0">
                            <a:solidFill>
                              <a:srgbClr val="7030A0"/>
                            </a:solidFill>
                            <a:latin typeface="Cambria Math" panose="02040503050406030204" pitchFamily="18" charset="0"/>
                          </a:rPr>
                        </m:ctrlPr>
                      </m:sSupPr>
                      <m:e>
                        <m:r>
                          <a:rPr lang="en-US" sz="2400" b="0" i="1" smtClean="0">
                            <a:solidFill>
                              <a:srgbClr val="7030A0"/>
                            </a:solidFill>
                            <a:latin typeface="Cambria Math" panose="02040503050406030204" pitchFamily="18" charset="0"/>
                          </a:rPr>
                          <m:t>10</m:t>
                        </m:r>
                      </m:e>
                      <m:sup>
                        <m:r>
                          <a:rPr lang="en-US" sz="2400" b="0" i="1" smtClean="0">
                            <a:solidFill>
                              <a:srgbClr val="7030A0"/>
                            </a:solidFill>
                            <a:latin typeface="Cambria Math" panose="02040503050406030204" pitchFamily="18" charset="0"/>
                          </a:rPr>
                          <m:t>9</m:t>
                        </m:r>
                      </m:sup>
                    </m:sSup>
                  </m:oMath>
                </a14:m>
                <a:r>
                  <a:rPr lang="en-US" sz="2400" dirty="0">
                    <a:solidFill>
                      <a:srgbClr val="7030A0"/>
                    </a:solidFill>
                    <a:latin typeface="Candara" panose="020E0502030303020204" pitchFamily="34" charset="0"/>
                  </a:rPr>
                  <a:t> Gwei</a:t>
                </a:r>
              </a:p>
              <a:p>
                <a:pPr marL="742950" lvl="1" indent="-285750">
                  <a:buFont typeface="Arial" panose="020B0604020202020204" pitchFamily="34" charset="0"/>
                  <a:buChar char="•"/>
                </a:pPr>
                <a:r>
                  <a:rPr lang="en-US" sz="2400" dirty="0">
                    <a:solidFill>
                      <a:srgbClr val="7030A0"/>
                    </a:solidFill>
                    <a:latin typeface="Candara" panose="020E0502030303020204" pitchFamily="34" charset="0"/>
                  </a:rPr>
                  <a:t>ETH price is high but </a:t>
                </a:r>
                <a:r>
                  <a:rPr lang="en-US" sz="2400" dirty="0" err="1">
                    <a:solidFill>
                      <a:srgbClr val="7030A0"/>
                    </a:solidFill>
                    <a:latin typeface="Candara" panose="020E0502030303020204" pitchFamily="34" charset="0"/>
                  </a:rPr>
                  <a:t>wei</a:t>
                </a:r>
                <a:r>
                  <a:rPr lang="en-US" sz="2400" dirty="0">
                    <a:solidFill>
                      <a:srgbClr val="7030A0"/>
                    </a:solidFill>
                    <a:latin typeface="Candara" panose="020E0502030303020204" pitchFamily="34" charset="0"/>
                  </a:rPr>
                  <a:t> price is extremely small</a:t>
                </a:r>
              </a:p>
              <a:p>
                <a:pPr marL="742950" lvl="1" indent="-285750">
                  <a:buFont typeface="Arial" panose="020B0604020202020204" pitchFamily="34" charset="0"/>
                  <a:buChar char="•"/>
                </a:pPr>
                <a:r>
                  <a:rPr lang="en-US" sz="2400" dirty="0">
                    <a:solidFill>
                      <a:srgbClr val="7030A0"/>
                    </a:solidFill>
                    <a:latin typeface="Candara" panose="020E0502030303020204" pitchFamily="34" charset="0"/>
                  </a:rPr>
                  <a:t>For convenience, gas prices are expressed in </a:t>
                </a:r>
                <a:r>
                  <a:rPr lang="en-US" sz="2400" dirty="0" err="1">
                    <a:solidFill>
                      <a:srgbClr val="7030A0"/>
                    </a:solidFill>
                    <a:latin typeface="Candara" panose="020E0502030303020204" pitchFamily="34" charset="0"/>
                  </a:rPr>
                  <a:t>Gwei</a:t>
                </a:r>
                <a:endParaRPr lang="en-US" sz="2400" dirty="0">
                  <a:solidFill>
                    <a:srgbClr val="7030A0"/>
                  </a:solidFill>
                  <a:latin typeface="Candara" panose="020E0502030303020204" pitchFamily="34" charset="0"/>
                </a:endParaRPr>
              </a:p>
            </p:txBody>
          </p:sp>
        </mc:Choice>
        <mc:Fallback xmlns="">
          <p:sp>
            <p:nvSpPr>
              <p:cNvPr id="8" name="TextBox 7">
                <a:extLst>
                  <a:ext uri="{FF2B5EF4-FFF2-40B4-BE49-F238E27FC236}">
                    <a16:creationId xmlns:a16="http://schemas.microsoft.com/office/drawing/2014/main" id="{F3B14AE1-24A0-509B-7164-A690D15A1A83}"/>
                  </a:ext>
                </a:extLst>
              </p:cNvPr>
              <p:cNvSpPr txBox="1">
                <a:spLocks noRot="1" noChangeAspect="1" noMove="1" noResize="1" noEditPoints="1" noAdjustHandles="1" noChangeArrowheads="1" noChangeShapeType="1" noTextEdit="1"/>
              </p:cNvSpPr>
              <p:nvPr/>
            </p:nvSpPr>
            <p:spPr>
              <a:xfrm>
                <a:off x="518160" y="1087120"/>
                <a:ext cx="11155680" cy="1200329"/>
              </a:xfrm>
              <a:prstGeom prst="rect">
                <a:avLst/>
              </a:prstGeom>
              <a:blipFill>
                <a:blip r:embed="rId3"/>
                <a:stretch>
                  <a:fillRect l="-710" t="-4061" b="-10660"/>
                </a:stretch>
              </a:blipFill>
            </p:spPr>
            <p:txBody>
              <a:bodyPr/>
              <a:lstStyle/>
              <a:p>
                <a:r>
                  <a:rPr lang="en-US">
                    <a:noFill/>
                  </a:rPr>
                  <a:t> </a:t>
                </a:r>
              </a:p>
            </p:txBody>
          </p:sp>
        </mc:Fallback>
      </mc:AlternateContent>
    </p:spTree>
    <p:extLst>
      <p:ext uri="{BB962C8B-B14F-4D97-AF65-F5344CB8AC3E}">
        <p14:creationId xmlns:p14="http://schemas.microsoft.com/office/powerpoint/2010/main" val="3219600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03722-123E-654A-FB4B-0B5924A0F1DC}"/>
              </a:ext>
            </a:extLst>
          </p:cNvPr>
          <p:cNvSpPr>
            <a:spLocks noGrp="1"/>
          </p:cNvSpPr>
          <p:nvPr>
            <p:ph type="title"/>
          </p:nvPr>
        </p:nvSpPr>
        <p:spPr/>
        <p:txBody>
          <a:bodyPr/>
          <a:lstStyle/>
          <a:p>
            <a:r>
              <a:rPr lang="en-US" dirty="0"/>
              <a:t>More Transactions More Gas</a:t>
            </a:r>
          </a:p>
        </p:txBody>
      </p:sp>
      <p:sp>
        <p:nvSpPr>
          <p:cNvPr id="3" name="Content Placeholder 2">
            <a:extLst>
              <a:ext uri="{FF2B5EF4-FFF2-40B4-BE49-F238E27FC236}">
                <a16:creationId xmlns:a16="http://schemas.microsoft.com/office/drawing/2014/main" id="{C6A3A320-B50E-B4EC-3C35-9E8370416D80}"/>
              </a:ext>
            </a:extLst>
          </p:cNvPr>
          <p:cNvSpPr>
            <a:spLocks noGrp="1"/>
          </p:cNvSpPr>
          <p:nvPr>
            <p:ph idx="1"/>
          </p:nvPr>
        </p:nvSpPr>
        <p:spPr>
          <a:xfrm>
            <a:off x="487680" y="1022063"/>
            <a:ext cx="11186160" cy="424732"/>
          </a:xfrm>
        </p:spPr>
        <p:txBody>
          <a:bodyPr anchor="ctr" anchorCtr="0">
            <a:spAutoFit/>
          </a:bodyPr>
          <a:lstStyle/>
          <a:p>
            <a:pPr marL="0" indent="0" algn="ctr">
              <a:buNone/>
            </a:pPr>
            <a:r>
              <a:rPr lang="en-US" sz="2400" dirty="0"/>
              <a:t>Consider the following five accounts in a world state</a:t>
            </a:r>
          </a:p>
        </p:txBody>
      </p:sp>
      <p:sp>
        <p:nvSpPr>
          <p:cNvPr id="4" name="Slide Number Placeholder 3">
            <a:extLst>
              <a:ext uri="{FF2B5EF4-FFF2-40B4-BE49-F238E27FC236}">
                <a16:creationId xmlns:a16="http://schemas.microsoft.com/office/drawing/2014/main" id="{ABAFAF03-03AF-E9B1-EC1A-0CD04A75FE6C}"/>
              </a:ext>
            </a:extLst>
          </p:cNvPr>
          <p:cNvSpPr>
            <a:spLocks noGrp="1"/>
          </p:cNvSpPr>
          <p:nvPr>
            <p:ph type="sldNum" sz="quarter" idx="12"/>
          </p:nvPr>
        </p:nvSpPr>
        <p:spPr/>
        <p:txBody>
          <a:bodyPr/>
          <a:lstStyle/>
          <a:p>
            <a:fld id="{D57F1E4F-1CFF-5643-939E-217C01CDF565}" type="slidenum">
              <a:rPr lang="en-US" smtClean="0"/>
              <a:pPr/>
              <a:t>76</a:t>
            </a:fld>
            <a:endParaRPr lang="en-US" dirty="0">
              <a:latin typeface="Candara" panose="020E0502030303020204" pitchFamily="34" charset="0"/>
            </a:endParaRPr>
          </a:p>
        </p:txBody>
      </p:sp>
      <p:graphicFrame>
        <p:nvGraphicFramePr>
          <p:cNvPr id="7" name="Table 6">
            <a:extLst>
              <a:ext uri="{FF2B5EF4-FFF2-40B4-BE49-F238E27FC236}">
                <a16:creationId xmlns:a16="http://schemas.microsoft.com/office/drawing/2014/main" id="{B8EA9315-38B9-83D4-FEB6-B437FD691E4C}"/>
              </a:ext>
            </a:extLst>
          </p:cNvPr>
          <p:cNvGraphicFramePr>
            <a:graphicFrameLocks noGrp="1"/>
          </p:cNvGraphicFramePr>
          <p:nvPr/>
        </p:nvGraphicFramePr>
        <p:xfrm>
          <a:off x="487680" y="1494120"/>
          <a:ext cx="5113207" cy="2279124"/>
        </p:xfrm>
        <a:graphic>
          <a:graphicData uri="http://schemas.openxmlformats.org/drawingml/2006/table">
            <a:tbl>
              <a:tblPr firstRow="1" bandRow="1">
                <a:tableStyleId>{5940675A-B579-460E-94D1-54222C63F5DA}</a:tableStyleId>
              </a:tblPr>
              <a:tblGrid>
                <a:gridCol w="975110">
                  <a:extLst>
                    <a:ext uri="{9D8B030D-6E8A-4147-A177-3AD203B41FA5}">
                      <a16:colId xmlns:a16="http://schemas.microsoft.com/office/drawing/2014/main" val="2321423606"/>
                    </a:ext>
                  </a:extLst>
                </a:gridCol>
                <a:gridCol w="337051">
                  <a:extLst>
                    <a:ext uri="{9D8B030D-6E8A-4147-A177-3AD203B41FA5}">
                      <a16:colId xmlns:a16="http://schemas.microsoft.com/office/drawing/2014/main" val="20000"/>
                    </a:ext>
                  </a:extLst>
                </a:gridCol>
                <a:gridCol w="340127">
                  <a:extLst>
                    <a:ext uri="{9D8B030D-6E8A-4147-A177-3AD203B41FA5}">
                      <a16:colId xmlns:a16="http://schemas.microsoft.com/office/drawing/2014/main" val="20001"/>
                    </a:ext>
                  </a:extLst>
                </a:gridCol>
                <a:gridCol w="340127">
                  <a:extLst>
                    <a:ext uri="{9D8B030D-6E8A-4147-A177-3AD203B41FA5}">
                      <a16:colId xmlns:a16="http://schemas.microsoft.com/office/drawing/2014/main" val="20002"/>
                    </a:ext>
                  </a:extLst>
                </a:gridCol>
                <a:gridCol w="346276">
                  <a:extLst>
                    <a:ext uri="{9D8B030D-6E8A-4147-A177-3AD203B41FA5}">
                      <a16:colId xmlns:a16="http://schemas.microsoft.com/office/drawing/2014/main" val="20003"/>
                    </a:ext>
                  </a:extLst>
                </a:gridCol>
                <a:gridCol w="340127">
                  <a:extLst>
                    <a:ext uri="{9D8B030D-6E8A-4147-A177-3AD203B41FA5}">
                      <a16:colId xmlns:a16="http://schemas.microsoft.com/office/drawing/2014/main" val="20004"/>
                    </a:ext>
                  </a:extLst>
                </a:gridCol>
                <a:gridCol w="340127">
                  <a:extLst>
                    <a:ext uri="{9D8B030D-6E8A-4147-A177-3AD203B41FA5}">
                      <a16:colId xmlns:a16="http://schemas.microsoft.com/office/drawing/2014/main" val="20005"/>
                    </a:ext>
                  </a:extLst>
                </a:gridCol>
                <a:gridCol w="340127">
                  <a:extLst>
                    <a:ext uri="{9D8B030D-6E8A-4147-A177-3AD203B41FA5}">
                      <a16:colId xmlns:a16="http://schemas.microsoft.com/office/drawing/2014/main" val="20006"/>
                    </a:ext>
                  </a:extLst>
                </a:gridCol>
                <a:gridCol w="1754135">
                  <a:extLst>
                    <a:ext uri="{9D8B030D-6E8A-4147-A177-3AD203B41FA5}">
                      <a16:colId xmlns:a16="http://schemas.microsoft.com/office/drawing/2014/main" val="20007"/>
                    </a:ext>
                  </a:extLst>
                </a:gridCol>
              </a:tblGrid>
              <a:tr h="379854">
                <a:tc>
                  <a:txBody>
                    <a:bodyPr/>
                    <a:lstStyle/>
                    <a:p>
                      <a:pPr algn="ctr"/>
                      <a:r>
                        <a:rPr lang="en-US" sz="1800" b="1" dirty="0"/>
                        <a:t>Account</a:t>
                      </a:r>
                    </a:p>
                  </a:txBody>
                  <a:tcPr/>
                </a:tc>
                <a:tc gridSpan="7">
                  <a:txBody>
                    <a:bodyPr/>
                    <a:lstStyle/>
                    <a:p>
                      <a:pPr algn="ctr"/>
                      <a:r>
                        <a:rPr lang="en-US" sz="1800" b="1" dirty="0"/>
                        <a:t>Account Keys</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a:txBody>
                    <a:bodyPr/>
                    <a:lstStyle/>
                    <a:p>
                      <a:pPr algn="ctr"/>
                      <a:r>
                        <a:rPr lang="en-US" sz="1800" b="1" dirty="0"/>
                        <a:t>Balance</a:t>
                      </a:r>
                    </a:p>
                  </a:txBody>
                  <a:tcPr/>
                </a:tc>
                <a:extLst>
                  <a:ext uri="{0D108BD9-81ED-4DB2-BD59-A6C34878D82A}">
                    <a16:rowId xmlns:a16="http://schemas.microsoft.com/office/drawing/2014/main" val="10001"/>
                  </a:ext>
                </a:extLst>
              </a:tr>
              <a:tr h="379854">
                <a:tc>
                  <a:txBody>
                    <a:bodyPr/>
                    <a:lstStyle/>
                    <a:p>
                      <a:pPr algn="ctr"/>
                      <a:r>
                        <a:rPr lang="en-US" sz="1800" b="1" dirty="0">
                          <a:solidFill>
                            <a:schemeClr val="bg1"/>
                          </a:solidFill>
                        </a:rPr>
                        <a:t>Alice</a:t>
                      </a:r>
                    </a:p>
                  </a:txBody>
                  <a:tcPr>
                    <a:solidFill>
                      <a:schemeClr val="accent2"/>
                    </a:solidFill>
                  </a:tcPr>
                </a:tc>
                <a:tc>
                  <a:txBody>
                    <a:bodyPr/>
                    <a:lstStyle/>
                    <a:p>
                      <a:pPr algn="ctr"/>
                      <a:r>
                        <a:rPr lang="en-US" sz="1800" b="1" dirty="0">
                          <a:solidFill>
                            <a:schemeClr val="bg1"/>
                          </a:solidFill>
                        </a:rPr>
                        <a:t>a</a:t>
                      </a:r>
                    </a:p>
                  </a:txBody>
                  <a:tcPr>
                    <a:solidFill>
                      <a:schemeClr val="accent2"/>
                    </a:solidFill>
                  </a:tcPr>
                </a:tc>
                <a:tc>
                  <a:txBody>
                    <a:bodyPr/>
                    <a:lstStyle/>
                    <a:p>
                      <a:pPr algn="ctr"/>
                      <a:r>
                        <a:rPr lang="en-US" sz="1800" b="1" dirty="0">
                          <a:solidFill>
                            <a:schemeClr val="bg1"/>
                          </a:solidFill>
                        </a:rPr>
                        <a:t>1</a:t>
                      </a:r>
                    </a:p>
                  </a:txBody>
                  <a:tcPr>
                    <a:solidFill>
                      <a:schemeClr val="accent2"/>
                    </a:solidFill>
                  </a:tcPr>
                </a:tc>
                <a:tc>
                  <a:txBody>
                    <a:bodyPr/>
                    <a:lstStyle/>
                    <a:p>
                      <a:pPr algn="ctr"/>
                      <a:r>
                        <a:rPr lang="en-US" sz="1800" b="1" dirty="0">
                          <a:solidFill>
                            <a:schemeClr val="bg1"/>
                          </a:solidFill>
                        </a:rPr>
                        <a:t>5</a:t>
                      </a:r>
                    </a:p>
                  </a:txBody>
                  <a:tcPr>
                    <a:solidFill>
                      <a:schemeClr val="accent2"/>
                    </a:solidFill>
                  </a:tcPr>
                </a:tc>
                <a:tc>
                  <a:txBody>
                    <a:bodyPr/>
                    <a:lstStyle/>
                    <a:p>
                      <a:pPr algn="ctr"/>
                      <a:r>
                        <a:rPr lang="en-US" sz="1800" b="1" dirty="0">
                          <a:solidFill>
                            <a:schemeClr val="bg1"/>
                          </a:solidFill>
                        </a:rPr>
                        <a:t>1</a:t>
                      </a:r>
                    </a:p>
                  </a:txBody>
                  <a:tcPr>
                    <a:solidFill>
                      <a:schemeClr val="accent2"/>
                    </a:solidFill>
                  </a:tcPr>
                </a:tc>
                <a:tc>
                  <a:txBody>
                    <a:bodyPr/>
                    <a:lstStyle/>
                    <a:p>
                      <a:pPr algn="ctr"/>
                      <a:r>
                        <a:rPr lang="en-US" sz="1800" b="1" dirty="0">
                          <a:solidFill>
                            <a:schemeClr val="bg1"/>
                          </a:solidFill>
                        </a:rPr>
                        <a:t>2</a:t>
                      </a:r>
                    </a:p>
                  </a:txBody>
                  <a:tcPr>
                    <a:solidFill>
                      <a:schemeClr val="accent2"/>
                    </a:solidFill>
                  </a:tcPr>
                </a:tc>
                <a:tc>
                  <a:txBody>
                    <a:bodyPr/>
                    <a:lstStyle/>
                    <a:p>
                      <a:pPr algn="ctr"/>
                      <a:r>
                        <a:rPr lang="en-US" sz="1800" b="1" dirty="0">
                          <a:solidFill>
                            <a:schemeClr val="bg1"/>
                          </a:solidFill>
                        </a:rPr>
                        <a:t>3</a:t>
                      </a:r>
                    </a:p>
                  </a:txBody>
                  <a:tcPr>
                    <a:solidFill>
                      <a:schemeClr val="accent2"/>
                    </a:solidFill>
                  </a:tcPr>
                </a:tc>
                <a:tc>
                  <a:txBody>
                    <a:bodyPr/>
                    <a:lstStyle/>
                    <a:p>
                      <a:pPr algn="ctr"/>
                      <a:r>
                        <a:rPr lang="en-US" sz="1800" b="1" dirty="0">
                          <a:solidFill>
                            <a:schemeClr val="bg1"/>
                          </a:solidFill>
                        </a:rPr>
                        <a:t>4</a:t>
                      </a:r>
                    </a:p>
                  </a:txBody>
                  <a:tcPr>
                    <a:solidFill>
                      <a:schemeClr val="accent2"/>
                    </a:solidFill>
                  </a:tcPr>
                </a:tc>
                <a:tc>
                  <a:txBody>
                    <a:bodyPr/>
                    <a:lstStyle/>
                    <a:p>
                      <a:pPr algn="ctr"/>
                      <a:r>
                        <a:rPr lang="en-US" sz="1800" b="1" dirty="0">
                          <a:solidFill>
                            <a:schemeClr val="bg1"/>
                          </a:solidFill>
                        </a:rPr>
                        <a:t>2.5 ETH</a:t>
                      </a:r>
                    </a:p>
                  </a:txBody>
                  <a:tcPr>
                    <a:solidFill>
                      <a:schemeClr val="accent2"/>
                    </a:solidFill>
                  </a:tcPr>
                </a:tc>
                <a:extLst>
                  <a:ext uri="{0D108BD9-81ED-4DB2-BD59-A6C34878D82A}">
                    <a16:rowId xmlns:a16="http://schemas.microsoft.com/office/drawing/2014/main" val="10002"/>
                  </a:ext>
                </a:extLst>
              </a:tr>
              <a:tr h="379854">
                <a:tc>
                  <a:txBody>
                    <a:bodyPr/>
                    <a:lstStyle/>
                    <a:p>
                      <a:pPr algn="ctr"/>
                      <a:r>
                        <a:rPr lang="en-US" sz="1800" b="1" dirty="0"/>
                        <a:t>Bob</a:t>
                      </a:r>
                    </a:p>
                  </a:txBody>
                  <a:tcPr>
                    <a:solidFill>
                      <a:schemeClr val="bg1">
                        <a:lumMod val="95000"/>
                      </a:schemeClr>
                    </a:solidFill>
                  </a:tcPr>
                </a:tc>
                <a:tc>
                  <a:txBody>
                    <a:bodyPr/>
                    <a:lstStyle/>
                    <a:p>
                      <a:pPr algn="ctr"/>
                      <a:r>
                        <a:rPr lang="en-US" sz="1800" b="1" dirty="0"/>
                        <a:t>b</a:t>
                      </a:r>
                    </a:p>
                  </a:txBody>
                  <a:tcPr>
                    <a:solidFill>
                      <a:schemeClr val="bg1">
                        <a:lumMod val="95000"/>
                      </a:schemeClr>
                    </a:solidFill>
                  </a:tcPr>
                </a:tc>
                <a:tc>
                  <a:txBody>
                    <a:bodyPr/>
                    <a:lstStyle/>
                    <a:p>
                      <a:pPr algn="ctr"/>
                      <a:r>
                        <a:rPr lang="en-US" sz="1800" b="1" dirty="0"/>
                        <a:t>2</a:t>
                      </a:r>
                    </a:p>
                  </a:txBody>
                  <a:tcPr>
                    <a:solidFill>
                      <a:schemeClr val="bg1">
                        <a:lumMod val="95000"/>
                      </a:schemeClr>
                    </a:solidFill>
                  </a:tcPr>
                </a:tc>
                <a:tc>
                  <a:txBody>
                    <a:bodyPr/>
                    <a:lstStyle/>
                    <a:p>
                      <a:pPr algn="ctr"/>
                      <a:r>
                        <a:rPr lang="en-US" sz="1800" b="1" dirty="0"/>
                        <a:t>1</a:t>
                      </a:r>
                    </a:p>
                  </a:txBody>
                  <a:tcPr>
                    <a:solidFill>
                      <a:schemeClr val="bg1">
                        <a:lumMod val="95000"/>
                      </a:schemeClr>
                    </a:solidFill>
                  </a:tcPr>
                </a:tc>
                <a:tc>
                  <a:txBody>
                    <a:bodyPr/>
                    <a:lstStyle/>
                    <a:p>
                      <a:pPr algn="ctr"/>
                      <a:r>
                        <a:rPr lang="en-US" sz="1800" b="1" dirty="0"/>
                        <a:t>1</a:t>
                      </a:r>
                    </a:p>
                  </a:txBody>
                  <a:tcPr>
                    <a:solidFill>
                      <a:schemeClr val="bg1">
                        <a:lumMod val="95000"/>
                      </a:schemeClr>
                    </a:solidFill>
                  </a:tcPr>
                </a:tc>
                <a:tc>
                  <a:txBody>
                    <a:bodyPr/>
                    <a:lstStyle/>
                    <a:p>
                      <a:pPr algn="ctr"/>
                      <a:r>
                        <a:rPr lang="en-US" sz="1800" b="1" dirty="0"/>
                        <a:t>3</a:t>
                      </a:r>
                    </a:p>
                  </a:txBody>
                  <a:tcPr>
                    <a:solidFill>
                      <a:schemeClr val="bg1">
                        <a:lumMod val="95000"/>
                      </a:schemeClr>
                    </a:solidFill>
                  </a:tcPr>
                </a:tc>
                <a:tc>
                  <a:txBody>
                    <a:bodyPr/>
                    <a:lstStyle/>
                    <a:p>
                      <a:pPr algn="ctr"/>
                      <a:r>
                        <a:rPr lang="en-US" sz="1800" b="1" dirty="0"/>
                        <a:t>5</a:t>
                      </a:r>
                    </a:p>
                  </a:txBody>
                  <a:tcPr>
                    <a:solidFill>
                      <a:schemeClr val="bg1">
                        <a:lumMod val="95000"/>
                      </a:schemeClr>
                    </a:solidFill>
                  </a:tcPr>
                </a:tc>
                <a:tc>
                  <a:txBody>
                    <a:bodyPr/>
                    <a:lstStyle/>
                    <a:p>
                      <a:pPr algn="ctr"/>
                      <a:r>
                        <a:rPr lang="en-US" sz="1800" b="1" dirty="0"/>
                        <a:t>5</a:t>
                      </a:r>
                    </a:p>
                  </a:txBody>
                  <a:tcPr>
                    <a:solidFill>
                      <a:schemeClr val="bg1">
                        <a:lumMod val="95000"/>
                      </a:schemeClr>
                    </a:solidFill>
                  </a:tcPr>
                </a:tc>
                <a:tc>
                  <a:txBody>
                    <a:bodyPr/>
                    <a:lstStyle/>
                    <a:p>
                      <a:pPr algn="ctr"/>
                      <a:r>
                        <a:rPr lang="en-US" sz="1800" b="1" dirty="0"/>
                        <a:t>3.5 ETH</a:t>
                      </a:r>
                    </a:p>
                  </a:txBody>
                  <a:tcPr>
                    <a:solidFill>
                      <a:schemeClr val="bg1">
                        <a:lumMod val="95000"/>
                      </a:schemeClr>
                    </a:solidFill>
                  </a:tcPr>
                </a:tc>
                <a:extLst>
                  <a:ext uri="{0D108BD9-81ED-4DB2-BD59-A6C34878D82A}">
                    <a16:rowId xmlns:a16="http://schemas.microsoft.com/office/drawing/2014/main" val="10003"/>
                  </a:ext>
                </a:extLst>
              </a:tr>
              <a:tr h="379854">
                <a:tc>
                  <a:txBody>
                    <a:bodyPr/>
                    <a:lstStyle/>
                    <a:p>
                      <a:pPr algn="ctr"/>
                      <a:r>
                        <a:rPr lang="en-US" sz="1800" b="1" dirty="0"/>
                        <a:t>Charlie</a:t>
                      </a:r>
                    </a:p>
                  </a:txBody>
                  <a:tcPr>
                    <a:solidFill>
                      <a:schemeClr val="accent1">
                        <a:lumMod val="20000"/>
                        <a:lumOff val="80000"/>
                      </a:schemeClr>
                    </a:solidFill>
                  </a:tcPr>
                </a:tc>
                <a:tc>
                  <a:txBody>
                    <a:bodyPr/>
                    <a:lstStyle/>
                    <a:p>
                      <a:pPr algn="ctr"/>
                      <a:r>
                        <a:rPr lang="en-US" sz="1800" b="1" dirty="0"/>
                        <a:t>c</a:t>
                      </a:r>
                    </a:p>
                  </a:txBody>
                  <a:tcPr>
                    <a:solidFill>
                      <a:schemeClr val="accent1">
                        <a:lumMod val="20000"/>
                        <a:lumOff val="80000"/>
                      </a:schemeClr>
                    </a:solidFill>
                  </a:tcPr>
                </a:tc>
                <a:tc>
                  <a:txBody>
                    <a:bodyPr/>
                    <a:lstStyle/>
                    <a:p>
                      <a:pPr algn="ctr"/>
                      <a:r>
                        <a:rPr lang="en-US" sz="1800" b="1" dirty="0"/>
                        <a:t>3</a:t>
                      </a:r>
                    </a:p>
                  </a:txBody>
                  <a:tcPr>
                    <a:solidFill>
                      <a:schemeClr val="accent1">
                        <a:lumMod val="20000"/>
                        <a:lumOff val="80000"/>
                      </a:schemeClr>
                    </a:solidFill>
                  </a:tcPr>
                </a:tc>
                <a:tc>
                  <a:txBody>
                    <a:bodyPr/>
                    <a:lstStyle/>
                    <a:p>
                      <a:pPr algn="ctr"/>
                      <a:r>
                        <a:rPr lang="en-US" sz="1800" b="1" dirty="0"/>
                        <a:t>7</a:t>
                      </a:r>
                    </a:p>
                  </a:txBody>
                  <a:tcPr>
                    <a:solidFill>
                      <a:schemeClr val="accent1">
                        <a:lumMod val="20000"/>
                        <a:lumOff val="80000"/>
                      </a:schemeClr>
                    </a:solidFill>
                  </a:tcPr>
                </a:tc>
                <a:tc>
                  <a:txBody>
                    <a:bodyPr/>
                    <a:lstStyle/>
                    <a:p>
                      <a:pPr algn="ctr"/>
                      <a:r>
                        <a:rPr lang="en-US" sz="1800" b="1" dirty="0"/>
                        <a:t>d</a:t>
                      </a:r>
                    </a:p>
                  </a:txBody>
                  <a:tcPr>
                    <a:solidFill>
                      <a:schemeClr val="accent1">
                        <a:lumMod val="20000"/>
                        <a:lumOff val="80000"/>
                      </a:schemeClr>
                    </a:solidFill>
                  </a:tcPr>
                </a:tc>
                <a:tc>
                  <a:txBody>
                    <a:bodyPr/>
                    <a:lstStyle/>
                    <a:p>
                      <a:pPr algn="ctr"/>
                      <a:r>
                        <a:rPr lang="en-US" sz="1800" b="1" dirty="0"/>
                        <a:t>3</a:t>
                      </a:r>
                    </a:p>
                  </a:txBody>
                  <a:tcPr>
                    <a:solidFill>
                      <a:schemeClr val="accent1">
                        <a:lumMod val="20000"/>
                        <a:lumOff val="80000"/>
                      </a:schemeClr>
                    </a:solidFill>
                  </a:tcPr>
                </a:tc>
                <a:tc>
                  <a:txBody>
                    <a:bodyPr/>
                    <a:lstStyle/>
                    <a:p>
                      <a:pPr algn="ctr"/>
                      <a:r>
                        <a:rPr lang="en-US" sz="1800" b="1" dirty="0"/>
                        <a:t>3</a:t>
                      </a:r>
                    </a:p>
                  </a:txBody>
                  <a:tcPr>
                    <a:solidFill>
                      <a:schemeClr val="accent1">
                        <a:lumMod val="20000"/>
                        <a:lumOff val="80000"/>
                      </a:schemeClr>
                    </a:solidFill>
                  </a:tcPr>
                </a:tc>
                <a:tc>
                  <a:txBody>
                    <a:bodyPr/>
                    <a:lstStyle/>
                    <a:p>
                      <a:pPr algn="ctr"/>
                      <a:r>
                        <a:rPr lang="en-US" sz="1800" b="1" dirty="0"/>
                        <a:t>7</a:t>
                      </a:r>
                    </a:p>
                  </a:txBody>
                  <a:tcPr>
                    <a:solidFill>
                      <a:schemeClr val="accent1">
                        <a:lumMod val="20000"/>
                        <a:lumOff val="80000"/>
                      </a:schemeClr>
                    </a:solidFill>
                  </a:tcPr>
                </a:tc>
                <a:tc>
                  <a:txBody>
                    <a:bodyPr/>
                    <a:lstStyle/>
                    <a:p>
                      <a:pPr algn="ctr"/>
                      <a:r>
                        <a:rPr lang="en-US" sz="1800" b="1" dirty="0"/>
                        <a:t>1.2 ETH</a:t>
                      </a:r>
                    </a:p>
                  </a:txBody>
                  <a:tcPr>
                    <a:solidFill>
                      <a:schemeClr val="accent1">
                        <a:lumMod val="20000"/>
                        <a:lumOff val="80000"/>
                      </a:schemeClr>
                    </a:solidFill>
                  </a:tcPr>
                </a:tc>
                <a:extLst>
                  <a:ext uri="{0D108BD9-81ED-4DB2-BD59-A6C34878D82A}">
                    <a16:rowId xmlns:a16="http://schemas.microsoft.com/office/drawing/2014/main" val="10004"/>
                  </a:ext>
                </a:extLst>
              </a:tr>
              <a:tr h="379854">
                <a:tc>
                  <a:txBody>
                    <a:bodyPr/>
                    <a:lstStyle/>
                    <a:p>
                      <a:pPr algn="ctr"/>
                      <a:r>
                        <a:rPr lang="en-US" sz="1800" b="1" kern="1200" dirty="0">
                          <a:solidFill>
                            <a:schemeClr val="tx1"/>
                          </a:solidFill>
                          <a:latin typeface="+mn-lt"/>
                          <a:ea typeface="+mn-ea"/>
                          <a:cs typeface="+mn-cs"/>
                        </a:rPr>
                        <a:t>Dan</a:t>
                      </a:r>
                    </a:p>
                  </a:txBody>
                  <a:tcPr>
                    <a:solidFill>
                      <a:schemeClr val="accent6">
                        <a:lumMod val="20000"/>
                        <a:lumOff val="80000"/>
                      </a:schemeClr>
                    </a:solidFill>
                  </a:tcPr>
                </a:tc>
                <a:tc>
                  <a:txBody>
                    <a:bodyPr/>
                    <a:lstStyle/>
                    <a:p>
                      <a:pPr algn="ctr"/>
                      <a:r>
                        <a:rPr lang="en-US" sz="1800" b="1" kern="1200" dirty="0">
                          <a:solidFill>
                            <a:schemeClr val="tx1"/>
                          </a:solidFill>
                          <a:latin typeface="+mn-lt"/>
                          <a:ea typeface="+mn-ea"/>
                          <a:cs typeface="+mn-cs"/>
                        </a:rPr>
                        <a:t>d</a:t>
                      </a:r>
                    </a:p>
                  </a:txBody>
                  <a:tcPr>
                    <a:solidFill>
                      <a:schemeClr val="accent6">
                        <a:lumMod val="20000"/>
                        <a:lumOff val="80000"/>
                      </a:schemeClr>
                    </a:solidFill>
                  </a:tcPr>
                </a:tc>
                <a:tc>
                  <a:txBody>
                    <a:bodyPr/>
                    <a:lstStyle/>
                    <a:p>
                      <a:pPr algn="ctr"/>
                      <a:r>
                        <a:rPr lang="en-US" sz="1800" b="1" kern="1200" dirty="0">
                          <a:solidFill>
                            <a:schemeClr val="tx1"/>
                          </a:solidFill>
                          <a:latin typeface="+mn-lt"/>
                          <a:ea typeface="+mn-ea"/>
                          <a:cs typeface="+mn-cs"/>
                        </a:rPr>
                        <a:t>4</a:t>
                      </a:r>
                    </a:p>
                  </a:txBody>
                  <a:tcPr>
                    <a:solidFill>
                      <a:schemeClr val="accent6">
                        <a:lumMod val="20000"/>
                        <a:lumOff val="80000"/>
                      </a:schemeClr>
                    </a:solidFill>
                  </a:tcPr>
                </a:tc>
                <a:tc>
                  <a:txBody>
                    <a:bodyPr/>
                    <a:lstStyle/>
                    <a:p>
                      <a:pPr algn="ctr"/>
                      <a:r>
                        <a:rPr lang="en-US" sz="1800" b="1" kern="1200" dirty="0">
                          <a:solidFill>
                            <a:schemeClr val="tx1"/>
                          </a:solidFill>
                          <a:latin typeface="+mn-lt"/>
                          <a:ea typeface="+mn-ea"/>
                          <a:cs typeface="+mn-cs"/>
                        </a:rPr>
                        <a:t>f</a:t>
                      </a:r>
                    </a:p>
                  </a:txBody>
                  <a:tcPr>
                    <a:solidFill>
                      <a:schemeClr val="accent6">
                        <a:lumMod val="20000"/>
                        <a:lumOff val="80000"/>
                      </a:schemeClr>
                    </a:solidFill>
                  </a:tcPr>
                </a:tc>
                <a:tc>
                  <a:txBody>
                    <a:bodyPr/>
                    <a:lstStyle/>
                    <a:p>
                      <a:pPr algn="ctr"/>
                      <a:r>
                        <a:rPr lang="en-US" sz="1800" b="1" kern="1200" dirty="0">
                          <a:solidFill>
                            <a:schemeClr val="tx1"/>
                          </a:solidFill>
                          <a:latin typeface="+mn-lt"/>
                          <a:ea typeface="+mn-ea"/>
                          <a:cs typeface="+mn-cs"/>
                        </a:rPr>
                        <a:t>9</a:t>
                      </a:r>
                    </a:p>
                  </a:txBody>
                  <a:tcPr>
                    <a:solidFill>
                      <a:schemeClr val="accent6">
                        <a:lumMod val="20000"/>
                        <a:lumOff val="80000"/>
                      </a:schemeClr>
                    </a:solidFill>
                  </a:tcPr>
                </a:tc>
                <a:tc>
                  <a:txBody>
                    <a:bodyPr/>
                    <a:lstStyle/>
                    <a:p>
                      <a:pPr algn="ctr"/>
                      <a:r>
                        <a:rPr lang="en-US" sz="1800" b="1" kern="1200" dirty="0">
                          <a:solidFill>
                            <a:schemeClr val="tx1"/>
                          </a:solidFill>
                          <a:latin typeface="+mn-lt"/>
                          <a:ea typeface="+mn-ea"/>
                          <a:cs typeface="+mn-cs"/>
                        </a:rPr>
                        <a:t>3</a:t>
                      </a:r>
                    </a:p>
                  </a:txBody>
                  <a:tcPr>
                    <a:solidFill>
                      <a:schemeClr val="accent6">
                        <a:lumMod val="20000"/>
                        <a:lumOff val="80000"/>
                      </a:schemeClr>
                    </a:solidFill>
                  </a:tcPr>
                </a:tc>
                <a:tc>
                  <a:txBody>
                    <a:bodyPr/>
                    <a:lstStyle/>
                    <a:p>
                      <a:pPr algn="ctr"/>
                      <a:r>
                        <a:rPr lang="en-US" sz="1800" b="1" kern="1200" dirty="0">
                          <a:solidFill>
                            <a:schemeClr val="tx1"/>
                          </a:solidFill>
                          <a:latin typeface="+mn-lt"/>
                          <a:ea typeface="+mn-ea"/>
                          <a:cs typeface="+mn-cs"/>
                        </a:rPr>
                        <a:t>6</a:t>
                      </a:r>
                    </a:p>
                  </a:txBody>
                  <a:tcPr>
                    <a:solidFill>
                      <a:schemeClr val="accent6">
                        <a:lumMod val="20000"/>
                        <a:lumOff val="80000"/>
                      </a:schemeClr>
                    </a:solidFill>
                  </a:tcPr>
                </a:tc>
                <a:tc>
                  <a:txBody>
                    <a:bodyPr/>
                    <a:lstStyle/>
                    <a:p>
                      <a:pPr algn="ctr"/>
                      <a:r>
                        <a:rPr lang="en-US" sz="1800" b="1" kern="1200" dirty="0">
                          <a:solidFill>
                            <a:schemeClr val="tx1"/>
                          </a:solidFill>
                          <a:latin typeface="+mn-lt"/>
                          <a:ea typeface="+mn-ea"/>
                          <a:cs typeface="+mn-cs"/>
                        </a:rPr>
                        <a:t>5</a:t>
                      </a:r>
                    </a:p>
                  </a:txBody>
                  <a:tcPr>
                    <a:solidFill>
                      <a:schemeClr val="accent6">
                        <a:lumMod val="20000"/>
                        <a:lumOff val="80000"/>
                      </a:schemeClr>
                    </a:solidFill>
                  </a:tcPr>
                </a:tc>
                <a:tc>
                  <a:txBody>
                    <a:bodyPr/>
                    <a:lstStyle/>
                    <a:p>
                      <a:pPr algn="ctr"/>
                      <a:r>
                        <a:rPr lang="en-US" sz="1800" b="1" kern="1200" dirty="0">
                          <a:solidFill>
                            <a:schemeClr val="tx1"/>
                          </a:solidFill>
                          <a:latin typeface="+mn-lt"/>
                          <a:ea typeface="+mn-ea"/>
                          <a:cs typeface="+mn-cs"/>
                        </a:rPr>
                        <a:t>1.5 ETH</a:t>
                      </a:r>
                    </a:p>
                  </a:txBody>
                  <a:tcPr>
                    <a:solidFill>
                      <a:schemeClr val="accent6">
                        <a:lumMod val="20000"/>
                        <a:lumOff val="80000"/>
                      </a:schemeClr>
                    </a:solidFill>
                  </a:tcPr>
                </a:tc>
                <a:extLst>
                  <a:ext uri="{0D108BD9-81ED-4DB2-BD59-A6C34878D82A}">
                    <a16:rowId xmlns:a16="http://schemas.microsoft.com/office/drawing/2014/main" val="10005"/>
                  </a:ext>
                </a:extLst>
              </a:tr>
              <a:tr h="379854">
                <a:tc>
                  <a:txBody>
                    <a:bodyPr/>
                    <a:lstStyle/>
                    <a:p>
                      <a:pPr algn="ctr"/>
                      <a:r>
                        <a:rPr lang="en-US" sz="1800" b="1" dirty="0"/>
                        <a:t>Eve</a:t>
                      </a:r>
                    </a:p>
                  </a:txBody>
                  <a:tcPr>
                    <a:solidFill>
                      <a:schemeClr val="accent4">
                        <a:lumMod val="20000"/>
                        <a:lumOff val="80000"/>
                      </a:schemeClr>
                    </a:solidFill>
                  </a:tcPr>
                </a:tc>
                <a:tc>
                  <a:txBody>
                    <a:bodyPr/>
                    <a:lstStyle/>
                    <a:p>
                      <a:pPr algn="ctr"/>
                      <a:r>
                        <a:rPr lang="en-US" sz="1800" b="1" dirty="0"/>
                        <a:t>e</a:t>
                      </a:r>
                    </a:p>
                  </a:txBody>
                  <a:tcPr>
                    <a:solidFill>
                      <a:schemeClr val="accent4">
                        <a:lumMod val="20000"/>
                        <a:lumOff val="80000"/>
                      </a:schemeClr>
                    </a:solidFill>
                  </a:tcPr>
                </a:tc>
                <a:tc>
                  <a:txBody>
                    <a:bodyPr/>
                    <a:lstStyle/>
                    <a:p>
                      <a:pPr algn="ctr"/>
                      <a:r>
                        <a:rPr lang="en-US" sz="1800" b="1" dirty="0"/>
                        <a:t>5</a:t>
                      </a:r>
                    </a:p>
                  </a:txBody>
                  <a:tcPr>
                    <a:solidFill>
                      <a:schemeClr val="accent4">
                        <a:lumMod val="20000"/>
                        <a:lumOff val="80000"/>
                      </a:schemeClr>
                    </a:solidFill>
                  </a:tcPr>
                </a:tc>
                <a:tc>
                  <a:txBody>
                    <a:bodyPr/>
                    <a:lstStyle/>
                    <a:p>
                      <a:pPr algn="ctr"/>
                      <a:r>
                        <a:rPr lang="en-US" sz="1800" b="1" dirty="0"/>
                        <a:t>7</a:t>
                      </a:r>
                    </a:p>
                  </a:txBody>
                  <a:tcPr>
                    <a:solidFill>
                      <a:schemeClr val="accent4">
                        <a:lumMod val="20000"/>
                        <a:lumOff val="80000"/>
                      </a:schemeClr>
                    </a:solidFill>
                  </a:tcPr>
                </a:tc>
                <a:tc>
                  <a:txBody>
                    <a:bodyPr/>
                    <a:lstStyle/>
                    <a:p>
                      <a:pPr algn="ctr"/>
                      <a:r>
                        <a:rPr lang="en-US" sz="1800" b="1" dirty="0"/>
                        <a:t>d</a:t>
                      </a:r>
                    </a:p>
                  </a:txBody>
                  <a:tcPr>
                    <a:solidFill>
                      <a:schemeClr val="accent4">
                        <a:lumMod val="20000"/>
                        <a:lumOff val="80000"/>
                      </a:schemeClr>
                    </a:solidFill>
                  </a:tcPr>
                </a:tc>
                <a:tc>
                  <a:txBody>
                    <a:bodyPr/>
                    <a:lstStyle/>
                    <a:p>
                      <a:pPr algn="ctr"/>
                      <a:r>
                        <a:rPr lang="en-US" sz="1800" b="1" dirty="0"/>
                        <a:t>3</a:t>
                      </a:r>
                    </a:p>
                  </a:txBody>
                  <a:tcPr>
                    <a:solidFill>
                      <a:schemeClr val="accent4">
                        <a:lumMod val="20000"/>
                        <a:lumOff val="80000"/>
                      </a:schemeClr>
                    </a:solidFill>
                  </a:tcPr>
                </a:tc>
                <a:tc>
                  <a:txBody>
                    <a:bodyPr/>
                    <a:lstStyle/>
                    <a:p>
                      <a:pPr algn="ctr"/>
                      <a:r>
                        <a:rPr lang="en-US" sz="1800" b="1" dirty="0"/>
                        <a:t>9</a:t>
                      </a:r>
                    </a:p>
                  </a:txBody>
                  <a:tcPr>
                    <a:solidFill>
                      <a:schemeClr val="accent4">
                        <a:lumMod val="20000"/>
                        <a:lumOff val="80000"/>
                      </a:schemeClr>
                    </a:solidFill>
                  </a:tcPr>
                </a:tc>
                <a:tc>
                  <a:txBody>
                    <a:bodyPr/>
                    <a:lstStyle/>
                    <a:p>
                      <a:pPr algn="ctr"/>
                      <a:r>
                        <a:rPr lang="en-US" sz="1800" b="1" dirty="0"/>
                        <a:t>7</a:t>
                      </a:r>
                    </a:p>
                  </a:txBody>
                  <a:tcPr>
                    <a:solidFill>
                      <a:schemeClr val="accent4">
                        <a:lumMod val="20000"/>
                        <a:lumOff val="80000"/>
                      </a:schemeClr>
                    </a:solidFill>
                  </a:tcPr>
                </a:tc>
                <a:tc>
                  <a:txBody>
                    <a:bodyPr/>
                    <a:lstStyle/>
                    <a:p>
                      <a:pPr algn="ctr"/>
                      <a:r>
                        <a:rPr lang="en-US" sz="1800" b="1" dirty="0"/>
                        <a:t>0.5 ETH</a:t>
                      </a:r>
                    </a:p>
                  </a:txBody>
                  <a:tcPr>
                    <a:solidFill>
                      <a:schemeClr val="accent4">
                        <a:lumMod val="20000"/>
                        <a:lumOff val="80000"/>
                      </a:schemeClr>
                    </a:solidFill>
                  </a:tcPr>
                </a:tc>
                <a:extLst>
                  <a:ext uri="{0D108BD9-81ED-4DB2-BD59-A6C34878D82A}">
                    <a16:rowId xmlns:a16="http://schemas.microsoft.com/office/drawing/2014/main" val="10006"/>
                  </a:ext>
                </a:extLst>
              </a:tr>
            </a:tbl>
          </a:graphicData>
        </a:graphic>
      </p:graphicFrame>
      <p:sp>
        <p:nvSpPr>
          <p:cNvPr id="8" name="TextBox 7">
            <a:extLst>
              <a:ext uri="{FF2B5EF4-FFF2-40B4-BE49-F238E27FC236}">
                <a16:creationId xmlns:a16="http://schemas.microsoft.com/office/drawing/2014/main" id="{70098D9D-E3E8-9629-E6A6-923D9B2DCDBD}"/>
              </a:ext>
            </a:extLst>
          </p:cNvPr>
          <p:cNvSpPr txBox="1"/>
          <p:nvPr/>
        </p:nvSpPr>
        <p:spPr>
          <a:xfrm>
            <a:off x="6080760" y="1794363"/>
            <a:ext cx="5593080" cy="1754326"/>
          </a:xfrm>
          <a:prstGeom prst="rect">
            <a:avLst/>
          </a:prstGeom>
          <a:noFill/>
        </p:spPr>
        <p:txBody>
          <a:bodyPr wrap="square" rtlCol="0">
            <a:spAutoFit/>
          </a:bodyPr>
          <a:lstStyle/>
          <a:p>
            <a:pPr algn="l"/>
            <a:r>
              <a:rPr lang="en-US" dirty="0">
                <a:latin typeface="Candara" panose="020E0502030303020204" pitchFamily="34" charset="0"/>
              </a:rPr>
              <a:t>Let’s consider the following set of transactions:</a:t>
            </a:r>
          </a:p>
          <a:p>
            <a:pPr marL="457200" indent="-457200" algn="l">
              <a:buFont typeface="+mj-lt"/>
              <a:buAutoNum type="arabicPeriod"/>
            </a:pPr>
            <a:r>
              <a:rPr lang="en-US" dirty="0">
                <a:latin typeface="Candara" panose="020E0502030303020204" pitchFamily="34" charset="0"/>
              </a:rPr>
              <a:t>Alice pays Bob 0.5 ETH, </a:t>
            </a:r>
          </a:p>
          <a:p>
            <a:pPr marL="457200" indent="-457200" algn="l">
              <a:buFont typeface="+mj-lt"/>
              <a:buAutoNum type="arabicPeriod"/>
            </a:pPr>
            <a:r>
              <a:rPr lang="en-US" dirty="0">
                <a:latin typeface="Candara" panose="020E0502030303020204" pitchFamily="34" charset="0"/>
              </a:rPr>
              <a:t>Bob pays Dan 0.2 ETH, </a:t>
            </a:r>
          </a:p>
          <a:p>
            <a:pPr marL="457200" indent="-457200" algn="l">
              <a:buFont typeface="+mj-lt"/>
              <a:buAutoNum type="arabicPeriod"/>
            </a:pPr>
            <a:r>
              <a:rPr lang="en-US" dirty="0">
                <a:latin typeface="Candara" panose="020E0502030303020204" pitchFamily="34" charset="0"/>
              </a:rPr>
              <a:t>Dan pays Alice 0.8 ETH, </a:t>
            </a:r>
          </a:p>
          <a:p>
            <a:pPr marL="457200" indent="-457200" algn="l">
              <a:buFont typeface="+mj-lt"/>
              <a:buAutoNum type="arabicPeriod"/>
            </a:pPr>
            <a:r>
              <a:rPr lang="en-US" dirty="0">
                <a:latin typeface="Candara" panose="020E0502030303020204" pitchFamily="34" charset="0"/>
              </a:rPr>
              <a:t>Charlie pays Eve 0.7 ETH, </a:t>
            </a:r>
          </a:p>
          <a:p>
            <a:pPr marL="457200" indent="-457200" algn="l">
              <a:buFont typeface="+mj-lt"/>
              <a:buAutoNum type="arabicPeriod"/>
            </a:pPr>
            <a:r>
              <a:rPr lang="en-US" dirty="0">
                <a:latin typeface="Candara" panose="020E0502030303020204" pitchFamily="34" charset="0"/>
              </a:rPr>
              <a:t>Eve pays Dan 0.1 ETH</a:t>
            </a:r>
          </a:p>
        </p:txBody>
      </p:sp>
      <p:sp>
        <p:nvSpPr>
          <p:cNvPr id="9" name="TextBox 8">
            <a:extLst>
              <a:ext uri="{FF2B5EF4-FFF2-40B4-BE49-F238E27FC236}">
                <a16:creationId xmlns:a16="http://schemas.microsoft.com/office/drawing/2014/main" id="{8F538A62-ADA2-42C8-7692-B7F9444CB6DB}"/>
              </a:ext>
            </a:extLst>
          </p:cNvPr>
          <p:cNvSpPr txBox="1"/>
          <p:nvPr/>
        </p:nvSpPr>
        <p:spPr>
          <a:xfrm>
            <a:off x="487681" y="3981516"/>
            <a:ext cx="5593079" cy="1754326"/>
          </a:xfrm>
          <a:prstGeom prst="rect">
            <a:avLst/>
          </a:prstGeom>
          <a:noFill/>
        </p:spPr>
        <p:txBody>
          <a:bodyPr wrap="square" rtlCol="0">
            <a:spAutoFit/>
          </a:bodyPr>
          <a:lstStyle/>
          <a:p>
            <a:pPr algn="l"/>
            <a:r>
              <a:rPr lang="en-US" dirty="0">
                <a:latin typeface="Candara" panose="020E0502030303020204" pitchFamily="34" charset="0"/>
              </a:rPr>
              <a:t>Assuming all the transactions are successfully executed:</a:t>
            </a:r>
          </a:p>
          <a:p>
            <a:pPr marL="457200" indent="-457200" algn="l">
              <a:buFont typeface="+mj-lt"/>
              <a:buAutoNum type="arabicPeriod"/>
            </a:pPr>
            <a:r>
              <a:rPr lang="en-US" dirty="0">
                <a:latin typeface="Candara" panose="020E0502030303020204" pitchFamily="34" charset="0"/>
              </a:rPr>
              <a:t>Alice’s Balance: 2.5-0.5+0.8 = 2.8 ETH </a:t>
            </a:r>
          </a:p>
          <a:p>
            <a:pPr marL="457200" indent="-457200" algn="l">
              <a:buFont typeface="+mj-lt"/>
              <a:buAutoNum type="arabicPeriod"/>
            </a:pPr>
            <a:r>
              <a:rPr lang="en-US" dirty="0">
                <a:latin typeface="Candara" panose="020E0502030303020204" pitchFamily="34" charset="0"/>
              </a:rPr>
              <a:t>Bob’s Balance: 3.5+0.5-0.2 = 3.8 ETH </a:t>
            </a:r>
          </a:p>
          <a:p>
            <a:pPr marL="457200" indent="-457200" algn="l">
              <a:buFont typeface="+mj-lt"/>
              <a:buAutoNum type="arabicPeriod"/>
            </a:pPr>
            <a:r>
              <a:rPr lang="en-US" dirty="0">
                <a:latin typeface="Candara" panose="020E0502030303020204" pitchFamily="34" charset="0"/>
              </a:rPr>
              <a:t>Charlie’s Balance: 1.2-0.7 = 0.5 ETH</a:t>
            </a:r>
          </a:p>
          <a:p>
            <a:pPr marL="457200" indent="-457200" algn="l">
              <a:buFont typeface="+mj-lt"/>
              <a:buAutoNum type="arabicPeriod"/>
            </a:pPr>
            <a:r>
              <a:rPr lang="en-US" dirty="0">
                <a:latin typeface="Candara" panose="020E0502030303020204" pitchFamily="34" charset="0"/>
              </a:rPr>
              <a:t>Dan’s Balance: 1.5+0.2-0.8+0.1 = 1 ETH </a:t>
            </a:r>
          </a:p>
          <a:p>
            <a:pPr marL="457200" indent="-457200" algn="l">
              <a:buFont typeface="+mj-lt"/>
              <a:buAutoNum type="arabicPeriod"/>
            </a:pPr>
            <a:r>
              <a:rPr lang="en-US" dirty="0">
                <a:latin typeface="Candara" panose="020E0502030303020204" pitchFamily="34" charset="0"/>
              </a:rPr>
              <a:t>Eve’s Balance: 0.5+0.7-0.1 = 1.1 ETH</a:t>
            </a:r>
          </a:p>
        </p:txBody>
      </p:sp>
      <p:sp>
        <p:nvSpPr>
          <p:cNvPr id="10" name="TextBox 9">
            <a:extLst>
              <a:ext uri="{FF2B5EF4-FFF2-40B4-BE49-F238E27FC236}">
                <a16:creationId xmlns:a16="http://schemas.microsoft.com/office/drawing/2014/main" id="{F7229DB3-9ADD-DE61-EAC4-4F04369F6B83}"/>
              </a:ext>
            </a:extLst>
          </p:cNvPr>
          <p:cNvSpPr txBox="1"/>
          <p:nvPr/>
        </p:nvSpPr>
        <p:spPr>
          <a:xfrm>
            <a:off x="6080760" y="4504736"/>
            <a:ext cx="5593079" cy="707886"/>
          </a:xfrm>
          <a:prstGeom prst="rect">
            <a:avLst/>
          </a:prstGeom>
          <a:noFill/>
        </p:spPr>
        <p:txBody>
          <a:bodyPr wrap="square" rtlCol="0">
            <a:spAutoFit/>
          </a:bodyPr>
          <a:lstStyle/>
          <a:p>
            <a:pPr algn="ctr"/>
            <a:r>
              <a:rPr lang="en-US" sz="2000" dirty="0">
                <a:latin typeface="Candara" panose="020E0502030303020204" pitchFamily="34" charset="0"/>
              </a:rPr>
              <a:t>On Ethereum, each transaction is posted individually and each pays gas</a:t>
            </a:r>
          </a:p>
        </p:txBody>
      </p:sp>
      <p:sp>
        <p:nvSpPr>
          <p:cNvPr id="11" name="TextBox 10">
            <a:extLst>
              <a:ext uri="{FF2B5EF4-FFF2-40B4-BE49-F238E27FC236}">
                <a16:creationId xmlns:a16="http://schemas.microsoft.com/office/drawing/2014/main" id="{1079823E-2FB0-2F1D-F719-F4C9BBF5E5D4}"/>
              </a:ext>
            </a:extLst>
          </p:cNvPr>
          <p:cNvSpPr txBox="1"/>
          <p:nvPr/>
        </p:nvSpPr>
        <p:spPr>
          <a:xfrm>
            <a:off x="1779938" y="5911878"/>
            <a:ext cx="8358378" cy="461665"/>
          </a:xfrm>
          <a:prstGeom prst="rect">
            <a:avLst/>
          </a:prstGeom>
          <a:noFill/>
        </p:spPr>
        <p:txBody>
          <a:bodyPr wrap="none" rtlCol="0">
            <a:spAutoFit/>
          </a:bodyPr>
          <a:lstStyle/>
          <a:p>
            <a:pPr algn="l"/>
            <a:r>
              <a:rPr lang="en-US" sz="2400" dirty="0">
                <a:latin typeface="Candara" panose="020E0502030303020204" pitchFamily="34" charset="0"/>
              </a:rPr>
              <a:t>How can we reduce the fee, while retaining Ethereum security?</a:t>
            </a:r>
          </a:p>
        </p:txBody>
      </p:sp>
    </p:spTree>
    <p:extLst>
      <p:ext uri="{BB962C8B-B14F-4D97-AF65-F5344CB8AC3E}">
        <p14:creationId xmlns:p14="http://schemas.microsoft.com/office/powerpoint/2010/main" val="1505361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3D1D2-5F30-FEF8-C8F8-CCACDA83E36D}"/>
              </a:ext>
            </a:extLst>
          </p:cNvPr>
          <p:cNvSpPr>
            <a:spLocks noGrp="1"/>
          </p:cNvSpPr>
          <p:nvPr>
            <p:ph type="title"/>
          </p:nvPr>
        </p:nvSpPr>
        <p:spPr/>
        <p:txBody>
          <a:bodyPr/>
          <a:lstStyle/>
          <a:p>
            <a:r>
              <a:rPr lang="en-US" dirty="0"/>
              <a:t>Rollup</a:t>
            </a:r>
          </a:p>
        </p:txBody>
      </p:sp>
      <p:sp>
        <p:nvSpPr>
          <p:cNvPr id="4" name="Slide Number Placeholder 3">
            <a:extLst>
              <a:ext uri="{FF2B5EF4-FFF2-40B4-BE49-F238E27FC236}">
                <a16:creationId xmlns:a16="http://schemas.microsoft.com/office/drawing/2014/main" id="{290DFD0B-C874-25A3-A093-7BAC3D53C32C}"/>
              </a:ext>
            </a:extLst>
          </p:cNvPr>
          <p:cNvSpPr>
            <a:spLocks noGrp="1"/>
          </p:cNvSpPr>
          <p:nvPr>
            <p:ph type="sldNum" sz="quarter" idx="12"/>
          </p:nvPr>
        </p:nvSpPr>
        <p:spPr/>
        <p:txBody>
          <a:bodyPr/>
          <a:lstStyle/>
          <a:p>
            <a:fld id="{D57F1E4F-1CFF-5643-939E-217C01CDF565}" type="slidenum">
              <a:rPr lang="en-US" smtClean="0"/>
              <a:pPr/>
              <a:t>77</a:t>
            </a:fld>
            <a:endParaRPr lang="en-US" dirty="0">
              <a:latin typeface="Candara" panose="020E0502030303020204" pitchFamily="34" charset="0"/>
            </a:endParaRPr>
          </a:p>
        </p:txBody>
      </p:sp>
      <p:pic>
        <p:nvPicPr>
          <p:cNvPr id="5" name="Picture 4">
            <a:extLst>
              <a:ext uri="{FF2B5EF4-FFF2-40B4-BE49-F238E27FC236}">
                <a16:creationId xmlns:a16="http://schemas.microsoft.com/office/drawing/2014/main" id="{0CC8FF20-CAC1-1CAD-11AB-F72FA3EC0CB0}"/>
              </a:ext>
            </a:extLst>
          </p:cNvPr>
          <p:cNvPicPr>
            <a:picLocks noChangeAspect="1"/>
          </p:cNvPicPr>
          <p:nvPr/>
        </p:nvPicPr>
        <p:blipFill>
          <a:blip r:embed="rId3"/>
          <a:stretch>
            <a:fillRect/>
          </a:stretch>
        </p:blipFill>
        <p:spPr>
          <a:xfrm>
            <a:off x="8212860" y="2117553"/>
            <a:ext cx="3284986" cy="3284986"/>
          </a:xfrm>
          <a:prstGeom prst="rect">
            <a:avLst/>
          </a:prstGeom>
        </p:spPr>
      </p:pic>
      <p:sp>
        <p:nvSpPr>
          <p:cNvPr id="6" name="TextBox 5">
            <a:extLst>
              <a:ext uri="{FF2B5EF4-FFF2-40B4-BE49-F238E27FC236}">
                <a16:creationId xmlns:a16="http://schemas.microsoft.com/office/drawing/2014/main" id="{514B381D-D256-A1DA-BB80-30621380B797}"/>
              </a:ext>
            </a:extLst>
          </p:cNvPr>
          <p:cNvSpPr txBox="1"/>
          <p:nvPr/>
        </p:nvSpPr>
        <p:spPr>
          <a:xfrm>
            <a:off x="487679" y="1113049"/>
            <a:ext cx="11186159" cy="830997"/>
          </a:xfrm>
          <a:prstGeom prst="rect">
            <a:avLst/>
          </a:prstGeom>
          <a:noFill/>
        </p:spPr>
        <p:txBody>
          <a:bodyPr wrap="square" rtlCol="0">
            <a:spAutoFit/>
          </a:bodyPr>
          <a:lstStyle/>
          <a:p>
            <a:pPr algn="ctr"/>
            <a:r>
              <a:rPr lang="en-US" sz="2400" dirty="0">
                <a:latin typeface="Candara" panose="020E0502030303020204" pitchFamily="34" charset="0"/>
              </a:rPr>
              <a:t>In all these examples, individual sheets are rolled up into a single unit through compression &amp; aggregation </a:t>
            </a:r>
          </a:p>
        </p:txBody>
      </p:sp>
      <p:pic>
        <p:nvPicPr>
          <p:cNvPr id="7" name="Picture 6">
            <a:extLst>
              <a:ext uri="{FF2B5EF4-FFF2-40B4-BE49-F238E27FC236}">
                <a16:creationId xmlns:a16="http://schemas.microsoft.com/office/drawing/2014/main" id="{168278F9-8962-C4A0-49BF-ED6E3BB1A12D}"/>
              </a:ext>
            </a:extLst>
          </p:cNvPr>
          <p:cNvPicPr>
            <a:picLocks noChangeAspect="1"/>
          </p:cNvPicPr>
          <p:nvPr/>
        </p:nvPicPr>
        <p:blipFill>
          <a:blip r:embed="rId4"/>
          <a:stretch>
            <a:fillRect/>
          </a:stretch>
        </p:blipFill>
        <p:spPr>
          <a:xfrm>
            <a:off x="487680" y="2230375"/>
            <a:ext cx="3723738" cy="2792804"/>
          </a:xfrm>
          <a:prstGeom prst="rect">
            <a:avLst/>
          </a:prstGeom>
        </p:spPr>
      </p:pic>
      <p:pic>
        <p:nvPicPr>
          <p:cNvPr id="8" name="Picture 7">
            <a:extLst>
              <a:ext uri="{FF2B5EF4-FFF2-40B4-BE49-F238E27FC236}">
                <a16:creationId xmlns:a16="http://schemas.microsoft.com/office/drawing/2014/main" id="{0286BBF4-341C-979B-5180-DEEC0846D223}"/>
              </a:ext>
            </a:extLst>
          </p:cNvPr>
          <p:cNvPicPr>
            <a:picLocks noChangeAspect="1"/>
          </p:cNvPicPr>
          <p:nvPr/>
        </p:nvPicPr>
        <p:blipFill>
          <a:blip r:embed="rId5"/>
          <a:stretch>
            <a:fillRect/>
          </a:stretch>
        </p:blipFill>
        <p:spPr>
          <a:xfrm>
            <a:off x="4808621" y="2230375"/>
            <a:ext cx="3171963" cy="2792805"/>
          </a:xfrm>
          <a:prstGeom prst="rect">
            <a:avLst/>
          </a:prstGeom>
        </p:spPr>
      </p:pic>
      <p:sp>
        <p:nvSpPr>
          <p:cNvPr id="9" name="TextBox 8">
            <a:extLst>
              <a:ext uri="{FF2B5EF4-FFF2-40B4-BE49-F238E27FC236}">
                <a16:creationId xmlns:a16="http://schemas.microsoft.com/office/drawing/2014/main" id="{5E680937-4DCA-B705-5C8D-36BF5CAF041E}"/>
              </a:ext>
            </a:extLst>
          </p:cNvPr>
          <p:cNvSpPr txBox="1"/>
          <p:nvPr/>
        </p:nvSpPr>
        <p:spPr>
          <a:xfrm>
            <a:off x="487680" y="5464094"/>
            <a:ext cx="11186158" cy="830997"/>
          </a:xfrm>
          <a:prstGeom prst="rect">
            <a:avLst/>
          </a:prstGeom>
          <a:solidFill>
            <a:srgbClr val="7030A0"/>
          </a:solidFill>
        </p:spPr>
        <p:txBody>
          <a:bodyPr wrap="square" rtlCol="0" anchor="ctr" anchorCtr="0">
            <a:spAutoFit/>
          </a:bodyPr>
          <a:lstStyle/>
          <a:p>
            <a:pPr algn="ctr"/>
            <a:r>
              <a:rPr lang="en-US" sz="2400" dirty="0">
                <a:solidFill>
                  <a:schemeClr val="bg1"/>
                </a:solidFill>
                <a:latin typeface="Candara" panose="020E0502030303020204" pitchFamily="34" charset="0"/>
              </a:rPr>
              <a:t>Can many Ethereum transactions be rolled up like this to reduce transaction fee &amp; achieve scalability without losing Ethereum’s Mainnet security guarantees?</a:t>
            </a:r>
          </a:p>
        </p:txBody>
      </p:sp>
    </p:spTree>
    <p:extLst>
      <p:ext uri="{BB962C8B-B14F-4D97-AF65-F5344CB8AC3E}">
        <p14:creationId xmlns:p14="http://schemas.microsoft.com/office/powerpoint/2010/main" val="1176624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2B294-1805-9C74-5E48-C99A4794A40C}"/>
              </a:ext>
            </a:extLst>
          </p:cNvPr>
          <p:cNvSpPr>
            <a:spLocks noGrp="1"/>
          </p:cNvSpPr>
          <p:nvPr>
            <p:ph type="title"/>
          </p:nvPr>
        </p:nvSpPr>
        <p:spPr/>
        <p:txBody>
          <a:bodyPr/>
          <a:lstStyle/>
          <a:p>
            <a:r>
              <a:rPr lang="en-US" dirty="0"/>
              <a:t>Take Transaction Processing off-chain</a:t>
            </a:r>
          </a:p>
        </p:txBody>
      </p:sp>
      <p:sp>
        <p:nvSpPr>
          <p:cNvPr id="3" name="Content Placeholder 2">
            <a:extLst>
              <a:ext uri="{FF2B5EF4-FFF2-40B4-BE49-F238E27FC236}">
                <a16:creationId xmlns:a16="http://schemas.microsoft.com/office/drawing/2014/main" id="{BFE273E5-DF74-0D70-F3D3-E7F518407179}"/>
              </a:ext>
            </a:extLst>
          </p:cNvPr>
          <p:cNvSpPr>
            <a:spLocks noGrp="1"/>
          </p:cNvSpPr>
          <p:nvPr>
            <p:ph idx="1"/>
          </p:nvPr>
        </p:nvSpPr>
        <p:spPr>
          <a:xfrm>
            <a:off x="487680" y="1097281"/>
            <a:ext cx="11186160" cy="4184582"/>
          </a:xfrm>
        </p:spPr>
        <p:txBody>
          <a:bodyPr>
            <a:noAutofit/>
          </a:bodyPr>
          <a:lstStyle/>
          <a:p>
            <a:r>
              <a:rPr lang="en-US" sz="2800" dirty="0"/>
              <a:t>Transactions are atomic so if users directly post them on Ethereum they are supposed to be individually processed</a:t>
            </a:r>
          </a:p>
          <a:p>
            <a:r>
              <a:rPr lang="en-US" sz="2800" dirty="0">
                <a:solidFill>
                  <a:srgbClr val="7030A0"/>
                </a:solidFill>
              </a:rPr>
              <a:t>However, if we process the transactions off-chain (like we did in the payment channels), we can find some low-cost and more scalable solution</a:t>
            </a:r>
          </a:p>
          <a:p>
            <a:r>
              <a:rPr lang="en-US" sz="2800" dirty="0">
                <a:solidFill>
                  <a:srgbClr val="FF0000"/>
                </a:solidFill>
              </a:rPr>
              <a:t>We may be tempted to develop a payment channel type off-chain solution, but we must remember:  </a:t>
            </a:r>
          </a:p>
          <a:p>
            <a:pPr lvl="1"/>
            <a:r>
              <a:rPr lang="en-US" sz="2400" dirty="0">
                <a:solidFill>
                  <a:srgbClr val="FF0000"/>
                </a:solidFill>
              </a:rPr>
              <a:t>Ethereum supports smart contracts, </a:t>
            </a:r>
          </a:p>
          <a:p>
            <a:pPr lvl="1"/>
            <a:r>
              <a:rPr lang="en-US" sz="2400" dirty="0">
                <a:solidFill>
                  <a:srgbClr val="FF0000"/>
                </a:solidFill>
              </a:rPr>
              <a:t>it has user accounts, and</a:t>
            </a:r>
          </a:p>
          <a:p>
            <a:pPr lvl="1"/>
            <a:r>
              <a:rPr lang="en-US" sz="2400" dirty="0">
                <a:solidFill>
                  <a:srgbClr val="FF0000"/>
                </a:solidFill>
              </a:rPr>
              <a:t>it maintains a world state which is the ultimate source of truth </a:t>
            </a:r>
          </a:p>
        </p:txBody>
      </p:sp>
      <p:sp>
        <p:nvSpPr>
          <p:cNvPr id="4" name="Slide Number Placeholder 3">
            <a:extLst>
              <a:ext uri="{FF2B5EF4-FFF2-40B4-BE49-F238E27FC236}">
                <a16:creationId xmlns:a16="http://schemas.microsoft.com/office/drawing/2014/main" id="{FEC47985-4025-C9E8-5087-664D12A4979B}"/>
              </a:ext>
            </a:extLst>
          </p:cNvPr>
          <p:cNvSpPr>
            <a:spLocks noGrp="1"/>
          </p:cNvSpPr>
          <p:nvPr>
            <p:ph type="sldNum" sz="quarter" idx="12"/>
          </p:nvPr>
        </p:nvSpPr>
        <p:spPr/>
        <p:txBody>
          <a:bodyPr/>
          <a:lstStyle/>
          <a:p>
            <a:fld id="{D57F1E4F-1CFF-5643-939E-217C01CDF565}" type="slidenum">
              <a:rPr lang="en-US" smtClean="0"/>
              <a:pPr/>
              <a:t>78</a:t>
            </a:fld>
            <a:endParaRPr lang="en-US" dirty="0">
              <a:latin typeface="Candara" panose="020E0502030303020204" pitchFamily="34" charset="0"/>
            </a:endParaRPr>
          </a:p>
        </p:txBody>
      </p:sp>
      <p:sp>
        <p:nvSpPr>
          <p:cNvPr id="6" name="TextBox 5">
            <a:extLst>
              <a:ext uri="{FF2B5EF4-FFF2-40B4-BE49-F238E27FC236}">
                <a16:creationId xmlns:a16="http://schemas.microsoft.com/office/drawing/2014/main" id="{9EFEF4C7-F7EC-3482-DA4D-CF85D2717A2A}"/>
              </a:ext>
            </a:extLst>
          </p:cNvPr>
          <p:cNvSpPr txBox="1"/>
          <p:nvPr/>
        </p:nvSpPr>
        <p:spPr>
          <a:xfrm>
            <a:off x="487680" y="5453343"/>
            <a:ext cx="11186159" cy="954107"/>
          </a:xfrm>
          <a:prstGeom prst="rect">
            <a:avLst/>
          </a:prstGeom>
          <a:solidFill>
            <a:srgbClr val="7030A0"/>
          </a:solidFill>
        </p:spPr>
        <p:txBody>
          <a:bodyPr wrap="square">
            <a:spAutoFit/>
          </a:bodyPr>
          <a:lstStyle/>
          <a:p>
            <a:pPr algn="ctr"/>
            <a:r>
              <a:rPr lang="en-US" sz="2800" dirty="0">
                <a:solidFill>
                  <a:schemeClr val="bg1"/>
                </a:solidFill>
                <a:latin typeface="Candara" panose="020E0502030303020204" pitchFamily="34" charset="0"/>
              </a:rPr>
              <a:t>The idea is to enable ETH or ERC-tokens transfers, while retaining Ethereum security </a:t>
            </a:r>
          </a:p>
        </p:txBody>
      </p:sp>
    </p:spTree>
    <p:extLst>
      <p:ext uri="{BB962C8B-B14F-4D97-AF65-F5344CB8AC3E}">
        <p14:creationId xmlns:p14="http://schemas.microsoft.com/office/powerpoint/2010/main" val="3180315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41717-3442-3A93-F179-C6013C86F314}"/>
              </a:ext>
            </a:extLst>
          </p:cNvPr>
          <p:cNvSpPr>
            <a:spLocks noGrp="1"/>
          </p:cNvSpPr>
          <p:nvPr>
            <p:ph type="title"/>
          </p:nvPr>
        </p:nvSpPr>
        <p:spPr/>
        <p:txBody>
          <a:bodyPr/>
          <a:lstStyle/>
          <a:p>
            <a:r>
              <a:rPr lang="en-US" dirty="0"/>
              <a:t>Lock Funds in a Smart Contract</a:t>
            </a:r>
          </a:p>
        </p:txBody>
      </p:sp>
      <p:sp>
        <p:nvSpPr>
          <p:cNvPr id="3" name="Content Placeholder 2">
            <a:extLst>
              <a:ext uri="{FF2B5EF4-FFF2-40B4-BE49-F238E27FC236}">
                <a16:creationId xmlns:a16="http://schemas.microsoft.com/office/drawing/2014/main" id="{AEDEC966-9E8A-1319-027D-600102CF4FBE}"/>
              </a:ext>
            </a:extLst>
          </p:cNvPr>
          <p:cNvSpPr>
            <a:spLocks noGrp="1"/>
          </p:cNvSpPr>
          <p:nvPr>
            <p:ph idx="1"/>
          </p:nvPr>
        </p:nvSpPr>
        <p:spPr>
          <a:xfrm>
            <a:off x="487680" y="1097281"/>
            <a:ext cx="11186160" cy="5481650"/>
          </a:xfrm>
        </p:spPr>
        <p:txBody>
          <a:bodyPr>
            <a:normAutofit fontScale="92500" lnSpcReduction="20000"/>
          </a:bodyPr>
          <a:lstStyle/>
          <a:p>
            <a:r>
              <a:rPr lang="en-US" dirty="0"/>
              <a:t>To develop a solution, the funds (ETH or tokens) must be locked on the Ethereum blockchain</a:t>
            </a:r>
          </a:p>
          <a:p>
            <a:r>
              <a:rPr lang="en-US" dirty="0">
                <a:solidFill>
                  <a:srgbClr val="7030A0"/>
                </a:solidFill>
              </a:rPr>
              <a:t>Any interested user should lock their desired amount of ETH or tokens in a smart contract </a:t>
            </a:r>
          </a:p>
          <a:p>
            <a:pPr lvl="1"/>
            <a:r>
              <a:rPr lang="en-US" dirty="0"/>
              <a:t>It does not matter who deploys this smart contract because once it is on blockchain the code governs its behavior independently </a:t>
            </a:r>
          </a:p>
          <a:p>
            <a:pPr lvl="1"/>
            <a:r>
              <a:rPr lang="en-US" dirty="0"/>
              <a:t>This step is analogous to posting a funding transaction in a payment channel or a channel factory </a:t>
            </a:r>
          </a:p>
          <a:p>
            <a:r>
              <a:rPr lang="en-US" dirty="0">
                <a:solidFill>
                  <a:schemeClr val="accent6">
                    <a:lumMod val="50000"/>
                  </a:schemeClr>
                </a:solidFill>
              </a:rPr>
              <a:t>It is also easier to support many users because</a:t>
            </a:r>
          </a:p>
          <a:p>
            <a:pPr lvl="1"/>
            <a:r>
              <a:rPr lang="en-US" dirty="0">
                <a:solidFill>
                  <a:schemeClr val="accent6">
                    <a:lumMod val="50000"/>
                  </a:schemeClr>
                </a:solidFill>
              </a:rPr>
              <a:t>The smart contract defines all the required rules </a:t>
            </a:r>
          </a:p>
          <a:p>
            <a:pPr lvl="1"/>
            <a:r>
              <a:rPr lang="en-US" dirty="0">
                <a:solidFill>
                  <a:schemeClr val="accent6">
                    <a:lumMod val="50000"/>
                  </a:schemeClr>
                </a:solidFill>
              </a:rPr>
              <a:t>The user enters the rollup by depositing ETH or tokens in the rollup smart contract</a:t>
            </a:r>
          </a:p>
          <a:p>
            <a:pPr lvl="1"/>
            <a:r>
              <a:rPr lang="en-US" dirty="0">
                <a:solidFill>
                  <a:schemeClr val="accent6">
                    <a:lumMod val="50000"/>
                  </a:schemeClr>
                </a:solidFill>
              </a:rPr>
              <a:t>The user exits the rollup by withdrawing ETH or tokens from the same smart contract</a:t>
            </a:r>
          </a:p>
          <a:p>
            <a:pPr lvl="1"/>
            <a:r>
              <a:rPr lang="en-US" dirty="0">
                <a:solidFill>
                  <a:schemeClr val="accent6">
                    <a:lumMod val="50000"/>
                  </a:schemeClr>
                </a:solidFill>
              </a:rPr>
              <a:t>The world state provides a reliable and consistent view of contract’s data</a:t>
            </a:r>
          </a:p>
        </p:txBody>
      </p:sp>
      <p:sp>
        <p:nvSpPr>
          <p:cNvPr id="4" name="Slide Number Placeholder 3">
            <a:extLst>
              <a:ext uri="{FF2B5EF4-FFF2-40B4-BE49-F238E27FC236}">
                <a16:creationId xmlns:a16="http://schemas.microsoft.com/office/drawing/2014/main" id="{8432BE2F-1593-44DC-2204-4A532AA44AC8}"/>
              </a:ext>
            </a:extLst>
          </p:cNvPr>
          <p:cNvSpPr>
            <a:spLocks noGrp="1"/>
          </p:cNvSpPr>
          <p:nvPr>
            <p:ph type="sldNum" sz="quarter" idx="12"/>
          </p:nvPr>
        </p:nvSpPr>
        <p:spPr/>
        <p:txBody>
          <a:bodyPr/>
          <a:lstStyle/>
          <a:p>
            <a:fld id="{D57F1E4F-1CFF-5643-939E-217C01CDF565}" type="slidenum">
              <a:rPr lang="en-US" smtClean="0"/>
              <a:pPr/>
              <a:t>79</a:t>
            </a:fld>
            <a:endParaRPr lang="en-US" dirty="0">
              <a:latin typeface="Candara" panose="020E0502030303020204" pitchFamily="34" charset="0"/>
            </a:endParaRPr>
          </a:p>
        </p:txBody>
      </p:sp>
    </p:spTree>
    <p:extLst>
      <p:ext uri="{BB962C8B-B14F-4D97-AF65-F5344CB8AC3E}">
        <p14:creationId xmlns:p14="http://schemas.microsoft.com/office/powerpoint/2010/main" val="3460784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B82D0-2C7E-E130-2DD7-3C98C19F0504}"/>
              </a:ext>
            </a:extLst>
          </p:cNvPr>
          <p:cNvSpPr>
            <a:spLocks noGrp="1"/>
          </p:cNvSpPr>
          <p:nvPr>
            <p:ph type="title"/>
          </p:nvPr>
        </p:nvSpPr>
        <p:spPr/>
        <p:txBody>
          <a:bodyPr/>
          <a:lstStyle/>
          <a:p>
            <a:r>
              <a:rPr lang="en-US" dirty="0"/>
              <a:t>Off-Chain Transaction Batching</a:t>
            </a:r>
          </a:p>
        </p:txBody>
      </p:sp>
      <p:sp>
        <p:nvSpPr>
          <p:cNvPr id="3" name="Content Placeholder 2">
            <a:extLst>
              <a:ext uri="{FF2B5EF4-FFF2-40B4-BE49-F238E27FC236}">
                <a16:creationId xmlns:a16="http://schemas.microsoft.com/office/drawing/2014/main" id="{3E1B7B4A-E81F-7FD9-AD27-337B0A582363}"/>
              </a:ext>
            </a:extLst>
          </p:cNvPr>
          <p:cNvSpPr>
            <a:spLocks noGrp="1"/>
          </p:cNvSpPr>
          <p:nvPr>
            <p:ph idx="1"/>
          </p:nvPr>
        </p:nvSpPr>
        <p:spPr>
          <a:xfrm>
            <a:off x="487680" y="1097280"/>
            <a:ext cx="11186160" cy="5291488"/>
          </a:xfrm>
        </p:spPr>
        <p:txBody>
          <a:bodyPr>
            <a:normAutofit fontScale="92500" lnSpcReduction="20000"/>
          </a:bodyPr>
          <a:lstStyle/>
          <a:p>
            <a:r>
              <a:rPr lang="en-US" dirty="0"/>
              <a:t>Transaction creation, batching and processing is done off-chain</a:t>
            </a:r>
          </a:p>
          <a:p>
            <a:pPr lvl="1"/>
            <a:r>
              <a:rPr lang="en-US" i="1" dirty="0"/>
              <a:t>A rollup operator </a:t>
            </a:r>
            <a:r>
              <a:rPr lang="en-US" dirty="0"/>
              <a:t>is responsible for receiving, ordering, executing, and batching transactions off-chain</a:t>
            </a:r>
          </a:p>
          <a:p>
            <a:pPr lvl="1"/>
            <a:r>
              <a:rPr lang="en-US" dirty="0"/>
              <a:t>The operator creates a summary of all the state changes that result from these transactions and commits it to Ethereum</a:t>
            </a:r>
          </a:p>
          <a:p>
            <a:r>
              <a:rPr lang="en-US" dirty="0"/>
              <a:t>Off-chain transactions are not Ethereum transactions, instead they have a different format</a:t>
            </a:r>
          </a:p>
          <a:p>
            <a:pPr lvl="1"/>
            <a:r>
              <a:rPr lang="en-US" dirty="0"/>
              <a:t>The </a:t>
            </a:r>
            <a:r>
              <a:rPr lang="en-US"/>
              <a:t>rollup operator posts </a:t>
            </a:r>
            <a:r>
              <a:rPr lang="en-US" dirty="0"/>
              <a:t>the transactions as ‘data’ on Ethereum for security &amp; verification</a:t>
            </a:r>
          </a:p>
          <a:p>
            <a:pPr lvl="1"/>
            <a:r>
              <a:rPr lang="en-US" dirty="0"/>
              <a:t>Traditional method for posting data is through the transaction </a:t>
            </a:r>
            <a:r>
              <a:rPr lang="en-US" dirty="0" err="1"/>
              <a:t>calldata</a:t>
            </a:r>
            <a:r>
              <a:rPr lang="en-US" dirty="0"/>
              <a:t> field, which is the data passed along with a transaction for sending messages to other entities or interact with smart contracts</a:t>
            </a:r>
          </a:p>
          <a:p>
            <a:r>
              <a:rPr lang="en-US" dirty="0" err="1">
                <a:solidFill>
                  <a:srgbClr val="FF0000"/>
                </a:solidFill>
              </a:rPr>
              <a:t>Calldata</a:t>
            </a:r>
            <a:r>
              <a:rPr lang="en-US" dirty="0">
                <a:solidFill>
                  <a:srgbClr val="FF0000"/>
                </a:solidFill>
              </a:rPr>
              <a:t> method is expensive and costs a significant amount of gas</a:t>
            </a:r>
          </a:p>
          <a:p>
            <a:pPr lvl="1"/>
            <a:r>
              <a:rPr lang="en-US" dirty="0">
                <a:solidFill>
                  <a:srgbClr val="FF0000"/>
                </a:solidFill>
              </a:rPr>
              <a:t>4 units for each zero byte </a:t>
            </a:r>
          </a:p>
          <a:p>
            <a:pPr lvl="1"/>
            <a:r>
              <a:rPr lang="en-US" dirty="0">
                <a:solidFill>
                  <a:srgbClr val="FF0000"/>
                </a:solidFill>
              </a:rPr>
              <a:t>16 units for each non-zero byte</a:t>
            </a:r>
          </a:p>
        </p:txBody>
      </p:sp>
      <p:sp>
        <p:nvSpPr>
          <p:cNvPr id="4" name="Slide Number Placeholder 3">
            <a:extLst>
              <a:ext uri="{FF2B5EF4-FFF2-40B4-BE49-F238E27FC236}">
                <a16:creationId xmlns:a16="http://schemas.microsoft.com/office/drawing/2014/main" id="{1E39E639-963B-C0CE-D682-81A05B486FCA}"/>
              </a:ext>
            </a:extLst>
          </p:cNvPr>
          <p:cNvSpPr>
            <a:spLocks noGrp="1"/>
          </p:cNvSpPr>
          <p:nvPr>
            <p:ph type="sldNum" sz="quarter" idx="12"/>
          </p:nvPr>
        </p:nvSpPr>
        <p:spPr/>
        <p:txBody>
          <a:bodyPr/>
          <a:lstStyle/>
          <a:p>
            <a:fld id="{D57F1E4F-1CFF-5643-939E-217C01CDF565}" type="slidenum">
              <a:rPr lang="en-US" smtClean="0"/>
              <a:pPr/>
              <a:t>80</a:t>
            </a:fld>
            <a:endParaRPr lang="en-US" dirty="0">
              <a:latin typeface="Candara" panose="020E0502030303020204" pitchFamily="34" charset="0"/>
            </a:endParaRPr>
          </a:p>
        </p:txBody>
      </p:sp>
    </p:spTree>
    <p:extLst>
      <p:ext uri="{BB962C8B-B14F-4D97-AF65-F5344CB8AC3E}">
        <p14:creationId xmlns:p14="http://schemas.microsoft.com/office/powerpoint/2010/main" val="3174255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1A2C-35DC-2B1A-9158-9DDBAF50D983}"/>
              </a:ext>
            </a:extLst>
          </p:cNvPr>
          <p:cNvSpPr>
            <a:spLocks noGrp="1"/>
          </p:cNvSpPr>
          <p:nvPr>
            <p:ph type="title"/>
          </p:nvPr>
        </p:nvSpPr>
        <p:spPr/>
        <p:txBody>
          <a:bodyPr/>
          <a:lstStyle/>
          <a:p>
            <a:r>
              <a:rPr lang="en-US" dirty="0"/>
              <a:t>Rollups </a:t>
            </a:r>
          </a:p>
        </p:txBody>
      </p:sp>
      <p:sp>
        <p:nvSpPr>
          <p:cNvPr id="4" name="Slide Number Placeholder 3">
            <a:extLst>
              <a:ext uri="{FF2B5EF4-FFF2-40B4-BE49-F238E27FC236}">
                <a16:creationId xmlns:a16="http://schemas.microsoft.com/office/drawing/2014/main" id="{969ACE18-7AF2-10C4-CB69-37F7791895D1}"/>
              </a:ext>
            </a:extLst>
          </p:cNvPr>
          <p:cNvSpPr>
            <a:spLocks noGrp="1"/>
          </p:cNvSpPr>
          <p:nvPr>
            <p:ph type="sldNum" sz="quarter" idx="12"/>
          </p:nvPr>
        </p:nvSpPr>
        <p:spPr/>
        <p:txBody>
          <a:bodyPr/>
          <a:lstStyle/>
          <a:p>
            <a:fld id="{D57F1E4F-1CFF-5643-939E-217C01CDF565}" type="slidenum">
              <a:rPr lang="en-US" smtClean="0"/>
              <a:pPr/>
              <a:t>81</a:t>
            </a:fld>
            <a:endParaRPr lang="en-US" dirty="0">
              <a:latin typeface="Candara" panose="020E0502030303020204" pitchFamily="34" charset="0"/>
            </a:endParaRPr>
          </a:p>
        </p:txBody>
      </p:sp>
      <p:pic>
        <p:nvPicPr>
          <p:cNvPr id="7" name="Picture 6">
            <a:extLst>
              <a:ext uri="{FF2B5EF4-FFF2-40B4-BE49-F238E27FC236}">
                <a16:creationId xmlns:a16="http://schemas.microsoft.com/office/drawing/2014/main" id="{BD4DCEDA-FA8D-D4C2-E3B8-D243009B35BF}"/>
              </a:ext>
            </a:extLst>
          </p:cNvPr>
          <p:cNvPicPr>
            <a:picLocks noChangeAspect="1"/>
          </p:cNvPicPr>
          <p:nvPr/>
        </p:nvPicPr>
        <p:blipFill>
          <a:blip r:embed="rId3"/>
          <a:stretch>
            <a:fillRect/>
          </a:stretch>
        </p:blipFill>
        <p:spPr>
          <a:xfrm>
            <a:off x="1617036" y="1903948"/>
            <a:ext cx="9199354" cy="4555402"/>
          </a:xfrm>
          <a:prstGeom prst="rect">
            <a:avLst/>
          </a:prstGeom>
        </p:spPr>
      </p:pic>
      <p:sp>
        <p:nvSpPr>
          <p:cNvPr id="3" name="TextBox 2">
            <a:extLst>
              <a:ext uri="{FF2B5EF4-FFF2-40B4-BE49-F238E27FC236}">
                <a16:creationId xmlns:a16="http://schemas.microsoft.com/office/drawing/2014/main" id="{255D8A1E-1310-9631-18DD-165EC1D1FF62}"/>
              </a:ext>
            </a:extLst>
          </p:cNvPr>
          <p:cNvSpPr txBox="1"/>
          <p:nvPr/>
        </p:nvSpPr>
        <p:spPr>
          <a:xfrm>
            <a:off x="640879" y="1014928"/>
            <a:ext cx="10881814" cy="769441"/>
          </a:xfrm>
          <a:prstGeom prst="rect">
            <a:avLst/>
          </a:prstGeom>
          <a:noFill/>
        </p:spPr>
        <p:txBody>
          <a:bodyPr wrap="square" rtlCol="0">
            <a:spAutoFit/>
          </a:bodyPr>
          <a:lstStyle/>
          <a:p>
            <a:pPr algn="ctr"/>
            <a:r>
              <a:rPr lang="en-US" sz="2200" dirty="0">
                <a:solidFill>
                  <a:srgbClr val="7030A0"/>
                </a:solidFill>
                <a:latin typeface="Candara" panose="020E0502030303020204" pitchFamily="34" charset="0"/>
              </a:rPr>
              <a:t>Rollups or Ethereum L2 (layer 2) reduce computation on the main Ethereum chain by processing transactions off-chain, offering significant improvements in processing speeds</a:t>
            </a:r>
          </a:p>
        </p:txBody>
      </p:sp>
    </p:spTree>
    <p:extLst>
      <p:ext uri="{BB962C8B-B14F-4D97-AF65-F5344CB8AC3E}">
        <p14:creationId xmlns:p14="http://schemas.microsoft.com/office/powerpoint/2010/main" val="425361865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D16A0-48C5-374D-B032-0252F6E1ADF0}"/>
              </a:ext>
            </a:extLst>
          </p:cNvPr>
          <p:cNvSpPr>
            <a:spLocks noGrp="1"/>
          </p:cNvSpPr>
          <p:nvPr>
            <p:ph type="title"/>
          </p:nvPr>
        </p:nvSpPr>
        <p:spPr/>
        <p:txBody>
          <a:bodyPr/>
          <a:lstStyle/>
          <a:p>
            <a:r>
              <a:rPr lang="en-US" dirty="0"/>
              <a:t>Optimistic Rollup</a:t>
            </a:r>
          </a:p>
        </p:txBody>
      </p:sp>
      <p:sp>
        <p:nvSpPr>
          <p:cNvPr id="4" name="Slide Number Placeholder 3">
            <a:extLst>
              <a:ext uri="{FF2B5EF4-FFF2-40B4-BE49-F238E27FC236}">
                <a16:creationId xmlns:a16="http://schemas.microsoft.com/office/drawing/2014/main" id="{59D5AA08-4BD9-352D-B7BE-D3056EDDB54F}"/>
              </a:ext>
            </a:extLst>
          </p:cNvPr>
          <p:cNvSpPr>
            <a:spLocks noGrp="1"/>
          </p:cNvSpPr>
          <p:nvPr>
            <p:ph type="sldNum" sz="quarter" idx="12"/>
          </p:nvPr>
        </p:nvSpPr>
        <p:spPr/>
        <p:txBody>
          <a:bodyPr/>
          <a:lstStyle/>
          <a:p>
            <a:fld id="{D57F1E4F-1CFF-5643-939E-217C01CDF565}" type="slidenum">
              <a:rPr lang="en-US" smtClean="0"/>
              <a:pPr/>
              <a:t>82</a:t>
            </a:fld>
            <a:endParaRPr lang="en-US" dirty="0">
              <a:latin typeface="Candara" panose="020E0502030303020204" pitchFamily="34" charset="0"/>
            </a:endParaRPr>
          </a:p>
        </p:txBody>
      </p:sp>
      <p:pic>
        <p:nvPicPr>
          <p:cNvPr id="5" name="Picture 4">
            <a:extLst>
              <a:ext uri="{FF2B5EF4-FFF2-40B4-BE49-F238E27FC236}">
                <a16:creationId xmlns:a16="http://schemas.microsoft.com/office/drawing/2014/main" id="{46D01989-6300-29D4-674B-6FA0201AAD0C}"/>
              </a:ext>
            </a:extLst>
          </p:cNvPr>
          <p:cNvPicPr>
            <a:picLocks noChangeAspect="1"/>
          </p:cNvPicPr>
          <p:nvPr/>
        </p:nvPicPr>
        <p:blipFill>
          <a:blip r:embed="rId3"/>
          <a:stretch>
            <a:fillRect/>
          </a:stretch>
        </p:blipFill>
        <p:spPr>
          <a:xfrm>
            <a:off x="950494" y="1808033"/>
            <a:ext cx="6775926" cy="4670093"/>
          </a:xfrm>
          <a:prstGeom prst="rect">
            <a:avLst/>
          </a:prstGeom>
        </p:spPr>
      </p:pic>
      <p:sp>
        <p:nvSpPr>
          <p:cNvPr id="7" name="TextBox 6">
            <a:extLst>
              <a:ext uri="{FF2B5EF4-FFF2-40B4-BE49-F238E27FC236}">
                <a16:creationId xmlns:a16="http://schemas.microsoft.com/office/drawing/2014/main" id="{E04C9297-5771-E88A-6CBD-8E9D08165E2A}"/>
              </a:ext>
            </a:extLst>
          </p:cNvPr>
          <p:cNvSpPr txBox="1"/>
          <p:nvPr/>
        </p:nvSpPr>
        <p:spPr>
          <a:xfrm>
            <a:off x="622634" y="994292"/>
            <a:ext cx="11051206" cy="830997"/>
          </a:xfrm>
          <a:prstGeom prst="rect">
            <a:avLst/>
          </a:prstGeom>
          <a:noFill/>
        </p:spPr>
        <p:txBody>
          <a:bodyPr wrap="square">
            <a:spAutoFit/>
          </a:bodyPr>
          <a:lstStyle/>
          <a:p>
            <a:pPr algn="ctr"/>
            <a:r>
              <a:rPr lang="en-US" sz="2400" dirty="0">
                <a:solidFill>
                  <a:srgbClr val="7030A0"/>
                </a:solidFill>
              </a:rPr>
              <a:t>Optimistic rollups assume every transaction to be valid by default and don’t publish validity proofs</a:t>
            </a:r>
          </a:p>
        </p:txBody>
      </p:sp>
      <p:sp>
        <p:nvSpPr>
          <p:cNvPr id="9" name="TextBox 8">
            <a:extLst>
              <a:ext uri="{FF2B5EF4-FFF2-40B4-BE49-F238E27FC236}">
                <a16:creationId xmlns:a16="http://schemas.microsoft.com/office/drawing/2014/main" id="{C187C383-16D2-D686-42BF-743A890A6F4F}"/>
              </a:ext>
            </a:extLst>
          </p:cNvPr>
          <p:cNvSpPr txBox="1"/>
          <p:nvPr/>
        </p:nvSpPr>
        <p:spPr>
          <a:xfrm>
            <a:off x="7726421" y="2287093"/>
            <a:ext cx="3947420" cy="3785652"/>
          </a:xfrm>
          <a:prstGeom prst="rect">
            <a:avLst/>
          </a:prstGeom>
          <a:noFill/>
        </p:spPr>
        <p:txBody>
          <a:bodyPr wrap="square">
            <a:spAutoFit/>
          </a:bodyPr>
          <a:lstStyle/>
          <a:p>
            <a:pPr marL="285750" indent="-285750">
              <a:buFont typeface="Arial" panose="020B0604020202020204" pitchFamily="34" charset="0"/>
              <a:buChar char="•"/>
            </a:pPr>
            <a:r>
              <a:rPr lang="en-US" sz="2000" dirty="0">
                <a:latin typeface="Candara" panose="020E0502030303020204" pitchFamily="34" charset="0"/>
              </a:rPr>
              <a:t>Optimistic rollups have a challenge period (usually 7 days) during which anyone can create a dispute</a:t>
            </a:r>
          </a:p>
          <a:p>
            <a:pPr marL="285750" indent="-285750">
              <a:buFont typeface="Arial" panose="020B0604020202020204" pitchFamily="34" charset="0"/>
              <a:buChar char="•"/>
            </a:pPr>
            <a:r>
              <a:rPr lang="en-US" sz="2000" dirty="0">
                <a:latin typeface="Candara" panose="020E0502030303020204" pitchFamily="34" charset="0"/>
              </a:rPr>
              <a:t>A fraud proof mechanism is used only to resolve the disputes </a:t>
            </a:r>
          </a:p>
          <a:p>
            <a:pPr marL="285750" indent="-285750">
              <a:buFont typeface="Arial" panose="020B0604020202020204" pitchFamily="34" charset="0"/>
              <a:buChar char="•"/>
            </a:pPr>
            <a:r>
              <a:rPr lang="en-US" sz="2000" dirty="0">
                <a:latin typeface="Candara" panose="020E0502030303020204" pitchFamily="34" charset="0"/>
              </a:rPr>
              <a:t>If successful, the disputed states are rolled back and penalties are also enforced (such as, sequencer blacklisting, stake slashing)</a:t>
            </a:r>
          </a:p>
        </p:txBody>
      </p:sp>
    </p:spTree>
    <p:extLst>
      <p:ext uri="{BB962C8B-B14F-4D97-AF65-F5344CB8AC3E}">
        <p14:creationId xmlns:p14="http://schemas.microsoft.com/office/powerpoint/2010/main" val="1431618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3FFF-91D9-1663-9807-DD7701EC3C43}"/>
              </a:ext>
            </a:extLst>
          </p:cNvPr>
          <p:cNvSpPr>
            <a:spLocks noGrp="1"/>
          </p:cNvSpPr>
          <p:nvPr>
            <p:ph type="title"/>
          </p:nvPr>
        </p:nvSpPr>
        <p:spPr/>
        <p:txBody>
          <a:bodyPr/>
          <a:lstStyle/>
          <a:p>
            <a:r>
              <a:rPr lang="en-US" dirty="0"/>
              <a:t>ZK-Rollup</a:t>
            </a:r>
          </a:p>
        </p:txBody>
      </p:sp>
      <p:sp>
        <p:nvSpPr>
          <p:cNvPr id="4" name="Slide Number Placeholder 3">
            <a:extLst>
              <a:ext uri="{FF2B5EF4-FFF2-40B4-BE49-F238E27FC236}">
                <a16:creationId xmlns:a16="http://schemas.microsoft.com/office/drawing/2014/main" id="{1EA9BD6F-3E52-70E2-2435-646EE9493735}"/>
              </a:ext>
            </a:extLst>
          </p:cNvPr>
          <p:cNvSpPr>
            <a:spLocks noGrp="1"/>
          </p:cNvSpPr>
          <p:nvPr>
            <p:ph type="sldNum" sz="quarter" idx="12"/>
          </p:nvPr>
        </p:nvSpPr>
        <p:spPr/>
        <p:txBody>
          <a:bodyPr/>
          <a:lstStyle/>
          <a:p>
            <a:fld id="{D57F1E4F-1CFF-5643-939E-217C01CDF565}" type="slidenum">
              <a:rPr lang="en-US" smtClean="0"/>
              <a:pPr/>
              <a:t>83</a:t>
            </a:fld>
            <a:endParaRPr lang="en-US" dirty="0">
              <a:latin typeface="Candara" panose="020E0502030303020204" pitchFamily="34" charset="0"/>
            </a:endParaRPr>
          </a:p>
        </p:txBody>
      </p:sp>
      <p:pic>
        <p:nvPicPr>
          <p:cNvPr id="5" name="Picture 4">
            <a:extLst>
              <a:ext uri="{FF2B5EF4-FFF2-40B4-BE49-F238E27FC236}">
                <a16:creationId xmlns:a16="http://schemas.microsoft.com/office/drawing/2014/main" id="{8580E288-E91D-86F6-C13B-A8793111746B}"/>
              </a:ext>
            </a:extLst>
          </p:cNvPr>
          <p:cNvPicPr>
            <a:picLocks noChangeAspect="1"/>
          </p:cNvPicPr>
          <p:nvPr/>
        </p:nvPicPr>
        <p:blipFill>
          <a:blip r:embed="rId3"/>
          <a:stretch>
            <a:fillRect/>
          </a:stretch>
        </p:blipFill>
        <p:spPr>
          <a:xfrm>
            <a:off x="518160" y="1696309"/>
            <a:ext cx="6828363" cy="4705152"/>
          </a:xfrm>
          <a:prstGeom prst="rect">
            <a:avLst/>
          </a:prstGeom>
        </p:spPr>
      </p:pic>
      <p:sp>
        <p:nvSpPr>
          <p:cNvPr id="7" name="TextBox 6">
            <a:extLst>
              <a:ext uri="{FF2B5EF4-FFF2-40B4-BE49-F238E27FC236}">
                <a16:creationId xmlns:a16="http://schemas.microsoft.com/office/drawing/2014/main" id="{4A241CE4-F881-0D2B-70B7-DECE7B9585E3}"/>
              </a:ext>
            </a:extLst>
          </p:cNvPr>
          <p:cNvSpPr txBox="1"/>
          <p:nvPr/>
        </p:nvSpPr>
        <p:spPr>
          <a:xfrm>
            <a:off x="518160" y="984984"/>
            <a:ext cx="11155680" cy="461665"/>
          </a:xfrm>
          <a:prstGeom prst="rect">
            <a:avLst/>
          </a:prstGeom>
          <a:noFill/>
        </p:spPr>
        <p:txBody>
          <a:bodyPr wrap="square">
            <a:spAutoFit/>
          </a:bodyPr>
          <a:lstStyle/>
          <a:p>
            <a:pPr algn="ctr"/>
            <a:r>
              <a:rPr lang="en-US" sz="2400" dirty="0">
                <a:solidFill>
                  <a:srgbClr val="7030A0"/>
                </a:solidFill>
              </a:rPr>
              <a:t>ZK-rollups additionally produce cryptographic proofs during off-chain computations </a:t>
            </a:r>
          </a:p>
        </p:txBody>
      </p:sp>
      <p:sp>
        <p:nvSpPr>
          <p:cNvPr id="9" name="TextBox 8">
            <a:extLst>
              <a:ext uri="{FF2B5EF4-FFF2-40B4-BE49-F238E27FC236}">
                <a16:creationId xmlns:a16="http://schemas.microsoft.com/office/drawing/2014/main" id="{627010D5-1E09-0E33-C8F9-B0AD5617B3CA}"/>
              </a:ext>
            </a:extLst>
          </p:cNvPr>
          <p:cNvSpPr txBox="1"/>
          <p:nvPr/>
        </p:nvSpPr>
        <p:spPr>
          <a:xfrm>
            <a:off x="7615989" y="2776097"/>
            <a:ext cx="4064384" cy="2246769"/>
          </a:xfrm>
          <a:prstGeom prst="rect">
            <a:avLst/>
          </a:prstGeom>
          <a:noFill/>
        </p:spPr>
        <p:txBody>
          <a:bodyPr wrap="square">
            <a:spAutoFit/>
          </a:bodyPr>
          <a:lstStyle/>
          <a:p>
            <a:r>
              <a:rPr lang="en-US" sz="2000" dirty="0">
                <a:latin typeface="Candara" panose="020E0502030303020204" pitchFamily="34" charset="0"/>
              </a:rPr>
              <a:t>The proofs are also posted on-chain to verify that the computations were  performed correctly, and all the state transitions followed the pre-defined rules without revealing the underlying data or the exact computational steps</a:t>
            </a:r>
          </a:p>
        </p:txBody>
      </p:sp>
      <p:sp>
        <p:nvSpPr>
          <p:cNvPr id="10" name="Oval 9">
            <a:extLst>
              <a:ext uri="{FF2B5EF4-FFF2-40B4-BE49-F238E27FC236}">
                <a16:creationId xmlns:a16="http://schemas.microsoft.com/office/drawing/2014/main" id="{5AD2A62F-EAB1-B458-F300-4BA12CB2EAE4}"/>
              </a:ext>
            </a:extLst>
          </p:cNvPr>
          <p:cNvSpPr/>
          <p:nvPr/>
        </p:nvSpPr>
        <p:spPr>
          <a:xfrm>
            <a:off x="4126523" y="3549316"/>
            <a:ext cx="3083169" cy="121025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1326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116F3-CEBC-EA2D-88B8-ABC43C1F23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04AF11-3989-9190-C970-9DBBDA1F3248}"/>
              </a:ext>
            </a:extLst>
          </p:cNvPr>
          <p:cNvSpPr>
            <a:spLocks noGrp="1"/>
          </p:cNvSpPr>
          <p:nvPr>
            <p:ph type="title"/>
          </p:nvPr>
        </p:nvSpPr>
        <p:spPr/>
        <p:txBody>
          <a:bodyPr/>
          <a:lstStyle/>
          <a:p>
            <a:r>
              <a:rPr lang="en-US" dirty="0"/>
              <a:t>How Rollups Guarantee Ethereum Security?</a:t>
            </a:r>
          </a:p>
        </p:txBody>
      </p:sp>
      <p:sp>
        <p:nvSpPr>
          <p:cNvPr id="3" name="Content Placeholder 2">
            <a:extLst>
              <a:ext uri="{FF2B5EF4-FFF2-40B4-BE49-F238E27FC236}">
                <a16:creationId xmlns:a16="http://schemas.microsoft.com/office/drawing/2014/main" id="{C97585F1-F75C-F17C-9D81-566E6A56EE36}"/>
              </a:ext>
            </a:extLst>
          </p:cNvPr>
          <p:cNvSpPr>
            <a:spLocks noGrp="1"/>
          </p:cNvSpPr>
          <p:nvPr>
            <p:ph idx="1"/>
          </p:nvPr>
        </p:nvSpPr>
        <p:spPr>
          <a:xfrm>
            <a:off x="487680" y="1087121"/>
            <a:ext cx="11186160" cy="5361806"/>
          </a:xfrm>
        </p:spPr>
        <p:txBody>
          <a:bodyPr anchor="ctr" anchorCtr="0">
            <a:normAutofit fontScale="92500" lnSpcReduction="10000"/>
          </a:bodyPr>
          <a:lstStyle/>
          <a:p>
            <a:r>
              <a:rPr lang="en-US" sz="2400" dirty="0">
                <a:solidFill>
                  <a:schemeClr val="accent4">
                    <a:lumMod val="75000"/>
                  </a:schemeClr>
                </a:solidFill>
              </a:rPr>
              <a:t>A rollup operator deploys a smart contract on Ethereum, which serves as the main security anchor</a:t>
            </a:r>
          </a:p>
          <a:p>
            <a:r>
              <a:rPr lang="en-US" sz="2400" dirty="0">
                <a:solidFill>
                  <a:srgbClr val="7030A0"/>
                </a:solidFill>
              </a:rPr>
              <a:t>Users lock their funds and tokens in the smart contract</a:t>
            </a:r>
          </a:p>
          <a:p>
            <a:r>
              <a:rPr lang="en-US" sz="2400" dirty="0">
                <a:solidFill>
                  <a:srgbClr val="7030A0"/>
                </a:solidFill>
              </a:rPr>
              <a:t>Users create transactions and submit them to the rollup operator (generally a centralized server)</a:t>
            </a:r>
          </a:p>
          <a:p>
            <a:r>
              <a:rPr lang="en-US" sz="2400" dirty="0">
                <a:solidFill>
                  <a:schemeClr val="accent4">
                    <a:lumMod val="75000"/>
                  </a:schemeClr>
                </a:solidFill>
              </a:rPr>
              <a:t>The rollup aggregates, batches and compresses transactions and ensures data availability </a:t>
            </a:r>
          </a:p>
          <a:p>
            <a:pPr lvl="1"/>
            <a:r>
              <a:rPr lang="en-US" sz="1800" dirty="0">
                <a:solidFill>
                  <a:schemeClr val="accent4">
                    <a:lumMod val="75000"/>
                  </a:schemeClr>
                </a:solidFill>
              </a:rPr>
              <a:t>Keeps a local copy of the data</a:t>
            </a:r>
          </a:p>
          <a:p>
            <a:pPr lvl="1"/>
            <a:r>
              <a:rPr lang="en-US" sz="1800" dirty="0">
                <a:solidFill>
                  <a:schemeClr val="accent4">
                    <a:lumMod val="75000"/>
                  </a:schemeClr>
                </a:solidFill>
              </a:rPr>
              <a:t>Posts data on Ethereum as a data blob – a new and special type of Ethereum transaction introduced to support rollups</a:t>
            </a:r>
          </a:p>
          <a:p>
            <a:r>
              <a:rPr lang="en-US" sz="2400" dirty="0">
                <a:solidFill>
                  <a:schemeClr val="accent4">
                    <a:lumMod val="75000"/>
                  </a:schemeClr>
                </a:solidFill>
              </a:rPr>
              <a:t>The rollup operator executes transactions off-chain and computes the state transitions &amp; posts them on Ethereum </a:t>
            </a:r>
          </a:p>
          <a:p>
            <a:r>
              <a:rPr lang="en-US" sz="2400" dirty="0"/>
              <a:t>In case of ZK-rollup, the validity proofs are also submitted</a:t>
            </a:r>
          </a:p>
          <a:p>
            <a:r>
              <a:rPr lang="en-US" sz="2400" dirty="0">
                <a:solidFill>
                  <a:srgbClr val="FF0000"/>
                </a:solidFill>
              </a:rPr>
              <a:t>In optimistic rollup, if someone detects an incorrect state update, they can create a dispute that triggers a fraud proof mechanism to ensure correctness</a:t>
            </a:r>
          </a:p>
          <a:p>
            <a:r>
              <a:rPr lang="en-US" sz="2400" dirty="0"/>
              <a:t>This process ensures that rollups inherit Ethereum’s security, as the Ethereum smart contract enforces finality and correctness</a:t>
            </a:r>
          </a:p>
        </p:txBody>
      </p:sp>
      <p:sp>
        <p:nvSpPr>
          <p:cNvPr id="4" name="Slide Number Placeholder 3">
            <a:extLst>
              <a:ext uri="{FF2B5EF4-FFF2-40B4-BE49-F238E27FC236}">
                <a16:creationId xmlns:a16="http://schemas.microsoft.com/office/drawing/2014/main" id="{18E18779-11BA-BDCA-CA9A-83A0B2B7C1F8}"/>
              </a:ext>
            </a:extLst>
          </p:cNvPr>
          <p:cNvSpPr>
            <a:spLocks noGrp="1"/>
          </p:cNvSpPr>
          <p:nvPr>
            <p:ph type="sldNum" sz="quarter" idx="12"/>
          </p:nvPr>
        </p:nvSpPr>
        <p:spPr/>
        <p:txBody>
          <a:bodyPr/>
          <a:lstStyle/>
          <a:p>
            <a:fld id="{D57F1E4F-1CFF-5643-939E-217C01CDF565}" type="slidenum">
              <a:rPr lang="en-US" smtClean="0"/>
              <a:pPr/>
              <a:t>84</a:t>
            </a:fld>
            <a:endParaRPr lang="en-US" dirty="0">
              <a:latin typeface="Candara" panose="020E0502030303020204" pitchFamily="34" charset="0"/>
            </a:endParaRPr>
          </a:p>
        </p:txBody>
      </p:sp>
    </p:spTree>
    <p:extLst>
      <p:ext uri="{BB962C8B-B14F-4D97-AF65-F5344CB8AC3E}">
        <p14:creationId xmlns:p14="http://schemas.microsoft.com/office/powerpoint/2010/main" val="2615718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D00BB-8D11-3346-29F8-4B7D14E9597B}"/>
              </a:ext>
            </a:extLst>
          </p:cNvPr>
          <p:cNvSpPr>
            <a:spLocks noGrp="1"/>
          </p:cNvSpPr>
          <p:nvPr>
            <p:ph type="title"/>
          </p:nvPr>
        </p:nvSpPr>
        <p:spPr/>
        <p:txBody>
          <a:bodyPr/>
          <a:lstStyle/>
          <a:p>
            <a:r>
              <a:rPr lang="en-US" dirty="0"/>
              <a:t>Rollup Ecosystem</a:t>
            </a:r>
          </a:p>
        </p:txBody>
      </p:sp>
      <p:sp>
        <p:nvSpPr>
          <p:cNvPr id="4" name="Slide Number Placeholder 3">
            <a:extLst>
              <a:ext uri="{FF2B5EF4-FFF2-40B4-BE49-F238E27FC236}">
                <a16:creationId xmlns:a16="http://schemas.microsoft.com/office/drawing/2014/main" id="{8FD1CF40-4FA6-9EAF-CFB4-4E836D57AC75}"/>
              </a:ext>
            </a:extLst>
          </p:cNvPr>
          <p:cNvSpPr>
            <a:spLocks noGrp="1"/>
          </p:cNvSpPr>
          <p:nvPr>
            <p:ph type="sldNum" sz="quarter" idx="12"/>
          </p:nvPr>
        </p:nvSpPr>
        <p:spPr/>
        <p:txBody>
          <a:bodyPr/>
          <a:lstStyle/>
          <a:p>
            <a:fld id="{D57F1E4F-1CFF-5643-939E-217C01CDF565}" type="slidenum">
              <a:rPr lang="en-US" smtClean="0"/>
              <a:pPr/>
              <a:t>85</a:t>
            </a:fld>
            <a:endParaRPr lang="en-US" dirty="0">
              <a:latin typeface="Candara" panose="020E0502030303020204" pitchFamily="34" charset="0"/>
            </a:endParaRPr>
          </a:p>
        </p:txBody>
      </p:sp>
      <p:pic>
        <p:nvPicPr>
          <p:cNvPr id="6" name="Picture 5">
            <a:extLst>
              <a:ext uri="{FF2B5EF4-FFF2-40B4-BE49-F238E27FC236}">
                <a16:creationId xmlns:a16="http://schemas.microsoft.com/office/drawing/2014/main" id="{B6A73B5F-BE05-9878-B2B8-E52D440F85D5}"/>
              </a:ext>
            </a:extLst>
          </p:cNvPr>
          <p:cNvPicPr>
            <a:picLocks noChangeAspect="1"/>
          </p:cNvPicPr>
          <p:nvPr/>
        </p:nvPicPr>
        <p:blipFill>
          <a:blip r:embed="rId2"/>
          <a:stretch>
            <a:fillRect/>
          </a:stretch>
        </p:blipFill>
        <p:spPr>
          <a:xfrm>
            <a:off x="529382" y="1022443"/>
            <a:ext cx="6526395" cy="5156378"/>
          </a:xfrm>
          <a:prstGeom prst="rect">
            <a:avLst/>
          </a:prstGeom>
        </p:spPr>
      </p:pic>
      <p:sp>
        <p:nvSpPr>
          <p:cNvPr id="8" name="TextBox 7">
            <a:extLst>
              <a:ext uri="{FF2B5EF4-FFF2-40B4-BE49-F238E27FC236}">
                <a16:creationId xmlns:a16="http://schemas.microsoft.com/office/drawing/2014/main" id="{A3D6C4B7-F43A-32C4-D56C-F3DCBC6EFDFB}"/>
              </a:ext>
            </a:extLst>
          </p:cNvPr>
          <p:cNvSpPr txBox="1"/>
          <p:nvPr/>
        </p:nvSpPr>
        <p:spPr>
          <a:xfrm>
            <a:off x="289851" y="6251012"/>
            <a:ext cx="7063541" cy="400110"/>
          </a:xfrm>
          <a:prstGeom prst="rect">
            <a:avLst/>
          </a:prstGeom>
          <a:noFill/>
        </p:spPr>
        <p:txBody>
          <a:bodyPr wrap="square">
            <a:spAutoFit/>
          </a:bodyPr>
          <a:lstStyle/>
          <a:p>
            <a:pPr algn="ctr"/>
            <a:r>
              <a:rPr lang="en-US" sz="1000" dirty="0">
                <a:hlinkClick r:id="rId3"/>
              </a:rPr>
              <a:t>https://blog.mexc.com/news/layer-2-revolution-ethereums-scaling-superstars-in-2025-where-speed-meets-billions-in-tvl/</a:t>
            </a:r>
            <a:r>
              <a:rPr lang="en-US" sz="1000" dirty="0"/>
              <a:t> </a:t>
            </a:r>
          </a:p>
        </p:txBody>
      </p:sp>
      <p:sp>
        <p:nvSpPr>
          <p:cNvPr id="9" name="TextBox 8">
            <a:extLst>
              <a:ext uri="{FF2B5EF4-FFF2-40B4-BE49-F238E27FC236}">
                <a16:creationId xmlns:a16="http://schemas.microsoft.com/office/drawing/2014/main" id="{EC790654-ADFA-A96E-56D8-7E9A9F062199}"/>
              </a:ext>
            </a:extLst>
          </p:cNvPr>
          <p:cNvSpPr txBox="1"/>
          <p:nvPr/>
        </p:nvSpPr>
        <p:spPr>
          <a:xfrm>
            <a:off x="7230979" y="1622352"/>
            <a:ext cx="4449394" cy="4093428"/>
          </a:xfrm>
          <a:prstGeom prst="rect">
            <a:avLst/>
          </a:prstGeom>
          <a:noFill/>
        </p:spPr>
        <p:txBody>
          <a:bodyPr wrap="square" rtlCol="0">
            <a:spAutoFit/>
          </a:bodyPr>
          <a:lstStyle/>
          <a:p>
            <a:pPr marL="285750" indent="-285750" algn="l">
              <a:buFont typeface="Arial" panose="020B0604020202020204" pitchFamily="34" charset="0"/>
              <a:buChar char="•"/>
            </a:pPr>
            <a:r>
              <a:rPr lang="en-US" sz="2000" dirty="0">
                <a:solidFill>
                  <a:srgbClr val="7030A0"/>
                </a:solidFill>
                <a:latin typeface="Candara" panose="020E0502030303020204" pitchFamily="34" charset="0"/>
              </a:rPr>
              <a:t>TVL is the Total value locked in the rollup’s Ethereum smart contract </a:t>
            </a:r>
          </a:p>
          <a:p>
            <a:pPr marL="742950" lvl="1" indent="-285750">
              <a:buFont typeface="Arial" panose="020B0604020202020204" pitchFamily="34" charset="0"/>
              <a:buChar char="•"/>
            </a:pPr>
            <a:r>
              <a:rPr lang="en-US" sz="2000" dirty="0">
                <a:latin typeface="Candara" panose="020E0502030303020204" pitchFamily="34" charset="0"/>
              </a:rPr>
              <a:t>Used as a measure of project’s adoption</a:t>
            </a:r>
          </a:p>
          <a:p>
            <a:pPr marL="285750" indent="-285750" algn="l">
              <a:buFont typeface="Arial" panose="020B0604020202020204" pitchFamily="34" charset="0"/>
              <a:buChar char="•"/>
            </a:pPr>
            <a:r>
              <a:rPr lang="en-US" sz="2000" dirty="0">
                <a:latin typeface="Candara" panose="020E0502030303020204" pitchFamily="34" charset="0"/>
              </a:rPr>
              <a:t>Average Transaction fee is few cents</a:t>
            </a:r>
          </a:p>
          <a:p>
            <a:pPr marL="742950" lvl="1" indent="-285750">
              <a:buFont typeface="Arial" panose="020B0604020202020204" pitchFamily="34" charset="0"/>
              <a:buChar char="•"/>
            </a:pPr>
            <a:r>
              <a:rPr lang="en-US" sz="2000" dirty="0">
                <a:solidFill>
                  <a:srgbClr val="7030A0"/>
                </a:solidFill>
                <a:latin typeface="Candara" panose="020E0502030303020204" pitchFamily="34" charset="0"/>
              </a:rPr>
              <a:t>Optimistic rollups fees are 3x to 8x less than </a:t>
            </a:r>
            <a:r>
              <a:rPr lang="en-US" sz="2000" dirty="0" err="1">
                <a:solidFill>
                  <a:srgbClr val="7030A0"/>
                </a:solidFill>
                <a:latin typeface="Candara" panose="020E0502030303020204" pitchFamily="34" charset="0"/>
              </a:rPr>
              <a:t>Mainent</a:t>
            </a:r>
            <a:endParaRPr lang="en-US" sz="2000" dirty="0">
              <a:solidFill>
                <a:srgbClr val="7030A0"/>
              </a:solidFill>
              <a:latin typeface="Candara" panose="020E0502030303020204" pitchFamily="34" charset="0"/>
            </a:endParaRPr>
          </a:p>
          <a:p>
            <a:pPr marL="742950" lvl="1" indent="-285750">
              <a:buFont typeface="Arial" panose="020B0604020202020204" pitchFamily="34" charset="0"/>
              <a:buChar char="•"/>
            </a:pPr>
            <a:r>
              <a:rPr lang="en-US" sz="2000" dirty="0">
                <a:solidFill>
                  <a:srgbClr val="7030A0"/>
                </a:solidFill>
                <a:latin typeface="Candara" panose="020E0502030303020204" pitchFamily="34" charset="0"/>
              </a:rPr>
              <a:t>ZK-rollups fees are 40x to 100x cheaper than Mainnet due to better data compression </a:t>
            </a:r>
          </a:p>
          <a:p>
            <a:pPr marL="285750" indent="-285750" algn="l">
              <a:buFont typeface="Arial" panose="020B0604020202020204" pitchFamily="34" charset="0"/>
              <a:buChar char="•"/>
            </a:pPr>
            <a:r>
              <a:rPr lang="en-US" sz="2000" dirty="0">
                <a:latin typeface="Candara" panose="020E0502030303020204" pitchFamily="34" charset="0"/>
              </a:rPr>
              <a:t>Ethereum actively supports rollups </a:t>
            </a:r>
          </a:p>
          <a:p>
            <a:pPr marL="742950" lvl="1" indent="-285750">
              <a:buFont typeface="Arial" panose="020B0604020202020204" pitchFamily="34" charset="0"/>
              <a:buChar char="•"/>
            </a:pPr>
            <a:r>
              <a:rPr lang="en-US" sz="2000" dirty="0">
                <a:solidFill>
                  <a:srgbClr val="7030A0"/>
                </a:solidFill>
                <a:latin typeface="Candara" panose="020E0502030303020204" pitchFamily="34" charset="0"/>
              </a:rPr>
              <a:t>Considers them essential for its long-term scalability &amp; growth</a:t>
            </a:r>
          </a:p>
        </p:txBody>
      </p:sp>
    </p:spTree>
    <p:extLst>
      <p:ext uri="{BB962C8B-B14F-4D97-AF65-F5344CB8AC3E}">
        <p14:creationId xmlns:p14="http://schemas.microsoft.com/office/powerpoint/2010/main" val="3116536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D0E3E-4F8F-B01B-6285-4E53F4FDC6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F19918-1557-EE8E-81E5-77815B4BE6E5}"/>
              </a:ext>
            </a:extLst>
          </p:cNvPr>
          <p:cNvSpPr>
            <a:spLocks noGrp="1"/>
          </p:cNvSpPr>
          <p:nvPr>
            <p:ph type="title"/>
          </p:nvPr>
        </p:nvSpPr>
        <p:spPr/>
        <p:txBody>
          <a:bodyPr/>
          <a:lstStyle/>
          <a:p>
            <a:r>
              <a:rPr lang="en-US" dirty="0"/>
              <a:t>EIP-4844: Shard Blob Transactions </a:t>
            </a:r>
          </a:p>
        </p:txBody>
      </p:sp>
      <p:sp>
        <p:nvSpPr>
          <p:cNvPr id="3" name="Content Placeholder 2">
            <a:extLst>
              <a:ext uri="{FF2B5EF4-FFF2-40B4-BE49-F238E27FC236}">
                <a16:creationId xmlns:a16="http://schemas.microsoft.com/office/drawing/2014/main" id="{BD93DF7E-7443-B86C-3E62-8AD2F8EEABF7}"/>
              </a:ext>
            </a:extLst>
          </p:cNvPr>
          <p:cNvSpPr>
            <a:spLocks noGrp="1"/>
          </p:cNvSpPr>
          <p:nvPr>
            <p:ph idx="1"/>
          </p:nvPr>
        </p:nvSpPr>
        <p:spPr>
          <a:xfrm>
            <a:off x="487680" y="976965"/>
            <a:ext cx="11085496" cy="1706078"/>
          </a:xfrm>
        </p:spPr>
        <p:txBody>
          <a:bodyPr anchor="ctr" anchorCtr="0">
            <a:normAutofit fontScale="62500" lnSpcReduction="20000"/>
          </a:bodyPr>
          <a:lstStyle/>
          <a:p>
            <a:r>
              <a:rPr lang="en-US" dirty="0"/>
              <a:t>To reduce the costs of posting data through the transaction </a:t>
            </a:r>
            <a:r>
              <a:rPr lang="en-US" dirty="0" err="1"/>
              <a:t>calldata</a:t>
            </a:r>
            <a:r>
              <a:rPr lang="en-US" dirty="0"/>
              <a:t> field, Ethereum introduced a new transaction type called proto-</a:t>
            </a:r>
            <a:r>
              <a:rPr lang="en-US" dirty="0" err="1"/>
              <a:t>danksharding</a:t>
            </a:r>
            <a:r>
              <a:rPr lang="en-US" dirty="0"/>
              <a:t> or Type 3 transactions in March 2024</a:t>
            </a:r>
          </a:p>
          <a:p>
            <a:r>
              <a:rPr lang="en-US" dirty="0"/>
              <a:t>EIP-4844 transactions are “blob-carrying transactions” or data transactions</a:t>
            </a:r>
          </a:p>
          <a:p>
            <a:r>
              <a:rPr lang="en-US" dirty="0">
                <a:solidFill>
                  <a:srgbClr val="7030A0"/>
                </a:solidFill>
              </a:rPr>
              <a:t>These transactions contain a large amount of data blob that cannot be accessed by EVM execution, but whose commitment can be accessed</a:t>
            </a:r>
          </a:p>
        </p:txBody>
      </p:sp>
      <p:sp>
        <p:nvSpPr>
          <p:cNvPr id="4" name="Slide Number Placeholder 3">
            <a:extLst>
              <a:ext uri="{FF2B5EF4-FFF2-40B4-BE49-F238E27FC236}">
                <a16:creationId xmlns:a16="http://schemas.microsoft.com/office/drawing/2014/main" id="{0764DEEF-B13E-68FC-1E80-CB87D1A4F4D3}"/>
              </a:ext>
            </a:extLst>
          </p:cNvPr>
          <p:cNvSpPr>
            <a:spLocks noGrp="1"/>
          </p:cNvSpPr>
          <p:nvPr>
            <p:ph type="sldNum" sz="quarter" idx="12"/>
          </p:nvPr>
        </p:nvSpPr>
        <p:spPr/>
        <p:txBody>
          <a:bodyPr/>
          <a:lstStyle/>
          <a:p>
            <a:fld id="{D57F1E4F-1CFF-5643-939E-217C01CDF565}" type="slidenum">
              <a:rPr lang="en-US" smtClean="0"/>
              <a:pPr/>
              <a:t>86</a:t>
            </a:fld>
            <a:endParaRPr lang="en-US" dirty="0">
              <a:latin typeface="Candara" panose="020E0502030303020204" pitchFamily="34" charset="0"/>
            </a:endParaRPr>
          </a:p>
        </p:txBody>
      </p:sp>
      <p:sp>
        <p:nvSpPr>
          <p:cNvPr id="6" name="TextBox 5">
            <a:extLst>
              <a:ext uri="{FF2B5EF4-FFF2-40B4-BE49-F238E27FC236}">
                <a16:creationId xmlns:a16="http://schemas.microsoft.com/office/drawing/2014/main" id="{598CD881-8522-5A62-66E0-F84CFCCD56E6}"/>
              </a:ext>
            </a:extLst>
          </p:cNvPr>
          <p:cNvSpPr txBox="1"/>
          <p:nvPr/>
        </p:nvSpPr>
        <p:spPr>
          <a:xfrm>
            <a:off x="8626643" y="3905789"/>
            <a:ext cx="2946534" cy="1477328"/>
          </a:xfrm>
          <a:prstGeom prst="rect">
            <a:avLst/>
          </a:prstGeom>
          <a:noFill/>
        </p:spPr>
        <p:txBody>
          <a:bodyPr wrap="square" rtlCol="0">
            <a:spAutoFit/>
          </a:bodyPr>
          <a:lstStyle/>
          <a:p>
            <a:pPr algn="l"/>
            <a:r>
              <a:rPr lang="en-US" dirty="0">
                <a:latin typeface="Candara" panose="020E0502030303020204" pitchFamily="34" charset="0"/>
              </a:rPr>
              <a:t>Regular </a:t>
            </a:r>
            <a:r>
              <a:rPr lang="en-US" dirty="0" err="1">
                <a:latin typeface="Candara" panose="020E0502030303020204" pitchFamily="34" charset="0"/>
              </a:rPr>
              <a:t>tx</a:t>
            </a:r>
            <a:r>
              <a:rPr lang="en-US" dirty="0">
                <a:latin typeface="Candara" panose="020E0502030303020204" pitchFamily="34" charset="0"/>
              </a:rPr>
              <a:t>: EIP-1559 format (Type 2)</a:t>
            </a:r>
          </a:p>
          <a:p>
            <a:pPr algn="l"/>
            <a:endParaRPr lang="en-US" dirty="0">
              <a:latin typeface="Candara" panose="020E0502030303020204" pitchFamily="34" charset="0"/>
            </a:endParaRPr>
          </a:p>
          <a:p>
            <a:pPr algn="l"/>
            <a:r>
              <a:rPr lang="en-US" dirty="0">
                <a:latin typeface="Candara" panose="020E0502030303020204" pitchFamily="34" charset="0"/>
              </a:rPr>
              <a:t>Data </a:t>
            </a:r>
            <a:r>
              <a:rPr lang="en-US" dirty="0" err="1">
                <a:latin typeface="Candara" panose="020E0502030303020204" pitchFamily="34" charset="0"/>
              </a:rPr>
              <a:t>tx</a:t>
            </a:r>
            <a:r>
              <a:rPr lang="en-US" dirty="0">
                <a:latin typeface="Candara" panose="020E0502030303020204" pitchFamily="34" charset="0"/>
              </a:rPr>
              <a:t>: EIP-4844 format (Type 3)</a:t>
            </a:r>
          </a:p>
        </p:txBody>
      </p:sp>
      <p:grpSp>
        <p:nvGrpSpPr>
          <p:cNvPr id="9" name="Group 8">
            <a:extLst>
              <a:ext uri="{FF2B5EF4-FFF2-40B4-BE49-F238E27FC236}">
                <a16:creationId xmlns:a16="http://schemas.microsoft.com/office/drawing/2014/main" id="{95F76C04-930A-C5E8-A637-12502D49D502}"/>
              </a:ext>
            </a:extLst>
          </p:cNvPr>
          <p:cNvGrpSpPr/>
          <p:nvPr/>
        </p:nvGrpSpPr>
        <p:grpSpPr>
          <a:xfrm>
            <a:off x="487680" y="2683043"/>
            <a:ext cx="7995787" cy="3824908"/>
            <a:chOff x="618824" y="2537528"/>
            <a:chExt cx="8402986" cy="4090738"/>
          </a:xfrm>
        </p:grpSpPr>
        <p:pic>
          <p:nvPicPr>
            <p:cNvPr id="5" name="Picture 4">
              <a:extLst>
                <a:ext uri="{FF2B5EF4-FFF2-40B4-BE49-F238E27FC236}">
                  <a16:creationId xmlns:a16="http://schemas.microsoft.com/office/drawing/2014/main" id="{15C0CF94-6BDA-1DE4-20B5-30D1BDDC943A}"/>
                </a:ext>
              </a:extLst>
            </p:cNvPr>
            <p:cNvPicPr>
              <a:picLocks noChangeAspect="1"/>
            </p:cNvPicPr>
            <p:nvPr/>
          </p:nvPicPr>
          <p:blipFill>
            <a:blip r:embed="rId3"/>
            <a:stretch>
              <a:fillRect/>
            </a:stretch>
          </p:blipFill>
          <p:spPr>
            <a:xfrm>
              <a:off x="618824" y="2537528"/>
              <a:ext cx="8402986" cy="3813739"/>
            </a:xfrm>
            <a:prstGeom prst="rect">
              <a:avLst/>
            </a:prstGeom>
          </p:spPr>
        </p:pic>
        <p:sp>
          <p:nvSpPr>
            <p:cNvPr id="8" name="TextBox 7">
              <a:extLst>
                <a:ext uri="{FF2B5EF4-FFF2-40B4-BE49-F238E27FC236}">
                  <a16:creationId xmlns:a16="http://schemas.microsoft.com/office/drawing/2014/main" id="{508018DE-543F-62DC-29D2-D136E8E0C2B9}"/>
                </a:ext>
              </a:extLst>
            </p:cNvPr>
            <p:cNvSpPr txBox="1"/>
            <p:nvPr/>
          </p:nvSpPr>
          <p:spPr>
            <a:xfrm>
              <a:off x="2773444" y="6351267"/>
              <a:ext cx="4093745" cy="276999"/>
            </a:xfrm>
            <a:prstGeom prst="rect">
              <a:avLst/>
            </a:prstGeom>
            <a:noFill/>
          </p:spPr>
          <p:txBody>
            <a:bodyPr wrap="square">
              <a:spAutoFit/>
            </a:bodyPr>
            <a:lstStyle/>
            <a:p>
              <a:pPr algn="ctr"/>
              <a:r>
                <a:rPr lang="en-US" sz="1200" dirty="0">
                  <a:latin typeface="Candara" panose="020E0502030303020204" pitchFamily="34" charset="0"/>
                  <a:hlinkClick r:id="rId4"/>
                </a:rPr>
                <a:t>https://hacken.io/discover/eip-4844-explained/</a:t>
              </a:r>
              <a:r>
                <a:rPr lang="en-US" sz="1200" dirty="0">
                  <a:latin typeface="Candara" panose="020E0502030303020204" pitchFamily="34" charset="0"/>
                </a:rPr>
                <a:t> </a:t>
              </a:r>
            </a:p>
          </p:txBody>
        </p:sp>
      </p:grpSp>
    </p:spTree>
    <p:extLst>
      <p:ext uri="{BB962C8B-B14F-4D97-AF65-F5344CB8AC3E}">
        <p14:creationId xmlns:p14="http://schemas.microsoft.com/office/powerpoint/2010/main" val="3258579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D5E30-BE48-243F-411D-A2FE41419D6B}"/>
              </a:ext>
            </a:extLst>
          </p:cNvPr>
          <p:cNvSpPr>
            <a:spLocks noGrp="1"/>
          </p:cNvSpPr>
          <p:nvPr>
            <p:ph type="title"/>
          </p:nvPr>
        </p:nvSpPr>
        <p:spPr/>
        <p:txBody>
          <a:bodyPr/>
          <a:lstStyle/>
          <a:p>
            <a:r>
              <a:rPr lang="en-US" dirty="0"/>
              <a:t>Data Blobs</a:t>
            </a:r>
          </a:p>
        </p:txBody>
      </p:sp>
      <p:sp>
        <p:nvSpPr>
          <p:cNvPr id="4" name="Slide Number Placeholder 3">
            <a:extLst>
              <a:ext uri="{FF2B5EF4-FFF2-40B4-BE49-F238E27FC236}">
                <a16:creationId xmlns:a16="http://schemas.microsoft.com/office/drawing/2014/main" id="{287CF7C6-8BE4-4414-F671-CEF378683DE3}"/>
              </a:ext>
            </a:extLst>
          </p:cNvPr>
          <p:cNvSpPr>
            <a:spLocks noGrp="1"/>
          </p:cNvSpPr>
          <p:nvPr>
            <p:ph type="sldNum" sz="quarter" idx="12"/>
          </p:nvPr>
        </p:nvSpPr>
        <p:spPr/>
        <p:txBody>
          <a:bodyPr/>
          <a:lstStyle/>
          <a:p>
            <a:fld id="{D57F1E4F-1CFF-5643-939E-217C01CDF565}" type="slidenum">
              <a:rPr lang="en-US" smtClean="0"/>
              <a:pPr/>
              <a:t>87</a:t>
            </a:fld>
            <a:endParaRPr lang="en-US" dirty="0">
              <a:latin typeface="Candara" panose="020E0502030303020204" pitchFamily="34" charset="0"/>
            </a:endParaRPr>
          </a:p>
        </p:txBody>
      </p:sp>
      <p:pic>
        <p:nvPicPr>
          <p:cNvPr id="5" name="Picture 4">
            <a:extLst>
              <a:ext uri="{FF2B5EF4-FFF2-40B4-BE49-F238E27FC236}">
                <a16:creationId xmlns:a16="http://schemas.microsoft.com/office/drawing/2014/main" id="{5271B7A6-7573-727A-7072-CECBC746A430}"/>
              </a:ext>
            </a:extLst>
          </p:cNvPr>
          <p:cNvPicPr>
            <a:picLocks noChangeAspect="1"/>
          </p:cNvPicPr>
          <p:nvPr/>
        </p:nvPicPr>
        <p:blipFill>
          <a:blip r:embed="rId2"/>
          <a:stretch>
            <a:fillRect/>
          </a:stretch>
        </p:blipFill>
        <p:spPr>
          <a:xfrm>
            <a:off x="487680" y="1229360"/>
            <a:ext cx="1595150" cy="1595150"/>
          </a:xfrm>
          <a:prstGeom prst="rect">
            <a:avLst/>
          </a:prstGeom>
        </p:spPr>
      </p:pic>
      <p:pic>
        <p:nvPicPr>
          <p:cNvPr id="7" name="Picture 6">
            <a:extLst>
              <a:ext uri="{FF2B5EF4-FFF2-40B4-BE49-F238E27FC236}">
                <a16:creationId xmlns:a16="http://schemas.microsoft.com/office/drawing/2014/main" id="{0C5695DB-40B5-5218-FEDD-514688A18747}"/>
              </a:ext>
            </a:extLst>
          </p:cNvPr>
          <p:cNvPicPr>
            <a:picLocks noChangeAspect="1"/>
          </p:cNvPicPr>
          <p:nvPr/>
        </p:nvPicPr>
        <p:blipFill>
          <a:blip r:embed="rId3"/>
          <a:stretch>
            <a:fillRect/>
          </a:stretch>
        </p:blipFill>
        <p:spPr>
          <a:xfrm>
            <a:off x="1775349" y="2966751"/>
            <a:ext cx="8641301" cy="1228928"/>
          </a:xfrm>
          <a:prstGeom prst="rect">
            <a:avLst/>
          </a:prstGeom>
        </p:spPr>
      </p:pic>
      <p:sp>
        <p:nvSpPr>
          <p:cNvPr id="9" name="TextBox 8">
            <a:extLst>
              <a:ext uri="{FF2B5EF4-FFF2-40B4-BE49-F238E27FC236}">
                <a16:creationId xmlns:a16="http://schemas.microsoft.com/office/drawing/2014/main" id="{E74CD84A-06FE-98F6-6637-5037CF2CB7EA}"/>
              </a:ext>
            </a:extLst>
          </p:cNvPr>
          <p:cNvSpPr txBox="1"/>
          <p:nvPr/>
        </p:nvSpPr>
        <p:spPr>
          <a:xfrm>
            <a:off x="2213810" y="1329647"/>
            <a:ext cx="9363775" cy="1200329"/>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Candara" panose="020E0502030303020204" pitchFamily="34" charset="0"/>
              </a:rPr>
              <a:t>Each data transaction has a data blob (raw data) </a:t>
            </a:r>
          </a:p>
          <a:p>
            <a:pPr marL="342900" indent="-342900">
              <a:buFont typeface="Arial" panose="020B0604020202020204" pitchFamily="34" charset="0"/>
              <a:buChar char="•"/>
            </a:pPr>
            <a:r>
              <a:rPr lang="en-US" sz="2400" dirty="0">
                <a:latin typeface="Candara" panose="020E0502030303020204" pitchFamily="34" charset="0"/>
              </a:rPr>
              <a:t>The maximum size of blob transaction is 128 KiB (131,072 bytes) </a:t>
            </a:r>
          </a:p>
          <a:p>
            <a:pPr marL="342900" indent="-342900">
              <a:buFont typeface="Arial" panose="020B0604020202020204" pitchFamily="34" charset="0"/>
              <a:buChar char="•"/>
            </a:pPr>
            <a:r>
              <a:rPr lang="en-US" sz="2400" dirty="0">
                <a:latin typeface="Candara" panose="020E0502030303020204" pitchFamily="34" charset="0"/>
              </a:rPr>
              <a:t>A maximum of 6 data transactions can be attached to a block</a:t>
            </a:r>
          </a:p>
        </p:txBody>
      </p:sp>
      <p:sp>
        <p:nvSpPr>
          <p:cNvPr id="13" name="TextBox 12">
            <a:extLst>
              <a:ext uri="{FF2B5EF4-FFF2-40B4-BE49-F238E27FC236}">
                <a16:creationId xmlns:a16="http://schemas.microsoft.com/office/drawing/2014/main" id="{E1C2402F-2819-33E9-3E9C-09EE29F00E76}"/>
              </a:ext>
            </a:extLst>
          </p:cNvPr>
          <p:cNvSpPr txBox="1"/>
          <p:nvPr/>
        </p:nvSpPr>
        <p:spPr>
          <a:xfrm>
            <a:off x="502917" y="4626997"/>
            <a:ext cx="11186159" cy="461665"/>
          </a:xfrm>
          <a:prstGeom prst="rect">
            <a:avLst/>
          </a:prstGeom>
          <a:noFill/>
        </p:spPr>
        <p:txBody>
          <a:bodyPr wrap="square">
            <a:spAutoFit/>
          </a:bodyPr>
          <a:lstStyle/>
          <a:p>
            <a:pPr algn="ctr"/>
            <a:r>
              <a:rPr lang="en-US" sz="2400" dirty="0">
                <a:latin typeface="Candara" panose="020E0502030303020204" pitchFamily="34" charset="0"/>
              </a:rPr>
              <a:t>This approach provides a maximum increase in data bandwidth of around 768KiB</a:t>
            </a:r>
          </a:p>
        </p:txBody>
      </p:sp>
      <p:sp>
        <p:nvSpPr>
          <p:cNvPr id="15" name="TextBox 14">
            <a:extLst>
              <a:ext uri="{FF2B5EF4-FFF2-40B4-BE49-F238E27FC236}">
                <a16:creationId xmlns:a16="http://schemas.microsoft.com/office/drawing/2014/main" id="{4E27D06E-F799-D356-596A-EA248044D224}"/>
              </a:ext>
            </a:extLst>
          </p:cNvPr>
          <p:cNvSpPr txBox="1"/>
          <p:nvPr/>
        </p:nvSpPr>
        <p:spPr>
          <a:xfrm>
            <a:off x="535807" y="5325964"/>
            <a:ext cx="11089905" cy="1015663"/>
          </a:xfrm>
          <a:prstGeom prst="rect">
            <a:avLst/>
          </a:prstGeom>
          <a:noFill/>
        </p:spPr>
        <p:txBody>
          <a:bodyPr wrap="square">
            <a:spAutoFit/>
          </a:bodyPr>
          <a:lstStyle/>
          <a:p>
            <a:pPr marL="342900" indent="-342900">
              <a:buFont typeface="Arial" panose="020B0604020202020204" pitchFamily="34" charset="0"/>
              <a:buChar char="•"/>
            </a:pPr>
            <a:r>
              <a:rPr lang="en-US" sz="2000" dirty="0">
                <a:solidFill>
                  <a:schemeClr val="accent6">
                    <a:lumMod val="50000"/>
                  </a:schemeClr>
                </a:solidFill>
                <a:latin typeface="Candara" panose="020E0502030303020204" pitchFamily="34" charset="0"/>
              </a:rPr>
              <a:t>Blob gas price is set extremely low (1 </a:t>
            </a:r>
            <a:r>
              <a:rPr lang="en-US" sz="2000" dirty="0" err="1">
                <a:solidFill>
                  <a:schemeClr val="accent6">
                    <a:lumMod val="50000"/>
                  </a:schemeClr>
                </a:solidFill>
                <a:latin typeface="Candara" panose="020E0502030303020204" pitchFamily="34" charset="0"/>
              </a:rPr>
              <a:t>wei</a:t>
            </a:r>
            <a:r>
              <a:rPr lang="en-US" sz="2000" dirty="0">
                <a:solidFill>
                  <a:schemeClr val="accent6">
                    <a:lumMod val="50000"/>
                  </a:schemeClr>
                </a:solidFill>
                <a:latin typeface="Candara" panose="020E0502030303020204" pitchFamily="34" charset="0"/>
              </a:rPr>
              <a:t> per gas unit) </a:t>
            </a:r>
          </a:p>
          <a:p>
            <a:pPr marL="342900" indent="-342900">
              <a:buFont typeface="Arial" panose="020B0604020202020204" pitchFamily="34" charset="0"/>
              <a:buChar char="•"/>
            </a:pPr>
            <a:r>
              <a:rPr lang="en-US" sz="2000" dirty="0">
                <a:solidFill>
                  <a:schemeClr val="accent6">
                    <a:lumMod val="50000"/>
                  </a:schemeClr>
                </a:solidFill>
                <a:latin typeface="Candara" panose="020E0502030303020204" pitchFamily="34" charset="0"/>
              </a:rPr>
              <a:t>Blob transactions are significantly cheaper than posting an equivalent amount of data via </a:t>
            </a:r>
            <a:r>
              <a:rPr lang="en-US" sz="2000" dirty="0" err="1">
                <a:solidFill>
                  <a:schemeClr val="accent6">
                    <a:lumMod val="50000"/>
                  </a:schemeClr>
                </a:solidFill>
                <a:latin typeface="Candara" panose="020E0502030303020204" pitchFamily="34" charset="0"/>
              </a:rPr>
              <a:t>calldata</a:t>
            </a:r>
            <a:r>
              <a:rPr lang="en-US" sz="2000" dirty="0">
                <a:solidFill>
                  <a:schemeClr val="accent6">
                    <a:lumMod val="50000"/>
                  </a:schemeClr>
                </a:solidFill>
                <a:latin typeface="Candara" panose="020E0502030303020204" pitchFamily="34" charset="0"/>
              </a:rPr>
              <a:t> method </a:t>
            </a:r>
          </a:p>
        </p:txBody>
      </p:sp>
    </p:spTree>
    <p:extLst>
      <p:ext uri="{BB962C8B-B14F-4D97-AF65-F5344CB8AC3E}">
        <p14:creationId xmlns:p14="http://schemas.microsoft.com/office/powerpoint/2010/main" val="2279699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4720E-95DC-074E-6578-9D1727D2F8D4}"/>
              </a:ext>
            </a:extLst>
          </p:cNvPr>
          <p:cNvSpPr>
            <a:spLocks noGrp="1"/>
          </p:cNvSpPr>
          <p:nvPr>
            <p:ph type="title"/>
          </p:nvPr>
        </p:nvSpPr>
        <p:spPr/>
        <p:txBody>
          <a:bodyPr/>
          <a:lstStyle/>
          <a:p>
            <a:r>
              <a:rPr lang="en-US" dirty="0"/>
              <a:t>Blob Transaction Example</a:t>
            </a:r>
          </a:p>
        </p:txBody>
      </p:sp>
      <p:sp>
        <p:nvSpPr>
          <p:cNvPr id="4" name="Slide Number Placeholder 3">
            <a:extLst>
              <a:ext uri="{FF2B5EF4-FFF2-40B4-BE49-F238E27FC236}">
                <a16:creationId xmlns:a16="http://schemas.microsoft.com/office/drawing/2014/main" id="{135B25AE-BB93-0F22-7143-E6C6FA314D04}"/>
              </a:ext>
            </a:extLst>
          </p:cNvPr>
          <p:cNvSpPr>
            <a:spLocks noGrp="1"/>
          </p:cNvSpPr>
          <p:nvPr>
            <p:ph type="sldNum" sz="quarter" idx="12"/>
          </p:nvPr>
        </p:nvSpPr>
        <p:spPr/>
        <p:txBody>
          <a:bodyPr/>
          <a:lstStyle/>
          <a:p>
            <a:fld id="{D57F1E4F-1CFF-5643-939E-217C01CDF565}" type="slidenum">
              <a:rPr lang="en-US" smtClean="0"/>
              <a:pPr/>
              <a:t>88</a:t>
            </a:fld>
            <a:endParaRPr lang="en-US" dirty="0">
              <a:latin typeface="Candara" panose="020E0502030303020204" pitchFamily="34" charset="0"/>
            </a:endParaRPr>
          </a:p>
        </p:txBody>
      </p:sp>
      <p:pic>
        <p:nvPicPr>
          <p:cNvPr id="6" name="Picture 5">
            <a:extLst>
              <a:ext uri="{FF2B5EF4-FFF2-40B4-BE49-F238E27FC236}">
                <a16:creationId xmlns:a16="http://schemas.microsoft.com/office/drawing/2014/main" id="{AF954718-3163-43B6-DA6A-DF4C3015312C}"/>
              </a:ext>
            </a:extLst>
          </p:cNvPr>
          <p:cNvPicPr>
            <a:picLocks noChangeAspect="1"/>
          </p:cNvPicPr>
          <p:nvPr/>
        </p:nvPicPr>
        <p:blipFill>
          <a:blip r:embed="rId3"/>
          <a:stretch>
            <a:fillRect/>
          </a:stretch>
        </p:blipFill>
        <p:spPr>
          <a:xfrm>
            <a:off x="487680" y="1237649"/>
            <a:ext cx="7056120" cy="4869022"/>
          </a:xfrm>
          <a:prstGeom prst="rect">
            <a:avLst/>
          </a:prstGeom>
        </p:spPr>
      </p:pic>
      <p:sp>
        <p:nvSpPr>
          <p:cNvPr id="8" name="TextBox 7">
            <a:extLst>
              <a:ext uri="{FF2B5EF4-FFF2-40B4-BE49-F238E27FC236}">
                <a16:creationId xmlns:a16="http://schemas.microsoft.com/office/drawing/2014/main" id="{B41D7CCF-0022-80E8-41AF-4C256FE55AD5}"/>
              </a:ext>
            </a:extLst>
          </p:cNvPr>
          <p:cNvSpPr txBox="1"/>
          <p:nvPr/>
        </p:nvSpPr>
        <p:spPr>
          <a:xfrm>
            <a:off x="7543800" y="1659353"/>
            <a:ext cx="4327975" cy="4093428"/>
          </a:xfrm>
          <a:prstGeom prst="rect">
            <a:avLst/>
          </a:prstGeom>
          <a:noFill/>
        </p:spPr>
        <p:txBody>
          <a:bodyPr wrap="square" rtlCol="0">
            <a:spAutoFit/>
          </a:bodyPr>
          <a:lstStyle/>
          <a:p>
            <a:pPr marL="285750" indent="-285750" algn="l">
              <a:buFont typeface="Arial" panose="020B0604020202020204" pitchFamily="34" charset="0"/>
              <a:buChar char="•"/>
            </a:pPr>
            <a:r>
              <a:rPr lang="en-US" sz="2000" dirty="0">
                <a:latin typeface="Candara" panose="020E0502030303020204" pitchFamily="34" charset="0"/>
              </a:rPr>
              <a:t>The ‘To’ field points to the rollup’s L1 smart contract that receives and records the blob commitments</a:t>
            </a:r>
          </a:p>
          <a:p>
            <a:pPr marL="285750" indent="-285750" algn="l">
              <a:buFont typeface="Arial" panose="020B0604020202020204" pitchFamily="34" charset="0"/>
              <a:buChar char="•"/>
            </a:pPr>
            <a:r>
              <a:rPr lang="en-US" sz="2000" dirty="0">
                <a:solidFill>
                  <a:schemeClr val="accent6">
                    <a:lumMod val="50000"/>
                  </a:schemeClr>
                </a:solidFill>
                <a:latin typeface="Candara" panose="020E0502030303020204" pitchFamily="34" charset="0"/>
              </a:rPr>
              <a:t>A single blob always consumes about 131,072 blob-gas units, regardless of how much of the 128 KiB is actually used</a:t>
            </a:r>
          </a:p>
          <a:p>
            <a:pPr marL="285750" indent="-285750" algn="l">
              <a:buFont typeface="Arial" panose="020B0604020202020204" pitchFamily="34" charset="0"/>
              <a:buChar char="•"/>
            </a:pPr>
            <a:r>
              <a:rPr lang="en-US" sz="2000" dirty="0">
                <a:solidFill>
                  <a:srgbClr val="FF0000"/>
                </a:solidFill>
                <a:latin typeface="Candara" panose="020E0502030303020204" pitchFamily="34" charset="0"/>
              </a:rPr>
              <a:t>Before blobs (pre-EIP-4844), rollups posted their L2 data as transaction </a:t>
            </a:r>
            <a:r>
              <a:rPr lang="en-US" sz="2000" dirty="0" err="1">
                <a:solidFill>
                  <a:srgbClr val="FF0000"/>
                </a:solidFill>
                <a:latin typeface="Candara" panose="020E0502030303020204" pitchFamily="34" charset="0"/>
              </a:rPr>
              <a:t>calldata</a:t>
            </a:r>
            <a:r>
              <a:rPr lang="en-US" sz="2000" dirty="0">
                <a:solidFill>
                  <a:srgbClr val="FF0000"/>
                </a:solidFill>
                <a:latin typeface="Candara" panose="020E0502030303020204" pitchFamily="34" charset="0"/>
              </a:rPr>
              <a:t>, which was far more expensive and permanently stored on Ethereum, causing long-term chain bloat</a:t>
            </a:r>
          </a:p>
        </p:txBody>
      </p:sp>
      <p:sp>
        <p:nvSpPr>
          <p:cNvPr id="5" name="TextBox 4">
            <a:extLst>
              <a:ext uri="{FF2B5EF4-FFF2-40B4-BE49-F238E27FC236}">
                <a16:creationId xmlns:a16="http://schemas.microsoft.com/office/drawing/2014/main" id="{4A9C71C6-2B4E-6255-67AF-A8E091179A93}"/>
              </a:ext>
            </a:extLst>
          </p:cNvPr>
          <p:cNvSpPr txBox="1"/>
          <p:nvPr/>
        </p:nvSpPr>
        <p:spPr>
          <a:xfrm>
            <a:off x="2716129" y="6325014"/>
            <a:ext cx="6106026" cy="253916"/>
          </a:xfrm>
          <a:prstGeom prst="rect">
            <a:avLst/>
          </a:prstGeom>
          <a:noFill/>
        </p:spPr>
        <p:txBody>
          <a:bodyPr wrap="square">
            <a:spAutoFit/>
          </a:bodyPr>
          <a:lstStyle/>
          <a:p>
            <a:r>
              <a:rPr lang="en-US" sz="1050" dirty="0">
                <a:latin typeface="Candara" panose="020E0502030303020204" pitchFamily="34" charset="0"/>
                <a:hlinkClick r:id="rId4"/>
              </a:rPr>
              <a:t>https://blobscan.com/tx/0x2a0353844c354ead92379cd6b63b2594634ed86239e10f43fb83963de22a6067</a:t>
            </a:r>
            <a:r>
              <a:rPr lang="en-US" sz="1050" dirty="0">
                <a:latin typeface="Candara" panose="020E0502030303020204" pitchFamily="34" charset="0"/>
              </a:rPr>
              <a:t>  </a:t>
            </a:r>
          </a:p>
        </p:txBody>
      </p:sp>
      <p:sp>
        <p:nvSpPr>
          <p:cNvPr id="7" name="Oval 6">
            <a:extLst>
              <a:ext uri="{FF2B5EF4-FFF2-40B4-BE49-F238E27FC236}">
                <a16:creationId xmlns:a16="http://schemas.microsoft.com/office/drawing/2014/main" id="{9F5D13C4-78B2-C6AC-DC05-5B53C1BC5F67}"/>
              </a:ext>
            </a:extLst>
          </p:cNvPr>
          <p:cNvSpPr/>
          <p:nvPr/>
        </p:nvSpPr>
        <p:spPr>
          <a:xfrm>
            <a:off x="320225" y="3152274"/>
            <a:ext cx="5775775" cy="39704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78DE23B-8F01-3616-E2E1-D257FA6F6123}"/>
              </a:ext>
            </a:extLst>
          </p:cNvPr>
          <p:cNvSpPr/>
          <p:nvPr/>
        </p:nvSpPr>
        <p:spPr>
          <a:xfrm>
            <a:off x="320225" y="4882135"/>
            <a:ext cx="6417459" cy="39704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0249148C-23C3-13D3-8466-B81033899477}"/>
              </a:ext>
            </a:extLst>
          </p:cNvPr>
          <p:cNvSpPr/>
          <p:nvPr/>
        </p:nvSpPr>
        <p:spPr>
          <a:xfrm>
            <a:off x="402441" y="5454368"/>
            <a:ext cx="6417459" cy="39704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3837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1"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6079A-197F-D22C-FF85-D4F29695904D}"/>
              </a:ext>
            </a:extLst>
          </p:cNvPr>
          <p:cNvSpPr>
            <a:spLocks noGrp="1"/>
          </p:cNvSpPr>
          <p:nvPr>
            <p:ph type="title"/>
          </p:nvPr>
        </p:nvSpPr>
        <p:spPr/>
        <p:txBody>
          <a:bodyPr/>
          <a:lstStyle/>
          <a:p>
            <a:r>
              <a:rPr lang="en-US" dirty="0"/>
              <a:t>Blobs are not Stored Permanently </a:t>
            </a:r>
          </a:p>
        </p:txBody>
      </p:sp>
      <p:sp>
        <p:nvSpPr>
          <p:cNvPr id="3" name="Content Placeholder 2">
            <a:extLst>
              <a:ext uri="{FF2B5EF4-FFF2-40B4-BE49-F238E27FC236}">
                <a16:creationId xmlns:a16="http://schemas.microsoft.com/office/drawing/2014/main" id="{EBE1209C-8A1E-5E18-9CA9-12C1B79EE47C}"/>
              </a:ext>
            </a:extLst>
          </p:cNvPr>
          <p:cNvSpPr>
            <a:spLocks noGrp="1"/>
          </p:cNvSpPr>
          <p:nvPr>
            <p:ph idx="1"/>
          </p:nvPr>
        </p:nvSpPr>
        <p:spPr>
          <a:xfrm>
            <a:off x="487680" y="1087120"/>
            <a:ext cx="10954352" cy="2823143"/>
          </a:xfrm>
        </p:spPr>
        <p:txBody>
          <a:bodyPr anchor="ctr" anchorCtr="0">
            <a:normAutofit lnSpcReduction="10000"/>
          </a:bodyPr>
          <a:lstStyle/>
          <a:p>
            <a:r>
              <a:rPr lang="en-US" sz="2400" dirty="0">
                <a:solidFill>
                  <a:srgbClr val="FF0000"/>
                </a:solidFill>
              </a:rPr>
              <a:t>The blobs are temporarily stored in the beacon chain by the consensus nodes for around 18 to 21 days before being pruned</a:t>
            </a:r>
          </a:p>
          <a:p>
            <a:r>
              <a:rPr lang="en-US" sz="2400" dirty="0">
                <a:solidFill>
                  <a:srgbClr val="7030A0"/>
                </a:solidFill>
              </a:rPr>
              <a:t>After pruning, the blob data is removed and it is only represented by it’s KZG commitment (a small cryptographic hash) that was included in its corresponding data transaction </a:t>
            </a:r>
          </a:p>
          <a:p>
            <a:r>
              <a:rPr lang="en-US" sz="2400" dirty="0"/>
              <a:t>This design significantly improves gas efficiency by separating blob data from the main execution layer, avoiding the high gas costs of permanently storing large amounts of data on-chain</a:t>
            </a:r>
          </a:p>
        </p:txBody>
      </p:sp>
      <p:sp>
        <p:nvSpPr>
          <p:cNvPr id="4" name="Slide Number Placeholder 3">
            <a:extLst>
              <a:ext uri="{FF2B5EF4-FFF2-40B4-BE49-F238E27FC236}">
                <a16:creationId xmlns:a16="http://schemas.microsoft.com/office/drawing/2014/main" id="{9BAB259E-72F3-2696-8C67-B919C1409647}"/>
              </a:ext>
            </a:extLst>
          </p:cNvPr>
          <p:cNvSpPr>
            <a:spLocks noGrp="1"/>
          </p:cNvSpPr>
          <p:nvPr>
            <p:ph type="sldNum" sz="quarter" idx="12"/>
          </p:nvPr>
        </p:nvSpPr>
        <p:spPr/>
        <p:txBody>
          <a:bodyPr/>
          <a:lstStyle/>
          <a:p>
            <a:fld id="{D57F1E4F-1CFF-5643-939E-217C01CDF565}" type="slidenum">
              <a:rPr lang="en-US" smtClean="0"/>
              <a:pPr/>
              <a:t>89</a:t>
            </a:fld>
            <a:endParaRPr lang="en-US" dirty="0">
              <a:latin typeface="Candara" panose="020E0502030303020204" pitchFamily="34" charset="0"/>
            </a:endParaRPr>
          </a:p>
        </p:txBody>
      </p:sp>
      <p:sp>
        <p:nvSpPr>
          <p:cNvPr id="6" name="TextBox 5">
            <a:extLst>
              <a:ext uri="{FF2B5EF4-FFF2-40B4-BE49-F238E27FC236}">
                <a16:creationId xmlns:a16="http://schemas.microsoft.com/office/drawing/2014/main" id="{A7D164FC-629B-D997-A6D2-F966BE5AA1D3}"/>
              </a:ext>
            </a:extLst>
          </p:cNvPr>
          <p:cNvSpPr txBox="1"/>
          <p:nvPr/>
        </p:nvSpPr>
        <p:spPr>
          <a:xfrm>
            <a:off x="487680" y="4177638"/>
            <a:ext cx="11186160" cy="461665"/>
          </a:xfrm>
          <a:prstGeom prst="rect">
            <a:avLst/>
          </a:prstGeom>
          <a:solidFill>
            <a:srgbClr val="FF0000"/>
          </a:solidFill>
        </p:spPr>
        <p:txBody>
          <a:bodyPr wrap="square">
            <a:spAutoFit/>
          </a:bodyPr>
          <a:lstStyle/>
          <a:p>
            <a:pPr algn="ctr"/>
            <a:r>
              <a:rPr lang="en-US" sz="2400" dirty="0">
                <a:solidFill>
                  <a:schemeClr val="bg1"/>
                </a:solidFill>
                <a:latin typeface="Candara" panose="020E0502030303020204" pitchFamily="34" charset="0"/>
              </a:rPr>
              <a:t>Pruning blob data undermines the idea of permanent blockchain history</a:t>
            </a:r>
          </a:p>
        </p:txBody>
      </p:sp>
      <p:sp>
        <p:nvSpPr>
          <p:cNvPr id="7" name="TextBox 6">
            <a:extLst>
              <a:ext uri="{FF2B5EF4-FFF2-40B4-BE49-F238E27FC236}">
                <a16:creationId xmlns:a16="http://schemas.microsoft.com/office/drawing/2014/main" id="{0FCE0F8C-2905-A21A-9FF5-14F30D03CBDF}"/>
              </a:ext>
            </a:extLst>
          </p:cNvPr>
          <p:cNvSpPr txBox="1"/>
          <p:nvPr/>
        </p:nvSpPr>
        <p:spPr>
          <a:xfrm>
            <a:off x="502920" y="5008952"/>
            <a:ext cx="11186160" cy="1200329"/>
          </a:xfrm>
          <a:prstGeom prst="rect">
            <a:avLst/>
          </a:prstGeom>
          <a:solidFill>
            <a:srgbClr val="7030A0"/>
          </a:solidFill>
        </p:spPr>
        <p:txBody>
          <a:bodyPr wrap="square">
            <a:spAutoFit/>
          </a:bodyPr>
          <a:lstStyle/>
          <a:p>
            <a:pPr algn="ctr"/>
            <a:r>
              <a:rPr lang="en-US" sz="2400" dirty="0">
                <a:solidFill>
                  <a:schemeClr val="bg1"/>
                </a:solidFill>
                <a:latin typeface="Candara" panose="020E0502030303020204" pitchFamily="34" charset="0"/>
              </a:rPr>
              <a:t>However, Ethereum has adopted blob pruning for scalability to keep the blockchain size manageable, while the KZG commitment ensures the integrity and correctness of the pruned data</a:t>
            </a:r>
          </a:p>
        </p:txBody>
      </p:sp>
    </p:spTree>
    <p:extLst>
      <p:ext uri="{BB962C8B-B14F-4D97-AF65-F5344CB8AC3E}">
        <p14:creationId xmlns:p14="http://schemas.microsoft.com/office/powerpoint/2010/main" val="1209468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4CAEA-0272-8530-2DA6-1CE25ACEB9A2}"/>
              </a:ext>
            </a:extLst>
          </p:cNvPr>
          <p:cNvSpPr>
            <a:spLocks noGrp="1"/>
          </p:cNvSpPr>
          <p:nvPr>
            <p:ph type="title"/>
          </p:nvPr>
        </p:nvSpPr>
        <p:spPr/>
        <p:txBody>
          <a:bodyPr/>
          <a:lstStyle/>
          <a:p>
            <a:r>
              <a:rPr lang="en-US" dirty="0"/>
              <a:t>Blob Transaction Life Cycle</a:t>
            </a:r>
          </a:p>
        </p:txBody>
      </p:sp>
      <p:sp>
        <p:nvSpPr>
          <p:cNvPr id="4" name="Slide Number Placeholder 3">
            <a:extLst>
              <a:ext uri="{FF2B5EF4-FFF2-40B4-BE49-F238E27FC236}">
                <a16:creationId xmlns:a16="http://schemas.microsoft.com/office/drawing/2014/main" id="{58CC019F-EE8E-BC56-C71B-22753019A61B}"/>
              </a:ext>
            </a:extLst>
          </p:cNvPr>
          <p:cNvSpPr>
            <a:spLocks noGrp="1"/>
          </p:cNvSpPr>
          <p:nvPr>
            <p:ph type="sldNum" sz="quarter" idx="12"/>
          </p:nvPr>
        </p:nvSpPr>
        <p:spPr/>
        <p:txBody>
          <a:bodyPr/>
          <a:lstStyle/>
          <a:p>
            <a:fld id="{D57F1E4F-1CFF-5643-939E-217C01CDF565}" type="slidenum">
              <a:rPr lang="en-US" smtClean="0"/>
              <a:pPr/>
              <a:t>90</a:t>
            </a:fld>
            <a:endParaRPr lang="en-US" dirty="0">
              <a:latin typeface="Candara" panose="020E0502030303020204" pitchFamily="34" charset="0"/>
            </a:endParaRPr>
          </a:p>
        </p:txBody>
      </p:sp>
      <p:pic>
        <p:nvPicPr>
          <p:cNvPr id="6" name="Picture 5">
            <a:extLst>
              <a:ext uri="{FF2B5EF4-FFF2-40B4-BE49-F238E27FC236}">
                <a16:creationId xmlns:a16="http://schemas.microsoft.com/office/drawing/2014/main" id="{D6FD9012-26B6-0D1B-5E2B-832791D0561B}"/>
              </a:ext>
            </a:extLst>
          </p:cNvPr>
          <p:cNvPicPr>
            <a:picLocks noChangeAspect="1"/>
          </p:cNvPicPr>
          <p:nvPr/>
        </p:nvPicPr>
        <p:blipFill>
          <a:blip r:embed="rId2"/>
          <a:stretch>
            <a:fillRect/>
          </a:stretch>
        </p:blipFill>
        <p:spPr>
          <a:xfrm>
            <a:off x="953869" y="1184043"/>
            <a:ext cx="10440036" cy="4891904"/>
          </a:xfrm>
          <a:prstGeom prst="rect">
            <a:avLst/>
          </a:prstGeom>
        </p:spPr>
      </p:pic>
      <p:sp>
        <p:nvSpPr>
          <p:cNvPr id="8" name="TextBox 7">
            <a:extLst>
              <a:ext uri="{FF2B5EF4-FFF2-40B4-BE49-F238E27FC236}">
                <a16:creationId xmlns:a16="http://schemas.microsoft.com/office/drawing/2014/main" id="{E19622D0-65DA-7701-84C3-1DF78626DDC0}"/>
              </a:ext>
            </a:extLst>
          </p:cNvPr>
          <p:cNvSpPr txBox="1"/>
          <p:nvPr/>
        </p:nvSpPr>
        <p:spPr>
          <a:xfrm>
            <a:off x="3678660" y="6281956"/>
            <a:ext cx="4815639" cy="261610"/>
          </a:xfrm>
          <a:prstGeom prst="rect">
            <a:avLst/>
          </a:prstGeom>
          <a:noFill/>
        </p:spPr>
        <p:txBody>
          <a:bodyPr wrap="square">
            <a:spAutoFit/>
          </a:bodyPr>
          <a:lstStyle/>
          <a:p>
            <a:pPr algn="ctr"/>
            <a:r>
              <a:rPr lang="en-US" sz="1100" dirty="0">
                <a:latin typeface="Candara" panose="020E0502030303020204" pitchFamily="34" charset="0"/>
                <a:hlinkClick r:id="rId3"/>
              </a:rPr>
              <a:t>https://crypto.com/en/research/ethereum-proto-danksharding-dencun</a:t>
            </a:r>
            <a:r>
              <a:rPr lang="en-US" sz="1100" dirty="0">
                <a:latin typeface="Candara" panose="020E0502030303020204" pitchFamily="34" charset="0"/>
              </a:rPr>
              <a:t> </a:t>
            </a:r>
          </a:p>
        </p:txBody>
      </p:sp>
    </p:spTree>
    <p:extLst>
      <p:ext uri="{BB962C8B-B14F-4D97-AF65-F5344CB8AC3E}">
        <p14:creationId xmlns:p14="http://schemas.microsoft.com/office/powerpoint/2010/main" val="337739582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0B2A0-EC1B-B2E4-BD5A-CC67CCF893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7B7883-328F-B312-BB8A-83AFFE57CE05}"/>
              </a:ext>
            </a:extLst>
          </p:cNvPr>
          <p:cNvSpPr>
            <a:spLocks noGrp="1"/>
          </p:cNvSpPr>
          <p:nvPr>
            <p:ph type="title"/>
          </p:nvPr>
        </p:nvSpPr>
        <p:spPr/>
        <p:txBody>
          <a:bodyPr/>
          <a:lstStyle/>
          <a:p>
            <a:r>
              <a:rPr lang="en-US" dirty="0"/>
              <a:t>KZG Commitment</a:t>
            </a:r>
          </a:p>
        </p:txBody>
      </p:sp>
      <p:sp>
        <p:nvSpPr>
          <p:cNvPr id="3" name="Content Placeholder 2">
            <a:extLst>
              <a:ext uri="{FF2B5EF4-FFF2-40B4-BE49-F238E27FC236}">
                <a16:creationId xmlns:a16="http://schemas.microsoft.com/office/drawing/2014/main" id="{BF4A4F14-71E1-A7ED-83E9-538B5EEAE19E}"/>
              </a:ext>
            </a:extLst>
          </p:cNvPr>
          <p:cNvSpPr>
            <a:spLocks noGrp="1"/>
          </p:cNvSpPr>
          <p:nvPr>
            <p:ph idx="1"/>
          </p:nvPr>
        </p:nvSpPr>
        <p:spPr>
          <a:xfrm>
            <a:off x="487680" y="978835"/>
            <a:ext cx="11186160" cy="5491810"/>
          </a:xfrm>
        </p:spPr>
        <p:txBody>
          <a:bodyPr anchor="ctr" anchorCtr="0">
            <a:noAutofit/>
          </a:bodyPr>
          <a:lstStyle/>
          <a:p>
            <a:r>
              <a:rPr lang="en-US" sz="2000" dirty="0">
                <a:solidFill>
                  <a:srgbClr val="7030A0"/>
                </a:solidFill>
              </a:rPr>
              <a:t>Blob pruning creates a challenge: once the blob data is deleted, how can nodes verify the integrity of that pruned data safely?</a:t>
            </a:r>
          </a:p>
          <a:p>
            <a:pPr lvl="1"/>
            <a:r>
              <a:rPr lang="en-US" sz="2000" dirty="0"/>
              <a:t>Ethereum solves this problem using KZG commitments</a:t>
            </a:r>
          </a:p>
          <a:p>
            <a:r>
              <a:rPr lang="en-US" sz="2000" dirty="0"/>
              <a:t>The blob data is divided into bytes which are used as coefficients of a polynomial  </a:t>
            </a:r>
          </a:p>
          <a:p>
            <a:pPr lvl="1"/>
            <a:r>
              <a:rPr lang="en-US" sz="2000" dirty="0"/>
              <a:t>If there are N bytes, the resulting polynomial is of degree N-1 </a:t>
            </a:r>
          </a:p>
          <a:p>
            <a:r>
              <a:rPr lang="en-US" sz="2000" dirty="0"/>
              <a:t>A secret point s was generated by Ethereum in a KZG ceremony – an event that lasted for several months and concluded in early 2024</a:t>
            </a:r>
          </a:p>
          <a:p>
            <a:pPr lvl="1"/>
            <a:r>
              <a:rPr lang="en-US" sz="2000" dirty="0"/>
              <a:t>The idea was that no one should know the full s</a:t>
            </a:r>
          </a:p>
          <a:p>
            <a:r>
              <a:rPr lang="en-US" sz="2000" dirty="0"/>
              <a:t>After the ceremony, Ethereum used the secret s to compute and publish a structured reference string (SRS) </a:t>
            </a:r>
          </a:p>
          <a:p>
            <a:r>
              <a:rPr lang="en-US" sz="2000" dirty="0"/>
              <a:t>The KZG commitment is computed by taking the dot product of the data byte vector with the SRS vector, which is stored in the data transaction</a:t>
            </a:r>
          </a:p>
          <a:p>
            <a:r>
              <a:rPr lang="en-US" sz="2000" dirty="0"/>
              <a:t>To prove that a specific coefficient (i.e., a piece of blob data) belongs to the committed polynomial, the prover computes a small KZG proof using the same SRS</a:t>
            </a:r>
          </a:p>
          <a:p>
            <a:r>
              <a:rPr lang="en-US" sz="2000" dirty="0"/>
              <a:t>The verifier then checks a pairing equation that confirms the coefficient is correct without needing the blob itself</a:t>
            </a:r>
          </a:p>
        </p:txBody>
      </p:sp>
      <p:sp>
        <p:nvSpPr>
          <p:cNvPr id="4" name="Slide Number Placeholder 3">
            <a:extLst>
              <a:ext uri="{FF2B5EF4-FFF2-40B4-BE49-F238E27FC236}">
                <a16:creationId xmlns:a16="http://schemas.microsoft.com/office/drawing/2014/main" id="{246D4FAA-53DD-6BA4-9800-23D884C475E5}"/>
              </a:ext>
            </a:extLst>
          </p:cNvPr>
          <p:cNvSpPr>
            <a:spLocks noGrp="1"/>
          </p:cNvSpPr>
          <p:nvPr>
            <p:ph type="sldNum" sz="quarter" idx="12"/>
          </p:nvPr>
        </p:nvSpPr>
        <p:spPr/>
        <p:txBody>
          <a:bodyPr/>
          <a:lstStyle/>
          <a:p>
            <a:fld id="{D57F1E4F-1CFF-5643-939E-217C01CDF565}" type="slidenum">
              <a:rPr lang="en-US" smtClean="0"/>
              <a:pPr/>
              <a:t>91</a:t>
            </a:fld>
            <a:endParaRPr lang="en-US" dirty="0">
              <a:latin typeface="Candara" panose="020E0502030303020204" pitchFamily="34" charset="0"/>
            </a:endParaRPr>
          </a:p>
        </p:txBody>
      </p:sp>
    </p:spTree>
    <p:extLst>
      <p:ext uri="{BB962C8B-B14F-4D97-AF65-F5344CB8AC3E}">
        <p14:creationId xmlns:p14="http://schemas.microsoft.com/office/powerpoint/2010/main" val="90378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905AF-0287-644A-C4D0-1317BDB5F8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E66570-EEE2-E373-CC77-4DACA0CC45A1}"/>
              </a:ext>
            </a:extLst>
          </p:cNvPr>
          <p:cNvSpPr>
            <a:spLocks noGrp="1"/>
          </p:cNvSpPr>
          <p:nvPr>
            <p:ph type="title"/>
          </p:nvPr>
        </p:nvSpPr>
        <p:spPr/>
        <p:txBody>
          <a:bodyPr/>
          <a:lstStyle/>
          <a:p>
            <a:r>
              <a:rPr lang="en-US" dirty="0"/>
              <a:t>From Sharding to </a:t>
            </a:r>
            <a:r>
              <a:rPr lang="en-US" dirty="0" err="1"/>
              <a:t>DankSharding</a:t>
            </a:r>
            <a:endParaRPr lang="en-US" dirty="0"/>
          </a:p>
        </p:txBody>
      </p:sp>
      <p:sp>
        <p:nvSpPr>
          <p:cNvPr id="4" name="Slide Number Placeholder 3">
            <a:extLst>
              <a:ext uri="{FF2B5EF4-FFF2-40B4-BE49-F238E27FC236}">
                <a16:creationId xmlns:a16="http://schemas.microsoft.com/office/drawing/2014/main" id="{775F6323-0EBA-586A-B466-250BB8081E1E}"/>
              </a:ext>
            </a:extLst>
          </p:cNvPr>
          <p:cNvSpPr>
            <a:spLocks noGrp="1"/>
          </p:cNvSpPr>
          <p:nvPr>
            <p:ph type="sldNum" sz="quarter" idx="12"/>
          </p:nvPr>
        </p:nvSpPr>
        <p:spPr/>
        <p:txBody>
          <a:bodyPr/>
          <a:lstStyle/>
          <a:p>
            <a:fld id="{D57F1E4F-1CFF-5643-939E-217C01CDF565}" type="slidenum">
              <a:rPr lang="en-US" smtClean="0"/>
              <a:pPr/>
              <a:t>92</a:t>
            </a:fld>
            <a:endParaRPr lang="en-US" dirty="0"/>
          </a:p>
        </p:txBody>
      </p:sp>
      <p:pic>
        <p:nvPicPr>
          <p:cNvPr id="6" name="Picture 5">
            <a:extLst>
              <a:ext uri="{FF2B5EF4-FFF2-40B4-BE49-F238E27FC236}">
                <a16:creationId xmlns:a16="http://schemas.microsoft.com/office/drawing/2014/main" id="{3C9F5A73-2EBF-8F83-C2F3-7981CB80ADE0}"/>
              </a:ext>
            </a:extLst>
          </p:cNvPr>
          <p:cNvPicPr>
            <a:picLocks noChangeAspect="1"/>
          </p:cNvPicPr>
          <p:nvPr/>
        </p:nvPicPr>
        <p:blipFill>
          <a:blip r:embed="rId2"/>
          <a:stretch>
            <a:fillRect/>
          </a:stretch>
        </p:blipFill>
        <p:spPr>
          <a:xfrm>
            <a:off x="472440" y="1154233"/>
            <a:ext cx="5608320" cy="2581738"/>
          </a:xfrm>
          <a:prstGeom prst="rect">
            <a:avLst/>
          </a:prstGeom>
        </p:spPr>
      </p:pic>
      <p:sp>
        <p:nvSpPr>
          <p:cNvPr id="9" name="TextBox 8">
            <a:extLst>
              <a:ext uri="{FF2B5EF4-FFF2-40B4-BE49-F238E27FC236}">
                <a16:creationId xmlns:a16="http://schemas.microsoft.com/office/drawing/2014/main" id="{85EE8A43-49EF-E658-0E90-E0569D03A34E}"/>
              </a:ext>
            </a:extLst>
          </p:cNvPr>
          <p:cNvSpPr txBox="1"/>
          <p:nvPr/>
        </p:nvSpPr>
        <p:spPr>
          <a:xfrm>
            <a:off x="472440" y="4163198"/>
            <a:ext cx="5492015" cy="2308324"/>
          </a:xfrm>
          <a:prstGeom prst="rect">
            <a:avLst/>
          </a:prstGeom>
          <a:noFill/>
        </p:spPr>
        <p:txBody>
          <a:bodyPr wrap="square">
            <a:spAutoFit/>
          </a:bodyPr>
          <a:lstStyle/>
          <a:p>
            <a:r>
              <a:rPr lang="en-US" dirty="0">
                <a:latin typeface="Candara" panose="020E0502030303020204" pitchFamily="34" charset="0"/>
              </a:rPr>
              <a:t>The idea of sharding was to divide Ethereum blockchain into 64 mini blockchains called shards </a:t>
            </a:r>
          </a:p>
          <a:p>
            <a:pPr marL="342900" indent="-342900">
              <a:buFont typeface="Arial" panose="020B0604020202020204" pitchFamily="34" charset="0"/>
              <a:buChar char="•"/>
            </a:pPr>
            <a:r>
              <a:rPr lang="en-US" dirty="0">
                <a:latin typeface="Candara" panose="020E0502030303020204" pitchFamily="34" charset="0"/>
              </a:rPr>
              <a:t>Each shard chain was supposed to process its own transactions and store its own state (with possible cross-shard communication) </a:t>
            </a:r>
          </a:p>
          <a:p>
            <a:pPr marL="342900" indent="-342900">
              <a:buFont typeface="Arial" panose="020B0604020202020204" pitchFamily="34" charset="0"/>
              <a:buChar char="•"/>
            </a:pPr>
            <a:r>
              <a:rPr lang="en-US" dirty="0">
                <a:latin typeface="Candara" panose="020E0502030303020204" pitchFamily="34" charset="0"/>
              </a:rPr>
              <a:t>The consensus layer was supposed to be shared among all the shards as they all rely on the same </a:t>
            </a:r>
            <a:r>
              <a:rPr lang="en-US" dirty="0" err="1">
                <a:latin typeface="Candara" panose="020E0502030303020204" pitchFamily="34" charset="0"/>
              </a:rPr>
              <a:t>PoS</a:t>
            </a:r>
            <a:r>
              <a:rPr lang="en-US" dirty="0">
                <a:latin typeface="Candara" panose="020E0502030303020204" pitchFamily="34" charset="0"/>
              </a:rPr>
              <a:t> validator set </a:t>
            </a:r>
          </a:p>
        </p:txBody>
      </p:sp>
      <p:sp>
        <p:nvSpPr>
          <p:cNvPr id="8" name="TextBox 7">
            <a:extLst>
              <a:ext uri="{FF2B5EF4-FFF2-40B4-BE49-F238E27FC236}">
                <a16:creationId xmlns:a16="http://schemas.microsoft.com/office/drawing/2014/main" id="{6660898C-663E-7847-BF27-18891961BAD1}"/>
              </a:ext>
            </a:extLst>
          </p:cNvPr>
          <p:cNvSpPr txBox="1"/>
          <p:nvPr/>
        </p:nvSpPr>
        <p:spPr>
          <a:xfrm>
            <a:off x="6509084" y="2159583"/>
            <a:ext cx="4996313" cy="2246769"/>
          </a:xfrm>
          <a:prstGeom prst="rect">
            <a:avLst/>
          </a:prstGeom>
          <a:noFill/>
        </p:spPr>
        <p:txBody>
          <a:bodyPr wrap="square" rtlCol="0">
            <a:spAutoFit/>
          </a:bodyPr>
          <a:lstStyle/>
          <a:p>
            <a:pPr marL="342900" indent="-342900" algn="l">
              <a:buFont typeface="Arial" panose="020B0604020202020204" pitchFamily="34" charset="0"/>
              <a:buChar char="•"/>
            </a:pPr>
            <a:r>
              <a:rPr lang="en-US" sz="2000" dirty="0">
                <a:solidFill>
                  <a:srgbClr val="7030A0"/>
                </a:solidFill>
                <a:latin typeface="Candara" panose="020E0502030303020204" pitchFamily="34" charset="0"/>
              </a:rPr>
              <a:t>Ethereum has since replaced chain sharding with so-called </a:t>
            </a:r>
            <a:r>
              <a:rPr lang="en-US" sz="2000" dirty="0" err="1">
                <a:solidFill>
                  <a:srgbClr val="7030A0"/>
                </a:solidFill>
                <a:latin typeface="Candara" panose="020E0502030303020204" pitchFamily="34" charset="0"/>
              </a:rPr>
              <a:t>danksharding</a:t>
            </a:r>
            <a:r>
              <a:rPr lang="en-US" sz="2000" dirty="0">
                <a:solidFill>
                  <a:srgbClr val="7030A0"/>
                </a:solidFill>
                <a:latin typeface="Candara" panose="020E0502030303020204" pitchFamily="34" charset="0"/>
              </a:rPr>
              <a:t> (also called data sharding)</a:t>
            </a:r>
          </a:p>
          <a:p>
            <a:pPr marL="342900" indent="-342900" algn="l">
              <a:buFont typeface="Arial" panose="020B0604020202020204" pitchFamily="34" charset="0"/>
              <a:buChar char="•"/>
            </a:pPr>
            <a:endParaRPr lang="en-US" sz="2000" dirty="0">
              <a:solidFill>
                <a:srgbClr val="7030A0"/>
              </a:solidFill>
              <a:latin typeface="Candara" panose="020E0502030303020204" pitchFamily="34" charset="0"/>
            </a:endParaRPr>
          </a:p>
          <a:p>
            <a:pPr marL="342900" indent="-342900" algn="l">
              <a:buFont typeface="Arial" panose="020B0604020202020204" pitchFamily="34" charset="0"/>
              <a:buChar char="•"/>
            </a:pPr>
            <a:r>
              <a:rPr lang="en-US" sz="2000" dirty="0">
                <a:solidFill>
                  <a:srgbClr val="7030A0"/>
                </a:solidFill>
                <a:latin typeface="Candara" panose="020E0502030303020204" pitchFamily="34" charset="0"/>
              </a:rPr>
              <a:t>This new approach was informally called “Dankrad’s sharding design” that quickly shortened to “</a:t>
            </a:r>
            <a:r>
              <a:rPr lang="en-US" sz="2000" dirty="0" err="1">
                <a:solidFill>
                  <a:srgbClr val="7030A0"/>
                </a:solidFill>
                <a:latin typeface="Candara" panose="020E0502030303020204" pitchFamily="34" charset="0"/>
              </a:rPr>
              <a:t>Danksharding</a:t>
            </a:r>
            <a:endParaRPr lang="en-US" sz="2000" dirty="0">
              <a:solidFill>
                <a:srgbClr val="7030A0"/>
              </a:solidFill>
              <a:latin typeface="Candara" panose="020E0502030303020204" pitchFamily="34" charset="0"/>
            </a:endParaRPr>
          </a:p>
        </p:txBody>
      </p:sp>
      <p:sp>
        <p:nvSpPr>
          <p:cNvPr id="10" name="TextBox 9">
            <a:extLst>
              <a:ext uri="{FF2B5EF4-FFF2-40B4-BE49-F238E27FC236}">
                <a16:creationId xmlns:a16="http://schemas.microsoft.com/office/drawing/2014/main" id="{4E37E852-C6C4-5209-419D-FC7972D2A39B}"/>
              </a:ext>
            </a:extLst>
          </p:cNvPr>
          <p:cNvSpPr txBox="1"/>
          <p:nvPr/>
        </p:nvSpPr>
        <p:spPr>
          <a:xfrm>
            <a:off x="6509084" y="5171038"/>
            <a:ext cx="4727609" cy="830997"/>
          </a:xfrm>
          <a:prstGeom prst="rect">
            <a:avLst/>
          </a:prstGeom>
          <a:noFill/>
        </p:spPr>
        <p:txBody>
          <a:bodyPr wrap="square" rtlCol="0">
            <a:spAutoFit/>
          </a:bodyPr>
          <a:lstStyle/>
          <a:p>
            <a:pPr algn="ctr"/>
            <a:r>
              <a:rPr lang="en-US" sz="2400" dirty="0">
                <a:solidFill>
                  <a:srgbClr val="FF0000"/>
                </a:solidFill>
                <a:latin typeface="Candara" panose="020E0502030303020204" pitchFamily="34" charset="0"/>
              </a:rPr>
              <a:t>Shard chains are </a:t>
            </a:r>
            <a:r>
              <a:rPr lang="en-US" sz="2400" i="1" dirty="0">
                <a:solidFill>
                  <a:srgbClr val="FF0000"/>
                </a:solidFill>
                <a:latin typeface="Candara" panose="020E0502030303020204" pitchFamily="34" charset="0"/>
              </a:rPr>
              <a:t>no longer </a:t>
            </a:r>
            <a:r>
              <a:rPr lang="en-US" sz="2400" dirty="0">
                <a:solidFill>
                  <a:srgbClr val="FF0000"/>
                </a:solidFill>
                <a:latin typeface="Candara" panose="020E0502030303020204" pitchFamily="34" charset="0"/>
              </a:rPr>
              <a:t>part of the Ethereum roadmap</a:t>
            </a:r>
          </a:p>
        </p:txBody>
      </p:sp>
    </p:spTree>
    <p:extLst>
      <p:ext uri="{BB962C8B-B14F-4D97-AF65-F5344CB8AC3E}">
        <p14:creationId xmlns:p14="http://schemas.microsoft.com/office/powerpoint/2010/main" val="3816624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A5229-C54A-5780-B1DD-FCEE0EEFAF44}"/>
              </a:ext>
            </a:extLst>
          </p:cNvPr>
          <p:cNvSpPr>
            <a:spLocks noGrp="1"/>
          </p:cNvSpPr>
          <p:nvPr>
            <p:ph type="title"/>
          </p:nvPr>
        </p:nvSpPr>
        <p:spPr/>
        <p:txBody>
          <a:bodyPr/>
          <a:lstStyle/>
          <a:p>
            <a:r>
              <a:rPr lang="en-US" dirty="0" err="1"/>
              <a:t>DankSharding</a:t>
            </a:r>
            <a:endParaRPr lang="en-US" dirty="0"/>
          </a:p>
        </p:txBody>
      </p:sp>
      <p:sp>
        <p:nvSpPr>
          <p:cNvPr id="3" name="Content Placeholder 2">
            <a:extLst>
              <a:ext uri="{FF2B5EF4-FFF2-40B4-BE49-F238E27FC236}">
                <a16:creationId xmlns:a16="http://schemas.microsoft.com/office/drawing/2014/main" id="{3498AA5B-6E4A-CC7D-A815-D7F642269792}"/>
              </a:ext>
            </a:extLst>
          </p:cNvPr>
          <p:cNvSpPr>
            <a:spLocks noGrp="1"/>
          </p:cNvSpPr>
          <p:nvPr>
            <p:ph idx="1"/>
          </p:nvPr>
        </p:nvSpPr>
        <p:spPr/>
        <p:txBody>
          <a:bodyPr>
            <a:normAutofit/>
          </a:bodyPr>
          <a:lstStyle/>
          <a:p>
            <a:r>
              <a:rPr lang="en-US" dirty="0" err="1"/>
              <a:t>Danksharding</a:t>
            </a:r>
            <a:r>
              <a:rPr lang="en-US" dirty="0"/>
              <a:t> is the full realization of the rollup scaling that began with Proto-</a:t>
            </a:r>
            <a:r>
              <a:rPr lang="en-US" dirty="0" err="1"/>
              <a:t>Danksharding</a:t>
            </a:r>
            <a:r>
              <a:rPr lang="en-US" dirty="0"/>
              <a:t> or EIP-4844</a:t>
            </a:r>
          </a:p>
          <a:p>
            <a:r>
              <a:rPr lang="en-US" dirty="0"/>
              <a:t>The blobs attached to blocks will be increased from 6 in Proto-</a:t>
            </a:r>
            <a:r>
              <a:rPr lang="en-US" dirty="0" err="1"/>
              <a:t>Danksharding</a:t>
            </a:r>
            <a:r>
              <a:rPr lang="en-US" dirty="0"/>
              <a:t> to 64 in full </a:t>
            </a:r>
            <a:r>
              <a:rPr lang="en-US" dirty="0" err="1"/>
              <a:t>Danksharding</a:t>
            </a:r>
            <a:r>
              <a:rPr lang="en-US" dirty="0"/>
              <a:t> </a:t>
            </a:r>
          </a:p>
          <a:p>
            <a:r>
              <a:rPr lang="en-US" dirty="0"/>
              <a:t>The rest of the changes required are all updates to the way consensus clients operate to enable them to handle the new large blobs </a:t>
            </a:r>
          </a:p>
          <a:p>
            <a:r>
              <a:rPr lang="en-US" dirty="0" err="1"/>
              <a:t>Danksharding</a:t>
            </a:r>
            <a:r>
              <a:rPr lang="en-US" dirty="0"/>
              <a:t> once fully implemented aims to make transactions on Layer 2 as cheap as possible for users and should scale Ethereum to &gt;100,000 transactions per second</a:t>
            </a:r>
          </a:p>
        </p:txBody>
      </p:sp>
      <p:sp>
        <p:nvSpPr>
          <p:cNvPr id="4" name="Slide Number Placeholder 3">
            <a:extLst>
              <a:ext uri="{FF2B5EF4-FFF2-40B4-BE49-F238E27FC236}">
                <a16:creationId xmlns:a16="http://schemas.microsoft.com/office/drawing/2014/main" id="{39273B13-5617-C3CE-A681-0368F056336D}"/>
              </a:ext>
            </a:extLst>
          </p:cNvPr>
          <p:cNvSpPr>
            <a:spLocks noGrp="1"/>
          </p:cNvSpPr>
          <p:nvPr>
            <p:ph type="sldNum" sz="quarter" idx="12"/>
          </p:nvPr>
        </p:nvSpPr>
        <p:spPr/>
        <p:txBody>
          <a:bodyPr/>
          <a:lstStyle/>
          <a:p>
            <a:fld id="{D57F1E4F-1CFF-5643-939E-217C01CDF565}" type="slidenum">
              <a:rPr lang="en-US" smtClean="0"/>
              <a:pPr/>
              <a:t>93</a:t>
            </a:fld>
            <a:endParaRPr lang="en-US" dirty="0">
              <a:latin typeface="Candara" panose="020E0502030303020204" pitchFamily="34" charset="0"/>
            </a:endParaRPr>
          </a:p>
        </p:txBody>
      </p:sp>
    </p:spTree>
    <p:extLst>
      <p:ext uri="{BB962C8B-B14F-4D97-AF65-F5344CB8AC3E}">
        <p14:creationId xmlns:p14="http://schemas.microsoft.com/office/powerpoint/2010/main" val="4135024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68E83-F439-D3DF-E3AA-7E58302B67AD}"/>
              </a:ext>
            </a:extLst>
          </p:cNvPr>
          <p:cNvSpPr>
            <a:spLocks noGrp="1"/>
          </p:cNvSpPr>
          <p:nvPr>
            <p:ph type="title"/>
          </p:nvPr>
        </p:nvSpPr>
        <p:spPr/>
        <p:txBody>
          <a:bodyPr/>
          <a:lstStyle/>
          <a:p>
            <a:r>
              <a:rPr lang="en-US" dirty="0"/>
              <a:t>Data Sharding</a:t>
            </a:r>
          </a:p>
        </p:txBody>
      </p:sp>
      <p:sp>
        <p:nvSpPr>
          <p:cNvPr id="3" name="Content Placeholder 2">
            <a:extLst>
              <a:ext uri="{FF2B5EF4-FFF2-40B4-BE49-F238E27FC236}">
                <a16:creationId xmlns:a16="http://schemas.microsoft.com/office/drawing/2014/main" id="{64419974-C555-C182-D376-A5BC603B410D}"/>
              </a:ext>
            </a:extLst>
          </p:cNvPr>
          <p:cNvSpPr>
            <a:spLocks noGrp="1"/>
          </p:cNvSpPr>
          <p:nvPr>
            <p:ph idx="1"/>
          </p:nvPr>
        </p:nvSpPr>
        <p:spPr/>
        <p:txBody>
          <a:bodyPr>
            <a:normAutofit fontScale="92500" lnSpcReduction="10000"/>
          </a:bodyPr>
          <a:lstStyle/>
          <a:p>
            <a:r>
              <a:rPr lang="en-US" dirty="0"/>
              <a:t>With full </a:t>
            </a:r>
            <a:r>
              <a:rPr lang="en-US" dirty="0" err="1"/>
              <a:t>danksharding</a:t>
            </a:r>
            <a:r>
              <a:rPr lang="en-US" dirty="0"/>
              <a:t> the block size will become 8 MB</a:t>
            </a:r>
          </a:p>
          <a:p>
            <a:r>
              <a:rPr lang="en-US" dirty="0"/>
              <a:t>Ethereum produces a block every 12 s </a:t>
            </a:r>
          </a:p>
          <a:p>
            <a:pPr lvl="1"/>
            <a:r>
              <a:rPr lang="en-US" dirty="0"/>
              <a:t>5 blocks per minute</a:t>
            </a:r>
          </a:p>
          <a:p>
            <a:pPr lvl="1"/>
            <a:r>
              <a:rPr lang="en-US" dirty="0"/>
              <a:t>300 blocks per hour </a:t>
            </a:r>
          </a:p>
          <a:p>
            <a:pPr lvl="1"/>
            <a:r>
              <a:rPr lang="en-US" dirty="0"/>
              <a:t>7200 blocks per day</a:t>
            </a:r>
          </a:p>
          <a:p>
            <a:r>
              <a:rPr lang="en-US" dirty="0"/>
              <a:t>Without </a:t>
            </a:r>
            <a:r>
              <a:rPr lang="en-US" dirty="0" err="1"/>
              <a:t>danksharding</a:t>
            </a:r>
            <a:r>
              <a:rPr lang="en-US" dirty="0"/>
              <a:t> blockchain growth</a:t>
            </a:r>
          </a:p>
          <a:p>
            <a:pPr lvl="1"/>
            <a:r>
              <a:rPr lang="en-US" dirty="0"/>
              <a:t>40 MB per minute</a:t>
            </a:r>
          </a:p>
          <a:p>
            <a:pPr lvl="1"/>
            <a:r>
              <a:rPr lang="en-US" dirty="0"/>
              <a:t>2.4 GB per hour</a:t>
            </a:r>
          </a:p>
          <a:p>
            <a:pPr lvl="1"/>
            <a:r>
              <a:rPr lang="en-US" dirty="0"/>
              <a:t>57.6 GB per day</a:t>
            </a:r>
          </a:p>
          <a:p>
            <a:pPr lvl="1"/>
            <a:r>
              <a:rPr lang="en-US" dirty="0"/>
              <a:t>1.72 TB per month</a:t>
            </a:r>
          </a:p>
          <a:p>
            <a:r>
              <a:rPr lang="en-US" dirty="0"/>
              <a:t>Very quickly becomes unmanageable – explains the need for data sharding instead of chain sharding</a:t>
            </a:r>
          </a:p>
          <a:p>
            <a:pPr lvl="1"/>
            <a:endParaRPr lang="en-US" dirty="0"/>
          </a:p>
        </p:txBody>
      </p:sp>
      <p:sp>
        <p:nvSpPr>
          <p:cNvPr id="4" name="Slide Number Placeholder 3">
            <a:extLst>
              <a:ext uri="{FF2B5EF4-FFF2-40B4-BE49-F238E27FC236}">
                <a16:creationId xmlns:a16="http://schemas.microsoft.com/office/drawing/2014/main" id="{61998B59-E308-11B4-2278-67293011BFFE}"/>
              </a:ext>
            </a:extLst>
          </p:cNvPr>
          <p:cNvSpPr>
            <a:spLocks noGrp="1"/>
          </p:cNvSpPr>
          <p:nvPr>
            <p:ph type="sldNum" sz="quarter" idx="12"/>
          </p:nvPr>
        </p:nvSpPr>
        <p:spPr/>
        <p:txBody>
          <a:bodyPr/>
          <a:lstStyle/>
          <a:p>
            <a:fld id="{D57F1E4F-1CFF-5643-939E-217C01CDF565}" type="slidenum">
              <a:rPr lang="en-US" smtClean="0"/>
              <a:pPr/>
              <a:t>94</a:t>
            </a:fld>
            <a:endParaRPr lang="en-US" dirty="0">
              <a:latin typeface="Candara" panose="020E0502030303020204" pitchFamily="34" charset="0"/>
            </a:endParaRPr>
          </a:p>
        </p:txBody>
      </p:sp>
    </p:spTree>
    <p:extLst>
      <p:ext uri="{BB962C8B-B14F-4D97-AF65-F5344CB8AC3E}">
        <p14:creationId xmlns:p14="http://schemas.microsoft.com/office/powerpoint/2010/main" val="1795959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Entities Required for Automation</a:t>
            </a:r>
          </a:p>
        </p:txBody>
      </p:sp>
      <p:sp>
        <p:nvSpPr>
          <p:cNvPr id="4" name="Slide Number Placeholder 3"/>
          <p:cNvSpPr>
            <a:spLocks noGrp="1"/>
          </p:cNvSpPr>
          <p:nvPr>
            <p:ph type="sldNum" sz="quarter" idx="12"/>
          </p:nvPr>
        </p:nvSpPr>
        <p:spPr/>
        <p:txBody>
          <a:bodyPr/>
          <a:lstStyle/>
          <a:p>
            <a:fld id="{19FE8B7B-3258-47CD-BBC0-34D05FC906E5}" type="slidenum">
              <a:rPr lang="en-US" smtClean="0"/>
              <a:t>95</a:t>
            </a:fld>
            <a:endParaRPr lang="en-US" dirty="0"/>
          </a:p>
        </p:txBody>
      </p:sp>
      <p:sp>
        <p:nvSpPr>
          <p:cNvPr id="5" name="Rectangle 4"/>
          <p:cNvSpPr/>
          <p:nvPr/>
        </p:nvSpPr>
        <p:spPr>
          <a:xfrm>
            <a:off x="609421" y="6009204"/>
            <a:ext cx="10973158" cy="461665"/>
          </a:xfrm>
          <a:prstGeom prst="rect">
            <a:avLst/>
          </a:prstGeom>
          <a:solidFill>
            <a:schemeClr val="accent6">
              <a:lumMod val="40000"/>
              <a:lumOff val="60000"/>
            </a:schemeClr>
          </a:solidFill>
          <a:ln>
            <a:solidFill>
              <a:schemeClr val="tx1"/>
            </a:solidFill>
          </a:ln>
        </p:spPr>
        <p:txBody>
          <a:bodyPr wrap="square">
            <a:spAutoFit/>
          </a:bodyPr>
          <a:lstStyle/>
          <a:p>
            <a:pPr algn="ctr"/>
            <a:r>
              <a:rPr lang="en-US" sz="2400" dirty="0">
                <a:latin typeface="Candara" panose="020E0502030303020204" pitchFamily="34" charset="0"/>
              </a:rPr>
              <a:t>Some other entities are needed to automate smart contract execution</a:t>
            </a:r>
          </a:p>
        </p:txBody>
      </p:sp>
      <p:sp>
        <p:nvSpPr>
          <p:cNvPr id="6" name="Rectangle 5"/>
          <p:cNvSpPr/>
          <p:nvPr/>
        </p:nvSpPr>
        <p:spPr>
          <a:xfrm>
            <a:off x="524045" y="4956945"/>
            <a:ext cx="11058534" cy="707886"/>
          </a:xfrm>
          <a:prstGeom prst="rect">
            <a:avLst/>
          </a:prstGeom>
          <a:solidFill>
            <a:schemeClr val="accent4">
              <a:lumMod val="20000"/>
              <a:lumOff val="80000"/>
            </a:schemeClr>
          </a:solidFill>
          <a:ln>
            <a:solidFill>
              <a:schemeClr val="tx1"/>
            </a:solidFill>
          </a:ln>
        </p:spPr>
        <p:txBody>
          <a:bodyPr wrap="square">
            <a:spAutoFit/>
          </a:bodyPr>
          <a:lstStyle/>
          <a:p>
            <a:pPr algn="ctr"/>
            <a:r>
              <a:rPr lang="en-US" sz="2000" dirty="0">
                <a:latin typeface="Candara" panose="020E0502030303020204" pitchFamily="34" charset="0"/>
              </a:rPr>
              <a:t>Smart contract has the ability to check whether the required conditions (according to the code) are met before initiating the funds transfer </a:t>
            </a:r>
          </a:p>
        </p:txBody>
      </p:sp>
      <p:sp>
        <p:nvSpPr>
          <p:cNvPr id="7" name="Rectangle 6"/>
          <p:cNvSpPr/>
          <p:nvPr/>
        </p:nvSpPr>
        <p:spPr>
          <a:xfrm>
            <a:off x="524045" y="2112137"/>
            <a:ext cx="8222913" cy="707886"/>
          </a:xfrm>
          <a:prstGeom prst="rect">
            <a:avLst/>
          </a:prstGeom>
          <a:solidFill>
            <a:schemeClr val="accent1">
              <a:lumMod val="20000"/>
              <a:lumOff val="80000"/>
            </a:schemeClr>
          </a:solidFill>
          <a:ln>
            <a:solidFill>
              <a:schemeClr val="tx1"/>
            </a:solidFill>
          </a:ln>
        </p:spPr>
        <p:txBody>
          <a:bodyPr wrap="square">
            <a:spAutoFit/>
          </a:bodyPr>
          <a:lstStyle/>
          <a:p>
            <a:r>
              <a:rPr lang="en-US" sz="2000" dirty="0">
                <a:latin typeface="Candara" panose="020E0502030303020204" pitchFamily="34" charset="0"/>
              </a:rPr>
              <a:t>Smart  contract cannot initiate transactions, therefore, some entity with EOA must create transactions at the start of each month</a:t>
            </a:r>
          </a:p>
        </p:txBody>
      </p:sp>
      <p:sp>
        <p:nvSpPr>
          <p:cNvPr id="8" name="Rectangle 7"/>
          <p:cNvSpPr/>
          <p:nvPr/>
        </p:nvSpPr>
        <p:spPr>
          <a:xfrm>
            <a:off x="571477" y="3051856"/>
            <a:ext cx="8173175" cy="707886"/>
          </a:xfrm>
          <a:prstGeom prst="rect">
            <a:avLst/>
          </a:prstGeom>
          <a:solidFill>
            <a:schemeClr val="accent2">
              <a:lumMod val="20000"/>
              <a:lumOff val="80000"/>
            </a:schemeClr>
          </a:solidFill>
          <a:ln>
            <a:solidFill>
              <a:schemeClr val="tx1"/>
            </a:solidFill>
          </a:ln>
        </p:spPr>
        <p:txBody>
          <a:bodyPr wrap="square">
            <a:spAutoFit/>
          </a:bodyPr>
          <a:lstStyle/>
          <a:p>
            <a:r>
              <a:rPr lang="en-US" sz="2000" dirty="0">
                <a:latin typeface="Candara" panose="020E0502030303020204" pitchFamily="34" charset="0"/>
              </a:rPr>
              <a:t>Smart contract needs the date information; therefore, some entity must provide the current date reliably </a:t>
            </a:r>
          </a:p>
        </p:txBody>
      </p:sp>
      <p:sp>
        <p:nvSpPr>
          <p:cNvPr id="9" name="Rectangle 8"/>
          <p:cNvSpPr/>
          <p:nvPr/>
        </p:nvSpPr>
        <p:spPr>
          <a:xfrm>
            <a:off x="571477" y="4012969"/>
            <a:ext cx="8173175" cy="707886"/>
          </a:xfrm>
          <a:prstGeom prst="rect">
            <a:avLst/>
          </a:prstGeom>
          <a:solidFill>
            <a:schemeClr val="accent3">
              <a:lumMod val="20000"/>
              <a:lumOff val="80000"/>
            </a:schemeClr>
          </a:solidFill>
          <a:ln>
            <a:solidFill>
              <a:schemeClr val="tx1"/>
            </a:solidFill>
          </a:ln>
        </p:spPr>
        <p:txBody>
          <a:bodyPr wrap="square">
            <a:spAutoFit/>
          </a:bodyPr>
          <a:lstStyle/>
          <a:p>
            <a:r>
              <a:rPr lang="en-US" sz="2000" dirty="0">
                <a:latin typeface="Candara" panose="020E0502030303020204" pitchFamily="34" charset="0"/>
              </a:rPr>
              <a:t>Smart contract needs to do the ETH/USD conversion; therefore, some entity must provide the conversion rate</a:t>
            </a:r>
          </a:p>
        </p:txBody>
      </p:sp>
      <p:sp>
        <p:nvSpPr>
          <p:cNvPr id="10" name="Rectangle 9"/>
          <p:cNvSpPr/>
          <p:nvPr/>
        </p:nvSpPr>
        <p:spPr>
          <a:xfrm>
            <a:off x="524045" y="1157123"/>
            <a:ext cx="11062266" cy="707886"/>
          </a:xfrm>
          <a:prstGeom prst="rect">
            <a:avLst/>
          </a:prstGeom>
          <a:noFill/>
          <a:ln>
            <a:solidFill>
              <a:schemeClr val="tx1"/>
            </a:solidFill>
          </a:ln>
        </p:spPr>
        <p:txBody>
          <a:bodyPr wrap="square">
            <a:spAutoFit/>
          </a:bodyPr>
          <a:lstStyle/>
          <a:p>
            <a:pPr algn="ctr"/>
            <a:r>
              <a:rPr lang="en-US" sz="2000" dirty="0">
                <a:latin typeface="Candara" panose="020E0502030303020204" pitchFamily="34" charset="0"/>
              </a:rPr>
              <a:t>Suppose, Alice wants to set up a trust fund to pay Bob $100 at the start of each month for the next 12 months. She writes an Ethereum smart contract (encode conditions) and lock ETH into it</a:t>
            </a:r>
          </a:p>
        </p:txBody>
      </p:sp>
      <p:sp>
        <p:nvSpPr>
          <p:cNvPr id="11" name="TextBox 10"/>
          <p:cNvSpPr txBox="1"/>
          <p:nvPr/>
        </p:nvSpPr>
        <p:spPr>
          <a:xfrm>
            <a:off x="8987589" y="2112137"/>
            <a:ext cx="2594990" cy="707886"/>
          </a:xfrm>
          <a:prstGeom prst="rect">
            <a:avLst/>
          </a:prstGeom>
          <a:solidFill>
            <a:schemeClr val="accent1">
              <a:lumMod val="20000"/>
              <a:lumOff val="80000"/>
            </a:schemeClr>
          </a:solidFill>
          <a:ln>
            <a:solidFill>
              <a:schemeClr val="tx1"/>
            </a:solidFill>
          </a:ln>
        </p:spPr>
        <p:txBody>
          <a:bodyPr wrap="square" rtlCol="0">
            <a:spAutoFit/>
          </a:bodyPr>
          <a:lstStyle/>
          <a:p>
            <a:pPr algn="ctr"/>
            <a:r>
              <a:rPr lang="en-US" sz="2000" dirty="0">
                <a:latin typeface="Candara" panose="020E0502030303020204" pitchFamily="34" charset="0"/>
              </a:rPr>
              <a:t>Who performs this job?</a:t>
            </a:r>
          </a:p>
        </p:txBody>
      </p:sp>
      <p:sp>
        <p:nvSpPr>
          <p:cNvPr id="12" name="TextBox 11"/>
          <p:cNvSpPr txBox="1"/>
          <p:nvPr/>
        </p:nvSpPr>
        <p:spPr>
          <a:xfrm>
            <a:off x="9011477" y="3067728"/>
            <a:ext cx="2594990" cy="707886"/>
          </a:xfrm>
          <a:prstGeom prst="rect">
            <a:avLst/>
          </a:prstGeom>
          <a:solidFill>
            <a:schemeClr val="accent2">
              <a:lumMod val="20000"/>
              <a:lumOff val="80000"/>
            </a:schemeClr>
          </a:solidFill>
          <a:ln>
            <a:solidFill>
              <a:schemeClr val="tx1"/>
            </a:solidFill>
          </a:ln>
        </p:spPr>
        <p:txBody>
          <a:bodyPr wrap="square" rtlCol="0">
            <a:spAutoFit/>
          </a:bodyPr>
          <a:lstStyle/>
          <a:p>
            <a:pPr algn="ctr"/>
            <a:r>
              <a:rPr lang="en-US" sz="2000" dirty="0">
                <a:latin typeface="Candara" panose="020E0502030303020204" pitchFamily="34" charset="0"/>
              </a:rPr>
              <a:t>Who performs this job?</a:t>
            </a:r>
          </a:p>
        </p:txBody>
      </p:sp>
      <p:sp>
        <p:nvSpPr>
          <p:cNvPr id="13" name="TextBox 12"/>
          <p:cNvSpPr txBox="1"/>
          <p:nvPr/>
        </p:nvSpPr>
        <p:spPr>
          <a:xfrm>
            <a:off x="9014407" y="4023319"/>
            <a:ext cx="2592062" cy="707886"/>
          </a:xfrm>
          <a:prstGeom prst="rect">
            <a:avLst/>
          </a:prstGeom>
          <a:solidFill>
            <a:schemeClr val="accent3">
              <a:lumMod val="20000"/>
              <a:lumOff val="80000"/>
            </a:schemeClr>
          </a:solidFill>
          <a:ln>
            <a:solidFill>
              <a:schemeClr val="tx1"/>
            </a:solidFill>
          </a:ln>
        </p:spPr>
        <p:txBody>
          <a:bodyPr wrap="square" rtlCol="0">
            <a:spAutoFit/>
          </a:bodyPr>
          <a:lstStyle/>
          <a:p>
            <a:pPr algn="ctr"/>
            <a:r>
              <a:rPr lang="en-US" sz="2000" dirty="0">
                <a:latin typeface="Candara" panose="020E0502030303020204" pitchFamily="34" charset="0"/>
              </a:rPr>
              <a:t>Who performs this job?</a:t>
            </a:r>
          </a:p>
        </p:txBody>
      </p:sp>
    </p:spTree>
    <p:extLst>
      <p:ext uri="{BB962C8B-B14F-4D97-AF65-F5344CB8AC3E}">
        <p14:creationId xmlns:p14="http://schemas.microsoft.com/office/powerpoint/2010/main" val="2184104141"/>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1" grpId="0" animBg="1"/>
      <p:bldP spid="12" grpId="0" animBg="1"/>
      <p:bldP spid="13"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Keepers &amp; Oracles</a:t>
            </a:r>
          </a:p>
        </p:txBody>
      </p:sp>
      <p:sp>
        <p:nvSpPr>
          <p:cNvPr id="4" name="Slide Number Placeholder 3"/>
          <p:cNvSpPr>
            <a:spLocks noGrp="1"/>
          </p:cNvSpPr>
          <p:nvPr>
            <p:ph type="sldNum" sz="quarter" idx="12"/>
          </p:nvPr>
        </p:nvSpPr>
        <p:spPr/>
        <p:txBody>
          <a:bodyPr/>
          <a:lstStyle/>
          <a:p>
            <a:fld id="{19FE8B7B-3258-47CD-BBC0-34D05FC906E5}" type="slidenum">
              <a:rPr lang="en-US" smtClean="0"/>
              <a:t>96</a:t>
            </a:fld>
            <a:endParaRPr lang="en-US" dirty="0"/>
          </a:p>
        </p:txBody>
      </p:sp>
      <p:sp>
        <p:nvSpPr>
          <p:cNvPr id="8" name="TextBox 7"/>
          <p:cNvSpPr txBox="1"/>
          <p:nvPr/>
        </p:nvSpPr>
        <p:spPr>
          <a:xfrm>
            <a:off x="554002" y="1046876"/>
            <a:ext cx="11083997" cy="615553"/>
          </a:xfrm>
          <a:prstGeom prst="rect">
            <a:avLst/>
          </a:prstGeom>
          <a:solidFill>
            <a:schemeClr val="bg2">
              <a:lumMod val="90000"/>
            </a:schemeClr>
          </a:solidFill>
          <a:ln>
            <a:solidFill>
              <a:schemeClr val="tx1"/>
            </a:solidFill>
          </a:ln>
        </p:spPr>
        <p:txBody>
          <a:bodyPr wrap="square">
            <a:spAutoFit/>
          </a:bodyPr>
          <a:lstStyle>
            <a:defPPr>
              <a:defRPr lang="en-US"/>
            </a:defPPr>
            <a:lvl1pPr>
              <a:defRPr sz="2000"/>
            </a:lvl1pPr>
          </a:lstStyle>
          <a:p>
            <a:r>
              <a:rPr lang="en-US" sz="1800" dirty="0">
                <a:latin typeface="Candara" panose="020E0502030303020204" pitchFamily="34" charset="0"/>
              </a:rPr>
              <a:t>Keepers: These are external entities that provide services to trigger state updates </a:t>
            </a:r>
          </a:p>
          <a:p>
            <a:pPr marL="800100" lvl="1" indent="-342900">
              <a:buFont typeface="Arial" panose="020B0604020202020204" pitchFamily="34" charset="0"/>
              <a:buChar char="•"/>
            </a:pPr>
            <a:r>
              <a:rPr lang="en-US" sz="1600" dirty="0">
                <a:latin typeface="Candara" panose="020E0502030303020204" pitchFamily="34" charset="0"/>
              </a:rPr>
              <a:t>Keepers, are generally financially incentivized to trigger such state updates</a:t>
            </a:r>
          </a:p>
        </p:txBody>
      </p:sp>
      <p:sp>
        <p:nvSpPr>
          <p:cNvPr id="7" name="TextBox 6"/>
          <p:cNvSpPr txBox="1"/>
          <p:nvPr/>
        </p:nvSpPr>
        <p:spPr>
          <a:xfrm>
            <a:off x="554002" y="1852039"/>
            <a:ext cx="11083997" cy="923330"/>
          </a:xfrm>
          <a:prstGeom prst="rect">
            <a:avLst/>
          </a:prstGeom>
          <a:solidFill>
            <a:schemeClr val="accent1">
              <a:lumMod val="20000"/>
              <a:lumOff val="80000"/>
            </a:schemeClr>
          </a:solidFill>
          <a:ln>
            <a:solidFill>
              <a:schemeClr val="tx1"/>
            </a:solidFill>
          </a:ln>
        </p:spPr>
        <p:txBody>
          <a:bodyPr wrap="square">
            <a:spAutoFit/>
          </a:bodyPr>
          <a:lstStyle>
            <a:defPPr>
              <a:defRPr lang="en-US"/>
            </a:defPPr>
            <a:lvl1pPr>
              <a:defRPr sz="1800"/>
            </a:lvl1pPr>
          </a:lstStyle>
          <a:p>
            <a:r>
              <a:rPr lang="en-US" b="1" dirty="0">
                <a:latin typeface="Candara" panose="020E0502030303020204" pitchFamily="34" charset="0"/>
              </a:rPr>
              <a:t>Oracles: </a:t>
            </a:r>
            <a:r>
              <a:rPr lang="en-US" dirty="0">
                <a:latin typeface="Candara" panose="020E0502030303020204" pitchFamily="34" charset="0"/>
              </a:rPr>
              <a:t>These are external entities for reliably providing off-chain data to the smart contracts </a:t>
            </a:r>
          </a:p>
          <a:p>
            <a:pPr marL="800100" lvl="1" indent="-342900">
              <a:buFont typeface="Arial" panose="020B0604020202020204" pitchFamily="34" charset="0"/>
              <a:buChar char="•"/>
            </a:pPr>
            <a:r>
              <a:rPr lang="en-US" dirty="0">
                <a:latin typeface="Candara" panose="020E0502030303020204" pitchFamily="34" charset="0"/>
              </a:rPr>
              <a:t>Decentralized oracle: multiple nodes maintained by a separate network to provide data feeds (e.g., </a:t>
            </a:r>
            <a:r>
              <a:rPr lang="en-US" dirty="0" err="1">
                <a:latin typeface="Candara" panose="020E0502030303020204" pitchFamily="34" charset="0"/>
              </a:rPr>
              <a:t>Chainlink</a:t>
            </a:r>
            <a:r>
              <a:rPr lang="en-US" dirty="0">
                <a:latin typeface="Candara" panose="020E0502030303020204" pitchFamily="34" charset="0"/>
              </a:rPr>
              <a:t>); rely on incentives for accurate and honest reporting</a:t>
            </a:r>
          </a:p>
        </p:txBody>
      </p:sp>
      <p:pic>
        <p:nvPicPr>
          <p:cNvPr id="9" name="Picture 8"/>
          <p:cNvPicPr>
            <a:picLocks noChangeAspect="1"/>
          </p:cNvPicPr>
          <p:nvPr/>
        </p:nvPicPr>
        <p:blipFill>
          <a:blip r:embed="rId3"/>
          <a:stretch>
            <a:fillRect/>
          </a:stretch>
        </p:blipFill>
        <p:spPr>
          <a:xfrm>
            <a:off x="554002" y="3054521"/>
            <a:ext cx="7579345" cy="3370342"/>
          </a:xfrm>
          <a:prstGeom prst="rect">
            <a:avLst/>
          </a:prstGeom>
          <a:ln w="22225">
            <a:solidFill>
              <a:schemeClr val="tx1"/>
            </a:solidFill>
          </a:ln>
        </p:spPr>
      </p:pic>
      <p:sp>
        <p:nvSpPr>
          <p:cNvPr id="3" name="Rectangle 2"/>
          <p:cNvSpPr/>
          <p:nvPr/>
        </p:nvSpPr>
        <p:spPr>
          <a:xfrm>
            <a:off x="8386010" y="3429000"/>
            <a:ext cx="3251988" cy="2585323"/>
          </a:xfrm>
          <a:prstGeom prst="rect">
            <a:avLst/>
          </a:prstGeom>
          <a:ln>
            <a:solidFill>
              <a:schemeClr val="tx1"/>
            </a:solidFill>
          </a:ln>
        </p:spPr>
        <p:txBody>
          <a:bodyPr wrap="square">
            <a:spAutoFit/>
          </a:bodyPr>
          <a:lstStyle/>
          <a:p>
            <a:r>
              <a:rPr lang="en-US" dirty="0">
                <a:solidFill>
                  <a:srgbClr val="FF0000"/>
                </a:solidFill>
                <a:latin typeface="Candara" panose="020E0502030303020204" pitchFamily="34" charset="0"/>
              </a:rPr>
              <a:t>Oracles also post the queried data on the blockchain in the form of transactions. Why?</a:t>
            </a:r>
          </a:p>
          <a:p>
            <a:pPr marL="285750" indent="-285750">
              <a:buFont typeface="Arial" panose="020B0604020202020204" pitchFamily="34" charset="0"/>
              <a:buChar char="•"/>
            </a:pPr>
            <a:r>
              <a:rPr lang="en-US" dirty="0">
                <a:latin typeface="Candara" panose="020E0502030303020204" pitchFamily="34" charset="0"/>
              </a:rPr>
              <a:t>Blockchain is deterministic and therefore nodes at any point in time should be able to validate the transactions using the stored data feed transaction</a:t>
            </a:r>
          </a:p>
        </p:txBody>
      </p:sp>
    </p:spTree>
    <p:extLst>
      <p:ext uri="{BB962C8B-B14F-4D97-AF65-F5344CB8AC3E}">
        <p14:creationId xmlns:p14="http://schemas.microsoft.com/office/powerpoint/2010/main" val="2005126091"/>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22634-E3F7-89D7-677C-9DF02C458F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333D51-C0AC-CC00-EF6A-7F86EAF698C2}"/>
              </a:ext>
            </a:extLst>
          </p:cNvPr>
          <p:cNvSpPr>
            <a:spLocks noGrp="1"/>
          </p:cNvSpPr>
          <p:nvPr>
            <p:ph type="title"/>
          </p:nvPr>
        </p:nvSpPr>
        <p:spPr/>
        <p:txBody>
          <a:bodyPr/>
          <a:lstStyle/>
          <a:p>
            <a:r>
              <a:rPr lang="en-US" dirty="0"/>
              <a:t>Keepers &amp; Oracles for Full Automation</a:t>
            </a:r>
          </a:p>
        </p:txBody>
      </p:sp>
      <p:sp>
        <p:nvSpPr>
          <p:cNvPr id="4" name="Slide Number Placeholder 3">
            <a:extLst>
              <a:ext uri="{FF2B5EF4-FFF2-40B4-BE49-F238E27FC236}">
                <a16:creationId xmlns:a16="http://schemas.microsoft.com/office/drawing/2014/main" id="{48DC6F7C-D900-D52B-35DB-FCB50219CE05}"/>
              </a:ext>
            </a:extLst>
          </p:cNvPr>
          <p:cNvSpPr>
            <a:spLocks noGrp="1"/>
          </p:cNvSpPr>
          <p:nvPr>
            <p:ph type="sldNum" sz="quarter" idx="12"/>
          </p:nvPr>
        </p:nvSpPr>
        <p:spPr/>
        <p:txBody>
          <a:bodyPr/>
          <a:lstStyle/>
          <a:p>
            <a:fld id="{19FE8B7B-3258-47CD-BBC0-34D05FC906E5}" type="slidenum">
              <a:rPr lang="en-US" smtClean="0"/>
              <a:t>97</a:t>
            </a:fld>
            <a:endParaRPr lang="en-US" dirty="0"/>
          </a:p>
        </p:txBody>
      </p:sp>
      <p:sp>
        <p:nvSpPr>
          <p:cNvPr id="5" name="Rectangle 4">
            <a:extLst>
              <a:ext uri="{FF2B5EF4-FFF2-40B4-BE49-F238E27FC236}">
                <a16:creationId xmlns:a16="http://schemas.microsoft.com/office/drawing/2014/main" id="{226E9A27-368B-F295-A15B-667FEE4EC4DB}"/>
              </a:ext>
            </a:extLst>
          </p:cNvPr>
          <p:cNvSpPr/>
          <p:nvPr/>
        </p:nvSpPr>
        <p:spPr>
          <a:xfrm>
            <a:off x="609421" y="6009204"/>
            <a:ext cx="10973158" cy="461665"/>
          </a:xfrm>
          <a:prstGeom prst="rect">
            <a:avLst/>
          </a:prstGeom>
          <a:solidFill>
            <a:schemeClr val="accent6">
              <a:lumMod val="40000"/>
              <a:lumOff val="60000"/>
            </a:schemeClr>
          </a:solidFill>
          <a:ln>
            <a:solidFill>
              <a:schemeClr val="tx1"/>
            </a:solidFill>
          </a:ln>
        </p:spPr>
        <p:txBody>
          <a:bodyPr wrap="square">
            <a:spAutoFit/>
          </a:bodyPr>
          <a:lstStyle/>
          <a:p>
            <a:pPr algn="ctr"/>
            <a:r>
              <a:rPr lang="en-US" sz="2400" dirty="0">
                <a:latin typeface="Candara" panose="020E0502030303020204" pitchFamily="34" charset="0"/>
              </a:rPr>
              <a:t>Keepers and oracles are essential to achieve full automation </a:t>
            </a:r>
          </a:p>
        </p:txBody>
      </p:sp>
      <p:sp>
        <p:nvSpPr>
          <p:cNvPr id="6" name="Rectangle 5">
            <a:extLst>
              <a:ext uri="{FF2B5EF4-FFF2-40B4-BE49-F238E27FC236}">
                <a16:creationId xmlns:a16="http://schemas.microsoft.com/office/drawing/2014/main" id="{E034409E-8136-F759-59AE-67D2F5F6139C}"/>
              </a:ext>
            </a:extLst>
          </p:cNvPr>
          <p:cNvSpPr/>
          <p:nvPr/>
        </p:nvSpPr>
        <p:spPr>
          <a:xfrm>
            <a:off x="524045" y="4956945"/>
            <a:ext cx="8220607" cy="707886"/>
          </a:xfrm>
          <a:prstGeom prst="rect">
            <a:avLst/>
          </a:prstGeom>
          <a:solidFill>
            <a:schemeClr val="accent4">
              <a:lumMod val="20000"/>
              <a:lumOff val="80000"/>
            </a:schemeClr>
          </a:solidFill>
          <a:ln>
            <a:solidFill>
              <a:schemeClr val="tx1"/>
            </a:solidFill>
          </a:ln>
        </p:spPr>
        <p:txBody>
          <a:bodyPr wrap="square">
            <a:spAutoFit/>
          </a:bodyPr>
          <a:lstStyle/>
          <a:p>
            <a:pPr algn="ctr"/>
            <a:r>
              <a:rPr lang="en-US" sz="2000" dirty="0">
                <a:latin typeface="Candara" panose="020E0502030303020204" pitchFamily="34" charset="0"/>
              </a:rPr>
              <a:t>Smart contract has the ability to check whether the required conditions (according to the code) are met before initiating the funds transfer </a:t>
            </a:r>
          </a:p>
        </p:txBody>
      </p:sp>
      <p:sp>
        <p:nvSpPr>
          <p:cNvPr id="7" name="Rectangle 6">
            <a:extLst>
              <a:ext uri="{FF2B5EF4-FFF2-40B4-BE49-F238E27FC236}">
                <a16:creationId xmlns:a16="http://schemas.microsoft.com/office/drawing/2014/main" id="{2B5BFF50-8AC7-C03D-64CA-1686FF04B366}"/>
              </a:ext>
            </a:extLst>
          </p:cNvPr>
          <p:cNvSpPr/>
          <p:nvPr/>
        </p:nvSpPr>
        <p:spPr>
          <a:xfrm>
            <a:off x="524045" y="2112137"/>
            <a:ext cx="8222913" cy="707886"/>
          </a:xfrm>
          <a:prstGeom prst="rect">
            <a:avLst/>
          </a:prstGeom>
          <a:solidFill>
            <a:schemeClr val="accent1">
              <a:lumMod val="20000"/>
              <a:lumOff val="80000"/>
            </a:schemeClr>
          </a:solidFill>
          <a:ln>
            <a:solidFill>
              <a:schemeClr val="tx1"/>
            </a:solidFill>
          </a:ln>
        </p:spPr>
        <p:txBody>
          <a:bodyPr wrap="square">
            <a:spAutoFit/>
          </a:bodyPr>
          <a:lstStyle/>
          <a:p>
            <a:r>
              <a:rPr lang="en-US" sz="2000" dirty="0">
                <a:latin typeface="Candara" panose="020E0502030303020204" pitchFamily="34" charset="0"/>
              </a:rPr>
              <a:t>Smart  contract cannot initiate transactions, therefore, some entity with EOA must create transactions at the start of each month</a:t>
            </a:r>
          </a:p>
        </p:txBody>
      </p:sp>
      <p:sp>
        <p:nvSpPr>
          <p:cNvPr id="8" name="Rectangle 7">
            <a:extLst>
              <a:ext uri="{FF2B5EF4-FFF2-40B4-BE49-F238E27FC236}">
                <a16:creationId xmlns:a16="http://schemas.microsoft.com/office/drawing/2014/main" id="{DC55D768-32C6-DECE-2DCC-794282D783CD}"/>
              </a:ext>
            </a:extLst>
          </p:cNvPr>
          <p:cNvSpPr/>
          <p:nvPr/>
        </p:nvSpPr>
        <p:spPr>
          <a:xfrm>
            <a:off x="571477" y="3051856"/>
            <a:ext cx="8173175" cy="707886"/>
          </a:xfrm>
          <a:prstGeom prst="rect">
            <a:avLst/>
          </a:prstGeom>
          <a:solidFill>
            <a:schemeClr val="accent2">
              <a:lumMod val="20000"/>
              <a:lumOff val="80000"/>
            </a:schemeClr>
          </a:solidFill>
          <a:ln>
            <a:solidFill>
              <a:schemeClr val="tx1"/>
            </a:solidFill>
          </a:ln>
        </p:spPr>
        <p:txBody>
          <a:bodyPr wrap="square">
            <a:spAutoFit/>
          </a:bodyPr>
          <a:lstStyle/>
          <a:p>
            <a:r>
              <a:rPr lang="en-US" sz="2000" dirty="0">
                <a:latin typeface="Candara" panose="020E0502030303020204" pitchFamily="34" charset="0"/>
              </a:rPr>
              <a:t>Smart contract needs the date information; therefore, some entity must provide the current date reliably </a:t>
            </a:r>
          </a:p>
        </p:txBody>
      </p:sp>
      <p:sp>
        <p:nvSpPr>
          <p:cNvPr id="9" name="Rectangle 8">
            <a:extLst>
              <a:ext uri="{FF2B5EF4-FFF2-40B4-BE49-F238E27FC236}">
                <a16:creationId xmlns:a16="http://schemas.microsoft.com/office/drawing/2014/main" id="{D014E06E-36CC-37D7-79B5-EAF2B148915C}"/>
              </a:ext>
            </a:extLst>
          </p:cNvPr>
          <p:cNvSpPr/>
          <p:nvPr/>
        </p:nvSpPr>
        <p:spPr>
          <a:xfrm>
            <a:off x="571477" y="4012969"/>
            <a:ext cx="8173175" cy="707886"/>
          </a:xfrm>
          <a:prstGeom prst="rect">
            <a:avLst/>
          </a:prstGeom>
          <a:solidFill>
            <a:schemeClr val="accent3">
              <a:lumMod val="20000"/>
              <a:lumOff val="80000"/>
            </a:schemeClr>
          </a:solidFill>
          <a:ln>
            <a:solidFill>
              <a:schemeClr val="tx1"/>
            </a:solidFill>
          </a:ln>
        </p:spPr>
        <p:txBody>
          <a:bodyPr wrap="square">
            <a:spAutoFit/>
          </a:bodyPr>
          <a:lstStyle/>
          <a:p>
            <a:r>
              <a:rPr lang="en-US" sz="2000" dirty="0">
                <a:latin typeface="Candara" panose="020E0502030303020204" pitchFamily="34" charset="0"/>
              </a:rPr>
              <a:t>Smart contract needs to do the ETH/USD conversion; therefore, some entity must provide the conversion rate</a:t>
            </a:r>
          </a:p>
        </p:txBody>
      </p:sp>
      <p:sp>
        <p:nvSpPr>
          <p:cNvPr id="10" name="Rectangle 9">
            <a:extLst>
              <a:ext uri="{FF2B5EF4-FFF2-40B4-BE49-F238E27FC236}">
                <a16:creationId xmlns:a16="http://schemas.microsoft.com/office/drawing/2014/main" id="{1BAF499B-AF8E-879C-CA7D-0F1D7740935C}"/>
              </a:ext>
            </a:extLst>
          </p:cNvPr>
          <p:cNvSpPr/>
          <p:nvPr/>
        </p:nvSpPr>
        <p:spPr>
          <a:xfrm>
            <a:off x="524045" y="1157123"/>
            <a:ext cx="11062266" cy="707886"/>
          </a:xfrm>
          <a:prstGeom prst="rect">
            <a:avLst/>
          </a:prstGeom>
          <a:noFill/>
          <a:ln>
            <a:solidFill>
              <a:schemeClr val="tx1"/>
            </a:solidFill>
          </a:ln>
        </p:spPr>
        <p:txBody>
          <a:bodyPr wrap="square">
            <a:spAutoFit/>
          </a:bodyPr>
          <a:lstStyle/>
          <a:p>
            <a:pPr algn="ctr"/>
            <a:r>
              <a:rPr lang="en-US" sz="2000" dirty="0">
                <a:latin typeface="Candara" panose="020E0502030303020204" pitchFamily="34" charset="0"/>
              </a:rPr>
              <a:t>Suppose, Alice wants to set up a trust fund to pay Bob $100 at the start of each month for the next 12 months. She can write an Ethereum smart contract (encode conditions) and lock funds into it</a:t>
            </a:r>
          </a:p>
        </p:txBody>
      </p:sp>
      <p:sp>
        <p:nvSpPr>
          <p:cNvPr id="11" name="TextBox 10">
            <a:extLst>
              <a:ext uri="{FF2B5EF4-FFF2-40B4-BE49-F238E27FC236}">
                <a16:creationId xmlns:a16="http://schemas.microsoft.com/office/drawing/2014/main" id="{9A5BD87D-B861-1983-F083-CAFF18320CDA}"/>
              </a:ext>
            </a:extLst>
          </p:cNvPr>
          <p:cNvSpPr txBox="1"/>
          <p:nvPr/>
        </p:nvSpPr>
        <p:spPr>
          <a:xfrm>
            <a:off x="8987589" y="2112137"/>
            <a:ext cx="2594990" cy="707886"/>
          </a:xfrm>
          <a:prstGeom prst="rect">
            <a:avLst/>
          </a:prstGeom>
          <a:solidFill>
            <a:schemeClr val="accent1">
              <a:lumMod val="20000"/>
              <a:lumOff val="80000"/>
            </a:schemeClr>
          </a:solidFill>
          <a:ln>
            <a:solidFill>
              <a:schemeClr val="tx1"/>
            </a:solidFill>
          </a:ln>
        </p:spPr>
        <p:txBody>
          <a:bodyPr wrap="square" rtlCol="0">
            <a:spAutoFit/>
          </a:bodyPr>
          <a:lstStyle/>
          <a:p>
            <a:pPr algn="ctr"/>
            <a:r>
              <a:rPr lang="en-US" sz="2000" dirty="0">
                <a:latin typeface="Candara" panose="020E0502030303020204" pitchFamily="34" charset="0"/>
              </a:rPr>
              <a:t>Keepers perform this job</a:t>
            </a:r>
          </a:p>
        </p:txBody>
      </p:sp>
      <p:sp>
        <p:nvSpPr>
          <p:cNvPr id="12" name="TextBox 11">
            <a:extLst>
              <a:ext uri="{FF2B5EF4-FFF2-40B4-BE49-F238E27FC236}">
                <a16:creationId xmlns:a16="http://schemas.microsoft.com/office/drawing/2014/main" id="{D454A6A7-1272-A0C8-6895-AC916129C004}"/>
              </a:ext>
            </a:extLst>
          </p:cNvPr>
          <p:cNvSpPr txBox="1"/>
          <p:nvPr/>
        </p:nvSpPr>
        <p:spPr>
          <a:xfrm>
            <a:off x="9011477" y="3067728"/>
            <a:ext cx="2594990" cy="707886"/>
          </a:xfrm>
          <a:prstGeom prst="rect">
            <a:avLst/>
          </a:prstGeom>
          <a:solidFill>
            <a:schemeClr val="accent2">
              <a:lumMod val="20000"/>
              <a:lumOff val="80000"/>
            </a:schemeClr>
          </a:solidFill>
          <a:ln>
            <a:solidFill>
              <a:schemeClr val="tx1"/>
            </a:solidFill>
          </a:ln>
        </p:spPr>
        <p:txBody>
          <a:bodyPr wrap="square" rtlCol="0">
            <a:spAutoFit/>
          </a:bodyPr>
          <a:lstStyle/>
          <a:p>
            <a:pPr algn="ctr"/>
            <a:r>
              <a:rPr lang="en-US" sz="2000" dirty="0">
                <a:latin typeface="Candara" panose="020E0502030303020204" pitchFamily="34" charset="0"/>
              </a:rPr>
              <a:t>Oracles perform this job</a:t>
            </a:r>
          </a:p>
        </p:txBody>
      </p:sp>
      <p:sp>
        <p:nvSpPr>
          <p:cNvPr id="13" name="TextBox 12">
            <a:extLst>
              <a:ext uri="{FF2B5EF4-FFF2-40B4-BE49-F238E27FC236}">
                <a16:creationId xmlns:a16="http://schemas.microsoft.com/office/drawing/2014/main" id="{18C90DAB-798E-679F-CAE0-40BE620C5C6A}"/>
              </a:ext>
            </a:extLst>
          </p:cNvPr>
          <p:cNvSpPr txBox="1"/>
          <p:nvPr/>
        </p:nvSpPr>
        <p:spPr>
          <a:xfrm>
            <a:off x="9014407" y="4023319"/>
            <a:ext cx="2592062" cy="707886"/>
          </a:xfrm>
          <a:prstGeom prst="rect">
            <a:avLst/>
          </a:prstGeom>
          <a:solidFill>
            <a:schemeClr val="accent3">
              <a:lumMod val="20000"/>
              <a:lumOff val="80000"/>
            </a:schemeClr>
          </a:solidFill>
          <a:ln>
            <a:solidFill>
              <a:schemeClr val="tx1"/>
            </a:solidFill>
          </a:ln>
        </p:spPr>
        <p:txBody>
          <a:bodyPr wrap="square" rtlCol="0">
            <a:spAutoFit/>
          </a:bodyPr>
          <a:lstStyle/>
          <a:p>
            <a:pPr algn="ctr"/>
            <a:r>
              <a:rPr lang="en-US" sz="2000" dirty="0">
                <a:latin typeface="Candara" panose="020E0502030303020204" pitchFamily="34" charset="0"/>
              </a:rPr>
              <a:t>Oracles perform this job</a:t>
            </a:r>
          </a:p>
        </p:txBody>
      </p:sp>
      <p:sp>
        <p:nvSpPr>
          <p:cNvPr id="3" name="TextBox 2">
            <a:extLst>
              <a:ext uri="{FF2B5EF4-FFF2-40B4-BE49-F238E27FC236}">
                <a16:creationId xmlns:a16="http://schemas.microsoft.com/office/drawing/2014/main" id="{52E4AAAA-75FA-C7E2-8F20-8B2F903E222B}"/>
              </a:ext>
            </a:extLst>
          </p:cNvPr>
          <p:cNvSpPr txBox="1"/>
          <p:nvPr/>
        </p:nvSpPr>
        <p:spPr>
          <a:xfrm>
            <a:off x="8987589" y="4915453"/>
            <a:ext cx="2592062" cy="707886"/>
          </a:xfrm>
          <a:prstGeom prst="rect">
            <a:avLst/>
          </a:prstGeom>
          <a:solidFill>
            <a:schemeClr val="accent3">
              <a:lumMod val="20000"/>
              <a:lumOff val="80000"/>
            </a:schemeClr>
          </a:solidFill>
          <a:ln>
            <a:solidFill>
              <a:schemeClr val="tx1"/>
            </a:solidFill>
          </a:ln>
        </p:spPr>
        <p:txBody>
          <a:bodyPr wrap="square" rtlCol="0">
            <a:spAutoFit/>
          </a:bodyPr>
          <a:lstStyle/>
          <a:p>
            <a:pPr algn="ctr"/>
            <a:r>
              <a:rPr lang="en-US" sz="2000" dirty="0">
                <a:latin typeface="Candara" panose="020E0502030303020204" pitchFamily="34" charset="0"/>
              </a:rPr>
              <a:t>Smart contract performs this job</a:t>
            </a:r>
          </a:p>
        </p:txBody>
      </p:sp>
    </p:spTree>
    <p:extLst>
      <p:ext uri="{BB962C8B-B14F-4D97-AF65-F5344CB8AC3E}">
        <p14:creationId xmlns:p14="http://schemas.microsoft.com/office/powerpoint/2010/main" val="583347790"/>
      </p:ext>
    </p:extLst>
  </p:cSld>
  <p:clrMapOvr>
    <a:masterClrMapping/>
  </p:clrMapOvr>
  <mc:AlternateContent xmlns:mc="http://schemas.openxmlformats.org/markup-compatibility/2006" xmlns:p14="http://schemas.microsoft.com/office/powerpoint/2010/main">
    <mc:Choice Requires="p14">
      <p:transition spd="slow" p14:dur="105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1" grpId="0" animBg="1"/>
      <p:bldP spid="12" grpId="0" animBg="1"/>
      <p:bldP spid="13" grpId="0" animBg="1"/>
      <p:bldP spid="3"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6DAD3C9-B17A-EF8E-FA81-9EDED5D02274}"/>
              </a:ext>
            </a:extLst>
          </p:cNvPr>
          <p:cNvSpPr>
            <a:spLocks noGrp="1"/>
          </p:cNvSpPr>
          <p:nvPr>
            <p:ph type="sldNum" sz="quarter" idx="12"/>
          </p:nvPr>
        </p:nvSpPr>
        <p:spPr/>
        <p:txBody>
          <a:bodyPr/>
          <a:lstStyle/>
          <a:p>
            <a:fld id="{19FE8B7B-3258-47CD-BBC0-34D05FC906E5}" type="slidenum">
              <a:rPr lang="en-US" smtClean="0"/>
              <a:t>98</a:t>
            </a:fld>
            <a:endParaRPr lang="en-US" dirty="0"/>
          </a:p>
        </p:txBody>
      </p:sp>
      <p:sp>
        <p:nvSpPr>
          <p:cNvPr id="4" name="Title 3">
            <a:extLst>
              <a:ext uri="{FF2B5EF4-FFF2-40B4-BE49-F238E27FC236}">
                <a16:creationId xmlns:a16="http://schemas.microsoft.com/office/drawing/2014/main" id="{EE278E37-2C93-B68F-369B-53596B6280F4}"/>
              </a:ext>
            </a:extLst>
          </p:cNvPr>
          <p:cNvSpPr>
            <a:spLocks noGrp="1"/>
          </p:cNvSpPr>
          <p:nvPr>
            <p:ph type="title"/>
          </p:nvPr>
        </p:nvSpPr>
        <p:spPr/>
        <p:txBody>
          <a:bodyPr/>
          <a:lstStyle/>
          <a:p>
            <a:r>
              <a:rPr lang="en-US" dirty="0"/>
              <a:t>Value Transfer from one World to Another </a:t>
            </a:r>
          </a:p>
        </p:txBody>
      </p:sp>
      <p:sp>
        <p:nvSpPr>
          <p:cNvPr id="32" name="TextBox 31">
            <a:extLst>
              <a:ext uri="{FF2B5EF4-FFF2-40B4-BE49-F238E27FC236}">
                <a16:creationId xmlns:a16="http://schemas.microsoft.com/office/drawing/2014/main" id="{12F16F0B-11DE-1976-7F60-742C91BD735F}"/>
              </a:ext>
            </a:extLst>
          </p:cNvPr>
          <p:cNvSpPr txBox="1"/>
          <p:nvPr/>
        </p:nvSpPr>
        <p:spPr>
          <a:xfrm>
            <a:off x="487680" y="1092703"/>
            <a:ext cx="11115315" cy="830997"/>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Candara" panose="020E0502030303020204" pitchFamily="34" charset="0"/>
              </a:rPr>
              <a:t>Moving the value of any non-native asset from one world to another</a:t>
            </a:r>
          </a:p>
          <a:p>
            <a:pPr marL="342900" indent="-342900">
              <a:buFont typeface="Arial" panose="020B0604020202020204" pitchFamily="34" charset="0"/>
              <a:buChar char="•"/>
            </a:pPr>
            <a:r>
              <a:rPr lang="en-US" sz="2400" dirty="0">
                <a:latin typeface="Candara" panose="020E0502030303020204" pitchFamily="34" charset="0"/>
              </a:rPr>
              <a:t>Moving the value of any non-programmable asset to a programmable blockchain</a:t>
            </a:r>
          </a:p>
        </p:txBody>
      </p:sp>
      <p:pic>
        <p:nvPicPr>
          <p:cNvPr id="33" name="Picture 32">
            <a:extLst>
              <a:ext uri="{FF2B5EF4-FFF2-40B4-BE49-F238E27FC236}">
                <a16:creationId xmlns:a16="http://schemas.microsoft.com/office/drawing/2014/main" id="{FECD8E13-C12C-2C05-2495-BC59E8E12BE0}"/>
              </a:ext>
            </a:extLst>
          </p:cNvPr>
          <p:cNvPicPr>
            <a:picLocks noChangeAspect="1"/>
          </p:cNvPicPr>
          <p:nvPr/>
        </p:nvPicPr>
        <p:blipFill>
          <a:blip r:embed="rId2"/>
          <a:stretch>
            <a:fillRect/>
          </a:stretch>
        </p:blipFill>
        <p:spPr>
          <a:xfrm>
            <a:off x="1253044" y="2092850"/>
            <a:ext cx="7151698" cy="4236356"/>
          </a:xfrm>
          <a:prstGeom prst="rect">
            <a:avLst/>
          </a:prstGeom>
        </p:spPr>
      </p:pic>
      <p:sp>
        <p:nvSpPr>
          <p:cNvPr id="5" name="TextBox 4">
            <a:extLst>
              <a:ext uri="{FF2B5EF4-FFF2-40B4-BE49-F238E27FC236}">
                <a16:creationId xmlns:a16="http://schemas.microsoft.com/office/drawing/2014/main" id="{BE4B306C-788F-782D-9D5A-AC4F8ECA07E1}"/>
              </a:ext>
            </a:extLst>
          </p:cNvPr>
          <p:cNvSpPr txBox="1"/>
          <p:nvPr/>
        </p:nvSpPr>
        <p:spPr>
          <a:xfrm>
            <a:off x="8710246" y="3017417"/>
            <a:ext cx="2892749" cy="1631216"/>
          </a:xfrm>
          <a:prstGeom prst="rect">
            <a:avLst/>
          </a:prstGeom>
          <a:noFill/>
        </p:spPr>
        <p:txBody>
          <a:bodyPr wrap="square" rtlCol="0">
            <a:spAutoFit/>
          </a:bodyPr>
          <a:lstStyle/>
          <a:p>
            <a:pPr marL="285750" indent="-285750" algn="l">
              <a:buFont typeface="Arial" panose="020B0604020202020204" pitchFamily="34" charset="0"/>
              <a:buChar char="•"/>
            </a:pPr>
            <a:r>
              <a:rPr lang="en-US" sz="2000" dirty="0">
                <a:latin typeface="Candara" panose="020E0502030303020204" pitchFamily="34" charset="0"/>
              </a:rPr>
              <a:t>Stable coins</a:t>
            </a:r>
          </a:p>
          <a:p>
            <a:pPr marL="285750" indent="-285750" algn="l">
              <a:buFont typeface="Arial" panose="020B0604020202020204" pitchFamily="34" charset="0"/>
              <a:buChar char="•"/>
            </a:pPr>
            <a:r>
              <a:rPr lang="en-US" sz="2000" dirty="0">
                <a:latin typeface="Candara" panose="020E0502030303020204" pitchFamily="34" charset="0"/>
              </a:rPr>
              <a:t>Real world Asset (RWA) tokenization</a:t>
            </a:r>
          </a:p>
          <a:p>
            <a:pPr marL="285750" indent="-285750" algn="l">
              <a:buFont typeface="Arial" panose="020B0604020202020204" pitchFamily="34" charset="0"/>
              <a:buChar char="•"/>
            </a:pPr>
            <a:r>
              <a:rPr lang="en-US" sz="2000" dirty="0">
                <a:latin typeface="Candara" panose="020E0502030303020204" pitchFamily="34" charset="0"/>
              </a:rPr>
              <a:t>Wrapped BTC</a:t>
            </a:r>
          </a:p>
          <a:p>
            <a:pPr marL="285750" indent="-285750" algn="l">
              <a:buFont typeface="Arial" panose="020B0604020202020204" pitchFamily="34" charset="0"/>
              <a:buChar char="•"/>
            </a:pPr>
            <a:r>
              <a:rPr lang="en-US" sz="2000" dirty="0">
                <a:latin typeface="Candara" panose="020E0502030303020204" pitchFamily="34" charset="0"/>
              </a:rPr>
              <a:t>Cross-chain bridges</a:t>
            </a:r>
          </a:p>
        </p:txBody>
      </p:sp>
    </p:spTree>
    <p:extLst>
      <p:ext uri="{BB962C8B-B14F-4D97-AF65-F5344CB8AC3E}">
        <p14:creationId xmlns:p14="http://schemas.microsoft.com/office/powerpoint/2010/main" val="369184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24704-9DA4-903F-A5FD-654FD1834F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6BC03A-A845-F9AF-5762-E64ACE4204C8}"/>
              </a:ext>
            </a:extLst>
          </p:cNvPr>
          <p:cNvSpPr>
            <a:spLocks noGrp="1"/>
          </p:cNvSpPr>
          <p:nvPr>
            <p:ph type="title"/>
          </p:nvPr>
        </p:nvSpPr>
        <p:spPr>
          <a:xfrm>
            <a:off x="1273216" y="136525"/>
            <a:ext cx="10080584" cy="908090"/>
          </a:xfrm>
        </p:spPr>
        <p:txBody>
          <a:bodyPr>
            <a:normAutofit/>
          </a:bodyPr>
          <a:lstStyle/>
          <a:p>
            <a:r>
              <a:rPr lang="en-US" dirty="0"/>
              <a:t>Programmable Value</a:t>
            </a:r>
          </a:p>
        </p:txBody>
      </p:sp>
      <p:sp>
        <p:nvSpPr>
          <p:cNvPr id="4" name="Slide Number Placeholder 3">
            <a:extLst>
              <a:ext uri="{FF2B5EF4-FFF2-40B4-BE49-F238E27FC236}">
                <a16:creationId xmlns:a16="http://schemas.microsoft.com/office/drawing/2014/main" id="{05D72008-FFA1-5371-3D4E-AEE733F41AF4}"/>
              </a:ext>
            </a:extLst>
          </p:cNvPr>
          <p:cNvSpPr>
            <a:spLocks noGrp="1"/>
          </p:cNvSpPr>
          <p:nvPr>
            <p:ph type="sldNum" sz="quarter" idx="12"/>
          </p:nvPr>
        </p:nvSpPr>
        <p:spPr/>
        <p:txBody>
          <a:bodyPr/>
          <a:lstStyle/>
          <a:p>
            <a:fld id="{19FE8B7B-3258-47CD-BBC0-34D05FC906E5}" type="slidenum">
              <a:rPr lang="en-US" smtClean="0"/>
              <a:t>99</a:t>
            </a:fld>
            <a:endParaRPr lang="en-US" dirty="0"/>
          </a:p>
        </p:txBody>
      </p:sp>
      <p:pic>
        <p:nvPicPr>
          <p:cNvPr id="23" name="Picture 22">
            <a:extLst>
              <a:ext uri="{FF2B5EF4-FFF2-40B4-BE49-F238E27FC236}">
                <a16:creationId xmlns:a16="http://schemas.microsoft.com/office/drawing/2014/main" id="{68DEF217-CD3C-3A2E-972F-59070B4C01AF}"/>
              </a:ext>
            </a:extLst>
          </p:cNvPr>
          <p:cNvPicPr>
            <a:picLocks noChangeAspect="1"/>
          </p:cNvPicPr>
          <p:nvPr/>
        </p:nvPicPr>
        <p:blipFill>
          <a:blip r:embed="rId3"/>
          <a:stretch>
            <a:fillRect/>
          </a:stretch>
        </p:blipFill>
        <p:spPr>
          <a:xfrm>
            <a:off x="921766" y="1240701"/>
            <a:ext cx="4445430" cy="1645922"/>
          </a:xfrm>
          <a:prstGeom prst="rect">
            <a:avLst/>
          </a:prstGeom>
        </p:spPr>
      </p:pic>
      <p:pic>
        <p:nvPicPr>
          <p:cNvPr id="24" name="Picture 23">
            <a:extLst>
              <a:ext uri="{FF2B5EF4-FFF2-40B4-BE49-F238E27FC236}">
                <a16:creationId xmlns:a16="http://schemas.microsoft.com/office/drawing/2014/main" id="{0C43C549-BE0C-D7EE-7554-B7F1F40D1E05}"/>
              </a:ext>
            </a:extLst>
          </p:cNvPr>
          <p:cNvPicPr>
            <a:picLocks noChangeAspect="1"/>
          </p:cNvPicPr>
          <p:nvPr/>
        </p:nvPicPr>
        <p:blipFill>
          <a:blip r:embed="rId4"/>
          <a:stretch>
            <a:fillRect/>
          </a:stretch>
        </p:blipFill>
        <p:spPr>
          <a:xfrm>
            <a:off x="921766" y="3045263"/>
            <a:ext cx="4445430" cy="1645922"/>
          </a:xfrm>
          <a:prstGeom prst="rect">
            <a:avLst/>
          </a:prstGeom>
        </p:spPr>
      </p:pic>
      <p:pic>
        <p:nvPicPr>
          <p:cNvPr id="25" name="Picture 24">
            <a:extLst>
              <a:ext uri="{FF2B5EF4-FFF2-40B4-BE49-F238E27FC236}">
                <a16:creationId xmlns:a16="http://schemas.microsoft.com/office/drawing/2014/main" id="{E5AD1CF5-A50E-730A-8C58-D511B73B33DE}"/>
              </a:ext>
            </a:extLst>
          </p:cNvPr>
          <p:cNvPicPr>
            <a:picLocks noChangeAspect="1"/>
          </p:cNvPicPr>
          <p:nvPr/>
        </p:nvPicPr>
        <p:blipFill>
          <a:blip r:embed="rId5"/>
          <a:stretch>
            <a:fillRect/>
          </a:stretch>
        </p:blipFill>
        <p:spPr>
          <a:xfrm>
            <a:off x="921765" y="4849825"/>
            <a:ext cx="4445429" cy="1645922"/>
          </a:xfrm>
          <a:prstGeom prst="rect">
            <a:avLst/>
          </a:prstGeom>
        </p:spPr>
      </p:pic>
      <p:pic>
        <p:nvPicPr>
          <p:cNvPr id="5" name="Picture 4">
            <a:extLst>
              <a:ext uri="{FF2B5EF4-FFF2-40B4-BE49-F238E27FC236}">
                <a16:creationId xmlns:a16="http://schemas.microsoft.com/office/drawing/2014/main" id="{1AE715AF-C642-6CA7-F7B5-22425C79AA29}"/>
              </a:ext>
            </a:extLst>
          </p:cNvPr>
          <p:cNvPicPr>
            <a:picLocks noChangeAspect="1"/>
          </p:cNvPicPr>
          <p:nvPr/>
        </p:nvPicPr>
        <p:blipFill>
          <a:blip r:embed="rId6"/>
          <a:stretch>
            <a:fillRect/>
          </a:stretch>
        </p:blipFill>
        <p:spPr>
          <a:xfrm>
            <a:off x="5841178" y="1005086"/>
            <a:ext cx="5606086" cy="5606086"/>
          </a:xfrm>
          <a:prstGeom prst="rect">
            <a:avLst/>
          </a:prstGeom>
        </p:spPr>
      </p:pic>
    </p:spTree>
    <p:extLst>
      <p:ext uri="{BB962C8B-B14F-4D97-AF65-F5344CB8AC3E}">
        <p14:creationId xmlns:p14="http://schemas.microsoft.com/office/powerpoint/2010/main" val="3685920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64791</TotalTime>
  <Words>11101</Words>
  <Application>Microsoft Office PowerPoint</Application>
  <PresentationFormat>Widescreen</PresentationFormat>
  <Paragraphs>1502</Paragraphs>
  <Slides>99</Slides>
  <Notes>57</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99</vt:i4>
      </vt:variant>
    </vt:vector>
  </HeadingPairs>
  <TitlesOfParts>
    <vt:vector size="108" baseType="lpstr">
      <vt:lpstr>Aptos</vt:lpstr>
      <vt:lpstr>Arial</vt:lpstr>
      <vt:lpstr>Calibri</vt:lpstr>
      <vt:lpstr>Cambria Math</vt:lpstr>
      <vt:lpstr>Candara</vt:lpstr>
      <vt:lpstr>System Font Regular</vt:lpstr>
      <vt:lpstr>Wingdings</vt:lpstr>
      <vt:lpstr>1_Office Theme</vt:lpstr>
      <vt:lpstr>2_Office Theme</vt:lpstr>
      <vt:lpstr>Introduction to Blockchain  CSE-355</vt:lpstr>
      <vt:lpstr>Lecture 21 Tuesday, Apr 14, 2026</vt:lpstr>
      <vt:lpstr>Risks of Turing-Completeness</vt:lpstr>
      <vt:lpstr>Introduce Computational Cost: Gas</vt:lpstr>
      <vt:lpstr>Gas Cost of Instructions</vt:lpstr>
      <vt:lpstr>Transactions are Atomic</vt:lpstr>
      <vt:lpstr>Attack Scenario: Example</vt:lpstr>
      <vt:lpstr>Failed Transaction: Example</vt:lpstr>
      <vt:lpstr>Attack Scenario: Example</vt:lpstr>
      <vt:lpstr>Attack Scenario: Example</vt:lpstr>
      <vt:lpstr>Gas is Purchased with Ether</vt:lpstr>
      <vt:lpstr>ETH Supply Model</vt:lpstr>
      <vt:lpstr>ETH Supply &amp; ETH Burning</vt:lpstr>
      <vt:lpstr>ETH Burning</vt:lpstr>
      <vt:lpstr>Price vs Market Cap</vt:lpstr>
      <vt:lpstr>Lecture 22 Thursday, Apr 16, 2026</vt:lpstr>
      <vt:lpstr>Ethereum: Technical Details</vt:lpstr>
      <vt:lpstr>Account Types in Ethereum</vt:lpstr>
      <vt:lpstr>Externally Owned Account (EOA)</vt:lpstr>
      <vt:lpstr>Contract Account (CA)</vt:lpstr>
      <vt:lpstr>Account State</vt:lpstr>
      <vt:lpstr>Blockchain</vt:lpstr>
      <vt:lpstr>Alternate View of Blockchain – World State</vt:lpstr>
      <vt:lpstr>Transaction</vt:lpstr>
      <vt:lpstr>Block</vt:lpstr>
      <vt:lpstr>Blockchain</vt:lpstr>
      <vt:lpstr>Transactions Change World State</vt:lpstr>
      <vt:lpstr>Transactions</vt:lpstr>
      <vt:lpstr>EIP-1559 Transaction</vt:lpstr>
      <vt:lpstr>Accounts &amp; Transactions</vt:lpstr>
      <vt:lpstr>Nonce Role</vt:lpstr>
      <vt:lpstr>Nonce Role</vt:lpstr>
      <vt:lpstr>Nonce Role</vt:lpstr>
      <vt:lpstr>Lecture 23 Tuesday, Apr 21, 2026</vt:lpstr>
      <vt:lpstr>Contract Deployment</vt:lpstr>
      <vt:lpstr>Contract Deployment Transaction – Example </vt:lpstr>
      <vt:lpstr>Size of Contract Code</vt:lpstr>
      <vt:lpstr>Maintaining a Target Gas Limit</vt:lpstr>
      <vt:lpstr>Percentage Gas Used and Gas Target</vt:lpstr>
      <vt:lpstr>Block Base Fee calculation</vt:lpstr>
      <vt:lpstr>Is Storing Transactions in Blocks Sufficient?</vt:lpstr>
      <vt:lpstr>Storing Transactions is Not Sufficient</vt:lpstr>
      <vt:lpstr>Where is the World State Stored?</vt:lpstr>
      <vt:lpstr>World State Trie</vt:lpstr>
      <vt:lpstr>Merkle Patricia Trie (MPT)</vt:lpstr>
      <vt:lpstr>Lecture 24 Thursday, Apr 23, 2026</vt:lpstr>
      <vt:lpstr>Hexary MPT</vt:lpstr>
      <vt:lpstr>Hexary MPT</vt:lpstr>
      <vt:lpstr>Ethereum Unique Addresses</vt:lpstr>
      <vt:lpstr>Ethereum’s Modified MPT</vt:lpstr>
      <vt:lpstr>Ethereum’s Modified MPT</vt:lpstr>
      <vt:lpstr>Simplified Modified MPT Example</vt:lpstr>
      <vt:lpstr>Simplified Modified MPT Example</vt:lpstr>
      <vt:lpstr>Simplified Modified MPT Example</vt:lpstr>
      <vt:lpstr>Simplified Modified MPT Example</vt:lpstr>
      <vt:lpstr>Ethereum Unique Addresses</vt:lpstr>
      <vt:lpstr>Daily Active Ethereum Addresses</vt:lpstr>
      <vt:lpstr>State Trie Update – Example</vt:lpstr>
      <vt:lpstr>State Trie Update – Example</vt:lpstr>
      <vt:lpstr>State Trie Update – Example</vt:lpstr>
      <vt:lpstr>Why hash of addresses as path key?</vt:lpstr>
      <vt:lpstr>Ethereum Tries</vt:lpstr>
      <vt:lpstr>State Tries in Block Header</vt:lpstr>
      <vt:lpstr>Ethereum Full Node</vt:lpstr>
      <vt:lpstr>Full Node Limitation</vt:lpstr>
      <vt:lpstr>Ethereum Node Types</vt:lpstr>
      <vt:lpstr>The Merge – Switch to PoS Consensus</vt:lpstr>
      <vt:lpstr>PoW vs PoS</vt:lpstr>
      <vt:lpstr>Scalability </vt:lpstr>
      <vt:lpstr>Reasons for the Merge</vt:lpstr>
      <vt:lpstr>Ethereum PoS Energy Consumption</vt:lpstr>
      <vt:lpstr>Ethereum PoS</vt:lpstr>
      <vt:lpstr>Ethereum PoS – Validators</vt:lpstr>
      <vt:lpstr>Roles of Validator and Network</vt:lpstr>
      <vt:lpstr>Transaction Fee</vt:lpstr>
      <vt:lpstr>More Transactions More Gas</vt:lpstr>
      <vt:lpstr>Rollup</vt:lpstr>
      <vt:lpstr>Take Transaction Processing off-chain</vt:lpstr>
      <vt:lpstr>Lock Funds in a Smart Contract</vt:lpstr>
      <vt:lpstr>Off-Chain Transaction Batching</vt:lpstr>
      <vt:lpstr>Rollups </vt:lpstr>
      <vt:lpstr>Optimistic Rollup</vt:lpstr>
      <vt:lpstr>ZK-Rollup</vt:lpstr>
      <vt:lpstr>How Rollups Guarantee Ethereum Security?</vt:lpstr>
      <vt:lpstr>Rollup Ecosystem</vt:lpstr>
      <vt:lpstr>EIP-4844: Shard Blob Transactions </vt:lpstr>
      <vt:lpstr>Data Blobs</vt:lpstr>
      <vt:lpstr>Blob Transaction Example</vt:lpstr>
      <vt:lpstr>Blobs are not Stored Permanently </vt:lpstr>
      <vt:lpstr>Blob Transaction Life Cycle</vt:lpstr>
      <vt:lpstr>KZG Commitment</vt:lpstr>
      <vt:lpstr>From Sharding to DankSharding</vt:lpstr>
      <vt:lpstr>DankSharding</vt:lpstr>
      <vt:lpstr>Data Sharding</vt:lpstr>
      <vt:lpstr>Entities Required for Automation</vt:lpstr>
      <vt:lpstr>Keepers &amp; Oracles</vt:lpstr>
      <vt:lpstr>Keepers &amp; Oracles for Full Automation</vt:lpstr>
      <vt:lpstr>Value Transfer from one World to Another </vt:lpstr>
      <vt:lpstr>Programmable Value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Naveed ul Hassan</dc:creator>
  <cp:lastModifiedBy>Dr. Ahmed Akhtar / Assistant Professor</cp:lastModifiedBy>
  <cp:revision>1447</cp:revision>
  <dcterms:created xsi:type="dcterms:W3CDTF">2025-09-04T06:31:15Z</dcterms:created>
  <dcterms:modified xsi:type="dcterms:W3CDTF">2026-04-28T09:37:15Z</dcterms:modified>
</cp:coreProperties>
</file>