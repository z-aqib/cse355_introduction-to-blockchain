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90"/>
  </p:notesMasterIdLst>
  <p:sldIdLst>
    <p:sldId id="1585" r:id="rId3"/>
    <p:sldId id="1876" r:id="rId4"/>
    <p:sldId id="1869" r:id="rId5"/>
    <p:sldId id="1732" r:id="rId6"/>
    <p:sldId id="1878" r:id="rId7"/>
    <p:sldId id="1535" r:id="rId8"/>
    <p:sldId id="1733" r:id="rId9"/>
    <p:sldId id="1881" r:id="rId10"/>
    <p:sldId id="1778" r:id="rId11"/>
    <p:sldId id="1879" r:id="rId12"/>
    <p:sldId id="1882" r:id="rId13"/>
    <p:sldId id="1779" r:id="rId14"/>
    <p:sldId id="1780" r:id="rId15"/>
    <p:sldId id="1781" r:id="rId16"/>
    <p:sldId id="1782" r:id="rId17"/>
    <p:sldId id="1877" r:id="rId18"/>
    <p:sldId id="944" r:id="rId19"/>
    <p:sldId id="945" r:id="rId20"/>
    <p:sldId id="946" r:id="rId21"/>
    <p:sldId id="947" r:id="rId22"/>
    <p:sldId id="1845" r:id="rId23"/>
    <p:sldId id="1783" r:id="rId24"/>
    <p:sldId id="1734" r:id="rId25"/>
    <p:sldId id="1784" r:id="rId26"/>
    <p:sldId id="1735" r:id="rId27"/>
    <p:sldId id="1737" r:id="rId28"/>
    <p:sldId id="1761" r:id="rId29"/>
    <p:sldId id="1757" r:id="rId30"/>
    <p:sldId id="1758" r:id="rId31"/>
    <p:sldId id="1870" r:id="rId32"/>
    <p:sldId id="1883" r:id="rId33"/>
    <p:sldId id="1738" r:id="rId34"/>
    <p:sldId id="1741" r:id="rId35"/>
    <p:sldId id="1860" r:id="rId36"/>
    <p:sldId id="1863" r:id="rId37"/>
    <p:sldId id="1744" r:id="rId38"/>
    <p:sldId id="1760" r:id="rId39"/>
    <p:sldId id="1759" r:id="rId40"/>
    <p:sldId id="1788" r:id="rId41"/>
    <p:sldId id="1792" r:id="rId42"/>
    <p:sldId id="1884" r:id="rId43"/>
    <p:sldId id="1793" r:id="rId44"/>
    <p:sldId id="1794" r:id="rId45"/>
    <p:sldId id="1795" r:id="rId46"/>
    <p:sldId id="1796" r:id="rId47"/>
    <p:sldId id="1797" r:id="rId48"/>
    <p:sldId id="1798" r:id="rId49"/>
    <p:sldId id="1820" r:id="rId50"/>
    <p:sldId id="1089" r:id="rId51"/>
    <p:sldId id="1799" r:id="rId52"/>
    <p:sldId id="1885" r:id="rId53"/>
    <p:sldId id="1748" r:id="rId54"/>
    <p:sldId id="1751" r:id="rId55"/>
    <p:sldId id="1753" r:id="rId56"/>
    <p:sldId id="1755" r:id="rId57"/>
    <p:sldId id="1756" r:id="rId58"/>
    <p:sldId id="1861" r:id="rId59"/>
    <p:sldId id="1762" r:id="rId60"/>
    <p:sldId id="1805" r:id="rId61"/>
    <p:sldId id="1886" r:id="rId62"/>
    <p:sldId id="1806" r:id="rId63"/>
    <p:sldId id="1808" r:id="rId64"/>
    <p:sldId id="1809" r:id="rId65"/>
    <p:sldId id="1871" r:id="rId66"/>
    <p:sldId id="1811" r:id="rId67"/>
    <p:sldId id="1810" r:id="rId68"/>
    <p:sldId id="1812" r:id="rId69"/>
    <p:sldId id="1872" r:id="rId70"/>
    <p:sldId id="1813" r:id="rId71"/>
    <p:sldId id="1815" r:id="rId72"/>
    <p:sldId id="1816" r:id="rId73"/>
    <p:sldId id="1817" r:id="rId74"/>
    <p:sldId id="1766" r:id="rId75"/>
    <p:sldId id="1825" r:id="rId76"/>
    <p:sldId id="1827" r:id="rId77"/>
    <p:sldId id="1824" r:id="rId78"/>
    <p:sldId id="1833" r:id="rId79"/>
    <p:sldId id="1830" r:id="rId80"/>
    <p:sldId id="1730" r:id="rId81"/>
    <p:sldId id="1829" r:id="rId82"/>
    <p:sldId id="1731" r:id="rId83"/>
    <p:sldId id="1835" r:id="rId84"/>
    <p:sldId id="1836" r:id="rId85"/>
    <p:sldId id="1837" r:id="rId86"/>
    <p:sldId id="1838" r:id="rId87"/>
    <p:sldId id="1840" r:id="rId88"/>
    <p:sldId id="1847"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7825"/>
    <a:srgbClr val="EAF0B4"/>
    <a:srgbClr val="FFE699"/>
    <a:srgbClr val="B3D7EF"/>
    <a:srgbClr val="C3B4EF"/>
    <a:srgbClr val="9DC3E6"/>
    <a:srgbClr val="680E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A28863-9207-48FD-8BF3-2F74D7397D43}" v="52" dt="2026-04-02T10:45:46.1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5097" autoAdjust="0"/>
  </p:normalViewPr>
  <p:slideViewPr>
    <p:cSldViewPr snapToGrid="0">
      <p:cViewPr varScale="1">
        <p:scale>
          <a:sx n="80" d="100"/>
          <a:sy n="80" d="100"/>
        </p:scale>
        <p:origin x="7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khtar" userId="24df8cbf-c4bb-4b0f-990a-c34b46f32809" providerId="ADAL" clId="{7B603757-AF4F-447D-9CF3-5B3B3781D1BD}"/>
    <pc:docChg chg="undo custSel addSld delSld modSld sldOrd modMainMaster">
      <pc:chgData name="Ahmed Akhtar" userId="24df8cbf-c4bb-4b0f-990a-c34b46f32809" providerId="ADAL" clId="{7B603757-AF4F-447D-9CF3-5B3B3781D1BD}" dt="2026-04-02T10:45:46.101" v="813" actId="20577"/>
      <pc:docMkLst>
        <pc:docMk/>
      </pc:docMkLst>
      <pc:sldChg chg="addAnim delAnim modAnim">
        <pc:chgData name="Ahmed Akhtar" userId="24df8cbf-c4bb-4b0f-990a-c34b46f32809" providerId="ADAL" clId="{7B603757-AF4F-447D-9CF3-5B3B3781D1BD}" dt="2026-03-05T06:52:31.669" v="692"/>
        <pc:sldMkLst>
          <pc:docMk/>
          <pc:sldMk cId="4217360591" sldId="947"/>
        </pc:sldMkLst>
      </pc:sldChg>
      <pc:sldChg chg="modSp">
        <pc:chgData name="Ahmed Akhtar" userId="24df8cbf-c4bb-4b0f-990a-c34b46f32809" providerId="ADAL" clId="{7B603757-AF4F-447D-9CF3-5B3B3781D1BD}" dt="2026-03-05T06:56:06.590" v="695" actId="20577"/>
        <pc:sldMkLst>
          <pc:docMk/>
          <pc:sldMk cId="1444944046" sldId="1734"/>
        </pc:sldMkLst>
        <pc:spChg chg="mod">
          <ac:chgData name="Ahmed Akhtar" userId="24df8cbf-c4bb-4b0f-990a-c34b46f32809" providerId="ADAL" clId="{7B603757-AF4F-447D-9CF3-5B3B3781D1BD}" dt="2026-03-05T06:56:06.590" v="695" actId="20577"/>
          <ac:spMkLst>
            <pc:docMk/>
            <pc:sldMk cId="1444944046" sldId="1734"/>
            <ac:spMk id="3" creationId="{0C1165CA-7CFE-602F-1342-55236492475A}"/>
          </ac:spMkLst>
        </pc:spChg>
      </pc:sldChg>
      <pc:sldChg chg="modNotesTx">
        <pc:chgData name="Ahmed Akhtar" userId="24df8cbf-c4bb-4b0f-990a-c34b46f32809" providerId="ADAL" clId="{7B603757-AF4F-447D-9CF3-5B3B3781D1BD}" dt="2026-03-05T08:02:15.825" v="700" actId="20577"/>
        <pc:sldMkLst>
          <pc:docMk/>
          <pc:sldMk cId="1415215691" sldId="1761"/>
        </pc:sldMkLst>
      </pc:sldChg>
      <pc:sldChg chg="modSp mod">
        <pc:chgData name="Ahmed Akhtar" userId="24df8cbf-c4bb-4b0f-990a-c34b46f32809" providerId="ADAL" clId="{7B603757-AF4F-447D-9CF3-5B3B3781D1BD}" dt="2026-04-01T08:49:50.969" v="752" actId="20577"/>
        <pc:sldMkLst>
          <pc:docMk/>
          <pc:sldMk cId="3104867491" sldId="1762"/>
        </pc:sldMkLst>
        <pc:spChg chg="mod">
          <ac:chgData name="Ahmed Akhtar" userId="24df8cbf-c4bb-4b0f-990a-c34b46f32809" providerId="ADAL" clId="{7B603757-AF4F-447D-9CF3-5B3B3781D1BD}" dt="2026-04-01T08:49:50.969" v="752" actId="20577"/>
          <ac:spMkLst>
            <pc:docMk/>
            <pc:sldMk cId="3104867491" sldId="1762"/>
            <ac:spMk id="2" creationId="{B03077B8-D033-8CF4-1BFF-AC5156140C02}"/>
          </ac:spMkLst>
        </pc:spChg>
      </pc:sldChg>
      <pc:sldChg chg="addAnim delAnim">
        <pc:chgData name="Ahmed Akhtar" userId="24df8cbf-c4bb-4b0f-990a-c34b46f32809" providerId="ADAL" clId="{7B603757-AF4F-447D-9CF3-5B3B3781D1BD}" dt="2026-03-26T09:15:03.889" v="736"/>
        <pc:sldMkLst>
          <pc:docMk/>
          <pc:sldMk cId="2368618250" sldId="1793"/>
        </pc:sldMkLst>
      </pc:sldChg>
      <pc:sldChg chg="addAnim delAnim">
        <pc:chgData name="Ahmed Akhtar" userId="24df8cbf-c4bb-4b0f-990a-c34b46f32809" providerId="ADAL" clId="{7B603757-AF4F-447D-9CF3-5B3B3781D1BD}" dt="2026-03-26T09:16:00.408" v="739"/>
        <pc:sldMkLst>
          <pc:docMk/>
          <pc:sldMk cId="2998326862" sldId="1794"/>
        </pc:sldMkLst>
      </pc:sldChg>
      <pc:sldChg chg="addAnim delAnim">
        <pc:chgData name="Ahmed Akhtar" userId="24df8cbf-c4bb-4b0f-990a-c34b46f32809" providerId="ADAL" clId="{7B603757-AF4F-447D-9CF3-5B3B3781D1BD}" dt="2026-03-26T09:30:29.272" v="743"/>
        <pc:sldMkLst>
          <pc:docMk/>
          <pc:sldMk cId="4216809084" sldId="1796"/>
        </pc:sldMkLst>
      </pc:sldChg>
      <pc:sldChg chg="addSp modSp mod modAnim">
        <pc:chgData name="Ahmed Akhtar" userId="24df8cbf-c4bb-4b0f-990a-c34b46f32809" providerId="ADAL" clId="{7B603757-AF4F-447D-9CF3-5B3B3781D1BD}" dt="2026-04-02T10:00:35.484" v="812"/>
        <pc:sldMkLst>
          <pc:docMk/>
          <pc:sldMk cId="520282481" sldId="1806"/>
        </pc:sldMkLst>
        <pc:spChg chg="mod">
          <ac:chgData name="Ahmed Akhtar" userId="24df8cbf-c4bb-4b0f-990a-c34b46f32809" providerId="ADAL" clId="{7B603757-AF4F-447D-9CF3-5B3B3781D1BD}" dt="2026-04-02T10:00:14.105" v="811" actId="20577"/>
          <ac:spMkLst>
            <pc:docMk/>
            <pc:sldMk cId="520282481" sldId="1806"/>
            <ac:spMk id="11" creationId="{1E9A6806-7BBC-9637-C2BC-A5F9E8E373DD}"/>
          </ac:spMkLst>
        </pc:spChg>
        <pc:spChg chg="mod">
          <ac:chgData name="Ahmed Akhtar" userId="24df8cbf-c4bb-4b0f-990a-c34b46f32809" providerId="ADAL" clId="{7B603757-AF4F-447D-9CF3-5B3B3781D1BD}" dt="2026-04-02T08:07:07.488" v="754" actId="1076"/>
          <ac:spMkLst>
            <pc:docMk/>
            <pc:sldMk cId="520282481" sldId="1806"/>
            <ac:spMk id="25" creationId="{E66129FA-6D6C-EA5B-AA28-BEA10BE2305F}"/>
          </ac:spMkLst>
        </pc:spChg>
        <pc:graphicFrameChg chg="add mod">
          <ac:chgData name="Ahmed Akhtar" userId="24df8cbf-c4bb-4b0f-990a-c34b46f32809" providerId="ADAL" clId="{7B603757-AF4F-447D-9CF3-5B3B3781D1BD}" dt="2026-04-02T09:59:57.395" v="807"/>
          <ac:graphicFrameMkLst>
            <pc:docMk/>
            <pc:sldMk cId="520282481" sldId="1806"/>
            <ac:graphicFrameMk id="3" creationId="{DDB77B45-FAAE-9EA7-954F-D64CDB759753}"/>
          </ac:graphicFrameMkLst>
        </pc:graphicFrameChg>
      </pc:sldChg>
      <pc:sldChg chg="addSp modSp mod modAnim">
        <pc:chgData name="Ahmed Akhtar" userId="24df8cbf-c4bb-4b0f-990a-c34b46f32809" providerId="ADAL" clId="{7B603757-AF4F-447D-9CF3-5B3B3781D1BD}" dt="2026-04-02T08:13:29.089" v="759"/>
        <pc:sldMkLst>
          <pc:docMk/>
          <pc:sldMk cId="1008477357" sldId="1808"/>
        </pc:sldMkLst>
        <pc:spChg chg="add mod">
          <ac:chgData name="Ahmed Akhtar" userId="24df8cbf-c4bb-4b0f-990a-c34b46f32809" providerId="ADAL" clId="{7B603757-AF4F-447D-9CF3-5B3B3781D1BD}" dt="2026-04-02T08:13:23.951" v="758" actId="1076"/>
          <ac:spMkLst>
            <pc:docMk/>
            <pc:sldMk cId="1008477357" sldId="1808"/>
            <ac:spMk id="7" creationId="{5DDE94AD-1244-2357-3744-2F417D1953C9}"/>
          </ac:spMkLst>
        </pc:spChg>
      </pc:sldChg>
      <pc:sldChg chg="modSp">
        <pc:chgData name="Ahmed Akhtar" userId="24df8cbf-c4bb-4b0f-990a-c34b46f32809" providerId="ADAL" clId="{7B603757-AF4F-447D-9CF3-5B3B3781D1BD}" dt="2026-04-02T09:20:14.673" v="772" actId="20577"/>
        <pc:sldMkLst>
          <pc:docMk/>
          <pc:sldMk cId="1919713766" sldId="1816"/>
        </pc:sldMkLst>
        <pc:spChg chg="mod">
          <ac:chgData name="Ahmed Akhtar" userId="24df8cbf-c4bb-4b0f-990a-c34b46f32809" providerId="ADAL" clId="{7B603757-AF4F-447D-9CF3-5B3B3781D1BD}" dt="2026-04-02T09:20:14.673" v="772" actId="20577"/>
          <ac:spMkLst>
            <pc:docMk/>
            <pc:sldMk cId="1919713766" sldId="1816"/>
            <ac:spMk id="10" creationId="{C7652B19-7FD0-7114-201D-245D205328C8}"/>
          </ac:spMkLst>
        </pc:spChg>
      </pc:sldChg>
      <pc:sldChg chg="addAnim delAnim modAnim">
        <pc:chgData name="Ahmed Akhtar" userId="24df8cbf-c4bb-4b0f-990a-c34b46f32809" providerId="ADAL" clId="{7B603757-AF4F-447D-9CF3-5B3B3781D1BD}" dt="2026-04-02T09:32:48.089" v="774"/>
        <pc:sldMkLst>
          <pc:docMk/>
          <pc:sldMk cId="1697612330" sldId="1825"/>
        </pc:sldMkLst>
      </pc:sldChg>
      <pc:sldChg chg="addAnim delAnim modAnim">
        <pc:chgData name="Ahmed Akhtar" userId="24df8cbf-c4bb-4b0f-990a-c34b46f32809" providerId="ADAL" clId="{7B603757-AF4F-447D-9CF3-5B3B3781D1BD}" dt="2026-04-02T09:42:38.776" v="776"/>
        <pc:sldMkLst>
          <pc:docMk/>
          <pc:sldMk cId="2157728249" sldId="1836"/>
        </pc:sldMkLst>
      </pc:sldChg>
      <pc:sldChg chg="modSp">
        <pc:chgData name="Ahmed Akhtar" userId="24df8cbf-c4bb-4b0f-990a-c34b46f32809" providerId="ADAL" clId="{7B603757-AF4F-447D-9CF3-5B3B3781D1BD}" dt="2026-04-02T10:45:46.101" v="813" actId="20577"/>
        <pc:sldMkLst>
          <pc:docMk/>
          <pc:sldMk cId="576620160" sldId="1837"/>
        </pc:sldMkLst>
        <pc:spChg chg="mod">
          <ac:chgData name="Ahmed Akhtar" userId="24df8cbf-c4bb-4b0f-990a-c34b46f32809" providerId="ADAL" clId="{7B603757-AF4F-447D-9CF3-5B3B3781D1BD}" dt="2026-04-02T10:45:46.101" v="813" actId="20577"/>
          <ac:spMkLst>
            <pc:docMk/>
            <pc:sldMk cId="576620160" sldId="1837"/>
            <ac:spMk id="7" creationId="{CFA8AC4B-47F7-5ABB-4092-7933E4308EBE}"/>
          </ac:spMkLst>
        </pc:spChg>
      </pc:sldChg>
      <pc:sldChg chg="addAnim delAnim modAnim">
        <pc:chgData name="Ahmed Akhtar" userId="24df8cbf-c4bb-4b0f-990a-c34b46f32809" providerId="ADAL" clId="{7B603757-AF4F-447D-9CF3-5B3B3781D1BD}" dt="2026-04-02T09:44:51.176" v="792"/>
        <pc:sldMkLst>
          <pc:docMk/>
          <pc:sldMk cId="2964373283" sldId="1840"/>
        </pc:sldMkLst>
      </pc:sldChg>
      <pc:sldChg chg="addAnim delAnim modAnim">
        <pc:chgData name="Ahmed Akhtar" userId="24df8cbf-c4bb-4b0f-990a-c34b46f32809" providerId="ADAL" clId="{7B603757-AF4F-447D-9CF3-5B3B3781D1BD}" dt="2026-04-02T08:44:52.579" v="764"/>
        <pc:sldMkLst>
          <pc:docMk/>
          <pc:sldMk cId="1360444924" sldId="1871"/>
        </pc:sldMkLst>
      </pc:sldChg>
      <pc:sldChg chg="modSp add mod ord">
        <pc:chgData name="Ahmed Akhtar" userId="24df8cbf-c4bb-4b0f-990a-c34b46f32809" providerId="ADAL" clId="{7B603757-AF4F-447D-9CF3-5B3B3781D1BD}" dt="2026-03-03T10:59:57.959" v="654"/>
        <pc:sldMkLst>
          <pc:docMk/>
          <pc:sldMk cId="1588688793" sldId="1877"/>
        </pc:sldMkLst>
      </pc:sldChg>
      <pc:sldChg chg="modSp add mod ord">
        <pc:chgData name="Ahmed Akhtar" userId="24df8cbf-c4bb-4b0f-990a-c34b46f32809" providerId="ADAL" clId="{7B603757-AF4F-447D-9CF3-5B3B3781D1BD}" dt="2026-03-05T08:09:02.395" v="706"/>
        <pc:sldMkLst>
          <pc:docMk/>
          <pc:sldMk cId="2504468323" sldId="1883"/>
        </pc:sldMkLst>
        <pc:spChg chg="mod">
          <ac:chgData name="Ahmed Akhtar" userId="24df8cbf-c4bb-4b0f-990a-c34b46f32809" providerId="ADAL" clId="{7B603757-AF4F-447D-9CF3-5B3B3781D1BD}" dt="2026-03-05T05:01:38.361" v="663" actId="20577"/>
          <ac:spMkLst>
            <pc:docMk/>
            <pc:sldMk cId="2504468323" sldId="1883"/>
            <ac:spMk id="2" creationId="{A815BD94-85A6-A933-6EE2-EB32D1277146}"/>
          </ac:spMkLst>
        </pc:spChg>
      </pc:sldChg>
      <pc:sldChg chg="modSp add mod ord">
        <pc:chgData name="Ahmed Akhtar" userId="24df8cbf-c4bb-4b0f-990a-c34b46f32809" providerId="ADAL" clId="{7B603757-AF4F-447D-9CF3-5B3B3781D1BD}" dt="2026-03-24T10:48:20.647" v="708"/>
        <pc:sldMkLst>
          <pc:docMk/>
          <pc:sldMk cId="4202815195" sldId="1884"/>
        </pc:sldMkLst>
        <pc:spChg chg="mod">
          <ac:chgData name="Ahmed Akhtar" userId="24df8cbf-c4bb-4b0f-990a-c34b46f32809" providerId="ADAL" clId="{7B603757-AF4F-447D-9CF3-5B3B3781D1BD}" dt="2026-03-05T05:01:57.380" v="672" actId="20577"/>
          <ac:spMkLst>
            <pc:docMk/>
            <pc:sldMk cId="4202815195" sldId="1884"/>
            <ac:spMk id="2" creationId="{C024EE5C-F3DB-8BA0-48DA-C6C935E3C78C}"/>
          </ac:spMkLst>
        </pc:spChg>
      </pc:sldChg>
      <pc:sldChg chg="modSp add mod ord">
        <pc:chgData name="Ahmed Akhtar" userId="24df8cbf-c4bb-4b0f-990a-c34b46f32809" providerId="ADAL" clId="{7B603757-AF4F-447D-9CF3-5B3B3781D1BD}" dt="2026-03-26T10:53:06.722" v="749"/>
        <pc:sldMkLst>
          <pc:docMk/>
          <pc:sldMk cId="72453268" sldId="1885"/>
        </pc:sldMkLst>
        <pc:spChg chg="mod">
          <ac:chgData name="Ahmed Akhtar" userId="24df8cbf-c4bb-4b0f-990a-c34b46f32809" providerId="ADAL" clId="{7B603757-AF4F-447D-9CF3-5B3B3781D1BD}" dt="2026-03-26T06:43:51.703" v="718" actId="20577"/>
          <ac:spMkLst>
            <pc:docMk/>
            <pc:sldMk cId="72453268" sldId="1885"/>
            <ac:spMk id="2" creationId="{5D60CAEE-7295-1054-EAE4-1332C3DE69C1}"/>
          </ac:spMkLst>
        </pc:spChg>
      </pc:sldChg>
      <pc:sldChg chg="modSp add mod ord">
        <pc:chgData name="Ahmed Akhtar" userId="24df8cbf-c4bb-4b0f-990a-c34b46f32809" providerId="ADAL" clId="{7B603757-AF4F-447D-9CF3-5B3B3781D1BD}" dt="2026-03-31T10:53:16.449" v="751"/>
        <pc:sldMkLst>
          <pc:docMk/>
          <pc:sldMk cId="3631441387" sldId="1886"/>
        </pc:sldMkLst>
        <pc:spChg chg="mod">
          <ac:chgData name="Ahmed Akhtar" userId="24df8cbf-c4bb-4b0f-990a-c34b46f32809" providerId="ADAL" clId="{7B603757-AF4F-447D-9CF3-5B3B3781D1BD}" dt="2026-03-26T06:44:35.386" v="727" actId="20577"/>
          <ac:spMkLst>
            <pc:docMk/>
            <pc:sldMk cId="3631441387" sldId="1886"/>
            <ac:spMk id="2" creationId="{3D75B884-B36D-EB46-C9CC-00EA6A1C00C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4510C-395A-4356-89D7-97DFD619E12E}"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9AE28-5153-4CA5-B96B-FF1564D78CE0}" type="slidenum">
              <a:rPr lang="en-US" smtClean="0"/>
              <a:t>‹#›</a:t>
            </a:fld>
            <a:endParaRPr lang="en-US"/>
          </a:p>
        </p:txBody>
      </p:sp>
    </p:spTree>
    <p:extLst>
      <p:ext uri="{BB962C8B-B14F-4D97-AF65-F5344CB8AC3E}">
        <p14:creationId xmlns:p14="http://schemas.microsoft.com/office/powerpoint/2010/main" val="2590073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1ml.com/statistics"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441-6582-E7F9-4722-23CA10EF9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CBD-37BA-320F-0498-2FBDDF25A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40E71-C87A-0B56-00D5-27F7BEAA3768}"/>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5946C2-ED0D-D3F0-737B-0299160800D4}"/>
              </a:ext>
            </a:extLst>
          </p:cNvPr>
          <p:cNvSpPr>
            <a:spLocks noGrp="1"/>
          </p:cNvSpPr>
          <p:nvPr>
            <p:ph type="sldNum" sz="quarter" idx="5"/>
          </p:nvPr>
        </p:nvSpPr>
        <p:spPr/>
        <p:txBody>
          <a:bodyPr/>
          <a:lstStyle/>
          <a:p>
            <a:fld id="{8007DBF7-D854-5948-86B6-07B87F1D8E96}" type="slidenum">
              <a:rPr lang="en-PK" smtClean="0"/>
              <a:t>1</a:t>
            </a:fld>
            <a:endParaRPr lang="en-PK"/>
          </a:p>
        </p:txBody>
      </p:sp>
    </p:spTree>
    <p:extLst>
      <p:ext uri="{BB962C8B-B14F-4D97-AF65-F5344CB8AC3E}">
        <p14:creationId xmlns:p14="http://schemas.microsoft.com/office/powerpoint/2010/main" val="31632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E67D0-D515-9D9D-0712-C6113B526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47C0B-7494-91A5-C91E-C14299D6A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6220D-5C26-785D-BFC5-736D89A4735B}"/>
              </a:ext>
            </a:extLst>
          </p:cNvPr>
          <p:cNvSpPr>
            <a:spLocks noGrp="1"/>
          </p:cNvSpPr>
          <p:nvPr>
            <p:ph type="body" idx="1"/>
          </p:nvPr>
        </p:nvSpPr>
        <p:spPr/>
        <p:txBody>
          <a:bodyPr/>
          <a:lstStyle/>
          <a:p>
            <a:r>
              <a:rPr lang="en-US" dirty="0"/>
              <a:t>On average a coffee costs around 1 to 2 </a:t>
            </a:r>
            <a:r>
              <a:rPr lang="en-US" dirty="0" err="1"/>
              <a:t>usd</a:t>
            </a:r>
            <a:r>
              <a:rPr lang="en-US" dirty="0"/>
              <a:t>.. The average transaction fee is in the same range.. </a:t>
            </a:r>
          </a:p>
        </p:txBody>
      </p:sp>
      <p:sp>
        <p:nvSpPr>
          <p:cNvPr id="4" name="Slide Number Placeholder 3">
            <a:extLst>
              <a:ext uri="{FF2B5EF4-FFF2-40B4-BE49-F238E27FC236}">
                <a16:creationId xmlns:a16="http://schemas.microsoft.com/office/drawing/2014/main" id="{16BA0F8F-8DC7-EF1A-8BDC-E497DF0B2144}"/>
              </a:ext>
            </a:extLst>
          </p:cNvPr>
          <p:cNvSpPr>
            <a:spLocks noGrp="1"/>
          </p:cNvSpPr>
          <p:nvPr>
            <p:ph type="sldNum" sz="quarter" idx="5"/>
          </p:nvPr>
        </p:nvSpPr>
        <p:spPr/>
        <p:txBody>
          <a:bodyPr/>
          <a:lstStyle/>
          <a:p>
            <a:fld id="{20C9AE28-5153-4CA5-B96B-FF1564D78CE0}" type="slidenum">
              <a:rPr lang="en-US" smtClean="0"/>
              <a:t>4</a:t>
            </a:fld>
            <a:endParaRPr lang="en-US"/>
          </a:p>
        </p:txBody>
      </p:sp>
    </p:spTree>
    <p:extLst>
      <p:ext uri="{BB962C8B-B14F-4D97-AF65-F5344CB8AC3E}">
        <p14:creationId xmlns:p14="http://schemas.microsoft.com/office/powerpoint/2010/main" val="3613972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r>
              <a:rPr lang="en-US" dirty="0"/>
              <a:t>Bitcoin is fast but it is not cheap and fast </a:t>
            </a:r>
          </a:p>
        </p:txBody>
      </p:sp>
      <p:sp>
        <p:nvSpPr>
          <p:cNvPr id="4" name="Slide Number Placeholder 3"/>
          <p:cNvSpPr>
            <a:spLocks noGrp="1"/>
          </p:cNvSpPr>
          <p:nvPr>
            <p:ph type="sldNum" sz="quarter" idx="5"/>
          </p:nvPr>
        </p:nvSpPr>
        <p:spPr/>
        <p:txBody>
          <a:bodyPr/>
          <a:lstStyle/>
          <a:p>
            <a:fld id="{3624AA66-5286-4A71-8DC1-D387DED69229}" type="slidenum">
              <a:rPr lang="en-US" smtClean="0"/>
              <a:t>6</a:t>
            </a:fld>
            <a:endParaRPr lang="en-US" dirty="0"/>
          </a:p>
        </p:txBody>
      </p:sp>
    </p:spTree>
    <p:extLst>
      <p:ext uri="{BB962C8B-B14F-4D97-AF65-F5344CB8AC3E}">
        <p14:creationId xmlns:p14="http://schemas.microsoft.com/office/powerpoint/2010/main" val="288720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cannot handle global scale micropayments alone </a:t>
            </a:r>
          </a:p>
          <a:p>
            <a:r>
              <a:rPr lang="en-US" dirty="0"/>
              <a:t>Consensus requires every node to know all transactions, which makes the payment processing too slow and also limits scalability</a:t>
            </a:r>
          </a:p>
          <a:p>
            <a:r>
              <a:rPr lang="en-US" dirty="0"/>
              <a:t>Global transaction volume would overwhelm the network if every transaction is processed on-chain</a:t>
            </a:r>
          </a:p>
          <a:p>
            <a:endParaRPr lang="en-US" dirty="0"/>
          </a:p>
        </p:txBody>
      </p:sp>
      <p:sp>
        <p:nvSpPr>
          <p:cNvPr id="4" name="Slide Number Placeholder 3"/>
          <p:cNvSpPr>
            <a:spLocks noGrp="1"/>
          </p:cNvSpPr>
          <p:nvPr>
            <p:ph type="sldNum" sz="quarter" idx="5"/>
          </p:nvPr>
        </p:nvSpPr>
        <p:spPr/>
        <p:txBody>
          <a:bodyPr/>
          <a:lstStyle/>
          <a:p>
            <a:fld id="{20C9AE28-5153-4CA5-B96B-FF1564D78CE0}" type="slidenum">
              <a:rPr lang="en-US" smtClean="0"/>
              <a:t>7</a:t>
            </a:fld>
            <a:endParaRPr lang="en-US"/>
          </a:p>
        </p:txBody>
      </p:sp>
    </p:spTree>
    <p:extLst>
      <p:ext uri="{BB962C8B-B14F-4D97-AF65-F5344CB8AC3E}">
        <p14:creationId xmlns:p14="http://schemas.microsoft.com/office/powerpoint/2010/main" val="2619662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EB654-435C-3211-02F0-7AFF2FADC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1BF3A-47F2-F1B1-6DE0-3E3BE5845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D1C05C-80EE-B9A3-D855-D2005F38A884}"/>
              </a:ext>
            </a:extLst>
          </p:cNvPr>
          <p:cNvSpPr>
            <a:spLocks noGrp="1"/>
          </p:cNvSpPr>
          <p:nvPr>
            <p:ph type="body" idx="1"/>
          </p:nvPr>
        </p:nvSpPr>
        <p:spPr/>
        <p:txBody>
          <a:bodyPr/>
          <a:lstStyle/>
          <a:p>
            <a:r>
              <a:rPr lang="en-US" dirty="0"/>
              <a:t>An HTLC is a smart contract that allows funds to be locked with two conditions: reveal a secret before time runs out, or get refunded after the </a:t>
            </a:r>
            <a:r>
              <a:rPr lang="en-US" dirty="0" err="1"/>
              <a:t>timelock</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More private flexible spending paths (key path and script paths)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Miniscript</a:t>
            </a:r>
            <a:r>
              <a:rPr lang="en-US" dirty="0"/>
              <a:t> is not a spending conditions it is a framework to write spending conditions safely.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only reorganizes and standardizes the </a:t>
            </a:r>
            <a:r>
              <a:rPr lang="en-US" b="1" dirty="0"/>
              <a:t>existing Bitcoin Script opcodes</a:t>
            </a:r>
            <a:r>
              <a:rPr lang="en-US" dirty="0"/>
              <a:t> (like OP_CHECKSIG, OP_CHECKMULTISIG, OP_CHECKLOCKTIMEVERIFY, etc.).</a:t>
            </a:r>
          </a:p>
          <a:p>
            <a:endParaRPr lang="en-US" dirty="0"/>
          </a:p>
        </p:txBody>
      </p:sp>
      <p:sp>
        <p:nvSpPr>
          <p:cNvPr id="4" name="Slide Number Placeholder 3">
            <a:extLst>
              <a:ext uri="{FF2B5EF4-FFF2-40B4-BE49-F238E27FC236}">
                <a16:creationId xmlns:a16="http://schemas.microsoft.com/office/drawing/2014/main" id="{738A3B88-4796-A647-2A6B-FE397A9946E3}"/>
              </a:ext>
            </a:extLst>
          </p:cNvPr>
          <p:cNvSpPr>
            <a:spLocks noGrp="1"/>
          </p:cNvSpPr>
          <p:nvPr>
            <p:ph type="sldNum" sz="quarter" idx="5"/>
          </p:nvPr>
        </p:nvSpPr>
        <p:spPr/>
        <p:txBody>
          <a:bodyPr/>
          <a:lstStyle/>
          <a:p>
            <a:fld id="{20C9AE28-5153-4CA5-B96B-FF1564D78CE0}" type="slidenum">
              <a:rPr lang="en-US" smtClean="0"/>
              <a:t>9</a:t>
            </a:fld>
            <a:endParaRPr lang="en-US"/>
          </a:p>
        </p:txBody>
      </p:sp>
    </p:spTree>
    <p:extLst>
      <p:ext uri="{BB962C8B-B14F-4D97-AF65-F5344CB8AC3E}">
        <p14:creationId xmlns:p14="http://schemas.microsoft.com/office/powerpoint/2010/main" val="2903484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Flags are in </a:t>
            </a:r>
            <a:r>
              <a:rPr lang="en-US" dirty="0" err="1"/>
              <a:t>segwit</a:t>
            </a:r>
            <a:r>
              <a:rPr lang="en-US" dirty="0"/>
              <a:t> </a:t>
            </a:r>
            <a:r>
              <a:rPr lang="en-US" dirty="0" err="1"/>
              <a:t>txn</a:t>
            </a:r>
            <a:r>
              <a:rPr lang="en-US" dirty="0"/>
              <a:t> to indicate witness data</a:t>
            </a:r>
          </a:p>
        </p:txBody>
      </p:sp>
      <p:sp>
        <p:nvSpPr>
          <p:cNvPr id="4" name="Slide Number Placeholder 3"/>
          <p:cNvSpPr>
            <a:spLocks noGrp="1"/>
          </p:cNvSpPr>
          <p:nvPr>
            <p:ph type="sldNum" sz="quarter" idx="5"/>
          </p:nvPr>
        </p:nvSpPr>
        <p:spPr/>
        <p:txBody>
          <a:bodyPr/>
          <a:lstStyle/>
          <a:p>
            <a:fld id="{20C9AE28-5153-4CA5-B96B-FF1564D78CE0}" type="slidenum">
              <a:rPr lang="en-US" smtClean="0"/>
              <a:t>12</a:t>
            </a:fld>
            <a:endParaRPr lang="en-US"/>
          </a:p>
        </p:txBody>
      </p:sp>
    </p:spTree>
    <p:extLst>
      <p:ext uri="{BB962C8B-B14F-4D97-AF65-F5344CB8AC3E}">
        <p14:creationId xmlns:p14="http://schemas.microsoft.com/office/powerpoint/2010/main" val="424390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E5408-0516-2B41-2A38-0EF8C8867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22D62-418A-4421-9066-5290ACC47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8AE07-82E1-C2AA-B8E8-B287EBC38CC9}"/>
              </a:ext>
            </a:extLst>
          </p:cNvPr>
          <p:cNvSpPr>
            <a:spLocks noGrp="1"/>
          </p:cNvSpPr>
          <p:nvPr>
            <p:ph type="body" idx="1"/>
          </p:nvPr>
        </p:nvSpPr>
        <p:spPr/>
        <p:txBody>
          <a:bodyPr/>
          <a:lstStyle/>
          <a:p>
            <a:r>
              <a:rPr lang="en-US" dirty="0"/>
              <a:t>https://github.com/in3rsha/bitcoin-chainstate-parser </a:t>
            </a:r>
            <a:r>
              <a:rPr lang="en-US" sz="1200" b="0" i="0" kern="1200" dirty="0" err="1">
                <a:solidFill>
                  <a:schemeClr val="tx1"/>
                </a:solidFill>
                <a:effectLst/>
                <a:latin typeface="+mn-lt"/>
                <a:ea typeface="+mn-ea"/>
                <a:cs typeface="+mn-cs"/>
              </a:rPr>
              <a:t>LevelDB</a:t>
            </a:r>
            <a:r>
              <a:rPr lang="en-US" sz="1200" b="0" i="0" kern="1200" dirty="0">
                <a:solidFill>
                  <a:schemeClr val="tx1"/>
                </a:solidFill>
                <a:effectLst/>
                <a:latin typeface="+mn-lt"/>
                <a:ea typeface="+mn-ea"/>
                <a:cs typeface="+mn-cs"/>
              </a:rPr>
              <a:t> is a </a:t>
            </a:r>
            <a:r>
              <a:rPr lang="en-US" dirty="0" err="1"/>
              <a:t>key:value</a:t>
            </a:r>
            <a:r>
              <a:rPr lang="en-US" sz="1200" b="0" i="0" kern="1200" dirty="0">
                <a:solidFill>
                  <a:schemeClr val="tx1"/>
                </a:solidFill>
                <a:effectLst/>
                <a:latin typeface="+mn-lt"/>
                <a:ea typeface="+mn-ea"/>
                <a:cs typeface="+mn-cs"/>
              </a:rPr>
              <a:t> store</a:t>
            </a:r>
          </a:p>
          <a:p>
            <a:endParaRPr lang="en-US" dirty="0"/>
          </a:p>
          <a:p>
            <a:r>
              <a:rPr lang="en-US" dirty="0"/>
              <a:t>Validation algorithm is from </a:t>
            </a:r>
            <a:r>
              <a:rPr lang="en-US" dirty="0" err="1"/>
              <a:t>Vatalik’s</a:t>
            </a:r>
            <a:r>
              <a:rPr lang="en-US" dirty="0"/>
              <a:t> Ethereum</a:t>
            </a:r>
            <a:r>
              <a:rPr lang="en-US" baseline="0" dirty="0"/>
              <a:t> Whitepaper</a:t>
            </a:r>
          </a:p>
          <a:p>
            <a:r>
              <a:rPr lang="en-US" baseline="0" dirty="0"/>
              <a:t>https://ethereum.org/en/whitepaper/  </a:t>
            </a:r>
          </a:p>
        </p:txBody>
      </p:sp>
      <p:sp>
        <p:nvSpPr>
          <p:cNvPr id="4" name="Slide Number Placeholder 3">
            <a:extLst>
              <a:ext uri="{FF2B5EF4-FFF2-40B4-BE49-F238E27FC236}">
                <a16:creationId xmlns:a16="http://schemas.microsoft.com/office/drawing/2014/main" id="{621963A6-B576-CE41-B7E1-BFC4432CFC98}"/>
              </a:ext>
            </a:extLst>
          </p:cNvPr>
          <p:cNvSpPr>
            <a:spLocks noGrp="1"/>
          </p:cNvSpPr>
          <p:nvPr>
            <p:ph type="sldNum" sz="quarter" idx="10"/>
          </p:nvPr>
        </p:nvSpPr>
        <p:spPr/>
        <p:txBody>
          <a:bodyPr/>
          <a:lstStyle/>
          <a:p>
            <a:fld id="{3624AA66-5286-4A71-8DC1-D387DED69229}" type="slidenum">
              <a:rPr lang="en-US" smtClean="0"/>
              <a:t>15</a:t>
            </a:fld>
            <a:endParaRPr lang="en-US" dirty="0"/>
          </a:p>
        </p:txBody>
      </p:sp>
    </p:spTree>
    <p:extLst>
      <p:ext uri="{BB962C8B-B14F-4D97-AF65-F5344CB8AC3E}">
        <p14:creationId xmlns:p14="http://schemas.microsoft.com/office/powerpoint/2010/main" val="3717527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18</a:t>
            </a:fld>
            <a:endParaRPr lang="en-US" dirty="0"/>
          </a:p>
        </p:txBody>
      </p:sp>
    </p:spTree>
    <p:extLst>
      <p:ext uri="{BB962C8B-B14F-4D97-AF65-F5344CB8AC3E}">
        <p14:creationId xmlns:p14="http://schemas.microsoft.com/office/powerpoint/2010/main" val="2639007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As a rule, parent </a:t>
            </a:r>
            <a:r>
              <a:rPr lang="en-US" sz="1200" dirty="0" err="1"/>
              <a:t>txn’s</a:t>
            </a:r>
            <a:r>
              <a:rPr lang="en-US" sz="1200" dirty="0"/>
              <a:t> output is considered completely spent.</a:t>
            </a:r>
            <a:endParaRPr lang="en-US" dirty="0"/>
          </a:p>
        </p:txBody>
      </p:sp>
      <p:sp>
        <p:nvSpPr>
          <p:cNvPr id="4" name="Slide Number Placeholder 3"/>
          <p:cNvSpPr>
            <a:spLocks noGrp="1"/>
          </p:cNvSpPr>
          <p:nvPr>
            <p:ph type="sldNum" sz="quarter" idx="5"/>
          </p:nvPr>
        </p:nvSpPr>
        <p:spPr/>
        <p:txBody>
          <a:bodyPr/>
          <a:lstStyle/>
          <a:p>
            <a:fld id="{3624AA66-5286-4A71-8DC1-D387DED69229}" type="slidenum">
              <a:rPr lang="en-US" smtClean="0"/>
              <a:t>19</a:t>
            </a:fld>
            <a:endParaRPr lang="en-US" dirty="0"/>
          </a:p>
        </p:txBody>
      </p:sp>
    </p:spTree>
    <p:extLst>
      <p:ext uri="{BB962C8B-B14F-4D97-AF65-F5344CB8AC3E}">
        <p14:creationId xmlns:p14="http://schemas.microsoft.com/office/powerpoint/2010/main" val="1761066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20</a:t>
            </a:fld>
            <a:endParaRPr lang="en-US" dirty="0"/>
          </a:p>
        </p:txBody>
      </p:sp>
    </p:spTree>
    <p:extLst>
      <p:ext uri="{BB962C8B-B14F-4D97-AF65-F5344CB8AC3E}">
        <p14:creationId xmlns:p14="http://schemas.microsoft.com/office/powerpoint/2010/main" val="383882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https://dune.com/dataalways/bitcoin-fee-tracker </a:t>
            </a:r>
          </a:p>
        </p:txBody>
      </p:sp>
      <p:sp>
        <p:nvSpPr>
          <p:cNvPr id="4" name="Slide Number Placeholder 3"/>
          <p:cNvSpPr>
            <a:spLocks noGrp="1"/>
          </p:cNvSpPr>
          <p:nvPr>
            <p:ph type="sldNum" sz="quarter" idx="5"/>
          </p:nvPr>
        </p:nvSpPr>
        <p:spPr/>
        <p:txBody>
          <a:bodyPr/>
          <a:lstStyle/>
          <a:p>
            <a:fld id="{20C9AE28-5153-4CA5-B96B-FF1564D78CE0}" type="slidenum">
              <a:rPr lang="en-US" smtClean="0"/>
              <a:t>24</a:t>
            </a:fld>
            <a:endParaRPr lang="en-US"/>
          </a:p>
        </p:txBody>
      </p:sp>
    </p:spTree>
    <p:extLst>
      <p:ext uri="{BB962C8B-B14F-4D97-AF65-F5344CB8AC3E}">
        <p14:creationId xmlns:p14="http://schemas.microsoft.com/office/powerpoint/2010/main" val="739813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https://learnmeabitcoin.com/technical/transaction/fee/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Fee rate is mentioned in sats/byte</a:t>
            </a:r>
          </a:p>
          <a:p>
            <a:endParaRPr lang="en-US" dirty="0"/>
          </a:p>
        </p:txBody>
      </p:sp>
      <p:sp>
        <p:nvSpPr>
          <p:cNvPr id="4" name="Slide Number Placeholder 3"/>
          <p:cNvSpPr>
            <a:spLocks noGrp="1"/>
          </p:cNvSpPr>
          <p:nvPr>
            <p:ph type="sldNum" sz="quarter" idx="5"/>
          </p:nvPr>
        </p:nvSpPr>
        <p:spPr/>
        <p:txBody>
          <a:bodyPr/>
          <a:lstStyle/>
          <a:p>
            <a:fld id="{20C9AE28-5153-4CA5-B96B-FF1564D78CE0}" type="slidenum">
              <a:rPr lang="en-US" smtClean="0"/>
              <a:t>25</a:t>
            </a:fld>
            <a:endParaRPr lang="en-US"/>
          </a:p>
        </p:txBody>
      </p:sp>
    </p:spTree>
    <p:extLst>
      <p:ext uri="{BB962C8B-B14F-4D97-AF65-F5344CB8AC3E}">
        <p14:creationId xmlns:p14="http://schemas.microsoft.com/office/powerpoint/2010/main" val="2354453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7F08A-5987-FB7F-8F2E-57ADEFF1A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1D79D-39ED-5010-9CF5-0D017B252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C534F-40DF-11D2-E0E2-FF3B05975123}"/>
              </a:ext>
            </a:extLst>
          </p:cNvPr>
          <p:cNvSpPr>
            <a:spLocks noGrp="1"/>
          </p:cNvSpPr>
          <p:nvPr>
            <p:ph type="body" idx="1"/>
          </p:nvPr>
        </p:nvSpPr>
        <p:spPr/>
        <p:txBody>
          <a:bodyPr/>
          <a:lstStyle/>
          <a:p>
            <a:pPr marL="285750" indent="-285750">
              <a:buFont typeface="Arial" panose="020B0604020202020204" pitchFamily="34" charset="0"/>
              <a:buChar char="•"/>
            </a:pPr>
            <a:r>
              <a:rPr lang="en-US" sz="1200" b="0" i="0" kern="1200" dirty="0">
                <a:solidFill>
                  <a:schemeClr val="tx1"/>
                </a:solidFill>
                <a:effectLst/>
                <a:latin typeface="+mn-lt"/>
                <a:ea typeface="+mn-ea"/>
                <a:cs typeface="+mn-cs"/>
              </a:rPr>
              <a:t>A commitment is a transaction or a number of transactions that return the funds of a two-party channel to their owner</a:t>
            </a:r>
          </a:p>
          <a:p>
            <a:pPr marL="285750" indent="-285750">
              <a:buFont typeface="Arial" panose="020B0604020202020204" pitchFamily="34" charset="0"/>
              <a:buChar char="•"/>
            </a:pPr>
            <a:r>
              <a:rPr lang="en-US" sz="1200" b="0" i="0" kern="1200" dirty="0">
                <a:solidFill>
                  <a:schemeClr val="tx1"/>
                </a:solidFill>
                <a:effectLst/>
                <a:latin typeface="+mn-lt"/>
                <a:ea typeface="+mn-ea"/>
                <a:cs typeface="+mn-cs"/>
              </a:rPr>
              <a:t>The commitment is signed before the funding transaction to ensure that no funds can be taken hostage by one party, as the other party already holds the means to recover its stake</a:t>
            </a:r>
            <a:endParaRPr lang="en-US" dirty="0"/>
          </a:p>
          <a:p>
            <a:pPr marL="285750" indent="-285750">
              <a:buFont typeface="Arial" panose="020B0604020202020204" pitchFamily="34" charset="0"/>
              <a:buChar char="•"/>
            </a:pPr>
            <a:r>
              <a:rPr lang="en-US" dirty="0"/>
              <a:t>The channel can be funded by one or both parties but before they start and to avoid from funds being locked due to non cooperation, the funding party asks for a signed spending transaction from the counterparty that spends the funding </a:t>
            </a:r>
            <a:r>
              <a:rPr lang="en-US" dirty="0" err="1"/>
              <a:t>tx</a:t>
            </a:r>
            <a:r>
              <a:rPr lang="en-US" dirty="0"/>
              <a:t>. Suppose Alice funds so Alice asks Bob to provide him a child transaction that allows her to spend the funding </a:t>
            </a:r>
            <a:r>
              <a:rPr lang="en-US" dirty="0" err="1"/>
              <a:t>tx</a:t>
            </a:r>
            <a:r>
              <a:rPr lang="en-US" dirty="0"/>
              <a:t> output. Once Bob provides it then Alice published the funding </a:t>
            </a:r>
            <a:r>
              <a:rPr lang="en-US" dirty="0" err="1"/>
              <a:t>tx</a:t>
            </a:r>
            <a:r>
              <a:rPr lang="en-US" dirty="0"/>
              <a:t> on blockchain. Now if Bob does not cooperate Alice has the way to spend them. If Bob cooperates and they do micropayments then they have new commitment transactions. So the process can advance</a:t>
            </a:r>
          </a:p>
          <a:p>
            <a:pPr marL="285750" indent="-285750">
              <a:buFont typeface="Arial" panose="020B0604020202020204" pitchFamily="34" charset="0"/>
              <a:buChar char="•"/>
            </a:pPr>
            <a:r>
              <a:rPr lang="en-US" dirty="0"/>
              <a:t>An unobserved event is a transaction between a limited set of participants that does not need to be immediately known or recorded by all nodes in the blockchain network</a:t>
            </a:r>
          </a:p>
          <a:p>
            <a:pPr marL="285750" indent="-285750">
              <a:buFont typeface="Arial" panose="020B0604020202020204" pitchFamily="34" charset="0"/>
              <a:buChar char="•"/>
            </a:pPr>
            <a:r>
              <a:rPr lang="en-US" dirty="0"/>
              <a:t>If only you and the coffee shop care about your coffee purchase, there is no need for the entire Bitcoin network to immediately know about it </a:t>
            </a:r>
          </a:p>
        </p:txBody>
      </p:sp>
      <p:sp>
        <p:nvSpPr>
          <p:cNvPr id="4" name="Slide Number Placeholder 3">
            <a:extLst>
              <a:ext uri="{FF2B5EF4-FFF2-40B4-BE49-F238E27FC236}">
                <a16:creationId xmlns:a16="http://schemas.microsoft.com/office/drawing/2014/main" id="{4E5559D3-8F22-C515-10A9-87F81C7CD115}"/>
              </a:ext>
            </a:extLst>
          </p:cNvPr>
          <p:cNvSpPr>
            <a:spLocks noGrp="1"/>
          </p:cNvSpPr>
          <p:nvPr>
            <p:ph type="sldNum" sz="quarter" idx="5"/>
          </p:nvPr>
        </p:nvSpPr>
        <p:spPr/>
        <p:txBody>
          <a:bodyPr/>
          <a:lstStyle/>
          <a:p>
            <a:fld id="{20C9AE28-5153-4CA5-B96B-FF1564D78CE0}" type="slidenum">
              <a:rPr lang="en-US" smtClean="0"/>
              <a:t>27</a:t>
            </a:fld>
            <a:endParaRPr lang="en-US"/>
          </a:p>
        </p:txBody>
      </p:sp>
    </p:spTree>
    <p:extLst>
      <p:ext uri="{BB962C8B-B14F-4D97-AF65-F5344CB8AC3E}">
        <p14:creationId xmlns:p14="http://schemas.microsoft.com/office/powerpoint/2010/main" val="856760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E8E8B-5EEC-AA59-B1EA-6AECF1C75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84D69-E5A6-4190-F78A-2A1156D5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439102-AA31-84C4-4D6A-F32604E79DE1}"/>
              </a:ext>
            </a:extLst>
          </p:cNvPr>
          <p:cNvSpPr>
            <a:spLocks noGrp="1"/>
          </p:cNvSpPr>
          <p:nvPr>
            <p:ph type="body" idx="1"/>
          </p:nvPr>
        </p:nvSpPr>
        <p:spPr/>
        <p:txBody>
          <a:bodyPr/>
          <a:lstStyle/>
          <a:p>
            <a:pPr marL="285750" indent="-285750">
              <a:buFont typeface="Arial" panose="020B0604020202020204" pitchFamily="34" charset="0"/>
              <a:buChar char="•"/>
            </a:pPr>
            <a:r>
              <a:rPr lang="en-US" dirty="0"/>
              <a:t>An unobserved event is a transaction between a limited set of participants that does not need to be immediately known or recorded by all nodes in the blockchain network</a:t>
            </a:r>
          </a:p>
          <a:p>
            <a:pPr marL="285750" indent="-285750">
              <a:buFont typeface="Arial" panose="020B0604020202020204" pitchFamily="34" charset="0"/>
              <a:buChar char="•"/>
            </a:pPr>
            <a:r>
              <a:rPr lang="en-US" dirty="0"/>
              <a:t>If only you and the coffee shop care about your coffee purchase, there is no need for the entire Bitcoin network to immediately know about it </a:t>
            </a:r>
          </a:p>
          <a:p>
            <a:endParaRPr lang="en-US" dirty="0"/>
          </a:p>
        </p:txBody>
      </p:sp>
      <p:sp>
        <p:nvSpPr>
          <p:cNvPr id="4" name="Slide Number Placeholder 3">
            <a:extLst>
              <a:ext uri="{FF2B5EF4-FFF2-40B4-BE49-F238E27FC236}">
                <a16:creationId xmlns:a16="http://schemas.microsoft.com/office/drawing/2014/main" id="{4870A7E6-0C01-A5FE-FA05-597E444C8E1B}"/>
              </a:ext>
            </a:extLst>
          </p:cNvPr>
          <p:cNvSpPr>
            <a:spLocks noGrp="1"/>
          </p:cNvSpPr>
          <p:nvPr>
            <p:ph type="sldNum" sz="quarter" idx="5"/>
          </p:nvPr>
        </p:nvSpPr>
        <p:spPr/>
        <p:txBody>
          <a:bodyPr/>
          <a:lstStyle/>
          <a:p>
            <a:fld id="{20C9AE28-5153-4CA5-B96B-FF1564D78CE0}" type="slidenum">
              <a:rPr lang="en-US" smtClean="0"/>
              <a:t>28</a:t>
            </a:fld>
            <a:endParaRPr lang="en-US"/>
          </a:p>
        </p:txBody>
      </p:sp>
    </p:spTree>
    <p:extLst>
      <p:ext uri="{BB962C8B-B14F-4D97-AF65-F5344CB8AC3E}">
        <p14:creationId xmlns:p14="http://schemas.microsoft.com/office/powerpoint/2010/main" val="4020800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100AF-340A-0077-5F6F-BE39BD50B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151AF-D3D0-9078-5711-2015685D3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87F46-33EE-F0E7-45D7-86F264EFFD1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Payment channels are </a:t>
            </a:r>
            <a:r>
              <a:rPr lang="en-US" sz="1200" b="0" i="0" kern="1200" dirty="0" err="1">
                <a:solidFill>
                  <a:schemeClr val="tx1"/>
                </a:solidFill>
                <a:effectLst/>
                <a:latin typeface="+mn-lt"/>
                <a:ea typeface="+mn-ea"/>
                <a:cs typeface="+mn-cs"/>
              </a:rPr>
              <a:t>multisignature</a:t>
            </a:r>
            <a:r>
              <a:rPr lang="en-US" sz="1200" b="0" i="0" kern="1200" dirty="0">
                <a:solidFill>
                  <a:schemeClr val="tx1"/>
                </a:solidFill>
                <a:effectLst/>
                <a:latin typeface="+mn-lt"/>
                <a:ea typeface="+mn-ea"/>
                <a:cs typeface="+mn-cs"/>
              </a:rPr>
              <a:t> contracts between peers. Payments are made inside these payment channels and can be settled on the Blockchain (lightning documents) </a:t>
            </a:r>
            <a:endParaRPr lang="en-US" sz="1200" dirty="0">
              <a:latin typeface="Candara" panose="020E0502030303020204" pitchFamily="34" charset="0"/>
            </a:endParaRPr>
          </a:p>
          <a:p>
            <a:r>
              <a:rPr lang="en-US" sz="1200" dirty="0">
                <a:latin typeface="Candara" panose="020E0502030303020204" pitchFamily="34" charset="0"/>
              </a:rPr>
              <a:t>Channel design</a:t>
            </a:r>
          </a:p>
          <a:p>
            <a:pPr marL="285750" indent="-285750">
              <a:buFont typeface="Arial" panose="020B0604020202020204" pitchFamily="34" charset="0"/>
              <a:buChar char="•"/>
            </a:pPr>
            <a:r>
              <a:rPr lang="en-US" sz="1200" dirty="0">
                <a:latin typeface="Candara" panose="020E0502030303020204" pitchFamily="34" charset="0"/>
              </a:rPr>
              <a:t>Two parties lock funds on-chain</a:t>
            </a:r>
          </a:p>
          <a:p>
            <a:pPr marL="285750" indent="-285750">
              <a:buFont typeface="Arial" panose="020B0604020202020204" pitchFamily="34" charset="0"/>
              <a:buChar char="•"/>
            </a:pPr>
            <a:r>
              <a:rPr lang="en-US" sz="1200" dirty="0">
                <a:latin typeface="Candara" panose="020E0502030303020204" pitchFamily="34" charset="0"/>
              </a:rPr>
              <a:t>They exchange updated, pre-signed Bitcoin transactions off-chain to reflect each micropayment</a:t>
            </a:r>
          </a:p>
          <a:p>
            <a:pPr marL="285750" indent="-285750">
              <a:buFont typeface="Arial" panose="020B0604020202020204" pitchFamily="34" charset="0"/>
              <a:buChar char="•"/>
            </a:pPr>
            <a:r>
              <a:rPr lang="en-US" sz="1200" dirty="0">
                <a:latin typeface="Candara" panose="020E0502030303020204" pitchFamily="34" charset="0"/>
              </a:rPr>
              <a:t>Only the opening and final settlement appear on the blockchain in usual circumstances</a:t>
            </a:r>
            <a:endParaRPr lang="en-US" dirty="0"/>
          </a:p>
        </p:txBody>
      </p:sp>
      <p:sp>
        <p:nvSpPr>
          <p:cNvPr id="4" name="Slide Number Placeholder 3">
            <a:extLst>
              <a:ext uri="{FF2B5EF4-FFF2-40B4-BE49-F238E27FC236}">
                <a16:creationId xmlns:a16="http://schemas.microsoft.com/office/drawing/2014/main" id="{3E7AD9E8-55E5-9E59-272E-54AFA3FC35E9}"/>
              </a:ext>
            </a:extLst>
          </p:cNvPr>
          <p:cNvSpPr>
            <a:spLocks noGrp="1"/>
          </p:cNvSpPr>
          <p:nvPr>
            <p:ph type="sldNum" sz="quarter" idx="5"/>
          </p:nvPr>
        </p:nvSpPr>
        <p:spPr/>
        <p:txBody>
          <a:bodyPr/>
          <a:lstStyle/>
          <a:p>
            <a:fld id="{20C9AE28-5153-4CA5-B96B-FF1564D78CE0}" type="slidenum">
              <a:rPr lang="en-US" smtClean="0"/>
              <a:t>29</a:t>
            </a:fld>
            <a:endParaRPr lang="en-US"/>
          </a:p>
        </p:txBody>
      </p:sp>
    </p:spTree>
    <p:extLst>
      <p:ext uri="{BB962C8B-B14F-4D97-AF65-F5344CB8AC3E}">
        <p14:creationId xmlns:p14="http://schemas.microsoft.com/office/powerpoint/2010/main" val="1300879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payment channel, the contract terms are that both parties commit to broadcasting only the most recent transaction</a:t>
            </a:r>
          </a:p>
        </p:txBody>
      </p:sp>
      <p:sp>
        <p:nvSpPr>
          <p:cNvPr id="4" name="Slide Number Placeholder 3"/>
          <p:cNvSpPr>
            <a:spLocks noGrp="1"/>
          </p:cNvSpPr>
          <p:nvPr>
            <p:ph type="sldNum" sz="quarter" idx="5"/>
          </p:nvPr>
        </p:nvSpPr>
        <p:spPr/>
        <p:txBody>
          <a:bodyPr/>
          <a:lstStyle/>
          <a:p>
            <a:fld id="{20C9AE28-5153-4CA5-B96B-FF1564D78CE0}" type="slidenum">
              <a:rPr lang="en-US" smtClean="0"/>
              <a:t>32</a:t>
            </a:fld>
            <a:endParaRPr lang="en-US"/>
          </a:p>
        </p:txBody>
      </p:sp>
    </p:spTree>
    <p:extLst>
      <p:ext uri="{BB962C8B-B14F-4D97-AF65-F5344CB8AC3E}">
        <p14:creationId xmlns:p14="http://schemas.microsoft.com/office/powerpoint/2010/main" val="1988075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old commitment transactions are valid bitcoin transactions but they do not represent the true balances of Alice and Bob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Peers can try to publish previous transactions that award them a higher balance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endParaRPr lang="en-US" dirty="0"/>
          </a:p>
        </p:txBody>
      </p:sp>
      <p:sp>
        <p:nvSpPr>
          <p:cNvPr id="4" name="Slide Number Placeholder 3"/>
          <p:cNvSpPr>
            <a:spLocks noGrp="1"/>
          </p:cNvSpPr>
          <p:nvPr>
            <p:ph type="sldNum" sz="quarter" idx="5"/>
          </p:nvPr>
        </p:nvSpPr>
        <p:spPr/>
        <p:txBody>
          <a:bodyPr/>
          <a:lstStyle/>
          <a:p>
            <a:fld id="{20C9AE28-5153-4CA5-B96B-FF1564D78CE0}" type="slidenum">
              <a:rPr lang="en-US" smtClean="0"/>
              <a:t>33</a:t>
            </a:fld>
            <a:endParaRPr lang="en-US"/>
          </a:p>
        </p:txBody>
      </p:sp>
    </p:spTree>
    <p:extLst>
      <p:ext uri="{BB962C8B-B14F-4D97-AF65-F5344CB8AC3E}">
        <p14:creationId xmlns:p14="http://schemas.microsoft.com/office/powerpoint/2010/main" val="208057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9D654-2B29-6756-6731-43EE233EF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C996A-5CCF-96C3-950C-EB996CE8A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53816-2F66-1462-6D21-22C13D167337}"/>
              </a:ext>
            </a:extLst>
          </p:cNvPr>
          <p:cNvSpPr>
            <a:spLocks noGrp="1"/>
          </p:cNvSpPr>
          <p:nvPr>
            <p:ph type="body" idx="1"/>
          </p:nvPr>
        </p:nvSpPr>
        <p:spPr/>
        <p:txBody>
          <a:bodyPr/>
          <a:lstStyle/>
          <a:p>
            <a:r>
              <a:rPr lang="en-US" dirty="0"/>
              <a:t>Alice has signed C1b for Bob, while Bob has signed C1a for Alice.. So Alice can add her signatures in C1a and it already has Bob’s signature so it becomes a valid commitment </a:t>
            </a:r>
            <a:r>
              <a:rPr lang="en-US" dirty="0" err="1"/>
              <a:t>tx</a:t>
            </a:r>
            <a:r>
              <a:rPr lang="en-US" dirty="0"/>
              <a:t>.. Similarly, Bob can add his signature to C1b and it already has Alice’s signatures so C1b also becomes a valid </a:t>
            </a:r>
            <a:r>
              <a:rPr lang="en-US" dirty="0" err="1"/>
              <a:t>tx</a:t>
            </a:r>
            <a:endParaRPr lang="en-US" dirty="0"/>
          </a:p>
          <a:p>
            <a:endParaRPr lang="en-US" dirty="0"/>
          </a:p>
          <a:p>
            <a:r>
              <a:rPr lang="en-US" dirty="0"/>
              <a:t>Bob cannot create C1a himself with different values because then Alice won’t sign it.. Similarly Alice cannot create C1b herself with different values because then Bob won’t sign it..</a:t>
            </a:r>
          </a:p>
        </p:txBody>
      </p:sp>
      <p:sp>
        <p:nvSpPr>
          <p:cNvPr id="4" name="Slide Number Placeholder 3">
            <a:extLst>
              <a:ext uri="{FF2B5EF4-FFF2-40B4-BE49-F238E27FC236}">
                <a16:creationId xmlns:a16="http://schemas.microsoft.com/office/drawing/2014/main" id="{3E7CDB6B-3C1F-93C5-D3E3-0F29575D0380}"/>
              </a:ext>
            </a:extLst>
          </p:cNvPr>
          <p:cNvSpPr>
            <a:spLocks noGrp="1"/>
          </p:cNvSpPr>
          <p:nvPr>
            <p:ph type="sldNum" sz="quarter" idx="5"/>
          </p:nvPr>
        </p:nvSpPr>
        <p:spPr/>
        <p:txBody>
          <a:bodyPr/>
          <a:lstStyle/>
          <a:p>
            <a:fld id="{20C9AE28-5153-4CA5-B96B-FF1564D78CE0}" type="slidenum">
              <a:rPr lang="en-US" smtClean="0"/>
              <a:t>37</a:t>
            </a:fld>
            <a:endParaRPr lang="en-US"/>
          </a:p>
        </p:txBody>
      </p:sp>
    </p:spTree>
    <p:extLst>
      <p:ext uri="{BB962C8B-B14F-4D97-AF65-F5344CB8AC3E}">
        <p14:creationId xmlns:p14="http://schemas.microsoft.com/office/powerpoint/2010/main" val="28593131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6EA92-4B96-07AC-600B-0E9C82975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3F7C0-2E85-4F56-9A62-DC131E21D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88EB8-2DBB-5AEA-02ED-117A7AFE5B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 input contains signatures so for signing keep the signature field empty, then sign the </a:t>
            </a:r>
            <a:r>
              <a:rPr lang="en-US" dirty="0" err="1"/>
              <a:t>txn</a:t>
            </a:r>
            <a:r>
              <a:rPr lang="en-US" dirty="0"/>
              <a:t> (all inputs and outputs) and then put the signature back in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Hashes can be used to name stuff, reference stuff, point to stuff and commit to some message </a:t>
            </a:r>
          </a:p>
          <a:p>
            <a:r>
              <a:rPr lang="en-US" sz="1200" b="0" i="0" kern="1200" dirty="0">
                <a:solidFill>
                  <a:schemeClr val="tx1"/>
                </a:solidFill>
                <a:effectLst/>
                <a:latin typeface="+mn-lt"/>
                <a:ea typeface="+mn-ea"/>
                <a:cs typeface="+mn-cs"/>
              </a:rPr>
              <a:t>Transaction malleability can be used to alter the unique ID of a monetary transaction before it is confirmed.</a:t>
            </a:r>
          </a:p>
          <a:p>
            <a:r>
              <a:rPr lang="en-US" sz="1200" b="0" i="0" kern="1200" dirty="0">
                <a:solidFill>
                  <a:schemeClr val="tx1"/>
                </a:solidFill>
                <a:effectLst/>
                <a:latin typeface="+mn-lt"/>
                <a:ea typeface="+mn-ea"/>
                <a:cs typeface="+mn-cs"/>
              </a:rPr>
              <a:t>This is possible because signatures can be slightly changed without impacting the ownership</a:t>
            </a:r>
            <a:r>
              <a:rPr lang="en-US" sz="1200" b="0" i="0" kern="1200" baseline="0" dirty="0">
                <a:solidFill>
                  <a:schemeClr val="tx1"/>
                </a:solidFill>
                <a:effectLst/>
                <a:latin typeface="+mn-lt"/>
                <a:ea typeface="+mn-ea"/>
                <a:cs typeface="+mn-cs"/>
              </a:rPr>
              <a:t> (and they still remain valid) but due to the avalanche effect of hashing </a:t>
            </a:r>
            <a:r>
              <a:rPr lang="en-US" sz="1200" b="0" i="0" kern="1200" baseline="0" dirty="0" err="1">
                <a:solidFill>
                  <a:schemeClr val="tx1"/>
                </a:solidFill>
                <a:effectLst/>
                <a:latin typeface="+mn-lt"/>
                <a:ea typeface="+mn-ea"/>
                <a:cs typeface="+mn-cs"/>
              </a:rPr>
              <a:t>Txid</a:t>
            </a:r>
            <a:r>
              <a:rPr lang="en-US" sz="1200" b="0" i="0" kern="1200" baseline="0" dirty="0">
                <a:solidFill>
                  <a:schemeClr val="tx1"/>
                </a:solidFill>
                <a:effectLst/>
                <a:latin typeface="+mn-lt"/>
                <a:ea typeface="+mn-ea"/>
                <a:cs typeface="+mn-cs"/>
              </a:rPr>
              <a:t> completely changes. A user who created a </a:t>
            </a:r>
            <a:r>
              <a:rPr lang="en-US" sz="1200" b="0" i="0" kern="1200" baseline="0" dirty="0" err="1">
                <a:solidFill>
                  <a:schemeClr val="tx1"/>
                </a:solidFill>
                <a:effectLst/>
                <a:latin typeface="+mn-lt"/>
                <a:ea typeface="+mn-ea"/>
                <a:cs typeface="+mn-cs"/>
              </a:rPr>
              <a:t>txn</a:t>
            </a:r>
            <a:r>
              <a:rPr lang="en-US" sz="1200" b="0" i="0" kern="1200" baseline="0" dirty="0">
                <a:solidFill>
                  <a:schemeClr val="tx1"/>
                </a:solidFill>
                <a:effectLst/>
                <a:latin typeface="+mn-lt"/>
                <a:ea typeface="+mn-ea"/>
                <a:cs typeface="+mn-cs"/>
              </a:rPr>
              <a:t> gives </a:t>
            </a:r>
            <a:r>
              <a:rPr lang="en-US" sz="1200" b="0" i="0" kern="1200" baseline="0" dirty="0" err="1">
                <a:solidFill>
                  <a:schemeClr val="tx1"/>
                </a:solidFill>
                <a:effectLst/>
                <a:latin typeface="+mn-lt"/>
                <a:ea typeface="+mn-ea"/>
                <a:cs typeface="+mn-cs"/>
              </a:rPr>
              <a:t>txid</a:t>
            </a:r>
            <a:r>
              <a:rPr lang="en-US" sz="1200" b="0" i="0" kern="1200" baseline="0" dirty="0">
                <a:solidFill>
                  <a:schemeClr val="tx1"/>
                </a:solidFill>
                <a:effectLst/>
                <a:latin typeface="+mn-lt"/>
                <a:ea typeface="+mn-ea"/>
                <a:cs typeface="+mn-cs"/>
              </a:rPr>
              <a:t> to someone for verification. However, a malicious actor can change the </a:t>
            </a:r>
            <a:r>
              <a:rPr lang="en-US" sz="1200" b="0" i="0" kern="1200" baseline="0" dirty="0" err="1">
                <a:solidFill>
                  <a:schemeClr val="tx1"/>
                </a:solidFill>
                <a:effectLst/>
                <a:latin typeface="+mn-lt"/>
                <a:ea typeface="+mn-ea"/>
                <a:cs typeface="+mn-cs"/>
              </a:rPr>
              <a:t>txid</a:t>
            </a:r>
            <a:r>
              <a:rPr lang="en-US" sz="1200" b="0" i="0" kern="1200" baseline="0" dirty="0">
                <a:solidFill>
                  <a:schemeClr val="tx1"/>
                </a:solidFill>
                <a:effectLst/>
                <a:latin typeface="+mn-lt"/>
                <a:ea typeface="+mn-ea"/>
                <a:cs typeface="+mn-cs"/>
              </a:rPr>
              <a:t> which can get picked up by the miner and added to the block, now the user who identifies the same </a:t>
            </a:r>
            <a:r>
              <a:rPr lang="en-US" sz="1200" b="0" i="0" kern="1200" baseline="0" dirty="0" err="1">
                <a:solidFill>
                  <a:schemeClr val="tx1"/>
                </a:solidFill>
                <a:effectLst/>
                <a:latin typeface="+mn-lt"/>
                <a:ea typeface="+mn-ea"/>
                <a:cs typeface="+mn-cs"/>
              </a:rPr>
              <a:t>txn</a:t>
            </a:r>
            <a:r>
              <a:rPr lang="en-US" sz="1200" b="0" i="0" kern="1200" baseline="0" dirty="0">
                <a:solidFill>
                  <a:schemeClr val="tx1"/>
                </a:solidFill>
                <a:effectLst/>
                <a:latin typeface="+mn-lt"/>
                <a:ea typeface="+mn-ea"/>
                <a:cs typeface="+mn-cs"/>
              </a:rPr>
              <a:t> with a different </a:t>
            </a:r>
            <a:r>
              <a:rPr lang="en-US" sz="1200" b="0" i="0" kern="1200" baseline="0" dirty="0" err="1">
                <a:solidFill>
                  <a:schemeClr val="tx1"/>
                </a:solidFill>
                <a:effectLst/>
                <a:latin typeface="+mn-lt"/>
                <a:ea typeface="+mn-ea"/>
                <a:cs typeface="+mn-cs"/>
              </a:rPr>
              <a:t>txnid</a:t>
            </a:r>
            <a:r>
              <a:rPr lang="en-US" sz="1200" b="0" i="0" kern="1200" baseline="0" dirty="0">
                <a:solidFill>
                  <a:schemeClr val="tx1"/>
                </a:solidFill>
                <a:effectLst/>
                <a:latin typeface="+mn-lt"/>
                <a:ea typeface="+mn-ea"/>
                <a:cs typeface="+mn-cs"/>
              </a:rPr>
              <a:t> cannot trace it. </a:t>
            </a:r>
            <a:r>
              <a:rPr lang="en-US" sz="1200" b="0" i="0" kern="1200" dirty="0">
                <a:solidFill>
                  <a:schemeClr val="tx1"/>
                </a:solidFill>
                <a:effectLst/>
                <a:latin typeface="+mn-lt"/>
                <a:ea typeface="+mn-ea"/>
                <a:cs typeface="+mn-cs"/>
              </a:rPr>
              <a:t>The change makes it possible for someone to pretend that a transaction didn't happen, if all the right conditions are in place.</a:t>
            </a:r>
            <a:endParaRPr lang="en-US" dirty="0"/>
          </a:p>
        </p:txBody>
      </p:sp>
      <p:sp>
        <p:nvSpPr>
          <p:cNvPr id="4" name="Slide Number Placeholder 3">
            <a:extLst>
              <a:ext uri="{FF2B5EF4-FFF2-40B4-BE49-F238E27FC236}">
                <a16:creationId xmlns:a16="http://schemas.microsoft.com/office/drawing/2014/main" id="{2106DA15-4DA0-9DE4-01F1-0D147DEAC185}"/>
              </a:ext>
            </a:extLst>
          </p:cNvPr>
          <p:cNvSpPr>
            <a:spLocks noGrp="1"/>
          </p:cNvSpPr>
          <p:nvPr>
            <p:ph type="sldNum" sz="quarter" idx="10"/>
          </p:nvPr>
        </p:nvSpPr>
        <p:spPr/>
        <p:txBody>
          <a:bodyPr/>
          <a:lstStyle/>
          <a:p>
            <a:fld id="{3624AA66-5286-4A71-8DC1-D387DED69229}" type="slidenum">
              <a:rPr lang="en-US" smtClean="0"/>
              <a:t>39</a:t>
            </a:fld>
            <a:endParaRPr lang="en-US" dirty="0"/>
          </a:p>
        </p:txBody>
      </p:sp>
    </p:spTree>
    <p:extLst>
      <p:ext uri="{BB962C8B-B14F-4D97-AF65-F5344CB8AC3E}">
        <p14:creationId xmlns:p14="http://schemas.microsoft.com/office/powerpoint/2010/main" val="4268305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F5D0F-67D0-95BC-9DE1-9EC328F95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1BA48-4805-3F75-D58E-055052DD42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A2526-4154-ED3C-3946-8F7BDAB464E1}"/>
              </a:ext>
            </a:extLst>
          </p:cNvPr>
          <p:cNvSpPr>
            <a:spLocks noGrp="1"/>
          </p:cNvSpPr>
          <p:nvPr>
            <p:ph type="body" idx="1"/>
          </p:nvPr>
        </p:nvSpPr>
        <p:spPr/>
        <p:txBody>
          <a:bodyPr/>
          <a:lstStyle/>
          <a:p>
            <a:r>
              <a:rPr lang="en-US" dirty="0"/>
              <a:t>Signatures constituted more than 65% of the block size</a:t>
            </a:r>
          </a:p>
          <a:p>
            <a:r>
              <a:rPr lang="en-US" dirty="0"/>
              <a:t>Witness field is also transmitted on the network as part of the </a:t>
            </a:r>
            <a:r>
              <a:rPr lang="en-US" dirty="0" err="1"/>
              <a:t>txn</a:t>
            </a:r>
            <a:r>
              <a:rPr lang="en-US" dirty="0"/>
              <a:t> and is included in the block </a:t>
            </a:r>
          </a:p>
        </p:txBody>
      </p:sp>
      <p:sp>
        <p:nvSpPr>
          <p:cNvPr id="4" name="Slide Number Placeholder 3">
            <a:extLst>
              <a:ext uri="{FF2B5EF4-FFF2-40B4-BE49-F238E27FC236}">
                <a16:creationId xmlns:a16="http://schemas.microsoft.com/office/drawing/2014/main" id="{D3E99B11-B172-B6B9-8482-A933016A07C4}"/>
              </a:ext>
            </a:extLst>
          </p:cNvPr>
          <p:cNvSpPr>
            <a:spLocks noGrp="1"/>
          </p:cNvSpPr>
          <p:nvPr>
            <p:ph type="sldNum" sz="quarter" idx="5"/>
          </p:nvPr>
        </p:nvSpPr>
        <p:spPr/>
        <p:txBody>
          <a:bodyPr/>
          <a:lstStyle/>
          <a:p>
            <a:fld id="{3624AA66-5286-4A71-8DC1-D387DED69229}" type="slidenum">
              <a:rPr lang="en-US" smtClean="0"/>
              <a:t>40</a:t>
            </a:fld>
            <a:endParaRPr lang="en-US" dirty="0"/>
          </a:p>
        </p:txBody>
      </p:sp>
    </p:spTree>
    <p:extLst>
      <p:ext uri="{BB962C8B-B14F-4D97-AF65-F5344CB8AC3E}">
        <p14:creationId xmlns:p14="http://schemas.microsoft.com/office/powerpoint/2010/main" val="2013429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9324-BF76-F8B8-E7AD-19511101F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99CDD-1688-02F2-19AE-C32145959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17A53-B232-8F74-AA72-4DA3F78C75D9}"/>
              </a:ext>
            </a:extLst>
          </p:cNvPr>
          <p:cNvSpPr>
            <a:spLocks noGrp="1"/>
          </p:cNvSpPr>
          <p:nvPr>
            <p:ph type="body" idx="1"/>
          </p:nvPr>
        </p:nvSpPr>
        <p:spPr/>
        <p:txBody>
          <a:bodyPr/>
          <a:lstStyle/>
          <a:p>
            <a:r>
              <a:rPr lang="en-US" dirty="0"/>
              <a:t>https://bitcoindev.network/guides/bitcoinjs-lib/native-segwit-p2wpkh/ </a:t>
            </a:r>
          </a:p>
          <a:p>
            <a:r>
              <a:rPr lang="en-US" b="0" i="0" dirty="0">
                <a:solidFill>
                  <a:srgbClr val="1F2328"/>
                </a:solidFill>
                <a:effectLst/>
                <a:latin typeface="-apple-system"/>
              </a:rPr>
              <a:t>Validity is defined by exclusion: a block or transaction is valid if no condition exists that marks it failed. </a:t>
            </a:r>
          </a:p>
          <a:p>
            <a:r>
              <a:rPr lang="en-US" b="0" i="0" dirty="0">
                <a:solidFill>
                  <a:srgbClr val="1F2328"/>
                </a:solidFill>
                <a:effectLst/>
                <a:latin typeface="-apple-system"/>
              </a:rPr>
              <a:t>In p2wsh the </a:t>
            </a:r>
            <a:r>
              <a:rPr lang="en-US" b="0" i="0" dirty="0" err="1">
                <a:solidFill>
                  <a:srgbClr val="1F2328"/>
                </a:solidFill>
                <a:effectLst/>
                <a:latin typeface="-apple-system"/>
              </a:rPr>
              <a:t>standardness</a:t>
            </a:r>
            <a:r>
              <a:rPr lang="en-US" b="0" i="0" dirty="0">
                <a:solidFill>
                  <a:srgbClr val="1F2328"/>
                </a:solidFill>
                <a:effectLst/>
                <a:latin typeface="-apple-system"/>
              </a:rPr>
              <a:t> rules require redeem script to be 3600 B long</a:t>
            </a:r>
          </a:p>
          <a:p>
            <a:r>
              <a:rPr lang="en-US" b="0" i="0" dirty="0">
                <a:solidFill>
                  <a:srgbClr val="1F2328"/>
                </a:solidFill>
                <a:effectLst/>
                <a:latin typeface="-apple-system"/>
              </a:rPr>
              <a:t>OP_SHA256 takes SHA256 hash</a:t>
            </a:r>
          </a:p>
          <a:p>
            <a:r>
              <a:rPr lang="en-US" b="0" i="0" dirty="0">
                <a:solidFill>
                  <a:srgbClr val="1F2328"/>
                </a:solidFill>
                <a:effectLst/>
                <a:latin typeface="-apple-system"/>
              </a:rPr>
              <a:t>OP_HASH256 takes double SHA256 i.e., SHA(SHA(x))</a:t>
            </a:r>
          </a:p>
          <a:p>
            <a:r>
              <a:rPr lang="en-US" b="0" i="0" dirty="0" err="1">
                <a:solidFill>
                  <a:srgbClr val="1F2328"/>
                </a:solidFill>
                <a:effectLst/>
                <a:latin typeface="-apple-system"/>
              </a:rPr>
              <a:t>Standardness</a:t>
            </a:r>
            <a:r>
              <a:rPr lang="en-US" b="0" i="0" dirty="0">
                <a:solidFill>
                  <a:srgbClr val="1F2328"/>
                </a:solidFill>
                <a:effectLst/>
                <a:latin typeface="-apple-system"/>
              </a:rPr>
              <a:t> rules allow 3600 B in p2wsh</a:t>
            </a:r>
            <a:endParaRPr lang="en-US" dirty="0"/>
          </a:p>
        </p:txBody>
      </p:sp>
      <p:sp>
        <p:nvSpPr>
          <p:cNvPr id="4" name="Slide Number Placeholder 3">
            <a:extLst>
              <a:ext uri="{FF2B5EF4-FFF2-40B4-BE49-F238E27FC236}">
                <a16:creationId xmlns:a16="http://schemas.microsoft.com/office/drawing/2014/main" id="{490F4D85-CBF7-9A68-A811-CD58529F9D9D}"/>
              </a:ext>
            </a:extLst>
          </p:cNvPr>
          <p:cNvSpPr>
            <a:spLocks noGrp="1"/>
          </p:cNvSpPr>
          <p:nvPr>
            <p:ph type="sldNum" sz="quarter" idx="5"/>
          </p:nvPr>
        </p:nvSpPr>
        <p:spPr/>
        <p:txBody>
          <a:bodyPr/>
          <a:lstStyle/>
          <a:p>
            <a:fld id="{3624AA66-5286-4A71-8DC1-D387DED69229}" type="slidenum">
              <a:rPr lang="en-US" smtClean="0"/>
              <a:t>42</a:t>
            </a:fld>
            <a:endParaRPr lang="en-US" dirty="0"/>
          </a:p>
        </p:txBody>
      </p:sp>
    </p:spTree>
    <p:extLst>
      <p:ext uri="{BB962C8B-B14F-4D97-AF65-F5344CB8AC3E}">
        <p14:creationId xmlns:p14="http://schemas.microsoft.com/office/powerpoint/2010/main" val="6841197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004BC-8C4F-8620-5759-FE1E70852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C55F5-BCAE-E558-852F-F356FCE6A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6C909-582B-9836-556C-9469E361108C}"/>
              </a:ext>
            </a:extLst>
          </p:cNvPr>
          <p:cNvSpPr>
            <a:spLocks noGrp="1"/>
          </p:cNvSpPr>
          <p:nvPr>
            <p:ph type="body" idx="1"/>
          </p:nvPr>
        </p:nvSpPr>
        <p:spPr/>
        <p:txBody>
          <a:bodyPr/>
          <a:lstStyle/>
          <a:p>
            <a:r>
              <a:rPr lang="en-US" dirty="0"/>
              <a:t>https://bitcoindev.network/guides/bitcoinjs-lib/native-segwit-p2wpkh/ </a:t>
            </a:r>
          </a:p>
          <a:p>
            <a:r>
              <a:rPr lang="en-US" b="0" i="0" dirty="0">
                <a:solidFill>
                  <a:srgbClr val="1F2328"/>
                </a:solidFill>
                <a:effectLst/>
                <a:latin typeface="-apple-system"/>
              </a:rPr>
              <a:t>Validity is defined by exclusion: a block or transaction is valid if no condition exists that marks it failed. </a:t>
            </a:r>
          </a:p>
          <a:p>
            <a:r>
              <a:rPr lang="en-US" b="0" i="0" dirty="0">
                <a:solidFill>
                  <a:srgbClr val="1F2328"/>
                </a:solidFill>
                <a:effectLst/>
                <a:latin typeface="-apple-system"/>
              </a:rPr>
              <a:t>In p2wsh the </a:t>
            </a:r>
            <a:r>
              <a:rPr lang="en-US" b="0" i="0" dirty="0" err="1">
                <a:solidFill>
                  <a:srgbClr val="1F2328"/>
                </a:solidFill>
                <a:effectLst/>
                <a:latin typeface="-apple-system"/>
              </a:rPr>
              <a:t>standardness</a:t>
            </a:r>
            <a:r>
              <a:rPr lang="en-US" b="0" i="0" dirty="0">
                <a:solidFill>
                  <a:srgbClr val="1F2328"/>
                </a:solidFill>
                <a:effectLst/>
                <a:latin typeface="-apple-system"/>
              </a:rPr>
              <a:t> rules require redeem script to be 3600 B long</a:t>
            </a:r>
          </a:p>
          <a:p>
            <a:r>
              <a:rPr lang="en-US" b="0" i="0" dirty="0">
                <a:solidFill>
                  <a:srgbClr val="1F2328"/>
                </a:solidFill>
                <a:effectLst/>
                <a:latin typeface="-apple-system"/>
              </a:rPr>
              <a:t>OP_SHA256 takes SHA256 hash</a:t>
            </a:r>
          </a:p>
          <a:p>
            <a:r>
              <a:rPr lang="en-US" b="0" i="0" dirty="0">
                <a:solidFill>
                  <a:srgbClr val="1F2328"/>
                </a:solidFill>
                <a:effectLst/>
                <a:latin typeface="-apple-system"/>
              </a:rPr>
              <a:t>OP_HASH256 takes double SHA256 i.e., SHA(SHA(x))</a:t>
            </a:r>
          </a:p>
          <a:p>
            <a:r>
              <a:rPr lang="en-US" b="0" i="0" dirty="0" err="1">
                <a:solidFill>
                  <a:srgbClr val="1F2328"/>
                </a:solidFill>
                <a:effectLst/>
                <a:latin typeface="-apple-system"/>
              </a:rPr>
              <a:t>Standardness</a:t>
            </a:r>
            <a:r>
              <a:rPr lang="en-US" b="0" i="0" dirty="0">
                <a:solidFill>
                  <a:srgbClr val="1F2328"/>
                </a:solidFill>
                <a:effectLst/>
                <a:latin typeface="-apple-system"/>
              </a:rPr>
              <a:t> rules allow 3600 B in p2wsh</a:t>
            </a:r>
            <a:endParaRPr lang="en-US" dirty="0"/>
          </a:p>
        </p:txBody>
      </p:sp>
      <p:sp>
        <p:nvSpPr>
          <p:cNvPr id="4" name="Slide Number Placeholder 3">
            <a:extLst>
              <a:ext uri="{FF2B5EF4-FFF2-40B4-BE49-F238E27FC236}">
                <a16:creationId xmlns:a16="http://schemas.microsoft.com/office/drawing/2014/main" id="{27079D5A-A63F-689B-33C7-DAFE5F0D300B}"/>
              </a:ext>
            </a:extLst>
          </p:cNvPr>
          <p:cNvSpPr>
            <a:spLocks noGrp="1"/>
          </p:cNvSpPr>
          <p:nvPr>
            <p:ph type="sldNum" sz="quarter" idx="5"/>
          </p:nvPr>
        </p:nvSpPr>
        <p:spPr/>
        <p:txBody>
          <a:bodyPr/>
          <a:lstStyle/>
          <a:p>
            <a:fld id="{3624AA66-5286-4A71-8DC1-D387DED69229}" type="slidenum">
              <a:rPr lang="en-US" smtClean="0"/>
              <a:t>43</a:t>
            </a:fld>
            <a:endParaRPr lang="en-US" dirty="0"/>
          </a:p>
        </p:txBody>
      </p:sp>
    </p:spTree>
    <p:extLst>
      <p:ext uri="{BB962C8B-B14F-4D97-AF65-F5344CB8AC3E}">
        <p14:creationId xmlns:p14="http://schemas.microsoft.com/office/powerpoint/2010/main" val="1198867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30ABE-75DD-2CC3-0C1E-118FB598A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AC6C4-FF15-D653-3FFF-728081B6F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BC79D6-774E-D14C-5426-B16CAE1E102E}"/>
              </a:ext>
            </a:extLst>
          </p:cNvPr>
          <p:cNvSpPr>
            <a:spLocks noGrp="1"/>
          </p:cNvSpPr>
          <p:nvPr>
            <p:ph type="body" idx="1"/>
          </p:nvPr>
        </p:nvSpPr>
        <p:spPr/>
        <p:txBody>
          <a:bodyPr/>
          <a:lstStyle/>
          <a:p>
            <a:r>
              <a:rPr lang="en-US" dirty="0"/>
              <a:t>https://bitcoindev.network/guides/bitcoinjs-lib/native-segwit-p2wpkh/ </a:t>
            </a:r>
          </a:p>
          <a:p>
            <a:r>
              <a:rPr lang="en-US" b="0" i="0" dirty="0">
                <a:solidFill>
                  <a:srgbClr val="1F2328"/>
                </a:solidFill>
                <a:effectLst/>
                <a:latin typeface="-apple-system"/>
              </a:rPr>
              <a:t>Validity is defined by exclusion: a block or transaction is valid if no condition exists that marks it failed. </a:t>
            </a:r>
          </a:p>
          <a:p>
            <a:r>
              <a:rPr lang="en-US" b="0" i="0" dirty="0">
                <a:solidFill>
                  <a:srgbClr val="1F2328"/>
                </a:solidFill>
                <a:effectLst/>
                <a:latin typeface="-apple-system"/>
              </a:rPr>
              <a:t>In p2wsh the </a:t>
            </a:r>
            <a:r>
              <a:rPr lang="en-US" b="0" i="0" dirty="0" err="1">
                <a:solidFill>
                  <a:srgbClr val="1F2328"/>
                </a:solidFill>
                <a:effectLst/>
                <a:latin typeface="-apple-system"/>
              </a:rPr>
              <a:t>standardness</a:t>
            </a:r>
            <a:r>
              <a:rPr lang="en-US" b="0" i="0" dirty="0">
                <a:solidFill>
                  <a:srgbClr val="1F2328"/>
                </a:solidFill>
                <a:effectLst/>
                <a:latin typeface="-apple-system"/>
              </a:rPr>
              <a:t> rules require redeem script to be 3600 B long</a:t>
            </a:r>
          </a:p>
          <a:p>
            <a:r>
              <a:rPr lang="en-US" b="0" i="0" dirty="0">
                <a:solidFill>
                  <a:srgbClr val="1F2328"/>
                </a:solidFill>
                <a:effectLst/>
                <a:latin typeface="-apple-system"/>
              </a:rPr>
              <a:t>OP_SHA256 takes SHA256 hash</a:t>
            </a:r>
          </a:p>
          <a:p>
            <a:r>
              <a:rPr lang="en-US" b="0" i="0" dirty="0">
                <a:solidFill>
                  <a:srgbClr val="1F2328"/>
                </a:solidFill>
                <a:effectLst/>
                <a:latin typeface="-apple-system"/>
              </a:rPr>
              <a:t>OP_HASH256 takes double SHA256 i.e., SHA(SHA(x))</a:t>
            </a:r>
          </a:p>
          <a:p>
            <a:r>
              <a:rPr lang="en-US" b="0" i="0" dirty="0" err="1">
                <a:solidFill>
                  <a:srgbClr val="1F2328"/>
                </a:solidFill>
                <a:effectLst/>
                <a:latin typeface="-apple-system"/>
              </a:rPr>
              <a:t>Standardness</a:t>
            </a:r>
            <a:r>
              <a:rPr lang="en-US" b="0" i="0" dirty="0">
                <a:solidFill>
                  <a:srgbClr val="1F2328"/>
                </a:solidFill>
                <a:effectLst/>
                <a:latin typeface="-apple-system"/>
              </a:rPr>
              <a:t> rules allow 3600 B in p2wsh</a:t>
            </a:r>
            <a:endParaRPr lang="en-US" dirty="0"/>
          </a:p>
        </p:txBody>
      </p:sp>
      <p:sp>
        <p:nvSpPr>
          <p:cNvPr id="4" name="Slide Number Placeholder 3">
            <a:extLst>
              <a:ext uri="{FF2B5EF4-FFF2-40B4-BE49-F238E27FC236}">
                <a16:creationId xmlns:a16="http://schemas.microsoft.com/office/drawing/2014/main" id="{B090371C-45EC-4390-4280-B31ED8D8FBF6}"/>
              </a:ext>
            </a:extLst>
          </p:cNvPr>
          <p:cNvSpPr>
            <a:spLocks noGrp="1"/>
          </p:cNvSpPr>
          <p:nvPr>
            <p:ph type="sldNum" sz="quarter" idx="5"/>
          </p:nvPr>
        </p:nvSpPr>
        <p:spPr/>
        <p:txBody>
          <a:bodyPr/>
          <a:lstStyle/>
          <a:p>
            <a:fld id="{3624AA66-5286-4A71-8DC1-D387DED69229}" type="slidenum">
              <a:rPr lang="en-US" smtClean="0"/>
              <a:t>44</a:t>
            </a:fld>
            <a:endParaRPr lang="en-US" dirty="0"/>
          </a:p>
        </p:txBody>
      </p:sp>
    </p:spTree>
    <p:extLst>
      <p:ext uri="{BB962C8B-B14F-4D97-AF65-F5344CB8AC3E}">
        <p14:creationId xmlns:p14="http://schemas.microsoft.com/office/powerpoint/2010/main" val="622391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D675A-9774-E3CB-F12D-A46D96827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AF3BD-2490-06B7-FD8D-543FC9DDDF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3552A-4A02-C6EB-D2D2-F88823C13FAE}"/>
              </a:ext>
            </a:extLst>
          </p:cNvPr>
          <p:cNvSpPr>
            <a:spLocks noGrp="1"/>
          </p:cNvSpPr>
          <p:nvPr>
            <p:ph type="body" idx="1"/>
          </p:nvPr>
        </p:nvSpPr>
        <p:spPr/>
        <p:txBody>
          <a:bodyPr/>
          <a:lstStyle/>
          <a:p>
            <a:r>
              <a:rPr lang="en-US" dirty="0"/>
              <a:t>Stack works in LIFO.. Last in first out </a:t>
            </a:r>
          </a:p>
          <a:p>
            <a:r>
              <a:rPr lang="en-US" dirty="0"/>
              <a:t>https://learnmeabitcoin.com/technical/script/p2wsh/</a:t>
            </a:r>
          </a:p>
          <a:p>
            <a:r>
              <a:rPr lang="en-US" dirty="0"/>
              <a:t>https://learnmeabitcoin.com/technical/transaction/witness/</a:t>
            </a:r>
          </a:p>
        </p:txBody>
      </p:sp>
      <p:sp>
        <p:nvSpPr>
          <p:cNvPr id="4" name="Slide Number Placeholder 3">
            <a:extLst>
              <a:ext uri="{FF2B5EF4-FFF2-40B4-BE49-F238E27FC236}">
                <a16:creationId xmlns:a16="http://schemas.microsoft.com/office/drawing/2014/main" id="{B86BF48E-F6EB-4700-E948-CF37A0DCFE85}"/>
              </a:ext>
            </a:extLst>
          </p:cNvPr>
          <p:cNvSpPr>
            <a:spLocks noGrp="1"/>
          </p:cNvSpPr>
          <p:nvPr>
            <p:ph type="sldNum" sz="quarter" idx="5"/>
          </p:nvPr>
        </p:nvSpPr>
        <p:spPr/>
        <p:txBody>
          <a:bodyPr/>
          <a:lstStyle/>
          <a:p>
            <a:fld id="{20C9AE28-5153-4CA5-B96B-FF1564D78CE0}" type="slidenum">
              <a:rPr lang="en-US" smtClean="0"/>
              <a:t>45</a:t>
            </a:fld>
            <a:endParaRPr lang="en-US"/>
          </a:p>
        </p:txBody>
      </p:sp>
    </p:spTree>
    <p:extLst>
      <p:ext uri="{BB962C8B-B14F-4D97-AF65-F5344CB8AC3E}">
        <p14:creationId xmlns:p14="http://schemas.microsoft.com/office/powerpoint/2010/main" val="1543823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branch needs true so we use 1 (or any other non zero number) to enter this branch</a:t>
            </a:r>
          </a:p>
          <a:p>
            <a:r>
              <a:rPr lang="en-US" dirty="0"/>
              <a:t>Else branch needs false so we use 0 to enter this branch</a:t>
            </a:r>
          </a:p>
          <a:p>
            <a:r>
              <a:rPr lang="en-US" dirty="0"/>
              <a:t>Nested IF/Else follows similar structure.. So if else and then another if else so to reach the last else </a:t>
            </a:r>
            <a:r>
              <a:rPr lang="en-US" dirty="0" err="1"/>
              <a:t>else</a:t>
            </a:r>
            <a:r>
              <a:rPr lang="en-US" dirty="0"/>
              <a:t> we have to provide 00 in the witness field</a:t>
            </a:r>
          </a:p>
        </p:txBody>
      </p:sp>
      <p:sp>
        <p:nvSpPr>
          <p:cNvPr id="4" name="Slide Number Placeholder 3"/>
          <p:cNvSpPr>
            <a:spLocks noGrp="1"/>
          </p:cNvSpPr>
          <p:nvPr>
            <p:ph type="sldNum" sz="quarter" idx="5"/>
          </p:nvPr>
        </p:nvSpPr>
        <p:spPr/>
        <p:txBody>
          <a:bodyPr/>
          <a:lstStyle/>
          <a:p>
            <a:fld id="{20C9AE28-5153-4CA5-B96B-FF1564D78CE0}" type="slidenum">
              <a:rPr lang="en-US" smtClean="0"/>
              <a:t>46</a:t>
            </a:fld>
            <a:endParaRPr lang="en-US"/>
          </a:p>
        </p:txBody>
      </p:sp>
    </p:spTree>
    <p:extLst>
      <p:ext uri="{BB962C8B-B14F-4D97-AF65-F5344CB8AC3E}">
        <p14:creationId xmlns:p14="http://schemas.microsoft.com/office/powerpoint/2010/main" val="23166393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09976-DD2A-3C97-1251-4A802F2EAD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2342A-0E19-40F6-4425-308E7B710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C9F11-8632-6775-5227-456E872EE41D}"/>
              </a:ext>
            </a:extLst>
          </p:cNvPr>
          <p:cNvSpPr>
            <a:spLocks noGrp="1"/>
          </p:cNvSpPr>
          <p:nvPr>
            <p:ph type="body" idx="1"/>
          </p:nvPr>
        </p:nvSpPr>
        <p:spPr/>
        <p:txBody>
          <a:bodyPr/>
          <a:lstStyle/>
          <a:p>
            <a:r>
              <a:rPr lang="en-US" dirty="0"/>
              <a:t>https://medium.com/@sinkec.mihael/pay-to-script-hash-p2sh-resurrection-3ec1516e244e </a:t>
            </a:r>
          </a:p>
          <a:p>
            <a:r>
              <a:rPr lang="en-US" dirty="0"/>
              <a:t>https://learnmeabitcoin.com/technical/script/p2wsh/</a:t>
            </a:r>
          </a:p>
        </p:txBody>
      </p:sp>
      <p:sp>
        <p:nvSpPr>
          <p:cNvPr id="4" name="Slide Number Placeholder 3">
            <a:extLst>
              <a:ext uri="{FF2B5EF4-FFF2-40B4-BE49-F238E27FC236}">
                <a16:creationId xmlns:a16="http://schemas.microsoft.com/office/drawing/2014/main" id="{87470CE5-A4A7-C3FE-79EF-EA0944439A28}"/>
              </a:ext>
            </a:extLst>
          </p:cNvPr>
          <p:cNvSpPr>
            <a:spLocks noGrp="1"/>
          </p:cNvSpPr>
          <p:nvPr>
            <p:ph type="sldNum" sz="quarter" idx="5"/>
          </p:nvPr>
        </p:nvSpPr>
        <p:spPr/>
        <p:txBody>
          <a:bodyPr/>
          <a:lstStyle/>
          <a:p>
            <a:fld id="{20C9AE28-5153-4CA5-B96B-FF1564D78CE0}" type="slidenum">
              <a:rPr lang="en-US" smtClean="0"/>
              <a:t>47</a:t>
            </a:fld>
            <a:endParaRPr lang="en-US"/>
          </a:p>
        </p:txBody>
      </p:sp>
    </p:spTree>
    <p:extLst>
      <p:ext uri="{BB962C8B-B14F-4D97-AF65-F5344CB8AC3E}">
        <p14:creationId xmlns:p14="http://schemas.microsoft.com/office/powerpoint/2010/main" val="11502565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4FF2-6FA2-5D67-9CB8-B737248B7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6B981-3568-6AAC-E972-C4EB2AF5A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49CC2-27BF-0994-4263-3A8351FB602A}"/>
              </a:ext>
            </a:extLst>
          </p:cNvPr>
          <p:cNvSpPr>
            <a:spLocks noGrp="1"/>
          </p:cNvSpPr>
          <p:nvPr>
            <p:ph type="body" idx="1"/>
          </p:nvPr>
        </p:nvSpPr>
        <p:spPr/>
        <p:txBody>
          <a:bodyPr/>
          <a:lstStyle/>
          <a:p>
            <a:pPr algn="l"/>
            <a:r>
              <a:rPr lang="en-US" dirty="0"/>
              <a:t>Additional data can be added in empty </a:t>
            </a:r>
            <a:r>
              <a:rPr lang="en-US" dirty="0" err="1"/>
              <a:t>scriptSig</a:t>
            </a:r>
            <a:r>
              <a:rPr lang="en-US" baseline="0" dirty="0"/>
              <a:t> field of </a:t>
            </a:r>
            <a:r>
              <a:rPr lang="en-US" baseline="0" dirty="0" err="1"/>
              <a:t>coinbase</a:t>
            </a:r>
            <a:r>
              <a:rPr lang="en-US" baseline="0" dirty="0"/>
              <a:t> </a:t>
            </a:r>
            <a:r>
              <a:rPr lang="en-US" baseline="0" dirty="0" err="1"/>
              <a:t>txn</a:t>
            </a:r>
            <a:r>
              <a:rPr lang="en-US" baseline="0" dirty="0"/>
              <a:t>. For example, </a:t>
            </a:r>
            <a:r>
              <a:rPr lang="en-US" sz="1200" dirty="0"/>
              <a:t>Genesis Block of Bitcoin was mined by Satoshi and he included Headline from Financial Times: </a:t>
            </a:r>
          </a:p>
          <a:p>
            <a:pPr algn="l"/>
            <a:r>
              <a:rPr lang="en-US" sz="1200" dirty="0"/>
              <a:t>‘The Times 03/Jan/2009 Chancellor on brink of second bailout for banks’</a:t>
            </a:r>
          </a:p>
          <a:p>
            <a:endParaRPr lang="en-US" dirty="0"/>
          </a:p>
        </p:txBody>
      </p:sp>
      <p:sp>
        <p:nvSpPr>
          <p:cNvPr id="4" name="Slide Number Placeholder 3">
            <a:extLst>
              <a:ext uri="{FF2B5EF4-FFF2-40B4-BE49-F238E27FC236}">
                <a16:creationId xmlns:a16="http://schemas.microsoft.com/office/drawing/2014/main" id="{E395A341-6EAB-F223-548F-69F09D2BFEEE}"/>
              </a:ext>
            </a:extLst>
          </p:cNvPr>
          <p:cNvSpPr>
            <a:spLocks noGrp="1"/>
          </p:cNvSpPr>
          <p:nvPr>
            <p:ph type="sldNum" sz="quarter" idx="10"/>
          </p:nvPr>
        </p:nvSpPr>
        <p:spPr/>
        <p:txBody>
          <a:bodyPr/>
          <a:lstStyle/>
          <a:p>
            <a:fld id="{3624AA66-5286-4A71-8DC1-D387DED69229}" type="slidenum">
              <a:rPr lang="en-US" smtClean="0"/>
              <a:t>49</a:t>
            </a:fld>
            <a:endParaRPr lang="en-US" dirty="0"/>
          </a:p>
        </p:txBody>
      </p:sp>
    </p:spTree>
    <p:extLst>
      <p:ext uri="{BB962C8B-B14F-4D97-AF65-F5344CB8AC3E}">
        <p14:creationId xmlns:p14="http://schemas.microsoft.com/office/powerpoint/2010/main" val="3336107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825D9-A5CD-BAF9-A2DE-005E58755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351CA-3178-9EF9-CF26-2847BBE80E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3ACED-4C30-C621-058C-109E77583AF1}"/>
              </a:ext>
            </a:extLst>
          </p:cNvPr>
          <p:cNvSpPr>
            <a:spLocks noGrp="1"/>
          </p:cNvSpPr>
          <p:nvPr>
            <p:ph type="body" idx="1"/>
          </p:nvPr>
        </p:nvSpPr>
        <p:spPr/>
        <p:txBody>
          <a:bodyPr/>
          <a:lstStyle/>
          <a:p>
            <a:r>
              <a:rPr lang="en-US" dirty="0"/>
              <a:t>Coinbase </a:t>
            </a:r>
            <a:r>
              <a:rPr lang="en-US" dirty="0" err="1"/>
              <a:t>txn</a:t>
            </a:r>
            <a:r>
              <a:rPr lang="en-US" dirty="0"/>
              <a:t> is the first </a:t>
            </a:r>
            <a:r>
              <a:rPr lang="en-US" dirty="0" err="1"/>
              <a:t>txn</a:t>
            </a:r>
            <a:r>
              <a:rPr lang="en-US" dirty="0"/>
              <a:t> of a block created by the miner and its </a:t>
            </a:r>
            <a:r>
              <a:rPr lang="en-US" dirty="0" err="1"/>
              <a:t>txn</a:t>
            </a:r>
            <a:r>
              <a:rPr lang="en-US" dirty="0"/>
              <a:t> number is 0</a:t>
            </a:r>
          </a:p>
          <a:p>
            <a:r>
              <a:rPr lang="en-US" dirty="0" err="1"/>
              <a:t>Wtxids</a:t>
            </a:r>
            <a:r>
              <a:rPr lang="en-US" dirty="0"/>
              <a:t> are also </a:t>
            </a:r>
            <a:r>
              <a:rPr lang="en-US" dirty="0" err="1"/>
              <a:t>doubl</a:t>
            </a:r>
            <a:r>
              <a:rPr lang="en-US" dirty="0"/>
              <a:t> sha256 </a:t>
            </a:r>
          </a:p>
          <a:p>
            <a:r>
              <a:rPr lang="en-US" dirty="0"/>
              <a:t>https://learnmeabitcoin.com/technical/transaction/wtxid/ </a:t>
            </a:r>
          </a:p>
        </p:txBody>
      </p:sp>
      <p:sp>
        <p:nvSpPr>
          <p:cNvPr id="4" name="Slide Number Placeholder 3">
            <a:extLst>
              <a:ext uri="{FF2B5EF4-FFF2-40B4-BE49-F238E27FC236}">
                <a16:creationId xmlns:a16="http://schemas.microsoft.com/office/drawing/2014/main" id="{B0AF0859-C335-6DEF-3199-58A45B3F1937}"/>
              </a:ext>
            </a:extLst>
          </p:cNvPr>
          <p:cNvSpPr>
            <a:spLocks noGrp="1"/>
          </p:cNvSpPr>
          <p:nvPr>
            <p:ph type="sldNum" sz="quarter" idx="5"/>
          </p:nvPr>
        </p:nvSpPr>
        <p:spPr/>
        <p:txBody>
          <a:bodyPr/>
          <a:lstStyle/>
          <a:p>
            <a:fld id="{3624AA66-5286-4A71-8DC1-D387DED69229}" type="slidenum">
              <a:rPr lang="en-US" smtClean="0"/>
              <a:t>50</a:t>
            </a:fld>
            <a:endParaRPr lang="en-US" dirty="0"/>
          </a:p>
        </p:txBody>
      </p:sp>
    </p:spTree>
    <p:extLst>
      <p:ext uri="{BB962C8B-B14F-4D97-AF65-F5344CB8AC3E}">
        <p14:creationId xmlns:p14="http://schemas.microsoft.com/office/powerpoint/2010/main" val="568979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Elliptic curve cryptography: R=r*G where G is the generator point if we break r=</a:t>
            </a:r>
            <a:r>
              <a:rPr lang="en-US" dirty="0" err="1"/>
              <a:t>r_a+r_b</a:t>
            </a:r>
            <a:r>
              <a:rPr lang="en-US" dirty="0"/>
              <a:t> then R=(</a:t>
            </a:r>
            <a:r>
              <a:rPr lang="en-US" dirty="0" err="1"/>
              <a:t>r_a+r_b</a:t>
            </a:r>
            <a:r>
              <a:rPr lang="en-US" dirty="0"/>
              <a:t>)*G = </a:t>
            </a:r>
            <a:r>
              <a:rPr lang="en-US" dirty="0" err="1"/>
              <a:t>r_a</a:t>
            </a:r>
            <a:r>
              <a:rPr lang="en-US" dirty="0"/>
              <a:t>*G + </a:t>
            </a:r>
            <a:r>
              <a:rPr lang="en-US" dirty="0" err="1"/>
              <a:t>r_b</a:t>
            </a:r>
            <a:r>
              <a:rPr lang="en-US" dirty="0"/>
              <a:t>*G = </a:t>
            </a:r>
            <a:r>
              <a:rPr lang="en-US" dirty="0" err="1"/>
              <a:t>R_a</a:t>
            </a:r>
            <a:r>
              <a:rPr lang="en-US" dirty="0"/>
              <a:t> + </a:t>
            </a:r>
            <a:r>
              <a:rPr lang="en-US" dirty="0" err="1"/>
              <a:t>R_b</a:t>
            </a:r>
            <a:r>
              <a:rPr lang="en-US" dirty="0"/>
              <a:t>.. So the operations are linear which enables us to use the method described on this slide.</a:t>
            </a:r>
          </a:p>
        </p:txBody>
      </p:sp>
      <p:sp>
        <p:nvSpPr>
          <p:cNvPr id="4" name="Slide Number Placeholder 3"/>
          <p:cNvSpPr>
            <a:spLocks noGrp="1"/>
          </p:cNvSpPr>
          <p:nvPr>
            <p:ph type="sldNum" sz="quarter" idx="5"/>
          </p:nvPr>
        </p:nvSpPr>
        <p:spPr/>
        <p:txBody>
          <a:bodyPr/>
          <a:lstStyle/>
          <a:p>
            <a:fld id="{20C9AE28-5153-4CA5-B96B-FF1564D78CE0}" type="slidenum">
              <a:rPr lang="en-US" smtClean="0"/>
              <a:t>55</a:t>
            </a:fld>
            <a:endParaRPr lang="en-US"/>
          </a:p>
        </p:txBody>
      </p:sp>
    </p:spTree>
    <p:extLst>
      <p:ext uri="{BB962C8B-B14F-4D97-AF65-F5344CB8AC3E}">
        <p14:creationId xmlns:p14="http://schemas.microsoft.com/office/powerpoint/2010/main" val="10868753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0C9AE28-5153-4CA5-B96B-FF1564D78CE0}" type="slidenum">
              <a:rPr lang="en-US" smtClean="0"/>
              <a:t>58</a:t>
            </a:fld>
            <a:endParaRPr lang="en-US"/>
          </a:p>
        </p:txBody>
      </p:sp>
    </p:spTree>
    <p:extLst>
      <p:ext uri="{BB962C8B-B14F-4D97-AF65-F5344CB8AC3E}">
        <p14:creationId xmlns:p14="http://schemas.microsoft.com/office/powerpoint/2010/main" val="26887850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A898-3CC9-C894-7B40-F891A233B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20EA8-B434-548D-D0D2-062998E1C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A813A7-F823-75B5-0638-93FFACE77A2B}"/>
              </a:ext>
            </a:extLst>
          </p:cNvPr>
          <p:cNvSpPr>
            <a:spLocks noGrp="1"/>
          </p:cNvSpPr>
          <p:nvPr>
            <p:ph type="body" idx="1"/>
          </p:nvPr>
        </p:nvSpPr>
        <p:spPr/>
        <p:txBody>
          <a:bodyPr/>
          <a:lstStyle/>
          <a:p>
            <a:r>
              <a:rPr lang="en-US" dirty="0"/>
              <a:t>Encumbrance is a more technical and formal word for a lock and is well known in legal and financial discussions </a:t>
            </a:r>
          </a:p>
          <a:p>
            <a:r>
              <a:rPr lang="en-US" dirty="0"/>
              <a:t>Unix timestamp: </a:t>
            </a:r>
            <a:r>
              <a:rPr lang="en-US" sz="1200" dirty="0"/>
              <a:t>500,000,000 – Sep 18, 2025 11:05 AM (1758175447 seconds since Jan 1, 1970).. 500,000,000 give us a date in the past </a:t>
            </a:r>
            <a:r>
              <a:rPr lang="en-US" sz="1200" b="0" i="0" kern="1200" dirty="0">
                <a:solidFill>
                  <a:schemeClr val="tx1"/>
                </a:solidFill>
                <a:effectLst/>
                <a:latin typeface="+mn-lt"/>
                <a:ea typeface="+mn-ea"/>
                <a:cs typeface="+mn-cs"/>
              </a:rPr>
              <a:t>Tue Nov 05 1985 05:53:20 GMT+0500 (Pakistan Standard Time).. Why we use it like this because we want to use the same number for block height as well.. </a:t>
            </a:r>
          </a:p>
          <a:p>
            <a:r>
              <a:rPr lang="en-US" dirty="0"/>
              <a:t>Max = </a:t>
            </a:r>
            <a:r>
              <a:rPr lang="en-US" sz="1200" kern="1200" dirty="0">
                <a:solidFill>
                  <a:schemeClr val="tx1"/>
                </a:solidFill>
                <a:latin typeface="+mn-lt"/>
                <a:ea typeface="+mn-ea"/>
                <a:cs typeface="+mn-cs"/>
              </a:rPr>
              <a:t>2,147,483,647</a:t>
            </a:r>
            <a:r>
              <a:rPr lang="en-US" dirty="0"/>
              <a:t> (which is </a:t>
            </a:r>
            <a:r>
              <a:rPr lang="en-US" b="1" dirty="0"/>
              <a:t>Jan 19, 2038</a:t>
            </a:r>
            <a:r>
              <a:rPr lang="en-US" dirty="0"/>
              <a:t> → the </a:t>
            </a:r>
            <a:r>
              <a:rPr lang="en-US" i="1" dirty="0"/>
              <a:t>Year 2038 problem</a:t>
            </a:r>
            <a:r>
              <a:rPr lang="en-US" dirty="0"/>
              <a:t>). </a:t>
            </a:r>
          </a:p>
          <a:p>
            <a:r>
              <a:rPr lang="en-US" dirty="0"/>
              <a:t>Default value is 0 which means no lock or if it is in the past it means no lock.</a:t>
            </a:r>
          </a:p>
        </p:txBody>
      </p:sp>
      <p:sp>
        <p:nvSpPr>
          <p:cNvPr id="4" name="Slide Number Placeholder 3">
            <a:extLst>
              <a:ext uri="{FF2B5EF4-FFF2-40B4-BE49-F238E27FC236}">
                <a16:creationId xmlns:a16="http://schemas.microsoft.com/office/drawing/2014/main" id="{1C928C7A-052B-8259-761D-338FF1705253}"/>
              </a:ext>
            </a:extLst>
          </p:cNvPr>
          <p:cNvSpPr>
            <a:spLocks noGrp="1"/>
          </p:cNvSpPr>
          <p:nvPr>
            <p:ph type="sldNum" sz="quarter" idx="5"/>
          </p:nvPr>
        </p:nvSpPr>
        <p:spPr/>
        <p:txBody>
          <a:bodyPr/>
          <a:lstStyle/>
          <a:p>
            <a:fld id="{20C9AE28-5153-4CA5-B96B-FF1564D78CE0}" type="slidenum">
              <a:rPr lang="en-US" smtClean="0"/>
              <a:t>59</a:t>
            </a:fld>
            <a:endParaRPr lang="en-US"/>
          </a:p>
        </p:txBody>
      </p:sp>
    </p:spTree>
    <p:extLst>
      <p:ext uri="{BB962C8B-B14F-4D97-AF65-F5344CB8AC3E}">
        <p14:creationId xmlns:p14="http://schemas.microsoft.com/office/powerpoint/2010/main" val="20592924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D5245-85FB-376F-3DB5-C96999437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AACFC-BC3A-0C70-A038-0BEF38914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19054-4253-04F3-18E5-3076E3EDE64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Converting from a sequence number to seconds is performed by multiplying by 512 = 2^9, or equivalently shifting up by 9 bits. </a:t>
            </a:r>
          </a:p>
          <a:p>
            <a:r>
              <a:rPr lang="en-US" sz="1200" b="0" i="0" kern="1200" dirty="0">
                <a:solidFill>
                  <a:schemeClr val="tx1"/>
                </a:solidFill>
                <a:effectLst/>
                <a:latin typeface="+mn-lt"/>
                <a:ea typeface="+mn-ea"/>
                <a:cs typeface="+mn-cs"/>
              </a:rPr>
              <a:t>Lower bits are least significant bits</a:t>
            </a:r>
          </a:p>
          <a:p>
            <a:r>
              <a:rPr lang="en-US" sz="1200" b="0" i="0" kern="1200" dirty="0">
                <a:solidFill>
                  <a:schemeClr val="tx1"/>
                </a:solidFill>
                <a:effectLst/>
                <a:latin typeface="+mn-lt"/>
                <a:ea typeface="+mn-ea"/>
                <a:cs typeface="+mn-cs"/>
              </a:rPr>
              <a:t>BIP68 encoding scheme</a:t>
            </a:r>
          </a:p>
          <a:p>
            <a:pPr lvl="1"/>
            <a:r>
              <a:rPr lang="en-US" dirty="0"/>
              <a:t>The lower 16 bits encode the relative lock time value</a:t>
            </a:r>
          </a:p>
          <a:p>
            <a:pPr lvl="1"/>
            <a:r>
              <a:rPr lang="en-US" dirty="0"/>
              <a:t>Bit 22 is a flag that specifies whether the relative lock is time-based or block-based </a:t>
            </a:r>
          </a:p>
          <a:p>
            <a:pPr lvl="1"/>
            <a:r>
              <a:rPr lang="en-US" dirty="0"/>
              <a:t>Remaining bits are set to 0 – reserved for future use</a:t>
            </a:r>
          </a:p>
          <a:p>
            <a:endParaRPr lang="en-US" dirty="0"/>
          </a:p>
        </p:txBody>
      </p:sp>
      <p:sp>
        <p:nvSpPr>
          <p:cNvPr id="4" name="Slide Number Placeholder 3">
            <a:extLst>
              <a:ext uri="{FF2B5EF4-FFF2-40B4-BE49-F238E27FC236}">
                <a16:creationId xmlns:a16="http://schemas.microsoft.com/office/drawing/2014/main" id="{4747A890-E00F-37E2-EB11-743AB244D45F}"/>
              </a:ext>
            </a:extLst>
          </p:cNvPr>
          <p:cNvSpPr>
            <a:spLocks noGrp="1"/>
          </p:cNvSpPr>
          <p:nvPr>
            <p:ph type="sldNum" sz="quarter" idx="5"/>
          </p:nvPr>
        </p:nvSpPr>
        <p:spPr/>
        <p:txBody>
          <a:bodyPr/>
          <a:lstStyle/>
          <a:p>
            <a:fld id="{20C9AE28-5153-4CA5-B96B-FF1564D78CE0}" type="slidenum">
              <a:rPr lang="en-US" smtClean="0"/>
              <a:t>64</a:t>
            </a:fld>
            <a:endParaRPr lang="en-US"/>
          </a:p>
        </p:txBody>
      </p:sp>
    </p:spTree>
    <p:extLst>
      <p:ext uri="{BB962C8B-B14F-4D97-AF65-F5344CB8AC3E}">
        <p14:creationId xmlns:p14="http://schemas.microsoft.com/office/powerpoint/2010/main" val="3548732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6FEA4-9E46-DBB9-68AD-6323B7BCF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82701-A6BD-4647-64B7-5A84C1B47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6FE25-0BE2-C661-F6D6-00911B7B81D1}"/>
              </a:ext>
            </a:extLst>
          </p:cNvPr>
          <p:cNvSpPr>
            <a:spLocks noGrp="1"/>
          </p:cNvSpPr>
          <p:nvPr>
            <p:ph type="body" idx="1"/>
          </p:nvPr>
        </p:nvSpPr>
        <p:spPr/>
        <p:txBody>
          <a:bodyPr/>
          <a:lstStyle/>
          <a:p>
            <a:r>
              <a:rPr lang="nl-NL" dirty="0"/>
              <a:t>&lt;60&gt; OP_CHECKSEQUENCEVERIFY OP_DROP</a:t>
            </a:r>
            <a:endParaRPr lang="en-US" dirty="0"/>
          </a:p>
        </p:txBody>
      </p:sp>
      <p:sp>
        <p:nvSpPr>
          <p:cNvPr id="4" name="Slide Number Placeholder 3">
            <a:extLst>
              <a:ext uri="{FF2B5EF4-FFF2-40B4-BE49-F238E27FC236}">
                <a16:creationId xmlns:a16="http://schemas.microsoft.com/office/drawing/2014/main" id="{3413CF4D-84E1-40B4-8690-49D47493662B}"/>
              </a:ext>
            </a:extLst>
          </p:cNvPr>
          <p:cNvSpPr>
            <a:spLocks noGrp="1"/>
          </p:cNvSpPr>
          <p:nvPr>
            <p:ph type="sldNum" sz="quarter" idx="5"/>
          </p:nvPr>
        </p:nvSpPr>
        <p:spPr/>
        <p:txBody>
          <a:bodyPr/>
          <a:lstStyle/>
          <a:p>
            <a:fld id="{20C9AE28-5153-4CA5-B96B-FF1564D78CE0}" type="slidenum">
              <a:rPr lang="en-US" smtClean="0"/>
              <a:t>65</a:t>
            </a:fld>
            <a:endParaRPr lang="en-US"/>
          </a:p>
        </p:txBody>
      </p:sp>
    </p:spTree>
    <p:extLst>
      <p:ext uri="{BB962C8B-B14F-4D97-AF65-F5344CB8AC3E}">
        <p14:creationId xmlns:p14="http://schemas.microsoft.com/office/powerpoint/2010/main" val="2754503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9D584-821D-F8F5-C2C2-357F8D64A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84A40-AB33-FE22-9E42-3FAC54E50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B38DA-2DEF-126F-F9F6-B6AD8A7CC7D2}"/>
              </a:ext>
            </a:extLst>
          </p:cNvPr>
          <p:cNvSpPr>
            <a:spLocks noGrp="1"/>
          </p:cNvSpPr>
          <p:nvPr>
            <p:ph type="body" idx="1"/>
          </p:nvPr>
        </p:nvSpPr>
        <p:spPr/>
        <p:txBody>
          <a:bodyPr/>
          <a:lstStyle/>
          <a:p>
            <a:r>
              <a:rPr lang="en-US" dirty="0"/>
              <a:t>In payment routing, nothing happens on chain.. Still everything is off chain.. On chain settlements only happen in case of disputes or when they want to close the channels</a:t>
            </a:r>
          </a:p>
        </p:txBody>
      </p:sp>
      <p:sp>
        <p:nvSpPr>
          <p:cNvPr id="4" name="Slide Number Placeholder 3">
            <a:extLst>
              <a:ext uri="{FF2B5EF4-FFF2-40B4-BE49-F238E27FC236}">
                <a16:creationId xmlns:a16="http://schemas.microsoft.com/office/drawing/2014/main" id="{9B8CC575-55DB-E85F-C021-CE1DD795DF37}"/>
              </a:ext>
            </a:extLst>
          </p:cNvPr>
          <p:cNvSpPr>
            <a:spLocks noGrp="1"/>
          </p:cNvSpPr>
          <p:nvPr>
            <p:ph type="sldNum" sz="quarter" idx="5"/>
          </p:nvPr>
        </p:nvSpPr>
        <p:spPr/>
        <p:txBody>
          <a:bodyPr/>
          <a:lstStyle/>
          <a:p>
            <a:fld id="{20C9AE28-5153-4CA5-B96B-FF1564D78CE0}" type="slidenum">
              <a:rPr lang="en-US" smtClean="0"/>
              <a:t>68</a:t>
            </a:fld>
            <a:endParaRPr lang="en-US"/>
          </a:p>
        </p:txBody>
      </p:sp>
    </p:spTree>
    <p:extLst>
      <p:ext uri="{BB962C8B-B14F-4D97-AF65-F5344CB8AC3E}">
        <p14:creationId xmlns:p14="http://schemas.microsoft.com/office/powerpoint/2010/main" val="1466337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has no direct </a:t>
            </a:r>
            <a:r>
              <a:rPr lang="en-US" dirty="0" err="1"/>
              <a:t>channe</a:t>
            </a:r>
            <a:r>
              <a:rPr lang="en-US" dirty="0"/>
              <a:t> with Bob so she routes here payment through Charlie.. She has a channel with Charlie were they already have a balance split according to their </a:t>
            </a:r>
            <a:r>
              <a:rPr lang="en-US"/>
              <a:t>transaction history from the </a:t>
            </a:r>
          </a:p>
        </p:txBody>
      </p:sp>
      <p:sp>
        <p:nvSpPr>
          <p:cNvPr id="4" name="Slide Number Placeholder 3"/>
          <p:cNvSpPr>
            <a:spLocks noGrp="1"/>
          </p:cNvSpPr>
          <p:nvPr>
            <p:ph type="sldNum" sz="quarter" idx="5"/>
          </p:nvPr>
        </p:nvSpPr>
        <p:spPr/>
        <p:txBody>
          <a:bodyPr/>
          <a:lstStyle/>
          <a:p>
            <a:fld id="{20C9AE28-5153-4CA5-B96B-FF1564D78CE0}" type="slidenum">
              <a:rPr lang="en-US" smtClean="0"/>
              <a:t>75</a:t>
            </a:fld>
            <a:endParaRPr lang="en-US"/>
          </a:p>
        </p:txBody>
      </p:sp>
    </p:spTree>
    <p:extLst>
      <p:ext uri="{BB962C8B-B14F-4D97-AF65-F5344CB8AC3E}">
        <p14:creationId xmlns:p14="http://schemas.microsoft.com/office/powerpoint/2010/main" val="23298459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can use her bitcoin to buy stuff from merchants.. </a:t>
            </a:r>
          </a:p>
        </p:txBody>
      </p:sp>
      <p:sp>
        <p:nvSpPr>
          <p:cNvPr id="4" name="Slide Number Placeholder 3"/>
          <p:cNvSpPr>
            <a:spLocks noGrp="1"/>
          </p:cNvSpPr>
          <p:nvPr>
            <p:ph type="sldNum" sz="quarter" idx="5"/>
          </p:nvPr>
        </p:nvSpPr>
        <p:spPr/>
        <p:txBody>
          <a:bodyPr/>
          <a:lstStyle/>
          <a:p>
            <a:fld id="{20C9AE28-5153-4CA5-B96B-FF1564D78CE0}" type="slidenum">
              <a:rPr lang="en-US" smtClean="0"/>
              <a:t>76</a:t>
            </a:fld>
            <a:endParaRPr lang="en-US"/>
          </a:p>
        </p:txBody>
      </p:sp>
    </p:spTree>
    <p:extLst>
      <p:ext uri="{BB962C8B-B14F-4D97-AF65-F5344CB8AC3E}">
        <p14:creationId xmlns:p14="http://schemas.microsoft.com/office/powerpoint/2010/main" val="31069477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https://1ml.com/statistics</a:t>
            </a:r>
            <a:r>
              <a:rPr lang="en-US" sz="1200" dirty="0"/>
              <a:t> </a:t>
            </a:r>
          </a:p>
          <a:p>
            <a:r>
              <a:rPr lang="en-US" dirty="0"/>
              <a:t> Live lightning network statistics</a:t>
            </a:r>
          </a:p>
        </p:txBody>
      </p:sp>
      <p:sp>
        <p:nvSpPr>
          <p:cNvPr id="4" name="Slide Number Placeholder 3"/>
          <p:cNvSpPr>
            <a:spLocks noGrp="1"/>
          </p:cNvSpPr>
          <p:nvPr>
            <p:ph type="sldNum" sz="quarter" idx="5"/>
          </p:nvPr>
        </p:nvSpPr>
        <p:spPr/>
        <p:txBody>
          <a:bodyPr/>
          <a:lstStyle/>
          <a:p>
            <a:fld id="{20C9AE28-5153-4CA5-B96B-FF1564D78CE0}" type="slidenum">
              <a:rPr lang="en-US" smtClean="0"/>
              <a:t>77</a:t>
            </a:fld>
            <a:endParaRPr lang="en-US"/>
          </a:p>
        </p:txBody>
      </p:sp>
    </p:spTree>
    <p:extLst>
      <p:ext uri="{BB962C8B-B14F-4D97-AF65-F5344CB8AC3E}">
        <p14:creationId xmlns:p14="http://schemas.microsoft.com/office/powerpoint/2010/main" val="20495440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Anonymity is hiding your identity which is not bitcoin goal.. The goal is to hide your spending like banking transactions</a:t>
            </a:r>
          </a:p>
        </p:txBody>
      </p:sp>
      <p:sp>
        <p:nvSpPr>
          <p:cNvPr id="4" name="Slide Number Placeholder 3"/>
          <p:cNvSpPr>
            <a:spLocks noGrp="1"/>
          </p:cNvSpPr>
          <p:nvPr>
            <p:ph type="sldNum" sz="quarter" idx="5"/>
          </p:nvPr>
        </p:nvSpPr>
        <p:spPr/>
        <p:txBody>
          <a:bodyPr/>
          <a:lstStyle/>
          <a:p>
            <a:fld id="{20C9AE28-5153-4CA5-B96B-FF1564D78CE0}" type="slidenum">
              <a:rPr lang="en-US" smtClean="0"/>
              <a:t>79</a:t>
            </a:fld>
            <a:endParaRPr lang="en-US"/>
          </a:p>
        </p:txBody>
      </p:sp>
    </p:spTree>
    <p:extLst>
      <p:ext uri="{BB962C8B-B14F-4D97-AF65-F5344CB8AC3E}">
        <p14:creationId xmlns:p14="http://schemas.microsoft.com/office/powerpoint/2010/main" val="23622474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 an internal key of 32 B where P=x (the point on the EC remains the same if y coordinate is even but if y coordinate is odd the corresponding point becomes –P so x is still the same but we flip 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we get P we create a tweaked public key of 32 B Q, where Q=</a:t>
            </a:r>
            <a:r>
              <a:rPr lang="en-US" dirty="0" err="1"/>
              <a:t>P+h</a:t>
            </a:r>
            <a:r>
              <a:rPr lang="en-US" dirty="0"/>
              <a:t>(P||m)G where m is the </a:t>
            </a:r>
            <a:r>
              <a:rPr lang="en-US" dirty="0" err="1"/>
              <a:t>merket</a:t>
            </a:r>
            <a:r>
              <a:rPr lang="en-US" dirty="0"/>
              <a:t> root of the script tree and G is the generator point on the EC</a:t>
            </a:r>
          </a:p>
          <a:p>
            <a:endParaRPr lang="en-US" dirty="0"/>
          </a:p>
        </p:txBody>
      </p:sp>
      <p:sp>
        <p:nvSpPr>
          <p:cNvPr id="4" name="Slide Number Placeholder 3"/>
          <p:cNvSpPr>
            <a:spLocks noGrp="1"/>
          </p:cNvSpPr>
          <p:nvPr>
            <p:ph type="sldNum" sz="quarter" idx="5"/>
          </p:nvPr>
        </p:nvSpPr>
        <p:spPr/>
        <p:txBody>
          <a:bodyPr/>
          <a:lstStyle/>
          <a:p>
            <a:fld id="{20C9AE28-5153-4CA5-B96B-FF1564D78CE0}" type="slidenum">
              <a:rPr lang="en-US" smtClean="0"/>
              <a:t>82</a:t>
            </a:fld>
            <a:endParaRPr lang="en-US"/>
          </a:p>
        </p:txBody>
      </p:sp>
    </p:spTree>
    <p:extLst>
      <p:ext uri="{BB962C8B-B14F-4D97-AF65-F5344CB8AC3E}">
        <p14:creationId xmlns:p14="http://schemas.microsoft.com/office/powerpoint/2010/main" val="36826831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https://rubin.io/projects/MAST/</a:t>
            </a:r>
          </a:p>
        </p:txBody>
      </p:sp>
      <p:sp>
        <p:nvSpPr>
          <p:cNvPr id="4" name="Slide Number Placeholder 3"/>
          <p:cNvSpPr>
            <a:spLocks noGrp="1"/>
          </p:cNvSpPr>
          <p:nvPr>
            <p:ph type="sldNum" sz="quarter" idx="5"/>
          </p:nvPr>
        </p:nvSpPr>
        <p:spPr/>
        <p:txBody>
          <a:bodyPr/>
          <a:lstStyle/>
          <a:p>
            <a:fld id="{20C9AE28-5153-4CA5-B96B-FF1564D78CE0}" type="slidenum">
              <a:rPr lang="en-US" smtClean="0"/>
              <a:t>84</a:t>
            </a:fld>
            <a:endParaRPr lang="en-US"/>
          </a:p>
        </p:txBody>
      </p:sp>
    </p:spTree>
    <p:extLst>
      <p:ext uri="{BB962C8B-B14F-4D97-AF65-F5344CB8AC3E}">
        <p14:creationId xmlns:p14="http://schemas.microsoft.com/office/powerpoint/2010/main" val="23169004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control block the internal key is revealed so the public key is exposed in the script path.. When we are using the key path (although the name is the key path), we are just providing the signatures with the corresponding tweaked private key so the internal public key is never exposed. So script path exposes the internal public key but key path does not. </a:t>
            </a:r>
          </a:p>
        </p:txBody>
      </p:sp>
      <p:sp>
        <p:nvSpPr>
          <p:cNvPr id="4" name="Slide Number Placeholder 3"/>
          <p:cNvSpPr>
            <a:spLocks noGrp="1"/>
          </p:cNvSpPr>
          <p:nvPr>
            <p:ph type="sldNum" sz="quarter" idx="5"/>
          </p:nvPr>
        </p:nvSpPr>
        <p:spPr/>
        <p:txBody>
          <a:bodyPr/>
          <a:lstStyle/>
          <a:p>
            <a:fld id="{20C9AE28-5153-4CA5-B96B-FF1564D78CE0}" type="slidenum">
              <a:rPr lang="en-US" smtClean="0"/>
              <a:t>85</a:t>
            </a:fld>
            <a:endParaRPr lang="en-US"/>
          </a:p>
        </p:txBody>
      </p:sp>
    </p:spTree>
    <p:extLst>
      <p:ext uri="{BB962C8B-B14F-4D97-AF65-F5344CB8AC3E}">
        <p14:creationId xmlns:p14="http://schemas.microsoft.com/office/powerpoint/2010/main" val="2037202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858-D394-1DF3-8548-66CE55288883}"/>
              </a:ext>
            </a:extLst>
          </p:cNvPr>
          <p:cNvSpPr>
            <a:spLocks noGrp="1"/>
          </p:cNvSpPr>
          <p:nvPr>
            <p:ph type="ctrTitle"/>
          </p:nvPr>
        </p:nvSpPr>
        <p:spPr>
          <a:xfrm>
            <a:off x="1524000" y="1894523"/>
            <a:ext cx="9144000" cy="2387600"/>
          </a:xfrm>
        </p:spPr>
        <p:txBody>
          <a:bodyPr anchor="b">
            <a:normAutofit/>
          </a:bodyPr>
          <a:lstStyle>
            <a:lvl1pPr algn="ctr">
              <a:defRPr sz="5400">
                <a:solidFill>
                  <a:srgbClr val="0432FF"/>
                </a:solidFill>
              </a:defRPr>
            </a:lvl1pPr>
          </a:lstStyle>
          <a:p>
            <a:r>
              <a:rPr lang="en-GB" dirty="0"/>
              <a:t>Click to edit Master title style</a:t>
            </a:r>
            <a:endParaRPr lang="en-PK" dirty="0"/>
          </a:p>
        </p:txBody>
      </p:sp>
      <p:sp>
        <p:nvSpPr>
          <p:cNvPr id="3" name="Subtitle 2">
            <a:extLst>
              <a:ext uri="{FF2B5EF4-FFF2-40B4-BE49-F238E27FC236}">
                <a16:creationId xmlns:a16="http://schemas.microsoft.com/office/drawing/2014/main" id="{0676C1A2-C823-594D-0305-E762FC21A848}"/>
              </a:ext>
            </a:extLst>
          </p:cNvPr>
          <p:cNvSpPr>
            <a:spLocks noGrp="1"/>
          </p:cNvSpPr>
          <p:nvPr>
            <p:ph type="subTitle" idx="1"/>
          </p:nvPr>
        </p:nvSpPr>
        <p:spPr>
          <a:xfrm>
            <a:off x="1524000" y="4561840"/>
            <a:ext cx="9144000" cy="15849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PK" dirty="0"/>
          </a:p>
        </p:txBody>
      </p:sp>
      <p:sp>
        <p:nvSpPr>
          <p:cNvPr id="4" name="Date Placeholder 3">
            <a:extLst>
              <a:ext uri="{FF2B5EF4-FFF2-40B4-BE49-F238E27FC236}">
                <a16:creationId xmlns:a16="http://schemas.microsoft.com/office/drawing/2014/main" id="{D21EADBC-FC3A-F6AB-47B4-2E47609F86F4}"/>
              </a:ext>
            </a:extLst>
          </p:cNvPr>
          <p:cNvSpPr>
            <a:spLocks noGrp="1"/>
          </p:cNvSpPr>
          <p:nvPr>
            <p:ph type="dt" sz="half" idx="10"/>
          </p:nvPr>
        </p:nvSpPr>
        <p:spPr/>
        <p:txBody>
          <a:bodyPr/>
          <a:lstStyle/>
          <a:p>
            <a:fld id="{C3849243-4112-7B47-A574-2D273E35D5BF}" type="datetime1">
              <a:rPr lang="en-US" smtClean="0"/>
              <a:t>4/1/2026</a:t>
            </a:fld>
            <a:endParaRPr lang="en-US" dirty="0"/>
          </a:p>
        </p:txBody>
      </p:sp>
      <p:sp>
        <p:nvSpPr>
          <p:cNvPr id="5" name="Footer Placeholder 4">
            <a:extLst>
              <a:ext uri="{FF2B5EF4-FFF2-40B4-BE49-F238E27FC236}">
                <a16:creationId xmlns:a16="http://schemas.microsoft.com/office/drawing/2014/main" id="{A40CD5FA-CF77-D285-681E-29E6811E87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101942-960C-299C-A498-C3ED2A47A9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327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BD9A-E09E-27C0-F440-9D83036CB997}"/>
              </a:ext>
            </a:extLst>
          </p:cNvPr>
          <p:cNvSpPr>
            <a:spLocks noGrp="1"/>
          </p:cNvSpPr>
          <p:nvPr>
            <p:ph type="title"/>
          </p:nvPr>
        </p:nvSpPr>
        <p:spPr>
          <a:xfrm>
            <a:off x="487680" y="101601"/>
            <a:ext cx="11186160" cy="985519"/>
          </a:xfrm>
        </p:spPr>
        <p:txBody>
          <a:bodyPr/>
          <a:lstStyle>
            <a:lvl1pPr>
              <a:defRPr>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5E8317A4-8BBD-54EB-8341-6A6B099145E6}"/>
              </a:ext>
            </a:extLst>
          </p:cNvPr>
          <p:cNvSpPr>
            <a:spLocks noGrp="1"/>
          </p:cNvSpPr>
          <p:nvPr>
            <p:ph idx="1"/>
          </p:nvPr>
        </p:nvSpPr>
        <p:spPr>
          <a:xfrm>
            <a:off x="487680" y="1097280"/>
            <a:ext cx="11186160" cy="5079683"/>
          </a:xfrm>
        </p:spPr>
        <p:txBody>
          <a:bodyPr>
            <a:normAutofit/>
          </a:bodyPr>
          <a:lstStyle>
            <a:lvl1pPr>
              <a:defRPr sz="3200"/>
            </a:lvl1pPr>
            <a:lvl2pPr marL="685800" indent="-228600">
              <a:buFont typeface="System Font Regular"/>
              <a:buChar char="−"/>
              <a:defRPr sz="2800"/>
            </a:lvl2pPr>
            <a:lvl3pPr marL="1143000" indent="-228600">
              <a:buFont typeface="Wingdings" pitchFamily="2" charset="2"/>
              <a:buChar char="§"/>
              <a:defRPr sz="2400"/>
            </a:lvl3pPr>
            <a:lvl4pPr>
              <a:defRPr sz="2000"/>
            </a:lvl4pPr>
            <a:lvl5pPr>
              <a:defRPr sz="2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K" dirty="0"/>
          </a:p>
        </p:txBody>
      </p:sp>
      <p:sp>
        <p:nvSpPr>
          <p:cNvPr id="10" name="Date Placeholder 9">
            <a:extLst>
              <a:ext uri="{FF2B5EF4-FFF2-40B4-BE49-F238E27FC236}">
                <a16:creationId xmlns:a16="http://schemas.microsoft.com/office/drawing/2014/main" id="{5348C2E2-1287-A287-C5A8-249139348A29}"/>
              </a:ext>
            </a:extLst>
          </p:cNvPr>
          <p:cNvSpPr>
            <a:spLocks noGrp="1"/>
          </p:cNvSpPr>
          <p:nvPr>
            <p:ph type="dt" sz="half" idx="10"/>
          </p:nvPr>
        </p:nvSpPr>
        <p:spPr/>
        <p:txBody>
          <a:bodyPr/>
          <a:lstStyle/>
          <a:p>
            <a:fld id="{817CC187-CAD7-6048-8C63-99BBB8908136}" type="datetime1">
              <a:rPr lang="en-US" smtClean="0"/>
              <a:t>4/1/2026</a:t>
            </a:fld>
            <a:endParaRPr lang="en-US" dirty="0"/>
          </a:p>
        </p:txBody>
      </p:sp>
      <p:sp>
        <p:nvSpPr>
          <p:cNvPr id="11" name="Footer Placeholder 10">
            <a:extLst>
              <a:ext uri="{FF2B5EF4-FFF2-40B4-BE49-F238E27FC236}">
                <a16:creationId xmlns:a16="http://schemas.microsoft.com/office/drawing/2014/main" id="{1DC7CB26-524D-696E-CC83-507688F1F030}"/>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C5E6A54D-DC81-738E-1BEE-B237D69CCA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38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648-4538-750C-7EE1-223668DCD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5600F2E1-ECAA-4DD2-425F-64F40CAD30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E963A2-C90D-F927-6660-D043609CC6B9}"/>
              </a:ext>
            </a:extLst>
          </p:cNvPr>
          <p:cNvSpPr>
            <a:spLocks noGrp="1"/>
          </p:cNvSpPr>
          <p:nvPr>
            <p:ph type="dt" sz="half" idx="10"/>
          </p:nvPr>
        </p:nvSpPr>
        <p:spPr/>
        <p:txBody>
          <a:bodyPr/>
          <a:lstStyle/>
          <a:p>
            <a:fld id="{AB3EF2E6-6629-DA43-81BC-EC712F4B5466}" type="datetime1">
              <a:rPr lang="en-US" smtClean="0"/>
              <a:t>4/1/2026</a:t>
            </a:fld>
            <a:endParaRPr lang="en-US" dirty="0"/>
          </a:p>
        </p:txBody>
      </p:sp>
      <p:sp>
        <p:nvSpPr>
          <p:cNvPr id="5" name="Footer Placeholder 4">
            <a:extLst>
              <a:ext uri="{FF2B5EF4-FFF2-40B4-BE49-F238E27FC236}">
                <a16:creationId xmlns:a16="http://schemas.microsoft.com/office/drawing/2014/main" id="{38BFE049-0473-B4C2-1291-C73354AD41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731B0E-4E34-EAD8-A1D1-57CBD5CE222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7218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983-ACF4-D2FF-550D-7521D9C10608}"/>
              </a:ext>
            </a:extLst>
          </p:cNvPr>
          <p:cNvSpPr>
            <a:spLocks noGrp="1"/>
          </p:cNvSpPr>
          <p:nvPr>
            <p:ph type="title"/>
          </p:nvPr>
        </p:nvSpPr>
        <p:spPr/>
        <p:txBody>
          <a:bodyPr/>
          <a:lstStyle>
            <a:lvl1pPr>
              <a:defRPr baseline="0">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867760F6-F485-781B-D79F-C026B432F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0C0A9B31-1608-966B-6FF9-D180F6BA70E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AE4E9F2A-B43F-F0D4-3F76-27FB4DE7B7DA}"/>
              </a:ext>
            </a:extLst>
          </p:cNvPr>
          <p:cNvSpPr>
            <a:spLocks noGrp="1"/>
          </p:cNvSpPr>
          <p:nvPr>
            <p:ph type="dt" sz="half" idx="10"/>
          </p:nvPr>
        </p:nvSpPr>
        <p:spPr/>
        <p:txBody>
          <a:bodyPr/>
          <a:lstStyle/>
          <a:p>
            <a:fld id="{36F14FDE-C188-ED4A-8904-90C7377CA55E}" type="datetime1">
              <a:rPr lang="en-US" smtClean="0"/>
              <a:t>4/1/2026</a:t>
            </a:fld>
            <a:endParaRPr lang="en-US" dirty="0"/>
          </a:p>
        </p:txBody>
      </p:sp>
      <p:sp>
        <p:nvSpPr>
          <p:cNvPr id="6" name="Footer Placeholder 5">
            <a:extLst>
              <a:ext uri="{FF2B5EF4-FFF2-40B4-BE49-F238E27FC236}">
                <a16:creationId xmlns:a16="http://schemas.microsoft.com/office/drawing/2014/main" id="{8C05907C-697C-ED08-3F75-E31B2EE3DB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AA1F3D-78B2-4FF0-F5DB-76EFAA2F79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2651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2D-0C64-FBAF-5593-D97CF801A3C1}"/>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451EA66-FAC3-3698-6220-1A94F8A42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CA302E-0245-F0D0-D052-B1D8D82B27C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5CA6952-B46D-38B4-F728-B77FC9960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D0A727-B6BA-1E0C-A4A4-CEAA10F30F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297075C-8C1E-2AE7-1628-AE106A293753}"/>
              </a:ext>
            </a:extLst>
          </p:cNvPr>
          <p:cNvSpPr>
            <a:spLocks noGrp="1"/>
          </p:cNvSpPr>
          <p:nvPr>
            <p:ph type="dt" sz="half" idx="10"/>
          </p:nvPr>
        </p:nvSpPr>
        <p:spPr/>
        <p:txBody>
          <a:bodyPr/>
          <a:lstStyle/>
          <a:p>
            <a:fld id="{731959A2-FD1F-D047-9B71-2099CD96FB05}" type="datetime1">
              <a:rPr lang="en-US" smtClean="0"/>
              <a:t>4/1/2026</a:t>
            </a:fld>
            <a:endParaRPr lang="en-US" dirty="0"/>
          </a:p>
        </p:txBody>
      </p:sp>
      <p:sp>
        <p:nvSpPr>
          <p:cNvPr id="8" name="Footer Placeholder 7">
            <a:extLst>
              <a:ext uri="{FF2B5EF4-FFF2-40B4-BE49-F238E27FC236}">
                <a16:creationId xmlns:a16="http://schemas.microsoft.com/office/drawing/2014/main" id="{B32270EF-DDC8-5339-C583-77D7407937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0C3B1F-1426-32FD-9474-94C0B22380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4352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2E3-B42B-8881-ECBD-DD87B0837FE7}"/>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en-PK" dirty="0"/>
          </a:p>
        </p:txBody>
      </p:sp>
      <p:sp>
        <p:nvSpPr>
          <p:cNvPr id="3" name="Date Placeholder 2">
            <a:extLst>
              <a:ext uri="{FF2B5EF4-FFF2-40B4-BE49-F238E27FC236}">
                <a16:creationId xmlns:a16="http://schemas.microsoft.com/office/drawing/2014/main" id="{02BCC8C1-CDF5-4584-D4F9-21C17A750A43}"/>
              </a:ext>
            </a:extLst>
          </p:cNvPr>
          <p:cNvSpPr>
            <a:spLocks noGrp="1"/>
          </p:cNvSpPr>
          <p:nvPr>
            <p:ph type="dt" sz="half" idx="10"/>
          </p:nvPr>
        </p:nvSpPr>
        <p:spPr/>
        <p:txBody>
          <a:bodyPr/>
          <a:lstStyle/>
          <a:p>
            <a:fld id="{1A5421AD-14B7-AB4F-B42E-6335F98BEAFF}" type="datetime1">
              <a:rPr lang="en-US" smtClean="0"/>
              <a:t>4/1/2026</a:t>
            </a:fld>
            <a:endParaRPr lang="en-US" dirty="0"/>
          </a:p>
        </p:txBody>
      </p:sp>
      <p:sp>
        <p:nvSpPr>
          <p:cNvPr id="4" name="Footer Placeholder 3">
            <a:extLst>
              <a:ext uri="{FF2B5EF4-FFF2-40B4-BE49-F238E27FC236}">
                <a16:creationId xmlns:a16="http://schemas.microsoft.com/office/drawing/2014/main" id="{5CC88A07-7922-BC79-0A35-EFFA19918C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F73C74-5D1C-ADB6-FF80-7000D00307D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5407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375D4-3AF6-A58E-051F-58D7D1235B76}"/>
              </a:ext>
            </a:extLst>
          </p:cNvPr>
          <p:cNvSpPr>
            <a:spLocks noGrp="1"/>
          </p:cNvSpPr>
          <p:nvPr>
            <p:ph type="dt" sz="half" idx="10"/>
          </p:nvPr>
        </p:nvSpPr>
        <p:spPr/>
        <p:txBody>
          <a:bodyPr/>
          <a:lstStyle/>
          <a:p>
            <a:fld id="{AF87A72A-0C74-6E44-A7EE-CA74955F1256}" type="datetime1">
              <a:rPr lang="en-US" smtClean="0"/>
              <a:t>4/1/2026</a:t>
            </a:fld>
            <a:endParaRPr lang="en-US" dirty="0"/>
          </a:p>
        </p:txBody>
      </p:sp>
      <p:sp>
        <p:nvSpPr>
          <p:cNvPr id="3" name="Footer Placeholder 2">
            <a:extLst>
              <a:ext uri="{FF2B5EF4-FFF2-40B4-BE49-F238E27FC236}">
                <a16:creationId xmlns:a16="http://schemas.microsoft.com/office/drawing/2014/main" id="{5F7B3ECF-6748-2655-F77F-E8CA401631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F60ABE-8C6A-9352-A215-6EBF86F837B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968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5DAC-4002-01D9-6457-D37C5DF97F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DC7FBE91-7D8E-3944-5569-40E8D6B74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D0E325B0-27F2-9710-58F6-0C07626C2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7CBABE-1AE7-D70C-7708-85020C73E59E}"/>
              </a:ext>
            </a:extLst>
          </p:cNvPr>
          <p:cNvSpPr>
            <a:spLocks noGrp="1"/>
          </p:cNvSpPr>
          <p:nvPr>
            <p:ph type="dt" sz="half" idx="10"/>
          </p:nvPr>
        </p:nvSpPr>
        <p:spPr/>
        <p:txBody>
          <a:bodyPr/>
          <a:lstStyle/>
          <a:p>
            <a:fld id="{A09B1005-574F-D344-BCB1-9D2AB269A3EC}" type="datetime1">
              <a:rPr lang="en-US" smtClean="0"/>
              <a:t>4/1/2026</a:t>
            </a:fld>
            <a:endParaRPr lang="en-US" dirty="0"/>
          </a:p>
        </p:txBody>
      </p:sp>
      <p:sp>
        <p:nvSpPr>
          <p:cNvPr id="6" name="Footer Placeholder 5">
            <a:extLst>
              <a:ext uri="{FF2B5EF4-FFF2-40B4-BE49-F238E27FC236}">
                <a16:creationId xmlns:a16="http://schemas.microsoft.com/office/drawing/2014/main" id="{78A73628-77BC-4A24-08E2-D57F3D53AD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05F63F-7883-63AF-C6F9-B3BC8A2E159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4091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EB26-001F-167A-6BA0-DCD22D5914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67DCA67E-ABF8-043E-F669-25D35A32A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21ED5B5-8357-7928-0AFB-A855388E3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A618A2-5986-F9BA-EC13-3460B7AB14B2}"/>
              </a:ext>
            </a:extLst>
          </p:cNvPr>
          <p:cNvSpPr>
            <a:spLocks noGrp="1"/>
          </p:cNvSpPr>
          <p:nvPr>
            <p:ph type="dt" sz="half" idx="10"/>
          </p:nvPr>
        </p:nvSpPr>
        <p:spPr/>
        <p:txBody>
          <a:bodyPr/>
          <a:lstStyle/>
          <a:p>
            <a:fld id="{C818EC7F-129E-B04A-94CE-A0E8D5F704B5}" type="datetime1">
              <a:rPr lang="en-US" smtClean="0"/>
              <a:t>4/1/2026</a:t>
            </a:fld>
            <a:endParaRPr lang="en-US" dirty="0"/>
          </a:p>
        </p:txBody>
      </p:sp>
      <p:sp>
        <p:nvSpPr>
          <p:cNvPr id="6" name="Footer Placeholder 5">
            <a:extLst>
              <a:ext uri="{FF2B5EF4-FFF2-40B4-BE49-F238E27FC236}">
                <a16:creationId xmlns:a16="http://schemas.microsoft.com/office/drawing/2014/main" id="{C9607585-1E53-29E6-E14C-D4E5C685D0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9FB97-D9C9-FC78-3D39-E81B1517740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975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7194-44EF-7006-9E4C-D94DF8394AB2}"/>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A9D5E83A-839B-9260-0A21-8B997EE526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39D60F5-F487-9F40-578A-E36732D3A2B4}"/>
              </a:ext>
            </a:extLst>
          </p:cNvPr>
          <p:cNvSpPr>
            <a:spLocks noGrp="1"/>
          </p:cNvSpPr>
          <p:nvPr>
            <p:ph type="dt" sz="half" idx="10"/>
          </p:nvPr>
        </p:nvSpPr>
        <p:spPr/>
        <p:txBody>
          <a:bodyPr/>
          <a:lstStyle/>
          <a:p>
            <a:fld id="{BADEC171-6AFE-CA49-AAE9-DDDD51BDA4CC}" type="datetime1">
              <a:rPr lang="en-US" smtClean="0"/>
              <a:t>4/1/2026</a:t>
            </a:fld>
            <a:endParaRPr lang="en-US" dirty="0"/>
          </a:p>
        </p:txBody>
      </p:sp>
      <p:sp>
        <p:nvSpPr>
          <p:cNvPr id="5" name="Footer Placeholder 4">
            <a:extLst>
              <a:ext uri="{FF2B5EF4-FFF2-40B4-BE49-F238E27FC236}">
                <a16:creationId xmlns:a16="http://schemas.microsoft.com/office/drawing/2014/main" id="{D6694D0E-FEF0-3CE4-88E0-9B5CC1342B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3A42E7-F5E7-2271-1D3F-3BB0DA5FB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1236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7BDCBF-90E9-B6D4-B1BD-BB6439AE412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30AB2C1-4897-983B-2FB9-BD11C271D0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5B12C104-D518-1AB2-0F63-977F49D661E8}"/>
              </a:ext>
            </a:extLst>
          </p:cNvPr>
          <p:cNvSpPr>
            <a:spLocks noGrp="1"/>
          </p:cNvSpPr>
          <p:nvPr>
            <p:ph type="dt" sz="half" idx="10"/>
          </p:nvPr>
        </p:nvSpPr>
        <p:spPr/>
        <p:txBody>
          <a:bodyPr/>
          <a:lstStyle/>
          <a:p>
            <a:fld id="{7A7BC7AE-E3C9-5846-8CAD-0E757E344CB1}" type="datetime1">
              <a:rPr lang="en-US" smtClean="0"/>
              <a:t>4/1/2026</a:t>
            </a:fld>
            <a:endParaRPr lang="en-US" dirty="0"/>
          </a:p>
        </p:txBody>
      </p:sp>
      <p:sp>
        <p:nvSpPr>
          <p:cNvPr id="5" name="Footer Placeholder 4">
            <a:extLst>
              <a:ext uri="{FF2B5EF4-FFF2-40B4-BE49-F238E27FC236}">
                <a16:creationId xmlns:a16="http://schemas.microsoft.com/office/drawing/2014/main" id="{0C66A4A2-8093-06BB-B2C2-65BC1329E4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4C8E6A-87A5-42E0-E66E-73CA8E9847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056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484879" y="143137"/>
            <a:ext cx="11272129" cy="942352"/>
          </a:xfrm>
          <a:prstGeom prst="rect">
            <a:avLst/>
          </a:prstGeom>
        </p:spPr>
        <p:txBody>
          <a:bodyPr/>
          <a:lstStyle/>
          <a:p>
            <a:r>
              <a:rPr dirty="0"/>
              <a:t>Title Text</a:t>
            </a:r>
          </a:p>
        </p:txBody>
      </p:sp>
      <p:sp>
        <p:nvSpPr>
          <p:cNvPr id="57" name="Body Level One…"/>
          <p:cNvSpPr txBox="1">
            <a:spLocks noGrp="1"/>
          </p:cNvSpPr>
          <p:nvPr>
            <p:ph type="body" idx="1"/>
          </p:nvPr>
        </p:nvSpPr>
        <p:spPr>
          <a:xfrm>
            <a:off x="468168" y="1161288"/>
            <a:ext cx="11198603" cy="5343989"/>
          </a:xfrm>
          <a:prstGeom prst="rect">
            <a:avLst/>
          </a:prstGeom>
        </p:spPr>
        <p:txBody>
          <a:bodyPr>
            <a:normAutofit/>
          </a:bodyPr>
          <a:lstStyle>
            <a:lvl1pPr>
              <a:defRPr sz="3200"/>
            </a:lvl1pPr>
            <a:lvl2pPr marL="685800" indent="-228600">
              <a:buFont typeface="System Font Regular"/>
              <a:buChar char="−"/>
              <a:defRPr sz="2800"/>
            </a:lvl2pPr>
            <a:lvl3pPr>
              <a:defRPr sz="2400"/>
            </a:lvl3pPr>
            <a:lvl4pPr>
              <a:defRPr sz="2000"/>
            </a:lvl4pPr>
            <a:lvl5pPr>
              <a:defRPr sz="20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Date Placeholder 3">
            <a:extLst>
              <a:ext uri="{FF2B5EF4-FFF2-40B4-BE49-F238E27FC236}">
                <a16:creationId xmlns:a16="http://schemas.microsoft.com/office/drawing/2014/main" id="{BA413C1A-A16E-3242-A2B3-521C11C1A208}"/>
              </a:ext>
            </a:extLst>
          </p:cNvPr>
          <p:cNvSpPr>
            <a:spLocks noGrp="1"/>
          </p:cNvSpPr>
          <p:nvPr>
            <p:ph type="dt" sz="half" idx="10"/>
          </p:nvPr>
        </p:nvSpPr>
        <p:spPr>
          <a:xfrm>
            <a:off x="838200" y="6485446"/>
            <a:ext cx="2743200" cy="365125"/>
          </a:xfrm>
        </p:spPr>
        <p:txBody>
          <a:bodyPr/>
          <a:lstStyle>
            <a:lvl1pPr>
              <a:defRPr>
                <a:solidFill>
                  <a:schemeClr val="tx1"/>
                </a:solidFill>
              </a:defRPr>
            </a:lvl1pPr>
          </a:lstStyle>
          <a:p>
            <a:fld id="{F26B42B1-ACC7-BB4A-9D3D-E79A92B76714}" type="datetime1">
              <a:rPr lang="en-US" smtClean="0"/>
              <a:t>4/1/2026</a:t>
            </a:fld>
            <a:endParaRPr lang="en-US" dirty="0"/>
          </a:p>
        </p:txBody>
      </p:sp>
      <p:sp>
        <p:nvSpPr>
          <p:cNvPr id="6" name="Footer Placeholder 4">
            <a:extLst>
              <a:ext uri="{FF2B5EF4-FFF2-40B4-BE49-F238E27FC236}">
                <a16:creationId xmlns:a16="http://schemas.microsoft.com/office/drawing/2014/main" id="{DFAA7152-9480-AC46-B8CB-94D0C226C147}"/>
              </a:ext>
            </a:extLst>
          </p:cNvPr>
          <p:cNvSpPr>
            <a:spLocks noGrp="1"/>
          </p:cNvSpPr>
          <p:nvPr>
            <p:ph type="ftr" sz="quarter" idx="11"/>
          </p:nvPr>
        </p:nvSpPr>
        <p:spPr>
          <a:xfrm>
            <a:off x="4038600" y="6485446"/>
            <a:ext cx="4114800" cy="365125"/>
          </a:xfrm>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186273373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73400"/>
            <a:ext cx="9144000" cy="2108201"/>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hasCustomPrompt="1"/>
          </p:nvPr>
        </p:nvSpPr>
        <p:spPr>
          <a:xfrm>
            <a:off x="1524000" y="1714501"/>
            <a:ext cx="9144000" cy="1231901"/>
          </a:xfrm>
        </p:spPr>
        <p:txBody>
          <a:bodyPr>
            <a:normAutofit/>
          </a:bodyPr>
          <a:lstStyle>
            <a:lvl1pPr marL="0" indent="0" algn="ctr">
              <a:buNone/>
              <a:defRPr sz="2400"/>
            </a:lvl1pPr>
            <a:lvl2pPr marL="342892" indent="0" algn="ctr">
              <a:buNone/>
              <a:defRPr sz="1500"/>
            </a:lvl2pPr>
            <a:lvl3pPr marL="685783" indent="0" algn="ctr">
              <a:buNone/>
              <a:defRPr sz="1425"/>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Lecture 1</a:t>
            </a:r>
          </a:p>
        </p:txBody>
      </p:sp>
      <p:sp>
        <p:nvSpPr>
          <p:cNvPr id="4" name="TextBox 3"/>
          <p:cNvSpPr txBox="1"/>
          <p:nvPr userDrawn="1"/>
        </p:nvSpPr>
        <p:spPr>
          <a:xfrm>
            <a:off x="4855411" y="6550224"/>
            <a:ext cx="7336589" cy="307777"/>
          </a:xfrm>
          <a:prstGeom prst="rect">
            <a:avLst/>
          </a:prstGeom>
          <a:noFill/>
        </p:spPr>
        <p:txBody>
          <a:bodyPr wrap="square" rtlCol="0">
            <a:spAutoFit/>
          </a:bodyPr>
          <a:lstStyle/>
          <a:p>
            <a:r>
              <a:rPr lang="en-US" sz="1400" kern="1200" dirty="0">
                <a:solidFill>
                  <a:srgbClr val="24469D"/>
                </a:solidFill>
                <a:latin typeface="+mn-lt"/>
                <a:ea typeface="+mn-ea"/>
                <a:cs typeface="+mn-cs"/>
              </a:rPr>
              <a:t>Spring 2026 | CSE-355 | Introduction to Blockchain</a:t>
            </a:r>
          </a:p>
        </p:txBody>
      </p:sp>
      <p:sp>
        <p:nvSpPr>
          <p:cNvPr id="5" name="Rectangle 4"/>
          <p:cNvSpPr/>
          <p:nvPr userDrawn="1"/>
        </p:nvSpPr>
        <p:spPr>
          <a:xfrm>
            <a:off x="1339728" y="407000"/>
            <a:ext cx="5055531" cy="315469"/>
          </a:xfrm>
          <a:prstGeom prst="rect">
            <a:avLst/>
          </a:prstGeom>
        </p:spPr>
        <p:txBody>
          <a:bodyPr wrap="square" lIns="68579" tIns="34289" rIns="68579" bIns="34289">
            <a:spAutoFit/>
          </a:bodyPr>
          <a:lstStyle/>
          <a:p>
            <a:r>
              <a:rPr lang="en-US" sz="1600" dirty="0">
                <a:solidFill>
                  <a:srgbClr val="24469D"/>
                </a:solidFill>
              </a:rPr>
              <a:t>Institute of Business Administration Karachi</a:t>
            </a:r>
          </a:p>
        </p:txBody>
      </p:sp>
      <p:sp>
        <p:nvSpPr>
          <p:cNvPr id="7" name="TextBox 6"/>
          <p:cNvSpPr txBox="1"/>
          <p:nvPr userDrawn="1"/>
        </p:nvSpPr>
        <p:spPr>
          <a:xfrm>
            <a:off x="1" y="6540532"/>
            <a:ext cx="1821012" cy="317468"/>
          </a:xfrm>
          <a:prstGeom prst="rect">
            <a:avLst/>
          </a:prstGeom>
          <a:noFill/>
        </p:spPr>
        <p:txBody>
          <a:bodyPr wrap="square" rtlCol="0">
            <a:spAutoFit/>
          </a:bodyPr>
          <a:lstStyle/>
          <a:p>
            <a:r>
              <a:rPr lang="en-US" sz="1400" kern="1200" dirty="0">
                <a:solidFill>
                  <a:srgbClr val="24469D"/>
                </a:solidFill>
                <a:latin typeface="+mn-lt"/>
                <a:ea typeface="+mn-ea"/>
                <a:cs typeface="+mn-cs"/>
              </a:rPr>
              <a:t>Spring 2026</a:t>
            </a:r>
          </a:p>
        </p:txBody>
      </p:sp>
    </p:spTree>
    <p:extLst>
      <p:ext uri="{BB962C8B-B14F-4D97-AF65-F5344CB8AC3E}">
        <p14:creationId xmlns:p14="http://schemas.microsoft.com/office/powerpoint/2010/main" val="191746930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5755"/>
            <a:ext cx="10515600" cy="914067"/>
          </a:xfrm>
        </p:spPr>
        <p:txBody>
          <a:bodyPr>
            <a:normAutofit/>
          </a:bodyPr>
          <a:lstStyle>
            <a:lvl1pPr algn="r">
              <a:defRPr sz="2800" b="1"/>
            </a:lvl1pPr>
          </a:lstStyle>
          <a:p>
            <a:r>
              <a:rPr lang="en-US" dirty="0"/>
              <a:t>Click to edit Master title style</a:t>
            </a:r>
          </a:p>
        </p:txBody>
      </p:sp>
      <p:sp>
        <p:nvSpPr>
          <p:cNvPr id="3" name="Content Placeholder 2"/>
          <p:cNvSpPr>
            <a:spLocks noGrp="1"/>
          </p:cNvSpPr>
          <p:nvPr>
            <p:ph idx="1"/>
          </p:nvPr>
        </p:nvSpPr>
        <p:spPr>
          <a:xfrm>
            <a:off x="838200" y="1348969"/>
            <a:ext cx="10515600" cy="4827997"/>
          </a:xfrm>
        </p:spPr>
        <p:txBody>
          <a:bodyPr/>
          <a:lstStyle>
            <a:lvl1pPr>
              <a:lnSpc>
                <a:spcPct val="100000"/>
              </a:lnSpc>
              <a:defRPr sz="2200"/>
            </a:lvl1pPr>
            <a:lvl2pPr>
              <a:lnSpc>
                <a:spcPct val="100000"/>
              </a:lnSpc>
              <a:defRPr/>
            </a:lvl2pPr>
            <a:lvl3pPr>
              <a:lnSpc>
                <a:spcPct val="100000"/>
              </a:lnSpc>
              <a:defRPr sz="1600"/>
            </a:lvl3pPr>
            <a:lvl4pPr>
              <a:lnSpc>
                <a:spcPct val="100000"/>
              </a:lnSpc>
              <a:defRPr sz="1500"/>
            </a:lvl4pPr>
            <a:lvl5pPr>
              <a:lnSpc>
                <a:spcPct val="100000"/>
              </a:lnSpc>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0601580" y="6492148"/>
            <a:ext cx="1313507" cy="365125"/>
          </a:xfrm>
        </p:spPr>
        <p:txBody>
          <a:bodyPr/>
          <a:lstStyle/>
          <a:p>
            <a:fld id="{19FE8B7B-3258-47CD-BBC0-34D05FC906E5}" type="slidenum">
              <a:rPr lang="en-US" smtClean="0"/>
              <a:t>‹#›</a:t>
            </a:fld>
            <a:endParaRPr lang="en-US" dirty="0"/>
          </a:p>
        </p:txBody>
      </p:sp>
      <p:sp>
        <p:nvSpPr>
          <p:cNvPr id="4" name="TextBox 3"/>
          <p:cNvSpPr txBox="1"/>
          <p:nvPr userDrawn="1"/>
        </p:nvSpPr>
        <p:spPr>
          <a:xfrm>
            <a:off x="4513179" y="6626584"/>
            <a:ext cx="3131959" cy="246221"/>
          </a:xfrm>
          <a:prstGeom prst="rect">
            <a:avLst/>
          </a:prstGeom>
          <a:noFill/>
        </p:spPr>
        <p:txBody>
          <a:bodyPr wrap="square" rtlCol="0">
            <a:spAutoFit/>
          </a:bodyPr>
          <a:lstStyle/>
          <a:p>
            <a:r>
              <a:rPr lang="en-US" sz="1000" dirty="0">
                <a:solidFill>
                  <a:schemeClr val="tx2">
                    <a:lumMod val="60000"/>
                    <a:lumOff val="40000"/>
                  </a:schemeClr>
                </a:solidFill>
              </a:rPr>
              <a:t>Spring 2026 | CSE-355 | Introduction to Blockchain</a:t>
            </a:r>
          </a:p>
        </p:txBody>
      </p:sp>
    </p:spTree>
    <p:extLst>
      <p:ext uri="{BB962C8B-B14F-4D97-AF65-F5344CB8AC3E}">
        <p14:creationId xmlns:p14="http://schemas.microsoft.com/office/powerpoint/2010/main" val="358898579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1604963"/>
          </a:xfrm>
        </p:spPr>
        <p:txBody>
          <a:bodyPr anchor="b">
            <a:normAutofit/>
          </a:bodyPr>
          <a:lstStyle>
            <a:lvl1pPr>
              <a:defRPr sz="3300"/>
            </a:lvl1pPr>
          </a:lstStyle>
          <a:p>
            <a:r>
              <a:rPr lang="en-US" dirty="0"/>
              <a:t>Click to edit Master title style</a:t>
            </a:r>
          </a:p>
        </p:txBody>
      </p:sp>
      <p:sp>
        <p:nvSpPr>
          <p:cNvPr id="3" name="Text Placeholder 2"/>
          <p:cNvSpPr>
            <a:spLocks noGrp="1"/>
          </p:cNvSpPr>
          <p:nvPr>
            <p:ph type="body" idx="1"/>
          </p:nvPr>
        </p:nvSpPr>
        <p:spPr>
          <a:xfrm>
            <a:off x="831851" y="3314704"/>
            <a:ext cx="10515600" cy="2774949"/>
          </a:xfrm>
        </p:spPr>
        <p:txBody>
          <a:bodyPr/>
          <a:lstStyle>
            <a:lvl1pPr marL="0" indent="0" algn="ctr">
              <a:buNone/>
              <a:defRPr sz="1800">
                <a:solidFill>
                  <a:schemeClr val="accent5"/>
                </a:solidFill>
              </a:defRPr>
            </a:lvl1pPr>
            <a:lvl2pPr marL="342892" indent="0">
              <a:buNone/>
              <a:defRPr sz="1500">
                <a:solidFill>
                  <a:schemeClr val="tx1">
                    <a:tint val="75000"/>
                  </a:schemeClr>
                </a:solidFill>
              </a:defRPr>
            </a:lvl2pPr>
            <a:lvl3pPr marL="685783" indent="0">
              <a:buNone/>
              <a:defRPr sz="1425">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p:txBody>
          <a:bodyPr/>
          <a:lstStyle/>
          <a:p>
            <a:fld id="{19FE8B7B-3258-47CD-BBC0-34D05FC906E5}" type="slidenum">
              <a:rPr lang="en-US" smtClean="0"/>
              <a:t>‹#›</a:t>
            </a:fld>
            <a:endParaRPr lang="en-US" dirty="0"/>
          </a:p>
        </p:txBody>
      </p:sp>
    </p:spTree>
    <p:extLst>
      <p:ext uri="{BB962C8B-B14F-4D97-AF65-F5344CB8AC3E}">
        <p14:creationId xmlns:p14="http://schemas.microsoft.com/office/powerpoint/2010/main" val="367804562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19FE8B7B-3258-47CD-BBC0-34D05FC906E5}" type="slidenum">
              <a:rPr lang="en-US" smtClean="0"/>
              <a:t>‹#›</a:t>
            </a:fld>
            <a:endParaRPr lang="en-US" dirty="0"/>
          </a:p>
        </p:txBody>
      </p:sp>
      <p:sp>
        <p:nvSpPr>
          <p:cNvPr id="8" name="Title 1"/>
          <p:cNvSpPr>
            <a:spLocks noGrp="1"/>
          </p:cNvSpPr>
          <p:nvPr>
            <p:ph type="title"/>
          </p:nvPr>
        </p:nvSpPr>
        <p:spPr>
          <a:xfrm>
            <a:off x="1055472" y="115755"/>
            <a:ext cx="10515600" cy="914067"/>
          </a:xfrm>
        </p:spPr>
        <p:txBody>
          <a:bodyPr>
            <a:normAutofit/>
          </a:bodyPr>
          <a:lstStyle>
            <a:lvl1pPr algn="r">
              <a:defRPr sz="2400" b="1"/>
            </a:lvl1pPr>
          </a:lstStyle>
          <a:p>
            <a:r>
              <a:rPr lang="en-US" dirty="0"/>
              <a:t>Click to edit Master title style</a:t>
            </a:r>
          </a:p>
        </p:txBody>
      </p:sp>
    </p:spTree>
    <p:extLst>
      <p:ext uri="{BB962C8B-B14F-4D97-AF65-F5344CB8AC3E}">
        <p14:creationId xmlns:p14="http://schemas.microsoft.com/office/powerpoint/2010/main" val="197947250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892" indent="0">
              <a:buNone/>
              <a:defRPr sz="1500" b="1"/>
            </a:lvl2pPr>
            <a:lvl3pPr marL="685783" indent="0">
              <a:buNone/>
              <a:defRPr sz="1425"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1800" b="1"/>
            </a:lvl1pPr>
            <a:lvl2pPr marL="342892" indent="0">
              <a:buNone/>
              <a:defRPr sz="1500" b="1"/>
            </a:lvl2pPr>
            <a:lvl3pPr marL="685783" indent="0">
              <a:buNone/>
              <a:defRPr sz="1425"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8"/>
          <p:cNvSpPr>
            <a:spLocks noGrp="1"/>
          </p:cNvSpPr>
          <p:nvPr>
            <p:ph type="sldNum" sz="quarter" idx="12"/>
          </p:nvPr>
        </p:nvSpPr>
        <p:spPr/>
        <p:txBody>
          <a:bodyPr/>
          <a:lstStyle/>
          <a:p>
            <a:fld id="{19FE8B7B-3258-47CD-BBC0-34D05FC906E5}" type="slidenum">
              <a:rPr lang="en-US" smtClean="0"/>
              <a:t>‹#›</a:t>
            </a:fld>
            <a:endParaRPr lang="en-US" dirty="0"/>
          </a:p>
        </p:txBody>
      </p:sp>
      <p:sp>
        <p:nvSpPr>
          <p:cNvPr id="10" name="Title 1"/>
          <p:cNvSpPr>
            <a:spLocks noGrp="1"/>
          </p:cNvSpPr>
          <p:nvPr>
            <p:ph type="title"/>
          </p:nvPr>
        </p:nvSpPr>
        <p:spPr>
          <a:xfrm>
            <a:off x="1055472" y="115755"/>
            <a:ext cx="10515600" cy="914067"/>
          </a:xfrm>
        </p:spPr>
        <p:txBody>
          <a:bodyPr>
            <a:normAutofit/>
          </a:bodyPr>
          <a:lstStyle>
            <a:lvl1pPr algn="r">
              <a:defRPr sz="2400" b="1"/>
            </a:lvl1pPr>
          </a:lstStyle>
          <a:p>
            <a:r>
              <a:rPr lang="en-US" dirty="0"/>
              <a:t>Click to edit Master title style</a:t>
            </a:r>
          </a:p>
        </p:txBody>
      </p:sp>
    </p:spTree>
    <p:extLst>
      <p:ext uri="{BB962C8B-B14F-4D97-AF65-F5344CB8AC3E}">
        <p14:creationId xmlns:p14="http://schemas.microsoft.com/office/powerpoint/2010/main" val="9547244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FE8B7B-3258-47CD-BBC0-34D05FC906E5}" type="slidenum">
              <a:rPr lang="en-US" smtClean="0"/>
              <a:t>‹#›</a:t>
            </a:fld>
            <a:endParaRPr lang="en-US" dirty="0"/>
          </a:p>
        </p:txBody>
      </p:sp>
      <p:sp>
        <p:nvSpPr>
          <p:cNvPr id="6" name="Title 1"/>
          <p:cNvSpPr>
            <a:spLocks noGrp="1"/>
          </p:cNvSpPr>
          <p:nvPr>
            <p:ph type="title"/>
          </p:nvPr>
        </p:nvSpPr>
        <p:spPr>
          <a:xfrm>
            <a:off x="1055472" y="115755"/>
            <a:ext cx="10515600" cy="914067"/>
          </a:xfrm>
        </p:spPr>
        <p:txBody>
          <a:bodyPr>
            <a:normAutofit/>
          </a:bodyPr>
          <a:lstStyle>
            <a:lvl1pPr algn="ctr">
              <a:defRPr sz="2400" b="1"/>
            </a:lvl1pPr>
          </a:lstStyle>
          <a:p>
            <a:r>
              <a:rPr lang="en-US" dirty="0"/>
              <a:t>Click to edit Master title style</a:t>
            </a:r>
          </a:p>
        </p:txBody>
      </p:sp>
    </p:spTree>
    <p:extLst>
      <p:ext uri="{BB962C8B-B14F-4D97-AF65-F5344CB8AC3E}">
        <p14:creationId xmlns:p14="http://schemas.microsoft.com/office/powerpoint/2010/main" val="251924074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txBox="1">
            <a:spLocks/>
          </p:cNvSpPr>
          <p:nvPr userDrawn="1"/>
        </p:nvSpPr>
        <p:spPr>
          <a:xfrm>
            <a:off x="9235257" y="6609031"/>
            <a:ext cx="2743200" cy="266347"/>
          </a:xfrm>
          <a:prstGeom prst="rect">
            <a:avLst/>
          </a:prstGeom>
        </p:spPr>
        <p:txBody>
          <a:bodyPr vert="horz" lIns="68579" tIns="34289" rIns="68579" bIns="34289"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FE8B7B-3258-47CD-BBC0-34D05FC906E5}" type="slidenum">
              <a:rPr lang="en-US" sz="900" smtClean="0">
                <a:solidFill>
                  <a:schemeClr val="tx1">
                    <a:lumMod val="75000"/>
                    <a:lumOff val="25000"/>
                  </a:schemeClr>
                </a:solidFill>
              </a:rPr>
              <a:pPr/>
              <a:t>‹#›</a:t>
            </a:fld>
            <a:endParaRPr lang="en-US" sz="900" dirty="0">
              <a:solidFill>
                <a:schemeClr val="tx1">
                  <a:lumMod val="75000"/>
                  <a:lumOff val="25000"/>
                </a:schemeClr>
              </a:solidFill>
            </a:endParaRPr>
          </a:p>
        </p:txBody>
      </p:sp>
      <p:sp>
        <p:nvSpPr>
          <p:cNvPr id="4" name="Footer Placeholder 4"/>
          <p:cNvSpPr>
            <a:spLocks noGrp="1"/>
          </p:cNvSpPr>
          <p:nvPr>
            <p:ph type="ftr" sz="quarter" idx="3"/>
          </p:nvPr>
        </p:nvSpPr>
        <p:spPr>
          <a:xfrm>
            <a:off x="262551" y="6581870"/>
            <a:ext cx="8872397" cy="266348"/>
          </a:xfrm>
          <a:prstGeom prst="rect">
            <a:avLst/>
          </a:prstGeom>
        </p:spPr>
        <p:txBody>
          <a:bodyPr vert="horz" lIns="91438" tIns="45719" rIns="91438" bIns="45719" rtlCol="0" anchor="ctr"/>
          <a:lstStyle>
            <a:lvl1pPr algn="l">
              <a:defRPr sz="900">
                <a:solidFill>
                  <a:schemeClr val="accent5">
                    <a:lumMod val="60000"/>
                    <a:lumOff val="40000"/>
                  </a:schemeClr>
                </a:solidFill>
              </a:defRPr>
            </a:lvl1pPr>
          </a:lstStyle>
          <a:p>
            <a:pPr>
              <a:defRPr/>
            </a:pPr>
            <a:endParaRPr lang="en-US" dirty="0">
              <a:solidFill>
                <a:srgbClr val="000000"/>
              </a:solidFill>
            </a:endParaRPr>
          </a:p>
        </p:txBody>
      </p:sp>
    </p:spTree>
    <p:extLst>
      <p:ext uri="{BB962C8B-B14F-4D97-AF65-F5344CB8AC3E}">
        <p14:creationId xmlns:p14="http://schemas.microsoft.com/office/powerpoint/2010/main" val="61727658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2" indent="0">
              <a:buNone/>
              <a:defRPr sz="1125"/>
            </a:lvl2pPr>
            <a:lvl3pPr marL="685783" indent="0">
              <a:buNone/>
              <a:defRPr sz="900"/>
            </a:lvl3pPr>
            <a:lvl4pPr marL="1028675" indent="0">
              <a:buNone/>
              <a:defRPr sz="825"/>
            </a:lvl4pPr>
            <a:lvl5pPr marL="1371566" indent="0">
              <a:buNone/>
              <a:defRPr sz="825"/>
            </a:lvl5pPr>
            <a:lvl6pPr marL="1714457" indent="0">
              <a:buNone/>
              <a:defRPr sz="825"/>
            </a:lvl6pPr>
            <a:lvl7pPr marL="2057348" indent="0">
              <a:buNone/>
              <a:defRPr sz="825"/>
            </a:lvl7pPr>
            <a:lvl8pPr marL="2400240" indent="0">
              <a:buNone/>
              <a:defRPr sz="825"/>
            </a:lvl8pPr>
            <a:lvl9pPr marL="2743132" indent="0">
              <a:buNone/>
              <a:defRPr sz="825"/>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246044172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8"/>
            <a:ext cx="617220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2" indent="0">
              <a:buNone/>
              <a:defRPr sz="1125"/>
            </a:lvl2pPr>
            <a:lvl3pPr marL="685783" indent="0">
              <a:buNone/>
              <a:defRPr sz="900"/>
            </a:lvl3pPr>
            <a:lvl4pPr marL="1028675" indent="0">
              <a:buNone/>
              <a:defRPr sz="825"/>
            </a:lvl4pPr>
            <a:lvl5pPr marL="1371566" indent="0">
              <a:buNone/>
              <a:defRPr sz="825"/>
            </a:lvl5pPr>
            <a:lvl6pPr marL="1714457" indent="0">
              <a:buNone/>
              <a:defRPr sz="825"/>
            </a:lvl6pPr>
            <a:lvl7pPr marL="2057348" indent="0">
              <a:buNone/>
              <a:defRPr sz="825"/>
            </a:lvl7pPr>
            <a:lvl8pPr marL="2400240" indent="0">
              <a:buNone/>
              <a:defRPr sz="825"/>
            </a:lvl8pPr>
            <a:lvl9pPr marL="2743132" indent="0">
              <a:buNone/>
              <a:defRPr sz="825"/>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242291238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8"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3071479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8"/>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2" y="365128"/>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8"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69930544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F3F57-E6B6-8186-2E62-9C692D195B24}"/>
              </a:ext>
            </a:extLst>
          </p:cNvPr>
          <p:cNvSpPr>
            <a:spLocks noGrp="1"/>
          </p:cNvSpPr>
          <p:nvPr>
            <p:ph type="title"/>
          </p:nvPr>
        </p:nvSpPr>
        <p:spPr>
          <a:xfrm>
            <a:off x="518160" y="101601"/>
            <a:ext cx="11104880" cy="985519"/>
          </a:xfrm>
          <a:prstGeom prst="rect">
            <a:avLst/>
          </a:prstGeom>
        </p:spPr>
        <p:txBody>
          <a:bodyPr vert="horz" lIns="91440" tIns="45720" rIns="91440" bIns="45720" rtlCol="0" anchor="ctr">
            <a:normAutofit/>
          </a:bodyPr>
          <a:lstStyle/>
          <a:p>
            <a:r>
              <a:rPr lang="en-GB" dirty="0"/>
              <a:t>Click to edit Master title style</a:t>
            </a:r>
            <a:endParaRPr lang="en-PK" dirty="0"/>
          </a:p>
        </p:txBody>
      </p:sp>
      <p:sp>
        <p:nvSpPr>
          <p:cNvPr id="3" name="Text Placeholder 2">
            <a:extLst>
              <a:ext uri="{FF2B5EF4-FFF2-40B4-BE49-F238E27FC236}">
                <a16:creationId xmlns:a16="http://schemas.microsoft.com/office/drawing/2014/main" id="{A2111C77-CC50-A510-3609-2D8F9FCB7313}"/>
              </a:ext>
            </a:extLst>
          </p:cNvPr>
          <p:cNvSpPr>
            <a:spLocks noGrp="1"/>
          </p:cNvSpPr>
          <p:nvPr>
            <p:ph type="body" idx="1"/>
          </p:nvPr>
        </p:nvSpPr>
        <p:spPr>
          <a:xfrm>
            <a:off x="518160" y="1097280"/>
            <a:ext cx="11104880" cy="50796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FDA1BAA1-DC72-3CD1-7F89-2EE55E23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andara" panose="020E0502030303020204" pitchFamily="34" charset="0"/>
              </a:defRPr>
            </a:lvl1pPr>
          </a:lstStyle>
          <a:p>
            <a:fld id="{2A23580C-EA65-AC41-9F7C-B6439987B4B7}" type="datetime1">
              <a:rPr lang="en-US" smtClean="0"/>
              <a:t>4/1/2026</a:t>
            </a:fld>
            <a:endParaRPr lang="en-US" dirty="0"/>
          </a:p>
        </p:txBody>
      </p:sp>
      <p:sp>
        <p:nvSpPr>
          <p:cNvPr id="5" name="Footer Placeholder 4">
            <a:extLst>
              <a:ext uri="{FF2B5EF4-FFF2-40B4-BE49-F238E27FC236}">
                <a16:creationId xmlns:a16="http://schemas.microsoft.com/office/drawing/2014/main" id="{37D29EAC-E423-483D-525E-9C75A5695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andara" panose="020E0502030303020204" pitchFamily="34" charset="0"/>
              </a:defRPr>
            </a:lvl1pPr>
          </a:lstStyle>
          <a:p>
            <a:endParaRPr lang="en-US" dirty="0"/>
          </a:p>
        </p:txBody>
      </p:sp>
      <p:cxnSp>
        <p:nvCxnSpPr>
          <p:cNvPr id="8" name="Straight Connector 7">
            <a:extLst>
              <a:ext uri="{FF2B5EF4-FFF2-40B4-BE49-F238E27FC236}">
                <a16:creationId xmlns:a16="http://schemas.microsoft.com/office/drawing/2014/main" id="{37901939-8975-2548-1296-9C55C71BB2BA}"/>
              </a:ext>
            </a:extLst>
          </p:cNvPr>
          <p:cNvCxnSpPr>
            <a:cxnSpLocks/>
          </p:cNvCxnSpPr>
          <p:nvPr userDrawn="1"/>
        </p:nvCxnSpPr>
        <p:spPr>
          <a:xfrm>
            <a:off x="518160" y="924560"/>
            <a:ext cx="11104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
        <p:nvSpPr>
          <p:cNvPr id="6" name="Slide Number Placeholder 5">
            <a:extLst>
              <a:ext uri="{FF2B5EF4-FFF2-40B4-BE49-F238E27FC236}">
                <a16:creationId xmlns:a16="http://schemas.microsoft.com/office/drawing/2014/main" id="{E65A1E25-5EFC-07B9-34A4-FC84A6B0A118}"/>
              </a:ext>
            </a:extLst>
          </p:cNvPr>
          <p:cNvSpPr>
            <a:spLocks noGrp="1"/>
          </p:cNvSpPr>
          <p:nvPr>
            <p:ph type="sldNum" sz="quarter" idx="4"/>
          </p:nvPr>
        </p:nvSpPr>
        <p:spPr>
          <a:xfrm>
            <a:off x="10620104" y="6578930"/>
            <a:ext cx="1060269" cy="279070"/>
          </a:xfrm>
          <a:prstGeom prst="rect">
            <a:avLst/>
          </a:prstGeom>
        </p:spPr>
        <p:txBody>
          <a:bodyPr vert="horz" lIns="91440" tIns="45720" rIns="91440" bIns="45720" rtlCol="0" anchor="ctr"/>
          <a:lstStyle>
            <a:lvl1pPr algn="r">
              <a:defRPr sz="1400" b="1" i="0" baseline="0">
                <a:solidFill>
                  <a:schemeClr val="tx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49299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defTabSz="914400" rtl="0" eaLnBrk="1" latinLnBrk="0" hangingPunct="1">
        <a:lnSpc>
          <a:spcPct val="90000"/>
        </a:lnSpc>
        <a:spcBef>
          <a:spcPct val="0"/>
        </a:spcBef>
        <a:buNone/>
        <a:defRPr sz="4400" b="0" i="0" kern="1200">
          <a:solidFill>
            <a:srgbClr val="0432FF"/>
          </a:solidFill>
          <a:latin typeface="Candara" panose="020E05020303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2334"/>
            <a:ext cx="10515600" cy="914067"/>
          </a:xfrm>
          <a:prstGeom prst="rect">
            <a:avLst/>
          </a:prstGeom>
        </p:spPr>
        <p:txBody>
          <a:bodyPr vert="horz" lIns="91438" tIns="45719" rIns="91438" bIns="45719" rtlCol="0" anchor="ctr">
            <a:normAutofit/>
          </a:bodyPr>
          <a:lstStyle/>
          <a:p>
            <a:r>
              <a:rPr lang="en-US" dirty="0"/>
              <a:t>Click to edit Master title style</a:t>
            </a:r>
          </a:p>
        </p:txBody>
      </p:sp>
      <p:sp>
        <p:nvSpPr>
          <p:cNvPr id="3" name="Text Placeholder 2"/>
          <p:cNvSpPr>
            <a:spLocks noGrp="1"/>
          </p:cNvSpPr>
          <p:nvPr>
            <p:ph type="body" idx="1"/>
          </p:nvPr>
        </p:nvSpPr>
        <p:spPr>
          <a:xfrm>
            <a:off x="838200" y="1273392"/>
            <a:ext cx="10515600" cy="5127408"/>
          </a:xfrm>
          <a:prstGeom prst="rect">
            <a:avLst/>
          </a:prstGeom>
        </p:spPr>
        <p:txBody>
          <a:bodyPr vert="horz" lIns="91438" tIns="45719" rIns="91438" bIns="4571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
        <p:nvSpPr>
          <p:cNvPr id="9" name="Rectangle 8"/>
          <p:cNvSpPr/>
          <p:nvPr/>
        </p:nvSpPr>
        <p:spPr>
          <a:xfrm>
            <a:off x="0" y="993895"/>
            <a:ext cx="12192000" cy="45720"/>
          </a:xfrm>
          <a:prstGeom prst="rect">
            <a:avLst/>
          </a:prstGeom>
          <a:solidFill>
            <a:srgbClr val="24469D"/>
          </a:solidFill>
        </p:spPr>
        <p:style>
          <a:lnRef idx="1">
            <a:schemeClr val="accent5"/>
          </a:lnRef>
          <a:fillRef idx="3">
            <a:schemeClr val="accent5"/>
          </a:fillRef>
          <a:effectRef idx="2">
            <a:schemeClr val="accent5"/>
          </a:effectRef>
          <a:fontRef idx="minor">
            <a:schemeClr val="lt1"/>
          </a:fontRef>
        </p:style>
        <p:txBody>
          <a:bodyPr lIns="68579" tIns="34289" rIns="68579" bIns="34289" rtlCol="0" anchor="ctr"/>
          <a:lstStyle/>
          <a:p>
            <a:pPr algn="ctr"/>
            <a:endParaRPr lang="en-US" sz="1425" dirty="0"/>
          </a:p>
        </p:txBody>
      </p:sp>
      <p:pic>
        <p:nvPicPr>
          <p:cNvPr id="4" name="Picture 3">
            <a:extLst>
              <a:ext uri="{FF2B5EF4-FFF2-40B4-BE49-F238E27FC236}">
                <a16:creationId xmlns:a16="http://schemas.microsoft.com/office/drawing/2014/main" id="{B4F111B3-5E4B-0CCF-B51A-CCBDC024075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p:blipFill>
        <p:spPr bwMode="auto">
          <a:xfrm>
            <a:off x="185092" y="117689"/>
            <a:ext cx="727986" cy="731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57489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mc:AlternateContent xmlns:mc="http://schemas.openxmlformats.org/markup-compatibility/2006" xmlns:p14="http://schemas.microsoft.com/office/powerpoint/2010/main">
    <mc:Choice Requires="p14">
      <p:transition spd="slow" p14:dur="10500"/>
    </mc:Choice>
    <mc:Fallback xmlns="">
      <p:transition spd="slow"/>
    </mc:Fallback>
  </mc:AlternateContent>
  <p:hf hdr="0" ftr="0" dt="0"/>
  <p:txStyles>
    <p:titleStyle>
      <a:lvl1pPr algn="ctr" defTabSz="685783" rtl="0" eaLnBrk="1" latinLnBrk="0" hangingPunct="1">
        <a:lnSpc>
          <a:spcPct val="90000"/>
        </a:lnSpc>
        <a:spcBef>
          <a:spcPct val="0"/>
        </a:spcBef>
        <a:buNone/>
        <a:defRPr sz="2400" b="1" kern="1200">
          <a:solidFill>
            <a:schemeClr val="tx1"/>
          </a:solidFill>
          <a:latin typeface="+mn-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en-US"/>
      </a:defPPr>
      <a:lvl1pPr marL="0" algn="l" defTabSz="685783" rtl="0" eaLnBrk="1" latinLnBrk="0" hangingPunct="1">
        <a:defRPr sz="1425" kern="1200">
          <a:solidFill>
            <a:schemeClr val="tx1"/>
          </a:solidFill>
          <a:latin typeface="+mn-lt"/>
          <a:ea typeface="+mn-ea"/>
          <a:cs typeface="+mn-cs"/>
        </a:defRPr>
      </a:lvl1pPr>
      <a:lvl2pPr marL="342892" algn="l" defTabSz="685783" rtl="0" eaLnBrk="1" latinLnBrk="0" hangingPunct="1">
        <a:defRPr sz="1425" kern="1200">
          <a:solidFill>
            <a:schemeClr val="tx1"/>
          </a:solidFill>
          <a:latin typeface="+mn-lt"/>
          <a:ea typeface="+mn-ea"/>
          <a:cs typeface="+mn-cs"/>
        </a:defRPr>
      </a:lvl2pPr>
      <a:lvl3pPr marL="685783" algn="l" defTabSz="685783" rtl="0" eaLnBrk="1" latinLnBrk="0" hangingPunct="1">
        <a:defRPr sz="1425" kern="1200">
          <a:solidFill>
            <a:schemeClr val="tx1"/>
          </a:solidFill>
          <a:latin typeface="+mn-lt"/>
          <a:ea typeface="+mn-ea"/>
          <a:cs typeface="+mn-cs"/>
        </a:defRPr>
      </a:lvl3pPr>
      <a:lvl4pPr marL="1028675" algn="l" defTabSz="685783" rtl="0" eaLnBrk="1" latinLnBrk="0" hangingPunct="1">
        <a:defRPr sz="1425" kern="1200">
          <a:solidFill>
            <a:schemeClr val="tx1"/>
          </a:solidFill>
          <a:latin typeface="+mn-lt"/>
          <a:ea typeface="+mn-ea"/>
          <a:cs typeface="+mn-cs"/>
        </a:defRPr>
      </a:lvl4pPr>
      <a:lvl5pPr marL="1371566" algn="l" defTabSz="685783" rtl="0" eaLnBrk="1" latinLnBrk="0" hangingPunct="1">
        <a:defRPr sz="1425" kern="1200">
          <a:solidFill>
            <a:schemeClr val="tx1"/>
          </a:solidFill>
          <a:latin typeface="+mn-lt"/>
          <a:ea typeface="+mn-ea"/>
          <a:cs typeface="+mn-cs"/>
        </a:defRPr>
      </a:lvl5pPr>
      <a:lvl6pPr marL="1714457" algn="l" defTabSz="685783" rtl="0" eaLnBrk="1" latinLnBrk="0" hangingPunct="1">
        <a:defRPr sz="1425" kern="1200">
          <a:solidFill>
            <a:schemeClr val="tx1"/>
          </a:solidFill>
          <a:latin typeface="+mn-lt"/>
          <a:ea typeface="+mn-ea"/>
          <a:cs typeface="+mn-cs"/>
        </a:defRPr>
      </a:lvl6pPr>
      <a:lvl7pPr marL="2057348" algn="l" defTabSz="685783" rtl="0" eaLnBrk="1" latinLnBrk="0" hangingPunct="1">
        <a:defRPr sz="1425" kern="1200">
          <a:solidFill>
            <a:schemeClr val="tx1"/>
          </a:solidFill>
          <a:latin typeface="+mn-lt"/>
          <a:ea typeface="+mn-ea"/>
          <a:cs typeface="+mn-cs"/>
        </a:defRPr>
      </a:lvl7pPr>
      <a:lvl8pPr marL="2400240" algn="l" defTabSz="685783" rtl="0" eaLnBrk="1" latinLnBrk="0" hangingPunct="1">
        <a:defRPr sz="1425" kern="1200">
          <a:solidFill>
            <a:schemeClr val="tx1"/>
          </a:solidFill>
          <a:latin typeface="+mn-lt"/>
          <a:ea typeface="+mn-ea"/>
          <a:cs typeface="+mn-cs"/>
        </a:defRPr>
      </a:lvl8pPr>
      <a:lvl9pPr marL="2743132" algn="l" defTabSz="685783" rtl="0" eaLnBrk="1" latinLnBrk="0" hangingPunct="1">
        <a:defRPr sz="14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news.bitcoin.com/10-years-ago-bitcoins-genesis-block-changed-the-course-of-history/"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s://bitbo.io/tools/satoshi-usd/"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hyperlink" Target="https://www.unixtimestamp.com/"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hyperlink" Target="https://1ml.com/statistics" TargetMode="External"/><Relationship Id="rId4" Type="http://schemas.openxmlformats.org/officeDocument/2006/relationships/image" Target="../media/image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2F2-2275-3F6B-82B8-1B0CA52FBDF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80EC572-1CE7-598F-9FA4-5062F84F9CA5}"/>
              </a:ext>
            </a:extLst>
          </p:cNvPr>
          <p:cNvSpPr/>
          <p:nvPr/>
        </p:nvSpPr>
        <p:spPr>
          <a:xfrm>
            <a:off x="384313" y="3016490"/>
            <a:ext cx="10846671" cy="14465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latin typeface="Candara" panose="020E0502030303020204" pitchFamily="34" charset="0"/>
            </a:endParaRPr>
          </a:p>
        </p:txBody>
      </p:sp>
      <p:sp>
        <p:nvSpPr>
          <p:cNvPr id="10" name="Rectangle 9">
            <a:extLst>
              <a:ext uri="{FF2B5EF4-FFF2-40B4-BE49-F238E27FC236}">
                <a16:creationId xmlns:a16="http://schemas.microsoft.com/office/drawing/2014/main" id="{B4170A78-22DF-BCD5-825B-B0A7F8375E55}"/>
              </a:ext>
            </a:extLst>
          </p:cNvPr>
          <p:cNvSpPr/>
          <p:nvPr/>
        </p:nvSpPr>
        <p:spPr>
          <a:xfrm>
            <a:off x="252663" y="637674"/>
            <a:ext cx="11555024" cy="43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6" name="Picture 2">
            <a:extLst>
              <a:ext uri="{FF2B5EF4-FFF2-40B4-BE49-F238E27FC236}">
                <a16:creationId xmlns:a16="http://schemas.microsoft.com/office/drawing/2014/main" id="{A92A327C-08C1-4A0B-3853-4BC7F0718664}"/>
              </a:ext>
            </a:extLst>
          </p:cNvPr>
          <p:cNvPicPr>
            <a:picLocks noChangeAspect="1" noChangeArrowheads="1"/>
          </p:cNvPicPr>
          <p:nvPr/>
        </p:nvPicPr>
        <p:blipFill>
          <a:blip r:embed="rId3"/>
          <a:srcRect/>
          <a:stretch/>
        </p:blipFill>
        <p:spPr bwMode="auto">
          <a:xfrm>
            <a:off x="5401750" y="440958"/>
            <a:ext cx="1256849" cy="1256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13B4093-EDEB-88AD-105E-DD4B298CCEEA}"/>
              </a:ext>
            </a:extLst>
          </p:cNvPr>
          <p:cNvSpPr>
            <a:spLocks noGrp="1"/>
          </p:cNvSpPr>
          <p:nvPr>
            <p:ph type="ctrTitle"/>
          </p:nvPr>
        </p:nvSpPr>
        <p:spPr/>
        <p:txBody>
          <a:bodyPr>
            <a:normAutofit/>
          </a:bodyPr>
          <a:lstStyle/>
          <a:p>
            <a:r>
              <a:rPr lang="en-GB" dirty="0">
                <a:latin typeface="+mn-lt"/>
              </a:rPr>
              <a:t>Introduction to Blockchain</a:t>
            </a:r>
            <a:br>
              <a:rPr lang="en-GB" dirty="0">
                <a:latin typeface="+mn-lt"/>
              </a:rPr>
            </a:br>
            <a:br>
              <a:rPr lang="en-GB" dirty="0">
                <a:latin typeface="+mn-lt"/>
              </a:rPr>
            </a:br>
            <a:r>
              <a:rPr lang="en-GB" sz="4000" dirty="0">
                <a:solidFill>
                  <a:srgbClr val="C00000"/>
                </a:solidFill>
                <a:latin typeface="+mn-lt"/>
              </a:rPr>
              <a:t>CSE-355</a:t>
            </a:r>
            <a:endParaRPr lang="en-PK" dirty="0">
              <a:solidFill>
                <a:srgbClr val="C00000"/>
              </a:solidFill>
              <a:latin typeface="+mn-lt"/>
            </a:endParaRPr>
          </a:p>
        </p:txBody>
      </p:sp>
      <p:sp>
        <p:nvSpPr>
          <p:cNvPr id="7" name="Subtitle 6">
            <a:extLst>
              <a:ext uri="{FF2B5EF4-FFF2-40B4-BE49-F238E27FC236}">
                <a16:creationId xmlns:a16="http://schemas.microsoft.com/office/drawing/2014/main" id="{B02CF6C0-F187-BF6B-6A7A-C82247549081}"/>
              </a:ext>
            </a:extLst>
          </p:cNvPr>
          <p:cNvSpPr>
            <a:spLocks noGrp="1"/>
          </p:cNvSpPr>
          <p:nvPr>
            <p:ph type="subTitle" idx="1"/>
          </p:nvPr>
        </p:nvSpPr>
        <p:spPr/>
        <p:txBody>
          <a:bodyPr>
            <a:normAutofit fontScale="92500" lnSpcReduction="10000"/>
          </a:bodyPr>
          <a:lstStyle/>
          <a:p>
            <a:r>
              <a:rPr lang="en-GB" dirty="0"/>
              <a:t>Ahmed Akhtar</a:t>
            </a:r>
          </a:p>
          <a:p>
            <a:r>
              <a:rPr lang="en-GB" dirty="0"/>
              <a:t>Department of Computer Science</a:t>
            </a:r>
          </a:p>
          <a:p>
            <a:r>
              <a:rPr lang="en-GB" dirty="0"/>
              <a:t>SMCS, IBA Karachi</a:t>
            </a:r>
          </a:p>
          <a:p>
            <a:r>
              <a:rPr lang="en-GB" dirty="0"/>
              <a:t>Spring 2026</a:t>
            </a:r>
          </a:p>
        </p:txBody>
      </p:sp>
    </p:spTree>
    <p:extLst>
      <p:ext uri="{BB962C8B-B14F-4D97-AF65-F5344CB8AC3E}">
        <p14:creationId xmlns:p14="http://schemas.microsoft.com/office/powerpoint/2010/main" val="218361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1340-394C-8092-5D0A-E3BCC7B6D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C9F2F-9E03-4A62-A198-A3062FB80C16}"/>
              </a:ext>
            </a:extLst>
          </p:cNvPr>
          <p:cNvSpPr>
            <a:spLocks noGrp="1"/>
          </p:cNvSpPr>
          <p:nvPr>
            <p:ph type="title"/>
          </p:nvPr>
        </p:nvSpPr>
        <p:spPr/>
        <p:txBody>
          <a:bodyPr/>
          <a:lstStyle/>
          <a:p>
            <a:r>
              <a:rPr lang="en-PK" dirty="0">
                <a:latin typeface="+mn-lt"/>
              </a:rPr>
              <a:t>Lecture </a:t>
            </a:r>
            <a:r>
              <a:rPr lang="en-US" dirty="0">
                <a:latin typeface="+mn-lt"/>
              </a:rPr>
              <a:t>13</a:t>
            </a:r>
            <a:br>
              <a:rPr lang="en-PK" dirty="0">
                <a:latin typeface="+mn-lt"/>
              </a:rPr>
            </a:br>
            <a:r>
              <a:rPr lang="en-US" dirty="0">
                <a:latin typeface="+mn-lt"/>
              </a:rPr>
              <a:t>Tuesday</a:t>
            </a:r>
            <a:r>
              <a:rPr lang="en-PK" dirty="0">
                <a:latin typeface="+mn-lt"/>
              </a:rPr>
              <a:t>, </a:t>
            </a:r>
            <a:r>
              <a:rPr lang="en-US" dirty="0">
                <a:latin typeface="+mn-lt"/>
              </a:rPr>
              <a:t>Mar</a:t>
            </a:r>
            <a:r>
              <a:rPr lang="en-PK" dirty="0">
                <a:latin typeface="+mn-lt"/>
              </a:rPr>
              <a:t> </a:t>
            </a:r>
            <a:r>
              <a:rPr lang="en-US" dirty="0">
                <a:latin typeface="+mn-lt"/>
              </a:rPr>
              <a:t>3</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F33F174B-0761-8199-54BA-09C4CA09D63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785611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88FE-188C-78DA-862D-C7B3F47E645C}"/>
              </a:ext>
            </a:extLst>
          </p:cNvPr>
          <p:cNvSpPr>
            <a:spLocks noGrp="1"/>
          </p:cNvSpPr>
          <p:nvPr>
            <p:ph type="title"/>
          </p:nvPr>
        </p:nvSpPr>
        <p:spPr/>
        <p:txBody>
          <a:bodyPr/>
          <a:lstStyle/>
          <a:p>
            <a:r>
              <a:rPr lang="en-US" dirty="0"/>
              <a:t>Blockchain Block Header</a:t>
            </a:r>
          </a:p>
        </p:txBody>
      </p:sp>
      <p:sp>
        <p:nvSpPr>
          <p:cNvPr id="4" name="Slide Number Placeholder 3">
            <a:extLst>
              <a:ext uri="{FF2B5EF4-FFF2-40B4-BE49-F238E27FC236}">
                <a16:creationId xmlns:a16="http://schemas.microsoft.com/office/drawing/2014/main" id="{32A0B318-9D5C-EBD2-F633-0B05FB8E8606}"/>
              </a:ext>
            </a:extLst>
          </p:cNvPr>
          <p:cNvSpPr>
            <a:spLocks noGrp="1"/>
          </p:cNvSpPr>
          <p:nvPr>
            <p:ph type="sldNum" sz="quarter" idx="12"/>
          </p:nvPr>
        </p:nvSpPr>
        <p:spPr/>
        <p:txBody>
          <a:bodyPr/>
          <a:lstStyle/>
          <a:p>
            <a:fld id="{D57F1E4F-1CFF-5643-939E-217C01CDF565}" type="slidenum">
              <a:rPr lang="en-US" smtClean="0"/>
              <a:pPr/>
              <a:t>3</a:t>
            </a:fld>
            <a:endParaRPr lang="en-US" dirty="0"/>
          </a:p>
        </p:txBody>
      </p:sp>
      <p:graphicFrame>
        <p:nvGraphicFramePr>
          <p:cNvPr id="9" name="Table 8">
            <a:extLst>
              <a:ext uri="{FF2B5EF4-FFF2-40B4-BE49-F238E27FC236}">
                <a16:creationId xmlns:a16="http://schemas.microsoft.com/office/drawing/2014/main" id="{0A98507E-706B-0A1C-3181-ABA71BBDFFE9}"/>
              </a:ext>
            </a:extLst>
          </p:cNvPr>
          <p:cNvGraphicFramePr>
            <a:graphicFrameLocks noGrp="1"/>
          </p:cNvGraphicFramePr>
          <p:nvPr>
            <p:extLst>
              <p:ext uri="{D42A27DB-BD31-4B8C-83A1-F6EECF244321}">
                <p14:modId xmlns:p14="http://schemas.microsoft.com/office/powerpoint/2010/main" val="3600819511"/>
              </p:ext>
            </p:extLst>
          </p:nvPr>
        </p:nvGraphicFramePr>
        <p:xfrm>
          <a:off x="624305" y="1346074"/>
          <a:ext cx="2875547" cy="1828800"/>
        </p:xfrm>
        <a:graphic>
          <a:graphicData uri="http://schemas.openxmlformats.org/drawingml/2006/table">
            <a:tbl>
              <a:tblPr firstRow="1" bandRow="1">
                <a:tableStyleId>{5C22544A-7EE6-4342-B048-85BDC9FD1C3A}</a:tableStyleId>
              </a:tblPr>
              <a:tblGrid>
                <a:gridCol w="2875547">
                  <a:extLst>
                    <a:ext uri="{9D8B030D-6E8A-4147-A177-3AD203B41FA5}">
                      <a16:colId xmlns:a16="http://schemas.microsoft.com/office/drawing/2014/main" val="2351163539"/>
                    </a:ext>
                  </a:extLst>
                </a:gridCol>
              </a:tblGrid>
              <a:tr h="235640">
                <a:tc>
                  <a:txBody>
                    <a:bodyPr/>
                    <a:lstStyle/>
                    <a:p>
                      <a:pPr algn="ctr"/>
                      <a:r>
                        <a:rPr lang="en-US" dirty="0">
                          <a:latin typeface="Candara" panose="020E0502030303020204" pitchFamily="34" charset="0"/>
                        </a:rPr>
                        <a:t>Block Header (80B)</a:t>
                      </a:r>
                    </a:p>
                  </a:txBody>
                  <a:tcPr/>
                </a:tc>
                <a:extLst>
                  <a:ext uri="{0D108BD9-81ED-4DB2-BD59-A6C34878D82A}">
                    <a16:rowId xmlns:a16="http://schemas.microsoft.com/office/drawing/2014/main" val="2100645156"/>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2307799101"/>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1661499664"/>
                  </a:ext>
                </a:extLst>
              </a:tr>
              <a:tr h="235640">
                <a:tc>
                  <a:txBody>
                    <a:bodyPr/>
                    <a:lstStyle/>
                    <a:p>
                      <a:pPr algn="ctr"/>
                      <a:r>
                        <a:rPr lang="en-US" dirty="0">
                          <a:latin typeface="Candara" panose="020E0502030303020204" pitchFamily="34" charset="0"/>
                        </a:rPr>
                        <a:t>-----</a:t>
                      </a:r>
                    </a:p>
                  </a:txBody>
                  <a:tcPr/>
                </a:tc>
                <a:extLst>
                  <a:ext uri="{0D108BD9-81ED-4DB2-BD59-A6C34878D82A}">
                    <a16:rowId xmlns:a16="http://schemas.microsoft.com/office/drawing/2014/main" val="3345749885"/>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627682088"/>
                  </a:ext>
                </a:extLst>
              </a:tr>
            </a:tbl>
          </a:graphicData>
        </a:graphic>
      </p:graphicFrame>
      <p:graphicFrame>
        <p:nvGraphicFramePr>
          <p:cNvPr id="10" name="Table 9">
            <a:extLst>
              <a:ext uri="{FF2B5EF4-FFF2-40B4-BE49-F238E27FC236}">
                <a16:creationId xmlns:a16="http://schemas.microsoft.com/office/drawing/2014/main" id="{FE5FE184-068C-2BEB-D9D1-B924E143C98D}"/>
              </a:ext>
            </a:extLst>
          </p:cNvPr>
          <p:cNvGraphicFramePr>
            <a:graphicFrameLocks noGrp="1"/>
          </p:cNvGraphicFramePr>
          <p:nvPr>
            <p:extLst>
              <p:ext uri="{D42A27DB-BD31-4B8C-83A1-F6EECF244321}">
                <p14:modId xmlns:p14="http://schemas.microsoft.com/office/powerpoint/2010/main" val="3093397883"/>
              </p:ext>
            </p:extLst>
          </p:nvPr>
        </p:nvGraphicFramePr>
        <p:xfrm>
          <a:off x="4658228" y="1346074"/>
          <a:ext cx="2875547" cy="1828800"/>
        </p:xfrm>
        <a:graphic>
          <a:graphicData uri="http://schemas.openxmlformats.org/drawingml/2006/table">
            <a:tbl>
              <a:tblPr firstRow="1" bandRow="1">
                <a:tableStyleId>{5C22544A-7EE6-4342-B048-85BDC9FD1C3A}</a:tableStyleId>
              </a:tblPr>
              <a:tblGrid>
                <a:gridCol w="2875547">
                  <a:extLst>
                    <a:ext uri="{9D8B030D-6E8A-4147-A177-3AD203B41FA5}">
                      <a16:colId xmlns:a16="http://schemas.microsoft.com/office/drawing/2014/main" val="2351163539"/>
                    </a:ext>
                  </a:extLst>
                </a:gridCol>
              </a:tblGrid>
              <a:tr h="235640">
                <a:tc>
                  <a:txBody>
                    <a:bodyPr/>
                    <a:lstStyle/>
                    <a:p>
                      <a:pPr algn="ctr"/>
                      <a:r>
                        <a:rPr lang="en-US" dirty="0">
                          <a:latin typeface="Candara" panose="020E0502030303020204" pitchFamily="34" charset="0"/>
                        </a:rPr>
                        <a:t>Block Header (80B)</a:t>
                      </a:r>
                    </a:p>
                  </a:txBody>
                  <a:tcPr/>
                </a:tc>
                <a:extLst>
                  <a:ext uri="{0D108BD9-81ED-4DB2-BD59-A6C34878D82A}">
                    <a16:rowId xmlns:a16="http://schemas.microsoft.com/office/drawing/2014/main" val="2100645156"/>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2307799101"/>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1661499664"/>
                  </a:ext>
                </a:extLst>
              </a:tr>
              <a:tr h="235640">
                <a:tc>
                  <a:txBody>
                    <a:bodyPr/>
                    <a:lstStyle/>
                    <a:p>
                      <a:pPr algn="ctr"/>
                      <a:r>
                        <a:rPr lang="en-US" dirty="0">
                          <a:latin typeface="Candara" panose="020E0502030303020204" pitchFamily="34" charset="0"/>
                        </a:rPr>
                        <a:t>-----</a:t>
                      </a:r>
                    </a:p>
                  </a:txBody>
                  <a:tcPr/>
                </a:tc>
                <a:extLst>
                  <a:ext uri="{0D108BD9-81ED-4DB2-BD59-A6C34878D82A}">
                    <a16:rowId xmlns:a16="http://schemas.microsoft.com/office/drawing/2014/main" val="3345749885"/>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627682088"/>
                  </a:ext>
                </a:extLst>
              </a:tr>
            </a:tbl>
          </a:graphicData>
        </a:graphic>
      </p:graphicFrame>
      <p:graphicFrame>
        <p:nvGraphicFramePr>
          <p:cNvPr id="11" name="Table 10">
            <a:extLst>
              <a:ext uri="{FF2B5EF4-FFF2-40B4-BE49-F238E27FC236}">
                <a16:creationId xmlns:a16="http://schemas.microsoft.com/office/drawing/2014/main" id="{446E598C-DF8E-281D-6C82-7C7126991108}"/>
              </a:ext>
            </a:extLst>
          </p:cNvPr>
          <p:cNvGraphicFramePr>
            <a:graphicFrameLocks noGrp="1"/>
          </p:cNvGraphicFramePr>
          <p:nvPr>
            <p:extLst>
              <p:ext uri="{D42A27DB-BD31-4B8C-83A1-F6EECF244321}">
                <p14:modId xmlns:p14="http://schemas.microsoft.com/office/powerpoint/2010/main" val="1403958439"/>
              </p:ext>
            </p:extLst>
          </p:nvPr>
        </p:nvGraphicFramePr>
        <p:xfrm>
          <a:off x="8728603" y="1346074"/>
          <a:ext cx="2875547" cy="1828800"/>
        </p:xfrm>
        <a:graphic>
          <a:graphicData uri="http://schemas.openxmlformats.org/drawingml/2006/table">
            <a:tbl>
              <a:tblPr firstRow="1" bandRow="1">
                <a:tableStyleId>{5C22544A-7EE6-4342-B048-85BDC9FD1C3A}</a:tableStyleId>
              </a:tblPr>
              <a:tblGrid>
                <a:gridCol w="2875547">
                  <a:extLst>
                    <a:ext uri="{9D8B030D-6E8A-4147-A177-3AD203B41FA5}">
                      <a16:colId xmlns:a16="http://schemas.microsoft.com/office/drawing/2014/main" val="2351163539"/>
                    </a:ext>
                  </a:extLst>
                </a:gridCol>
              </a:tblGrid>
              <a:tr h="235640">
                <a:tc>
                  <a:txBody>
                    <a:bodyPr/>
                    <a:lstStyle/>
                    <a:p>
                      <a:pPr algn="ctr"/>
                      <a:r>
                        <a:rPr lang="en-US" dirty="0">
                          <a:latin typeface="Candara" panose="020E0502030303020204" pitchFamily="34" charset="0"/>
                        </a:rPr>
                        <a:t>Block Header (80B)</a:t>
                      </a:r>
                    </a:p>
                  </a:txBody>
                  <a:tcPr/>
                </a:tc>
                <a:extLst>
                  <a:ext uri="{0D108BD9-81ED-4DB2-BD59-A6C34878D82A}">
                    <a16:rowId xmlns:a16="http://schemas.microsoft.com/office/drawing/2014/main" val="2100645156"/>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2307799101"/>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1661499664"/>
                  </a:ext>
                </a:extLst>
              </a:tr>
              <a:tr h="235640">
                <a:tc>
                  <a:txBody>
                    <a:bodyPr/>
                    <a:lstStyle/>
                    <a:p>
                      <a:pPr algn="ctr"/>
                      <a:r>
                        <a:rPr lang="en-US" dirty="0">
                          <a:latin typeface="Candara" panose="020E0502030303020204" pitchFamily="34" charset="0"/>
                        </a:rPr>
                        <a:t>-----</a:t>
                      </a:r>
                    </a:p>
                  </a:txBody>
                  <a:tcPr/>
                </a:tc>
                <a:extLst>
                  <a:ext uri="{0D108BD9-81ED-4DB2-BD59-A6C34878D82A}">
                    <a16:rowId xmlns:a16="http://schemas.microsoft.com/office/drawing/2014/main" val="3345749885"/>
                  </a:ext>
                </a:extLst>
              </a:tr>
              <a:tr h="235640">
                <a:tc>
                  <a:txBody>
                    <a:bodyPr/>
                    <a:lstStyle/>
                    <a:p>
                      <a:pPr algn="ctr"/>
                      <a:r>
                        <a:rPr lang="en-US" dirty="0">
                          <a:latin typeface="Candara" panose="020E0502030303020204" pitchFamily="34" charset="0"/>
                        </a:rPr>
                        <a:t>Transaction </a:t>
                      </a:r>
                    </a:p>
                  </a:txBody>
                  <a:tcPr/>
                </a:tc>
                <a:extLst>
                  <a:ext uri="{0D108BD9-81ED-4DB2-BD59-A6C34878D82A}">
                    <a16:rowId xmlns:a16="http://schemas.microsoft.com/office/drawing/2014/main" val="627682088"/>
                  </a:ext>
                </a:extLst>
              </a:tr>
            </a:tbl>
          </a:graphicData>
        </a:graphic>
      </p:graphicFrame>
      <p:sp>
        <p:nvSpPr>
          <p:cNvPr id="15" name="Arc 14">
            <a:extLst>
              <a:ext uri="{FF2B5EF4-FFF2-40B4-BE49-F238E27FC236}">
                <a16:creationId xmlns:a16="http://schemas.microsoft.com/office/drawing/2014/main" id="{39FA2F3A-82FF-0498-463E-2FCC6A86C43D}"/>
              </a:ext>
            </a:extLst>
          </p:cNvPr>
          <p:cNvSpPr/>
          <p:nvPr/>
        </p:nvSpPr>
        <p:spPr>
          <a:xfrm rot="16200000">
            <a:off x="3586281" y="1851886"/>
            <a:ext cx="985520" cy="1465027"/>
          </a:xfrm>
          <a:prstGeom prst="arc">
            <a:avLst>
              <a:gd name="adj1" fmla="val 17873949"/>
              <a:gd name="adj2" fmla="val 3795485"/>
            </a:avLst>
          </a:prstGeom>
          <a:ln w="381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16" name="Arc 15">
            <a:extLst>
              <a:ext uri="{FF2B5EF4-FFF2-40B4-BE49-F238E27FC236}">
                <a16:creationId xmlns:a16="http://schemas.microsoft.com/office/drawing/2014/main" id="{93377B04-6DF9-7539-D264-6F63FB523BFD}"/>
              </a:ext>
            </a:extLst>
          </p:cNvPr>
          <p:cNvSpPr/>
          <p:nvPr/>
        </p:nvSpPr>
        <p:spPr>
          <a:xfrm rot="16200000">
            <a:off x="7620202" y="1841317"/>
            <a:ext cx="985520" cy="1465027"/>
          </a:xfrm>
          <a:prstGeom prst="arc">
            <a:avLst>
              <a:gd name="adj1" fmla="val 17873949"/>
              <a:gd name="adj2" fmla="val 3795485"/>
            </a:avLst>
          </a:prstGeom>
          <a:ln w="381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17" name="TextBox 16">
            <a:extLst>
              <a:ext uri="{FF2B5EF4-FFF2-40B4-BE49-F238E27FC236}">
                <a16:creationId xmlns:a16="http://schemas.microsoft.com/office/drawing/2014/main" id="{FCDF2098-DE74-13F3-F97E-2F6611EF47CC}"/>
              </a:ext>
            </a:extLst>
          </p:cNvPr>
          <p:cNvSpPr txBox="1"/>
          <p:nvPr/>
        </p:nvSpPr>
        <p:spPr>
          <a:xfrm>
            <a:off x="1403684" y="976742"/>
            <a:ext cx="1130438" cy="400110"/>
          </a:xfrm>
          <a:prstGeom prst="rect">
            <a:avLst/>
          </a:prstGeom>
          <a:noFill/>
        </p:spPr>
        <p:txBody>
          <a:bodyPr wrap="none" rtlCol="0">
            <a:spAutoFit/>
          </a:bodyPr>
          <a:lstStyle/>
          <a:p>
            <a:r>
              <a:rPr lang="en-US" sz="2000" dirty="0">
                <a:latin typeface="Candara" panose="020E0502030303020204" pitchFamily="34" charset="0"/>
              </a:rPr>
              <a:t>Block b-1</a:t>
            </a:r>
          </a:p>
        </p:txBody>
      </p:sp>
      <p:sp>
        <p:nvSpPr>
          <p:cNvPr id="18" name="TextBox 17">
            <a:extLst>
              <a:ext uri="{FF2B5EF4-FFF2-40B4-BE49-F238E27FC236}">
                <a16:creationId xmlns:a16="http://schemas.microsoft.com/office/drawing/2014/main" id="{21A05439-811E-C744-D3BB-19E972FF3641}"/>
              </a:ext>
            </a:extLst>
          </p:cNvPr>
          <p:cNvSpPr txBox="1"/>
          <p:nvPr/>
        </p:nvSpPr>
        <p:spPr>
          <a:xfrm>
            <a:off x="5466654" y="976742"/>
            <a:ext cx="976549" cy="400110"/>
          </a:xfrm>
          <a:prstGeom prst="rect">
            <a:avLst/>
          </a:prstGeom>
          <a:noFill/>
        </p:spPr>
        <p:txBody>
          <a:bodyPr wrap="none" rtlCol="0">
            <a:spAutoFit/>
          </a:bodyPr>
          <a:lstStyle/>
          <a:p>
            <a:r>
              <a:rPr lang="en-US" sz="2000" dirty="0">
                <a:latin typeface="Candara" panose="020E0502030303020204" pitchFamily="34" charset="0"/>
              </a:rPr>
              <a:t>Block b</a:t>
            </a:r>
          </a:p>
        </p:txBody>
      </p:sp>
      <p:sp>
        <p:nvSpPr>
          <p:cNvPr id="19" name="TextBox 18">
            <a:extLst>
              <a:ext uri="{FF2B5EF4-FFF2-40B4-BE49-F238E27FC236}">
                <a16:creationId xmlns:a16="http://schemas.microsoft.com/office/drawing/2014/main" id="{B4649566-ABFA-753E-4FAF-FB12AB238F28}"/>
              </a:ext>
            </a:extLst>
          </p:cNvPr>
          <p:cNvSpPr txBox="1"/>
          <p:nvPr/>
        </p:nvSpPr>
        <p:spPr>
          <a:xfrm>
            <a:off x="9555270" y="976742"/>
            <a:ext cx="1196161" cy="400110"/>
          </a:xfrm>
          <a:prstGeom prst="rect">
            <a:avLst/>
          </a:prstGeom>
          <a:noFill/>
        </p:spPr>
        <p:txBody>
          <a:bodyPr wrap="none" rtlCol="0">
            <a:spAutoFit/>
          </a:bodyPr>
          <a:lstStyle/>
          <a:p>
            <a:r>
              <a:rPr lang="en-US" sz="2000" dirty="0">
                <a:latin typeface="Candara" panose="020E0502030303020204" pitchFamily="34" charset="0"/>
              </a:rPr>
              <a:t>Block b+1</a:t>
            </a:r>
          </a:p>
        </p:txBody>
      </p:sp>
      <p:sp>
        <p:nvSpPr>
          <p:cNvPr id="20" name="TextBox 19">
            <a:extLst>
              <a:ext uri="{FF2B5EF4-FFF2-40B4-BE49-F238E27FC236}">
                <a16:creationId xmlns:a16="http://schemas.microsoft.com/office/drawing/2014/main" id="{6B14B516-8596-C1B6-2190-04705E95FB04}"/>
              </a:ext>
            </a:extLst>
          </p:cNvPr>
          <p:cNvSpPr txBox="1"/>
          <p:nvPr/>
        </p:nvSpPr>
        <p:spPr>
          <a:xfrm>
            <a:off x="502920" y="3280340"/>
            <a:ext cx="11186160" cy="3200876"/>
          </a:xfrm>
          <a:prstGeom prst="rect">
            <a:avLst/>
          </a:prstGeom>
          <a:noFill/>
          <a:ln w="25400">
            <a:solidFill>
              <a:schemeClr val="tx1"/>
            </a:solidFill>
          </a:ln>
        </p:spPr>
        <p:txBody>
          <a:bodyPr wrap="square" rtlCol="0">
            <a:spAutoFit/>
          </a:bodyPr>
          <a:lstStyle/>
          <a:p>
            <a:r>
              <a:rPr lang="en-US" dirty="0">
                <a:latin typeface="Candara" panose="020E0502030303020204" pitchFamily="34" charset="0"/>
              </a:rPr>
              <a:t>There are 6 fields in the block header:</a:t>
            </a:r>
          </a:p>
          <a:p>
            <a:pPr marL="457200" indent="-457200">
              <a:buFont typeface="+mj-lt"/>
              <a:buAutoNum type="arabicPeriod"/>
            </a:pPr>
            <a:r>
              <a:rPr lang="en-US" dirty="0">
                <a:latin typeface="Candara" panose="020E0502030303020204" pitchFamily="34" charset="0"/>
              </a:rPr>
              <a:t>Version (4B) – for exchanging messages and signaling the protocol rules  </a:t>
            </a:r>
          </a:p>
          <a:p>
            <a:pPr marL="457200" indent="-457200">
              <a:buFont typeface="+mj-lt"/>
              <a:buAutoNum type="arabicPeriod"/>
            </a:pPr>
            <a:r>
              <a:rPr lang="en-US" dirty="0">
                <a:latin typeface="Candara" panose="020E0502030303020204" pitchFamily="34" charset="0"/>
              </a:rPr>
              <a:t>Previous block hash (32B) – for linking current block to its parent block</a:t>
            </a:r>
          </a:p>
          <a:p>
            <a:pPr marL="457200" indent="-457200">
              <a:buFont typeface="+mj-lt"/>
              <a:buAutoNum type="arabicPeriod"/>
            </a:pPr>
            <a:r>
              <a:rPr lang="en-US" dirty="0">
                <a:latin typeface="Candara" panose="020E0502030303020204" pitchFamily="34" charset="0"/>
              </a:rPr>
              <a:t>Merkle root hash (32B) – for summarizing &amp; maintaining integrity of transactions in the block  </a:t>
            </a:r>
          </a:p>
          <a:p>
            <a:pPr marL="457200" indent="-457200">
              <a:buFont typeface="+mj-lt"/>
              <a:buAutoNum type="arabicPeriod"/>
            </a:pPr>
            <a:r>
              <a:rPr lang="en-US" dirty="0">
                <a:latin typeface="Candara" panose="020E0502030303020204" pitchFamily="34" charset="0"/>
              </a:rPr>
              <a:t>Timestamp (4B) – for recording block creation time; up to 2 hour variation is acceptable because Bitcoin nodes are not concerned about timing synchronization</a:t>
            </a:r>
          </a:p>
          <a:p>
            <a:pPr marL="457200" indent="-457200">
              <a:buFont typeface="+mj-lt"/>
              <a:buAutoNum type="arabicPeriod"/>
            </a:pPr>
            <a:r>
              <a:rPr lang="en-US" dirty="0" err="1">
                <a:latin typeface="Candara" panose="020E0502030303020204" pitchFamily="34" charset="0"/>
              </a:rPr>
              <a:t>Target_Hash</a:t>
            </a:r>
            <a:r>
              <a:rPr lang="en-US" dirty="0">
                <a:latin typeface="Candara" panose="020E0502030303020204" pitchFamily="34" charset="0"/>
              </a:rPr>
              <a:t> (4B) – for defining the difficulty of finding the block header hash; adjusts every 2016 blocks (~ two weeks) to ensure 10 minute average block generation time </a:t>
            </a:r>
          </a:p>
          <a:p>
            <a:pPr marL="457200" indent="-457200">
              <a:buFont typeface="+mj-lt"/>
              <a:buAutoNum type="arabicPeriod"/>
            </a:pPr>
            <a:r>
              <a:rPr lang="en-US" dirty="0">
                <a:latin typeface="Candara" panose="020E0502030303020204" pitchFamily="34" charset="0"/>
              </a:rPr>
              <a:t>Nonce (4B) – for iterating values during hash attempts to find a valid block header </a:t>
            </a:r>
          </a:p>
          <a:p>
            <a:r>
              <a:rPr lang="en-US" sz="2000" dirty="0" err="1">
                <a:solidFill>
                  <a:srgbClr val="7030A0"/>
                </a:solidFill>
                <a:latin typeface="Candara" panose="020E0502030303020204" pitchFamily="34" charset="0"/>
              </a:rPr>
              <a:t>Block_Header</a:t>
            </a:r>
            <a:r>
              <a:rPr lang="en-US" sz="2000" dirty="0">
                <a:solidFill>
                  <a:srgbClr val="7030A0"/>
                </a:solidFill>
                <a:latin typeface="Candara" panose="020E0502030303020204" pitchFamily="34" charset="0"/>
              </a:rPr>
              <a:t> = [Version+PreviousBlockHash+MerkelRoothash+Timestamp+DifficultyTarget+Nonce]</a:t>
            </a:r>
          </a:p>
          <a:p>
            <a:r>
              <a:rPr lang="en-US" sz="2000" dirty="0" err="1">
                <a:solidFill>
                  <a:srgbClr val="7030A0"/>
                </a:solidFill>
                <a:latin typeface="Candara" panose="020E0502030303020204" pitchFamily="34" charset="0"/>
              </a:rPr>
              <a:t>Block_Header_Hash</a:t>
            </a:r>
            <a:r>
              <a:rPr lang="en-US" sz="2000" dirty="0">
                <a:solidFill>
                  <a:srgbClr val="7030A0"/>
                </a:solidFill>
                <a:latin typeface="Candara" panose="020E0502030303020204" pitchFamily="34" charset="0"/>
              </a:rPr>
              <a:t> = SHA256(SHA256(</a:t>
            </a:r>
            <a:r>
              <a:rPr lang="en-US" sz="2000" dirty="0" err="1">
                <a:solidFill>
                  <a:srgbClr val="7030A0"/>
                </a:solidFill>
                <a:latin typeface="Candara" panose="020E0502030303020204" pitchFamily="34" charset="0"/>
              </a:rPr>
              <a:t>Block_Header</a:t>
            </a:r>
            <a:r>
              <a:rPr lang="en-US" sz="2000" dirty="0">
                <a:solidFill>
                  <a:srgbClr val="7030A0"/>
                </a:solidFill>
                <a:latin typeface="Candara" panose="020E0502030303020204" pitchFamily="34" charset="0"/>
              </a:rPr>
              <a:t>))</a:t>
            </a:r>
          </a:p>
        </p:txBody>
      </p:sp>
    </p:spTree>
    <p:extLst>
      <p:ext uri="{BB962C8B-B14F-4D97-AF65-F5344CB8AC3E}">
        <p14:creationId xmlns:p14="http://schemas.microsoft.com/office/powerpoint/2010/main" val="426478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p:bldP spid="19" grpId="0"/>
      <p:bldP spid="20" grpId="0" build="allAtOnce"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2A7-B74D-1A50-CB9A-7CDD824C1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65C3A-42B3-FD6D-7472-FD369DCB9F7C}"/>
              </a:ext>
            </a:extLst>
          </p:cNvPr>
          <p:cNvSpPr>
            <a:spLocks noGrp="1"/>
          </p:cNvSpPr>
          <p:nvPr>
            <p:ph type="title"/>
          </p:nvPr>
        </p:nvSpPr>
        <p:spPr/>
        <p:txBody>
          <a:bodyPr/>
          <a:lstStyle/>
          <a:p>
            <a:r>
              <a:rPr lang="en-US" dirty="0"/>
              <a:t>Can We Pay for Coffee in BTC?</a:t>
            </a:r>
          </a:p>
        </p:txBody>
      </p:sp>
      <p:sp>
        <p:nvSpPr>
          <p:cNvPr id="4" name="Slide Number Placeholder 3">
            <a:extLst>
              <a:ext uri="{FF2B5EF4-FFF2-40B4-BE49-F238E27FC236}">
                <a16:creationId xmlns:a16="http://schemas.microsoft.com/office/drawing/2014/main" id="{A7014A91-925D-1662-708A-E876DCE6853A}"/>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4</a:t>
            </a:fld>
            <a:endParaRPr lang="en-US" dirty="0">
              <a:latin typeface="Candara" panose="020E0502030303020204" pitchFamily="34" charset="0"/>
            </a:endParaRPr>
          </a:p>
        </p:txBody>
      </p:sp>
      <p:pic>
        <p:nvPicPr>
          <p:cNvPr id="9" name="Picture 8">
            <a:extLst>
              <a:ext uri="{FF2B5EF4-FFF2-40B4-BE49-F238E27FC236}">
                <a16:creationId xmlns:a16="http://schemas.microsoft.com/office/drawing/2014/main" id="{D2CA6A4A-1D6E-3773-26A4-ECB6CE56C168}"/>
              </a:ext>
            </a:extLst>
          </p:cNvPr>
          <p:cNvPicPr>
            <a:picLocks noChangeAspect="1"/>
          </p:cNvPicPr>
          <p:nvPr/>
        </p:nvPicPr>
        <p:blipFill>
          <a:blip r:embed="rId3"/>
          <a:stretch>
            <a:fillRect/>
          </a:stretch>
        </p:blipFill>
        <p:spPr>
          <a:xfrm>
            <a:off x="487680" y="1373530"/>
            <a:ext cx="3271313" cy="4640794"/>
          </a:xfrm>
          <a:prstGeom prst="rect">
            <a:avLst/>
          </a:prstGeom>
        </p:spPr>
      </p:pic>
      <p:sp>
        <p:nvSpPr>
          <p:cNvPr id="16" name="TextBox 15">
            <a:extLst>
              <a:ext uri="{FF2B5EF4-FFF2-40B4-BE49-F238E27FC236}">
                <a16:creationId xmlns:a16="http://schemas.microsoft.com/office/drawing/2014/main" id="{5443157E-49C2-A51B-9368-47E538949A0A}"/>
              </a:ext>
            </a:extLst>
          </p:cNvPr>
          <p:cNvSpPr txBox="1"/>
          <p:nvPr/>
        </p:nvSpPr>
        <p:spPr>
          <a:xfrm>
            <a:off x="4403554" y="1859339"/>
            <a:ext cx="7158789"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Candara" panose="020E0502030303020204" pitchFamily="34" charset="0"/>
              </a:rPr>
              <a:t>Bitcoin price are too high for a single cup of coffee</a:t>
            </a:r>
          </a:p>
          <a:p>
            <a:pPr marL="285750" indent="-285750">
              <a:buFont typeface="Arial" panose="020B0604020202020204" pitchFamily="34" charset="0"/>
              <a:buChar char="•"/>
            </a:pPr>
            <a:endParaRPr lang="en-US" sz="2400" dirty="0">
              <a:latin typeface="Candara" panose="020E0502030303020204" pitchFamily="34" charset="0"/>
            </a:endParaRPr>
          </a:p>
          <a:p>
            <a:pPr marL="285750" indent="-285750">
              <a:buFont typeface="Arial" panose="020B0604020202020204" pitchFamily="34" charset="0"/>
              <a:buChar char="•"/>
            </a:pPr>
            <a:r>
              <a:rPr lang="en-US" sz="2400" dirty="0">
                <a:latin typeface="Candara" panose="020E0502030303020204" pitchFamily="34" charset="0"/>
              </a:rPr>
              <a:t>Average block generation time is 10 minutes, so do we want to wait this long every time for a coffee payment to go through?</a:t>
            </a:r>
          </a:p>
          <a:p>
            <a:pPr marL="285750" indent="-285750">
              <a:buFont typeface="Arial" panose="020B0604020202020204" pitchFamily="34" charset="0"/>
              <a:buChar char="•"/>
            </a:pPr>
            <a:endParaRPr lang="en-US" sz="2400" dirty="0">
              <a:latin typeface="Candara" panose="020E0502030303020204" pitchFamily="34" charset="0"/>
            </a:endParaRPr>
          </a:p>
          <a:p>
            <a:pPr marL="285750" indent="-285750">
              <a:buFont typeface="Arial" panose="020B0604020202020204" pitchFamily="34" charset="0"/>
              <a:buChar char="•"/>
            </a:pPr>
            <a:r>
              <a:rPr lang="en-US" sz="2400" dirty="0">
                <a:latin typeface="Candara" panose="020E0502030303020204" pitchFamily="34" charset="0"/>
              </a:rPr>
              <a:t>Do we really want every cup of coffee we drink broadcast to the whole world?</a:t>
            </a:r>
          </a:p>
          <a:p>
            <a:pPr marL="285750" indent="-285750">
              <a:buFont typeface="Arial" panose="020B0604020202020204" pitchFamily="34" charset="0"/>
              <a:buChar char="•"/>
            </a:pPr>
            <a:endParaRPr lang="en-US" sz="2400" dirty="0">
              <a:latin typeface="Candara" panose="020E0502030303020204" pitchFamily="34" charset="0"/>
            </a:endParaRPr>
          </a:p>
          <a:p>
            <a:pPr marL="285750" indent="-285750">
              <a:buFont typeface="Arial" panose="020B0604020202020204" pitchFamily="34" charset="0"/>
              <a:buChar char="•"/>
            </a:pPr>
            <a:r>
              <a:rPr lang="en-US" sz="2400" dirty="0">
                <a:latin typeface="Candara" panose="020E0502030303020204" pitchFamily="34" charset="0"/>
              </a:rPr>
              <a:t>Billions of coffee cups are consumed every day so can bitcoin process all these coffee transactions?</a:t>
            </a:r>
          </a:p>
        </p:txBody>
      </p:sp>
    </p:spTree>
    <p:extLst>
      <p:ext uri="{BB962C8B-B14F-4D97-AF65-F5344CB8AC3E}">
        <p14:creationId xmlns:p14="http://schemas.microsoft.com/office/powerpoint/2010/main" val="645511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5E92D-707D-4B92-F533-E60A9822B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7F958-8A54-80EC-BF20-475AB596DC85}"/>
              </a:ext>
            </a:extLst>
          </p:cNvPr>
          <p:cNvSpPr>
            <a:spLocks noGrp="1"/>
          </p:cNvSpPr>
          <p:nvPr>
            <p:ph type="title"/>
          </p:nvPr>
        </p:nvSpPr>
        <p:spPr/>
        <p:txBody>
          <a:bodyPr/>
          <a:lstStyle/>
          <a:p>
            <a:r>
              <a:rPr lang="en-PK" dirty="0"/>
              <a:t>Bitcoin Statistics: </a:t>
            </a:r>
            <a:r>
              <a:rPr lang="en-US" dirty="0"/>
              <a:t>Jan</a:t>
            </a:r>
            <a:r>
              <a:rPr lang="en-PK" dirty="0"/>
              <a:t> </a:t>
            </a:r>
            <a:r>
              <a:rPr lang="en-US" dirty="0"/>
              <a:t>22</a:t>
            </a:r>
            <a:r>
              <a:rPr lang="en-PK" dirty="0"/>
              <a:t>, 202</a:t>
            </a:r>
            <a:r>
              <a:rPr lang="en-US" dirty="0"/>
              <a:t>6</a:t>
            </a:r>
            <a:endParaRPr lang="en-PK" dirty="0"/>
          </a:p>
        </p:txBody>
      </p:sp>
      <p:sp>
        <p:nvSpPr>
          <p:cNvPr id="3" name="Content Placeholder 2">
            <a:extLst>
              <a:ext uri="{FF2B5EF4-FFF2-40B4-BE49-F238E27FC236}">
                <a16:creationId xmlns:a16="http://schemas.microsoft.com/office/drawing/2014/main" id="{83CBD831-3E01-F51E-95A4-72F749A3010E}"/>
              </a:ext>
            </a:extLst>
          </p:cNvPr>
          <p:cNvSpPr>
            <a:spLocks noGrp="1"/>
          </p:cNvSpPr>
          <p:nvPr>
            <p:ph idx="1"/>
          </p:nvPr>
        </p:nvSpPr>
        <p:spPr>
          <a:xfrm>
            <a:off x="502920" y="1087119"/>
            <a:ext cx="11186160" cy="4668912"/>
          </a:xfrm>
        </p:spPr>
        <p:txBody>
          <a:bodyPr>
            <a:normAutofit lnSpcReduction="10000"/>
          </a:bodyPr>
          <a:lstStyle/>
          <a:p>
            <a:r>
              <a:rPr lang="en-US" sz="3000" dirty="0"/>
              <a:t>Bitcoins in circulation: </a:t>
            </a:r>
            <a:r>
              <a:rPr lang="en-US" sz="3000" dirty="0">
                <a:solidFill>
                  <a:srgbClr val="C00000"/>
                </a:solidFill>
              </a:rPr>
              <a:t>19.98 Million (over $2T market cap)</a:t>
            </a:r>
          </a:p>
          <a:p>
            <a:r>
              <a:rPr lang="en-US" sz="3000" dirty="0"/>
              <a:t>Total will be </a:t>
            </a:r>
            <a:r>
              <a:rPr lang="en-US" sz="3000" dirty="0">
                <a:solidFill>
                  <a:srgbClr val="C00000"/>
                </a:solidFill>
              </a:rPr>
              <a:t>21 Million </a:t>
            </a:r>
            <a:r>
              <a:rPr lang="en-US" sz="3000" dirty="0"/>
              <a:t>(last will be mined about in the year </a:t>
            </a:r>
            <a:r>
              <a:rPr lang="en-US" sz="3000" dirty="0">
                <a:solidFill>
                  <a:srgbClr val="C00000"/>
                </a:solidFill>
              </a:rPr>
              <a:t>2140</a:t>
            </a:r>
            <a:r>
              <a:rPr lang="en-US" sz="3000" dirty="0"/>
              <a:t>)</a:t>
            </a:r>
          </a:p>
          <a:p>
            <a:r>
              <a:rPr lang="en-US" sz="3000" dirty="0"/>
              <a:t>Bitcoins left to be </a:t>
            </a:r>
            <a:r>
              <a:rPr lang="en-US" sz="3000" i="1" u="sng" dirty="0"/>
              <a:t>mined</a:t>
            </a:r>
            <a:r>
              <a:rPr lang="en-US" sz="3000" dirty="0"/>
              <a:t>: </a:t>
            </a:r>
            <a:r>
              <a:rPr lang="en-US" sz="3000" dirty="0">
                <a:solidFill>
                  <a:srgbClr val="C00000"/>
                </a:solidFill>
              </a:rPr>
              <a:t>1.02 Million (</a:t>
            </a:r>
            <a:r>
              <a:rPr lang="en-US" sz="3000" dirty="0"/>
              <a:t>Total issued: </a:t>
            </a:r>
            <a:r>
              <a:rPr lang="en-US" sz="3000" dirty="0">
                <a:solidFill>
                  <a:srgbClr val="C00000"/>
                </a:solidFill>
              </a:rPr>
              <a:t>95.1%)</a:t>
            </a:r>
          </a:p>
          <a:p>
            <a:r>
              <a:rPr lang="en-US" sz="3000" dirty="0"/>
              <a:t>Blockchain Size: </a:t>
            </a:r>
            <a:r>
              <a:rPr lang="en-US" sz="3000" dirty="0">
                <a:solidFill>
                  <a:srgbClr val="C00000"/>
                </a:solidFill>
              </a:rPr>
              <a:t>715 GB</a:t>
            </a:r>
          </a:p>
          <a:p>
            <a:r>
              <a:rPr lang="en-US" sz="3000" dirty="0"/>
              <a:t>New Bitcoin Blocks per day (presently): </a:t>
            </a:r>
            <a:r>
              <a:rPr lang="en-US" sz="3000" dirty="0">
                <a:solidFill>
                  <a:srgbClr val="C00000"/>
                </a:solidFill>
              </a:rPr>
              <a:t>144 (on average)</a:t>
            </a:r>
          </a:p>
          <a:p>
            <a:r>
              <a:rPr lang="en-US" sz="3000" dirty="0"/>
              <a:t>New Bitcoins per day (presently): </a:t>
            </a:r>
            <a:r>
              <a:rPr lang="en-US" sz="3000" dirty="0">
                <a:solidFill>
                  <a:srgbClr val="C00000"/>
                </a:solidFill>
              </a:rPr>
              <a:t>450 (144 x </a:t>
            </a:r>
            <a:r>
              <a:rPr lang="en-US" sz="3000" b="1" u="sng" dirty="0">
                <a:solidFill>
                  <a:srgbClr val="C00000"/>
                </a:solidFill>
              </a:rPr>
              <a:t>3.125</a:t>
            </a:r>
            <a:r>
              <a:rPr lang="en-US" sz="3000" dirty="0">
                <a:solidFill>
                  <a:srgbClr val="C00000"/>
                </a:solidFill>
              </a:rPr>
              <a:t>)</a:t>
            </a:r>
          </a:p>
          <a:p>
            <a:r>
              <a:rPr lang="en-US" sz="3000" dirty="0"/>
              <a:t>About </a:t>
            </a:r>
            <a:r>
              <a:rPr lang="en-US" sz="3000" dirty="0">
                <a:solidFill>
                  <a:srgbClr val="C00000"/>
                </a:solidFill>
              </a:rPr>
              <a:t>4 Million </a:t>
            </a:r>
            <a:r>
              <a:rPr lang="en-US" sz="3000" dirty="0"/>
              <a:t>Bitcoins were lost forever (estimate)</a:t>
            </a:r>
          </a:p>
          <a:p>
            <a:r>
              <a:rPr lang="en-US" sz="3000" dirty="0"/>
              <a:t>Transactions per second: </a:t>
            </a:r>
            <a:r>
              <a:rPr lang="en-US" sz="3000" dirty="0">
                <a:solidFill>
                  <a:srgbClr val="C00000"/>
                </a:solidFill>
              </a:rPr>
              <a:t>7</a:t>
            </a:r>
            <a:r>
              <a:rPr lang="en-US" sz="3000" dirty="0"/>
              <a:t> (VISA has about </a:t>
            </a:r>
            <a:r>
              <a:rPr lang="en-US" sz="3000" dirty="0">
                <a:solidFill>
                  <a:srgbClr val="C00000"/>
                </a:solidFill>
              </a:rPr>
              <a:t>24k</a:t>
            </a:r>
            <a:r>
              <a:rPr lang="en-US" sz="3000" dirty="0"/>
              <a:t>)</a:t>
            </a:r>
          </a:p>
          <a:p>
            <a:r>
              <a:rPr lang="en-US" sz="2800" dirty="0"/>
              <a:t>Bitcoin Price: </a:t>
            </a:r>
            <a:r>
              <a:rPr lang="en-US" sz="2800" dirty="0">
                <a:solidFill>
                  <a:srgbClr val="C00000"/>
                </a:solidFill>
              </a:rPr>
              <a:t>$ 66k</a:t>
            </a:r>
          </a:p>
        </p:txBody>
      </p:sp>
      <p:sp>
        <p:nvSpPr>
          <p:cNvPr id="4" name="Slide Number Placeholder 3">
            <a:extLst>
              <a:ext uri="{FF2B5EF4-FFF2-40B4-BE49-F238E27FC236}">
                <a16:creationId xmlns:a16="http://schemas.microsoft.com/office/drawing/2014/main" id="{E1B321AE-39C1-A41A-C4F9-222DCA2DF533}"/>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5" name="TextBox 4">
            <a:extLst>
              <a:ext uri="{FF2B5EF4-FFF2-40B4-BE49-F238E27FC236}">
                <a16:creationId xmlns:a16="http://schemas.microsoft.com/office/drawing/2014/main" id="{D7D097CC-F58C-CDD8-F332-19FB2A4A9B12}"/>
              </a:ext>
            </a:extLst>
          </p:cNvPr>
          <p:cNvSpPr txBox="1"/>
          <p:nvPr/>
        </p:nvSpPr>
        <p:spPr>
          <a:xfrm>
            <a:off x="974558" y="5624299"/>
            <a:ext cx="10058400" cy="523220"/>
          </a:xfrm>
          <a:prstGeom prst="rect">
            <a:avLst/>
          </a:prstGeom>
          <a:solidFill>
            <a:srgbClr val="7030A0"/>
          </a:solidFill>
        </p:spPr>
        <p:txBody>
          <a:bodyPr wrap="square">
            <a:spAutoFit/>
          </a:bodyPr>
          <a:lstStyle/>
          <a:p>
            <a:pPr algn="ctr"/>
            <a:r>
              <a:rPr lang="en-US" sz="2800" dirty="0">
                <a:solidFill>
                  <a:schemeClr val="bg1"/>
                </a:solidFill>
                <a:latin typeface="Candara" panose="020E0502030303020204" pitchFamily="34" charset="0"/>
              </a:rPr>
              <a:t>Does Bitcoin look like a peer-to-peer electronic cash system?</a:t>
            </a:r>
          </a:p>
        </p:txBody>
      </p:sp>
    </p:spTree>
    <p:extLst>
      <p:ext uri="{BB962C8B-B14F-4D97-AF65-F5344CB8AC3E}">
        <p14:creationId xmlns:p14="http://schemas.microsoft.com/office/powerpoint/2010/main" val="28233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F35CF-2B7D-C708-F12D-8ADCE9EDEEAB}"/>
              </a:ext>
            </a:extLst>
          </p:cNvPr>
          <p:cNvSpPr>
            <a:spLocks noGrp="1"/>
          </p:cNvSpPr>
          <p:nvPr>
            <p:ph type="title"/>
          </p:nvPr>
        </p:nvSpPr>
        <p:spPr>
          <a:xfrm>
            <a:off x="1273216" y="136525"/>
            <a:ext cx="10080584" cy="908090"/>
          </a:xfrm>
        </p:spPr>
        <p:txBody>
          <a:bodyPr>
            <a:normAutofit/>
          </a:bodyPr>
          <a:lstStyle/>
          <a:p>
            <a:r>
              <a:rPr lang="en-US" dirty="0"/>
              <a:t>Bitcoin – Decentralized Digital Currency</a:t>
            </a:r>
          </a:p>
        </p:txBody>
      </p:sp>
      <p:sp>
        <p:nvSpPr>
          <p:cNvPr id="4" name="Slide Number Placeholder 3">
            <a:extLst>
              <a:ext uri="{FF2B5EF4-FFF2-40B4-BE49-F238E27FC236}">
                <a16:creationId xmlns:a16="http://schemas.microsoft.com/office/drawing/2014/main" id="{B1F1B7E6-D8FC-F056-3F5C-F45B4BD42C03}"/>
              </a:ext>
            </a:extLst>
          </p:cNvPr>
          <p:cNvSpPr>
            <a:spLocks noGrp="1"/>
          </p:cNvSpPr>
          <p:nvPr>
            <p:ph type="sldNum" sz="quarter" idx="12"/>
          </p:nvPr>
        </p:nvSpPr>
        <p:spPr/>
        <p:txBody>
          <a:bodyPr/>
          <a:lstStyle/>
          <a:p>
            <a:fld id="{19FE8B7B-3258-47CD-BBC0-34D05FC906E5}" type="slidenum">
              <a:rPr lang="en-US" smtClean="0"/>
              <a:t>6</a:t>
            </a:fld>
            <a:endParaRPr lang="en-US" dirty="0"/>
          </a:p>
        </p:txBody>
      </p:sp>
      <p:pic>
        <p:nvPicPr>
          <p:cNvPr id="6" name="Picture 5">
            <a:extLst>
              <a:ext uri="{FF2B5EF4-FFF2-40B4-BE49-F238E27FC236}">
                <a16:creationId xmlns:a16="http://schemas.microsoft.com/office/drawing/2014/main" id="{C608D68F-2EAA-40B8-3DE5-AD66EB133683}"/>
              </a:ext>
            </a:extLst>
          </p:cNvPr>
          <p:cNvPicPr>
            <a:picLocks noChangeAspect="1"/>
          </p:cNvPicPr>
          <p:nvPr/>
        </p:nvPicPr>
        <p:blipFill>
          <a:blip r:embed="rId3"/>
          <a:stretch>
            <a:fillRect/>
          </a:stretch>
        </p:blipFill>
        <p:spPr>
          <a:xfrm>
            <a:off x="370798" y="1104543"/>
            <a:ext cx="6066097" cy="4502174"/>
          </a:xfrm>
          <a:prstGeom prst="rect">
            <a:avLst/>
          </a:prstGeom>
        </p:spPr>
      </p:pic>
      <p:pic>
        <p:nvPicPr>
          <p:cNvPr id="17" name="Picture 16">
            <a:extLst>
              <a:ext uri="{FF2B5EF4-FFF2-40B4-BE49-F238E27FC236}">
                <a16:creationId xmlns:a16="http://schemas.microsoft.com/office/drawing/2014/main" id="{5FF048D7-8F28-A797-5A35-CB26210566F2}"/>
              </a:ext>
            </a:extLst>
          </p:cNvPr>
          <p:cNvPicPr>
            <a:picLocks noChangeAspect="1"/>
          </p:cNvPicPr>
          <p:nvPr/>
        </p:nvPicPr>
        <p:blipFill>
          <a:blip r:embed="rId4"/>
          <a:stretch>
            <a:fillRect/>
          </a:stretch>
        </p:blipFill>
        <p:spPr>
          <a:xfrm>
            <a:off x="7062537" y="4066970"/>
            <a:ext cx="4617836" cy="2146773"/>
          </a:xfrm>
          <a:prstGeom prst="rect">
            <a:avLst/>
          </a:prstGeom>
        </p:spPr>
      </p:pic>
      <p:pic>
        <p:nvPicPr>
          <p:cNvPr id="21" name="Picture 20">
            <a:extLst>
              <a:ext uri="{FF2B5EF4-FFF2-40B4-BE49-F238E27FC236}">
                <a16:creationId xmlns:a16="http://schemas.microsoft.com/office/drawing/2014/main" id="{3ECFCD3E-F660-1D4A-9ACE-37495D3E6EA6}"/>
              </a:ext>
            </a:extLst>
          </p:cNvPr>
          <p:cNvPicPr>
            <a:picLocks noChangeAspect="1"/>
          </p:cNvPicPr>
          <p:nvPr/>
        </p:nvPicPr>
        <p:blipFill>
          <a:blip r:embed="rId5"/>
          <a:stretch>
            <a:fillRect/>
          </a:stretch>
        </p:blipFill>
        <p:spPr>
          <a:xfrm>
            <a:off x="7062537" y="1107959"/>
            <a:ext cx="4548131" cy="2862462"/>
          </a:xfrm>
          <a:prstGeom prst="rect">
            <a:avLst/>
          </a:prstGeom>
        </p:spPr>
      </p:pic>
      <p:sp>
        <p:nvSpPr>
          <p:cNvPr id="23" name="TextBox 22">
            <a:extLst>
              <a:ext uri="{FF2B5EF4-FFF2-40B4-BE49-F238E27FC236}">
                <a16:creationId xmlns:a16="http://schemas.microsoft.com/office/drawing/2014/main" id="{80F30322-F7B3-32AE-F0AE-886457AB5621}"/>
              </a:ext>
            </a:extLst>
          </p:cNvPr>
          <p:cNvSpPr txBox="1"/>
          <p:nvPr/>
        </p:nvSpPr>
        <p:spPr>
          <a:xfrm>
            <a:off x="8781104" y="6310292"/>
            <a:ext cx="2743200" cy="338554"/>
          </a:xfrm>
          <a:prstGeom prst="rect">
            <a:avLst/>
          </a:prstGeom>
          <a:noFill/>
        </p:spPr>
        <p:txBody>
          <a:bodyPr wrap="square">
            <a:spAutoFit/>
          </a:bodyPr>
          <a:lstStyle/>
          <a:p>
            <a:pPr algn="ctr"/>
            <a:r>
              <a:rPr lang="en-US" sz="800" dirty="0">
                <a:hlinkClick r:id="rId6"/>
              </a:rPr>
              <a:t>https://news.bitcoin.com/10-years-ago-bitcoins-genesis-block-changed-the-course-of-history/</a:t>
            </a:r>
            <a:r>
              <a:rPr lang="en-US" sz="800" dirty="0"/>
              <a:t> </a:t>
            </a:r>
          </a:p>
        </p:txBody>
      </p:sp>
      <p:sp>
        <p:nvSpPr>
          <p:cNvPr id="3" name="TextBox 2">
            <a:extLst>
              <a:ext uri="{FF2B5EF4-FFF2-40B4-BE49-F238E27FC236}">
                <a16:creationId xmlns:a16="http://schemas.microsoft.com/office/drawing/2014/main" id="{5C928F61-0140-F022-EAE6-014B5B831A55}"/>
              </a:ext>
            </a:extLst>
          </p:cNvPr>
          <p:cNvSpPr txBox="1"/>
          <p:nvPr/>
        </p:nvSpPr>
        <p:spPr>
          <a:xfrm>
            <a:off x="794085" y="5753457"/>
            <a:ext cx="5301916" cy="707886"/>
          </a:xfrm>
          <a:prstGeom prst="rect">
            <a:avLst/>
          </a:prstGeom>
          <a:solidFill>
            <a:srgbClr val="7030A0"/>
          </a:solidFill>
        </p:spPr>
        <p:txBody>
          <a:bodyPr wrap="square" rtlCol="0">
            <a:spAutoFit/>
          </a:bodyPr>
          <a:lstStyle/>
          <a:p>
            <a:pPr algn="ctr"/>
            <a:r>
              <a:rPr lang="en-US" sz="2000" dirty="0">
                <a:solidFill>
                  <a:schemeClr val="bg1"/>
                </a:solidFill>
                <a:latin typeface="Candara" panose="020E0502030303020204" pitchFamily="34" charset="0"/>
              </a:rPr>
              <a:t>Satoshi envisioned Bitcoin as a peer-to-peer digital currency for all kind of online payments</a:t>
            </a:r>
          </a:p>
        </p:txBody>
      </p:sp>
    </p:spTree>
    <p:extLst>
      <p:ext uri="{BB962C8B-B14F-4D97-AF65-F5344CB8AC3E}">
        <p14:creationId xmlns:p14="http://schemas.microsoft.com/office/powerpoint/2010/main" val="159981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920FF-08D9-252F-4E23-A8B18094E443}"/>
              </a:ext>
            </a:extLst>
          </p:cNvPr>
          <p:cNvSpPr>
            <a:spLocks noGrp="1"/>
          </p:cNvSpPr>
          <p:nvPr>
            <p:ph type="title"/>
          </p:nvPr>
        </p:nvSpPr>
        <p:spPr/>
        <p:txBody>
          <a:bodyPr/>
          <a:lstStyle/>
          <a:p>
            <a:r>
              <a:rPr lang="en-US" dirty="0"/>
              <a:t>Bitcoin as a Micropayment Platform?</a:t>
            </a:r>
          </a:p>
        </p:txBody>
      </p:sp>
      <p:sp>
        <p:nvSpPr>
          <p:cNvPr id="4" name="Slide Number Placeholder 3">
            <a:extLst>
              <a:ext uri="{FF2B5EF4-FFF2-40B4-BE49-F238E27FC236}">
                <a16:creationId xmlns:a16="http://schemas.microsoft.com/office/drawing/2014/main" id="{B5605624-A0A4-8FEE-D4F1-C94542E51B30}"/>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7</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16282D23-925A-1A7C-F442-E00B9A7B8FF6}"/>
              </a:ext>
            </a:extLst>
          </p:cNvPr>
          <p:cNvSpPr txBox="1"/>
          <p:nvPr/>
        </p:nvSpPr>
        <p:spPr>
          <a:xfrm>
            <a:off x="1083382" y="2351782"/>
            <a:ext cx="10057856" cy="1077218"/>
          </a:xfrm>
          <a:prstGeom prst="rect">
            <a:avLst/>
          </a:prstGeom>
          <a:noFill/>
        </p:spPr>
        <p:txBody>
          <a:bodyPr wrap="square">
            <a:spAutoFit/>
          </a:bodyPr>
          <a:lstStyle/>
          <a:p>
            <a:pPr algn="ctr"/>
            <a:r>
              <a:rPr lang="en-US" sz="3200" dirty="0">
                <a:solidFill>
                  <a:srgbClr val="7030A0"/>
                </a:solidFill>
                <a:latin typeface="Candara" panose="020E0502030303020204" pitchFamily="34" charset="0"/>
              </a:rPr>
              <a:t>Is there a way to make bitcoin a micropayment platform without sacrificing the decentralization or security?</a:t>
            </a:r>
          </a:p>
        </p:txBody>
      </p:sp>
    </p:spTree>
    <p:extLst>
      <p:ext uri="{BB962C8B-B14F-4D97-AF65-F5344CB8AC3E}">
        <p14:creationId xmlns:p14="http://schemas.microsoft.com/office/powerpoint/2010/main" val="4037318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9A37-9EE2-2CB5-45D5-22D402D39AAF}"/>
              </a:ext>
            </a:extLst>
          </p:cNvPr>
          <p:cNvSpPr>
            <a:spLocks noGrp="1"/>
          </p:cNvSpPr>
          <p:nvPr>
            <p:ph type="title"/>
          </p:nvPr>
        </p:nvSpPr>
        <p:spPr/>
        <p:txBody>
          <a:bodyPr/>
          <a:lstStyle/>
          <a:p>
            <a:r>
              <a:rPr lang="en-US" dirty="0"/>
              <a:t>Bitcoin Scripts Revisited</a:t>
            </a:r>
            <a:endParaRPr lang="en-PK" dirty="0"/>
          </a:p>
        </p:txBody>
      </p:sp>
      <p:sp>
        <p:nvSpPr>
          <p:cNvPr id="3" name="Content Placeholder 2">
            <a:extLst>
              <a:ext uri="{FF2B5EF4-FFF2-40B4-BE49-F238E27FC236}">
                <a16:creationId xmlns:a16="http://schemas.microsoft.com/office/drawing/2014/main" id="{4F4251DF-63C4-3F48-DFA6-2D31AB28CD0A}"/>
              </a:ext>
            </a:extLst>
          </p:cNvPr>
          <p:cNvSpPr>
            <a:spLocks noGrp="1"/>
          </p:cNvSpPr>
          <p:nvPr>
            <p:ph idx="1"/>
          </p:nvPr>
        </p:nvSpPr>
        <p:spPr/>
        <p:txBody>
          <a:bodyPr>
            <a:normAutofit fontScale="70000" lnSpcReduction="20000"/>
          </a:bodyPr>
          <a:lstStyle/>
          <a:p>
            <a:pPr marL="0" indent="0">
              <a:buNone/>
            </a:pPr>
            <a:r>
              <a:rPr lang="en-US" sz="5100" b="1" dirty="0"/>
              <a:t>What Can Bitcoin Opcodes Do?</a:t>
            </a:r>
          </a:p>
          <a:p>
            <a:r>
              <a:rPr lang="en-US" b="1" dirty="0"/>
              <a:t>Check signatures</a:t>
            </a:r>
            <a:br>
              <a:rPr lang="en-US" dirty="0"/>
            </a:br>
            <a:r>
              <a:rPr lang="en-US" sz="3600" dirty="0"/>
              <a:t>Opcodes like OP_CHECKSIG verify that a transaction is authorized by the owner of a private key</a:t>
            </a:r>
          </a:p>
          <a:p>
            <a:r>
              <a:rPr lang="en-US" b="1" dirty="0"/>
              <a:t>Combine conditions</a:t>
            </a:r>
            <a:br>
              <a:rPr lang="en-US" dirty="0"/>
            </a:br>
            <a:r>
              <a:rPr lang="en-US" dirty="0"/>
              <a:t>Opcodes like OP_IF, OP_ELSE, and OP_ENDIF allow multiple spending conditions (e.g., </a:t>
            </a:r>
            <a:r>
              <a:rPr lang="en-US" i="1" dirty="0"/>
              <a:t>Alice OR Bob can spend</a:t>
            </a:r>
            <a:r>
              <a:rPr lang="en-US" dirty="0"/>
              <a:t>)</a:t>
            </a:r>
          </a:p>
          <a:p>
            <a:r>
              <a:rPr lang="en-US" b="1" dirty="0"/>
              <a:t>Require multiple approvals</a:t>
            </a:r>
            <a:br>
              <a:rPr lang="en-US" dirty="0"/>
            </a:br>
            <a:r>
              <a:rPr lang="en-US" dirty="0"/>
              <a:t>Opcodes like OP_CHECKMULTISIG allow </a:t>
            </a:r>
            <a:r>
              <a:rPr lang="en-US" i="1" dirty="0"/>
              <a:t>M-of-N</a:t>
            </a:r>
            <a:r>
              <a:rPr lang="en-US" dirty="0"/>
              <a:t> signatures (e.g., 2 out of 3 people must approve)</a:t>
            </a:r>
          </a:p>
          <a:p>
            <a:r>
              <a:rPr lang="en-US" b="1" dirty="0"/>
              <a:t>Lock funds by time</a:t>
            </a:r>
            <a:br>
              <a:rPr lang="en-US" dirty="0"/>
            </a:br>
            <a:r>
              <a:rPr lang="en-US" dirty="0"/>
              <a:t>Opcodes like OP_CHECKLOCKTIMEVERIFY (CLTV) can prevent spending until a certain date or block height</a:t>
            </a:r>
          </a:p>
          <a:p>
            <a:r>
              <a:rPr lang="en-US" b="1" dirty="0"/>
              <a:t>Lock funds by delay</a:t>
            </a:r>
            <a:br>
              <a:rPr lang="en-US" dirty="0"/>
            </a:br>
            <a:r>
              <a:rPr lang="en-US" dirty="0"/>
              <a:t>Opcodes like OP_CHECKSEQUENCEVERIFY (CSV) require waiting some time </a:t>
            </a:r>
            <a:r>
              <a:rPr lang="en-US" i="1" dirty="0"/>
              <a:t>after</a:t>
            </a:r>
            <a:r>
              <a:rPr lang="en-US" dirty="0"/>
              <a:t> a transaction is created</a:t>
            </a:r>
          </a:p>
        </p:txBody>
      </p:sp>
      <p:sp>
        <p:nvSpPr>
          <p:cNvPr id="4" name="Slide Number Placeholder 3">
            <a:extLst>
              <a:ext uri="{FF2B5EF4-FFF2-40B4-BE49-F238E27FC236}">
                <a16:creationId xmlns:a16="http://schemas.microsoft.com/office/drawing/2014/main" id="{60E66C2E-09E4-1E18-0912-A44ECDC7AA3F}"/>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356474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2F680-C161-2298-9F23-CB1E23A22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B6696-E056-27D6-5D19-6C3DD46E36AA}"/>
              </a:ext>
            </a:extLst>
          </p:cNvPr>
          <p:cNvSpPr>
            <a:spLocks noGrp="1"/>
          </p:cNvSpPr>
          <p:nvPr>
            <p:ph type="title"/>
          </p:nvPr>
        </p:nvSpPr>
        <p:spPr/>
        <p:txBody>
          <a:bodyPr/>
          <a:lstStyle/>
          <a:p>
            <a:r>
              <a:rPr lang="en-US" dirty="0"/>
              <a:t>What is possible with Bitcoin Scripts?</a:t>
            </a:r>
          </a:p>
        </p:txBody>
      </p:sp>
      <p:sp>
        <p:nvSpPr>
          <p:cNvPr id="3" name="Content Placeholder 2">
            <a:extLst>
              <a:ext uri="{FF2B5EF4-FFF2-40B4-BE49-F238E27FC236}">
                <a16:creationId xmlns:a16="http://schemas.microsoft.com/office/drawing/2014/main" id="{DBE2838F-0DB9-D760-AB66-B89A76FE2C53}"/>
              </a:ext>
            </a:extLst>
          </p:cNvPr>
          <p:cNvSpPr>
            <a:spLocks noGrp="1"/>
          </p:cNvSpPr>
          <p:nvPr>
            <p:ph idx="1"/>
          </p:nvPr>
        </p:nvSpPr>
        <p:spPr>
          <a:xfrm>
            <a:off x="487680" y="1631849"/>
            <a:ext cx="11186160" cy="4783449"/>
          </a:xfrm>
        </p:spPr>
        <p:txBody>
          <a:bodyPr>
            <a:noAutofit/>
          </a:bodyPr>
          <a:lstStyle/>
          <a:p>
            <a:r>
              <a:rPr lang="en-US" sz="2400" dirty="0">
                <a:solidFill>
                  <a:srgbClr val="7030A0"/>
                </a:solidFill>
              </a:rPr>
              <a:t>Key &amp; Script locks </a:t>
            </a:r>
          </a:p>
          <a:p>
            <a:pPr lvl="1"/>
            <a:r>
              <a:rPr lang="en-US" sz="2000" dirty="0">
                <a:solidFill>
                  <a:srgbClr val="7030A0"/>
                </a:solidFill>
              </a:rPr>
              <a:t>Spending via Pay-to-</a:t>
            </a:r>
            <a:r>
              <a:rPr lang="en-US" sz="2000" dirty="0" err="1">
                <a:solidFill>
                  <a:srgbClr val="7030A0"/>
                </a:solidFill>
              </a:rPr>
              <a:t>Pubkey</a:t>
            </a:r>
            <a:r>
              <a:rPr lang="en-US" sz="2000" dirty="0">
                <a:solidFill>
                  <a:srgbClr val="7030A0"/>
                </a:solidFill>
              </a:rPr>
              <a:t>-Hash (P2PKH)</a:t>
            </a:r>
          </a:p>
          <a:p>
            <a:pPr lvl="1"/>
            <a:r>
              <a:rPr lang="en-US" sz="2000" dirty="0">
                <a:solidFill>
                  <a:srgbClr val="7030A0"/>
                </a:solidFill>
              </a:rPr>
              <a:t>Spending via Pay-to-</a:t>
            </a:r>
            <a:r>
              <a:rPr lang="en-US" sz="2000" dirty="0" err="1">
                <a:solidFill>
                  <a:srgbClr val="7030A0"/>
                </a:solidFill>
              </a:rPr>
              <a:t>Multisig</a:t>
            </a:r>
            <a:r>
              <a:rPr lang="en-US" sz="2000" dirty="0">
                <a:solidFill>
                  <a:srgbClr val="7030A0"/>
                </a:solidFill>
              </a:rPr>
              <a:t> (P2MS) (M of N type)</a:t>
            </a:r>
          </a:p>
          <a:p>
            <a:pPr lvl="1"/>
            <a:r>
              <a:rPr lang="en-US" sz="2000" dirty="0">
                <a:solidFill>
                  <a:srgbClr val="7030A0"/>
                </a:solidFill>
              </a:rPr>
              <a:t>Spending via Pay-to-Script-Hash (P2SH) </a:t>
            </a:r>
          </a:p>
          <a:p>
            <a:pPr lvl="1"/>
            <a:r>
              <a:rPr lang="en-US" sz="2000" dirty="0">
                <a:solidFill>
                  <a:srgbClr val="7030A0"/>
                </a:solidFill>
              </a:rPr>
              <a:t> Spending via Pay-to-Witness-Public-Key-Hash (P2WPKH)</a:t>
            </a:r>
          </a:p>
          <a:p>
            <a:pPr lvl="1"/>
            <a:r>
              <a:rPr lang="en-US" sz="2000" dirty="0">
                <a:solidFill>
                  <a:srgbClr val="7030A0"/>
                </a:solidFill>
              </a:rPr>
              <a:t>Spending via Pay-to-Witness-Script-Hash (P2WSH) </a:t>
            </a:r>
          </a:p>
          <a:p>
            <a:pPr lvl="1"/>
            <a:r>
              <a:rPr lang="en-US" sz="2000" dirty="0">
                <a:solidFill>
                  <a:srgbClr val="7030A0"/>
                </a:solidFill>
              </a:rPr>
              <a:t>Spending via Pay-to-Taproot (P2TR)</a:t>
            </a:r>
          </a:p>
          <a:p>
            <a:r>
              <a:rPr lang="en-US" sz="2400" dirty="0">
                <a:solidFill>
                  <a:schemeClr val="accent6">
                    <a:lumMod val="50000"/>
                  </a:schemeClr>
                </a:solidFill>
              </a:rPr>
              <a:t>Time locks</a:t>
            </a:r>
          </a:p>
          <a:p>
            <a:pPr lvl="1"/>
            <a:r>
              <a:rPr lang="en-US" sz="2000" dirty="0">
                <a:solidFill>
                  <a:schemeClr val="accent6">
                    <a:lumMod val="50000"/>
                  </a:schemeClr>
                </a:solidFill>
              </a:rPr>
              <a:t>Spending via absolute-time-based lock (</a:t>
            </a:r>
            <a:r>
              <a:rPr lang="en-US" sz="2000" dirty="0" err="1">
                <a:solidFill>
                  <a:schemeClr val="accent6">
                    <a:lumMod val="50000"/>
                  </a:schemeClr>
                </a:solidFill>
              </a:rPr>
              <a:t>nLockTime</a:t>
            </a:r>
            <a:r>
              <a:rPr lang="en-US" sz="2000" dirty="0">
                <a:solidFill>
                  <a:schemeClr val="accent6">
                    <a:lumMod val="50000"/>
                  </a:schemeClr>
                </a:solidFill>
              </a:rPr>
              <a:t> &amp; </a:t>
            </a:r>
            <a:r>
              <a:rPr lang="en-US" sz="2000" dirty="0" err="1">
                <a:solidFill>
                  <a:schemeClr val="accent6">
                    <a:lumMod val="50000"/>
                  </a:schemeClr>
                </a:solidFill>
              </a:rPr>
              <a:t>CheckLockTimeVerify</a:t>
            </a:r>
            <a:r>
              <a:rPr lang="en-US" sz="2000" dirty="0">
                <a:solidFill>
                  <a:schemeClr val="accent6">
                    <a:lumMod val="50000"/>
                  </a:schemeClr>
                </a:solidFill>
              </a:rPr>
              <a:t> (CLTV)) </a:t>
            </a:r>
          </a:p>
          <a:p>
            <a:pPr lvl="1"/>
            <a:r>
              <a:rPr lang="en-US" sz="2000" dirty="0">
                <a:solidFill>
                  <a:schemeClr val="accent6">
                    <a:lumMod val="50000"/>
                  </a:schemeClr>
                </a:solidFill>
              </a:rPr>
              <a:t>Spending via relative-time-based lock (</a:t>
            </a:r>
            <a:r>
              <a:rPr lang="en-US" sz="2000" dirty="0" err="1">
                <a:solidFill>
                  <a:schemeClr val="accent6">
                    <a:lumMod val="50000"/>
                  </a:schemeClr>
                </a:solidFill>
              </a:rPr>
              <a:t>nSequence</a:t>
            </a:r>
            <a:r>
              <a:rPr lang="en-US" sz="2000" dirty="0">
                <a:solidFill>
                  <a:schemeClr val="accent6">
                    <a:lumMod val="50000"/>
                  </a:schemeClr>
                </a:solidFill>
              </a:rPr>
              <a:t> &amp; </a:t>
            </a:r>
            <a:r>
              <a:rPr lang="en-US" sz="2000" dirty="0" err="1">
                <a:solidFill>
                  <a:schemeClr val="accent6">
                    <a:lumMod val="50000"/>
                  </a:schemeClr>
                </a:solidFill>
              </a:rPr>
              <a:t>CheckSequenceVerify</a:t>
            </a:r>
            <a:r>
              <a:rPr lang="en-US" sz="2000" dirty="0">
                <a:solidFill>
                  <a:schemeClr val="accent6">
                    <a:lumMod val="50000"/>
                  </a:schemeClr>
                </a:solidFill>
              </a:rPr>
              <a:t> (CSV))</a:t>
            </a:r>
          </a:p>
          <a:p>
            <a:r>
              <a:rPr lang="en-US" sz="2400" dirty="0">
                <a:solidFill>
                  <a:schemeClr val="accent2">
                    <a:lumMod val="75000"/>
                  </a:schemeClr>
                </a:solidFill>
              </a:rPr>
              <a:t>Hash locks</a:t>
            </a:r>
          </a:p>
          <a:p>
            <a:pPr lvl="1"/>
            <a:r>
              <a:rPr lang="en-US" sz="2000" dirty="0">
                <a:solidFill>
                  <a:schemeClr val="accent2">
                    <a:lumMod val="75000"/>
                  </a:schemeClr>
                </a:solidFill>
              </a:rPr>
              <a:t>Spending via Hash locks</a:t>
            </a:r>
          </a:p>
          <a:p>
            <a:pPr lvl="1"/>
            <a:r>
              <a:rPr lang="en-US" sz="2000" dirty="0">
                <a:solidFill>
                  <a:schemeClr val="accent2">
                    <a:lumMod val="75000"/>
                  </a:schemeClr>
                </a:solidFill>
              </a:rPr>
              <a:t>Spending via Hashed Time lock Contract (HTLC)</a:t>
            </a:r>
          </a:p>
        </p:txBody>
      </p:sp>
      <p:sp>
        <p:nvSpPr>
          <p:cNvPr id="4" name="Slide Number Placeholder 3">
            <a:extLst>
              <a:ext uri="{FF2B5EF4-FFF2-40B4-BE49-F238E27FC236}">
                <a16:creationId xmlns:a16="http://schemas.microsoft.com/office/drawing/2014/main" id="{27BD44DD-75F7-48B0-9FFF-BA2093A9323A}"/>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9</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8716F5E6-E228-86D0-D664-EEE6A5D078A5}"/>
              </a:ext>
            </a:extLst>
          </p:cNvPr>
          <p:cNvSpPr txBox="1"/>
          <p:nvPr/>
        </p:nvSpPr>
        <p:spPr>
          <a:xfrm>
            <a:off x="1219200" y="1019919"/>
            <a:ext cx="9753600" cy="461665"/>
          </a:xfrm>
          <a:prstGeom prst="rect">
            <a:avLst/>
          </a:prstGeom>
          <a:noFill/>
        </p:spPr>
        <p:txBody>
          <a:bodyPr wrap="square">
            <a:spAutoFit/>
          </a:bodyPr>
          <a:lstStyle/>
          <a:p>
            <a:pPr algn="ctr"/>
            <a:r>
              <a:rPr lang="en-US" sz="2400" dirty="0">
                <a:latin typeface="Candara" panose="020E0502030303020204" pitchFamily="34" charset="0"/>
              </a:rPr>
              <a:t>Lock BTC with different spending conditions inside Bitcoin transactions </a:t>
            </a:r>
          </a:p>
        </p:txBody>
      </p:sp>
      <p:sp>
        <p:nvSpPr>
          <p:cNvPr id="5" name="Right Brace 4">
            <a:extLst>
              <a:ext uri="{FF2B5EF4-FFF2-40B4-BE49-F238E27FC236}">
                <a16:creationId xmlns:a16="http://schemas.microsoft.com/office/drawing/2014/main" id="{BE9BA362-F674-0CE5-902C-9C6E967C7F6A}"/>
              </a:ext>
            </a:extLst>
          </p:cNvPr>
          <p:cNvSpPr/>
          <p:nvPr/>
        </p:nvSpPr>
        <p:spPr>
          <a:xfrm>
            <a:off x="6629400" y="2005438"/>
            <a:ext cx="818147" cy="96050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EC1ED8F1-FEB8-5945-08D3-1C6C4FC77676}"/>
              </a:ext>
            </a:extLst>
          </p:cNvPr>
          <p:cNvSpPr txBox="1"/>
          <p:nvPr/>
        </p:nvSpPr>
        <p:spPr>
          <a:xfrm>
            <a:off x="7725816" y="2277180"/>
            <a:ext cx="867545" cy="369332"/>
          </a:xfrm>
          <a:prstGeom prst="rect">
            <a:avLst/>
          </a:prstGeom>
          <a:noFill/>
        </p:spPr>
        <p:txBody>
          <a:bodyPr wrap="none" rtlCol="0">
            <a:spAutoFit/>
          </a:bodyPr>
          <a:lstStyle/>
          <a:p>
            <a:r>
              <a:rPr lang="en-US" dirty="0">
                <a:latin typeface="Candara" panose="020E0502030303020204" pitchFamily="34" charset="0"/>
              </a:rPr>
              <a:t>Legacy</a:t>
            </a:r>
          </a:p>
        </p:txBody>
      </p:sp>
      <p:sp>
        <p:nvSpPr>
          <p:cNvPr id="8" name="Right Brace 7">
            <a:extLst>
              <a:ext uri="{FF2B5EF4-FFF2-40B4-BE49-F238E27FC236}">
                <a16:creationId xmlns:a16="http://schemas.microsoft.com/office/drawing/2014/main" id="{D9645E0F-D53E-7AEC-F89F-BCE41D734F67}"/>
              </a:ext>
            </a:extLst>
          </p:cNvPr>
          <p:cNvSpPr/>
          <p:nvPr/>
        </p:nvSpPr>
        <p:spPr>
          <a:xfrm>
            <a:off x="7316742" y="2965938"/>
            <a:ext cx="818147" cy="75182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7356F748-47F2-1862-23C3-AC077431579F}"/>
              </a:ext>
            </a:extLst>
          </p:cNvPr>
          <p:cNvSpPr txBox="1"/>
          <p:nvPr/>
        </p:nvSpPr>
        <p:spPr>
          <a:xfrm>
            <a:off x="8388458" y="3157182"/>
            <a:ext cx="1172116" cy="369332"/>
          </a:xfrm>
          <a:prstGeom prst="rect">
            <a:avLst/>
          </a:prstGeom>
          <a:noFill/>
        </p:spPr>
        <p:txBody>
          <a:bodyPr wrap="none" rtlCol="0">
            <a:spAutoFit/>
          </a:bodyPr>
          <a:lstStyle/>
          <a:p>
            <a:r>
              <a:rPr lang="en-US" dirty="0" err="1">
                <a:latin typeface="Candara" panose="020E0502030303020204" pitchFamily="34" charset="0"/>
              </a:rPr>
              <a:t>SegWit</a:t>
            </a:r>
            <a:r>
              <a:rPr lang="en-US" dirty="0">
                <a:latin typeface="Candara" panose="020E0502030303020204" pitchFamily="34" charset="0"/>
              </a:rPr>
              <a:t> v0</a:t>
            </a:r>
          </a:p>
        </p:txBody>
      </p:sp>
      <p:sp>
        <p:nvSpPr>
          <p:cNvPr id="10" name="Right Brace 9">
            <a:extLst>
              <a:ext uri="{FF2B5EF4-FFF2-40B4-BE49-F238E27FC236}">
                <a16:creationId xmlns:a16="http://schemas.microsoft.com/office/drawing/2014/main" id="{0196A5B7-9AAC-B543-7277-419AB1A8F4E9}"/>
              </a:ext>
            </a:extLst>
          </p:cNvPr>
          <p:cNvSpPr/>
          <p:nvPr/>
        </p:nvSpPr>
        <p:spPr>
          <a:xfrm>
            <a:off x="5262613" y="3717758"/>
            <a:ext cx="818147" cy="360947"/>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5CE5BB47-A84A-2AD9-7214-4EFD6F3872B7}"/>
              </a:ext>
            </a:extLst>
          </p:cNvPr>
          <p:cNvSpPr txBox="1"/>
          <p:nvPr/>
        </p:nvSpPr>
        <p:spPr>
          <a:xfrm>
            <a:off x="6256161" y="3707397"/>
            <a:ext cx="2110450" cy="369332"/>
          </a:xfrm>
          <a:prstGeom prst="rect">
            <a:avLst/>
          </a:prstGeom>
          <a:noFill/>
        </p:spPr>
        <p:txBody>
          <a:bodyPr wrap="none" rtlCol="0">
            <a:spAutoFit/>
          </a:bodyPr>
          <a:lstStyle/>
          <a:p>
            <a:r>
              <a:rPr lang="en-US" dirty="0" err="1">
                <a:latin typeface="Candara" panose="020E0502030303020204" pitchFamily="34" charset="0"/>
              </a:rPr>
              <a:t>SegWit</a:t>
            </a:r>
            <a:r>
              <a:rPr lang="en-US" dirty="0">
                <a:latin typeface="Candara" panose="020E0502030303020204" pitchFamily="34" charset="0"/>
              </a:rPr>
              <a:t> v1 (Taproot)</a:t>
            </a:r>
          </a:p>
        </p:txBody>
      </p:sp>
      <p:sp>
        <p:nvSpPr>
          <p:cNvPr id="13" name="TextBox 12">
            <a:extLst>
              <a:ext uri="{FF2B5EF4-FFF2-40B4-BE49-F238E27FC236}">
                <a16:creationId xmlns:a16="http://schemas.microsoft.com/office/drawing/2014/main" id="{A896ABAF-03DA-1CC6-BBA1-6B6CF3A4D3B5}"/>
              </a:ext>
            </a:extLst>
          </p:cNvPr>
          <p:cNvSpPr txBox="1"/>
          <p:nvPr/>
        </p:nvSpPr>
        <p:spPr>
          <a:xfrm>
            <a:off x="7038473" y="5491968"/>
            <a:ext cx="4635367" cy="923330"/>
          </a:xfrm>
          <a:prstGeom prst="rect">
            <a:avLst/>
          </a:prstGeom>
          <a:noFill/>
          <a:ln>
            <a:solidFill>
              <a:srgbClr val="FF0000"/>
            </a:solidFill>
          </a:ln>
        </p:spPr>
        <p:txBody>
          <a:bodyPr wrap="square">
            <a:spAutoFit/>
          </a:bodyPr>
          <a:lstStyle/>
          <a:p>
            <a:r>
              <a:rPr lang="en-US" b="1" dirty="0">
                <a:solidFill>
                  <a:srgbClr val="FF0000"/>
                </a:solidFill>
              </a:rPr>
              <a:t>But scripts are low-level and hard to write</a:t>
            </a:r>
            <a:br>
              <a:rPr lang="en-US" dirty="0">
                <a:solidFill>
                  <a:srgbClr val="FF0000"/>
                </a:solidFill>
              </a:rPr>
            </a:br>
            <a:r>
              <a:rPr lang="en-US" dirty="0">
                <a:solidFill>
                  <a:srgbClr val="FF0000"/>
                </a:solidFill>
              </a:rPr>
              <a:t>Bitcoin Script is stack-based and not designed to be human-friendly</a:t>
            </a:r>
          </a:p>
        </p:txBody>
      </p:sp>
      <p:pic>
        <p:nvPicPr>
          <p:cNvPr id="15" name="Picture 14">
            <a:extLst>
              <a:ext uri="{FF2B5EF4-FFF2-40B4-BE49-F238E27FC236}">
                <a16:creationId xmlns:a16="http://schemas.microsoft.com/office/drawing/2014/main" id="{21FE665D-8ADA-2520-5A9C-7DF28DC003F8}"/>
              </a:ext>
            </a:extLst>
          </p:cNvPr>
          <p:cNvPicPr>
            <a:picLocks noChangeAspect="1"/>
          </p:cNvPicPr>
          <p:nvPr/>
        </p:nvPicPr>
        <p:blipFill>
          <a:blip r:embed="rId3"/>
          <a:srcRect l="1270" t="24430" r="2598" b="22667"/>
          <a:stretch>
            <a:fillRect/>
          </a:stretch>
        </p:blipFill>
        <p:spPr>
          <a:xfrm>
            <a:off x="467059" y="1422169"/>
            <a:ext cx="9093515" cy="2663111"/>
          </a:xfrm>
          <a:prstGeom prst="rect">
            <a:avLst/>
          </a:prstGeom>
        </p:spPr>
      </p:pic>
    </p:spTree>
    <p:extLst>
      <p:ext uri="{BB962C8B-B14F-4D97-AF65-F5344CB8AC3E}">
        <p14:creationId xmlns:p14="http://schemas.microsoft.com/office/powerpoint/2010/main" val="396107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bldP spid="9" grpId="0"/>
      <p:bldP spid="10" grpId="0" animBg="1"/>
      <p:bldP spid="11" grpId="0"/>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6945-4704-53CF-2D2B-8D231000A744}"/>
              </a:ext>
            </a:extLst>
          </p:cNvPr>
          <p:cNvSpPr>
            <a:spLocks noGrp="1"/>
          </p:cNvSpPr>
          <p:nvPr>
            <p:ph type="title"/>
          </p:nvPr>
        </p:nvSpPr>
        <p:spPr/>
        <p:txBody>
          <a:bodyPr/>
          <a:lstStyle/>
          <a:p>
            <a:r>
              <a:rPr lang="en-US" dirty="0" err="1"/>
              <a:t>Miniscript</a:t>
            </a:r>
            <a:endParaRPr lang="en-PK" dirty="0"/>
          </a:p>
        </p:txBody>
      </p:sp>
      <p:sp>
        <p:nvSpPr>
          <p:cNvPr id="3" name="Content Placeholder 2">
            <a:extLst>
              <a:ext uri="{FF2B5EF4-FFF2-40B4-BE49-F238E27FC236}">
                <a16:creationId xmlns:a16="http://schemas.microsoft.com/office/drawing/2014/main" id="{3F079F6E-512F-FDB1-3ABA-9D9BC92EEF35}"/>
              </a:ext>
            </a:extLst>
          </p:cNvPr>
          <p:cNvSpPr>
            <a:spLocks noGrp="1"/>
          </p:cNvSpPr>
          <p:nvPr>
            <p:ph idx="1"/>
          </p:nvPr>
        </p:nvSpPr>
        <p:spPr>
          <a:xfrm>
            <a:off x="487680" y="1097281"/>
            <a:ext cx="11186160" cy="2331720"/>
          </a:xfrm>
        </p:spPr>
        <p:txBody>
          <a:bodyPr>
            <a:normAutofit/>
          </a:bodyPr>
          <a:lstStyle/>
          <a:p>
            <a:r>
              <a:rPr lang="en-US" sz="2800" dirty="0" err="1"/>
              <a:t>Miniscript</a:t>
            </a:r>
            <a:r>
              <a:rPr lang="en-US" sz="2800" dirty="0"/>
              <a:t> is like </a:t>
            </a:r>
            <a:r>
              <a:rPr lang="en-US" sz="2800" b="1" dirty="0"/>
              <a:t>TypeScript</a:t>
            </a:r>
            <a:r>
              <a:rPr lang="en-US" sz="2800" dirty="0"/>
              <a:t> for Bitcoin</a:t>
            </a:r>
          </a:p>
          <a:p>
            <a:r>
              <a:rPr lang="en-US" sz="2800" dirty="0"/>
              <a:t>Just as TypeScript turns into JavaScript so browsers can read it, </a:t>
            </a:r>
            <a:r>
              <a:rPr lang="en-US" sz="2800" dirty="0" err="1"/>
              <a:t>Miniscript</a:t>
            </a:r>
            <a:r>
              <a:rPr lang="en-US" sz="2800" dirty="0"/>
              <a:t> turns into </a:t>
            </a:r>
            <a:r>
              <a:rPr lang="en-US" sz="2800" b="1" dirty="0"/>
              <a:t>Bitcoin Script</a:t>
            </a:r>
            <a:r>
              <a:rPr lang="en-US" sz="2800" dirty="0"/>
              <a:t> so the blockchain can read it</a:t>
            </a:r>
          </a:p>
          <a:p>
            <a:r>
              <a:rPr lang="en-US" sz="2800" dirty="0"/>
              <a:t>It allows developers to build "Smart Contracts" on Bitcoin without needing a PhD in Opcodes</a:t>
            </a:r>
            <a:endParaRPr lang="en-PK" sz="2800" dirty="0"/>
          </a:p>
        </p:txBody>
      </p:sp>
      <p:sp>
        <p:nvSpPr>
          <p:cNvPr id="4" name="Slide Number Placeholder 3">
            <a:extLst>
              <a:ext uri="{FF2B5EF4-FFF2-40B4-BE49-F238E27FC236}">
                <a16:creationId xmlns:a16="http://schemas.microsoft.com/office/drawing/2014/main" id="{6697EBF3-4CD5-BFEA-0112-50F7E511407F}"/>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8" name="Picture 7">
            <a:extLst>
              <a:ext uri="{FF2B5EF4-FFF2-40B4-BE49-F238E27FC236}">
                <a16:creationId xmlns:a16="http://schemas.microsoft.com/office/drawing/2014/main" id="{62F787C2-D410-B529-54D1-A75FB0614A4A}"/>
              </a:ext>
            </a:extLst>
          </p:cNvPr>
          <p:cNvPicPr>
            <a:picLocks noChangeAspect="1"/>
          </p:cNvPicPr>
          <p:nvPr/>
        </p:nvPicPr>
        <p:blipFill>
          <a:blip r:embed="rId2"/>
          <a:stretch>
            <a:fillRect/>
          </a:stretch>
        </p:blipFill>
        <p:spPr>
          <a:xfrm>
            <a:off x="2270430" y="3362446"/>
            <a:ext cx="7620660" cy="3097036"/>
          </a:xfrm>
          <a:prstGeom prst="rect">
            <a:avLst/>
          </a:prstGeom>
        </p:spPr>
      </p:pic>
    </p:spTree>
    <p:extLst>
      <p:ext uri="{BB962C8B-B14F-4D97-AF65-F5344CB8AC3E}">
        <p14:creationId xmlns:p14="http://schemas.microsoft.com/office/powerpoint/2010/main" val="378565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0F5FE-63FF-5D07-F781-6811618D1B6D}"/>
              </a:ext>
            </a:extLst>
          </p:cNvPr>
          <p:cNvSpPr>
            <a:spLocks noGrp="1"/>
          </p:cNvSpPr>
          <p:nvPr>
            <p:ph type="title"/>
          </p:nvPr>
        </p:nvSpPr>
        <p:spPr/>
        <p:txBody>
          <a:bodyPr/>
          <a:lstStyle/>
          <a:p>
            <a:r>
              <a:rPr lang="en-US" dirty="0"/>
              <a:t>Comparison</a:t>
            </a:r>
            <a:endParaRPr lang="en-PK" dirty="0"/>
          </a:p>
        </p:txBody>
      </p:sp>
      <p:sp>
        <p:nvSpPr>
          <p:cNvPr id="3" name="Content Placeholder 2">
            <a:extLst>
              <a:ext uri="{FF2B5EF4-FFF2-40B4-BE49-F238E27FC236}">
                <a16:creationId xmlns:a16="http://schemas.microsoft.com/office/drawing/2014/main" id="{1E4AD944-8E37-B542-A247-A9F1B12B8DB2}"/>
              </a:ext>
            </a:extLst>
          </p:cNvPr>
          <p:cNvSpPr>
            <a:spLocks noGrp="1"/>
          </p:cNvSpPr>
          <p:nvPr>
            <p:ph idx="1"/>
          </p:nvPr>
        </p:nvSpPr>
        <p:spPr/>
        <p:txBody>
          <a:bodyPr numCol="2"/>
          <a:lstStyle/>
          <a:p>
            <a:pPr marL="0" indent="0">
              <a:buNone/>
            </a:pPr>
            <a:r>
              <a:rPr lang="en-US" b="1" dirty="0"/>
              <a:t>RAW Bitcoin Script</a:t>
            </a:r>
          </a:p>
          <a:p>
            <a:r>
              <a:rPr lang="en-US" dirty="0"/>
              <a:t>Hard to read</a:t>
            </a:r>
          </a:p>
          <a:p>
            <a:r>
              <a:rPr lang="en-US" dirty="0"/>
              <a:t>Easy to mess up</a:t>
            </a:r>
          </a:p>
          <a:p>
            <a:r>
              <a:rPr lang="en-US" dirty="0"/>
              <a:t>Not intuitive</a:t>
            </a:r>
          </a:p>
          <a:p>
            <a:r>
              <a:rPr lang="en-US" dirty="0"/>
              <a:t>Hard to verify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err="1"/>
              <a:t>Miniscript</a:t>
            </a:r>
            <a:endParaRPr lang="en-US" b="1" dirty="0"/>
          </a:p>
          <a:p>
            <a:r>
              <a:rPr lang="en-US" dirty="0"/>
              <a:t>Structured</a:t>
            </a:r>
          </a:p>
          <a:p>
            <a:r>
              <a:rPr lang="en-US" dirty="0"/>
              <a:t>Readable</a:t>
            </a:r>
          </a:p>
          <a:p>
            <a:r>
              <a:rPr lang="en-US" dirty="0"/>
              <a:t>Matches the policy</a:t>
            </a:r>
          </a:p>
          <a:p>
            <a:r>
              <a:rPr lang="en-US" dirty="0"/>
              <a:t>Easier to reason about</a:t>
            </a:r>
            <a:endParaRPr lang="en-PK" dirty="0"/>
          </a:p>
        </p:txBody>
      </p:sp>
      <p:sp>
        <p:nvSpPr>
          <p:cNvPr id="4" name="Slide Number Placeholder 3">
            <a:extLst>
              <a:ext uri="{FF2B5EF4-FFF2-40B4-BE49-F238E27FC236}">
                <a16:creationId xmlns:a16="http://schemas.microsoft.com/office/drawing/2014/main" id="{5569EA84-71EB-7F4D-E8F2-2B3D4B381A97}"/>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4015221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AA5AD-7505-C0C2-58CF-5B9FF785D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22B78-98A9-06E5-A67E-49F57A1365E8}"/>
              </a:ext>
            </a:extLst>
          </p:cNvPr>
          <p:cNvSpPr>
            <a:spLocks noGrp="1"/>
          </p:cNvSpPr>
          <p:nvPr>
            <p:ph type="title"/>
          </p:nvPr>
        </p:nvSpPr>
        <p:spPr/>
        <p:txBody>
          <a:bodyPr/>
          <a:lstStyle/>
          <a:p>
            <a:r>
              <a:rPr lang="en-US" dirty="0"/>
              <a:t>Bitcoin Transactions – UTXO Model</a:t>
            </a:r>
          </a:p>
        </p:txBody>
      </p:sp>
      <p:sp>
        <p:nvSpPr>
          <p:cNvPr id="4" name="Slide Number Placeholder 3">
            <a:extLst>
              <a:ext uri="{FF2B5EF4-FFF2-40B4-BE49-F238E27FC236}">
                <a16:creationId xmlns:a16="http://schemas.microsoft.com/office/drawing/2014/main" id="{DB793294-0FD3-7A98-86B9-2977987A3299}"/>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12</a:t>
            </a:fld>
            <a:endParaRPr lang="en-US" dirty="0">
              <a:latin typeface="Candara" panose="020E0502030303020204" pitchFamily="34" charset="0"/>
            </a:endParaRPr>
          </a:p>
        </p:txBody>
      </p:sp>
      <p:sp>
        <p:nvSpPr>
          <p:cNvPr id="8" name="TextBox 7">
            <a:extLst>
              <a:ext uri="{FF2B5EF4-FFF2-40B4-BE49-F238E27FC236}">
                <a16:creationId xmlns:a16="http://schemas.microsoft.com/office/drawing/2014/main" id="{06E1EC39-6030-A594-532E-0FB4B6B665FC}"/>
              </a:ext>
            </a:extLst>
          </p:cNvPr>
          <p:cNvSpPr txBox="1"/>
          <p:nvPr/>
        </p:nvSpPr>
        <p:spPr>
          <a:xfrm>
            <a:off x="880533" y="979119"/>
            <a:ext cx="10588978" cy="677108"/>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rgbClr val="7030A0"/>
                </a:solidFill>
                <a:latin typeface="Candara" panose="020E0502030303020204" pitchFamily="34" charset="0"/>
              </a:rPr>
              <a:t>Bitcoin transactions are created using unspent transaction output (UTXO model)</a:t>
            </a:r>
          </a:p>
          <a:p>
            <a:pPr marL="742950" lvl="1" indent="-285750">
              <a:buFont typeface="Arial" panose="020B0604020202020204" pitchFamily="34" charset="0"/>
              <a:buChar char="•"/>
            </a:pPr>
            <a:r>
              <a:rPr lang="en-US" dirty="0">
                <a:solidFill>
                  <a:srgbClr val="7030A0"/>
                </a:solidFill>
                <a:latin typeface="Candara" panose="020E0502030303020204" pitchFamily="34" charset="0"/>
              </a:rPr>
              <a:t>A UTXO has well-defined inputs (one or more) and outputs (one or more)</a:t>
            </a:r>
          </a:p>
        </p:txBody>
      </p:sp>
      <p:sp>
        <p:nvSpPr>
          <p:cNvPr id="9" name="TextBox 8">
            <a:extLst>
              <a:ext uri="{FF2B5EF4-FFF2-40B4-BE49-F238E27FC236}">
                <a16:creationId xmlns:a16="http://schemas.microsoft.com/office/drawing/2014/main" id="{123DEA9F-B986-B4F3-341A-F1FD9A5EB336}"/>
              </a:ext>
            </a:extLst>
          </p:cNvPr>
          <p:cNvSpPr txBox="1"/>
          <p:nvPr/>
        </p:nvSpPr>
        <p:spPr>
          <a:xfrm>
            <a:off x="487680" y="3801447"/>
            <a:ext cx="11327331" cy="2308324"/>
          </a:xfrm>
          <a:prstGeom prst="rect">
            <a:avLst/>
          </a:prstGeom>
          <a:noFill/>
        </p:spPr>
        <p:txBody>
          <a:bodyPr wrap="square" rtlCol="0">
            <a:spAutoFit/>
          </a:bodyPr>
          <a:lstStyle/>
          <a:p>
            <a:r>
              <a:rPr lang="en-US" dirty="0">
                <a:latin typeface="Candara" panose="020E0502030303020204" pitchFamily="34" charset="0"/>
              </a:rPr>
              <a:t>Rules for creating inputs and outputs</a:t>
            </a:r>
          </a:p>
          <a:p>
            <a:pPr marL="342900" indent="-342900">
              <a:buFont typeface="Arial" panose="020B0604020202020204" pitchFamily="34" charset="0"/>
              <a:buChar char="•"/>
            </a:pPr>
            <a:r>
              <a:rPr lang="en-US" dirty="0">
                <a:latin typeface="Candara" panose="020E0502030303020204" pitchFamily="34" charset="0"/>
              </a:rPr>
              <a:t>Each output should mention a value and a ‘</a:t>
            </a:r>
            <a:r>
              <a:rPr lang="en-US" dirty="0" err="1">
                <a:latin typeface="Candara" panose="020E0502030303020204" pitchFamily="34" charset="0"/>
              </a:rPr>
              <a:t>scriptPubKey</a:t>
            </a:r>
            <a:r>
              <a:rPr lang="en-US" dirty="0">
                <a:latin typeface="Candara" panose="020E0502030303020204" pitchFamily="34" charset="0"/>
              </a:rPr>
              <a:t>’  </a:t>
            </a:r>
          </a:p>
          <a:p>
            <a:pPr marL="800089" lvl="1" indent="-342900">
              <a:buFont typeface="Arial" panose="020B0604020202020204" pitchFamily="34" charset="0"/>
              <a:buChar char="•"/>
            </a:pPr>
            <a:r>
              <a:rPr lang="en-US" dirty="0" err="1">
                <a:solidFill>
                  <a:srgbClr val="FF0000"/>
                </a:solidFill>
                <a:latin typeface="Candara" panose="020E0502030303020204" pitchFamily="34" charset="0"/>
              </a:rPr>
              <a:t>scriptPubKey</a:t>
            </a:r>
            <a:r>
              <a:rPr lang="en-US" dirty="0">
                <a:solidFill>
                  <a:srgbClr val="FF0000"/>
                </a:solidFill>
                <a:latin typeface="Candara" panose="020E0502030303020204" pitchFamily="34" charset="0"/>
              </a:rPr>
              <a:t> is the locking script that defines the spending condition for the output</a:t>
            </a:r>
          </a:p>
          <a:p>
            <a:pPr marL="342900" indent="-342900">
              <a:buFont typeface="Arial" panose="020B0604020202020204" pitchFamily="34" charset="0"/>
              <a:buChar char="•"/>
            </a:pPr>
            <a:r>
              <a:rPr lang="en-US" dirty="0">
                <a:latin typeface="Candara" panose="020E0502030303020204" pitchFamily="34" charset="0"/>
              </a:rPr>
              <a:t>Each input must reference exactly one output from a past </a:t>
            </a:r>
            <a:r>
              <a:rPr lang="en-US" dirty="0" err="1">
                <a:latin typeface="Candara" panose="020E0502030303020204" pitchFamily="34" charset="0"/>
              </a:rPr>
              <a:t>txn</a:t>
            </a:r>
            <a:r>
              <a:rPr lang="en-US" dirty="0">
                <a:latin typeface="Candara" panose="020E0502030303020204" pitchFamily="34" charset="0"/>
              </a:rPr>
              <a:t> (parent </a:t>
            </a:r>
            <a:r>
              <a:rPr lang="en-US" dirty="0" err="1">
                <a:latin typeface="Candara" panose="020E0502030303020204" pitchFamily="34" charset="0"/>
              </a:rPr>
              <a:t>txn</a:t>
            </a:r>
            <a:r>
              <a:rPr lang="en-US" dirty="0">
                <a:latin typeface="Candara" panose="020E0502030303020204" pitchFamily="34" charset="0"/>
              </a:rPr>
              <a:t>)</a:t>
            </a:r>
          </a:p>
          <a:p>
            <a:pPr marL="800089" lvl="1" indent="-342900">
              <a:buFont typeface="Arial" panose="020B0604020202020204" pitchFamily="34" charset="0"/>
              <a:buChar char="•"/>
            </a:pPr>
            <a:r>
              <a:rPr lang="en-US" dirty="0">
                <a:latin typeface="Candara" panose="020E0502030303020204" pitchFamily="34" charset="0"/>
              </a:rPr>
              <a:t>The input contains a ‘</a:t>
            </a:r>
            <a:r>
              <a:rPr lang="en-US" dirty="0" err="1">
                <a:latin typeface="Candara" panose="020E0502030303020204" pitchFamily="34" charset="0"/>
              </a:rPr>
              <a:t>scriptSig</a:t>
            </a:r>
            <a:r>
              <a:rPr lang="en-US" dirty="0">
                <a:latin typeface="Candara" panose="020E0502030303020204" pitchFamily="34" charset="0"/>
              </a:rPr>
              <a:t>’ </a:t>
            </a:r>
          </a:p>
          <a:p>
            <a:pPr marL="800089" lvl="1" indent="-342900">
              <a:buFont typeface="Arial" panose="020B0604020202020204" pitchFamily="34" charset="0"/>
              <a:buChar char="•"/>
            </a:pPr>
            <a:r>
              <a:rPr lang="en-US" dirty="0" err="1">
                <a:solidFill>
                  <a:srgbClr val="7030A0"/>
                </a:solidFill>
                <a:latin typeface="Candara" panose="020E0502030303020204" pitchFamily="34" charset="0"/>
              </a:rPr>
              <a:t>scriptSig</a:t>
            </a:r>
            <a:r>
              <a:rPr lang="en-US" dirty="0">
                <a:solidFill>
                  <a:srgbClr val="7030A0"/>
                </a:solidFill>
                <a:latin typeface="Candara" panose="020E0502030303020204" pitchFamily="34" charset="0"/>
              </a:rPr>
              <a:t> is the unlocking script for the referenced output in legacy transactions</a:t>
            </a:r>
          </a:p>
          <a:p>
            <a:pPr marL="800089" lvl="1" indent="-342900">
              <a:buFont typeface="Arial" panose="020B0604020202020204" pitchFamily="34" charset="0"/>
              <a:buChar char="•"/>
            </a:pPr>
            <a:r>
              <a:rPr lang="en-US" dirty="0" err="1">
                <a:solidFill>
                  <a:srgbClr val="7030A0"/>
                </a:solidFill>
                <a:latin typeface="Candara" panose="020E0502030303020204" pitchFamily="34" charset="0"/>
              </a:rPr>
              <a:t>scriptSig</a:t>
            </a:r>
            <a:r>
              <a:rPr lang="en-US" dirty="0">
                <a:solidFill>
                  <a:srgbClr val="7030A0"/>
                </a:solidFill>
                <a:latin typeface="Candara" panose="020E0502030303020204" pitchFamily="34" charset="0"/>
              </a:rPr>
              <a:t> is empty in </a:t>
            </a:r>
            <a:r>
              <a:rPr lang="en-US" dirty="0" err="1">
                <a:solidFill>
                  <a:srgbClr val="7030A0"/>
                </a:solidFill>
                <a:latin typeface="Candara" panose="020E0502030303020204" pitchFamily="34" charset="0"/>
              </a:rPr>
              <a:t>SegWit</a:t>
            </a:r>
            <a:r>
              <a:rPr lang="en-US" dirty="0">
                <a:solidFill>
                  <a:srgbClr val="7030A0"/>
                </a:solidFill>
                <a:latin typeface="Candara" panose="020E0502030303020204" pitchFamily="34" charset="0"/>
              </a:rPr>
              <a:t> transactions (instead witness field contains the unlocking script)</a:t>
            </a:r>
          </a:p>
          <a:p>
            <a:pPr marL="342900" indent="-342900">
              <a:buFont typeface="Arial" panose="020B0604020202020204" pitchFamily="34" charset="0"/>
              <a:buChar char="•"/>
            </a:pPr>
            <a:r>
              <a:rPr lang="en-US" dirty="0">
                <a:latin typeface="Candara" panose="020E0502030303020204" pitchFamily="34" charset="0"/>
              </a:rPr>
              <a:t>The sum of input values should be greater than or equal to the sum of output values </a:t>
            </a:r>
          </a:p>
        </p:txBody>
      </p:sp>
      <p:sp>
        <p:nvSpPr>
          <p:cNvPr id="10" name="Rectangle 9">
            <a:extLst>
              <a:ext uri="{FF2B5EF4-FFF2-40B4-BE49-F238E27FC236}">
                <a16:creationId xmlns:a16="http://schemas.microsoft.com/office/drawing/2014/main" id="{D14FB58D-4A14-67CF-8FBD-45C487EDFF1E}"/>
              </a:ext>
            </a:extLst>
          </p:cNvPr>
          <p:cNvSpPr/>
          <p:nvPr/>
        </p:nvSpPr>
        <p:spPr>
          <a:xfrm>
            <a:off x="2226945" y="6109771"/>
            <a:ext cx="7707630" cy="37334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Candara" panose="020E0502030303020204" pitchFamily="34" charset="0"/>
              </a:rPr>
              <a:t>With these rules, Bitcoin does not require user accounts</a:t>
            </a:r>
          </a:p>
        </p:txBody>
      </p:sp>
      <p:grpSp>
        <p:nvGrpSpPr>
          <p:cNvPr id="11" name="Group 10">
            <a:extLst>
              <a:ext uri="{FF2B5EF4-FFF2-40B4-BE49-F238E27FC236}">
                <a16:creationId xmlns:a16="http://schemas.microsoft.com/office/drawing/2014/main" id="{A3D253B0-F7DF-937C-E231-BA605C3F2E6E}"/>
              </a:ext>
            </a:extLst>
          </p:cNvPr>
          <p:cNvGrpSpPr/>
          <p:nvPr/>
        </p:nvGrpSpPr>
        <p:grpSpPr>
          <a:xfrm>
            <a:off x="2720531" y="1701383"/>
            <a:ext cx="6739649" cy="2042826"/>
            <a:chOff x="3558556" y="1656227"/>
            <a:chExt cx="5063598" cy="2042826"/>
          </a:xfrm>
        </p:grpSpPr>
        <p:grpSp>
          <p:nvGrpSpPr>
            <p:cNvPr id="5" name="Group 4">
              <a:extLst>
                <a:ext uri="{FF2B5EF4-FFF2-40B4-BE49-F238E27FC236}">
                  <a16:creationId xmlns:a16="http://schemas.microsoft.com/office/drawing/2014/main" id="{3F229F09-0AA9-6207-937A-D01C9BF095F6}"/>
                </a:ext>
              </a:extLst>
            </p:cNvPr>
            <p:cNvGrpSpPr/>
            <p:nvPr/>
          </p:nvGrpSpPr>
          <p:grpSpPr>
            <a:xfrm>
              <a:off x="3562587" y="2018292"/>
              <a:ext cx="5053891" cy="1680761"/>
              <a:chOff x="2403309" y="1483982"/>
              <a:chExt cx="2478102" cy="1417320"/>
            </a:xfrm>
          </p:grpSpPr>
          <p:sp>
            <p:nvSpPr>
              <p:cNvPr id="6" name="Rectangle 5">
                <a:extLst>
                  <a:ext uri="{FF2B5EF4-FFF2-40B4-BE49-F238E27FC236}">
                    <a16:creationId xmlns:a16="http://schemas.microsoft.com/office/drawing/2014/main" id="{54CBEB82-2BDE-5C9F-1575-2F6C33711D67}"/>
                  </a:ext>
                </a:extLst>
              </p:cNvPr>
              <p:cNvSpPr/>
              <p:nvPr/>
            </p:nvSpPr>
            <p:spPr>
              <a:xfrm>
                <a:off x="2403309" y="1483982"/>
                <a:ext cx="1239051" cy="141732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andara" panose="020E0502030303020204" pitchFamily="34" charset="0"/>
                  </a:rPr>
                  <a:t>Input(s)</a:t>
                </a:r>
              </a:p>
            </p:txBody>
          </p:sp>
          <p:sp>
            <p:nvSpPr>
              <p:cNvPr id="7" name="Rectangle 6">
                <a:extLst>
                  <a:ext uri="{FF2B5EF4-FFF2-40B4-BE49-F238E27FC236}">
                    <a16:creationId xmlns:a16="http://schemas.microsoft.com/office/drawing/2014/main" id="{6C2C073D-C061-C896-195F-F7F5D140AACA}"/>
                  </a:ext>
                </a:extLst>
              </p:cNvPr>
              <p:cNvSpPr/>
              <p:nvPr/>
            </p:nvSpPr>
            <p:spPr>
              <a:xfrm>
                <a:off x="3642360" y="1483982"/>
                <a:ext cx="1239051" cy="1417320"/>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andara" panose="020E0502030303020204" pitchFamily="34" charset="0"/>
                  </a:rPr>
                  <a:t>Output(s)</a:t>
                </a:r>
              </a:p>
            </p:txBody>
          </p:sp>
        </p:grpSp>
        <p:sp>
          <p:nvSpPr>
            <p:cNvPr id="3" name="Rectangle 2">
              <a:extLst>
                <a:ext uri="{FF2B5EF4-FFF2-40B4-BE49-F238E27FC236}">
                  <a16:creationId xmlns:a16="http://schemas.microsoft.com/office/drawing/2014/main" id="{64FFB559-C4AC-1779-7C4F-0BC2ABA03BB7}"/>
                </a:ext>
              </a:extLst>
            </p:cNvPr>
            <p:cNvSpPr/>
            <p:nvPr/>
          </p:nvSpPr>
          <p:spPr>
            <a:xfrm>
              <a:off x="3558556" y="1656227"/>
              <a:ext cx="5063598" cy="3306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Tree>
    <p:extLst>
      <p:ext uri="{BB962C8B-B14F-4D97-AF65-F5344CB8AC3E}">
        <p14:creationId xmlns:p14="http://schemas.microsoft.com/office/powerpoint/2010/main" val="296384745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3D0C6-710C-5B53-EFB0-02EF13BE1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6CB7F7-6CF4-91FC-23AD-65F062736B2C}"/>
              </a:ext>
            </a:extLst>
          </p:cNvPr>
          <p:cNvSpPr>
            <a:spLocks noGrp="1"/>
          </p:cNvSpPr>
          <p:nvPr>
            <p:ph type="title"/>
          </p:nvPr>
        </p:nvSpPr>
        <p:spPr/>
        <p:txBody>
          <a:bodyPr/>
          <a:lstStyle/>
          <a:p>
            <a:r>
              <a:rPr lang="en-US" dirty="0"/>
              <a:t>Spending an Output</a:t>
            </a:r>
          </a:p>
        </p:txBody>
      </p:sp>
      <p:grpSp>
        <p:nvGrpSpPr>
          <p:cNvPr id="8" name="Group 7">
            <a:extLst>
              <a:ext uri="{FF2B5EF4-FFF2-40B4-BE49-F238E27FC236}">
                <a16:creationId xmlns:a16="http://schemas.microsoft.com/office/drawing/2014/main" id="{12330401-1C08-8DB0-FB6D-587B3A79DBF0}"/>
              </a:ext>
            </a:extLst>
          </p:cNvPr>
          <p:cNvGrpSpPr/>
          <p:nvPr/>
        </p:nvGrpSpPr>
        <p:grpSpPr>
          <a:xfrm>
            <a:off x="923628" y="1997879"/>
            <a:ext cx="4114800" cy="2286000"/>
            <a:chOff x="1367414" y="1577194"/>
            <a:chExt cx="4016587" cy="2253771"/>
          </a:xfrm>
        </p:grpSpPr>
        <p:grpSp>
          <p:nvGrpSpPr>
            <p:cNvPr id="6" name="Group 5">
              <a:extLst>
                <a:ext uri="{FF2B5EF4-FFF2-40B4-BE49-F238E27FC236}">
                  <a16:creationId xmlns:a16="http://schemas.microsoft.com/office/drawing/2014/main" id="{AF7724A5-98BD-4E51-E0EA-4393885B6258}"/>
                </a:ext>
              </a:extLst>
            </p:cNvPr>
            <p:cNvGrpSpPr/>
            <p:nvPr/>
          </p:nvGrpSpPr>
          <p:grpSpPr>
            <a:xfrm>
              <a:off x="1367414" y="1577194"/>
              <a:ext cx="4016587" cy="2253771"/>
              <a:chOff x="1000407" y="1956805"/>
              <a:chExt cx="2738528" cy="2171305"/>
            </a:xfrm>
          </p:grpSpPr>
          <p:grpSp>
            <p:nvGrpSpPr>
              <p:cNvPr id="37" name="Group 36">
                <a:extLst>
                  <a:ext uri="{FF2B5EF4-FFF2-40B4-BE49-F238E27FC236}">
                    <a16:creationId xmlns:a16="http://schemas.microsoft.com/office/drawing/2014/main" id="{CC04E5C4-253B-2E59-4B9C-694C772FA9A7}"/>
                  </a:ext>
                </a:extLst>
              </p:cNvPr>
              <p:cNvGrpSpPr/>
              <p:nvPr/>
            </p:nvGrpSpPr>
            <p:grpSpPr>
              <a:xfrm>
                <a:off x="1008622" y="1956805"/>
                <a:ext cx="2730313" cy="2171305"/>
                <a:chOff x="1354770" y="1961268"/>
                <a:chExt cx="3404173" cy="3995634"/>
              </a:xfrm>
            </p:grpSpPr>
            <p:grpSp>
              <p:nvGrpSpPr>
                <p:cNvPr id="42" name="Group 41">
                  <a:extLst>
                    <a:ext uri="{FF2B5EF4-FFF2-40B4-BE49-F238E27FC236}">
                      <a16:creationId xmlns:a16="http://schemas.microsoft.com/office/drawing/2014/main" id="{6ED00B92-1F49-237F-3E0F-8F0CF60C3444}"/>
                    </a:ext>
                  </a:extLst>
                </p:cNvPr>
                <p:cNvGrpSpPr/>
                <p:nvPr/>
              </p:nvGrpSpPr>
              <p:grpSpPr>
                <a:xfrm>
                  <a:off x="1354770" y="1961268"/>
                  <a:ext cx="3404173" cy="3422660"/>
                  <a:chOff x="4950716" y="2014748"/>
                  <a:chExt cx="3404173" cy="3422661"/>
                </a:xfrm>
              </p:grpSpPr>
              <p:sp>
                <p:nvSpPr>
                  <p:cNvPr id="44" name="Rectangle 43">
                    <a:extLst>
                      <a:ext uri="{FF2B5EF4-FFF2-40B4-BE49-F238E27FC236}">
                        <a16:creationId xmlns:a16="http://schemas.microsoft.com/office/drawing/2014/main" id="{F54C0841-F565-9D88-F836-26320BA6B940}"/>
                      </a:ext>
                    </a:extLst>
                  </p:cNvPr>
                  <p:cNvSpPr/>
                  <p:nvPr/>
                </p:nvSpPr>
                <p:spPr>
                  <a:xfrm>
                    <a:off x="4956667" y="2730954"/>
                    <a:ext cx="3398222"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5" name="Rectangle 44">
                    <a:extLst>
                      <a:ext uri="{FF2B5EF4-FFF2-40B4-BE49-F238E27FC236}">
                        <a16:creationId xmlns:a16="http://schemas.microsoft.com/office/drawing/2014/main" id="{9929F921-2C67-4435-8D91-CDB6797297B6}"/>
                      </a:ext>
                    </a:extLst>
                  </p:cNvPr>
                  <p:cNvSpPr/>
                  <p:nvPr/>
                </p:nvSpPr>
                <p:spPr>
                  <a:xfrm>
                    <a:off x="6694714" y="2730954"/>
                    <a:ext cx="1660175"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6" name="TextBox 45">
                    <a:extLst>
                      <a:ext uri="{FF2B5EF4-FFF2-40B4-BE49-F238E27FC236}">
                        <a16:creationId xmlns:a16="http://schemas.microsoft.com/office/drawing/2014/main" id="{33117782-0FB2-A6D4-1ED0-8EBACFEC7DAC}"/>
                      </a:ext>
                    </a:extLst>
                  </p:cNvPr>
                  <p:cNvSpPr txBox="1"/>
                  <p:nvPr/>
                </p:nvSpPr>
                <p:spPr>
                  <a:xfrm>
                    <a:off x="4950716" y="2014748"/>
                    <a:ext cx="3394918" cy="654776"/>
                  </a:xfrm>
                  <a:prstGeom prst="rect">
                    <a:avLst/>
                  </a:prstGeom>
                  <a:noFill/>
                </p:spPr>
                <p:txBody>
                  <a:bodyPr wrap="square" rtlCol="0">
                    <a:spAutoFit/>
                  </a:bodyPr>
                  <a:lstStyle/>
                  <a:p>
                    <a:pPr algn="ctr"/>
                    <a:r>
                      <a:rPr lang="en-US" sz="1800" dirty="0">
                        <a:latin typeface="Candara" panose="020E0502030303020204" pitchFamily="34" charset="0"/>
                      </a:rPr>
                      <a:t>Parent transaction</a:t>
                    </a:r>
                  </a:p>
                </p:txBody>
              </p:sp>
            </p:grpSp>
            <p:sp>
              <p:nvSpPr>
                <p:cNvPr id="41" name="Rectangle 40">
                  <a:extLst>
                    <a:ext uri="{FF2B5EF4-FFF2-40B4-BE49-F238E27FC236}">
                      <a16:creationId xmlns:a16="http://schemas.microsoft.com/office/drawing/2014/main" id="{9E5CB226-33B4-CD0F-7087-4E5B1B1AF608}"/>
                    </a:ext>
                  </a:extLst>
                </p:cNvPr>
                <p:cNvSpPr/>
                <p:nvPr/>
              </p:nvSpPr>
              <p:spPr>
                <a:xfrm>
                  <a:off x="1360718" y="5377913"/>
                  <a:ext cx="3393437" cy="57898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A1234A</a:t>
                  </a:r>
                </a:p>
              </p:txBody>
            </p:sp>
          </p:grpSp>
          <p:cxnSp>
            <p:nvCxnSpPr>
              <p:cNvPr id="38" name="Straight Connector 37">
                <a:extLst>
                  <a:ext uri="{FF2B5EF4-FFF2-40B4-BE49-F238E27FC236}">
                    <a16:creationId xmlns:a16="http://schemas.microsoft.com/office/drawing/2014/main" id="{A3F39980-9C80-B8C6-1E8C-EEC678D91E67}"/>
                  </a:ext>
                </a:extLst>
              </p:cNvPr>
              <p:cNvCxnSpPr>
                <a:cxnSpLocks/>
              </p:cNvCxnSpPr>
              <p:nvPr/>
            </p:nvCxnSpPr>
            <p:spPr>
              <a:xfrm>
                <a:off x="1008623" y="2794536"/>
                <a:ext cx="13987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2B3B41A-E99F-F2FA-6E80-1C4DA85C6261}"/>
                  </a:ext>
                </a:extLst>
              </p:cNvPr>
              <p:cNvCxnSpPr/>
              <p:nvPr/>
            </p:nvCxnSpPr>
            <p:spPr>
              <a:xfrm flipV="1">
                <a:off x="1000407" y="3359895"/>
                <a:ext cx="1418149" cy="97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4" name="TextBox 83">
              <a:extLst>
                <a:ext uri="{FF2B5EF4-FFF2-40B4-BE49-F238E27FC236}">
                  <a16:creationId xmlns:a16="http://schemas.microsoft.com/office/drawing/2014/main" id="{95F19CCF-BD1B-B7B5-17A1-36CD6ABDE63A}"/>
                </a:ext>
              </a:extLst>
            </p:cNvPr>
            <p:cNvSpPr txBox="1"/>
            <p:nvPr/>
          </p:nvSpPr>
          <p:spPr>
            <a:xfrm>
              <a:off x="3700938" y="2457132"/>
              <a:ext cx="1441493" cy="584775"/>
            </a:xfrm>
            <a:prstGeom prst="rect">
              <a:avLst/>
            </a:prstGeom>
            <a:noFill/>
          </p:spPr>
          <p:txBody>
            <a:bodyPr wrap="square" rtlCol="0">
              <a:spAutoFit/>
            </a:bodyPr>
            <a:lstStyle/>
            <a:p>
              <a:pPr algn="ctr"/>
              <a:r>
                <a:rPr lang="en-US" sz="1600" dirty="0">
                  <a:latin typeface="Candara" panose="020E0502030303020204" pitchFamily="34" charset="0"/>
                </a:rPr>
                <a:t>Value</a:t>
              </a:r>
            </a:p>
            <a:p>
              <a:pPr algn="ctr"/>
              <a:r>
                <a:rPr lang="en-US" sz="1600" b="1" dirty="0" err="1">
                  <a:latin typeface="Candara" panose="020E0502030303020204" pitchFamily="34" charset="0"/>
                </a:rPr>
                <a:t>scriptPubKey</a:t>
              </a:r>
              <a:r>
                <a:rPr lang="en-US" sz="1600" b="1" dirty="0">
                  <a:latin typeface="Candara" panose="020E0502030303020204" pitchFamily="34" charset="0"/>
                </a:rPr>
                <a:t> </a:t>
              </a:r>
            </a:p>
          </p:txBody>
        </p:sp>
      </p:grpSp>
      <p:sp>
        <p:nvSpPr>
          <p:cNvPr id="3" name="TextBox 2">
            <a:extLst>
              <a:ext uri="{FF2B5EF4-FFF2-40B4-BE49-F238E27FC236}">
                <a16:creationId xmlns:a16="http://schemas.microsoft.com/office/drawing/2014/main" id="{6F34C620-9B06-5A62-8478-98DC82B69858}"/>
              </a:ext>
            </a:extLst>
          </p:cNvPr>
          <p:cNvSpPr txBox="1"/>
          <p:nvPr/>
        </p:nvSpPr>
        <p:spPr>
          <a:xfrm>
            <a:off x="518160" y="1012495"/>
            <a:ext cx="9431956"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7030A0"/>
                </a:solidFill>
                <a:latin typeface="Candara" panose="020E0502030303020204" pitchFamily="34" charset="0"/>
              </a:rPr>
              <a:t>Parent transaction is also referred to as the funding transaction</a:t>
            </a:r>
          </a:p>
          <a:p>
            <a:pPr marL="342900" indent="-342900">
              <a:buFont typeface="Arial" panose="020B0604020202020204" pitchFamily="34" charset="0"/>
              <a:buChar char="•"/>
            </a:pPr>
            <a:r>
              <a:rPr lang="en-US" sz="2000" dirty="0">
                <a:solidFill>
                  <a:srgbClr val="7030A0"/>
                </a:solidFill>
                <a:latin typeface="Candara" panose="020E0502030303020204" pitchFamily="34" charset="0"/>
              </a:rPr>
              <a:t>Child transaction is also referred to as the spending transaction</a:t>
            </a:r>
          </a:p>
        </p:txBody>
      </p:sp>
      <p:grpSp>
        <p:nvGrpSpPr>
          <p:cNvPr id="7" name="Group 6">
            <a:extLst>
              <a:ext uri="{FF2B5EF4-FFF2-40B4-BE49-F238E27FC236}">
                <a16:creationId xmlns:a16="http://schemas.microsoft.com/office/drawing/2014/main" id="{491F0BBD-87BE-3127-6D52-FC12D43C6179}"/>
              </a:ext>
            </a:extLst>
          </p:cNvPr>
          <p:cNvGrpSpPr/>
          <p:nvPr/>
        </p:nvGrpSpPr>
        <p:grpSpPr>
          <a:xfrm>
            <a:off x="6750671" y="1997880"/>
            <a:ext cx="4114800" cy="2286000"/>
            <a:chOff x="7099586" y="1852852"/>
            <a:chExt cx="4125687" cy="2672445"/>
          </a:xfrm>
        </p:grpSpPr>
        <p:grpSp>
          <p:nvGrpSpPr>
            <p:cNvPr id="57" name="Group 56">
              <a:extLst>
                <a:ext uri="{FF2B5EF4-FFF2-40B4-BE49-F238E27FC236}">
                  <a16:creationId xmlns:a16="http://schemas.microsoft.com/office/drawing/2014/main" id="{5A32A5DC-2B92-96E9-3A41-56ECBA373EE0}"/>
                </a:ext>
              </a:extLst>
            </p:cNvPr>
            <p:cNvGrpSpPr/>
            <p:nvPr/>
          </p:nvGrpSpPr>
          <p:grpSpPr>
            <a:xfrm>
              <a:off x="7110471" y="2257696"/>
              <a:ext cx="4114802" cy="2267601"/>
              <a:chOff x="6080759" y="2972096"/>
              <a:chExt cx="2642072" cy="1782017"/>
            </a:xfrm>
          </p:grpSpPr>
          <p:grpSp>
            <p:nvGrpSpPr>
              <p:cNvPr id="16" name="Group 15">
                <a:extLst>
                  <a:ext uri="{FF2B5EF4-FFF2-40B4-BE49-F238E27FC236}">
                    <a16:creationId xmlns:a16="http://schemas.microsoft.com/office/drawing/2014/main" id="{79294339-5E61-13C3-5E63-20DF5F1AE59B}"/>
                  </a:ext>
                </a:extLst>
              </p:cNvPr>
              <p:cNvGrpSpPr/>
              <p:nvPr/>
            </p:nvGrpSpPr>
            <p:grpSpPr>
              <a:xfrm>
                <a:off x="6080760" y="2972096"/>
                <a:ext cx="2642071" cy="1782017"/>
                <a:chOff x="1360720" y="2677474"/>
                <a:chExt cx="3398223" cy="3293615"/>
              </a:xfrm>
            </p:grpSpPr>
            <p:grpSp>
              <p:nvGrpSpPr>
                <p:cNvPr id="18" name="Group 17">
                  <a:extLst>
                    <a:ext uri="{FF2B5EF4-FFF2-40B4-BE49-F238E27FC236}">
                      <a16:creationId xmlns:a16="http://schemas.microsoft.com/office/drawing/2014/main" id="{F95C6DF2-5F96-4CB2-21CE-E6FAE2C0D95D}"/>
                    </a:ext>
                  </a:extLst>
                </p:cNvPr>
                <p:cNvGrpSpPr/>
                <p:nvPr/>
              </p:nvGrpSpPr>
              <p:grpSpPr>
                <a:xfrm>
                  <a:off x="1360721" y="2677474"/>
                  <a:ext cx="3398222" cy="2706456"/>
                  <a:chOff x="4434144" y="2273747"/>
                  <a:chExt cx="3398222" cy="2706456"/>
                </a:xfrm>
              </p:grpSpPr>
              <p:grpSp>
                <p:nvGrpSpPr>
                  <p:cNvPr id="20" name="Group 19">
                    <a:extLst>
                      <a:ext uri="{FF2B5EF4-FFF2-40B4-BE49-F238E27FC236}">
                        <a16:creationId xmlns:a16="http://schemas.microsoft.com/office/drawing/2014/main" id="{A9CC0E58-10F9-93DD-4B84-61BFE22F0FEC}"/>
                      </a:ext>
                    </a:extLst>
                  </p:cNvPr>
                  <p:cNvGrpSpPr/>
                  <p:nvPr/>
                </p:nvGrpSpPr>
                <p:grpSpPr>
                  <a:xfrm>
                    <a:off x="4434144" y="2273747"/>
                    <a:ext cx="3398222" cy="2706456"/>
                    <a:chOff x="4956667" y="2730954"/>
                    <a:chExt cx="3398222" cy="2706456"/>
                  </a:xfrm>
                </p:grpSpPr>
                <p:sp>
                  <p:nvSpPr>
                    <p:cNvPr id="22" name="Rectangle 21">
                      <a:extLst>
                        <a:ext uri="{FF2B5EF4-FFF2-40B4-BE49-F238E27FC236}">
                          <a16:creationId xmlns:a16="http://schemas.microsoft.com/office/drawing/2014/main" id="{1FA22C15-95DC-BDBF-17CC-0549A8BE4600}"/>
                        </a:ext>
                      </a:extLst>
                    </p:cNvPr>
                    <p:cNvSpPr/>
                    <p:nvPr/>
                  </p:nvSpPr>
                  <p:spPr>
                    <a:xfrm>
                      <a:off x="4956667" y="2730954"/>
                      <a:ext cx="3398219" cy="27064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3" name="Rectangle 22">
                      <a:extLst>
                        <a:ext uri="{FF2B5EF4-FFF2-40B4-BE49-F238E27FC236}">
                          <a16:creationId xmlns:a16="http://schemas.microsoft.com/office/drawing/2014/main" id="{293A26A8-60AC-6CE9-56A7-CC84A8D76222}"/>
                        </a:ext>
                      </a:extLst>
                    </p:cNvPr>
                    <p:cNvSpPr/>
                    <p:nvPr/>
                  </p:nvSpPr>
                  <p:spPr>
                    <a:xfrm>
                      <a:off x="6694714" y="2730954"/>
                      <a:ext cx="1660175"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cxnSp>
                <p:nvCxnSpPr>
                  <p:cNvPr id="21" name="Straight Connector 20">
                    <a:extLst>
                      <a:ext uri="{FF2B5EF4-FFF2-40B4-BE49-F238E27FC236}">
                        <a16:creationId xmlns:a16="http://schemas.microsoft.com/office/drawing/2014/main" id="{F0D0D2DD-237E-E364-1F88-0CB86977B6B2}"/>
                      </a:ext>
                    </a:extLst>
                  </p:cNvPr>
                  <p:cNvCxnSpPr>
                    <a:stCxn id="23" idx="1"/>
                    <a:endCxn id="22" idx="3"/>
                  </p:cNvCxnSpPr>
                  <p:nvPr/>
                </p:nvCxnSpPr>
                <p:spPr>
                  <a:xfrm>
                    <a:off x="6172191" y="3626975"/>
                    <a:ext cx="16601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010CC882-495D-0A30-B689-F67911E7FBD7}"/>
                    </a:ext>
                  </a:extLst>
                </p:cNvPr>
                <p:cNvSpPr/>
                <p:nvPr/>
              </p:nvSpPr>
              <p:spPr>
                <a:xfrm>
                  <a:off x="1360720" y="5377913"/>
                  <a:ext cx="3393436" cy="59317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01C56A</a:t>
                  </a:r>
                </a:p>
              </p:txBody>
            </p:sp>
          </p:grpSp>
          <p:sp>
            <p:nvSpPr>
              <p:cNvPr id="12" name="TextBox 11">
                <a:extLst>
                  <a:ext uri="{FF2B5EF4-FFF2-40B4-BE49-F238E27FC236}">
                    <a16:creationId xmlns:a16="http://schemas.microsoft.com/office/drawing/2014/main" id="{B2CC1ABA-0688-89BA-76C0-E4A657658E48}"/>
                  </a:ext>
                </a:extLst>
              </p:cNvPr>
              <p:cNvSpPr txBox="1"/>
              <p:nvPr/>
            </p:nvSpPr>
            <p:spPr>
              <a:xfrm>
                <a:off x="6080759" y="3356791"/>
                <a:ext cx="1351307" cy="763444"/>
              </a:xfrm>
              <a:prstGeom prst="rect">
                <a:avLst/>
              </a:prstGeom>
              <a:noFill/>
            </p:spPr>
            <p:txBody>
              <a:bodyPr wrap="square" rtlCol="0">
                <a:spAutoFit/>
              </a:bodyPr>
              <a:lstStyle/>
              <a:p>
                <a:pPr algn="ctr"/>
                <a:r>
                  <a:rPr lang="en-US" sz="1600" dirty="0">
                    <a:latin typeface="Candara" panose="020E0502030303020204" pitchFamily="34" charset="0"/>
                  </a:rPr>
                  <a:t>Prev Txid: A1234A</a:t>
                </a:r>
              </a:p>
              <a:p>
                <a:pPr algn="ctr"/>
                <a:r>
                  <a:rPr lang="en-US" sz="1600" dirty="0" err="1">
                    <a:latin typeface="Candara" panose="020E0502030303020204" pitchFamily="34" charset="0"/>
                  </a:rPr>
                  <a:t>Idx</a:t>
                </a:r>
                <a:r>
                  <a:rPr lang="en-US" sz="1600" dirty="0">
                    <a:latin typeface="Candara" panose="020E0502030303020204" pitchFamily="34" charset="0"/>
                  </a:rPr>
                  <a:t>: 0</a:t>
                </a:r>
              </a:p>
              <a:p>
                <a:pPr algn="ctr"/>
                <a:r>
                  <a:rPr lang="en-US" sz="1600" b="1" dirty="0" err="1">
                    <a:latin typeface="Candara" panose="020E0502030303020204" pitchFamily="34" charset="0"/>
                  </a:rPr>
                  <a:t>scriptSig</a:t>
                </a:r>
                <a:r>
                  <a:rPr lang="en-US" sz="1600" dirty="0">
                    <a:latin typeface="Candara" panose="020E0502030303020204" pitchFamily="34" charset="0"/>
                  </a:rPr>
                  <a:t> </a:t>
                </a:r>
              </a:p>
            </p:txBody>
          </p:sp>
        </p:grpSp>
        <p:sp>
          <p:nvSpPr>
            <p:cNvPr id="5" name="TextBox 4">
              <a:extLst>
                <a:ext uri="{FF2B5EF4-FFF2-40B4-BE49-F238E27FC236}">
                  <a16:creationId xmlns:a16="http://schemas.microsoft.com/office/drawing/2014/main" id="{9B394440-9B35-0CD8-3D27-0C2E38A271C8}"/>
                </a:ext>
              </a:extLst>
            </p:cNvPr>
            <p:cNvSpPr txBox="1"/>
            <p:nvPr/>
          </p:nvSpPr>
          <p:spPr>
            <a:xfrm>
              <a:off x="7099586" y="1852852"/>
              <a:ext cx="4109004" cy="431767"/>
            </a:xfrm>
            <a:prstGeom prst="rect">
              <a:avLst/>
            </a:prstGeom>
            <a:noFill/>
          </p:spPr>
          <p:txBody>
            <a:bodyPr wrap="square" rtlCol="0">
              <a:spAutoFit/>
            </a:bodyPr>
            <a:lstStyle/>
            <a:p>
              <a:pPr algn="ctr"/>
              <a:r>
                <a:rPr lang="en-US" sz="1800" dirty="0">
                  <a:latin typeface="Candara" panose="020E0502030303020204" pitchFamily="34" charset="0"/>
                </a:rPr>
                <a:t>Child transaction</a:t>
              </a:r>
            </a:p>
          </p:txBody>
        </p:sp>
      </p:grpSp>
      <p:sp>
        <p:nvSpPr>
          <p:cNvPr id="24" name="TextBox 23">
            <a:extLst>
              <a:ext uri="{FF2B5EF4-FFF2-40B4-BE49-F238E27FC236}">
                <a16:creationId xmlns:a16="http://schemas.microsoft.com/office/drawing/2014/main" id="{AFFA1445-7090-7DFC-7294-7426A463D328}"/>
              </a:ext>
            </a:extLst>
          </p:cNvPr>
          <p:cNvSpPr txBox="1"/>
          <p:nvPr/>
        </p:nvSpPr>
        <p:spPr>
          <a:xfrm>
            <a:off x="487680" y="4617156"/>
            <a:ext cx="11186160"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The value is locked at the </a:t>
            </a:r>
            <a:r>
              <a:rPr lang="en-US" sz="2000" b="1" dirty="0" err="1">
                <a:latin typeface="Candara" panose="020E0502030303020204" pitchFamily="34" charset="0"/>
              </a:rPr>
              <a:t>scriptPubKey</a:t>
            </a:r>
            <a:r>
              <a:rPr lang="en-US" sz="2000" dirty="0">
                <a:latin typeface="Candara" panose="020E0502030303020204" pitchFamily="34" charset="0"/>
              </a:rPr>
              <a:t> field at the output of the parent transaction </a:t>
            </a:r>
          </a:p>
          <a:p>
            <a:pPr marL="285750" indent="-285750">
              <a:buFont typeface="Arial" panose="020B0604020202020204" pitchFamily="34" charset="0"/>
              <a:buChar char="•"/>
            </a:pPr>
            <a:r>
              <a:rPr lang="en-US" sz="2000" dirty="0">
                <a:latin typeface="Candara" panose="020E0502030303020204" pitchFamily="34" charset="0"/>
              </a:rPr>
              <a:t>The input of the child transaction identifies the output of the parent transaction that it wants to spend and provides the required </a:t>
            </a:r>
            <a:r>
              <a:rPr lang="en-US" sz="2000" b="1" dirty="0" err="1">
                <a:latin typeface="Candara" panose="020E0502030303020204" pitchFamily="34" charset="0"/>
              </a:rPr>
              <a:t>scriptSig</a:t>
            </a:r>
            <a:r>
              <a:rPr lang="en-US" sz="2000" dirty="0">
                <a:latin typeface="Candara" panose="020E0502030303020204" pitchFamily="34" charset="0"/>
              </a:rPr>
              <a:t> to unlock the output</a:t>
            </a:r>
          </a:p>
          <a:p>
            <a:pPr marL="285750" indent="-285750">
              <a:buFont typeface="Arial" panose="020B0604020202020204" pitchFamily="34" charset="0"/>
              <a:buChar char="•"/>
            </a:pPr>
            <a:r>
              <a:rPr lang="en-US" sz="2000" dirty="0" err="1">
                <a:latin typeface="Candara" panose="020E0502030303020204" pitchFamily="34" charset="0"/>
              </a:rPr>
              <a:t>scriptSig</a:t>
            </a:r>
            <a:r>
              <a:rPr lang="en-US" sz="2000" dirty="0">
                <a:latin typeface="Candara" panose="020E0502030303020204" pitchFamily="34" charset="0"/>
              </a:rPr>
              <a:t> + </a:t>
            </a:r>
            <a:r>
              <a:rPr lang="en-US" sz="2000" dirty="0" err="1">
                <a:latin typeface="Candara" panose="020E0502030303020204" pitchFamily="34" charset="0"/>
              </a:rPr>
              <a:t>scriptPubKey</a:t>
            </a:r>
            <a:r>
              <a:rPr lang="en-US" sz="2000" dirty="0">
                <a:latin typeface="Candara" panose="020E0502030303020204" pitchFamily="34" charset="0"/>
              </a:rPr>
              <a:t> is executed on the stack and if the result is TRUE, the output is unlocked and completely spent via the new outputs of the child transaction</a:t>
            </a:r>
          </a:p>
        </p:txBody>
      </p:sp>
      <p:cxnSp>
        <p:nvCxnSpPr>
          <p:cNvPr id="27" name="Straight Arrow Connector 26">
            <a:extLst>
              <a:ext uri="{FF2B5EF4-FFF2-40B4-BE49-F238E27FC236}">
                <a16:creationId xmlns:a16="http://schemas.microsoft.com/office/drawing/2014/main" id="{D5CE7109-BB93-0CE8-CF45-1AFDE4B9ED86}"/>
              </a:ext>
            </a:extLst>
          </p:cNvPr>
          <p:cNvCxnSpPr>
            <a:cxnSpLocks/>
            <a:stCxn id="12" idx="1"/>
            <a:endCxn id="45" idx="3"/>
          </p:cNvCxnSpPr>
          <p:nvPr/>
        </p:nvCxnSpPr>
        <p:spPr>
          <a:xfrm flipH="1">
            <a:off x="5038428" y="3178416"/>
            <a:ext cx="1723099" cy="34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Slide Number Placeholder 3">
            <a:extLst>
              <a:ext uri="{FF2B5EF4-FFF2-40B4-BE49-F238E27FC236}">
                <a16:creationId xmlns:a16="http://schemas.microsoft.com/office/drawing/2014/main" id="{1A7DE267-350F-0255-5505-7776E35D7EE2}"/>
              </a:ext>
            </a:extLst>
          </p:cNvPr>
          <p:cNvSpPr txBox="1">
            <a:spLocks/>
          </p:cNvSpPr>
          <p:nvPr/>
        </p:nvSpPr>
        <p:spPr>
          <a:xfrm>
            <a:off x="10620104" y="6578930"/>
            <a:ext cx="1060269" cy="279070"/>
          </a:xfrm>
          <a:prstGeom prst="rect">
            <a:avLst/>
          </a:prstGeom>
        </p:spPr>
        <p:txBody>
          <a:bodyPr vert="horz" lIns="91440" tIns="45720" rIns="91440" bIns="45720" rtlCol="0" anchor="ctr"/>
          <a:lstStyle>
            <a:defPPr>
              <a:defRPr lang="en-US"/>
            </a:defPPr>
            <a:lvl1pPr marL="0" algn="r" defTabSz="914400" rtl="0" eaLnBrk="1" latinLnBrk="0" hangingPunct="1">
              <a:defRPr sz="1400" b="1" i="0" kern="1200"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FE8B7B-3258-47CD-BBC0-34D05FC906E5}" type="slidenum">
              <a:rPr lang="en-US" smtClean="0">
                <a:latin typeface="Candara" panose="020E0502030303020204" pitchFamily="34" charset="0"/>
              </a:rPr>
              <a:pPr/>
              <a:t>13</a:t>
            </a:fld>
            <a:endParaRPr lang="en-US" dirty="0">
              <a:latin typeface="Candara" panose="020E0502030303020204" pitchFamily="34" charset="0"/>
            </a:endParaRPr>
          </a:p>
        </p:txBody>
      </p:sp>
    </p:spTree>
    <p:extLst>
      <p:ext uri="{BB962C8B-B14F-4D97-AF65-F5344CB8AC3E}">
        <p14:creationId xmlns:p14="http://schemas.microsoft.com/office/powerpoint/2010/main" val="142868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B573-FED6-B1D7-2D52-3199A0BE6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CE860-4A4B-1578-EB1F-7DF53B687CC1}"/>
              </a:ext>
            </a:extLst>
          </p:cNvPr>
          <p:cNvSpPr>
            <a:spLocks noGrp="1"/>
          </p:cNvSpPr>
          <p:nvPr>
            <p:ph type="title"/>
          </p:nvPr>
        </p:nvSpPr>
        <p:spPr/>
        <p:txBody>
          <a:bodyPr/>
          <a:lstStyle/>
          <a:p>
            <a:r>
              <a:rPr lang="en-US" dirty="0"/>
              <a:t>Transaction Chaining</a:t>
            </a:r>
          </a:p>
        </p:txBody>
      </p:sp>
      <p:sp>
        <p:nvSpPr>
          <p:cNvPr id="4" name="Slide Number Placeholder 3">
            <a:extLst>
              <a:ext uri="{FF2B5EF4-FFF2-40B4-BE49-F238E27FC236}">
                <a16:creationId xmlns:a16="http://schemas.microsoft.com/office/drawing/2014/main" id="{AC0A6666-15F8-EAB5-C169-2DE7823ECAD7}"/>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14</a:t>
            </a:fld>
            <a:endParaRPr lang="en-US" dirty="0">
              <a:latin typeface="Candara" panose="020E0502030303020204" pitchFamily="34" charset="0"/>
            </a:endParaRPr>
          </a:p>
        </p:txBody>
      </p:sp>
      <p:sp>
        <p:nvSpPr>
          <p:cNvPr id="49" name="Rectangle 48">
            <a:extLst>
              <a:ext uri="{FF2B5EF4-FFF2-40B4-BE49-F238E27FC236}">
                <a16:creationId xmlns:a16="http://schemas.microsoft.com/office/drawing/2014/main" id="{E40F1216-2E02-DEC3-6154-4C8BB581AEA3}"/>
              </a:ext>
            </a:extLst>
          </p:cNvPr>
          <p:cNvSpPr/>
          <p:nvPr/>
        </p:nvSpPr>
        <p:spPr>
          <a:xfrm>
            <a:off x="217311" y="1004435"/>
            <a:ext cx="11858976" cy="707886"/>
          </a:xfrm>
          <a:prstGeom prst="rect">
            <a:avLst/>
          </a:prstGeom>
        </p:spPr>
        <p:txBody>
          <a:bodyPr wrap="square">
            <a:spAutoFit/>
          </a:bodyPr>
          <a:lstStyle/>
          <a:p>
            <a:pPr algn="ctr"/>
            <a:r>
              <a:rPr lang="en-US" sz="2000" dirty="0">
                <a:solidFill>
                  <a:srgbClr val="7030A0"/>
                </a:solidFill>
                <a:latin typeface="Candara" panose="020E0502030303020204" pitchFamily="34" charset="0"/>
              </a:rPr>
              <a:t>Bitcoin transactions also form a chain: each transaction spends output(s) of previous transaction(s) and creates new outputs for future use</a:t>
            </a:r>
          </a:p>
        </p:txBody>
      </p:sp>
      <p:pic>
        <p:nvPicPr>
          <p:cNvPr id="212" name="Picture 211">
            <a:extLst>
              <a:ext uri="{FF2B5EF4-FFF2-40B4-BE49-F238E27FC236}">
                <a16:creationId xmlns:a16="http://schemas.microsoft.com/office/drawing/2014/main" id="{4674F58C-989F-83BD-C0FC-4730FA77E89A}"/>
              </a:ext>
            </a:extLst>
          </p:cNvPr>
          <p:cNvPicPr>
            <a:picLocks noChangeAspect="1"/>
          </p:cNvPicPr>
          <p:nvPr/>
        </p:nvPicPr>
        <p:blipFill>
          <a:blip r:embed="rId2"/>
          <a:stretch>
            <a:fillRect/>
          </a:stretch>
        </p:blipFill>
        <p:spPr>
          <a:xfrm>
            <a:off x="874464" y="1853490"/>
            <a:ext cx="10538719" cy="1725219"/>
          </a:xfrm>
          <a:prstGeom prst="rect">
            <a:avLst/>
          </a:prstGeom>
        </p:spPr>
      </p:pic>
      <p:pic>
        <p:nvPicPr>
          <p:cNvPr id="3" name="Picture 2">
            <a:extLst>
              <a:ext uri="{FF2B5EF4-FFF2-40B4-BE49-F238E27FC236}">
                <a16:creationId xmlns:a16="http://schemas.microsoft.com/office/drawing/2014/main" id="{39E29A2B-CFCA-7FED-E4A1-8F4EFF72629E}"/>
              </a:ext>
            </a:extLst>
          </p:cNvPr>
          <p:cNvPicPr>
            <a:picLocks noChangeAspect="1"/>
          </p:cNvPicPr>
          <p:nvPr/>
        </p:nvPicPr>
        <p:blipFill>
          <a:blip r:embed="rId3"/>
          <a:stretch>
            <a:fillRect/>
          </a:stretch>
        </p:blipFill>
        <p:spPr>
          <a:xfrm>
            <a:off x="3510844" y="3707844"/>
            <a:ext cx="6086554" cy="2813798"/>
          </a:xfrm>
          <a:prstGeom prst="rect">
            <a:avLst/>
          </a:prstGeom>
        </p:spPr>
      </p:pic>
      <p:sp>
        <p:nvSpPr>
          <p:cNvPr id="6" name="TextBox 5">
            <a:extLst>
              <a:ext uri="{FF2B5EF4-FFF2-40B4-BE49-F238E27FC236}">
                <a16:creationId xmlns:a16="http://schemas.microsoft.com/office/drawing/2014/main" id="{39AAE390-07F5-0D5A-F0E1-95895BECC55E}"/>
              </a:ext>
            </a:extLst>
          </p:cNvPr>
          <p:cNvSpPr txBox="1"/>
          <p:nvPr/>
        </p:nvSpPr>
        <p:spPr>
          <a:xfrm>
            <a:off x="6554121" y="5853565"/>
            <a:ext cx="4998484" cy="461665"/>
          </a:xfrm>
          <a:prstGeom prst="rect">
            <a:avLst/>
          </a:prstGeom>
          <a:noFill/>
        </p:spPr>
        <p:txBody>
          <a:bodyPr wrap="none" rtlCol="0">
            <a:spAutoFit/>
          </a:bodyPr>
          <a:lstStyle/>
          <a:p>
            <a:r>
              <a:rPr lang="en-US" sz="2400" dirty="0"/>
              <a:t>A transaction can have multiple inputs</a:t>
            </a:r>
            <a:endParaRPr lang="en-PK" sz="2400" dirty="0"/>
          </a:p>
        </p:txBody>
      </p:sp>
    </p:spTree>
    <p:extLst>
      <p:ext uri="{BB962C8B-B14F-4D97-AF65-F5344CB8AC3E}">
        <p14:creationId xmlns:p14="http://schemas.microsoft.com/office/powerpoint/2010/main" val="250518150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1D1EE-0A72-23A3-5334-78FAFEC22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3FDE7-5D53-C467-5A1F-2E6E6639F8F6}"/>
              </a:ext>
            </a:extLst>
          </p:cNvPr>
          <p:cNvSpPr>
            <a:spLocks noGrp="1"/>
          </p:cNvSpPr>
          <p:nvPr>
            <p:ph type="title"/>
          </p:nvPr>
        </p:nvSpPr>
        <p:spPr/>
        <p:txBody>
          <a:bodyPr/>
          <a:lstStyle/>
          <a:p>
            <a:r>
              <a:rPr lang="en-US" dirty="0"/>
              <a:t>UTXO Database</a:t>
            </a:r>
          </a:p>
        </p:txBody>
      </p:sp>
      <p:sp>
        <p:nvSpPr>
          <p:cNvPr id="4" name="Slide Number Placeholder 3">
            <a:extLst>
              <a:ext uri="{FF2B5EF4-FFF2-40B4-BE49-F238E27FC236}">
                <a16:creationId xmlns:a16="http://schemas.microsoft.com/office/drawing/2014/main" id="{15046504-49F0-A201-8519-7666BD350585}"/>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15</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CBDA83DA-B1B1-9783-7BE7-EFBB48C7C056}"/>
              </a:ext>
            </a:extLst>
          </p:cNvPr>
          <p:cNvSpPr txBox="1"/>
          <p:nvPr/>
        </p:nvSpPr>
        <p:spPr>
          <a:xfrm>
            <a:off x="674149" y="1006784"/>
            <a:ext cx="10476089" cy="1107996"/>
          </a:xfrm>
          <a:prstGeom prst="rect">
            <a:avLst/>
          </a:prstGeom>
          <a:noFill/>
        </p:spPr>
        <p:txBody>
          <a:bodyPr wrap="square" rtlCol="0">
            <a:spAutoFit/>
          </a:bodyPr>
          <a:lstStyle/>
          <a:p>
            <a:pPr marL="285750" indent="-285750">
              <a:buFont typeface="Arial" panose="020B0604020202020204" pitchFamily="34" charset="0"/>
              <a:buChar char="•"/>
            </a:pPr>
            <a:r>
              <a:rPr lang="en-US" sz="2200" dirty="0">
                <a:latin typeface="Candara" panose="020E0502030303020204" pitchFamily="34" charset="0"/>
              </a:rPr>
              <a:t>UTXOs are scattered in the blocks </a:t>
            </a:r>
          </a:p>
          <a:p>
            <a:pPr marL="742950" lvl="1" indent="-285750">
              <a:buFont typeface="Arial" panose="020B0604020202020204" pitchFamily="34" charset="0"/>
              <a:buChar char="•"/>
            </a:pPr>
            <a:r>
              <a:rPr lang="en-US" sz="2200" dirty="0">
                <a:latin typeface="Candara" panose="020E0502030303020204" pitchFamily="34" charset="0"/>
              </a:rPr>
              <a:t>Nodes maintain a UTXO database (called </a:t>
            </a:r>
            <a:r>
              <a:rPr lang="en-US" sz="2200" dirty="0" err="1">
                <a:latin typeface="Candara" panose="020E0502030303020204" pitchFamily="34" charset="0"/>
              </a:rPr>
              <a:t>chainstate.db</a:t>
            </a:r>
            <a:r>
              <a:rPr lang="en-US" sz="2200" dirty="0">
                <a:latin typeface="Candara" panose="020E0502030303020204" pitchFamily="34" charset="0"/>
              </a:rPr>
              <a:t> in Bitcoin core) </a:t>
            </a:r>
          </a:p>
          <a:p>
            <a:pPr marL="742950" lvl="1" indent="-285750">
              <a:buFont typeface="Arial" panose="020B0604020202020204" pitchFamily="34" charset="0"/>
              <a:buChar char="•"/>
            </a:pPr>
            <a:r>
              <a:rPr lang="en-US" sz="2200" dirty="0">
                <a:latin typeface="Candara" panose="020E0502030303020204" pitchFamily="34" charset="0"/>
              </a:rPr>
              <a:t>The purpose of this database is to speed up the transaction validation process</a:t>
            </a:r>
          </a:p>
        </p:txBody>
      </p:sp>
      <p:grpSp>
        <p:nvGrpSpPr>
          <p:cNvPr id="17" name="Group 16">
            <a:extLst>
              <a:ext uri="{FF2B5EF4-FFF2-40B4-BE49-F238E27FC236}">
                <a16:creationId xmlns:a16="http://schemas.microsoft.com/office/drawing/2014/main" id="{45F14262-7D36-DFB5-CF2D-AA35A9F9CC41}"/>
              </a:ext>
            </a:extLst>
          </p:cNvPr>
          <p:cNvGrpSpPr/>
          <p:nvPr/>
        </p:nvGrpSpPr>
        <p:grpSpPr>
          <a:xfrm>
            <a:off x="9213408" y="1992303"/>
            <a:ext cx="2198631" cy="4270397"/>
            <a:chOff x="6251387" y="2131745"/>
            <a:chExt cx="2453367" cy="4453257"/>
          </a:xfrm>
        </p:grpSpPr>
        <p:sp>
          <p:nvSpPr>
            <p:cNvPr id="5" name="Flowchart: Magnetic Disk 4">
              <a:extLst>
                <a:ext uri="{FF2B5EF4-FFF2-40B4-BE49-F238E27FC236}">
                  <a16:creationId xmlns:a16="http://schemas.microsoft.com/office/drawing/2014/main" id="{84A27E29-2B3E-48D9-7E28-5F12D48A5685}"/>
                </a:ext>
              </a:extLst>
            </p:cNvPr>
            <p:cNvSpPr/>
            <p:nvPr/>
          </p:nvSpPr>
          <p:spPr>
            <a:xfrm>
              <a:off x="6251387" y="3568857"/>
              <a:ext cx="2453367" cy="3016145"/>
            </a:xfrm>
            <a:prstGeom prst="flowChartMagneticDisk">
              <a:avLst/>
            </a:prstGeom>
            <a:solidFill>
              <a:schemeClr val="accent6">
                <a:lumMod val="40000"/>
                <a:lumOff val="60000"/>
              </a:schemeClr>
            </a:solidFill>
            <a:ln w="349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060"/>
                  </a:solidFill>
                  <a:latin typeface="Candara" panose="020E0502030303020204" pitchFamily="34" charset="0"/>
                </a:rPr>
                <a:t>UTXO Database</a:t>
              </a:r>
            </a:p>
          </p:txBody>
        </p:sp>
        <p:sp>
          <p:nvSpPr>
            <p:cNvPr id="7" name="Rectangle 6">
              <a:extLst>
                <a:ext uri="{FF2B5EF4-FFF2-40B4-BE49-F238E27FC236}">
                  <a16:creationId xmlns:a16="http://schemas.microsoft.com/office/drawing/2014/main" id="{C56901FD-C23E-5282-E7CF-984815125621}"/>
                </a:ext>
              </a:extLst>
            </p:cNvPr>
            <p:cNvSpPr/>
            <p:nvPr/>
          </p:nvSpPr>
          <p:spPr>
            <a:xfrm>
              <a:off x="6481262" y="2131745"/>
              <a:ext cx="1931358" cy="130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2060"/>
                  </a:solidFill>
                  <a:latin typeface="Candara" panose="020E0502030303020204" pitchFamily="34" charset="0"/>
                </a:rPr>
                <a:t>Transaction outputs that have not been spent at a given time</a:t>
              </a:r>
            </a:p>
          </p:txBody>
        </p:sp>
        <p:cxnSp>
          <p:nvCxnSpPr>
            <p:cNvPr id="11" name="Straight Arrow Connector 10">
              <a:extLst>
                <a:ext uri="{FF2B5EF4-FFF2-40B4-BE49-F238E27FC236}">
                  <a16:creationId xmlns:a16="http://schemas.microsoft.com/office/drawing/2014/main" id="{D298ACEE-B377-B605-82ED-672922F0C7FA}"/>
                </a:ext>
              </a:extLst>
            </p:cNvPr>
            <p:cNvCxnSpPr>
              <a:stCxn id="7" idx="2"/>
            </p:cNvCxnSpPr>
            <p:nvPr/>
          </p:nvCxnSpPr>
          <p:spPr>
            <a:xfrm>
              <a:off x="7446941" y="3438545"/>
              <a:ext cx="0" cy="918389"/>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78D13A2B-B815-02E9-336B-C6CF0BC14F6C}"/>
              </a:ext>
            </a:extLst>
          </p:cNvPr>
          <p:cNvSpPr txBox="1"/>
          <p:nvPr/>
        </p:nvSpPr>
        <p:spPr>
          <a:xfrm>
            <a:off x="674149" y="2773537"/>
            <a:ext cx="7907749" cy="2862322"/>
          </a:xfrm>
          <a:prstGeom prst="rect">
            <a:avLst/>
          </a:prstGeom>
          <a:solidFill>
            <a:schemeClr val="accent6">
              <a:lumMod val="40000"/>
              <a:lumOff val="60000"/>
            </a:schemeClr>
          </a:solidFill>
          <a:ln>
            <a:solidFill>
              <a:schemeClr val="tx1"/>
            </a:solidFill>
          </a:ln>
        </p:spPr>
        <p:txBody>
          <a:bodyPr wrap="square" rtlCol="0">
            <a:spAutoFit/>
          </a:bodyPr>
          <a:lstStyle/>
          <a:p>
            <a:r>
              <a:rPr lang="en-US" sz="2000" dirty="0">
                <a:solidFill>
                  <a:srgbClr val="FF0000"/>
                </a:solidFill>
                <a:latin typeface="Candara" panose="020E0502030303020204" pitchFamily="34" charset="0"/>
              </a:rPr>
              <a:t>Simplified Transaction Validation &amp; Database Update Algorithm</a:t>
            </a:r>
          </a:p>
          <a:p>
            <a:pPr marL="457200" indent="-457200">
              <a:buFont typeface="+mj-lt"/>
              <a:buAutoNum type="arabicPeriod"/>
            </a:pPr>
            <a:r>
              <a:rPr lang="en-US" sz="2000" dirty="0">
                <a:latin typeface="Candara" panose="020E0502030303020204" pitchFamily="34" charset="0"/>
              </a:rPr>
              <a:t>For each input in a new TXN (child </a:t>
            </a:r>
            <a:r>
              <a:rPr lang="en-US" sz="2000" dirty="0" err="1">
                <a:latin typeface="Candara" panose="020E0502030303020204" pitchFamily="34" charset="0"/>
              </a:rPr>
              <a:t>txn</a:t>
            </a:r>
            <a:r>
              <a:rPr lang="en-US" sz="2000" dirty="0">
                <a:latin typeface="Candara" panose="020E0502030303020204" pitchFamily="34" charset="0"/>
              </a:rPr>
              <a:t>): </a:t>
            </a:r>
          </a:p>
          <a:p>
            <a:pPr marL="914389" lvl="1" indent="-457200">
              <a:buFont typeface="+mj-lt"/>
              <a:buAutoNum type="alphaLcPeriod"/>
            </a:pPr>
            <a:r>
              <a:rPr lang="en-US" sz="2000" dirty="0">
                <a:latin typeface="Candara" panose="020E0502030303020204" pitchFamily="34" charset="0"/>
              </a:rPr>
              <a:t>If parent UTXO is not in the DB, return an error </a:t>
            </a:r>
          </a:p>
          <a:p>
            <a:pPr marL="914389" lvl="1" indent="-457200">
              <a:buFont typeface="+mj-lt"/>
              <a:buAutoNum type="alphaLcPeriod"/>
            </a:pPr>
            <a:r>
              <a:rPr lang="en-US" sz="2000" dirty="0">
                <a:latin typeface="Candara" panose="020E0502030303020204" pitchFamily="34" charset="0"/>
              </a:rPr>
              <a:t>If the provided signature on child </a:t>
            </a:r>
            <a:r>
              <a:rPr lang="en-US" sz="2000" dirty="0" err="1">
                <a:latin typeface="Candara" panose="020E0502030303020204" pitchFamily="34" charset="0"/>
              </a:rPr>
              <a:t>txn</a:t>
            </a:r>
            <a:r>
              <a:rPr lang="en-US" sz="2000" dirty="0">
                <a:latin typeface="Candara" panose="020E0502030303020204" pitchFamily="34" charset="0"/>
              </a:rPr>
              <a:t> does not match the owner (</a:t>
            </a:r>
            <a:r>
              <a:rPr lang="en-US" sz="2000" dirty="0" err="1">
                <a:latin typeface="Candara" panose="020E0502030303020204" pitchFamily="34" charset="0"/>
              </a:rPr>
              <a:t>Pubkeyhash</a:t>
            </a:r>
            <a:r>
              <a:rPr lang="en-US" sz="2000" dirty="0">
                <a:latin typeface="Candara" panose="020E0502030303020204" pitchFamily="34" charset="0"/>
              </a:rPr>
              <a:t>) of the parent UTXO, return an error</a:t>
            </a:r>
          </a:p>
          <a:p>
            <a:pPr marL="457200" indent="-457200">
              <a:buFont typeface="+mj-lt"/>
              <a:buAutoNum type="arabicPeriod"/>
            </a:pPr>
            <a:r>
              <a:rPr lang="en-US" sz="2000" dirty="0">
                <a:latin typeface="Candara" panose="020E0502030303020204" pitchFamily="34" charset="0"/>
              </a:rPr>
              <a:t>If the total value of all the referenced parent UTXOs is less than the total value of all the outputs of child </a:t>
            </a:r>
            <a:r>
              <a:rPr lang="en-US" sz="2000" dirty="0" err="1">
                <a:latin typeface="Candara" panose="020E0502030303020204" pitchFamily="34" charset="0"/>
              </a:rPr>
              <a:t>txn</a:t>
            </a:r>
            <a:r>
              <a:rPr lang="en-US" sz="2000" dirty="0">
                <a:latin typeface="Candara" panose="020E0502030303020204" pitchFamily="34" charset="0"/>
              </a:rPr>
              <a:t>, return an error</a:t>
            </a:r>
          </a:p>
          <a:p>
            <a:pPr marL="457200" indent="-457200">
              <a:buFont typeface="+mj-lt"/>
              <a:buAutoNum type="arabicPeriod"/>
            </a:pPr>
            <a:r>
              <a:rPr lang="en-US" sz="2000" dirty="0">
                <a:latin typeface="Candara" panose="020E0502030303020204" pitchFamily="34" charset="0"/>
              </a:rPr>
              <a:t>If successful, remove all parent UTXOs and add all child UTXOs to the database</a:t>
            </a:r>
          </a:p>
        </p:txBody>
      </p:sp>
    </p:spTree>
    <p:extLst>
      <p:ext uri="{BB962C8B-B14F-4D97-AF65-F5344CB8AC3E}">
        <p14:creationId xmlns:p14="http://schemas.microsoft.com/office/powerpoint/2010/main" val="209509117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D9C60-B3D9-A244-3434-8F4AC1E8D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029A7-D950-81AB-0D35-D9E54F50EE1B}"/>
              </a:ext>
            </a:extLst>
          </p:cNvPr>
          <p:cNvSpPr>
            <a:spLocks noGrp="1"/>
          </p:cNvSpPr>
          <p:nvPr>
            <p:ph type="title"/>
          </p:nvPr>
        </p:nvSpPr>
        <p:spPr/>
        <p:txBody>
          <a:bodyPr/>
          <a:lstStyle/>
          <a:p>
            <a:r>
              <a:rPr lang="en-PK" dirty="0">
                <a:latin typeface="+mn-lt"/>
              </a:rPr>
              <a:t>Lecture </a:t>
            </a:r>
            <a:r>
              <a:rPr lang="en-US" dirty="0">
                <a:latin typeface="+mn-lt"/>
              </a:rPr>
              <a:t>14</a:t>
            </a:r>
            <a:br>
              <a:rPr lang="en-PK" dirty="0">
                <a:latin typeface="+mn-lt"/>
              </a:rPr>
            </a:br>
            <a:r>
              <a:rPr lang="en-US" dirty="0">
                <a:latin typeface="+mn-lt"/>
              </a:rPr>
              <a:t>Thursday</a:t>
            </a:r>
            <a:r>
              <a:rPr lang="en-PK" dirty="0">
                <a:latin typeface="+mn-lt"/>
              </a:rPr>
              <a:t>, </a:t>
            </a:r>
            <a:r>
              <a:rPr lang="en-US" dirty="0">
                <a:latin typeface="+mn-lt"/>
              </a:rPr>
              <a:t>Mar</a:t>
            </a:r>
            <a:r>
              <a:rPr lang="en-PK" dirty="0">
                <a:latin typeface="+mn-lt"/>
              </a:rPr>
              <a:t> </a:t>
            </a:r>
            <a:r>
              <a:rPr lang="en-US" dirty="0">
                <a:latin typeface="+mn-lt"/>
              </a:rPr>
              <a:t>5</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AE6D8EAA-91AB-1413-B630-57ADE002DCDE}"/>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1588688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UTXO Model</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17</a:t>
            </a:fld>
            <a:endParaRPr lang="en-US" dirty="0">
              <a:latin typeface="Candara" panose="020E0502030303020204" pitchFamily="34" charset="0"/>
            </a:endParaRPr>
          </a:p>
        </p:txBody>
      </p:sp>
      <p:sp>
        <p:nvSpPr>
          <p:cNvPr id="19" name="TextBox 18"/>
          <p:cNvSpPr txBox="1"/>
          <p:nvPr/>
        </p:nvSpPr>
        <p:spPr>
          <a:xfrm>
            <a:off x="658115" y="1008469"/>
            <a:ext cx="10806849" cy="707886"/>
          </a:xfrm>
          <a:prstGeom prst="rect">
            <a:avLst/>
          </a:prstGeom>
          <a:noFill/>
        </p:spPr>
        <p:txBody>
          <a:bodyPr wrap="square" rtlCol="0">
            <a:spAutoFit/>
          </a:bodyPr>
          <a:lstStyle/>
          <a:p>
            <a:pPr algn="ctr"/>
            <a:r>
              <a:rPr lang="en-US" sz="2000" dirty="0">
                <a:solidFill>
                  <a:srgbClr val="002060"/>
                </a:solidFill>
                <a:latin typeface="Candara" panose="020E0502030303020204" pitchFamily="34" charset="0"/>
              </a:rPr>
              <a:t>Which child </a:t>
            </a:r>
            <a:r>
              <a:rPr lang="en-US" sz="2000" dirty="0" err="1">
                <a:solidFill>
                  <a:srgbClr val="002060"/>
                </a:solidFill>
                <a:latin typeface="Candara" panose="020E0502030303020204" pitchFamily="34" charset="0"/>
              </a:rPr>
              <a:t>txn</a:t>
            </a:r>
            <a:r>
              <a:rPr lang="en-US" sz="2000" dirty="0">
                <a:solidFill>
                  <a:srgbClr val="002060"/>
                </a:solidFill>
                <a:latin typeface="Candara" panose="020E0502030303020204" pitchFamily="34" charset="0"/>
              </a:rPr>
              <a:t> is valid assuming signatures match and total value of outputs is less than the value of referenced UTXO?</a:t>
            </a:r>
          </a:p>
        </p:txBody>
      </p:sp>
      <p:sp>
        <p:nvSpPr>
          <p:cNvPr id="22" name="TextBox 21"/>
          <p:cNvSpPr txBox="1"/>
          <p:nvPr/>
        </p:nvSpPr>
        <p:spPr>
          <a:xfrm>
            <a:off x="10472364" y="2235466"/>
            <a:ext cx="992600" cy="1107996"/>
          </a:xfrm>
          <a:prstGeom prst="rect">
            <a:avLst/>
          </a:prstGeom>
          <a:noFill/>
        </p:spPr>
        <p:txBody>
          <a:bodyPr wrap="square" rtlCol="0">
            <a:spAutoFit/>
          </a:bodyPr>
          <a:lstStyle/>
          <a:p>
            <a:r>
              <a:rPr lang="en-US" sz="6600" dirty="0">
                <a:solidFill>
                  <a:srgbClr val="009900"/>
                </a:solidFill>
                <a:latin typeface="Candara" panose="020E0502030303020204" pitchFamily="34" charset="0"/>
                <a:sym typeface="Wingdings" panose="05000000000000000000" pitchFamily="2" charset="2"/>
              </a:rPr>
              <a:t></a:t>
            </a:r>
            <a:endParaRPr lang="en-US" sz="6600" dirty="0">
              <a:solidFill>
                <a:srgbClr val="009900"/>
              </a:solidFill>
              <a:latin typeface="Candara" panose="020E0502030303020204" pitchFamily="34" charset="0"/>
            </a:endParaRPr>
          </a:p>
        </p:txBody>
      </p:sp>
      <p:grpSp>
        <p:nvGrpSpPr>
          <p:cNvPr id="8" name="Group 7"/>
          <p:cNvGrpSpPr/>
          <p:nvPr/>
        </p:nvGrpSpPr>
        <p:grpSpPr>
          <a:xfrm>
            <a:off x="632614" y="2424238"/>
            <a:ext cx="3982040" cy="2279312"/>
            <a:chOff x="1028254" y="3784245"/>
            <a:chExt cx="2337507" cy="1823758"/>
          </a:xfrm>
        </p:grpSpPr>
        <p:sp>
          <p:nvSpPr>
            <p:cNvPr id="13" name="TextBox 12"/>
            <p:cNvSpPr txBox="1"/>
            <p:nvPr/>
          </p:nvSpPr>
          <p:spPr>
            <a:xfrm>
              <a:off x="2257352" y="4127843"/>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0</a:t>
              </a:r>
            </a:p>
          </p:txBody>
        </p:sp>
        <p:sp>
          <p:nvSpPr>
            <p:cNvPr id="14" name="TextBox 13"/>
            <p:cNvSpPr txBox="1"/>
            <p:nvPr/>
          </p:nvSpPr>
          <p:spPr>
            <a:xfrm>
              <a:off x="2246932" y="4449527"/>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1</a:t>
              </a:r>
            </a:p>
          </p:txBody>
        </p:sp>
        <p:sp>
          <p:nvSpPr>
            <p:cNvPr id="15" name="TextBox 14"/>
            <p:cNvSpPr txBox="1"/>
            <p:nvPr/>
          </p:nvSpPr>
          <p:spPr>
            <a:xfrm>
              <a:off x="2234265" y="4775112"/>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2</a:t>
              </a:r>
            </a:p>
          </p:txBody>
        </p:sp>
        <p:sp>
          <p:nvSpPr>
            <p:cNvPr id="21" name="Rectangle 20"/>
            <p:cNvSpPr/>
            <p:nvPr/>
          </p:nvSpPr>
          <p:spPr>
            <a:xfrm>
              <a:off x="1028255" y="4076475"/>
              <a:ext cx="2237772" cy="1259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3" name="TextBox 22"/>
            <p:cNvSpPr txBox="1"/>
            <p:nvPr/>
          </p:nvSpPr>
          <p:spPr>
            <a:xfrm>
              <a:off x="1311006" y="3784245"/>
              <a:ext cx="2054755" cy="295516"/>
            </a:xfrm>
            <a:prstGeom prst="rect">
              <a:avLst/>
            </a:prstGeom>
            <a:noFill/>
          </p:spPr>
          <p:txBody>
            <a:bodyPr wrap="square" rtlCol="0">
              <a:spAutoFit/>
            </a:bodyPr>
            <a:lstStyle/>
            <a:p>
              <a:r>
                <a:rPr lang="en-US" dirty="0">
                  <a:latin typeface="Candara" panose="020E0502030303020204" pitchFamily="34" charset="0"/>
                </a:rPr>
                <a:t>Parent transaction</a:t>
              </a:r>
            </a:p>
          </p:txBody>
        </p:sp>
        <p:cxnSp>
          <p:nvCxnSpPr>
            <p:cNvPr id="26" name="Straight Connector 25"/>
            <p:cNvCxnSpPr>
              <a:endCxn id="21" idx="3"/>
            </p:cNvCxnSpPr>
            <p:nvPr/>
          </p:nvCxnSpPr>
          <p:spPr>
            <a:xfrm>
              <a:off x="2172781" y="4706008"/>
              <a:ext cx="10932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028254" y="5344541"/>
              <a:ext cx="2245283" cy="2634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A1234A</a:t>
              </a:r>
            </a:p>
          </p:txBody>
        </p:sp>
        <p:cxnSp>
          <p:nvCxnSpPr>
            <p:cNvPr id="28" name="Straight Connector 27"/>
            <p:cNvCxnSpPr/>
            <p:nvPr/>
          </p:nvCxnSpPr>
          <p:spPr>
            <a:xfrm flipV="1">
              <a:off x="1039835" y="4706007"/>
              <a:ext cx="1164355" cy="83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170814" y="4393459"/>
              <a:ext cx="10932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169627" y="5044388"/>
              <a:ext cx="10932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2172781" y="4076475"/>
              <a:ext cx="1093247" cy="1259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2" name="TextBox 31"/>
            <p:cNvSpPr txBox="1"/>
            <p:nvPr/>
          </p:nvSpPr>
          <p:spPr>
            <a:xfrm>
              <a:off x="2246933" y="5059833"/>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3</a:t>
              </a:r>
            </a:p>
          </p:txBody>
        </p:sp>
      </p:grpSp>
      <p:grpSp>
        <p:nvGrpSpPr>
          <p:cNvPr id="61" name="Group 60"/>
          <p:cNvGrpSpPr/>
          <p:nvPr/>
        </p:nvGrpSpPr>
        <p:grpSpPr>
          <a:xfrm>
            <a:off x="4464479" y="1720213"/>
            <a:ext cx="5890691" cy="2166905"/>
            <a:chOff x="3007378" y="1653507"/>
            <a:chExt cx="4868340" cy="2166905"/>
          </a:xfrm>
        </p:grpSpPr>
        <p:cxnSp>
          <p:nvCxnSpPr>
            <p:cNvPr id="9" name="Straight Arrow Connector 8"/>
            <p:cNvCxnSpPr>
              <a:cxnSpLocks/>
            </p:cNvCxnSpPr>
            <p:nvPr/>
          </p:nvCxnSpPr>
          <p:spPr>
            <a:xfrm flipH="1">
              <a:off x="3007378" y="2479729"/>
              <a:ext cx="2239945" cy="90456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5233648" y="1653507"/>
              <a:ext cx="2642070" cy="2166905"/>
              <a:chOff x="5160489" y="2275636"/>
              <a:chExt cx="2642070" cy="2166905"/>
            </a:xfrm>
          </p:grpSpPr>
          <p:sp>
            <p:nvSpPr>
              <p:cNvPr id="33" name="Rectangle 32"/>
              <p:cNvSpPr/>
              <p:nvPr/>
            </p:nvSpPr>
            <p:spPr>
              <a:xfrm>
                <a:off x="5160490" y="2675825"/>
                <a:ext cx="2642068"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9" name="TextBox 38"/>
              <p:cNvSpPr txBox="1"/>
              <p:nvPr/>
            </p:nvSpPr>
            <p:spPr>
              <a:xfrm>
                <a:off x="6584956" y="3451082"/>
                <a:ext cx="1191316" cy="523220"/>
              </a:xfrm>
              <a:prstGeom prst="rect">
                <a:avLst/>
              </a:prstGeom>
              <a:noFill/>
            </p:spPr>
            <p:txBody>
              <a:bodyPr wrap="square" rtlCol="0">
                <a:spAutoFit/>
              </a:bodyPr>
              <a:lstStyle/>
              <a:p>
                <a:pPr algn="ctr"/>
                <a:r>
                  <a:rPr lang="en-US" sz="1400" dirty="0">
                    <a:latin typeface="Candara" panose="020E0502030303020204" pitchFamily="34" charset="0"/>
                  </a:rPr>
                  <a:t>Value</a:t>
                </a:r>
              </a:p>
              <a:p>
                <a:pPr algn="ctr"/>
                <a:r>
                  <a:rPr lang="en-US" sz="1400" dirty="0" err="1">
                    <a:latin typeface="Candara" panose="020E0502030303020204" pitchFamily="34" charset="0"/>
                  </a:rPr>
                  <a:t>scriptPubkey</a:t>
                </a:r>
                <a:r>
                  <a:rPr lang="en-US" sz="1400" dirty="0">
                    <a:latin typeface="Candara" panose="020E0502030303020204" pitchFamily="34" charset="0"/>
                  </a:rPr>
                  <a:t> </a:t>
                </a:r>
              </a:p>
            </p:txBody>
          </p:sp>
          <p:sp>
            <p:nvSpPr>
              <p:cNvPr id="40" name="Rectangle 39"/>
              <p:cNvSpPr/>
              <p:nvPr/>
            </p:nvSpPr>
            <p:spPr>
              <a:xfrm>
                <a:off x="6511797" y="2675825"/>
                <a:ext cx="1290762"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10" name="Group 9"/>
              <p:cNvGrpSpPr/>
              <p:nvPr/>
            </p:nvGrpSpPr>
            <p:grpSpPr>
              <a:xfrm>
                <a:off x="5160489" y="2275636"/>
                <a:ext cx="2638348" cy="2166905"/>
                <a:chOff x="5130216" y="2275562"/>
                <a:chExt cx="2638348" cy="2166905"/>
              </a:xfrm>
            </p:grpSpPr>
            <p:sp>
              <p:nvSpPr>
                <p:cNvPr id="18" name="TextBox 17"/>
                <p:cNvSpPr txBox="1"/>
                <p:nvPr/>
              </p:nvSpPr>
              <p:spPr>
                <a:xfrm>
                  <a:off x="5489244" y="2275562"/>
                  <a:ext cx="2130878" cy="369332"/>
                </a:xfrm>
                <a:prstGeom prst="rect">
                  <a:avLst/>
                </a:prstGeom>
                <a:noFill/>
              </p:spPr>
              <p:txBody>
                <a:bodyPr wrap="square" rtlCol="0">
                  <a:spAutoFit/>
                </a:bodyPr>
                <a:lstStyle/>
                <a:p>
                  <a:r>
                    <a:rPr lang="en-US" dirty="0">
                      <a:latin typeface="Candara" panose="020E0502030303020204" pitchFamily="34" charset="0"/>
                    </a:rPr>
                    <a:t>Child transaction 1</a:t>
                  </a:r>
                </a:p>
              </p:txBody>
            </p:sp>
            <p:sp>
              <p:nvSpPr>
                <p:cNvPr id="35" name="Rectangle 34"/>
                <p:cNvSpPr/>
                <p:nvPr/>
              </p:nvSpPr>
              <p:spPr>
                <a:xfrm>
                  <a:off x="5130216" y="4121528"/>
                  <a:ext cx="2638348" cy="32093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F001A9</a:t>
                  </a:r>
                </a:p>
              </p:txBody>
            </p:sp>
            <p:sp>
              <p:nvSpPr>
                <p:cNvPr id="36" name="TextBox 35"/>
                <p:cNvSpPr txBox="1"/>
                <p:nvPr/>
              </p:nvSpPr>
              <p:spPr>
                <a:xfrm>
                  <a:off x="5174163" y="3033706"/>
                  <a:ext cx="1369570" cy="707886"/>
                </a:xfrm>
                <a:prstGeom prst="rect">
                  <a:avLst/>
                </a:prstGeom>
                <a:noFill/>
              </p:spPr>
              <p:txBody>
                <a:bodyPr wrap="square" rtlCol="0">
                  <a:spAutoFit/>
                </a:bodyPr>
                <a:lstStyle/>
                <a:p>
                  <a:pPr algn="ctr"/>
                  <a:r>
                    <a:rPr lang="en-US" sz="1200" dirty="0" err="1">
                      <a:latin typeface="Candara" panose="020E0502030303020204" pitchFamily="34" charset="0"/>
                    </a:rPr>
                    <a:t>Prev</a:t>
                  </a:r>
                  <a:r>
                    <a:rPr lang="en-US" sz="1200" dirty="0">
                      <a:latin typeface="Candara" panose="020E0502030303020204" pitchFamily="34" charset="0"/>
                    </a:rPr>
                    <a:t> Txid: A1234A</a:t>
                  </a:r>
                </a:p>
                <a:p>
                  <a:pPr algn="ctr"/>
                  <a:r>
                    <a:rPr lang="en-US" sz="1400" dirty="0" err="1">
                      <a:latin typeface="Candara" panose="020E0502030303020204" pitchFamily="34" charset="0"/>
                    </a:rPr>
                    <a:t>Idx</a:t>
                  </a:r>
                  <a:r>
                    <a:rPr lang="en-US" sz="1400" dirty="0">
                      <a:latin typeface="Candara" panose="020E0502030303020204" pitchFamily="34" charset="0"/>
                    </a:rPr>
                    <a:t>: 1</a:t>
                  </a:r>
                </a:p>
                <a:p>
                  <a:pPr algn="ctr"/>
                  <a:r>
                    <a:rPr lang="en-US" sz="1400" dirty="0" err="1">
                      <a:latin typeface="Candara" panose="020E0502030303020204" pitchFamily="34" charset="0"/>
                    </a:rPr>
                    <a:t>scriptSig</a:t>
                  </a:r>
                  <a:r>
                    <a:rPr lang="en-US" sz="1400" dirty="0">
                      <a:latin typeface="Candara" panose="020E0502030303020204" pitchFamily="34" charset="0"/>
                    </a:rPr>
                    <a:t> </a:t>
                  </a:r>
                </a:p>
              </p:txBody>
            </p:sp>
            <p:sp>
              <p:nvSpPr>
                <p:cNvPr id="38" name="TextBox 37"/>
                <p:cNvSpPr txBox="1"/>
                <p:nvPr/>
              </p:nvSpPr>
              <p:spPr>
                <a:xfrm>
                  <a:off x="6525470" y="2725199"/>
                  <a:ext cx="1191316" cy="523220"/>
                </a:xfrm>
                <a:prstGeom prst="rect">
                  <a:avLst/>
                </a:prstGeom>
                <a:noFill/>
              </p:spPr>
              <p:txBody>
                <a:bodyPr wrap="square" rtlCol="0">
                  <a:spAutoFit/>
                </a:bodyPr>
                <a:lstStyle/>
                <a:p>
                  <a:pPr algn="ctr"/>
                  <a:r>
                    <a:rPr lang="en-US" sz="1400" dirty="0">
                      <a:latin typeface="Candara" panose="020E0502030303020204" pitchFamily="34" charset="0"/>
                    </a:rPr>
                    <a:t>Value</a:t>
                  </a:r>
                </a:p>
                <a:p>
                  <a:pPr algn="ctr"/>
                  <a:r>
                    <a:rPr lang="en-US" sz="1400" dirty="0" err="1">
                      <a:latin typeface="Candara" panose="020E0502030303020204" pitchFamily="34" charset="0"/>
                    </a:rPr>
                    <a:t>scriptPubkey</a:t>
                  </a:r>
                  <a:r>
                    <a:rPr lang="en-US" sz="1400" dirty="0">
                      <a:latin typeface="Candara" panose="020E0502030303020204" pitchFamily="34" charset="0"/>
                    </a:rPr>
                    <a:t> </a:t>
                  </a:r>
                </a:p>
              </p:txBody>
            </p:sp>
            <p:cxnSp>
              <p:nvCxnSpPr>
                <p:cNvPr id="42" name="Straight Connector 41"/>
                <p:cNvCxnSpPr>
                  <a:cxnSpLocks/>
                </p:cNvCxnSpPr>
                <p:nvPr/>
              </p:nvCxnSpPr>
              <p:spPr>
                <a:xfrm>
                  <a:off x="6475701" y="3407992"/>
                  <a:ext cx="12907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62" name="Group 61"/>
          <p:cNvGrpSpPr/>
          <p:nvPr/>
        </p:nvGrpSpPr>
        <p:grpSpPr>
          <a:xfrm>
            <a:off x="4439383" y="3773018"/>
            <a:ext cx="5984226" cy="2270234"/>
            <a:chOff x="2949400" y="4006730"/>
            <a:chExt cx="4945641" cy="2270234"/>
          </a:xfrm>
        </p:grpSpPr>
        <p:cxnSp>
          <p:nvCxnSpPr>
            <p:cNvPr id="11" name="Straight Arrow Connector 10"/>
            <p:cNvCxnSpPr/>
            <p:nvPr/>
          </p:nvCxnSpPr>
          <p:spPr>
            <a:xfrm flipH="1" flipV="1">
              <a:off x="2949400" y="4006730"/>
              <a:ext cx="2299918" cy="9663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44" name="Group 43"/>
            <p:cNvGrpSpPr/>
            <p:nvPr/>
          </p:nvGrpSpPr>
          <p:grpSpPr>
            <a:xfrm>
              <a:off x="5222698" y="4172490"/>
              <a:ext cx="2672343" cy="2104474"/>
              <a:chOff x="5160489" y="2338067"/>
              <a:chExt cx="2672343" cy="2104474"/>
            </a:xfrm>
          </p:grpSpPr>
          <p:sp>
            <p:nvSpPr>
              <p:cNvPr id="45" name="Rectangle 44"/>
              <p:cNvSpPr/>
              <p:nvPr/>
            </p:nvSpPr>
            <p:spPr>
              <a:xfrm>
                <a:off x="5160490" y="2675825"/>
                <a:ext cx="2642068"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6" name="TextBox 45"/>
              <p:cNvSpPr txBox="1"/>
              <p:nvPr/>
            </p:nvSpPr>
            <p:spPr>
              <a:xfrm>
                <a:off x="6584956" y="3451082"/>
                <a:ext cx="1191316" cy="523220"/>
              </a:xfrm>
              <a:prstGeom prst="rect">
                <a:avLst/>
              </a:prstGeom>
              <a:noFill/>
            </p:spPr>
            <p:txBody>
              <a:bodyPr wrap="square" rtlCol="0">
                <a:spAutoFit/>
              </a:bodyPr>
              <a:lstStyle/>
              <a:p>
                <a:pPr algn="ctr"/>
                <a:r>
                  <a:rPr lang="en-US" sz="1400" dirty="0">
                    <a:latin typeface="Candara" panose="020E0502030303020204" pitchFamily="34" charset="0"/>
                  </a:rPr>
                  <a:t>Value</a:t>
                </a:r>
              </a:p>
              <a:p>
                <a:pPr algn="ctr"/>
                <a:r>
                  <a:rPr lang="en-US" sz="1400" dirty="0" err="1">
                    <a:latin typeface="Candara" panose="020E0502030303020204" pitchFamily="34" charset="0"/>
                  </a:rPr>
                  <a:t>scriptPubkey</a:t>
                </a:r>
                <a:r>
                  <a:rPr lang="en-US" sz="1400" dirty="0">
                    <a:latin typeface="Candara" panose="020E0502030303020204" pitchFamily="34" charset="0"/>
                  </a:rPr>
                  <a:t> </a:t>
                </a:r>
              </a:p>
            </p:txBody>
          </p:sp>
          <p:sp>
            <p:nvSpPr>
              <p:cNvPr id="47" name="Rectangle 46"/>
              <p:cNvSpPr/>
              <p:nvPr/>
            </p:nvSpPr>
            <p:spPr>
              <a:xfrm>
                <a:off x="6511797" y="2675825"/>
                <a:ext cx="1290762"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49" name="Group 48"/>
              <p:cNvGrpSpPr/>
              <p:nvPr/>
            </p:nvGrpSpPr>
            <p:grpSpPr>
              <a:xfrm>
                <a:off x="5160489" y="2338067"/>
                <a:ext cx="2672343" cy="2104474"/>
                <a:chOff x="5130216" y="2337993"/>
                <a:chExt cx="2672343" cy="2104474"/>
              </a:xfrm>
            </p:grpSpPr>
            <p:sp>
              <p:nvSpPr>
                <p:cNvPr id="50" name="TextBox 49"/>
                <p:cNvSpPr txBox="1"/>
                <p:nvPr/>
              </p:nvSpPr>
              <p:spPr>
                <a:xfrm>
                  <a:off x="5508751" y="2337993"/>
                  <a:ext cx="2130878" cy="369332"/>
                </a:xfrm>
                <a:prstGeom prst="rect">
                  <a:avLst/>
                </a:prstGeom>
                <a:noFill/>
              </p:spPr>
              <p:txBody>
                <a:bodyPr wrap="square" rtlCol="0">
                  <a:spAutoFit/>
                </a:bodyPr>
                <a:lstStyle/>
                <a:p>
                  <a:r>
                    <a:rPr lang="en-US" dirty="0">
                      <a:latin typeface="Candara" panose="020E0502030303020204" pitchFamily="34" charset="0"/>
                    </a:rPr>
                    <a:t>Child transaction 2</a:t>
                  </a:r>
                </a:p>
              </p:txBody>
            </p:sp>
            <p:sp>
              <p:nvSpPr>
                <p:cNvPr id="51" name="Rectangle 50"/>
                <p:cNvSpPr/>
                <p:nvPr/>
              </p:nvSpPr>
              <p:spPr>
                <a:xfrm>
                  <a:off x="5130216" y="4121528"/>
                  <a:ext cx="2638348" cy="32093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2345AA</a:t>
                  </a:r>
                </a:p>
              </p:txBody>
            </p:sp>
            <p:sp>
              <p:nvSpPr>
                <p:cNvPr id="52" name="TextBox 51"/>
                <p:cNvSpPr txBox="1"/>
                <p:nvPr/>
              </p:nvSpPr>
              <p:spPr>
                <a:xfrm>
                  <a:off x="5174015" y="3077749"/>
                  <a:ext cx="1358118" cy="707886"/>
                </a:xfrm>
                <a:prstGeom prst="rect">
                  <a:avLst/>
                </a:prstGeom>
                <a:noFill/>
              </p:spPr>
              <p:txBody>
                <a:bodyPr wrap="square" rtlCol="0">
                  <a:spAutoFit/>
                </a:bodyPr>
                <a:lstStyle/>
                <a:p>
                  <a:pPr algn="ctr"/>
                  <a:r>
                    <a:rPr lang="en-US" sz="1200" dirty="0" err="1">
                      <a:latin typeface="Candara" panose="020E0502030303020204" pitchFamily="34" charset="0"/>
                    </a:rPr>
                    <a:t>Prev</a:t>
                  </a:r>
                  <a:r>
                    <a:rPr lang="en-US" sz="1200" dirty="0">
                      <a:latin typeface="Candara" panose="020E0502030303020204" pitchFamily="34" charset="0"/>
                    </a:rPr>
                    <a:t> Txid: A1234A</a:t>
                  </a:r>
                </a:p>
                <a:p>
                  <a:pPr algn="ctr"/>
                  <a:r>
                    <a:rPr lang="en-US" sz="1400" dirty="0" err="1">
                      <a:latin typeface="Candara" panose="020E0502030303020204" pitchFamily="34" charset="0"/>
                    </a:rPr>
                    <a:t>Idx</a:t>
                  </a:r>
                  <a:r>
                    <a:rPr lang="en-US" sz="1400" dirty="0">
                      <a:latin typeface="Candara" panose="020E0502030303020204" pitchFamily="34" charset="0"/>
                    </a:rPr>
                    <a:t>: 2</a:t>
                  </a:r>
                </a:p>
                <a:p>
                  <a:pPr algn="ctr"/>
                  <a:r>
                    <a:rPr lang="en-US" sz="1400" dirty="0" err="1">
                      <a:latin typeface="Candara" panose="020E0502030303020204" pitchFamily="34" charset="0"/>
                    </a:rPr>
                    <a:t>scriptSig</a:t>
                  </a:r>
                  <a:r>
                    <a:rPr lang="en-US" sz="1400" dirty="0">
                      <a:latin typeface="Candara" panose="020E0502030303020204" pitchFamily="34" charset="0"/>
                    </a:rPr>
                    <a:t> </a:t>
                  </a:r>
                </a:p>
              </p:txBody>
            </p:sp>
            <p:sp>
              <p:nvSpPr>
                <p:cNvPr id="54" name="TextBox 53"/>
                <p:cNvSpPr txBox="1"/>
                <p:nvPr/>
              </p:nvSpPr>
              <p:spPr>
                <a:xfrm>
                  <a:off x="6525470" y="2725199"/>
                  <a:ext cx="1191316" cy="523220"/>
                </a:xfrm>
                <a:prstGeom prst="rect">
                  <a:avLst/>
                </a:prstGeom>
                <a:noFill/>
              </p:spPr>
              <p:txBody>
                <a:bodyPr wrap="square" rtlCol="0">
                  <a:spAutoFit/>
                </a:bodyPr>
                <a:lstStyle/>
                <a:p>
                  <a:pPr algn="ctr"/>
                  <a:r>
                    <a:rPr lang="en-US" sz="1400" dirty="0">
                      <a:latin typeface="Candara" panose="020E0502030303020204" pitchFamily="34" charset="0"/>
                    </a:rPr>
                    <a:t>Value</a:t>
                  </a:r>
                </a:p>
                <a:p>
                  <a:pPr algn="ctr"/>
                  <a:r>
                    <a:rPr lang="en-US" sz="1400" dirty="0" err="1">
                      <a:latin typeface="Candara" panose="020E0502030303020204" pitchFamily="34" charset="0"/>
                    </a:rPr>
                    <a:t>scriptPubkey</a:t>
                  </a:r>
                  <a:r>
                    <a:rPr lang="en-US" sz="1400" dirty="0">
                      <a:latin typeface="Candara" panose="020E0502030303020204" pitchFamily="34" charset="0"/>
                    </a:rPr>
                    <a:t> </a:t>
                  </a:r>
                </a:p>
              </p:txBody>
            </p:sp>
            <p:cxnSp>
              <p:nvCxnSpPr>
                <p:cNvPr id="55" name="Straight Connector 54"/>
                <p:cNvCxnSpPr/>
                <p:nvPr/>
              </p:nvCxnSpPr>
              <p:spPr>
                <a:xfrm>
                  <a:off x="6511797" y="3407992"/>
                  <a:ext cx="12907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63" name="TextBox 62"/>
          <p:cNvSpPr txBox="1"/>
          <p:nvPr/>
        </p:nvSpPr>
        <p:spPr>
          <a:xfrm>
            <a:off x="10449837" y="4629595"/>
            <a:ext cx="992600" cy="1107996"/>
          </a:xfrm>
          <a:prstGeom prst="rect">
            <a:avLst/>
          </a:prstGeom>
          <a:noFill/>
        </p:spPr>
        <p:txBody>
          <a:bodyPr wrap="square" rtlCol="0">
            <a:spAutoFit/>
          </a:bodyPr>
          <a:lstStyle/>
          <a:p>
            <a:r>
              <a:rPr lang="en-US" sz="6600" dirty="0">
                <a:solidFill>
                  <a:srgbClr val="009900"/>
                </a:solidFill>
                <a:latin typeface="Candara" panose="020E0502030303020204" pitchFamily="34" charset="0"/>
                <a:sym typeface="Wingdings" panose="05000000000000000000" pitchFamily="2" charset="2"/>
              </a:rPr>
              <a:t></a:t>
            </a:r>
            <a:endParaRPr lang="en-US" sz="6600" dirty="0">
              <a:solidFill>
                <a:srgbClr val="009900"/>
              </a:solidFill>
              <a:latin typeface="Candara" panose="020E0502030303020204" pitchFamily="34" charset="0"/>
            </a:endParaRPr>
          </a:p>
        </p:txBody>
      </p:sp>
      <p:sp>
        <p:nvSpPr>
          <p:cNvPr id="64" name="TextBox 63"/>
          <p:cNvSpPr txBox="1"/>
          <p:nvPr/>
        </p:nvSpPr>
        <p:spPr>
          <a:xfrm>
            <a:off x="487680" y="6143040"/>
            <a:ext cx="11243872" cy="400110"/>
          </a:xfrm>
          <a:prstGeom prst="rect">
            <a:avLst/>
          </a:prstGeom>
          <a:noFill/>
          <a:ln>
            <a:noFill/>
          </a:ln>
        </p:spPr>
        <p:txBody>
          <a:bodyPr wrap="square" rtlCol="0">
            <a:spAutoFit/>
          </a:bodyPr>
          <a:lstStyle/>
          <a:p>
            <a:pPr algn="ctr"/>
            <a:r>
              <a:rPr lang="en-US" sz="2000" dirty="0">
                <a:solidFill>
                  <a:srgbClr val="002060"/>
                </a:solidFill>
                <a:latin typeface="Candara" panose="020E0502030303020204" pitchFamily="34" charset="0"/>
              </a:rPr>
              <a:t>Both are valid because they are pointing to two different outputs </a:t>
            </a:r>
            <a:r>
              <a:rPr lang="en-US" sz="2000" dirty="0" err="1">
                <a:solidFill>
                  <a:srgbClr val="002060"/>
                </a:solidFill>
                <a:latin typeface="Candara" panose="020E0502030303020204" pitchFamily="34" charset="0"/>
              </a:rPr>
              <a:t>Idx</a:t>
            </a:r>
            <a:r>
              <a:rPr lang="en-US" sz="2000" dirty="0">
                <a:solidFill>
                  <a:srgbClr val="002060"/>
                </a:solidFill>
                <a:latin typeface="Candara" panose="020E0502030303020204" pitchFamily="34" charset="0"/>
              </a:rPr>
              <a:t> 1 and </a:t>
            </a:r>
            <a:r>
              <a:rPr lang="en-US" sz="2000" dirty="0" err="1">
                <a:solidFill>
                  <a:srgbClr val="002060"/>
                </a:solidFill>
                <a:latin typeface="Candara" panose="020E0502030303020204" pitchFamily="34" charset="0"/>
              </a:rPr>
              <a:t>Idx</a:t>
            </a:r>
            <a:r>
              <a:rPr lang="en-US" sz="2000" dirty="0">
                <a:solidFill>
                  <a:srgbClr val="002060"/>
                </a:solidFill>
                <a:latin typeface="Candara" panose="020E0502030303020204" pitchFamily="34" charset="0"/>
              </a:rPr>
              <a:t> 2 respectively</a:t>
            </a:r>
          </a:p>
        </p:txBody>
      </p:sp>
    </p:spTree>
    <p:extLst>
      <p:ext uri="{BB962C8B-B14F-4D97-AF65-F5344CB8AC3E}">
        <p14:creationId xmlns:p14="http://schemas.microsoft.com/office/powerpoint/2010/main" val="16112827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63" grpId="0"/>
      <p:bldP spid="6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Race between Transactions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18</a:t>
            </a:fld>
            <a:endParaRPr lang="en-US" dirty="0">
              <a:latin typeface="Candara" panose="020E0502030303020204" pitchFamily="34" charset="0"/>
            </a:endParaRPr>
          </a:p>
        </p:txBody>
      </p:sp>
      <p:grpSp>
        <p:nvGrpSpPr>
          <p:cNvPr id="8" name="Group 7"/>
          <p:cNvGrpSpPr/>
          <p:nvPr/>
        </p:nvGrpSpPr>
        <p:grpSpPr>
          <a:xfrm>
            <a:off x="798190" y="2646736"/>
            <a:ext cx="3929845" cy="2290524"/>
            <a:chOff x="1028254" y="3775273"/>
            <a:chExt cx="2245283" cy="1832730"/>
          </a:xfrm>
        </p:grpSpPr>
        <p:sp>
          <p:nvSpPr>
            <p:cNvPr id="13" name="TextBox 12"/>
            <p:cNvSpPr txBox="1"/>
            <p:nvPr/>
          </p:nvSpPr>
          <p:spPr>
            <a:xfrm>
              <a:off x="2257352" y="4127843"/>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0</a:t>
              </a:r>
            </a:p>
          </p:txBody>
        </p:sp>
        <p:sp>
          <p:nvSpPr>
            <p:cNvPr id="14" name="TextBox 13"/>
            <p:cNvSpPr txBox="1"/>
            <p:nvPr/>
          </p:nvSpPr>
          <p:spPr>
            <a:xfrm>
              <a:off x="2246932" y="4449527"/>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1</a:t>
              </a:r>
            </a:p>
          </p:txBody>
        </p:sp>
        <p:sp>
          <p:nvSpPr>
            <p:cNvPr id="15" name="TextBox 14"/>
            <p:cNvSpPr txBox="1"/>
            <p:nvPr/>
          </p:nvSpPr>
          <p:spPr>
            <a:xfrm>
              <a:off x="2234265" y="4775112"/>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2</a:t>
              </a:r>
            </a:p>
          </p:txBody>
        </p:sp>
        <p:sp>
          <p:nvSpPr>
            <p:cNvPr id="21" name="Rectangle 20"/>
            <p:cNvSpPr/>
            <p:nvPr/>
          </p:nvSpPr>
          <p:spPr>
            <a:xfrm>
              <a:off x="1028255" y="4076475"/>
              <a:ext cx="2237772" cy="1259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3" name="TextBox 22"/>
            <p:cNvSpPr txBox="1"/>
            <p:nvPr/>
          </p:nvSpPr>
          <p:spPr>
            <a:xfrm>
              <a:off x="1082919" y="3775273"/>
              <a:ext cx="2054755" cy="295516"/>
            </a:xfrm>
            <a:prstGeom prst="rect">
              <a:avLst/>
            </a:prstGeom>
            <a:noFill/>
          </p:spPr>
          <p:txBody>
            <a:bodyPr wrap="square" rtlCol="0">
              <a:spAutoFit/>
            </a:bodyPr>
            <a:lstStyle/>
            <a:p>
              <a:pPr algn="ctr"/>
              <a:r>
                <a:rPr lang="en-US" dirty="0">
                  <a:latin typeface="Candara" panose="020E0502030303020204" pitchFamily="34" charset="0"/>
                </a:rPr>
                <a:t>Parent transaction</a:t>
              </a:r>
            </a:p>
          </p:txBody>
        </p:sp>
        <p:cxnSp>
          <p:nvCxnSpPr>
            <p:cNvPr id="26" name="Straight Connector 25"/>
            <p:cNvCxnSpPr>
              <a:endCxn id="21" idx="3"/>
            </p:cNvCxnSpPr>
            <p:nvPr/>
          </p:nvCxnSpPr>
          <p:spPr>
            <a:xfrm>
              <a:off x="2172781" y="4706008"/>
              <a:ext cx="10932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028254" y="5344541"/>
              <a:ext cx="2245283" cy="2634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A1234A</a:t>
              </a:r>
            </a:p>
          </p:txBody>
        </p:sp>
        <p:cxnSp>
          <p:nvCxnSpPr>
            <p:cNvPr id="28" name="Straight Connector 27"/>
            <p:cNvCxnSpPr/>
            <p:nvPr/>
          </p:nvCxnSpPr>
          <p:spPr>
            <a:xfrm flipV="1">
              <a:off x="1039835" y="4706007"/>
              <a:ext cx="1164355" cy="83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170814" y="4393459"/>
              <a:ext cx="10932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169627" y="5044388"/>
              <a:ext cx="10932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2172781" y="4076475"/>
              <a:ext cx="1093247" cy="1259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2" name="TextBox 31"/>
            <p:cNvSpPr txBox="1"/>
            <p:nvPr/>
          </p:nvSpPr>
          <p:spPr>
            <a:xfrm>
              <a:off x="2246933" y="5059833"/>
              <a:ext cx="702128" cy="221637"/>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3</a:t>
              </a:r>
            </a:p>
          </p:txBody>
        </p:sp>
      </p:grpSp>
      <p:grpSp>
        <p:nvGrpSpPr>
          <p:cNvPr id="61" name="Group 60"/>
          <p:cNvGrpSpPr/>
          <p:nvPr/>
        </p:nvGrpSpPr>
        <p:grpSpPr>
          <a:xfrm>
            <a:off x="4733652" y="1664990"/>
            <a:ext cx="6604772" cy="2341741"/>
            <a:chOff x="2943727" y="1664989"/>
            <a:chExt cx="4962264" cy="2341741"/>
          </a:xfrm>
        </p:grpSpPr>
        <p:cxnSp>
          <p:nvCxnSpPr>
            <p:cNvPr id="9" name="Straight Arrow Connector 8"/>
            <p:cNvCxnSpPr/>
            <p:nvPr/>
          </p:nvCxnSpPr>
          <p:spPr>
            <a:xfrm flipH="1">
              <a:off x="2943727" y="2479729"/>
              <a:ext cx="2285517" cy="152700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5233648" y="1664989"/>
              <a:ext cx="2672343" cy="2155423"/>
              <a:chOff x="5160489" y="2287118"/>
              <a:chExt cx="2672343" cy="2155423"/>
            </a:xfrm>
          </p:grpSpPr>
          <p:sp>
            <p:nvSpPr>
              <p:cNvPr id="33" name="Rectangle 32"/>
              <p:cNvSpPr/>
              <p:nvPr/>
            </p:nvSpPr>
            <p:spPr>
              <a:xfrm>
                <a:off x="5160490" y="2675825"/>
                <a:ext cx="2642068"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9" name="TextBox 38"/>
              <p:cNvSpPr txBox="1"/>
              <p:nvPr/>
            </p:nvSpPr>
            <p:spPr>
              <a:xfrm>
                <a:off x="6584956" y="3451082"/>
                <a:ext cx="1191316" cy="523220"/>
              </a:xfrm>
              <a:prstGeom prst="rect">
                <a:avLst/>
              </a:prstGeom>
              <a:noFill/>
            </p:spPr>
            <p:txBody>
              <a:bodyPr wrap="square" rtlCol="0">
                <a:spAutoFit/>
              </a:bodyPr>
              <a:lstStyle/>
              <a:p>
                <a:pPr algn="ctr"/>
                <a:r>
                  <a:rPr lang="en-US" sz="1400" dirty="0">
                    <a:latin typeface="Candara" panose="020E0502030303020204" pitchFamily="34" charset="0"/>
                  </a:rPr>
                  <a:t>Value</a:t>
                </a:r>
              </a:p>
              <a:p>
                <a:pPr algn="ctr"/>
                <a:r>
                  <a:rPr lang="en-US" sz="1400" dirty="0" err="1">
                    <a:latin typeface="Candara" panose="020E0502030303020204" pitchFamily="34" charset="0"/>
                  </a:rPr>
                  <a:t>scriptPubkey</a:t>
                </a:r>
                <a:r>
                  <a:rPr lang="en-US" sz="1400" dirty="0">
                    <a:latin typeface="Candara" panose="020E0502030303020204" pitchFamily="34" charset="0"/>
                  </a:rPr>
                  <a:t> </a:t>
                </a:r>
              </a:p>
            </p:txBody>
          </p:sp>
          <p:sp>
            <p:nvSpPr>
              <p:cNvPr id="40" name="Rectangle 39"/>
              <p:cNvSpPr/>
              <p:nvPr/>
            </p:nvSpPr>
            <p:spPr>
              <a:xfrm>
                <a:off x="6511797" y="2675825"/>
                <a:ext cx="1290762"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41" name="Straight Connector 40"/>
              <p:cNvCxnSpPr/>
              <p:nvPr/>
            </p:nvCxnSpPr>
            <p:spPr>
              <a:xfrm flipV="1">
                <a:off x="5174163" y="3407991"/>
                <a:ext cx="1374718" cy="9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5160489" y="2287118"/>
                <a:ext cx="2672343" cy="2155423"/>
                <a:chOff x="5130216" y="2287044"/>
                <a:chExt cx="2672343" cy="2155423"/>
              </a:xfrm>
            </p:grpSpPr>
            <p:sp>
              <p:nvSpPr>
                <p:cNvPr id="18" name="TextBox 17"/>
                <p:cNvSpPr txBox="1"/>
                <p:nvPr/>
              </p:nvSpPr>
              <p:spPr>
                <a:xfrm>
                  <a:off x="5375906" y="2287044"/>
                  <a:ext cx="2130878" cy="369332"/>
                </a:xfrm>
                <a:prstGeom prst="rect">
                  <a:avLst/>
                </a:prstGeom>
                <a:noFill/>
              </p:spPr>
              <p:txBody>
                <a:bodyPr wrap="square" rtlCol="0">
                  <a:spAutoFit/>
                </a:bodyPr>
                <a:lstStyle/>
                <a:p>
                  <a:pPr algn="ctr"/>
                  <a:r>
                    <a:rPr lang="en-US" dirty="0">
                      <a:latin typeface="Candara" panose="020E0502030303020204" pitchFamily="34" charset="0"/>
                    </a:rPr>
                    <a:t>Child transaction 1</a:t>
                  </a:r>
                </a:p>
              </p:txBody>
            </p:sp>
            <p:sp>
              <p:nvSpPr>
                <p:cNvPr id="35" name="Rectangle 34"/>
                <p:cNvSpPr/>
                <p:nvPr/>
              </p:nvSpPr>
              <p:spPr>
                <a:xfrm>
                  <a:off x="5130216" y="4121528"/>
                  <a:ext cx="2638348" cy="32093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F001A9</a:t>
                  </a:r>
                </a:p>
              </p:txBody>
            </p:sp>
            <p:sp>
              <p:nvSpPr>
                <p:cNvPr id="36" name="TextBox 35"/>
                <p:cNvSpPr txBox="1"/>
                <p:nvPr/>
              </p:nvSpPr>
              <p:spPr>
                <a:xfrm>
                  <a:off x="5174162" y="2661367"/>
                  <a:ext cx="1340357" cy="707886"/>
                </a:xfrm>
                <a:prstGeom prst="rect">
                  <a:avLst/>
                </a:prstGeom>
                <a:noFill/>
              </p:spPr>
              <p:txBody>
                <a:bodyPr wrap="square" rtlCol="0">
                  <a:spAutoFit/>
                </a:bodyPr>
                <a:lstStyle/>
                <a:p>
                  <a:pPr algn="ctr"/>
                  <a:r>
                    <a:rPr lang="en-US" sz="1200" dirty="0" err="1">
                      <a:latin typeface="Candara" panose="020E0502030303020204" pitchFamily="34" charset="0"/>
                    </a:rPr>
                    <a:t>Prev</a:t>
                  </a:r>
                  <a:r>
                    <a:rPr lang="en-US" sz="1200" dirty="0">
                      <a:latin typeface="Candara" panose="020E0502030303020204" pitchFamily="34" charset="0"/>
                    </a:rPr>
                    <a:t> Txid: A1234A</a:t>
                  </a:r>
                </a:p>
                <a:p>
                  <a:pPr algn="ctr"/>
                  <a:r>
                    <a:rPr lang="en-US" sz="1400" dirty="0" err="1">
                      <a:latin typeface="Candara" panose="020E0502030303020204" pitchFamily="34" charset="0"/>
                    </a:rPr>
                    <a:t>Idx</a:t>
                  </a:r>
                  <a:r>
                    <a:rPr lang="en-US" sz="1400" dirty="0">
                      <a:latin typeface="Candara" panose="020E0502030303020204" pitchFamily="34" charset="0"/>
                    </a:rPr>
                    <a:t>: 2</a:t>
                  </a:r>
                </a:p>
                <a:p>
                  <a:pPr algn="ctr"/>
                  <a:r>
                    <a:rPr lang="en-US" sz="1400" dirty="0" err="1">
                      <a:latin typeface="Candara" panose="020E0502030303020204" pitchFamily="34" charset="0"/>
                    </a:rPr>
                    <a:t>scriptSig</a:t>
                  </a:r>
                  <a:r>
                    <a:rPr lang="en-US" sz="1400" dirty="0">
                      <a:latin typeface="Candara" panose="020E0502030303020204" pitchFamily="34" charset="0"/>
                    </a:rPr>
                    <a:t> </a:t>
                  </a:r>
                </a:p>
              </p:txBody>
            </p:sp>
            <p:sp>
              <p:nvSpPr>
                <p:cNvPr id="37" name="TextBox 36"/>
                <p:cNvSpPr txBox="1"/>
                <p:nvPr/>
              </p:nvSpPr>
              <p:spPr>
                <a:xfrm>
                  <a:off x="5170541" y="3400031"/>
                  <a:ext cx="1330306" cy="707886"/>
                </a:xfrm>
                <a:prstGeom prst="rect">
                  <a:avLst/>
                </a:prstGeom>
                <a:noFill/>
              </p:spPr>
              <p:txBody>
                <a:bodyPr wrap="square" rtlCol="0">
                  <a:spAutoFit/>
                </a:bodyPr>
                <a:lstStyle/>
                <a:p>
                  <a:pPr algn="ctr"/>
                  <a:r>
                    <a:rPr lang="en-US" sz="1200" dirty="0" err="1">
                      <a:latin typeface="Candara" panose="020E0502030303020204" pitchFamily="34" charset="0"/>
                    </a:rPr>
                    <a:t>Prev</a:t>
                  </a:r>
                  <a:r>
                    <a:rPr lang="en-US" sz="1200" dirty="0">
                      <a:latin typeface="Candara" panose="020E0502030303020204" pitchFamily="34" charset="0"/>
                    </a:rPr>
                    <a:t> Txid: FB235C</a:t>
                  </a:r>
                </a:p>
                <a:p>
                  <a:pPr algn="ctr"/>
                  <a:r>
                    <a:rPr lang="en-US" sz="1400" dirty="0" err="1">
                      <a:latin typeface="Candara" panose="020E0502030303020204" pitchFamily="34" charset="0"/>
                    </a:rPr>
                    <a:t>Idx</a:t>
                  </a:r>
                  <a:r>
                    <a:rPr lang="en-US" sz="1400" dirty="0">
                      <a:latin typeface="Candara" panose="020E0502030303020204" pitchFamily="34" charset="0"/>
                    </a:rPr>
                    <a:t>: 3</a:t>
                  </a:r>
                </a:p>
                <a:p>
                  <a:pPr algn="ctr"/>
                  <a:r>
                    <a:rPr lang="en-US" sz="1400" dirty="0" err="1">
                      <a:latin typeface="Candara" panose="020E0502030303020204" pitchFamily="34" charset="0"/>
                    </a:rPr>
                    <a:t>scriptSig</a:t>
                  </a:r>
                  <a:r>
                    <a:rPr lang="en-US" sz="1400" dirty="0">
                      <a:latin typeface="Candara" panose="020E0502030303020204" pitchFamily="34" charset="0"/>
                    </a:rPr>
                    <a:t> </a:t>
                  </a:r>
                </a:p>
              </p:txBody>
            </p:sp>
            <p:sp>
              <p:nvSpPr>
                <p:cNvPr id="38" name="TextBox 37"/>
                <p:cNvSpPr txBox="1"/>
                <p:nvPr/>
              </p:nvSpPr>
              <p:spPr>
                <a:xfrm>
                  <a:off x="6525470" y="2725199"/>
                  <a:ext cx="1191316" cy="738664"/>
                </a:xfrm>
                <a:prstGeom prst="rect">
                  <a:avLst/>
                </a:prstGeom>
                <a:noFill/>
              </p:spPr>
              <p:txBody>
                <a:bodyPr wrap="square" rtlCol="0">
                  <a:spAutoFit/>
                </a:bodyPr>
                <a:lstStyle/>
                <a:p>
                  <a:pPr algn="ctr"/>
                  <a:r>
                    <a:rPr lang="en-US" sz="1400" dirty="0">
                      <a:latin typeface="Candara" panose="020E0502030303020204" pitchFamily="34" charset="0"/>
                    </a:rPr>
                    <a:t>Value</a:t>
                  </a:r>
                </a:p>
                <a:p>
                  <a:pPr algn="ctr"/>
                  <a:r>
                    <a:rPr lang="en-US" sz="1400" dirty="0" err="1">
                      <a:latin typeface="Candara" panose="020E0502030303020204" pitchFamily="34" charset="0"/>
                    </a:rPr>
                    <a:t>scriptPubkey</a:t>
                  </a:r>
                  <a:r>
                    <a:rPr lang="en-US" sz="1400" dirty="0">
                      <a:latin typeface="Candara" panose="020E0502030303020204" pitchFamily="34" charset="0"/>
                    </a:rPr>
                    <a:t> &lt;Alice&gt; </a:t>
                  </a:r>
                </a:p>
              </p:txBody>
            </p:sp>
            <p:cxnSp>
              <p:nvCxnSpPr>
                <p:cNvPr id="42" name="Straight Connector 41"/>
                <p:cNvCxnSpPr/>
                <p:nvPr/>
              </p:nvCxnSpPr>
              <p:spPr>
                <a:xfrm>
                  <a:off x="6511797" y="3407992"/>
                  <a:ext cx="12907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62" name="Group 61"/>
          <p:cNvGrpSpPr/>
          <p:nvPr/>
        </p:nvGrpSpPr>
        <p:grpSpPr>
          <a:xfrm>
            <a:off x="4696940" y="4110060"/>
            <a:ext cx="6590484" cy="2166905"/>
            <a:chOff x="2913240" y="4110059"/>
            <a:chExt cx="4951528" cy="2166905"/>
          </a:xfrm>
        </p:grpSpPr>
        <p:cxnSp>
          <p:nvCxnSpPr>
            <p:cNvPr id="11" name="Straight Arrow Connector 10"/>
            <p:cNvCxnSpPr/>
            <p:nvPr/>
          </p:nvCxnSpPr>
          <p:spPr>
            <a:xfrm flipH="1" flipV="1">
              <a:off x="2913240" y="4110059"/>
              <a:ext cx="2299918" cy="8630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44" name="Group 43"/>
            <p:cNvGrpSpPr/>
            <p:nvPr/>
          </p:nvGrpSpPr>
          <p:grpSpPr>
            <a:xfrm>
              <a:off x="5222698" y="4125489"/>
              <a:ext cx="2642070" cy="2151475"/>
              <a:chOff x="5160489" y="2291066"/>
              <a:chExt cx="2642070" cy="2151475"/>
            </a:xfrm>
          </p:grpSpPr>
          <p:sp>
            <p:nvSpPr>
              <p:cNvPr id="45" name="Rectangle 44"/>
              <p:cNvSpPr/>
              <p:nvPr/>
            </p:nvSpPr>
            <p:spPr>
              <a:xfrm>
                <a:off x="5160490" y="2675825"/>
                <a:ext cx="2642068"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7" name="Rectangle 46"/>
              <p:cNvSpPr/>
              <p:nvPr/>
            </p:nvSpPr>
            <p:spPr>
              <a:xfrm>
                <a:off x="6511797" y="2675825"/>
                <a:ext cx="1290762" cy="1464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48" name="Straight Connector 47"/>
              <p:cNvCxnSpPr/>
              <p:nvPr/>
            </p:nvCxnSpPr>
            <p:spPr>
              <a:xfrm flipV="1">
                <a:off x="5174163" y="3407991"/>
                <a:ext cx="1374718" cy="9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a:xfrm>
                <a:off x="5160489" y="2291066"/>
                <a:ext cx="2638348" cy="2151475"/>
                <a:chOff x="5130216" y="2290992"/>
                <a:chExt cx="2638348" cy="2151475"/>
              </a:xfrm>
            </p:grpSpPr>
            <p:sp>
              <p:nvSpPr>
                <p:cNvPr id="50" name="TextBox 49"/>
                <p:cNvSpPr txBox="1"/>
                <p:nvPr/>
              </p:nvSpPr>
              <p:spPr>
                <a:xfrm>
                  <a:off x="5470981" y="2290992"/>
                  <a:ext cx="2130878" cy="369332"/>
                </a:xfrm>
                <a:prstGeom prst="rect">
                  <a:avLst/>
                </a:prstGeom>
                <a:noFill/>
              </p:spPr>
              <p:txBody>
                <a:bodyPr wrap="square" rtlCol="0">
                  <a:spAutoFit/>
                </a:bodyPr>
                <a:lstStyle/>
                <a:p>
                  <a:pPr algn="ctr"/>
                  <a:r>
                    <a:rPr lang="en-US" dirty="0">
                      <a:latin typeface="Candara" panose="020E0502030303020204" pitchFamily="34" charset="0"/>
                    </a:rPr>
                    <a:t>Child transaction 2</a:t>
                  </a:r>
                </a:p>
              </p:txBody>
            </p:sp>
            <p:sp>
              <p:nvSpPr>
                <p:cNvPr id="51" name="Rectangle 50"/>
                <p:cNvSpPr/>
                <p:nvPr/>
              </p:nvSpPr>
              <p:spPr>
                <a:xfrm>
                  <a:off x="5130216" y="4121528"/>
                  <a:ext cx="2638348" cy="32093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D1C223</a:t>
                  </a:r>
                </a:p>
              </p:txBody>
            </p:sp>
            <p:sp>
              <p:nvSpPr>
                <p:cNvPr id="52" name="TextBox 51"/>
                <p:cNvSpPr txBox="1"/>
                <p:nvPr/>
              </p:nvSpPr>
              <p:spPr>
                <a:xfrm>
                  <a:off x="5174163" y="2661367"/>
                  <a:ext cx="1351306" cy="707886"/>
                </a:xfrm>
                <a:prstGeom prst="rect">
                  <a:avLst/>
                </a:prstGeom>
                <a:noFill/>
              </p:spPr>
              <p:txBody>
                <a:bodyPr wrap="square" rtlCol="0">
                  <a:spAutoFit/>
                </a:bodyPr>
                <a:lstStyle/>
                <a:p>
                  <a:pPr algn="ctr"/>
                  <a:r>
                    <a:rPr lang="en-US" sz="1200" dirty="0" err="1">
                      <a:latin typeface="Candara" panose="020E0502030303020204" pitchFamily="34" charset="0"/>
                    </a:rPr>
                    <a:t>Prev</a:t>
                  </a:r>
                  <a:r>
                    <a:rPr lang="en-US" sz="1200" dirty="0">
                      <a:latin typeface="Candara" panose="020E0502030303020204" pitchFamily="34" charset="0"/>
                    </a:rPr>
                    <a:t> Txid: A1234A</a:t>
                  </a:r>
                </a:p>
                <a:p>
                  <a:pPr algn="ctr"/>
                  <a:r>
                    <a:rPr lang="en-US" sz="1400" dirty="0" err="1">
                      <a:latin typeface="Candara" panose="020E0502030303020204" pitchFamily="34" charset="0"/>
                    </a:rPr>
                    <a:t>Idx</a:t>
                  </a:r>
                  <a:r>
                    <a:rPr lang="en-US" sz="1400" dirty="0">
                      <a:latin typeface="Candara" panose="020E0502030303020204" pitchFamily="34" charset="0"/>
                    </a:rPr>
                    <a:t>: 2</a:t>
                  </a:r>
                </a:p>
                <a:p>
                  <a:pPr algn="ctr"/>
                  <a:r>
                    <a:rPr lang="en-US" sz="1400" dirty="0" err="1">
                      <a:latin typeface="Candara" panose="020E0502030303020204" pitchFamily="34" charset="0"/>
                    </a:rPr>
                    <a:t>scriptSig</a:t>
                  </a:r>
                  <a:r>
                    <a:rPr lang="en-US" sz="1400" dirty="0">
                      <a:latin typeface="Candara" panose="020E0502030303020204" pitchFamily="34" charset="0"/>
                    </a:rPr>
                    <a:t> </a:t>
                  </a:r>
                </a:p>
              </p:txBody>
            </p:sp>
            <p:sp>
              <p:nvSpPr>
                <p:cNvPr id="53" name="TextBox 52"/>
                <p:cNvSpPr txBox="1"/>
                <p:nvPr/>
              </p:nvSpPr>
              <p:spPr>
                <a:xfrm>
                  <a:off x="5170541" y="3400031"/>
                  <a:ext cx="1337534" cy="707886"/>
                </a:xfrm>
                <a:prstGeom prst="rect">
                  <a:avLst/>
                </a:prstGeom>
                <a:noFill/>
              </p:spPr>
              <p:txBody>
                <a:bodyPr wrap="square" rtlCol="0">
                  <a:spAutoFit/>
                </a:bodyPr>
                <a:lstStyle/>
                <a:p>
                  <a:pPr algn="ctr"/>
                  <a:r>
                    <a:rPr lang="en-US" sz="1200" dirty="0" err="1">
                      <a:latin typeface="Candara" panose="020E0502030303020204" pitchFamily="34" charset="0"/>
                    </a:rPr>
                    <a:t>Prev</a:t>
                  </a:r>
                  <a:r>
                    <a:rPr lang="en-US" sz="1200" dirty="0">
                      <a:latin typeface="Candara" panose="020E0502030303020204" pitchFamily="34" charset="0"/>
                    </a:rPr>
                    <a:t> Txid: 23ABCD</a:t>
                  </a:r>
                </a:p>
                <a:p>
                  <a:pPr algn="ctr"/>
                  <a:r>
                    <a:rPr lang="en-US" sz="1400" dirty="0" err="1">
                      <a:latin typeface="Candara" panose="020E0502030303020204" pitchFamily="34" charset="0"/>
                    </a:rPr>
                    <a:t>Idx</a:t>
                  </a:r>
                  <a:r>
                    <a:rPr lang="en-US" sz="1400" dirty="0">
                      <a:latin typeface="Candara" panose="020E0502030303020204" pitchFamily="34" charset="0"/>
                    </a:rPr>
                    <a:t>: 1</a:t>
                  </a:r>
                </a:p>
                <a:p>
                  <a:pPr algn="ctr"/>
                  <a:r>
                    <a:rPr lang="en-US" sz="1400" dirty="0" err="1">
                      <a:latin typeface="Candara" panose="020E0502030303020204" pitchFamily="34" charset="0"/>
                    </a:rPr>
                    <a:t>scriptSig</a:t>
                  </a:r>
                  <a:r>
                    <a:rPr lang="en-US" sz="1400" dirty="0">
                      <a:latin typeface="Candara" panose="020E0502030303020204" pitchFamily="34" charset="0"/>
                    </a:rPr>
                    <a:t> </a:t>
                  </a:r>
                </a:p>
              </p:txBody>
            </p:sp>
            <p:sp>
              <p:nvSpPr>
                <p:cNvPr id="54" name="TextBox 53"/>
                <p:cNvSpPr txBox="1"/>
                <p:nvPr/>
              </p:nvSpPr>
              <p:spPr>
                <a:xfrm>
                  <a:off x="6542796" y="3080481"/>
                  <a:ext cx="1191316" cy="738664"/>
                </a:xfrm>
                <a:prstGeom prst="rect">
                  <a:avLst/>
                </a:prstGeom>
                <a:noFill/>
              </p:spPr>
              <p:txBody>
                <a:bodyPr wrap="square" rtlCol="0">
                  <a:spAutoFit/>
                </a:bodyPr>
                <a:lstStyle/>
                <a:p>
                  <a:pPr algn="ctr"/>
                  <a:r>
                    <a:rPr lang="en-US" sz="1400" dirty="0">
                      <a:latin typeface="Candara" panose="020E0502030303020204" pitchFamily="34" charset="0"/>
                    </a:rPr>
                    <a:t>Value</a:t>
                  </a:r>
                </a:p>
                <a:p>
                  <a:pPr algn="ctr"/>
                  <a:r>
                    <a:rPr lang="en-US" sz="1400" dirty="0" err="1">
                      <a:latin typeface="Candara" panose="020E0502030303020204" pitchFamily="34" charset="0"/>
                    </a:rPr>
                    <a:t>scriptPubkey</a:t>
                  </a:r>
                  <a:r>
                    <a:rPr lang="en-US" sz="1400" dirty="0">
                      <a:latin typeface="Candara" panose="020E0502030303020204" pitchFamily="34" charset="0"/>
                    </a:rPr>
                    <a:t> &lt;Bob&gt; </a:t>
                  </a:r>
                </a:p>
              </p:txBody>
            </p:sp>
          </p:grpSp>
        </p:grpSp>
      </p:grpSp>
      <p:sp>
        <p:nvSpPr>
          <p:cNvPr id="57" name="TextBox 56"/>
          <p:cNvSpPr txBox="1"/>
          <p:nvPr/>
        </p:nvSpPr>
        <p:spPr>
          <a:xfrm>
            <a:off x="1023974" y="5300971"/>
            <a:ext cx="6308755" cy="1015663"/>
          </a:xfrm>
          <a:prstGeom prst="rect">
            <a:avLst/>
          </a:prstGeom>
          <a:noFill/>
        </p:spPr>
        <p:txBody>
          <a:bodyPr wrap="square" rtlCol="0">
            <a:spAutoFit/>
          </a:bodyPr>
          <a:lstStyle/>
          <a:p>
            <a:r>
              <a:rPr lang="en-US" sz="2000" dirty="0">
                <a:latin typeface="Candara" panose="020E0502030303020204" pitchFamily="34" charset="0"/>
              </a:rPr>
              <a:t>The transaction which gets confirmed wins the race:</a:t>
            </a:r>
          </a:p>
          <a:p>
            <a:pPr marL="742939" lvl="1" indent="-285750">
              <a:buFont typeface="Arial" panose="020B0604020202020204" pitchFamily="34" charset="0"/>
              <a:buChar char="•"/>
            </a:pPr>
            <a:r>
              <a:rPr lang="en-US" sz="2000" dirty="0">
                <a:latin typeface="Candara" panose="020E0502030303020204" pitchFamily="34" charset="0"/>
              </a:rPr>
              <a:t>the one created earlier? </a:t>
            </a:r>
          </a:p>
          <a:p>
            <a:pPr marL="742939" lvl="1" indent="-285750">
              <a:buFont typeface="Arial" panose="020B0604020202020204" pitchFamily="34" charset="0"/>
              <a:buChar char="•"/>
            </a:pPr>
            <a:r>
              <a:rPr lang="en-US" sz="2000" dirty="0">
                <a:latin typeface="Candara" panose="020E0502030303020204" pitchFamily="34" charset="0"/>
              </a:rPr>
              <a:t>the one with higher fee? </a:t>
            </a:r>
          </a:p>
        </p:txBody>
      </p:sp>
      <p:sp>
        <p:nvSpPr>
          <p:cNvPr id="6" name="TextBox 5"/>
          <p:cNvSpPr txBox="1"/>
          <p:nvPr/>
        </p:nvSpPr>
        <p:spPr>
          <a:xfrm>
            <a:off x="6005669" y="3550683"/>
            <a:ext cx="1510564" cy="707886"/>
          </a:xfrm>
          <a:prstGeom prst="rect">
            <a:avLst/>
          </a:prstGeom>
          <a:solidFill>
            <a:srgbClr val="002060"/>
          </a:solidFill>
          <a:ln w="25400">
            <a:solidFill>
              <a:schemeClr val="tx1"/>
            </a:solidFill>
          </a:ln>
        </p:spPr>
        <p:txBody>
          <a:bodyPr wrap="square" rtlCol="0">
            <a:spAutoFit/>
          </a:bodyPr>
          <a:lstStyle/>
          <a:p>
            <a:pPr algn="ctr"/>
            <a:r>
              <a:rPr lang="en-US" sz="2000" dirty="0">
                <a:solidFill>
                  <a:schemeClr val="bg1"/>
                </a:solidFill>
                <a:latin typeface="Candara" panose="020E0502030303020204" pitchFamily="34" charset="0"/>
              </a:rPr>
              <a:t>Double spending</a:t>
            </a:r>
          </a:p>
        </p:txBody>
      </p:sp>
      <p:sp>
        <p:nvSpPr>
          <p:cNvPr id="7" name="TextBox 6"/>
          <p:cNvSpPr txBox="1"/>
          <p:nvPr/>
        </p:nvSpPr>
        <p:spPr>
          <a:xfrm>
            <a:off x="798190" y="1052180"/>
            <a:ext cx="10528484" cy="523220"/>
          </a:xfrm>
          <a:prstGeom prst="rect">
            <a:avLst/>
          </a:prstGeom>
          <a:solidFill>
            <a:srgbClr val="7030A0"/>
          </a:solidFill>
          <a:ln>
            <a:noFill/>
          </a:ln>
        </p:spPr>
        <p:txBody>
          <a:bodyPr wrap="square" rtlCol="0">
            <a:spAutoFit/>
          </a:bodyPr>
          <a:lstStyle/>
          <a:p>
            <a:pPr algn="ctr"/>
            <a:r>
              <a:rPr lang="en-US" sz="2800" dirty="0">
                <a:solidFill>
                  <a:schemeClr val="bg1"/>
                </a:solidFill>
                <a:latin typeface="Candara" panose="020E0502030303020204" pitchFamily="34" charset="0"/>
              </a:rPr>
              <a:t>The two child transactions are in a so-called ‘race’</a:t>
            </a:r>
          </a:p>
        </p:txBody>
      </p:sp>
    </p:spTree>
    <p:extLst>
      <p:ext uri="{BB962C8B-B14F-4D97-AF65-F5344CB8AC3E}">
        <p14:creationId xmlns:p14="http://schemas.microsoft.com/office/powerpoint/2010/main" val="80557854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5054315" y="1984791"/>
            <a:ext cx="5855243" cy="3131778"/>
            <a:chOff x="3521062" y="2305631"/>
            <a:chExt cx="4839044" cy="3131778"/>
          </a:xfrm>
        </p:grpSpPr>
        <p:sp>
          <p:nvSpPr>
            <p:cNvPr id="10" name="Rectangle 9"/>
            <p:cNvSpPr/>
            <p:nvPr/>
          </p:nvSpPr>
          <p:spPr>
            <a:xfrm>
              <a:off x="4956668" y="2730954"/>
              <a:ext cx="3398221"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 name="Rectangle 10"/>
            <p:cNvSpPr/>
            <p:nvPr/>
          </p:nvSpPr>
          <p:spPr>
            <a:xfrm>
              <a:off x="6694714" y="2730954"/>
              <a:ext cx="1660175"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 name="TextBox 11"/>
            <p:cNvSpPr txBox="1"/>
            <p:nvPr/>
          </p:nvSpPr>
          <p:spPr>
            <a:xfrm>
              <a:off x="5080193" y="3365129"/>
              <a:ext cx="1502228" cy="1477328"/>
            </a:xfrm>
            <a:prstGeom prst="rect">
              <a:avLst/>
            </a:prstGeom>
            <a:noFill/>
          </p:spPr>
          <p:txBody>
            <a:bodyPr wrap="square" rtlCol="0">
              <a:spAutoFit/>
            </a:bodyPr>
            <a:lstStyle/>
            <a:p>
              <a:pPr algn="ctr"/>
              <a:r>
                <a:rPr lang="en-US" dirty="0" err="1">
                  <a:latin typeface="Candara" panose="020E0502030303020204" pitchFamily="34" charset="0"/>
                </a:rPr>
                <a:t>Prev</a:t>
              </a:r>
              <a:r>
                <a:rPr lang="en-US" dirty="0">
                  <a:latin typeface="Candara" panose="020E0502030303020204" pitchFamily="34" charset="0"/>
                </a:rPr>
                <a:t> Txid: A1234A</a:t>
              </a:r>
            </a:p>
            <a:p>
              <a:pPr algn="ctr"/>
              <a:r>
                <a:rPr lang="en-US" dirty="0" err="1">
                  <a:latin typeface="Candara" panose="020E0502030303020204" pitchFamily="34" charset="0"/>
                </a:rPr>
                <a:t>Idx</a:t>
              </a:r>
              <a:r>
                <a:rPr lang="en-US" dirty="0">
                  <a:latin typeface="Candara" panose="020E0502030303020204" pitchFamily="34" charset="0"/>
                </a:rPr>
                <a:t>: 0</a:t>
              </a:r>
            </a:p>
            <a:p>
              <a:pPr algn="ctr"/>
              <a:r>
                <a:rPr lang="en-US" dirty="0" err="1">
                  <a:latin typeface="Candara" panose="020E0502030303020204" pitchFamily="34" charset="0"/>
                </a:rPr>
                <a:t>scriptSig</a:t>
              </a:r>
              <a:r>
                <a:rPr lang="en-US" dirty="0">
                  <a:latin typeface="Candara" panose="020E0502030303020204" pitchFamily="34" charset="0"/>
                </a:rPr>
                <a:t> &lt;Alice&gt;</a:t>
              </a:r>
            </a:p>
            <a:p>
              <a:pPr algn="ctr"/>
              <a:endParaRPr lang="en-US" dirty="0">
                <a:latin typeface="Candara" panose="020E0502030303020204" pitchFamily="34" charset="0"/>
              </a:endParaRPr>
            </a:p>
          </p:txBody>
        </p:sp>
        <p:sp>
          <p:nvSpPr>
            <p:cNvPr id="13" name="TextBox 12"/>
            <p:cNvSpPr txBox="1"/>
            <p:nvPr/>
          </p:nvSpPr>
          <p:spPr>
            <a:xfrm>
              <a:off x="6773687" y="3510903"/>
              <a:ext cx="1502228" cy="1200329"/>
            </a:xfrm>
            <a:prstGeom prst="rect">
              <a:avLst/>
            </a:prstGeom>
            <a:noFill/>
          </p:spPr>
          <p:txBody>
            <a:bodyPr wrap="square" rtlCol="0">
              <a:spAutoFit/>
            </a:bodyPr>
            <a:lstStyle/>
            <a:p>
              <a:pPr algn="ctr"/>
              <a:r>
                <a:rPr lang="en-US" dirty="0">
                  <a:latin typeface="Candara" panose="020E0502030303020204" pitchFamily="34" charset="0"/>
                </a:rPr>
                <a:t>Value: 0.5 BTC</a:t>
              </a:r>
            </a:p>
            <a:p>
              <a:pPr algn="ctr"/>
              <a:r>
                <a:rPr lang="en-US" dirty="0" err="1">
                  <a:latin typeface="Candara" panose="020E0502030303020204" pitchFamily="34" charset="0"/>
                </a:rPr>
                <a:t>scriptPubKey</a:t>
              </a:r>
              <a:endParaRPr lang="en-US" dirty="0">
                <a:latin typeface="Candara" panose="020E0502030303020204" pitchFamily="34" charset="0"/>
              </a:endParaRPr>
            </a:p>
            <a:p>
              <a:pPr algn="ctr"/>
              <a:r>
                <a:rPr lang="en-US" dirty="0">
                  <a:latin typeface="Candara" panose="020E0502030303020204" pitchFamily="34" charset="0"/>
                </a:rPr>
                <a:t>&lt;Bob&gt;</a:t>
              </a:r>
            </a:p>
            <a:p>
              <a:pPr algn="ctr"/>
              <a:endParaRPr lang="en-US" dirty="0">
                <a:latin typeface="Candara" panose="020E0502030303020204" pitchFamily="34" charset="0"/>
              </a:endParaRPr>
            </a:p>
          </p:txBody>
        </p:sp>
        <p:sp>
          <p:nvSpPr>
            <p:cNvPr id="14" name="TextBox 13"/>
            <p:cNvSpPr txBox="1"/>
            <p:nvPr/>
          </p:nvSpPr>
          <p:spPr>
            <a:xfrm>
              <a:off x="5036413" y="2305631"/>
              <a:ext cx="3323693" cy="369332"/>
            </a:xfrm>
            <a:prstGeom prst="rect">
              <a:avLst/>
            </a:prstGeom>
            <a:noFill/>
          </p:spPr>
          <p:txBody>
            <a:bodyPr wrap="square" rtlCol="0">
              <a:spAutoFit/>
            </a:bodyPr>
            <a:lstStyle/>
            <a:p>
              <a:pPr algn="ctr"/>
              <a:r>
                <a:rPr lang="en-US" dirty="0">
                  <a:latin typeface="Candara" panose="020E0502030303020204" pitchFamily="34" charset="0"/>
                </a:rPr>
                <a:t>Child transaction created by Alice </a:t>
              </a:r>
            </a:p>
          </p:txBody>
        </p:sp>
        <p:cxnSp>
          <p:nvCxnSpPr>
            <p:cNvPr id="15" name="Straight Arrow Connector 14"/>
            <p:cNvCxnSpPr>
              <a:stCxn id="10" idx="1"/>
            </p:cNvCxnSpPr>
            <p:nvPr/>
          </p:nvCxnSpPr>
          <p:spPr>
            <a:xfrm flipH="1" flipV="1">
              <a:off x="3521062" y="3053166"/>
              <a:ext cx="1435606" cy="103101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dirty="0"/>
              <a:t>Making payments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19</a:t>
            </a:fld>
            <a:endParaRPr lang="en-US" dirty="0">
              <a:latin typeface="Candara" panose="020E0502030303020204" pitchFamily="34" charset="0"/>
            </a:endParaRPr>
          </a:p>
        </p:txBody>
      </p:sp>
      <p:sp>
        <p:nvSpPr>
          <p:cNvPr id="9" name="TextBox 8"/>
          <p:cNvSpPr txBox="1"/>
          <p:nvPr/>
        </p:nvSpPr>
        <p:spPr>
          <a:xfrm>
            <a:off x="318618" y="1125262"/>
            <a:ext cx="11315239" cy="830997"/>
          </a:xfrm>
          <a:prstGeom prst="rect">
            <a:avLst/>
          </a:prstGeom>
          <a:noFill/>
        </p:spPr>
        <p:txBody>
          <a:bodyPr wrap="square" rtlCol="0">
            <a:spAutoFit/>
          </a:bodyPr>
          <a:lstStyle/>
          <a:p>
            <a:pPr algn="ctr"/>
            <a:r>
              <a:rPr lang="en-US" sz="2400" dirty="0">
                <a:solidFill>
                  <a:srgbClr val="7030A0"/>
                </a:solidFill>
                <a:latin typeface="Candara" panose="020E0502030303020204" pitchFamily="34" charset="0"/>
              </a:rPr>
              <a:t>Alice wants to pay 0.5 BTC to Bob. Alice owns 1.5 BTC at index 0 of Txid: A1234A</a:t>
            </a:r>
          </a:p>
        </p:txBody>
      </p:sp>
      <p:sp>
        <p:nvSpPr>
          <p:cNvPr id="18" name="TextBox 17"/>
          <p:cNvSpPr txBox="1"/>
          <p:nvPr/>
        </p:nvSpPr>
        <p:spPr>
          <a:xfrm>
            <a:off x="5009420" y="1923743"/>
            <a:ext cx="1784812" cy="646331"/>
          </a:xfrm>
          <a:prstGeom prst="rect">
            <a:avLst/>
          </a:prstGeom>
          <a:noFill/>
        </p:spPr>
        <p:txBody>
          <a:bodyPr wrap="square" rtlCol="0">
            <a:spAutoFit/>
          </a:bodyPr>
          <a:lstStyle/>
          <a:p>
            <a:pPr algn="ctr"/>
            <a:r>
              <a:rPr lang="en-US" dirty="0">
                <a:solidFill>
                  <a:srgbClr val="002060"/>
                </a:solidFill>
                <a:latin typeface="Candara" panose="020E0502030303020204" pitchFamily="34" charset="0"/>
              </a:rPr>
              <a:t>Is this a valid child </a:t>
            </a:r>
            <a:r>
              <a:rPr lang="en-US" dirty="0" err="1">
                <a:solidFill>
                  <a:srgbClr val="002060"/>
                </a:solidFill>
                <a:latin typeface="Candara" panose="020E0502030303020204" pitchFamily="34" charset="0"/>
              </a:rPr>
              <a:t>txn</a:t>
            </a:r>
            <a:r>
              <a:rPr lang="en-US" dirty="0">
                <a:solidFill>
                  <a:srgbClr val="002060"/>
                </a:solidFill>
                <a:latin typeface="Candara" panose="020E0502030303020204" pitchFamily="34" charset="0"/>
              </a:rPr>
              <a:t>?</a:t>
            </a:r>
          </a:p>
        </p:txBody>
      </p:sp>
      <p:sp>
        <p:nvSpPr>
          <p:cNvPr id="19" name="TextBox 18"/>
          <p:cNvSpPr txBox="1"/>
          <p:nvPr/>
        </p:nvSpPr>
        <p:spPr>
          <a:xfrm>
            <a:off x="5144809" y="3461207"/>
            <a:ext cx="863371" cy="1446550"/>
          </a:xfrm>
          <a:prstGeom prst="rect">
            <a:avLst/>
          </a:prstGeom>
          <a:noFill/>
        </p:spPr>
        <p:txBody>
          <a:bodyPr wrap="square" rtlCol="0">
            <a:spAutoFit/>
          </a:bodyPr>
          <a:lstStyle/>
          <a:p>
            <a:r>
              <a:rPr lang="en-US" sz="8800" dirty="0">
                <a:solidFill>
                  <a:srgbClr val="009900"/>
                </a:solidFill>
                <a:latin typeface="Candara" panose="020E0502030303020204" pitchFamily="34" charset="0"/>
                <a:sym typeface="Wingdings" panose="05000000000000000000" pitchFamily="2" charset="2"/>
              </a:rPr>
              <a:t></a:t>
            </a:r>
            <a:endParaRPr lang="en-US" sz="8800" dirty="0">
              <a:solidFill>
                <a:srgbClr val="009900"/>
              </a:solidFill>
              <a:latin typeface="Candara" panose="020E0502030303020204" pitchFamily="34" charset="0"/>
            </a:endParaRPr>
          </a:p>
        </p:txBody>
      </p:sp>
      <p:sp>
        <p:nvSpPr>
          <p:cNvPr id="21" name="TextBox 20"/>
          <p:cNvSpPr txBox="1"/>
          <p:nvPr/>
        </p:nvSpPr>
        <p:spPr>
          <a:xfrm>
            <a:off x="972104" y="5748300"/>
            <a:ext cx="9850437" cy="707886"/>
          </a:xfrm>
          <a:prstGeom prst="rect">
            <a:avLst/>
          </a:prstGeom>
          <a:solidFill>
            <a:srgbClr val="7030A0"/>
          </a:solidFill>
        </p:spPr>
        <p:txBody>
          <a:bodyPr wrap="square" rtlCol="0">
            <a:spAutoFit/>
          </a:bodyPr>
          <a:lstStyle/>
          <a:p>
            <a:pPr algn="ctr"/>
            <a:r>
              <a:rPr lang="en-US" sz="2000" dirty="0">
                <a:solidFill>
                  <a:schemeClr val="bg1"/>
                </a:solidFill>
                <a:latin typeface="Candara" panose="020E0502030303020204" pitchFamily="34" charset="0"/>
              </a:rPr>
              <a:t>Any difference between the inputs and outputs is retained by the miner as </a:t>
            </a:r>
            <a:r>
              <a:rPr lang="en-US" sz="2000" dirty="0" err="1">
                <a:solidFill>
                  <a:schemeClr val="bg1"/>
                </a:solidFill>
                <a:latin typeface="Candara" panose="020E0502030303020204" pitchFamily="34" charset="0"/>
              </a:rPr>
              <a:t>txn</a:t>
            </a:r>
            <a:r>
              <a:rPr lang="en-US" sz="2000" dirty="0">
                <a:solidFill>
                  <a:schemeClr val="bg1"/>
                </a:solidFill>
                <a:latin typeface="Candara" panose="020E0502030303020204" pitchFamily="34" charset="0"/>
              </a:rPr>
              <a:t> fee so Alice will loose 1 BTC in this example  </a:t>
            </a:r>
          </a:p>
        </p:txBody>
      </p:sp>
      <p:grpSp>
        <p:nvGrpSpPr>
          <p:cNvPr id="17" name="Group 16"/>
          <p:cNvGrpSpPr/>
          <p:nvPr/>
        </p:nvGrpSpPr>
        <p:grpSpPr>
          <a:xfrm>
            <a:off x="832947" y="2021397"/>
            <a:ext cx="4277543" cy="2858852"/>
            <a:chOff x="358179" y="2342237"/>
            <a:chExt cx="3213781" cy="2858852"/>
          </a:xfrm>
        </p:grpSpPr>
        <p:sp>
          <p:nvSpPr>
            <p:cNvPr id="8" name="TextBox 7"/>
            <p:cNvSpPr txBox="1"/>
            <p:nvPr/>
          </p:nvSpPr>
          <p:spPr>
            <a:xfrm>
              <a:off x="2049313" y="2761988"/>
              <a:ext cx="1471749" cy="461665"/>
            </a:xfrm>
            <a:prstGeom prst="rect">
              <a:avLst/>
            </a:prstGeom>
            <a:noFill/>
          </p:spPr>
          <p:txBody>
            <a:bodyPr wrap="square" rtlCol="0">
              <a:spAutoFit/>
            </a:bodyPr>
            <a:lstStyle/>
            <a:p>
              <a:pPr algn="ctr"/>
              <a:r>
                <a:rPr lang="en-US" sz="1200" dirty="0">
                  <a:latin typeface="Candara" panose="020E0502030303020204" pitchFamily="34" charset="0"/>
                </a:rPr>
                <a:t>Alice owns 1.5 BTC on this output </a:t>
              </a:r>
            </a:p>
          </p:txBody>
        </p:sp>
        <p:grpSp>
          <p:nvGrpSpPr>
            <p:cNvPr id="6" name="Group 5"/>
            <p:cNvGrpSpPr/>
            <p:nvPr/>
          </p:nvGrpSpPr>
          <p:grpSpPr>
            <a:xfrm>
              <a:off x="358179" y="2342237"/>
              <a:ext cx="3213781" cy="2858852"/>
              <a:chOff x="597296" y="2747781"/>
              <a:chExt cx="3213781" cy="2858852"/>
            </a:xfrm>
          </p:grpSpPr>
          <p:sp>
            <p:nvSpPr>
              <p:cNvPr id="23" name="TextBox 22"/>
              <p:cNvSpPr txBox="1"/>
              <p:nvPr/>
            </p:nvSpPr>
            <p:spPr>
              <a:xfrm>
                <a:off x="2314020" y="3343883"/>
                <a:ext cx="1497057" cy="276999"/>
              </a:xfrm>
              <a:prstGeom prst="rect">
                <a:avLst/>
              </a:prstGeom>
              <a:noFill/>
            </p:spPr>
            <p:txBody>
              <a:bodyPr wrap="square" rtlCol="0">
                <a:spAutoFit/>
              </a:bodyPr>
              <a:lstStyle/>
              <a:p>
                <a:endParaRPr lang="en-US" sz="1200" dirty="0">
                  <a:latin typeface="Candara" panose="020E0502030303020204" pitchFamily="34" charset="0"/>
                </a:endParaRPr>
              </a:p>
            </p:txBody>
          </p:sp>
          <p:sp>
            <p:nvSpPr>
              <p:cNvPr id="25" name="TextBox 24"/>
              <p:cNvSpPr txBox="1"/>
              <p:nvPr/>
            </p:nvSpPr>
            <p:spPr>
              <a:xfrm>
                <a:off x="2314022" y="3745227"/>
                <a:ext cx="989073" cy="276999"/>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1</a:t>
                </a:r>
              </a:p>
            </p:txBody>
          </p:sp>
          <p:sp>
            <p:nvSpPr>
              <p:cNvPr id="26" name="TextBox 25"/>
              <p:cNvSpPr txBox="1"/>
              <p:nvPr/>
            </p:nvSpPr>
            <p:spPr>
              <a:xfrm>
                <a:off x="2296178" y="4272723"/>
                <a:ext cx="989073" cy="276999"/>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2</a:t>
                </a:r>
              </a:p>
            </p:txBody>
          </p:sp>
          <p:sp>
            <p:nvSpPr>
              <p:cNvPr id="27" name="Rectangle 26"/>
              <p:cNvSpPr/>
              <p:nvPr/>
            </p:nvSpPr>
            <p:spPr>
              <a:xfrm>
                <a:off x="597297" y="3140827"/>
                <a:ext cx="3152302" cy="20398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8" name="TextBox 27"/>
              <p:cNvSpPr txBox="1"/>
              <p:nvPr/>
            </p:nvSpPr>
            <p:spPr>
              <a:xfrm>
                <a:off x="1243826" y="2747781"/>
                <a:ext cx="2019972" cy="369333"/>
              </a:xfrm>
              <a:prstGeom prst="rect">
                <a:avLst/>
              </a:prstGeom>
              <a:noFill/>
            </p:spPr>
            <p:txBody>
              <a:bodyPr wrap="square" rtlCol="0">
                <a:spAutoFit/>
              </a:bodyPr>
              <a:lstStyle/>
              <a:p>
                <a:pPr algn="ctr"/>
                <a:r>
                  <a:rPr lang="en-US" dirty="0">
                    <a:latin typeface="Candara" panose="020E0502030303020204" pitchFamily="34" charset="0"/>
                  </a:rPr>
                  <a:t>Parent transaction</a:t>
                </a:r>
              </a:p>
            </p:txBody>
          </p:sp>
          <p:cxnSp>
            <p:nvCxnSpPr>
              <p:cNvPr id="29" name="Straight Connector 28"/>
              <p:cNvCxnSpPr>
                <a:endCxn id="27" idx="3"/>
              </p:cNvCxnSpPr>
              <p:nvPr/>
            </p:nvCxnSpPr>
            <p:spPr>
              <a:xfrm>
                <a:off x="2209567" y="4160764"/>
                <a:ext cx="15400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97296" y="5179785"/>
                <a:ext cx="3162883" cy="42684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A1234A</a:t>
                </a:r>
              </a:p>
            </p:txBody>
          </p:sp>
          <p:cxnSp>
            <p:nvCxnSpPr>
              <p:cNvPr id="31" name="Straight Connector 30"/>
              <p:cNvCxnSpPr/>
              <p:nvPr/>
            </p:nvCxnSpPr>
            <p:spPr>
              <a:xfrm flipV="1">
                <a:off x="613610" y="4160763"/>
                <a:ext cx="1640202" cy="13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206796" y="3654388"/>
                <a:ext cx="15400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205124" y="4708990"/>
                <a:ext cx="15400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2209567" y="3140827"/>
                <a:ext cx="1540034" cy="20398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5" name="TextBox 34"/>
              <p:cNvSpPr txBox="1"/>
              <p:nvPr/>
            </p:nvSpPr>
            <p:spPr>
              <a:xfrm>
                <a:off x="2314023" y="4734014"/>
                <a:ext cx="989073" cy="276999"/>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3</a:t>
                </a:r>
              </a:p>
            </p:txBody>
          </p:sp>
        </p:grpSp>
      </p:grpSp>
      <p:sp>
        <p:nvSpPr>
          <p:cNvPr id="40" name="TextBox 39"/>
          <p:cNvSpPr txBox="1"/>
          <p:nvPr/>
        </p:nvSpPr>
        <p:spPr>
          <a:xfrm>
            <a:off x="1082961" y="5224621"/>
            <a:ext cx="9850437" cy="400110"/>
          </a:xfrm>
          <a:prstGeom prst="rect">
            <a:avLst/>
          </a:prstGeom>
          <a:noFill/>
          <a:ln>
            <a:noFill/>
          </a:ln>
        </p:spPr>
        <p:txBody>
          <a:bodyPr wrap="square" rtlCol="0">
            <a:spAutoFit/>
          </a:bodyPr>
          <a:lstStyle/>
          <a:p>
            <a:pPr algn="ctr"/>
            <a:r>
              <a:rPr lang="en-US" sz="2000" dirty="0">
                <a:latin typeface="Candara" panose="020E0502030303020204" pitchFamily="34" charset="0"/>
              </a:rPr>
              <a:t>Alice owns a valid UTXO, and sum of inputs &gt; sum of outputs, so this is perfectly fine</a:t>
            </a:r>
          </a:p>
        </p:txBody>
      </p:sp>
    </p:spTree>
    <p:extLst>
      <p:ext uri="{BB962C8B-B14F-4D97-AF65-F5344CB8AC3E}">
        <p14:creationId xmlns:p14="http://schemas.microsoft.com/office/powerpoint/2010/main" val="58800535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1" grpId="0" build="allAtOnce" animBg="1"/>
      <p:bldP spid="4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Payment with a ‘Change Output’</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20</a:t>
            </a:fld>
            <a:endParaRPr lang="en-US" dirty="0">
              <a:latin typeface="Candara" panose="020E0502030303020204" pitchFamily="34" charset="0"/>
            </a:endParaRPr>
          </a:p>
        </p:txBody>
      </p:sp>
      <p:sp>
        <p:nvSpPr>
          <p:cNvPr id="20" name="TextBox 19"/>
          <p:cNvSpPr txBox="1"/>
          <p:nvPr/>
        </p:nvSpPr>
        <p:spPr>
          <a:xfrm>
            <a:off x="487680" y="4618540"/>
            <a:ext cx="10977285" cy="1938992"/>
          </a:xfrm>
          <a:prstGeom prst="rect">
            <a:avLst/>
          </a:prstGeom>
          <a:noFill/>
          <a:ln>
            <a:noFill/>
          </a:ln>
        </p:spPr>
        <p:txBody>
          <a:bodyPr wrap="square" rtlCol="0">
            <a:spAutoFit/>
          </a:bodyPr>
          <a:lstStyle/>
          <a:p>
            <a:pPr marL="342900" indent="-342900">
              <a:buFont typeface="Arial" panose="020B0604020202020204" pitchFamily="34" charset="0"/>
              <a:buChar char="•"/>
            </a:pPr>
            <a:r>
              <a:rPr lang="en-US" sz="2400" dirty="0">
                <a:latin typeface="Candara" panose="020E0502030303020204" pitchFamily="34" charset="0"/>
              </a:rPr>
              <a:t>Alice must pay herself the remaining BTC by creating a second output – this is equivalent to receiving a change for her future use</a:t>
            </a:r>
          </a:p>
          <a:p>
            <a:pPr marL="342900" indent="-342900">
              <a:buFont typeface="Arial" panose="020B0604020202020204" pitchFamily="34" charset="0"/>
              <a:buChar char="•"/>
            </a:pPr>
            <a:r>
              <a:rPr lang="en-US" sz="2400" dirty="0">
                <a:latin typeface="Candara" panose="020E0502030303020204" pitchFamily="34" charset="0"/>
              </a:rPr>
              <a:t>This is a typical Bitcoin payment transaction with two outputs – one payment output to the intended recipient, and a change output returning the remaining funds to the sender</a:t>
            </a:r>
          </a:p>
        </p:txBody>
      </p:sp>
      <p:grpSp>
        <p:nvGrpSpPr>
          <p:cNvPr id="27" name="Group 26"/>
          <p:cNvGrpSpPr/>
          <p:nvPr/>
        </p:nvGrpSpPr>
        <p:grpSpPr>
          <a:xfrm>
            <a:off x="4933978" y="1432420"/>
            <a:ext cx="5787320" cy="3104367"/>
            <a:chOff x="3484267" y="1875835"/>
            <a:chExt cx="4348099" cy="3104367"/>
          </a:xfrm>
        </p:grpSpPr>
        <p:grpSp>
          <p:nvGrpSpPr>
            <p:cNvPr id="24" name="Group 23"/>
            <p:cNvGrpSpPr/>
            <p:nvPr/>
          </p:nvGrpSpPr>
          <p:grpSpPr>
            <a:xfrm>
              <a:off x="3484267" y="1875835"/>
              <a:ext cx="4348099" cy="3104367"/>
              <a:chOff x="4006790" y="2333042"/>
              <a:chExt cx="4348099" cy="3104367"/>
            </a:xfrm>
          </p:grpSpPr>
          <p:sp>
            <p:nvSpPr>
              <p:cNvPr id="10" name="Rectangle 9"/>
              <p:cNvSpPr/>
              <p:nvPr/>
            </p:nvSpPr>
            <p:spPr>
              <a:xfrm>
                <a:off x="4956668" y="2730954"/>
                <a:ext cx="3398221"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 name="Rectangle 10"/>
              <p:cNvSpPr/>
              <p:nvPr/>
            </p:nvSpPr>
            <p:spPr>
              <a:xfrm>
                <a:off x="6694714" y="2730954"/>
                <a:ext cx="1660175"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 name="TextBox 11"/>
              <p:cNvSpPr txBox="1"/>
              <p:nvPr/>
            </p:nvSpPr>
            <p:spPr>
              <a:xfrm>
                <a:off x="5078186" y="3493777"/>
                <a:ext cx="1502228" cy="1200329"/>
              </a:xfrm>
              <a:prstGeom prst="rect">
                <a:avLst/>
              </a:prstGeom>
              <a:noFill/>
            </p:spPr>
            <p:txBody>
              <a:bodyPr wrap="square" rtlCol="0">
                <a:spAutoFit/>
              </a:bodyPr>
              <a:lstStyle/>
              <a:p>
                <a:pPr algn="ctr"/>
                <a:r>
                  <a:rPr lang="en-US" dirty="0" err="1">
                    <a:latin typeface="Candara" panose="020E0502030303020204" pitchFamily="34" charset="0"/>
                  </a:rPr>
                  <a:t>Prev</a:t>
                </a:r>
                <a:r>
                  <a:rPr lang="en-US" dirty="0">
                    <a:latin typeface="Candara" panose="020E0502030303020204" pitchFamily="34" charset="0"/>
                  </a:rPr>
                  <a:t> Txid: A1234A</a:t>
                </a:r>
              </a:p>
              <a:p>
                <a:pPr algn="ctr"/>
                <a:r>
                  <a:rPr lang="en-US" dirty="0" err="1">
                    <a:latin typeface="Candara" panose="020E0502030303020204" pitchFamily="34" charset="0"/>
                  </a:rPr>
                  <a:t>Idx</a:t>
                </a:r>
                <a:r>
                  <a:rPr lang="en-US" dirty="0">
                    <a:latin typeface="Candara" panose="020E0502030303020204" pitchFamily="34" charset="0"/>
                  </a:rPr>
                  <a:t>: 0</a:t>
                </a:r>
              </a:p>
              <a:p>
                <a:pPr algn="ctr"/>
                <a:r>
                  <a:rPr lang="en-US" dirty="0" err="1">
                    <a:latin typeface="Candara" panose="020E0502030303020204" pitchFamily="34" charset="0"/>
                  </a:rPr>
                  <a:t>scriptSig</a:t>
                </a:r>
                <a:r>
                  <a:rPr lang="en-US" dirty="0">
                    <a:latin typeface="Candara" panose="020E0502030303020204" pitchFamily="34" charset="0"/>
                  </a:rPr>
                  <a:t> &lt;Alice&gt;</a:t>
                </a:r>
              </a:p>
              <a:p>
                <a:pPr algn="ctr"/>
                <a:endParaRPr lang="en-US" dirty="0">
                  <a:latin typeface="Candara" panose="020E0502030303020204" pitchFamily="34" charset="0"/>
                </a:endParaRPr>
              </a:p>
            </p:txBody>
          </p:sp>
          <p:sp>
            <p:nvSpPr>
              <p:cNvPr id="13" name="TextBox 12"/>
              <p:cNvSpPr txBox="1"/>
              <p:nvPr/>
            </p:nvSpPr>
            <p:spPr>
              <a:xfrm>
                <a:off x="6738361" y="3009463"/>
                <a:ext cx="1502228" cy="923330"/>
              </a:xfrm>
              <a:prstGeom prst="rect">
                <a:avLst/>
              </a:prstGeom>
              <a:noFill/>
            </p:spPr>
            <p:txBody>
              <a:bodyPr wrap="square" rtlCol="0">
                <a:spAutoFit/>
              </a:bodyPr>
              <a:lstStyle/>
              <a:p>
                <a:pPr algn="ctr"/>
                <a:r>
                  <a:rPr lang="en-US" dirty="0">
                    <a:latin typeface="Candara" panose="020E0502030303020204" pitchFamily="34" charset="0"/>
                  </a:rPr>
                  <a:t>Value: 0.5 BTC</a:t>
                </a:r>
              </a:p>
              <a:p>
                <a:pPr algn="ctr"/>
                <a:r>
                  <a:rPr lang="en-US" dirty="0" err="1">
                    <a:latin typeface="Candara" panose="020E0502030303020204" pitchFamily="34" charset="0"/>
                  </a:rPr>
                  <a:t>scriptPubKey</a:t>
                </a:r>
                <a:endParaRPr lang="en-US" dirty="0">
                  <a:latin typeface="Candara" panose="020E0502030303020204" pitchFamily="34" charset="0"/>
                </a:endParaRPr>
              </a:p>
              <a:p>
                <a:pPr algn="ctr"/>
                <a:r>
                  <a:rPr lang="en-US" dirty="0">
                    <a:latin typeface="Candara" panose="020E0502030303020204" pitchFamily="34" charset="0"/>
                  </a:rPr>
                  <a:t>&lt;Bob&gt;</a:t>
                </a:r>
              </a:p>
            </p:txBody>
          </p:sp>
          <p:sp>
            <p:nvSpPr>
              <p:cNvPr id="14" name="TextBox 13"/>
              <p:cNvSpPr txBox="1"/>
              <p:nvPr/>
            </p:nvSpPr>
            <p:spPr>
              <a:xfrm>
                <a:off x="5000717" y="2333042"/>
                <a:ext cx="3354172" cy="366748"/>
              </a:xfrm>
              <a:prstGeom prst="rect">
                <a:avLst/>
              </a:prstGeom>
              <a:noFill/>
            </p:spPr>
            <p:txBody>
              <a:bodyPr wrap="square" rtlCol="0">
                <a:spAutoFit/>
              </a:bodyPr>
              <a:lstStyle/>
              <a:p>
                <a:pPr algn="ctr"/>
                <a:r>
                  <a:rPr lang="en-US" dirty="0">
                    <a:latin typeface="Candara" panose="020E0502030303020204" pitchFamily="34" charset="0"/>
                  </a:rPr>
                  <a:t>Child transaction created by Alice </a:t>
                </a:r>
              </a:p>
            </p:txBody>
          </p:sp>
          <p:cxnSp>
            <p:nvCxnSpPr>
              <p:cNvPr id="15" name="Straight Arrow Connector 14"/>
              <p:cNvCxnSpPr>
                <a:stCxn id="10" idx="1"/>
              </p:cNvCxnSpPr>
              <p:nvPr/>
            </p:nvCxnSpPr>
            <p:spPr>
              <a:xfrm flipH="1" flipV="1">
                <a:off x="4006790" y="3127902"/>
                <a:ext cx="949878" cy="95628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6" name="Straight Connector 5"/>
            <p:cNvCxnSpPr>
              <a:stCxn id="11" idx="1"/>
              <a:endCxn id="10" idx="3"/>
            </p:cNvCxnSpPr>
            <p:nvPr/>
          </p:nvCxnSpPr>
          <p:spPr>
            <a:xfrm>
              <a:off x="6172191" y="3626975"/>
              <a:ext cx="16601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179409" y="3841924"/>
              <a:ext cx="1502228" cy="923330"/>
            </a:xfrm>
            <a:prstGeom prst="rect">
              <a:avLst/>
            </a:prstGeom>
            <a:noFill/>
          </p:spPr>
          <p:txBody>
            <a:bodyPr wrap="square" rtlCol="0">
              <a:spAutoFit/>
            </a:bodyPr>
            <a:lstStyle/>
            <a:p>
              <a:pPr algn="ctr"/>
              <a:r>
                <a:rPr lang="en-US" dirty="0">
                  <a:latin typeface="Candara" panose="020E0502030303020204" pitchFamily="34" charset="0"/>
                </a:rPr>
                <a:t>Value: 1 BTC</a:t>
              </a:r>
            </a:p>
            <a:p>
              <a:pPr algn="ctr"/>
              <a:r>
                <a:rPr lang="en-US" dirty="0" err="1">
                  <a:latin typeface="Candara" panose="020E0502030303020204" pitchFamily="34" charset="0"/>
                </a:rPr>
                <a:t>scriptPubKey</a:t>
              </a:r>
              <a:endParaRPr lang="en-US" dirty="0">
                <a:latin typeface="Candara" panose="020E0502030303020204" pitchFamily="34" charset="0"/>
              </a:endParaRPr>
            </a:p>
            <a:p>
              <a:pPr algn="ctr"/>
              <a:r>
                <a:rPr lang="en-US" dirty="0">
                  <a:latin typeface="Candara" panose="020E0502030303020204" pitchFamily="34" charset="0"/>
                </a:rPr>
                <a:t>&lt;Alice&gt;</a:t>
              </a:r>
            </a:p>
          </p:txBody>
        </p:sp>
      </p:grpSp>
      <p:sp>
        <p:nvSpPr>
          <p:cNvPr id="17" name="Oval 16"/>
          <p:cNvSpPr/>
          <p:nvPr/>
        </p:nvSpPr>
        <p:spPr>
          <a:xfrm>
            <a:off x="8727652" y="3219554"/>
            <a:ext cx="1660175" cy="1261884"/>
          </a:xfrm>
          <a:prstGeom prst="ellipse">
            <a:avLst/>
          </a:prstGeom>
          <a:noFill/>
          <a:ln w="254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5" name="TextBox 24"/>
          <p:cNvSpPr txBox="1"/>
          <p:nvPr/>
        </p:nvSpPr>
        <p:spPr>
          <a:xfrm>
            <a:off x="10520678" y="3465108"/>
            <a:ext cx="1587638" cy="923330"/>
          </a:xfrm>
          <a:prstGeom prst="rect">
            <a:avLst/>
          </a:prstGeom>
          <a:noFill/>
        </p:spPr>
        <p:txBody>
          <a:bodyPr wrap="square" rtlCol="0">
            <a:spAutoFit/>
          </a:bodyPr>
          <a:lstStyle/>
          <a:p>
            <a:pPr algn="ctr"/>
            <a:r>
              <a:rPr lang="en-US" dirty="0">
                <a:solidFill>
                  <a:srgbClr val="002060"/>
                </a:solidFill>
                <a:latin typeface="Candara" panose="020E0502030303020204" pitchFamily="34" charset="0"/>
              </a:rPr>
              <a:t>‘Change output’ for Alice</a:t>
            </a:r>
          </a:p>
        </p:txBody>
      </p:sp>
      <p:sp>
        <p:nvSpPr>
          <p:cNvPr id="26" name="TextBox 25"/>
          <p:cNvSpPr txBox="1"/>
          <p:nvPr/>
        </p:nvSpPr>
        <p:spPr>
          <a:xfrm>
            <a:off x="10658893" y="2138369"/>
            <a:ext cx="1311208" cy="646331"/>
          </a:xfrm>
          <a:prstGeom prst="rect">
            <a:avLst/>
          </a:prstGeom>
          <a:noFill/>
        </p:spPr>
        <p:txBody>
          <a:bodyPr wrap="square" rtlCol="0">
            <a:spAutoFit/>
          </a:bodyPr>
          <a:lstStyle/>
          <a:p>
            <a:pPr algn="ctr"/>
            <a:r>
              <a:rPr lang="en-US" dirty="0">
                <a:solidFill>
                  <a:srgbClr val="002060"/>
                </a:solidFill>
                <a:latin typeface="Candara" panose="020E0502030303020204" pitchFamily="34" charset="0"/>
              </a:rPr>
              <a:t>Output for Bob</a:t>
            </a:r>
          </a:p>
        </p:txBody>
      </p:sp>
      <p:grpSp>
        <p:nvGrpSpPr>
          <p:cNvPr id="28" name="Group 27"/>
          <p:cNvGrpSpPr/>
          <p:nvPr/>
        </p:nvGrpSpPr>
        <p:grpSpPr>
          <a:xfrm>
            <a:off x="732921" y="1576696"/>
            <a:ext cx="4277543" cy="2858852"/>
            <a:chOff x="358179" y="2342237"/>
            <a:chExt cx="3213781" cy="2858852"/>
          </a:xfrm>
        </p:grpSpPr>
        <p:sp>
          <p:nvSpPr>
            <p:cNvPr id="29" name="TextBox 28"/>
            <p:cNvSpPr txBox="1"/>
            <p:nvPr/>
          </p:nvSpPr>
          <p:spPr>
            <a:xfrm>
              <a:off x="2049313" y="2761988"/>
              <a:ext cx="1471749" cy="461665"/>
            </a:xfrm>
            <a:prstGeom prst="rect">
              <a:avLst/>
            </a:prstGeom>
            <a:noFill/>
          </p:spPr>
          <p:txBody>
            <a:bodyPr wrap="square" rtlCol="0">
              <a:spAutoFit/>
            </a:bodyPr>
            <a:lstStyle/>
            <a:p>
              <a:pPr algn="ctr"/>
              <a:r>
                <a:rPr lang="en-US" sz="1200" dirty="0">
                  <a:latin typeface="Candara" panose="020E0502030303020204" pitchFamily="34" charset="0"/>
                </a:rPr>
                <a:t>Alice owns 1.5 BTC on this output </a:t>
              </a:r>
            </a:p>
          </p:txBody>
        </p:sp>
        <p:grpSp>
          <p:nvGrpSpPr>
            <p:cNvPr id="30" name="Group 29"/>
            <p:cNvGrpSpPr/>
            <p:nvPr/>
          </p:nvGrpSpPr>
          <p:grpSpPr>
            <a:xfrm>
              <a:off x="358179" y="2342237"/>
              <a:ext cx="3213781" cy="2858852"/>
              <a:chOff x="597296" y="2747781"/>
              <a:chExt cx="3213781" cy="2858852"/>
            </a:xfrm>
          </p:grpSpPr>
          <p:sp>
            <p:nvSpPr>
              <p:cNvPr id="31" name="TextBox 30"/>
              <p:cNvSpPr txBox="1"/>
              <p:nvPr/>
            </p:nvSpPr>
            <p:spPr>
              <a:xfrm>
                <a:off x="2314020" y="3343883"/>
                <a:ext cx="1497057" cy="276999"/>
              </a:xfrm>
              <a:prstGeom prst="rect">
                <a:avLst/>
              </a:prstGeom>
              <a:noFill/>
            </p:spPr>
            <p:txBody>
              <a:bodyPr wrap="square" rtlCol="0">
                <a:spAutoFit/>
              </a:bodyPr>
              <a:lstStyle/>
              <a:p>
                <a:endParaRPr lang="en-US" sz="1200" dirty="0">
                  <a:latin typeface="Candara" panose="020E0502030303020204" pitchFamily="34" charset="0"/>
                </a:endParaRPr>
              </a:p>
            </p:txBody>
          </p:sp>
          <p:sp>
            <p:nvSpPr>
              <p:cNvPr id="32" name="TextBox 31"/>
              <p:cNvSpPr txBox="1"/>
              <p:nvPr/>
            </p:nvSpPr>
            <p:spPr>
              <a:xfrm>
                <a:off x="2314022" y="3745227"/>
                <a:ext cx="989073" cy="276999"/>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1</a:t>
                </a:r>
              </a:p>
            </p:txBody>
          </p:sp>
          <p:sp>
            <p:nvSpPr>
              <p:cNvPr id="33" name="TextBox 32"/>
              <p:cNvSpPr txBox="1"/>
              <p:nvPr/>
            </p:nvSpPr>
            <p:spPr>
              <a:xfrm>
                <a:off x="2296178" y="4272723"/>
                <a:ext cx="989073" cy="276999"/>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2</a:t>
                </a:r>
              </a:p>
            </p:txBody>
          </p:sp>
          <p:sp>
            <p:nvSpPr>
              <p:cNvPr id="34" name="Rectangle 33"/>
              <p:cNvSpPr/>
              <p:nvPr/>
            </p:nvSpPr>
            <p:spPr>
              <a:xfrm>
                <a:off x="597297" y="3140827"/>
                <a:ext cx="3152302" cy="20398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ndara" panose="020E0502030303020204" pitchFamily="34" charset="0"/>
                </a:endParaRPr>
              </a:p>
            </p:txBody>
          </p:sp>
          <p:sp>
            <p:nvSpPr>
              <p:cNvPr id="35" name="TextBox 34"/>
              <p:cNvSpPr txBox="1"/>
              <p:nvPr/>
            </p:nvSpPr>
            <p:spPr>
              <a:xfrm>
                <a:off x="1243826" y="2747781"/>
                <a:ext cx="2019972" cy="369333"/>
              </a:xfrm>
              <a:prstGeom prst="rect">
                <a:avLst/>
              </a:prstGeom>
              <a:noFill/>
            </p:spPr>
            <p:txBody>
              <a:bodyPr wrap="square" rtlCol="0">
                <a:spAutoFit/>
              </a:bodyPr>
              <a:lstStyle/>
              <a:p>
                <a:pPr algn="ctr"/>
                <a:r>
                  <a:rPr lang="en-US" dirty="0">
                    <a:latin typeface="Candara" panose="020E0502030303020204" pitchFamily="34" charset="0"/>
                  </a:rPr>
                  <a:t>Parent transaction</a:t>
                </a:r>
              </a:p>
            </p:txBody>
          </p:sp>
          <p:cxnSp>
            <p:nvCxnSpPr>
              <p:cNvPr id="36" name="Straight Connector 35"/>
              <p:cNvCxnSpPr>
                <a:endCxn id="34" idx="3"/>
              </p:cNvCxnSpPr>
              <p:nvPr/>
            </p:nvCxnSpPr>
            <p:spPr>
              <a:xfrm>
                <a:off x="2209567" y="4160764"/>
                <a:ext cx="15400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597296" y="5179785"/>
                <a:ext cx="3162883" cy="42684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Txid: A1234A</a:t>
                </a:r>
              </a:p>
            </p:txBody>
          </p:sp>
          <p:cxnSp>
            <p:nvCxnSpPr>
              <p:cNvPr id="38" name="Straight Connector 37"/>
              <p:cNvCxnSpPr/>
              <p:nvPr/>
            </p:nvCxnSpPr>
            <p:spPr>
              <a:xfrm flipV="1">
                <a:off x="613610" y="4160763"/>
                <a:ext cx="1640202" cy="13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206796" y="3654388"/>
                <a:ext cx="15400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205124" y="4708990"/>
                <a:ext cx="15400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2209567" y="3140827"/>
                <a:ext cx="1540034" cy="20398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2" name="TextBox 41"/>
              <p:cNvSpPr txBox="1"/>
              <p:nvPr/>
            </p:nvSpPr>
            <p:spPr>
              <a:xfrm>
                <a:off x="2314023" y="4734014"/>
                <a:ext cx="989073" cy="276999"/>
              </a:xfrm>
              <a:prstGeom prst="rect">
                <a:avLst/>
              </a:prstGeom>
              <a:noFill/>
            </p:spPr>
            <p:txBody>
              <a:bodyPr wrap="square" rtlCol="0">
                <a:spAutoFit/>
              </a:bodyPr>
              <a:lstStyle/>
              <a:p>
                <a:pPr algn="ctr"/>
                <a:r>
                  <a:rPr lang="en-US" sz="1200" dirty="0" err="1">
                    <a:latin typeface="Candara" panose="020E0502030303020204" pitchFamily="34" charset="0"/>
                  </a:rPr>
                  <a:t>Idx</a:t>
                </a:r>
                <a:r>
                  <a:rPr lang="en-US" sz="1200" dirty="0">
                    <a:latin typeface="Candara" panose="020E0502030303020204" pitchFamily="34" charset="0"/>
                  </a:rPr>
                  <a:t>: 3</a:t>
                </a:r>
              </a:p>
            </p:txBody>
          </p:sp>
        </p:grpSp>
      </p:grpSp>
      <p:sp>
        <p:nvSpPr>
          <p:cNvPr id="43" name="TextBox 42"/>
          <p:cNvSpPr txBox="1"/>
          <p:nvPr/>
        </p:nvSpPr>
        <p:spPr>
          <a:xfrm>
            <a:off x="4860815" y="3004600"/>
            <a:ext cx="863371" cy="1446550"/>
          </a:xfrm>
          <a:prstGeom prst="rect">
            <a:avLst/>
          </a:prstGeom>
          <a:noFill/>
        </p:spPr>
        <p:txBody>
          <a:bodyPr wrap="square" rtlCol="0">
            <a:spAutoFit/>
          </a:bodyPr>
          <a:lstStyle/>
          <a:p>
            <a:r>
              <a:rPr lang="en-US" sz="8800" dirty="0">
                <a:solidFill>
                  <a:srgbClr val="009900"/>
                </a:solidFill>
                <a:latin typeface="Candara" panose="020E0502030303020204" pitchFamily="34" charset="0"/>
                <a:sym typeface="Wingdings" panose="05000000000000000000" pitchFamily="2" charset="2"/>
              </a:rPr>
              <a:t></a:t>
            </a:r>
            <a:endParaRPr lang="en-US" sz="8800" dirty="0">
              <a:solidFill>
                <a:srgbClr val="009900"/>
              </a:solidFill>
              <a:latin typeface="Candara" panose="020E0502030303020204" pitchFamily="34" charset="0"/>
            </a:endParaRPr>
          </a:p>
        </p:txBody>
      </p:sp>
    </p:spTree>
    <p:extLst>
      <p:ext uri="{BB962C8B-B14F-4D97-AF65-F5344CB8AC3E}">
        <p14:creationId xmlns:p14="http://schemas.microsoft.com/office/powerpoint/2010/main" val="421736059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5" grpId="0"/>
      <p:bldP spid="26" grpId="0"/>
      <p:bldP spid="4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6A0E-3139-2992-EBFA-B6C5C14090BF}"/>
              </a:ext>
            </a:extLst>
          </p:cNvPr>
          <p:cNvSpPr>
            <a:spLocks noGrp="1"/>
          </p:cNvSpPr>
          <p:nvPr>
            <p:ph type="title"/>
          </p:nvPr>
        </p:nvSpPr>
        <p:spPr/>
        <p:txBody>
          <a:bodyPr/>
          <a:lstStyle/>
          <a:p>
            <a:r>
              <a:rPr lang="en-US" dirty="0"/>
              <a:t>Collaborative Transaction</a:t>
            </a:r>
          </a:p>
        </p:txBody>
      </p:sp>
      <p:sp>
        <p:nvSpPr>
          <p:cNvPr id="4" name="Slide Number Placeholder 3">
            <a:extLst>
              <a:ext uri="{FF2B5EF4-FFF2-40B4-BE49-F238E27FC236}">
                <a16:creationId xmlns:a16="http://schemas.microsoft.com/office/drawing/2014/main" id="{2BD4E2BB-78C6-D38A-D057-3117ECD7C914}"/>
              </a:ext>
            </a:extLst>
          </p:cNvPr>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5" name="Picture 4">
            <a:extLst>
              <a:ext uri="{FF2B5EF4-FFF2-40B4-BE49-F238E27FC236}">
                <a16:creationId xmlns:a16="http://schemas.microsoft.com/office/drawing/2014/main" id="{6AA98E7C-0103-A605-2FF1-925774DF65F0}"/>
              </a:ext>
            </a:extLst>
          </p:cNvPr>
          <p:cNvPicPr>
            <a:picLocks noChangeAspect="1"/>
          </p:cNvPicPr>
          <p:nvPr/>
        </p:nvPicPr>
        <p:blipFill>
          <a:blip r:embed="rId2"/>
          <a:stretch>
            <a:fillRect/>
          </a:stretch>
        </p:blipFill>
        <p:spPr>
          <a:xfrm>
            <a:off x="227566" y="1219388"/>
            <a:ext cx="5583687" cy="2499270"/>
          </a:xfrm>
          <a:prstGeom prst="rect">
            <a:avLst/>
          </a:prstGeom>
        </p:spPr>
      </p:pic>
      <p:pic>
        <p:nvPicPr>
          <p:cNvPr id="6" name="Picture 5">
            <a:extLst>
              <a:ext uri="{FF2B5EF4-FFF2-40B4-BE49-F238E27FC236}">
                <a16:creationId xmlns:a16="http://schemas.microsoft.com/office/drawing/2014/main" id="{19E82EBB-16AD-C9E2-5BB1-BA4578AE6BFA}"/>
              </a:ext>
            </a:extLst>
          </p:cNvPr>
          <p:cNvPicPr>
            <a:picLocks noChangeAspect="1"/>
          </p:cNvPicPr>
          <p:nvPr/>
        </p:nvPicPr>
        <p:blipFill>
          <a:blip r:embed="rId3"/>
          <a:stretch>
            <a:fillRect/>
          </a:stretch>
        </p:blipFill>
        <p:spPr>
          <a:xfrm>
            <a:off x="227566" y="3936505"/>
            <a:ext cx="5583687" cy="2493365"/>
          </a:xfrm>
          <a:prstGeom prst="rect">
            <a:avLst/>
          </a:prstGeom>
        </p:spPr>
      </p:pic>
      <p:sp>
        <p:nvSpPr>
          <p:cNvPr id="7" name="TextBox 6">
            <a:extLst>
              <a:ext uri="{FF2B5EF4-FFF2-40B4-BE49-F238E27FC236}">
                <a16:creationId xmlns:a16="http://schemas.microsoft.com/office/drawing/2014/main" id="{52D756F5-7EDC-E985-908C-E4EB68170958}"/>
              </a:ext>
            </a:extLst>
          </p:cNvPr>
          <p:cNvSpPr txBox="1"/>
          <p:nvPr/>
        </p:nvSpPr>
        <p:spPr>
          <a:xfrm>
            <a:off x="5895474" y="1324279"/>
            <a:ext cx="6068960" cy="5224452"/>
          </a:xfrm>
          <a:prstGeom prst="rect">
            <a:avLst/>
          </a:prstGeom>
          <a:noFill/>
        </p:spPr>
        <p:txBody>
          <a:bodyPr wrap="square" rtlCol="0">
            <a:normAutofit lnSpcReduction="10000"/>
          </a:bodyPr>
          <a:lstStyle/>
          <a:p>
            <a:pPr marL="342900" indent="-342900">
              <a:buFont typeface="Arial" panose="020B0604020202020204" pitchFamily="34" charset="0"/>
              <a:buChar char="•"/>
            </a:pPr>
            <a:r>
              <a:rPr lang="en-US" sz="2000" dirty="0">
                <a:latin typeface="Candara" panose="020E0502030303020204" pitchFamily="34" charset="0"/>
              </a:rPr>
              <a:t>Alice and Bob collaborate and agree on all the inputs and all the outputs (value, spending conditions)</a:t>
            </a:r>
          </a:p>
          <a:p>
            <a:pPr marL="342900" indent="-342900">
              <a:buFont typeface="Arial" panose="020B0604020202020204" pitchFamily="34" charset="0"/>
              <a:buChar char="•"/>
            </a:pPr>
            <a:r>
              <a:rPr lang="en-US" sz="2000" dirty="0">
                <a:latin typeface="Candara" panose="020E0502030303020204" pitchFamily="34" charset="0"/>
              </a:rPr>
              <a:t>Either Alice or Bob creates an ‘</a:t>
            </a:r>
            <a:r>
              <a:rPr lang="en-US" sz="2000" i="1" dirty="0">
                <a:latin typeface="Candara" panose="020E0502030303020204" pitchFamily="34" charset="0"/>
              </a:rPr>
              <a:t>unsigned transaction’</a:t>
            </a:r>
          </a:p>
          <a:p>
            <a:pPr marL="800100" lvl="1" indent="-342900">
              <a:buFont typeface="Arial" panose="020B0604020202020204" pitchFamily="34" charset="0"/>
              <a:buChar char="•"/>
            </a:pPr>
            <a:r>
              <a:rPr lang="en-US" dirty="0">
                <a:latin typeface="Candara" panose="020E0502030303020204" pitchFamily="34" charset="0"/>
              </a:rPr>
              <a:t>Unsigned transaction is shared with other party </a:t>
            </a:r>
          </a:p>
          <a:p>
            <a:pPr marL="342900" indent="-342900">
              <a:buFont typeface="Arial" panose="020B0604020202020204" pitchFamily="34" charset="0"/>
              <a:buChar char="•"/>
            </a:pPr>
            <a:r>
              <a:rPr lang="en-US" sz="2000" dirty="0">
                <a:latin typeface="Candara" panose="020E0502030303020204" pitchFamily="34" charset="0"/>
              </a:rPr>
              <a:t>Alice signs the unsigned transaction (all the inputs and all the outputs) with her private key (produces &lt;SigAlice&gt; for this </a:t>
            </a:r>
            <a:r>
              <a:rPr lang="en-US" sz="2000" dirty="0" err="1">
                <a:latin typeface="Candara" panose="020E0502030303020204" pitchFamily="34" charset="0"/>
              </a:rPr>
              <a:t>txn</a:t>
            </a:r>
            <a:r>
              <a:rPr lang="en-US" sz="2000" dirty="0">
                <a:latin typeface="Candara" panose="020E0502030303020204" pitchFamily="34" charset="0"/>
              </a:rPr>
              <a:t>)</a:t>
            </a:r>
          </a:p>
          <a:p>
            <a:pPr marL="342900" indent="-342900">
              <a:buFont typeface="Arial" panose="020B0604020202020204" pitchFamily="34" charset="0"/>
              <a:buChar char="•"/>
            </a:pPr>
            <a:r>
              <a:rPr lang="en-US" sz="2000" dirty="0">
                <a:latin typeface="Candara" panose="020E0502030303020204" pitchFamily="34" charset="0"/>
              </a:rPr>
              <a:t>Bob signs the unsigned transaction (all the inputs and all the outputs) with his private key (produces &lt;</a:t>
            </a:r>
            <a:r>
              <a:rPr lang="en-US" sz="2000" dirty="0" err="1">
                <a:latin typeface="Candara" panose="020E0502030303020204" pitchFamily="34" charset="0"/>
              </a:rPr>
              <a:t>SigBob</a:t>
            </a:r>
            <a:r>
              <a:rPr lang="en-US" sz="2000" dirty="0">
                <a:latin typeface="Candara" panose="020E0502030303020204" pitchFamily="34" charset="0"/>
              </a:rPr>
              <a:t>&gt; for this </a:t>
            </a:r>
            <a:r>
              <a:rPr lang="en-US" sz="2000" dirty="0" err="1">
                <a:latin typeface="Candara" panose="020E0502030303020204" pitchFamily="34" charset="0"/>
              </a:rPr>
              <a:t>txn</a:t>
            </a:r>
            <a:r>
              <a:rPr lang="en-US" sz="2000" dirty="0">
                <a:latin typeface="Candara" panose="020E0502030303020204" pitchFamily="34" charset="0"/>
              </a:rPr>
              <a:t>)</a:t>
            </a:r>
          </a:p>
          <a:p>
            <a:pPr marL="342900" indent="-342900">
              <a:buFont typeface="Arial" panose="020B0604020202020204" pitchFamily="34" charset="0"/>
              <a:buChar char="•"/>
            </a:pPr>
            <a:r>
              <a:rPr lang="en-US" sz="2000" dirty="0">
                <a:latin typeface="Candara" panose="020E0502030303020204" pitchFamily="34" charset="0"/>
              </a:rPr>
              <a:t>To obtain a fully signed transaction, both parties exchange their signatures</a:t>
            </a:r>
          </a:p>
          <a:p>
            <a:pPr marL="800100" lvl="1" indent="-342900">
              <a:buFont typeface="Arial" panose="020B0604020202020204" pitchFamily="34" charset="0"/>
              <a:buChar char="•"/>
            </a:pPr>
            <a:r>
              <a:rPr lang="en-US" dirty="0">
                <a:latin typeface="Candara" panose="020E0502030303020204" pitchFamily="34" charset="0"/>
              </a:rPr>
              <a:t>The party holding all the signatures has the fully-signed transaction</a:t>
            </a:r>
          </a:p>
          <a:p>
            <a:pPr marL="800100" lvl="1" indent="-342900">
              <a:buFont typeface="Arial" panose="020B0604020202020204" pitchFamily="34" charset="0"/>
              <a:buChar char="•"/>
            </a:pPr>
            <a:r>
              <a:rPr lang="en-US" dirty="0">
                <a:latin typeface="Candara" panose="020E0502030303020204" pitchFamily="34" charset="0"/>
              </a:rPr>
              <a:t>The party with only some signatures holds a so-called partially signed bitcoin transaction (PSBT) </a:t>
            </a:r>
          </a:p>
          <a:p>
            <a:pPr marL="342900" indent="-342900">
              <a:buFont typeface="Arial" panose="020B0604020202020204" pitchFamily="34" charset="0"/>
              <a:buChar char="•"/>
            </a:pPr>
            <a:r>
              <a:rPr lang="en-US" sz="2000" dirty="0">
                <a:latin typeface="Candara" panose="020E0502030303020204" pitchFamily="34" charset="0"/>
              </a:rPr>
              <a:t>Only the fully signed transaction can be broadcast to the Bitcoin network </a:t>
            </a:r>
          </a:p>
        </p:txBody>
      </p:sp>
    </p:spTree>
    <p:extLst>
      <p:ext uri="{BB962C8B-B14F-4D97-AF65-F5344CB8AC3E}">
        <p14:creationId xmlns:p14="http://schemas.microsoft.com/office/powerpoint/2010/main" val="171924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FBA18-09EC-E726-7451-FF3005A5808E}"/>
              </a:ext>
            </a:extLst>
          </p:cNvPr>
          <p:cNvSpPr>
            <a:spLocks noGrp="1"/>
          </p:cNvSpPr>
          <p:nvPr>
            <p:ph type="title"/>
          </p:nvPr>
        </p:nvSpPr>
        <p:spPr/>
        <p:txBody>
          <a:bodyPr/>
          <a:lstStyle/>
          <a:p>
            <a:r>
              <a:rPr lang="en-US" dirty="0"/>
              <a:t>BTC Price vs a Cup of Coffee</a:t>
            </a:r>
          </a:p>
        </p:txBody>
      </p:sp>
      <p:sp>
        <p:nvSpPr>
          <p:cNvPr id="4" name="Slide Number Placeholder 3">
            <a:extLst>
              <a:ext uri="{FF2B5EF4-FFF2-40B4-BE49-F238E27FC236}">
                <a16:creationId xmlns:a16="http://schemas.microsoft.com/office/drawing/2014/main" id="{414F6445-7F7D-4167-0CF9-BA22EFD971CC}"/>
              </a:ext>
            </a:extLst>
          </p:cNvPr>
          <p:cNvSpPr>
            <a:spLocks noGrp="1"/>
          </p:cNvSpPr>
          <p:nvPr>
            <p:ph type="sldNum" sz="quarter" idx="12"/>
          </p:nvPr>
        </p:nvSpPr>
        <p:spPr/>
        <p:txBody>
          <a:bodyPr/>
          <a:lstStyle/>
          <a:p>
            <a:fld id="{D57F1E4F-1CFF-5643-939E-217C01CDF565}" type="slidenum">
              <a:rPr lang="en-US" smtClean="0"/>
              <a:pPr/>
              <a:t>22</a:t>
            </a:fld>
            <a:endParaRPr lang="en-US" dirty="0"/>
          </a:p>
        </p:txBody>
      </p:sp>
      <p:pic>
        <p:nvPicPr>
          <p:cNvPr id="5" name="Picture 4" descr="A graph of a stock market&#10;&#10;AI-generated content may be incorrect.">
            <a:extLst>
              <a:ext uri="{FF2B5EF4-FFF2-40B4-BE49-F238E27FC236}">
                <a16:creationId xmlns:a16="http://schemas.microsoft.com/office/drawing/2014/main" id="{8A0D17DF-FEB7-4FEC-67EC-7B51A8413B57}"/>
              </a:ext>
            </a:extLst>
          </p:cNvPr>
          <p:cNvPicPr>
            <a:picLocks noChangeAspect="1"/>
          </p:cNvPicPr>
          <p:nvPr/>
        </p:nvPicPr>
        <p:blipFill>
          <a:blip r:embed="rId2"/>
          <a:stretch>
            <a:fillRect/>
          </a:stretch>
        </p:blipFill>
        <p:spPr>
          <a:xfrm>
            <a:off x="388782" y="1366692"/>
            <a:ext cx="7431744" cy="4124616"/>
          </a:xfrm>
          <a:prstGeom prst="rect">
            <a:avLst/>
          </a:prstGeom>
          <a:noFill/>
        </p:spPr>
      </p:pic>
      <p:pic>
        <p:nvPicPr>
          <p:cNvPr id="6" name="Picture 5">
            <a:extLst>
              <a:ext uri="{FF2B5EF4-FFF2-40B4-BE49-F238E27FC236}">
                <a16:creationId xmlns:a16="http://schemas.microsoft.com/office/drawing/2014/main" id="{A87046FF-A368-9953-CD3C-5986BB294B30}"/>
              </a:ext>
            </a:extLst>
          </p:cNvPr>
          <p:cNvPicPr>
            <a:picLocks noChangeAspect="1"/>
          </p:cNvPicPr>
          <p:nvPr/>
        </p:nvPicPr>
        <p:blipFill>
          <a:blip r:embed="rId3"/>
          <a:stretch>
            <a:fillRect/>
          </a:stretch>
        </p:blipFill>
        <p:spPr>
          <a:xfrm>
            <a:off x="8229601" y="1116986"/>
            <a:ext cx="3444240" cy="4525822"/>
          </a:xfrm>
          <a:prstGeom prst="rect">
            <a:avLst/>
          </a:prstGeom>
        </p:spPr>
      </p:pic>
      <p:sp>
        <p:nvSpPr>
          <p:cNvPr id="8" name="TextBox 7">
            <a:extLst>
              <a:ext uri="{FF2B5EF4-FFF2-40B4-BE49-F238E27FC236}">
                <a16:creationId xmlns:a16="http://schemas.microsoft.com/office/drawing/2014/main" id="{478BA9F2-305A-6C3C-466D-E0ED0560893F}"/>
              </a:ext>
            </a:extLst>
          </p:cNvPr>
          <p:cNvSpPr txBox="1"/>
          <p:nvPr/>
        </p:nvSpPr>
        <p:spPr>
          <a:xfrm>
            <a:off x="845263" y="5878910"/>
            <a:ext cx="10470992" cy="461665"/>
          </a:xfrm>
          <a:prstGeom prst="rect">
            <a:avLst/>
          </a:prstGeom>
          <a:solidFill>
            <a:srgbClr val="7030A0"/>
          </a:solidFill>
        </p:spPr>
        <p:txBody>
          <a:bodyPr wrap="square" anchor="ctr" anchorCtr="0">
            <a:spAutoFit/>
          </a:bodyPr>
          <a:lstStyle/>
          <a:p>
            <a:pPr algn="ctr"/>
            <a:r>
              <a:rPr lang="en-US" sz="2400" dirty="0">
                <a:solidFill>
                  <a:schemeClr val="bg1"/>
                </a:solidFill>
                <a:latin typeface="Candara" panose="020E0502030303020204" pitchFamily="34" charset="0"/>
              </a:rPr>
              <a:t>Bitcoin seems better suited for buying the entire coffee shop than a single cup!</a:t>
            </a:r>
          </a:p>
        </p:txBody>
      </p:sp>
    </p:spTree>
    <p:extLst>
      <p:ext uri="{BB962C8B-B14F-4D97-AF65-F5344CB8AC3E}">
        <p14:creationId xmlns:p14="http://schemas.microsoft.com/office/powerpoint/2010/main" val="4140897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AA941-8494-445D-8CB2-8EA313456AC8}"/>
              </a:ext>
            </a:extLst>
          </p:cNvPr>
          <p:cNvSpPr>
            <a:spLocks noGrp="1"/>
          </p:cNvSpPr>
          <p:nvPr>
            <p:ph type="title"/>
          </p:nvPr>
        </p:nvSpPr>
        <p:spPr/>
        <p:txBody>
          <a:bodyPr/>
          <a:lstStyle/>
          <a:p>
            <a:r>
              <a:rPr lang="en-US" dirty="0"/>
              <a:t>Start Thinking in </a:t>
            </a:r>
            <a:r>
              <a:rPr lang="en-US" dirty="0" err="1"/>
              <a:t>Satoshis</a:t>
            </a:r>
            <a:r>
              <a:rPr lang="en-US"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1165CA-7CFE-602F-1342-55236492475A}"/>
                  </a:ext>
                </a:extLst>
              </p:cNvPr>
              <p:cNvSpPr>
                <a:spLocks noGrp="1"/>
              </p:cNvSpPr>
              <p:nvPr>
                <p:ph idx="1"/>
              </p:nvPr>
            </p:nvSpPr>
            <p:spPr>
              <a:xfrm>
                <a:off x="487681" y="1848542"/>
                <a:ext cx="6720238" cy="2752825"/>
              </a:xfrm>
            </p:spPr>
            <p:txBody>
              <a:bodyPr>
                <a:normAutofit/>
              </a:bodyPr>
              <a:lstStyle/>
              <a:p>
                <a:r>
                  <a:rPr lang="en-US" sz="2400" dirty="0"/>
                  <a:t>For micropayments, let us start thinking in </a:t>
                </a:r>
                <a:r>
                  <a:rPr lang="en-US" sz="2400" dirty="0" err="1"/>
                  <a:t>Satoshis</a:t>
                </a:r>
                <a:r>
                  <a:rPr lang="en-US" sz="2400" dirty="0"/>
                  <a:t> (sats)</a:t>
                </a:r>
              </a:p>
              <a:p>
                <a:r>
                  <a:rPr lang="en-US" sz="2400" dirty="0"/>
                  <a:t>1 BTC =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10</m:t>
                        </m:r>
                      </m:e>
                      <m:sup>
                        <m:r>
                          <a:rPr lang="en-US" sz="2400" i="1" dirty="0" smtClean="0">
                            <a:latin typeface="Cambria Math" panose="02040503050406030204" pitchFamily="18" charset="0"/>
                          </a:rPr>
                          <m:t>8</m:t>
                        </m:r>
                      </m:sup>
                    </m:sSup>
                  </m:oMath>
                </a14:m>
                <a:r>
                  <a:rPr lang="en-US" sz="2400" dirty="0"/>
                  <a:t> sats (100 million)</a:t>
                </a:r>
              </a:p>
              <a:p>
                <a:r>
                  <a:rPr lang="en-US" sz="2400" dirty="0"/>
                  <a:t>Assume BTC price is 100,000 $ (</a:t>
                </a:r>
                <a14:m>
                  <m:oMath xmlns:m="http://schemas.openxmlformats.org/officeDocument/2006/math">
                    <m:sSup>
                      <m:sSupPr>
                        <m:ctrlPr>
                          <a:rPr lang="en-US" sz="2400" b="0" i="1" dirty="0" smtClean="0">
                            <a:latin typeface="Cambria Math" panose="02040503050406030204" pitchFamily="18" charset="0"/>
                          </a:rPr>
                        </m:ctrlPr>
                      </m:sSupPr>
                      <m:e>
                        <m:r>
                          <a:rPr lang="en-US" sz="2400" b="0" i="0" dirty="0" smtClean="0">
                            <a:latin typeface="Cambria Math" panose="02040503050406030204" pitchFamily="18" charset="0"/>
                          </a:rPr>
                          <m:t>10</m:t>
                        </m:r>
                      </m:e>
                      <m:sup>
                        <m:r>
                          <a:rPr lang="en-US" sz="2400" b="0" i="0" dirty="0" smtClean="0">
                            <a:latin typeface="Cambria Math" panose="02040503050406030204" pitchFamily="18" charset="0"/>
                          </a:rPr>
                          <m:t>5</m:t>
                        </m:r>
                      </m:sup>
                    </m:sSup>
                  </m:oMath>
                </a14:m>
                <a:r>
                  <a:rPr lang="en-US" sz="2400" dirty="0"/>
                  <a:t> $)</a:t>
                </a:r>
              </a:p>
              <a:p>
                <a:r>
                  <a:rPr lang="en-US" sz="2400" dirty="0"/>
                  <a:t>1 sat =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10</m:t>
                        </m:r>
                      </m:e>
                      <m:sup>
                        <m:r>
                          <a:rPr lang="en-US" sz="2400" i="1" dirty="0" smtClean="0">
                            <a:latin typeface="Cambria Math" panose="02040503050406030204" pitchFamily="18" charset="0"/>
                          </a:rPr>
                          <m:t>5</m:t>
                        </m:r>
                      </m:sup>
                    </m:sSup>
                    <m:r>
                      <a:rPr lang="en-US" sz="2400" i="1" dirty="0" smtClean="0">
                        <a:latin typeface="Cambria Math" panose="02040503050406030204" pitchFamily="18" charset="0"/>
                      </a:rPr>
                      <m:t>/</m:t>
                    </m:r>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10</m:t>
                        </m:r>
                      </m:e>
                      <m:sup>
                        <m:r>
                          <a:rPr lang="en-US" sz="2400" i="1" dirty="0" smtClean="0">
                            <a:latin typeface="Cambria Math" panose="02040503050406030204" pitchFamily="18" charset="0"/>
                          </a:rPr>
                          <m:t>8</m:t>
                        </m:r>
                      </m:sup>
                    </m:sSup>
                  </m:oMath>
                </a14:m>
                <a:r>
                  <a:rPr lang="en-US" sz="2400" dirty="0"/>
                  <a:t> = 1/1000 = 0.001 $ (0.3 </a:t>
                </a:r>
                <a:r>
                  <a:rPr lang="en-US" sz="2400" dirty="0" err="1"/>
                  <a:t>pkr</a:t>
                </a:r>
                <a:r>
                  <a:rPr lang="en-US" sz="2400" dirty="0"/>
                  <a:t>)</a:t>
                </a:r>
              </a:p>
              <a:p>
                <a:r>
                  <a:rPr lang="en-US" sz="2400" dirty="0"/>
                  <a:t>1 cup of coffee is approximately 1 $ or 1000 sats</a:t>
                </a:r>
              </a:p>
            </p:txBody>
          </p:sp>
        </mc:Choice>
        <mc:Fallback xmlns="">
          <p:sp>
            <p:nvSpPr>
              <p:cNvPr id="3" name="Content Placeholder 2">
                <a:extLst>
                  <a:ext uri="{FF2B5EF4-FFF2-40B4-BE49-F238E27FC236}">
                    <a16:creationId xmlns:a16="http://schemas.microsoft.com/office/drawing/2014/main" id="{0C1165CA-7CFE-602F-1342-55236492475A}"/>
                  </a:ext>
                </a:extLst>
              </p:cNvPr>
              <p:cNvSpPr>
                <a:spLocks noGrp="1" noRot="1" noChangeAspect="1" noMove="1" noResize="1" noEditPoints="1" noAdjustHandles="1" noChangeArrowheads="1" noChangeShapeType="1" noTextEdit="1"/>
              </p:cNvSpPr>
              <p:nvPr>
                <p:ph idx="1"/>
              </p:nvPr>
            </p:nvSpPr>
            <p:spPr>
              <a:xfrm>
                <a:off x="487681" y="1848542"/>
                <a:ext cx="6720238" cy="2752825"/>
              </a:xfrm>
              <a:blipFill>
                <a:blip r:embed="rId2"/>
                <a:stretch>
                  <a:fillRect l="-1180" t="-3097"/>
                </a:stretch>
              </a:blipFill>
            </p:spPr>
            <p:txBody>
              <a:bodyPr/>
              <a:lstStyle/>
              <a:p>
                <a:r>
                  <a:rPr lang="en-PK">
                    <a:noFill/>
                  </a:rPr>
                  <a:t> </a:t>
                </a:r>
              </a:p>
            </p:txBody>
          </p:sp>
        </mc:Fallback>
      </mc:AlternateContent>
      <p:sp>
        <p:nvSpPr>
          <p:cNvPr id="4" name="Slide Number Placeholder 3">
            <a:extLst>
              <a:ext uri="{FF2B5EF4-FFF2-40B4-BE49-F238E27FC236}">
                <a16:creationId xmlns:a16="http://schemas.microsoft.com/office/drawing/2014/main" id="{F3B4BE62-EEAE-F459-C8CA-79E8910173D3}"/>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23</a:t>
            </a:fld>
            <a:endParaRPr lang="en-US" dirty="0">
              <a:latin typeface="Candara" panose="020E0502030303020204" pitchFamily="34" charset="0"/>
            </a:endParaRPr>
          </a:p>
        </p:txBody>
      </p:sp>
      <p:sp>
        <p:nvSpPr>
          <p:cNvPr id="9" name="TextBox 8">
            <a:extLst>
              <a:ext uri="{FF2B5EF4-FFF2-40B4-BE49-F238E27FC236}">
                <a16:creationId xmlns:a16="http://schemas.microsoft.com/office/drawing/2014/main" id="{2CF17C21-B745-252D-B657-E324AFF1B70A}"/>
              </a:ext>
            </a:extLst>
          </p:cNvPr>
          <p:cNvSpPr txBox="1"/>
          <p:nvPr/>
        </p:nvSpPr>
        <p:spPr>
          <a:xfrm>
            <a:off x="1311442" y="5583161"/>
            <a:ext cx="9308662" cy="523220"/>
          </a:xfrm>
          <a:prstGeom prst="rect">
            <a:avLst/>
          </a:prstGeom>
          <a:noFill/>
        </p:spPr>
        <p:txBody>
          <a:bodyPr wrap="square" rtlCol="0">
            <a:spAutoFit/>
          </a:bodyPr>
          <a:lstStyle/>
          <a:p>
            <a:pPr algn="ctr"/>
            <a:r>
              <a:rPr lang="en-US" sz="2800" dirty="0">
                <a:solidFill>
                  <a:srgbClr val="7030A0"/>
                </a:solidFill>
                <a:latin typeface="Candara" panose="020E0502030303020204" pitchFamily="34" charset="0"/>
              </a:rPr>
              <a:t>Now bitcoin starts to feel like a usable currency</a:t>
            </a:r>
          </a:p>
        </p:txBody>
      </p:sp>
      <p:pic>
        <p:nvPicPr>
          <p:cNvPr id="7" name="Picture 6">
            <a:extLst>
              <a:ext uri="{FF2B5EF4-FFF2-40B4-BE49-F238E27FC236}">
                <a16:creationId xmlns:a16="http://schemas.microsoft.com/office/drawing/2014/main" id="{C0CC6EB6-7555-DDA0-2BD1-E37983388C51}"/>
              </a:ext>
            </a:extLst>
          </p:cNvPr>
          <p:cNvPicPr>
            <a:picLocks noChangeAspect="1"/>
          </p:cNvPicPr>
          <p:nvPr/>
        </p:nvPicPr>
        <p:blipFill>
          <a:blip r:embed="rId3"/>
          <a:stretch>
            <a:fillRect/>
          </a:stretch>
        </p:blipFill>
        <p:spPr>
          <a:xfrm>
            <a:off x="7606967" y="1489280"/>
            <a:ext cx="3901078" cy="3234911"/>
          </a:xfrm>
          <a:prstGeom prst="rect">
            <a:avLst/>
          </a:prstGeom>
        </p:spPr>
      </p:pic>
      <p:sp>
        <p:nvSpPr>
          <p:cNvPr id="11" name="TextBox 10">
            <a:extLst>
              <a:ext uri="{FF2B5EF4-FFF2-40B4-BE49-F238E27FC236}">
                <a16:creationId xmlns:a16="http://schemas.microsoft.com/office/drawing/2014/main" id="{9A2B4A0D-7DE7-B188-1553-3696272BD955}"/>
              </a:ext>
            </a:extLst>
          </p:cNvPr>
          <p:cNvSpPr txBox="1"/>
          <p:nvPr/>
        </p:nvSpPr>
        <p:spPr>
          <a:xfrm>
            <a:off x="7781423" y="4757018"/>
            <a:ext cx="3726622" cy="369332"/>
          </a:xfrm>
          <a:prstGeom prst="rect">
            <a:avLst/>
          </a:prstGeom>
          <a:noFill/>
        </p:spPr>
        <p:txBody>
          <a:bodyPr wrap="square">
            <a:spAutoFit/>
          </a:bodyPr>
          <a:lstStyle/>
          <a:p>
            <a:r>
              <a:rPr lang="en-US" dirty="0">
                <a:latin typeface="Candara" panose="020E0502030303020204" pitchFamily="34" charset="0"/>
                <a:hlinkClick r:id="rId4"/>
              </a:rPr>
              <a:t>https://bitbo.io/tools/satoshi-usd/</a:t>
            </a:r>
            <a:r>
              <a:rPr lang="en-US" dirty="0">
                <a:latin typeface="Candara" panose="020E0502030303020204" pitchFamily="34" charset="0"/>
              </a:rPr>
              <a:t> </a:t>
            </a:r>
          </a:p>
        </p:txBody>
      </p:sp>
    </p:spTree>
    <p:extLst>
      <p:ext uri="{BB962C8B-B14F-4D97-AF65-F5344CB8AC3E}">
        <p14:creationId xmlns:p14="http://schemas.microsoft.com/office/powerpoint/2010/main" val="144494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1CC6B-5F16-A67C-4AF4-23D5B2A09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FFFF6-AD9F-131F-0291-7AC93EF6EDE5}"/>
              </a:ext>
            </a:extLst>
          </p:cNvPr>
          <p:cNvSpPr>
            <a:spLocks noGrp="1"/>
          </p:cNvSpPr>
          <p:nvPr>
            <p:ph type="title"/>
          </p:nvPr>
        </p:nvSpPr>
        <p:spPr/>
        <p:txBody>
          <a:bodyPr/>
          <a:lstStyle/>
          <a:p>
            <a:r>
              <a:rPr lang="en-US" dirty="0"/>
              <a:t>Transaction Fee</a:t>
            </a:r>
          </a:p>
        </p:txBody>
      </p:sp>
      <p:sp>
        <p:nvSpPr>
          <p:cNvPr id="3" name="Content Placeholder 2">
            <a:extLst>
              <a:ext uri="{FF2B5EF4-FFF2-40B4-BE49-F238E27FC236}">
                <a16:creationId xmlns:a16="http://schemas.microsoft.com/office/drawing/2014/main" id="{47E9A348-D984-D87A-C3D5-237A615DE091}"/>
              </a:ext>
            </a:extLst>
          </p:cNvPr>
          <p:cNvSpPr>
            <a:spLocks noGrp="1"/>
          </p:cNvSpPr>
          <p:nvPr>
            <p:ph idx="1"/>
          </p:nvPr>
        </p:nvSpPr>
        <p:spPr>
          <a:xfrm>
            <a:off x="367365" y="1087120"/>
            <a:ext cx="8054739" cy="954107"/>
          </a:xfrm>
        </p:spPr>
        <p:txBody>
          <a:bodyPr>
            <a:normAutofit fontScale="92500"/>
          </a:bodyPr>
          <a:lstStyle/>
          <a:p>
            <a:r>
              <a:rPr lang="en-US" sz="2400" dirty="0"/>
              <a:t>1 cup of coffee is approximately 1 $ or 800 to 1000 sats</a:t>
            </a:r>
          </a:p>
          <a:p>
            <a:r>
              <a:rPr lang="en-US" sz="2400" dirty="0">
                <a:solidFill>
                  <a:srgbClr val="FF0000"/>
                </a:solidFill>
              </a:rPr>
              <a:t>Average transaction fee is around 0.5 to 1.5 $ ~ 400 to 800 sats</a:t>
            </a:r>
          </a:p>
        </p:txBody>
      </p:sp>
      <p:sp>
        <p:nvSpPr>
          <p:cNvPr id="4" name="Slide Number Placeholder 3">
            <a:extLst>
              <a:ext uri="{FF2B5EF4-FFF2-40B4-BE49-F238E27FC236}">
                <a16:creationId xmlns:a16="http://schemas.microsoft.com/office/drawing/2014/main" id="{C8DFB184-48D9-89E0-565F-202F0A393847}"/>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24</a:t>
            </a:fld>
            <a:endParaRPr lang="en-US" dirty="0">
              <a:latin typeface="Candara" panose="020E0502030303020204" pitchFamily="34" charset="0"/>
            </a:endParaRPr>
          </a:p>
        </p:txBody>
      </p:sp>
      <p:sp>
        <p:nvSpPr>
          <p:cNvPr id="9" name="TextBox 8">
            <a:extLst>
              <a:ext uri="{FF2B5EF4-FFF2-40B4-BE49-F238E27FC236}">
                <a16:creationId xmlns:a16="http://schemas.microsoft.com/office/drawing/2014/main" id="{A5AD33EA-ABD9-A943-E5CF-58E863108587}"/>
              </a:ext>
            </a:extLst>
          </p:cNvPr>
          <p:cNvSpPr txBox="1"/>
          <p:nvPr/>
        </p:nvSpPr>
        <p:spPr>
          <a:xfrm>
            <a:off x="694796" y="5689287"/>
            <a:ext cx="10455442" cy="461665"/>
          </a:xfrm>
          <a:prstGeom prst="rect">
            <a:avLst/>
          </a:prstGeom>
          <a:noFill/>
        </p:spPr>
        <p:txBody>
          <a:bodyPr wrap="square" rtlCol="0">
            <a:spAutoFit/>
          </a:bodyPr>
          <a:lstStyle/>
          <a:p>
            <a:pPr algn="ctr"/>
            <a:r>
              <a:rPr lang="en-US" sz="2400" dirty="0">
                <a:solidFill>
                  <a:srgbClr val="7030A0"/>
                </a:solidFill>
                <a:latin typeface="Candara" panose="020E0502030303020204" pitchFamily="34" charset="0"/>
              </a:rPr>
              <a:t>It still seems difficult to use BTC for micropayments due to high transaction fee!</a:t>
            </a:r>
          </a:p>
        </p:txBody>
      </p:sp>
      <p:pic>
        <p:nvPicPr>
          <p:cNvPr id="7" name="Picture 6">
            <a:extLst>
              <a:ext uri="{FF2B5EF4-FFF2-40B4-BE49-F238E27FC236}">
                <a16:creationId xmlns:a16="http://schemas.microsoft.com/office/drawing/2014/main" id="{7A3AE77D-1320-71E9-C0E1-4B4055CC15F5}"/>
              </a:ext>
            </a:extLst>
          </p:cNvPr>
          <p:cNvPicPr>
            <a:picLocks noChangeAspect="1"/>
          </p:cNvPicPr>
          <p:nvPr/>
        </p:nvPicPr>
        <p:blipFill>
          <a:blip r:embed="rId3"/>
          <a:stretch>
            <a:fillRect/>
          </a:stretch>
        </p:blipFill>
        <p:spPr>
          <a:xfrm>
            <a:off x="367366" y="2228331"/>
            <a:ext cx="6108062" cy="2608837"/>
          </a:xfrm>
          <a:prstGeom prst="rect">
            <a:avLst/>
          </a:prstGeom>
        </p:spPr>
      </p:pic>
      <p:pic>
        <p:nvPicPr>
          <p:cNvPr id="8" name="Picture 7">
            <a:extLst>
              <a:ext uri="{FF2B5EF4-FFF2-40B4-BE49-F238E27FC236}">
                <a16:creationId xmlns:a16="http://schemas.microsoft.com/office/drawing/2014/main" id="{46D5C2D6-9F68-46DE-002D-88BAFDA51D6E}"/>
              </a:ext>
            </a:extLst>
          </p:cNvPr>
          <p:cNvPicPr>
            <a:picLocks noChangeAspect="1"/>
          </p:cNvPicPr>
          <p:nvPr/>
        </p:nvPicPr>
        <p:blipFill>
          <a:blip r:embed="rId4"/>
          <a:stretch>
            <a:fillRect/>
          </a:stretch>
        </p:blipFill>
        <p:spPr>
          <a:xfrm>
            <a:off x="6701589" y="2228331"/>
            <a:ext cx="5249856" cy="2781410"/>
          </a:xfrm>
          <a:prstGeom prst="rect">
            <a:avLst/>
          </a:prstGeom>
        </p:spPr>
      </p:pic>
    </p:spTree>
    <p:extLst>
      <p:ext uri="{BB962C8B-B14F-4D97-AF65-F5344CB8AC3E}">
        <p14:creationId xmlns:p14="http://schemas.microsoft.com/office/powerpoint/2010/main" val="320466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DCAA-A4B3-A696-0B10-70B40B68A1A9}"/>
              </a:ext>
            </a:extLst>
          </p:cNvPr>
          <p:cNvSpPr>
            <a:spLocks noGrp="1"/>
          </p:cNvSpPr>
          <p:nvPr>
            <p:ph type="title"/>
          </p:nvPr>
        </p:nvSpPr>
        <p:spPr/>
        <p:txBody>
          <a:bodyPr>
            <a:normAutofit/>
          </a:bodyPr>
          <a:lstStyle/>
          <a:p>
            <a:r>
              <a:rPr lang="en-US" dirty="0"/>
              <a:t>Transaction Fee Depends on Size</a:t>
            </a:r>
          </a:p>
        </p:txBody>
      </p:sp>
      <p:sp>
        <p:nvSpPr>
          <p:cNvPr id="3" name="Content Placeholder 2">
            <a:extLst>
              <a:ext uri="{FF2B5EF4-FFF2-40B4-BE49-F238E27FC236}">
                <a16:creationId xmlns:a16="http://schemas.microsoft.com/office/drawing/2014/main" id="{A97CFA88-C619-7D1B-4F80-8021DA67E924}"/>
              </a:ext>
            </a:extLst>
          </p:cNvPr>
          <p:cNvSpPr>
            <a:spLocks noGrp="1"/>
          </p:cNvSpPr>
          <p:nvPr>
            <p:ph idx="1"/>
          </p:nvPr>
        </p:nvSpPr>
        <p:spPr>
          <a:xfrm>
            <a:off x="487679" y="1097282"/>
            <a:ext cx="11098731" cy="1838423"/>
          </a:xfrm>
        </p:spPr>
        <p:txBody>
          <a:bodyPr>
            <a:normAutofit fontScale="92500" lnSpcReduction="10000"/>
          </a:bodyPr>
          <a:lstStyle/>
          <a:p>
            <a:r>
              <a:rPr lang="en-US" sz="2400" dirty="0"/>
              <a:t>In Bitcoin, transaction fee does not depend on the transaction value</a:t>
            </a:r>
          </a:p>
          <a:p>
            <a:r>
              <a:rPr lang="en-US" sz="2400" dirty="0">
                <a:solidFill>
                  <a:srgbClr val="7030A0"/>
                </a:solidFill>
              </a:rPr>
              <a:t>Transaction fee depends on the transaction size</a:t>
            </a:r>
          </a:p>
          <a:p>
            <a:pPr lvl="1"/>
            <a:r>
              <a:rPr lang="en-US" sz="2000" dirty="0">
                <a:solidFill>
                  <a:srgbClr val="7030A0"/>
                </a:solidFill>
              </a:rPr>
              <a:t>Large sized transactions (more bytes) are costly</a:t>
            </a:r>
          </a:p>
          <a:p>
            <a:r>
              <a:rPr lang="en-US" sz="2400" dirty="0">
                <a:solidFill>
                  <a:srgbClr val="FF0000"/>
                </a:solidFill>
              </a:rPr>
              <a:t>A 1 $ coffee payment transaction can end up paying the same fee as a 100,000 $ BTC transfer if the transaction size in bytes is the same</a:t>
            </a:r>
          </a:p>
        </p:txBody>
      </p:sp>
      <p:sp>
        <p:nvSpPr>
          <p:cNvPr id="4" name="Slide Number Placeholder 3">
            <a:extLst>
              <a:ext uri="{FF2B5EF4-FFF2-40B4-BE49-F238E27FC236}">
                <a16:creationId xmlns:a16="http://schemas.microsoft.com/office/drawing/2014/main" id="{66243FC9-2F2B-1BDE-D9C6-5BECE533E6FA}"/>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25</a:t>
            </a:fld>
            <a:endParaRPr lang="en-US" dirty="0">
              <a:latin typeface="Candara" panose="020E0502030303020204" pitchFamily="34" charset="0"/>
            </a:endParaRPr>
          </a:p>
        </p:txBody>
      </p:sp>
      <p:pic>
        <p:nvPicPr>
          <p:cNvPr id="6" name="Picture 5">
            <a:extLst>
              <a:ext uri="{FF2B5EF4-FFF2-40B4-BE49-F238E27FC236}">
                <a16:creationId xmlns:a16="http://schemas.microsoft.com/office/drawing/2014/main" id="{849E6208-1602-B575-E159-C70565D73F38}"/>
              </a:ext>
            </a:extLst>
          </p:cNvPr>
          <p:cNvPicPr>
            <a:picLocks noChangeAspect="1"/>
          </p:cNvPicPr>
          <p:nvPr/>
        </p:nvPicPr>
        <p:blipFill>
          <a:blip r:embed="rId3"/>
          <a:stretch>
            <a:fillRect/>
          </a:stretch>
        </p:blipFill>
        <p:spPr>
          <a:xfrm>
            <a:off x="2821389" y="2945867"/>
            <a:ext cx="5573912" cy="2894272"/>
          </a:xfrm>
          <a:prstGeom prst="rect">
            <a:avLst/>
          </a:prstGeom>
        </p:spPr>
      </p:pic>
      <p:sp>
        <p:nvSpPr>
          <p:cNvPr id="7" name="TextBox 6">
            <a:extLst>
              <a:ext uri="{FF2B5EF4-FFF2-40B4-BE49-F238E27FC236}">
                <a16:creationId xmlns:a16="http://schemas.microsoft.com/office/drawing/2014/main" id="{9940A4A8-F71F-2379-00F9-C7C3334E627E}"/>
              </a:ext>
            </a:extLst>
          </p:cNvPr>
          <p:cNvSpPr txBox="1"/>
          <p:nvPr/>
        </p:nvSpPr>
        <p:spPr>
          <a:xfrm>
            <a:off x="825130" y="5850301"/>
            <a:ext cx="10384574" cy="523220"/>
          </a:xfrm>
          <a:prstGeom prst="rect">
            <a:avLst/>
          </a:prstGeom>
          <a:solidFill>
            <a:srgbClr val="7030A0"/>
          </a:solidFill>
        </p:spPr>
        <p:txBody>
          <a:bodyPr wrap="none" rtlCol="0">
            <a:spAutoFit/>
          </a:bodyPr>
          <a:lstStyle/>
          <a:p>
            <a:pPr algn="ctr"/>
            <a:r>
              <a:rPr lang="en-US" sz="2800" dirty="0">
                <a:solidFill>
                  <a:schemeClr val="bg1"/>
                </a:solidFill>
                <a:latin typeface="Candara" panose="020E0502030303020204" pitchFamily="34" charset="0"/>
              </a:rPr>
              <a:t>Can we exploit this property to reduce the fees for micropayments?</a:t>
            </a:r>
          </a:p>
        </p:txBody>
      </p:sp>
    </p:spTree>
    <p:extLst>
      <p:ext uri="{BB962C8B-B14F-4D97-AF65-F5344CB8AC3E}">
        <p14:creationId xmlns:p14="http://schemas.microsoft.com/office/powerpoint/2010/main" val="82181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268DC-A35D-CA5B-0D4D-BC1D9F07E44C}"/>
              </a:ext>
            </a:extLst>
          </p:cNvPr>
          <p:cNvSpPr>
            <a:spLocks noGrp="1"/>
          </p:cNvSpPr>
          <p:nvPr>
            <p:ph type="title"/>
          </p:nvPr>
        </p:nvSpPr>
        <p:spPr/>
        <p:txBody>
          <a:bodyPr/>
          <a:lstStyle/>
          <a:p>
            <a:r>
              <a:rPr lang="en-US" dirty="0"/>
              <a:t>Reducing the Fee for Micropayments</a:t>
            </a:r>
          </a:p>
        </p:txBody>
      </p:sp>
      <p:sp>
        <p:nvSpPr>
          <p:cNvPr id="3" name="Content Placeholder 2">
            <a:extLst>
              <a:ext uri="{FF2B5EF4-FFF2-40B4-BE49-F238E27FC236}">
                <a16:creationId xmlns:a16="http://schemas.microsoft.com/office/drawing/2014/main" id="{512FA8D9-D863-A5F0-DD2E-4D6436E66267}"/>
              </a:ext>
            </a:extLst>
          </p:cNvPr>
          <p:cNvSpPr>
            <a:spLocks noGrp="1"/>
          </p:cNvSpPr>
          <p:nvPr>
            <p:ph idx="1"/>
          </p:nvPr>
        </p:nvSpPr>
        <p:spPr>
          <a:xfrm>
            <a:off x="487680" y="1097280"/>
            <a:ext cx="11186160" cy="4203926"/>
          </a:xfrm>
        </p:spPr>
        <p:txBody>
          <a:bodyPr>
            <a:noAutofit/>
          </a:bodyPr>
          <a:lstStyle/>
          <a:p>
            <a:r>
              <a:rPr lang="en-US" sz="2000" dirty="0"/>
              <a:t>Suppose we make a single high-value transaction with an output of 1 lac sats </a:t>
            </a:r>
          </a:p>
          <a:p>
            <a:pPr lvl="1"/>
            <a:r>
              <a:rPr lang="en-US" sz="2000" dirty="0"/>
              <a:t>This transaction is confirmed on blockchain </a:t>
            </a:r>
          </a:p>
          <a:p>
            <a:pPr lvl="1"/>
            <a:r>
              <a:rPr lang="en-US" sz="2000" dirty="0"/>
              <a:t>We pay the transaction fee (e.g., 500 sats)</a:t>
            </a:r>
          </a:p>
          <a:p>
            <a:pPr lvl="1"/>
            <a:r>
              <a:rPr lang="en-US" sz="2000" dirty="0">
                <a:solidFill>
                  <a:srgbClr val="7030A0"/>
                </a:solidFill>
              </a:rPr>
              <a:t>We call it the ‘Funding transaction’</a:t>
            </a:r>
          </a:p>
          <a:p>
            <a:r>
              <a:rPr lang="en-US" sz="2000" dirty="0"/>
              <a:t>We use the funding transaction to make several micropayments</a:t>
            </a:r>
          </a:p>
          <a:p>
            <a:pPr lvl="1"/>
            <a:r>
              <a:rPr lang="en-US" sz="2000" dirty="0"/>
              <a:t>After every micropayment, we only update the balances off-chain by creating ‘commitment transactions’ </a:t>
            </a:r>
          </a:p>
          <a:p>
            <a:pPr lvl="1"/>
            <a:r>
              <a:rPr lang="en-US" sz="2000" dirty="0"/>
              <a:t>After several micropayments, we settle the final balances on-chain </a:t>
            </a:r>
          </a:p>
          <a:p>
            <a:pPr lvl="1"/>
            <a:r>
              <a:rPr lang="en-US" sz="2000" dirty="0"/>
              <a:t>We pay the transaction fee for the last commitment transaction that is confirmed on the blockchain (e.g., 500 sats fee)</a:t>
            </a:r>
          </a:p>
          <a:p>
            <a:r>
              <a:rPr lang="en-US" sz="2000" dirty="0"/>
              <a:t>We pay the fee for the initial funding transaction and the last commitment transaction as they enter the bitcoin blockchain (only 1000 sats in transaction fees)</a:t>
            </a:r>
          </a:p>
        </p:txBody>
      </p:sp>
      <p:sp>
        <p:nvSpPr>
          <p:cNvPr id="4" name="Slide Number Placeholder 3">
            <a:extLst>
              <a:ext uri="{FF2B5EF4-FFF2-40B4-BE49-F238E27FC236}">
                <a16:creationId xmlns:a16="http://schemas.microsoft.com/office/drawing/2014/main" id="{8A6FB46D-C12B-E6DE-FB5A-F389F3421AE7}"/>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
        <p:nvSpPr>
          <p:cNvPr id="6" name="TextBox 5">
            <a:extLst>
              <a:ext uri="{FF2B5EF4-FFF2-40B4-BE49-F238E27FC236}">
                <a16:creationId xmlns:a16="http://schemas.microsoft.com/office/drawing/2014/main" id="{56ECAAFA-84A8-9F02-F984-80D9EDA94087}"/>
              </a:ext>
            </a:extLst>
          </p:cNvPr>
          <p:cNvSpPr txBox="1"/>
          <p:nvPr/>
        </p:nvSpPr>
        <p:spPr>
          <a:xfrm>
            <a:off x="914399" y="5311366"/>
            <a:ext cx="10659979" cy="830997"/>
          </a:xfrm>
          <a:prstGeom prst="rect">
            <a:avLst/>
          </a:prstGeom>
          <a:solidFill>
            <a:srgbClr val="7030A0"/>
          </a:solidFill>
        </p:spPr>
        <p:txBody>
          <a:bodyPr wrap="square" rtlCol="0">
            <a:spAutoFit/>
          </a:bodyPr>
          <a:lstStyle/>
          <a:p>
            <a:pPr algn="ctr"/>
            <a:r>
              <a:rPr lang="en-US" sz="2400" dirty="0">
                <a:solidFill>
                  <a:schemeClr val="bg1"/>
                </a:solidFill>
              </a:rPr>
              <a:t>Commitment transactions exist off-chain, so the challenge is to make them as secure as the on-chain Bitcoin transaction</a:t>
            </a:r>
          </a:p>
        </p:txBody>
      </p:sp>
    </p:spTree>
    <p:extLst>
      <p:ext uri="{BB962C8B-B14F-4D97-AF65-F5344CB8AC3E}">
        <p14:creationId xmlns:p14="http://schemas.microsoft.com/office/powerpoint/2010/main" val="64697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6356E-E8C5-9A9C-722B-2BDA20870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1BDBC-7DC3-B875-E0BC-817D790C7C09}"/>
              </a:ext>
            </a:extLst>
          </p:cNvPr>
          <p:cNvSpPr>
            <a:spLocks noGrp="1"/>
          </p:cNvSpPr>
          <p:nvPr>
            <p:ph type="title"/>
          </p:nvPr>
        </p:nvSpPr>
        <p:spPr/>
        <p:txBody>
          <a:bodyPr/>
          <a:lstStyle/>
          <a:p>
            <a:r>
              <a:rPr lang="en-US" dirty="0"/>
              <a:t>Funding &amp; Commitment Transactions</a:t>
            </a:r>
          </a:p>
        </p:txBody>
      </p:sp>
      <p:sp>
        <p:nvSpPr>
          <p:cNvPr id="4" name="Slide Number Placeholder 3">
            <a:extLst>
              <a:ext uri="{FF2B5EF4-FFF2-40B4-BE49-F238E27FC236}">
                <a16:creationId xmlns:a16="http://schemas.microsoft.com/office/drawing/2014/main" id="{8DFB5C2D-6313-9593-0C35-1B7AACB05D04}"/>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27</a:t>
            </a:fld>
            <a:endParaRPr lang="en-US" dirty="0">
              <a:latin typeface="Candara" panose="020E0502030303020204" pitchFamily="34" charset="0"/>
            </a:endParaRPr>
          </a:p>
        </p:txBody>
      </p:sp>
      <p:sp>
        <p:nvSpPr>
          <p:cNvPr id="7" name="TextBox 6">
            <a:extLst>
              <a:ext uri="{FF2B5EF4-FFF2-40B4-BE49-F238E27FC236}">
                <a16:creationId xmlns:a16="http://schemas.microsoft.com/office/drawing/2014/main" id="{1346CE0D-88B4-AB96-9D06-F4169CABAEE3}"/>
              </a:ext>
            </a:extLst>
          </p:cNvPr>
          <p:cNvSpPr txBox="1"/>
          <p:nvPr/>
        </p:nvSpPr>
        <p:spPr>
          <a:xfrm>
            <a:off x="828605" y="1144991"/>
            <a:ext cx="4978271" cy="1107996"/>
          </a:xfrm>
          <a:prstGeom prst="rect">
            <a:avLst/>
          </a:prstGeom>
          <a:noFill/>
        </p:spPr>
        <p:txBody>
          <a:bodyPr wrap="square" rtlCol="0">
            <a:spAutoFit/>
          </a:bodyPr>
          <a:lstStyle/>
          <a:p>
            <a:pPr algn="ctr"/>
            <a:r>
              <a:rPr lang="en-US" sz="2200" dirty="0">
                <a:solidFill>
                  <a:schemeClr val="accent6">
                    <a:lumMod val="50000"/>
                  </a:schemeClr>
                </a:solidFill>
                <a:latin typeface="Candara" panose="020E0502030303020204" pitchFamily="34" charset="0"/>
              </a:rPr>
              <a:t>Funding transaction: </a:t>
            </a:r>
          </a:p>
          <a:p>
            <a:pPr algn="ctr"/>
            <a:r>
              <a:rPr lang="en-US" sz="2200" dirty="0">
                <a:solidFill>
                  <a:schemeClr val="accent6">
                    <a:lumMod val="50000"/>
                  </a:schemeClr>
                </a:solidFill>
                <a:latin typeface="Candara" panose="020E0502030303020204" pitchFamily="34" charset="0"/>
              </a:rPr>
              <a:t>2-of-2 </a:t>
            </a:r>
            <a:r>
              <a:rPr lang="en-US" sz="2200" dirty="0" err="1">
                <a:solidFill>
                  <a:schemeClr val="accent6">
                    <a:lumMod val="50000"/>
                  </a:schemeClr>
                </a:solidFill>
                <a:latin typeface="Candara" panose="020E0502030303020204" pitchFamily="34" charset="0"/>
              </a:rPr>
              <a:t>multisig</a:t>
            </a:r>
            <a:r>
              <a:rPr lang="en-US" sz="2200" dirty="0">
                <a:solidFill>
                  <a:schemeClr val="accent6">
                    <a:lumMod val="50000"/>
                  </a:schemeClr>
                </a:solidFill>
                <a:latin typeface="Candara" panose="020E0502030303020204" pitchFamily="34" charset="0"/>
              </a:rPr>
              <a:t> transaction on blockchain used to lock funds in shared ownership </a:t>
            </a:r>
          </a:p>
        </p:txBody>
      </p:sp>
      <p:grpSp>
        <p:nvGrpSpPr>
          <p:cNvPr id="9" name="Group 8">
            <a:extLst>
              <a:ext uri="{FF2B5EF4-FFF2-40B4-BE49-F238E27FC236}">
                <a16:creationId xmlns:a16="http://schemas.microsoft.com/office/drawing/2014/main" id="{9C237508-DD07-BE84-CD7B-DFBD9CF76B30}"/>
              </a:ext>
            </a:extLst>
          </p:cNvPr>
          <p:cNvGrpSpPr/>
          <p:nvPr/>
        </p:nvGrpSpPr>
        <p:grpSpPr>
          <a:xfrm>
            <a:off x="1397502" y="2696366"/>
            <a:ext cx="3840479" cy="1870705"/>
            <a:chOff x="621324" y="1456348"/>
            <a:chExt cx="2459804" cy="1738217"/>
          </a:xfrm>
        </p:grpSpPr>
        <p:sp>
          <p:nvSpPr>
            <p:cNvPr id="5" name="Rectangle 4">
              <a:extLst>
                <a:ext uri="{FF2B5EF4-FFF2-40B4-BE49-F238E27FC236}">
                  <a16:creationId xmlns:a16="http://schemas.microsoft.com/office/drawing/2014/main" id="{8F7E8A25-8791-6C85-6A34-AAFAE7CBDA40}"/>
                </a:ext>
              </a:extLst>
            </p:cNvPr>
            <p:cNvSpPr/>
            <p:nvPr/>
          </p:nvSpPr>
          <p:spPr>
            <a:xfrm>
              <a:off x="621324" y="1512278"/>
              <a:ext cx="2459804" cy="168228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latin typeface="Candara" panose="020E0502030303020204" pitchFamily="34" charset="0"/>
                </a:rPr>
                <a:t>Funding TX</a:t>
              </a:r>
            </a:p>
            <a:p>
              <a:endParaRPr lang="en-US" dirty="0">
                <a:latin typeface="Candara" panose="020E0502030303020204" pitchFamily="34" charset="0"/>
              </a:endParaRPr>
            </a:p>
            <a:p>
              <a:r>
                <a:rPr lang="en-US" dirty="0">
                  <a:latin typeface="Candara" panose="020E0502030303020204" pitchFamily="34" charset="0"/>
                </a:rPr>
                <a:t>Outputs:</a:t>
              </a:r>
            </a:p>
            <a:p>
              <a:r>
                <a:rPr lang="en-US" dirty="0">
                  <a:latin typeface="Candara" panose="020E0502030303020204" pitchFamily="34" charset="0"/>
                </a:rPr>
                <a:t>0. Alice locks 1 lac sats in a 2-of-2 </a:t>
              </a:r>
              <a:r>
                <a:rPr lang="en-US" dirty="0" err="1">
                  <a:latin typeface="Candara" panose="020E0502030303020204" pitchFamily="34" charset="0"/>
                </a:rPr>
                <a:t>multisig</a:t>
              </a:r>
              <a:r>
                <a:rPr lang="en-US" dirty="0">
                  <a:latin typeface="Candara" panose="020E0502030303020204" pitchFamily="34" charset="0"/>
                </a:rPr>
                <a:t> with coffee shop (Bob)</a:t>
              </a:r>
            </a:p>
          </p:txBody>
        </p:sp>
        <p:pic>
          <p:nvPicPr>
            <p:cNvPr id="8" name="Picture 7">
              <a:extLst>
                <a:ext uri="{FF2B5EF4-FFF2-40B4-BE49-F238E27FC236}">
                  <a16:creationId xmlns:a16="http://schemas.microsoft.com/office/drawing/2014/main" id="{9A46C9FA-A6B6-AD3E-526D-B399E1548EC7}"/>
                </a:ext>
              </a:extLst>
            </p:cNvPr>
            <p:cNvPicPr>
              <a:picLocks noChangeAspect="1"/>
            </p:cNvPicPr>
            <p:nvPr/>
          </p:nvPicPr>
          <p:blipFill>
            <a:blip r:embed="rId3"/>
            <a:stretch>
              <a:fillRect/>
            </a:stretch>
          </p:blipFill>
          <p:spPr>
            <a:xfrm>
              <a:off x="2669397" y="1456348"/>
              <a:ext cx="320904" cy="599800"/>
            </a:xfrm>
            <a:prstGeom prst="rect">
              <a:avLst/>
            </a:prstGeom>
          </p:spPr>
        </p:pic>
      </p:grpSp>
      <p:sp>
        <p:nvSpPr>
          <p:cNvPr id="28" name="TextBox 27">
            <a:extLst>
              <a:ext uri="{FF2B5EF4-FFF2-40B4-BE49-F238E27FC236}">
                <a16:creationId xmlns:a16="http://schemas.microsoft.com/office/drawing/2014/main" id="{15C61C6F-6ABC-8E5C-1AE8-13C4D6741644}"/>
              </a:ext>
            </a:extLst>
          </p:cNvPr>
          <p:cNvSpPr txBox="1"/>
          <p:nvPr/>
        </p:nvSpPr>
        <p:spPr>
          <a:xfrm>
            <a:off x="502920" y="4750711"/>
            <a:ext cx="11186160" cy="1785104"/>
          </a:xfrm>
          <a:prstGeom prst="rect">
            <a:avLst/>
          </a:prstGeom>
          <a:noFill/>
        </p:spPr>
        <p:txBody>
          <a:bodyPr wrap="square" rtlCol="0">
            <a:spAutoFit/>
          </a:bodyPr>
          <a:lstStyle/>
          <a:p>
            <a:pPr marL="285750" indent="-285750">
              <a:buFont typeface="Arial" panose="020B0604020202020204" pitchFamily="34" charset="0"/>
              <a:buChar char="•"/>
            </a:pPr>
            <a:r>
              <a:rPr lang="en-US" sz="2200" dirty="0">
                <a:latin typeface="Candara" panose="020E0502030303020204" pitchFamily="34" charset="0"/>
              </a:rPr>
              <a:t>Before publishing the funding transaction, the funder first obtains a pre-signed spending transaction from the counterparty so the funds can always be recovered even if cooperation stops</a:t>
            </a:r>
          </a:p>
          <a:p>
            <a:pPr marL="285750" indent="-285750">
              <a:buFont typeface="Arial" panose="020B0604020202020204" pitchFamily="34" charset="0"/>
              <a:buChar char="•"/>
            </a:pPr>
            <a:r>
              <a:rPr lang="en-US" sz="2200" dirty="0">
                <a:latin typeface="Candara" panose="020E0502030303020204" pitchFamily="34" charset="0"/>
              </a:rPr>
              <a:t>Once the funding transaction is safe to publish, the peers move forward by creating the commitment transactions</a:t>
            </a:r>
          </a:p>
        </p:txBody>
      </p:sp>
      <p:sp>
        <p:nvSpPr>
          <p:cNvPr id="6" name="TextBox 5">
            <a:extLst>
              <a:ext uri="{FF2B5EF4-FFF2-40B4-BE49-F238E27FC236}">
                <a16:creationId xmlns:a16="http://schemas.microsoft.com/office/drawing/2014/main" id="{E53EE300-8A0C-20DB-D634-D2F82056242B}"/>
              </a:ext>
            </a:extLst>
          </p:cNvPr>
          <p:cNvSpPr txBox="1"/>
          <p:nvPr/>
        </p:nvSpPr>
        <p:spPr>
          <a:xfrm>
            <a:off x="5852353" y="1106278"/>
            <a:ext cx="5360234" cy="1446550"/>
          </a:xfrm>
          <a:prstGeom prst="rect">
            <a:avLst/>
          </a:prstGeom>
          <a:noFill/>
        </p:spPr>
        <p:txBody>
          <a:bodyPr wrap="square">
            <a:spAutoFit/>
          </a:bodyPr>
          <a:lstStyle/>
          <a:p>
            <a:pPr algn="ctr"/>
            <a:r>
              <a:rPr lang="en-US" sz="2200" dirty="0">
                <a:solidFill>
                  <a:srgbClr val="7030A0"/>
                </a:solidFill>
                <a:latin typeface="Candara" panose="020E0502030303020204" pitchFamily="34" charset="0"/>
              </a:rPr>
              <a:t>Commitment transaction: </a:t>
            </a:r>
          </a:p>
          <a:p>
            <a:pPr algn="ctr"/>
            <a:r>
              <a:rPr lang="en-US" sz="2200" dirty="0">
                <a:solidFill>
                  <a:srgbClr val="7030A0"/>
                </a:solidFill>
                <a:latin typeface="Candara" panose="020E0502030303020204" pitchFamily="34" charset="0"/>
              </a:rPr>
              <a:t>A transaction or a number of transactions that return the funds of a two-party channel to their owner</a:t>
            </a:r>
          </a:p>
        </p:txBody>
      </p:sp>
      <p:sp>
        <p:nvSpPr>
          <p:cNvPr id="10" name="Rectangle 9">
            <a:extLst>
              <a:ext uri="{FF2B5EF4-FFF2-40B4-BE49-F238E27FC236}">
                <a16:creationId xmlns:a16="http://schemas.microsoft.com/office/drawing/2014/main" id="{AC60621F-8E33-C99F-9AEC-032DC39E2845}"/>
              </a:ext>
            </a:extLst>
          </p:cNvPr>
          <p:cNvSpPr/>
          <p:nvPr/>
        </p:nvSpPr>
        <p:spPr>
          <a:xfrm>
            <a:off x="6674525" y="2753823"/>
            <a:ext cx="3840480" cy="1810512"/>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latin typeface="Candara" panose="020E0502030303020204" pitchFamily="34" charset="0"/>
              </a:rPr>
              <a:t>Commitment TX</a:t>
            </a:r>
          </a:p>
          <a:p>
            <a:r>
              <a:rPr lang="en-US" dirty="0">
                <a:latin typeface="Candara" panose="020E0502030303020204" pitchFamily="34" charset="0"/>
              </a:rPr>
              <a:t>(Monday)</a:t>
            </a:r>
          </a:p>
          <a:p>
            <a:endParaRPr lang="en-US" dirty="0">
              <a:latin typeface="Candara" panose="020E0502030303020204" pitchFamily="34" charset="0"/>
            </a:endParaRPr>
          </a:p>
          <a:p>
            <a:r>
              <a:rPr lang="en-US" dirty="0">
                <a:latin typeface="Candara" panose="020E0502030303020204" pitchFamily="34" charset="0"/>
              </a:rPr>
              <a:t>Outputs:</a:t>
            </a:r>
          </a:p>
          <a:p>
            <a:r>
              <a:rPr lang="en-US" dirty="0">
                <a:latin typeface="Candara" panose="020E0502030303020204" pitchFamily="34" charset="0"/>
              </a:rPr>
              <a:t>0. Alice 98,000 sats</a:t>
            </a:r>
          </a:p>
          <a:p>
            <a:r>
              <a:rPr lang="en-US" dirty="0">
                <a:latin typeface="Candara" panose="020E0502030303020204" pitchFamily="34" charset="0"/>
              </a:rPr>
              <a:t>1. Bob 2000 sats</a:t>
            </a:r>
          </a:p>
        </p:txBody>
      </p:sp>
      <p:cxnSp>
        <p:nvCxnSpPr>
          <p:cNvPr id="12" name="Straight Arrow Connector 11">
            <a:extLst>
              <a:ext uri="{FF2B5EF4-FFF2-40B4-BE49-F238E27FC236}">
                <a16:creationId xmlns:a16="http://schemas.microsoft.com/office/drawing/2014/main" id="{92D43CC6-0403-D2CB-02B3-9E1636ED40D8}"/>
              </a:ext>
            </a:extLst>
          </p:cNvPr>
          <p:cNvCxnSpPr>
            <a:cxnSpLocks/>
            <a:endCxn id="5" idx="3"/>
          </p:cNvCxnSpPr>
          <p:nvPr/>
        </p:nvCxnSpPr>
        <p:spPr>
          <a:xfrm flipH="1">
            <a:off x="5237981" y="3661815"/>
            <a:ext cx="1445387" cy="0"/>
          </a:xfrm>
          <a:prstGeom prst="straightConnector1">
            <a:avLst/>
          </a:prstGeom>
          <a:ln w="2222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215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0FF61-7345-89BE-FF8D-A73FF003E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CA126-8D46-532D-A2A8-BB8D291C3263}"/>
              </a:ext>
            </a:extLst>
          </p:cNvPr>
          <p:cNvSpPr>
            <a:spLocks noGrp="1"/>
          </p:cNvSpPr>
          <p:nvPr>
            <p:ph type="title"/>
          </p:nvPr>
        </p:nvSpPr>
        <p:spPr/>
        <p:txBody>
          <a:bodyPr/>
          <a:lstStyle/>
          <a:p>
            <a:r>
              <a:rPr lang="en-US" dirty="0"/>
              <a:t>Unobserved Events</a:t>
            </a:r>
          </a:p>
        </p:txBody>
      </p:sp>
      <p:sp>
        <p:nvSpPr>
          <p:cNvPr id="4" name="Slide Number Placeholder 3">
            <a:extLst>
              <a:ext uri="{FF2B5EF4-FFF2-40B4-BE49-F238E27FC236}">
                <a16:creationId xmlns:a16="http://schemas.microsoft.com/office/drawing/2014/main" id="{04A0E36C-C839-CDDA-E516-1D98BEC72EF6}"/>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28</a:t>
            </a:fld>
            <a:endParaRPr lang="en-US" dirty="0">
              <a:latin typeface="Candara" panose="020E0502030303020204" pitchFamily="34" charset="0"/>
            </a:endParaRPr>
          </a:p>
        </p:txBody>
      </p:sp>
      <p:sp>
        <p:nvSpPr>
          <p:cNvPr id="13" name="Rectangle 12">
            <a:extLst>
              <a:ext uri="{FF2B5EF4-FFF2-40B4-BE49-F238E27FC236}">
                <a16:creationId xmlns:a16="http://schemas.microsoft.com/office/drawing/2014/main" id="{375404D2-D4A3-860C-0E38-B456ED87CB15}"/>
              </a:ext>
            </a:extLst>
          </p:cNvPr>
          <p:cNvSpPr/>
          <p:nvPr/>
        </p:nvSpPr>
        <p:spPr>
          <a:xfrm>
            <a:off x="2173656" y="2828600"/>
            <a:ext cx="1867677" cy="161639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latin typeface="Candara" panose="020E0502030303020204" pitchFamily="34" charset="0"/>
              </a:rPr>
              <a:t>Commitment TX</a:t>
            </a:r>
          </a:p>
          <a:p>
            <a:r>
              <a:rPr lang="en-US" sz="1600" dirty="0">
                <a:latin typeface="Candara" panose="020E0502030303020204" pitchFamily="34" charset="0"/>
              </a:rPr>
              <a:t>(Monday)</a:t>
            </a:r>
          </a:p>
          <a:p>
            <a:endParaRPr lang="en-US" sz="1600" dirty="0">
              <a:latin typeface="Candara" panose="020E0502030303020204" pitchFamily="34" charset="0"/>
            </a:endParaRPr>
          </a:p>
          <a:p>
            <a:r>
              <a:rPr lang="en-US" sz="1600" dirty="0">
                <a:latin typeface="Candara" panose="020E0502030303020204" pitchFamily="34" charset="0"/>
              </a:rPr>
              <a:t>Outputs:</a:t>
            </a:r>
          </a:p>
          <a:p>
            <a:r>
              <a:rPr lang="en-US" sz="1600" dirty="0">
                <a:latin typeface="Candara" panose="020E0502030303020204" pitchFamily="34" charset="0"/>
              </a:rPr>
              <a:t>0. Alice 98,000 sats</a:t>
            </a:r>
          </a:p>
          <a:p>
            <a:r>
              <a:rPr lang="en-US" sz="1600" dirty="0">
                <a:latin typeface="Candara" panose="020E0502030303020204" pitchFamily="34" charset="0"/>
              </a:rPr>
              <a:t>1. Bob 2000 sats</a:t>
            </a:r>
          </a:p>
          <a:p>
            <a:r>
              <a:rPr lang="en-US" sz="1600" dirty="0">
                <a:latin typeface="Candara" panose="020E0502030303020204" pitchFamily="34" charset="0"/>
              </a:rPr>
              <a:t> </a:t>
            </a:r>
          </a:p>
        </p:txBody>
      </p:sp>
      <p:pic>
        <p:nvPicPr>
          <p:cNvPr id="16" name="Picture 15">
            <a:extLst>
              <a:ext uri="{FF2B5EF4-FFF2-40B4-BE49-F238E27FC236}">
                <a16:creationId xmlns:a16="http://schemas.microsoft.com/office/drawing/2014/main" id="{381472BF-24B3-86F9-E761-AA14A55735CA}"/>
              </a:ext>
            </a:extLst>
          </p:cNvPr>
          <p:cNvPicPr>
            <a:picLocks noChangeAspect="1"/>
          </p:cNvPicPr>
          <p:nvPr/>
        </p:nvPicPr>
        <p:blipFill>
          <a:blip r:embed="rId3"/>
          <a:stretch>
            <a:fillRect/>
          </a:stretch>
        </p:blipFill>
        <p:spPr>
          <a:xfrm>
            <a:off x="820554" y="3045548"/>
            <a:ext cx="996674" cy="1009789"/>
          </a:xfrm>
          <a:prstGeom prst="rect">
            <a:avLst/>
          </a:prstGeom>
        </p:spPr>
      </p:pic>
      <p:sp>
        <p:nvSpPr>
          <p:cNvPr id="17" name="TextBox 16">
            <a:extLst>
              <a:ext uri="{FF2B5EF4-FFF2-40B4-BE49-F238E27FC236}">
                <a16:creationId xmlns:a16="http://schemas.microsoft.com/office/drawing/2014/main" id="{BC18D4DA-0A9D-F761-4C2B-B5864EAEBF60}"/>
              </a:ext>
            </a:extLst>
          </p:cNvPr>
          <p:cNvSpPr txBox="1"/>
          <p:nvPr/>
        </p:nvSpPr>
        <p:spPr>
          <a:xfrm>
            <a:off x="487680" y="4115041"/>
            <a:ext cx="1638015" cy="1077218"/>
          </a:xfrm>
          <a:prstGeom prst="rect">
            <a:avLst/>
          </a:prstGeom>
          <a:noFill/>
        </p:spPr>
        <p:txBody>
          <a:bodyPr wrap="square" rtlCol="0">
            <a:spAutoFit/>
          </a:bodyPr>
          <a:lstStyle/>
          <a:p>
            <a:pPr algn="ctr"/>
            <a:r>
              <a:rPr lang="en-US" sz="1600" dirty="0">
                <a:latin typeface="Candara" panose="020E0502030303020204" pitchFamily="34" charset="0"/>
              </a:rPr>
              <a:t>Alice buys 2 coffees on Monday for 2000 sats</a:t>
            </a:r>
          </a:p>
        </p:txBody>
      </p:sp>
      <p:pic>
        <p:nvPicPr>
          <p:cNvPr id="18" name="Picture 17">
            <a:extLst>
              <a:ext uri="{FF2B5EF4-FFF2-40B4-BE49-F238E27FC236}">
                <a16:creationId xmlns:a16="http://schemas.microsoft.com/office/drawing/2014/main" id="{6A1485FC-7321-167E-9B19-28D8B59E9F27}"/>
              </a:ext>
            </a:extLst>
          </p:cNvPr>
          <p:cNvPicPr>
            <a:picLocks noChangeAspect="1"/>
          </p:cNvPicPr>
          <p:nvPr/>
        </p:nvPicPr>
        <p:blipFill>
          <a:blip r:embed="rId3"/>
          <a:stretch>
            <a:fillRect/>
          </a:stretch>
        </p:blipFill>
        <p:spPr>
          <a:xfrm>
            <a:off x="4432008" y="3045548"/>
            <a:ext cx="996674" cy="1009789"/>
          </a:xfrm>
          <a:prstGeom prst="rect">
            <a:avLst/>
          </a:prstGeom>
        </p:spPr>
      </p:pic>
      <p:sp>
        <p:nvSpPr>
          <p:cNvPr id="19" name="TextBox 18">
            <a:extLst>
              <a:ext uri="{FF2B5EF4-FFF2-40B4-BE49-F238E27FC236}">
                <a16:creationId xmlns:a16="http://schemas.microsoft.com/office/drawing/2014/main" id="{D0CA5EA6-EA1D-52F8-2BD9-70C8DAC8630E}"/>
              </a:ext>
            </a:extLst>
          </p:cNvPr>
          <p:cNvSpPr txBox="1"/>
          <p:nvPr/>
        </p:nvSpPr>
        <p:spPr>
          <a:xfrm>
            <a:off x="4151447" y="4061262"/>
            <a:ext cx="1601939" cy="1077218"/>
          </a:xfrm>
          <a:prstGeom prst="rect">
            <a:avLst/>
          </a:prstGeom>
          <a:noFill/>
        </p:spPr>
        <p:txBody>
          <a:bodyPr wrap="square" rtlCol="0">
            <a:spAutoFit/>
          </a:bodyPr>
          <a:lstStyle/>
          <a:p>
            <a:pPr algn="ctr"/>
            <a:r>
              <a:rPr lang="en-US" sz="1600" dirty="0">
                <a:latin typeface="Candara" panose="020E0502030303020204" pitchFamily="34" charset="0"/>
              </a:rPr>
              <a:t>Alice buys 3 coffees on Tuesday for 3000 sats</a:t>
            </a:r>
          </a:p>
        </p:txBody>
      </p:sp>
      <p:sp>
        <p:nvSpPr>
          <p:cNvPr id="20" name="Rectangle 19">
            <a:extLst>
              <a:ext uri="{FF2B5EF4-FFF2-40B4-BE49-F238E27FC236}">
                <a16:creationId xmlns:a16="http://schemas.microsoft.com/office/drawing/2014/main" id="{5BA73CD1-66C6-58B0-1F77-AB84CB83D2C0}"/>
              </a:ext>
            </a:extLst>
          </p:cNvPr>
          <p:cNvSpPr/>
          <p:nvPr/>
        </p:nvSpPr>
        <p:spPr>
          <a:xfrm>
            <a:off x="5799417" y="2830563"/>
            <a:ext cx="1867677" cy="161639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latin typeface="Candara" panose="020E0502030303020204" pitchFamily="34" charset="0"/>
              </a:rPr>
              <a:t>Commitment TX</a:t>
            </a:r>
          </a:p>
          <a:p>
            <a:r>
              <a:rPr lang="en-US" sz="1600" dirty="0">
                <a:latin typeface="Candara" panose="020E0502030303020204" pitchFamily="34" charset="0"/>
              </a:rPr>
              <a:t>(Tuesday)</a:t>
            </a:r>
          </a:p>
          <a:p>
            <a:endParaRPr lang="en-US" sz="1600" dirty="0">
              <a:latin typeface="Candara" panose="020E0502030303020204" pitchFamily="34" charset="0"/>
            </a:endParaRPr>
          </a:p>
          <a:p>
            <a:r>
              <a:rPr lang="en-US" sz="1600" dirty="0">
                <a:latin typeface="Candara" panose="020E0502030303020204" pitchFamily="34" charset="0"/>
              </a:rPr>
              <a:t>Outputs:</a:t>
            </a:r>
          </a:p>
          <a:p>
            <a:r>
              <a:rPr lang="en-US" sz="1600" dirty="0">
                <a:latin typeface="Candara" panose="020E0502030303020204" pitchFamily="34" charset="0"/>
              </a:rPr>
              <a:t>0. Alice 95,000 sats</a:t>
            </a:r>
          </a:p>
          <a:p>
            <a:r>
              <a:rPr lang="en-US" sz="1600" dirty="0">
                <a:latin typeface="Candara" panose="020E0502030303020204" pitchFamily="34" charset="0"/>
              </a:rPr>
              <a:t>1. Bob 5000 sats</a:t>
            </a:r>
          </a:p>
          <a:p>
            <a:r>
              <a:rPr lang="en-US" sz="1600" dirty="0">
                <a:latin typeface="Candara" panose="020E0502030303020204" pitchFamily="34" charset="0"/>
              </a:rPr>
              <a:t> </a:t>
            </a:r>
          </a:p>
        </p:txBody>
      </p:sp>
      <p:pic>
        <p:nvPicPr>
          <p:cNvPr id="24" name="Picture 23">
            <a:extLst>
              <a:ext uri="{FF2B5EF4-FFF2-40B4-BE49-F238E27FC236}">
                <a16:creationId xmlns:a16="http://schemas.microsoft.com/office/drawing/2014/main" id="{C535448D-102B-31FB-348C-9F9972E9C265}"/>
              </a:ext>
            </a:extLst>
          </p:cNvPr>
          <p:cNvPicPr>
            <a:picLocks noChangeAspect="1"/>
          </p:cNvPicPr>
          <p:nvPr/>
        </p:nvPicPr>
        <p:blipFill>
          <a:blip r:embed="rId3"/>
          <a:stretch>
            <a:fillRect/>
          </a:stretch>
        </p:blipFill>
        <p:spPr>
          <a:xfrm>
            <a:off x="8053856" y="3131903"/>
            <a:ext cx="996674" cy="1009789"/>
          </a:xfrm>
          <a:prstGeom prst="rect">
            <a:avLst/>
          </a:prstGeom>
        </p:spPr>
      </p:pic>
      <p:sp>
        <p:nvSpPr>
          <p:cNvPr id="25" name="TextBox 24">
            <a:extLst>
              <a:ext uri="{FF2B5EF4-FFF2-40B4-BE49-F238E27FC236}">
                <a16:creationId xmlns:a16="http://schemas.microsoft.com/office/drawing/2014/main" id="{A1C3F833-A171-7724-0D73-EC7E54E4D7D6}"/>
              </a:ext>
            </a:extLst>
          </p:cNvPr>
          <p:cNvSpPr txBox="1"/>
          <p:nvPr/>
        </p:nvSpPr>
        <p:spPr>
          <a:xfrm>
            <a:off x="7779138" y="4102950"/>
            <a:ext cx="1601940" cy="1077218"/>
          </a:xfrm>
          <a:prstGeom prst="rect">
            <a:avLst/>
          </a:prstGeom>
          <a:noFill/>
        </p:spPr>
        <p:txBody>
          <a:bodyPr wrap="square" rtlCol="0">
            <a:spAutoFit/>
          </a:bodyPr>
          <a:lstStyle/>
          <a:p>
            <a:pPr algn="ctr"/>
            <a:r>
              <a:rPr lang="en-US" sz="1600" dirty="0">
                <a:latin typeface="Candara" panose="020E0502030303020204" pitchFamily="34" charset="0"/>
              </a:rPr>
              <a:t>Alice buys 5 coffees on Wednesday for 5000 sats</a:t>
            </a:r>
          </a:p>
        </p:txBody>
      </p:sp>
      <p:grpSp>
        <p:nvGrpSpPr>
          <p:cNvPr id="33" name="Group 32">
            <a:extLst>
              <a:ext uri="{FF2B5EF4-FFF2-40B4-BE49-F238E27FC236}">
                <a16:creationId xmlns:a16="http://schemas.microsoft.com/office/drawing/2014/main" id="{E977CDAD-5C58-FCC7-1321-84F47BF691C5}"/>
              </a:ext>
            </a:extLst>
          </p:cNvPr>
          <p:cNvGrpSpPr/>
          <p:nvPr/>
        </p:nvGrpSpPr>
        <p:grpSpPr>
          <a:xfrm>
            <a:off x="9437292" y="2828600"/>
            <a:ext cx="1867677" cy="1616397"/>
            <a:chOff x="9437292" y="4064208"/>
            <a:chExt cx="1867677" cy="1616397"/>
          </a:xfrm>
        </p:grpSpPr>
        <p:sp>
          <p:nvSpPr>
            <p:cNvPr id="26" name="Rectangle 25">
              <a:extLst>
                <a:ext uri="{FF2B5EF4-FFF2-40B4-BE49-F238E27FC236}">
                  <a16:creationId xmlns:a16="http://schemas.microsoft.com/office/drawing/2014/main" id="{1EEFB999-46DE-9DE0-29C4-65F1CAFFC05F}"/>
                </a:ext>
              </a:extLst>
            </p:cNvPr>
            <p:cNvSpPr/>
            <p:nvPr/>
          </p:nvSpPr>
          <p:spPr>
            <a:xfrm>
              <a:off x="9437292" y="4064208"/>
              <a:ext cx="1867677" cy="161639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latin typeface="Candara" panose="020E0502030303020204" pitchFamily="34" charset="0"/>
                </a:rPr>
                <a:t>Commitment TX</a:t>
              </a:r>
            </a:p>
            <a:p>
              <a:r>
                <a:rPr lang="en-US" sz="1600" dirty="0">
                  <a:latin typeface="Candara" panose="020E0502030303020204" pitchFamily="34" charset="0"/>
                </a:rPr>
                <a:t>(Wednesday)</a:t>
              </a:r>
            </a:p>
            <a:p>
              <a:endParaRPr lang="en-US" sz="1600" dirty="0">
                <a:latin typeface="Candara" panose="020E0502030303020204" pitchFamily="34" charset="0"/>
              </a:endParaRPr>
            </a:p>
            <a:p>
              <a:r>
                <a:rPr lang="en-US" sz="1600" dirty="0">
                  <a:latin typeface="Candara" panose="020E0502030303020204" pitchFamily="34" charset="0"/>
                </a:rPr>
                <a:t>Outputs:</a:t>
              </a:r>
            </a:p>
            <a:p>
              <a:r>
                <a:rPr lang="en-US" sz="1600" dirty="0">
                  <a:latin typeface="Candara" panose="020E0502030303020204" pitchFamily="34" charset="0"/>
                </a:rPr>
                <a:t>0. Alice 90,000 sats</a:t>
              </a:r>
            </a:p>
            <a:p>
              <a:r>
                <a:rPr lang="en-US" sz="1600" dirty="0">
                  <a:latin typeface="Candara" panose="020E0502030303020204" pitchFamily="34" charset="0"/>
                </a:rPr>
                <a:t>1. Bob 10,000 sats</a:t>
              </a:r>
            </a:p>
            <a:p>
              <a:r>
                <a:rPr lang="en-US" sz="1600" dirty="0">
                  <a:latin typeface="Candara" panose="020E0502030303020204" pitchFamily="34" charset="0"/>
                </a:rPr>
                <a:t> </a:t>
              </a:r>
            </a:p>
          </p:txBody>
        </p:sp>
        <p:pic>
          <p:nvPicPr>
            <p:cNvPr id="27" name="Picture 26">
              <a:extLst>
                <a:ext uri="{FF2B5EF4-FFF2-40B4-BE49-F238E27FC236}">
                  <a16:creationId xmlns:a16="http://schemas.microsoft.com/office/drawing/2014/main" id="{AF9E7387-B8ED-7787-7161-B1E1BD3107E1}"/>
                </a:ext>
              </a:extLst>
            </p:cNvPr>
            <p:cNvPicPr>
              <a:picLocks noChangeAspect="1"/>
            </p:cNvPicPr>
            <p:nvPr/>
          </p:nvPicPr>
          <p:blipFill>
            <a:blip r:embed="rId4"/>
            <a:stretch>
              <a:fillRect/>
            </a:stretch>
          </p:blipFill>
          <p:spPr>
            <a:xfrm>
              <a:off x="10871123" y="4281156"/>
              <a:ext cx="433846" cy="594370"/>
            </a:xfrm>
            <a:prstGeom prst="rect">
              <a:avLst/>
            </a:prstGeom>
          </p:spPr>
        </p:pic>
      </p:grpSp>
      <p:sp>
        <p:nvSpPr>
          <p:cNvPr id="28" name="TextBox 27">
            <a:extLst>
              <a:ext uri="{FF2B5EF4-FFF2-40B4-BE49-F238E27FC236}">
                <a16:creationId xmlns:a16="http://schemas.microsoft.com/office/drawing/2014/main" id="{A86B157B-C49C-443E-8E74-ADAED4736A6B}"/>
              </a:ext>
            </a:extLst>
          </p:cNvPr>
          <p:cNvSpPr txBox="1"/>
          <p:nvPr/>
        </p:nvSpPr>
        <p:spPr>
          <a:xfrm>
            <a:off x="444801" y="1130814"/>
            <a:ext cx="11302397"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After every coffee purchase, Alice &amp; Bob create new commitment transactions and update their balances</a:t>
            </a:r>
          </a:p>
          <a:p>
            <a:pPr marL="285750" indent="-285750">
              <a:buFont typeface="Arial" panose="020B0604020202020204" pitchFamily="34" charset="0"/>
              <a:buChar char="•"/>
            </a:pPr>
            <a:r>
              <a:rPr lang="en-US" sz="2000" dirty="0">
                <a:latin typeface="Candara" panose="020E0502030303020204" pitchFamily="34" charset="0"/>
              </a:rPr>
              <a:t>Either Alice or Bob can enforce the settlement by broadcasting and enforcing the latest agreed state without needing cooperation from the other party</a:t>
            </a:r>
          </a:p>
        </p:txBody>
      </p:sp>
      <p:sp>
        <p:nvSpPr>
          <p:cNvPr id="30" name="TextBox 29">
            <a:extLst>
              <a:ext uri="{FF2B5EF4-FFF2-40B4-BE49-F238E27FC236}">
                <a16:creationId xmlns:a16="http://schemas.microsoft.com/office/drawing/2014/main" id="{87E1F3B3-A5E8-5DB1-2A36-B55F27C332E8}"/>
              </a:ext>
            </a:extLst>
          </p:cNvPr>
          <p:cNvSpPr txBox="1"/>
          <p:nvPr/>
        </p:nvSpPr>
        <p:spPr>
          <a:xfrm>
            <a:off x="9437292" y="4497053"/>
            <a:ext cx="2293312"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ndara" panose="020E0502030303020204" pitchFamily="34" charset="0"/>
              </a:rPr>
              <a:t>They settle on Wed </a:t>
            </a:r>
          </a:p>
          <a:p>
            <a:pPr marL="285750" indent="-285750">
              <a:buFont typeface="Arial" panose="020B0604020202020204" pitchFamily="34" charset="0"/>
              <a:buChar char="•"/>
            </a:pPr>
            <a:r>
              <a:rPr lang="en-US" sz="1600" dirty="0">
                <a:latin typeface="Candara" panose="020E0502030303020204" pitchFamily="34" charset="0"/>
              </a:rPr>
              <a:t>Funding TX is spent </a:t>
            </a:r>
          </a:p>
          <a:p>
            <a:pPr marL="285750" indent="-285750">
              <a:buFont typeface="Arial" panose="020B0604020202020204" pitchFamily="34" charset="0"/>
              <a:buChar char="•"/>
            </a:pPr>
            <a:r>
              <a:rPr lang="en-US" sz="1600" dirty="0">
                <a:latin typeface="Candara" panose="020E0502030303020204" pitchFamily="34" charset="0"/>
              </a:rPr>
              <a:t>The last commitment TX is published on the blockchain</a:t>
            </a:r>
          </a:p>
        </p:txBody>
      </p:sp>
      <p:sp>
        <p:nvSpPr>
          <p:cNvPr id="31" name="TextBox 30">
            <a:extLst>
              <a:ext uri="{FF2B5EF4-FFF2-40B4-BE49-F238E27FC236}">
                <a16:creationId xmlns:a16="http://schemas.microsoft.com/office/drawing/2014/main" id="{8C668796-02F2-4864-FA76-9B417A5E0C87}"/>
              </a:ext>
            </a:extLst>
          </p:cNvPr>
          <p:cNvSpPr txBox="1"/>
          <p:nvPr/>
        </p:nvSpPr>
        <p:spPr>
          <a:xfrm>
            <a:off x="1976452" y="4523749"/>
            <a:ext cx="1980030" cy="584775"/>
          </a:xfrm>
          <a:prstGeom prst="rect">
            <a:avLst/>
          </a:prstGeom>
          <a:noFill/>
        </p:spPr>
        <p:txBody>
          <a:bodyPr wrap="none" rtlCol="0">
            <a:spAutoFit/>
          </a:bodyPr>
          <a:lstStyle/>
          <a:p>
            <a:pPr algn="ctr"/>
            <a:r>
              <a:rPr lang="en-US" sz="1600" dirty="0">
                <a:solidFill>
                  <a:srgbClr val="FF0000"/>
                </a:solidFill>
                <a:latin typeface="Candara" panose="020E0502030303020204" pitchFamily="34" charset="0"/>
              </a:rPr>
              <a:t>Never went on-chain</a:t>
            </a:r>
          </a:p>
          <a:p>
            <a:pPr algn="ctr"/>
            <a:r>
              <a:rPr lang="en-US" sz="1600" dirty="0">
                <a:solidFill>
                  <a:srgbClr val="FF0000"/>
                </a:solidFill>
                <a:latin typeface="Candara" panose="020E0502030303020204" pitchFamily="34" charset="0"/>
              </a:rPr>
              <a:t>(unobserved event)</a:t>
            </a:r>
          </a:p>
        </p:txBody>
      </p:sp>
      <p:sp>
        <p:nvSpPr>
          <p:cNvPr id="32" name="TextBox 31">
            <a:extLst>
              <a:ext uri="{FF2B5EF4-FFF2-40B4-BE49-F238E27FC236}">
                <a16:creationId xmlns:a16="http://schemas.microsoft.com/office/drawing/2014/main" id="{CF33CB36-DEB0-A409-0968-64E3B3494213}"/>
              </a:ext>
            </a:extLst>
          </p:cNvPr>
          <p:cNvSpPr txBox="1"/>
          <p:nvPr/>
        </p:nvSpPr>
        <p:spPr>
          <a:xfrm>
            <a:off x="5771168" y="4517191"/>
            <a:ext cx="1980030" cy="584775"/>
          </a:xfrm>
          <a:prstGeom prst="rect">
            <a:avLst/>
          </a:prstGeom>
          <a:noFill/>
        </p:spPr>
        <p:txBody>
          <a:bodyPr wrap="none" rtlCol="0">
            <a:spAutoFit/>
          </a:bodyPr>
          <a:lstStyle/>
          <a:p>
            <a:pPr algn="ctr"/>
            <a:r>
              <a:rPr lang="en-US" sz="1600" dirty="0">
                <a:solidFill>
                  <a:srgbClr val="FF0000"/>
                </a:solidFill>
                <a:latin typeface="Candara" panose="020E0502030303020204" pitchFamily="34" charset="0"/>
              </a:rPr>
              <a:t>Never went on-chain</a:t>
            </a:r>
          </a:p>
          <a:p>
            <a:pPr algn="ctr"/>
            <a:r>
              <a:rPr lang="en-US" sz="1600" dirty="0">
                <a:solidFill>
                  <a:srgbClr val="FF0000"/>
                </a:solidFill>
                <a:latin typeface="Candara" panose="020E0502030303020204" pitchFamily="34" charset="0"/>
              </a:rPr>
              <a:t>(unobserved event)</a:t>
            </a:r>
          </a:p>
        </p:txBody>
      </p:sp>
      <p:sp>
        <p:nvSpPr>
          <p:cNvPr id="11" name="TextBox 10">
            <a:extLst>
              <a:ext uri="{FF2B5EF4-FFF2-40B4-BE49-F238E27FC236}">
                <a16:creationId xmlns:a16="http://schemas.microsoft.com/office/drawing/2014/main" id="{4BA3CADC-6AD7-54AD-1606-EACF5783B156}"/>
              </a:ext>
            </a:extLst>
          </p:cNvPr>
          <p:cNvSpPr txBox="1"/>
          <p:nvPr/>
        </p:nvSpPr>
        <p:spPr>
          <a:xfrm>
            <a:off x="1588968" y="5547188"/>
            <a:ext cx="7976138" cy="830997"/>
          </a:xfrm>
          <a:prstGeom prst="rect">
            <a:avLst/>
          </a:prstGeom>
          <a:solidFill>
            <a:srgbClr val="7030A0"/>
          </a:solidFill>
        </p:spPr>
        <p:txBody>
          <a:bodyPr wrap="square" rtlCol="0">
            <a:spAutoFit/>
          </a:bodyPr>
          <a:lstStyle/>
          <a:p>
            <a:pPr algn="ctr"/>
            <a:r>
              <a:rPr lang="en-US" sz="2400" dirty="0">
                <a:solidFill>
                  <a:schemeClr val="bg1"/>
                </a:solidFill>
              </a:rPr>
              <a:t>All the intermediate transactions remain unobserved, which is also good for privacy </a:t>
            </a:r>
          </a:p>
        </p:txBody>
      </p:sp>
    </p:spTree>
    <p:extLst>
      <p:ext uri="{BB962C8B-B14F-4D97-AF65-F5344CB8AC3E}">
        <p14:creationId xmlns:p14="http://schemas.microsoft.com/office/powerpoint/2010/main" val="265436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0">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9" grpId="0"/>
      <p:bldP spid="20" grpId="0" animBg="1"/>
      <p:bldP spid="25" grpId="0"/>
      <p:bldP spid="31" grpId="0"/>
      <p:bldP spid="32" grpId="0"/>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5EC37-A516-1FE3-7A7C-475AFE8F6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6F23BC-F21E-85AF-4A84-9786E028A279}"/>
              </a:ext>
            </a:extLst>
          </p:cNvPr>
          <p:cNvSpPr>
            <a:spLocks noGrp="1"/>
          </p:cNvSpPr>
          <p:nvPr>
            <p:ph type="title"/>
          </p:nvPr>
        </p:nvSpPr>
        <p:spPr/>
        <p:txBody>
          <a:bodyPr/>
          <a:lstStyle/>
          <a:p>
            <a:r>
              <a:rPr lang="en-US" dirty="0"/>
              <a:t>Payment Channel</a:t>
            </a:r>
          </a:p>
        </p:txBody>
      </p:sp>
      <p:sp>
        <p:nvSpPr>
          <p:cNvPr id="4" name="Slide Number Placeholder 3">
            <a:extLst>
              <a:ext uri="{FF2B5EF4-FFF2-40B4-BE49-F238E27FC236}">
                <a16:creationId xmlns:a16="http://schemas.microsoft.com/office/drawing/2014/main" id="{BF95E5C0-FD7D-7658-586A-51C41998D6A4}"/>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29</a:t>
            </a:fld>
            <a:endParaRPr lang="en-US" dirty="0">
              <a:latin typeface="Candara" panose="020E0502030303020204" pitchFamily="34" charset="0"/>
            </a:endParaRPr>
          </a:p>
        </p:txBody>
      </p:sp>
      <p:sp>
        <p:nvSpPr>
          <p:cNvPr id="8" name="TextBox 7">
            <a:extLst>
              <a:ext uri="{FF2B5EF4-FFF2-40B4-BE49-F238E27FC236}">
                <a16:creationId xmlns:a16="http://schemas.microsoft.com/office/drawing/2014/main" id="{1E8544AE-5B92-9AC1-DD5A-75C34098C734}"/>
              </a:ext>
            </a:extLst>
          </p:cNvPr>
          <p:cNvSpPr txBox="1"/>
          <p:nvPr/>
        </p:nvSpPr>
        <p:spPr>
          <a:xfrm>
            <a:off x="487680" y="971370"/>
            <a:ext cx="11186160" cy="707886"/>
          </a:xfrm>
          <a:prstGeom prst="rect">
            <a:avLst/>
          </a:prstGeom>
          <a:noFill/>
        </p:spPr>
        <p:txBody>
          <a:bodyPr wrap="square">
            <a:spAutoFit/>
          </a:bodyPr>
          <a:lstStyle/>
          <a:p>
            <a:pPr algn="ctr"/>
            <a:r>
              <a:rPr lang="en-US" sz="2000" dirty="0">
                <a:solidFill>
                  <a:srgbClr val="7030A0"/>
                </a:solidFill>
                <a:latin typeface="Candara" panose="020E0502030303020204" pitchFamily="34" charset="0"/>
              </a:rPr>
              <a:t>Payment Channel is a setup that allows two parties to make payments without contacting the blockchain</a:t>
            </a:r>
          </a:p>
        </p:txBody>
      </p:sp>
      <p:sp>
        <p:nvSpPr>
          <p:cNvPr id="12" name="Arrow: Left-Right 11">
            <a:extLst>
              <a:ext uri="{FF2B5EF4-FFF2-40B4-BE49-F238E27FC236}">
                <a16:creationId xmlns:a16="http://schemas.microsoft.com/office/drawing/2014/main" id="{9EF01DA2-1416-FF7E-4332-2F09EB54C2BE}"/>
              </a:ext>
            </a:extLst>
          </p:cNvPr>
          <p:cNvSpPr/>
          <p:nvPr/>
        </p:nvSpPr>
        <p:spPr>
          <a:xfrm>
            <a:off x="2036298" y="2165709"/>
            <a:ext cx="7841628" cy="515815"/>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78C452F-A9A9-B0F9-05CB-D4809BAABD72}"/>
              </a:ext>
            </a:extLst>
          </p:cNvPr>
          <p:cNvSpPr txBox="1"/>
          <p:nvPr/>
        </p:nvSpPr>
        <p:spPr>
          <a:xfrm>
            <a:off x="2768454" y="1735460"/>
            <a:ext cx="5975156" cy="461665"/>
          </a:xfrm>
          <a:prstGeom prst="rect">
            <a:avLst/>
          </a:prstGeom>
          <a:noFill/>
        </p:spPr>
        <p:txBody>
          <a:bodyPr wrap="square" rtlCol="0">
            <a:spAutoFit/>
          </a:bodyPr>
          <a:lstStyle/>
          <a:p>
            <a:pPr algn="ctr"/>
            <a:r>
              <a:rPr lang="en-US" sz="2400" dirty="0">
                <a:latin typeface="Candara" panose="020E0502030303020204" pitchFamily="34" charset="0"/>
              </a:rPr>
              <a:t>Payment Channel between Alice &amp; Bob</a:t>
            </a:r>
          </a:p>
        </p:txBody>
      </p:sp>
      <p:sp>
        <p:nvSpPr>
          <p:cNvPr id="18" name="TextBox 17">
            <a:extLst>
              <a:ext uri="{FF2B5EF4-FFF2-40B4-BE49-F238E27FC236}">
                <a16:creationId xmlns:a16="http://schemas.microsoft.com/office/drawing/2014/main" id="{2D8E1088-A18C-BAB8-8642-DFFA31FE4E7A}"/>
              </a:ext>
            </a:extLst>
          </p:cNvPr>
          <p:cNvSpPr txBox="1"/>
          <p:nvPr/>
        </p:nvSpPr>
        <p:spPr>
          <a:xfrm>
            <a:off x="1055503" y="5247000"/>
            <a:ext cx="1224946" cy="523220"/>
          </a:xfrm>
          <a:prstGeom prst="rect">
            <a:avLst/>
          </a:prstGeom>
          <a:noFill/>
        </p:spPr>
        <p:txBody>
          <a:bodyPr wrap="square">
            <a:spAutoFit/>
          </a:bodyPr>
          <a:lstStyle/>
          <a:p>
            <a:pPr algn="ctr"/>
            <a:r>
              <a:rPr lang="en-US" sz="1400" dirty="0">
                <a:latin typeface="Candara" panose="020E0502030303020204" pitchFamily="34" charset="0"/>
              </a:rPr>
              <a:t>Bitcoin </a:t>
            </a:r>
          </a:p>
          <a:p>
            <a:pPr algn="ctr"/>
            <a:r>
              <a:rPr lang="en-US" sz="1400" dirty="0">
                <a:latin typeface="Candara" panose="020E0502030303020204" pitchFamily="34" charset="0"/>
              </a:rPr>
              <a:t>Blockchain</a:t>
            </a:r>
          </a:p>
        </p:txBody>
      </p:sp>
      <p:pic>
        <p:nvPicPr>
          <p:cNvPr id="22" name="Picture 21">
            <a:extLst>
              <a:ext uri="{FF2B5EF4-FFF2-40B4-BE49-F238E27FC236}">
                <a16:creationId xmlns:a16="http://schemas.microsoft.com/office/drawing/2014/main" id="{730FA6DD-D3E2-4830-AE66-432012B1B265}"/>
              </a:ext>
            </a:extLst>
          </p:cNvPr>
          <p:cNvPicPr preferRelativeResize="0">
            <a:picLocks/>
          </p:cNvPicPr>
          <p:nvPr/>
        </p:nvPicPr>
        <p:blipFill>
          <a:blip r:embed="rId3"/>
          <a:stretch>
            <a:fillRect/>
          </a:stretch>
        </p:blipFill>
        <p:spPr>
          <a:xfrm>
            <a:off x="8148124" y="2852044"/>
            <a:ext cx="1554480" cy="1371600"/>
          </a:xfrm>
          <a:prstGeom prst="rect">
            <a:avLst/>
          </a:prstGeom>
        </p:spPr>
      </p:pic>
      <p:pic>
        <p:nvPicPr>
          <p:cNvPr id="23" name="Picture 22">
            <a:extLst>
              <a:ext uri="{FF2B5EF4-FFF2-40B4-BE49-F238E27FC236}">
                <a16:creationId xmlns:a16="http://schemas.microsoft.com/office/drawing/2014/main" id="{990F60A6-80A0-EBBD-A580-22CF8133911F}"/>
              </a:ext>
            </a:extLst>
          </p:cNvPr>
          <p:cNvPicPr preferRelativeResize="0">
            <a:picLocks/>
          </p:cNvPicPr>
          <p:nvPr/>
        </p:nvPicPr>
        <p:blipFill>
          <a:blip r:embed="rId4"/>
          <a:stretch>
            <a:fillRect/>
          </a:stretch>
        </p:blipFill>
        <p:spPr>
          <a:xfrm>
            <a:off x="2331183" y="2849793"/>
            <a:ext cx="1554480" cy="1371600"/>
          </a:xfrm>
          <a:prstGeom prst="rect">
            <a:avLst/>
          </a:prstGeom>
        </p:spPr>
      </p:pic>
      <p:pic>
        <p:nvPicPr>
          <p:cNvPr id="5" name="Picture 4">
            <a:extLst>
              <a:ext uri="{FF2B5EF4-FFF2-40B4-BE49-F238E27FC236}">
                <a16:creationId xmlns:a16="http://schemas.microsoft.com/office/drawing/2014/main" id="{E9163C55-18FE-7089-68B4-BD9DE6360686}"/>
              </a:ext>
            </a:extLst>
          </p:cNvPr>
          <p:cNvPicPr preferRelativeResize="0">
            <a:picLocks/>
          </p:cNvPicPr>
          <p:nvPr/>
        </p:nvPicPr>
        <p:blipFill>
          <a:blip r:embed="rId5"/>
          <a:stretch>
            <a:fillRect/>
          </a:stretch>
        </p:blipFill>
        <p:spPr>
          <a:xfrm>
            <a:off x="6228008" y="2852044"/>
            <a:ext cx="1554480" cy="1371600"/>
          </a:xfrm>
          <a:prstGeom prst="rect">
            <a:avLst/>
          </a:prstGeom>
        </p:spPr>
      </p:pic>
      <p:sp>
        <p:nvSpPr>
          <p:cNvPr id="20" name="Arrow: Down 19">
            <a:extLst>
              <a:ext uri="{FF2B5EF4-FFF2-40B4-BE49-F238E27FC236}">
                <a16:creationId xmlns:a16="http://schemas.microsoft.com/office/drawing/2014/main" id="{631CC888-A302-4E62-3BEB-0ABDF988E0ED}"/>
              </a:ext>
            </a:extLst>
          </p:cNvPr>
          <p:cNvSpPr/>
          <p:nvPr/>
        </p:nvSpPr>
        <p:spPr>
          <a:xfrm>
            <a:off x="2768454" y="4233425"/>
            <a:ext cx="339969" cy="7437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EB7BE37-28F2-F7DC-AD98-D8E384629813}"/>
              </a:ext>
            </a:extLst>
          </p:cNvPr>
          <p:cNvPicPr>
            <a:picLocks noChangeAspect="1"/>
          </p:cNvPicPr>
          <p:nvPr/>
        </p:nvPicPr>
        <p:blipFill>
          <a:blip r:embed="rId6"/>
          <a:stretch>
            <a:fillRect/>
          </a:stretch>
        </p:blipFill>
        <p:spPr>
          <a:xfrm>
            <a:off x="2384766" y="5180897"/>
            <a:ext cx="6969368" cy="803669"/>
          </a:xfrm>
          <a:prstGeom prst="rect">
            <a:avLst/>
          </a:prstGeom>
        </p:spPr>
      </p:pic>
      <p:sp>
        <p:nvSpPr>
          <p:cNvPr id="25" name="Arrow: Down 24">
            <a:extLst>
              <a:ext uri="{FF2B5EF4-FFF2-40B4-BE49-F238E27FC236}">
                <a16:creationId xmlns:a16="http://schemas.microsoft.com/office/drawing/2014/main" id="{5177C72F-C046-6011-11C5-97FBBE8B8592}"/>
              </a:ext>
            </a:extLst>
          </p:cNvPr>
          <p:cNvSpPr/>
          <p:nvPr/>
        </p:nvSpPr>
        <p:spPr>
          <a:xfrm>
            <a:off x="8718932" y="4247806"/>
            <a:ext cx="339969" cy="7437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Up-Down 25">
            <a:extLst>
              <a:ext uri="{FF2B5EF4-FFF2-40B4-BE49-F238E27FC236}">
                <a16:creationId xmlns:a16="http://schemas.microsoft.com/office/drawing/2014/main" id="{8DD80226-A1CF-A0BF-5432-23DD11738469}"/>
              </a:ext>
            </a:extLst>
          </p:cNvPr>
          <p:cNvSpPr/>
          <p:nvPr/>
        </p:nvSpPr>
        <p:spPr>
          <a:xfrm>
            <a:off x="5012791" y="2562887"/>
            <a:ext cx="118685" cy="298938"/>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Up-Down 26">
            <a:extLst>
              <a:ext uri="{FF2B5EF4-FFF2-40B4-BE49-F238E27FC236}">
                <a16:creationId xmlns:a16="http://schemas.microsoft.com/office/drawing/2014/main" id="{2707CAB8-9C39-3683-7C10-0D8AE9EBE624}"/>
              </a:ext>
            </a:extLst>
          </p:cNvPr>
          <p:cNvSpPr/>
          <p:nvPr/>
        </p:nvSpPr>
        <p:spPr>
          <a:xfrm>
            <a:off x="6945905" y="2544087"/>
            <a:ext cx="118685" cy="298938"/>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Up-Down 27">
            <a:extLst>
              <a:ext uri="{FF2B5EF4-FFF2-40B4-BE49-F238E27FC236}">
                <a16:creationId xmlns:a16="http://schemas.microsoft.com/office/drawing/2014/main" id="{0A70DB45-0349-B7CA-8AD0-56FC87BF55F1}"/>
              </a:ext>
            </a:extLst>
          </p:cNvPr>
          <p:cNvSpPr/>
          <p:nvPr/>
        </p:nvSpPr>
        <p:spPr>
          <a:xfrm>
            <a:off x="8865669" y="2550856"/>
            <a:ext cx="118685" cy="298938"/>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Up-Down 28">
            <a:extLst>
              <a:ext uri="{FF2B5EF4-FFF2-40B4-BE49-F238E27FC236}">
                <a16:creationId xmlns:a16="http://schemas.microsoft.com/office/drawing/2014/main" id="{A73E4E3C-C308-ED9F-845B-5636F32981DB}"/>
              </a:ext>
            </a:extLst>
          </p:cNvPr>
          <p:cNvSpPr/>
          <p:nvPr/>
        </p:nvSpPr>
        <p:spPr>
          <a:xfrm>
            <a:off x="3058758" y="2555285"/>
            <a:ext cx="118685" cy="298938"/>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D80D936-EBAC-DBC0-4416-B4D61212078A}"/>
              </a:ext>
            </a:extLst>
          </p:cNvPr>
          <p:cNvSpPr txBox="1"/>
          <p:nvPr/>
        </p:nvSpPr>
        <p:spPr>
          <a:xfrm>
            <a:off x="3076690" y="4245555"/>
            <a:ext cx="5642242" cy="830997"/>
          </a:xfrm>
          <a:prstGeom prst="rect">
            <a:avLst/>
          </a:prstGeom>
          <a:noFill/>
        </p:spPr>
        <p:txBody>
          <a:bodyPr wrap="square">
            <a:spAutoFit/>
          </a:bodyPr>
          <a:lstStyle/>
          <a:p>
            <a:pPr algn="ctr"/>
            <a:r>
              <a:rPr lang="en-US" sz="1600" dirty="0">
                <a:solidFill>
                  <a:srgbClr val="7030A0"/>
                </a:solidFill>
              </a:rPr>
              <a:t>Alice &amp; Bob update their balances as frequently as they like inside their payment channel, without the need for making an on-chain Bitcoin transaction until they want to close their channel</a:t>
            </a:r>
          </a:p>
        </p:txBody>
      </p:sp>
      <p:sp>
        <p:nvSpPr>
          <p:cNvPr id="32" name="TextBox 31">
            <a:extLst>
              <a:ext uri="{FF2B5EF4-FFF2-40B4-BE49-F238E27FC236}">
                <a16:creationId xmlns:a16="http://schemas.microsoft.com/office/drawing/2014/main" id="{440A92C2-182C-350F-5CC0-E42B48621685}"/>
              </a:ext>
            </a:extLst>
          </p:cNvPr>
          <p:cNvSpPr txBox="1"/>
          <p:nvPr/>
        </p:nvSpPr>
        <p:spPr>
          <a:xfrm>
            <a:off x="9091286" y="4174470"/>
            <a:ext cx="2513542" cy="1077218"/>
          </a:xfrm>
          <a:prstGeom prst="rect">
            <a:avLst/>
          </a:prstGeom>
          <a:noFill/>
        </p:spPr>
        <p:txBody>
          <a:bodyPr wrap="square" rtlCol="0">
            <a:spAutoFit/>
          </a:bodyPr>
          <a:lstStyle/>
          <a:p>
            <a:r>
              <a:rPr lang="en-US" sz="1600" dirty="0">
                <a:solidFill>
                  <a:srgbClr val="FF0000"/>
                </a:solidFill>
              </a:rPr>
              <a:t>As soon as this Tx is on blockchain, the payment channel is closed, because funding Tx is spent</a:t>
            </a:r>
          </a:p>
        </p:txBody>
      </p:sp>
      <p:sp>
        <p:nvSpPr>
          <p:cNvPr id="6" name="TextBox 5">
            <a:extLst>
              <a:ext uri="{FF2B5EF4-FFF2-40B4-BE49-F238E27FC236}">
                <a16:creationId xmlns:a16="http://schemas.microsoft.com/office/drawing/2014/main" id="{E8048B96-E4A1-BD18-D781-C64553789421}"/>
              </a:ext>
            </a:extLst>
          </p:cNvPr>
          <p:cNvSpPr txBox="1"/>
          <p:nvPr/>
        </p:nvSpPr>
        <p:spPr>
          <a:xfrm>
            <a:off x="1643598" y="6053558"/>
            <a:ext cx="9234195" cy="461665"/>
          </a:xfrm>
          <a:prstGeom prst="rect">
            <a:avLst/>
          </a:prstGeom>
          <a:solidFill>
            <a:srgbClr val="7030A0"/>
          </a:solidFill>
        </p:spPr>
        <p:txBody>
          <a:bodyPr wrap="none" rtlCol="0">
            <a:spAutoFit/>
          </a:bodyPr>
          <a:lstStyle/>
          <a:p>
            <a:pPr algn="ctr"/>
            <a:r>
              <a:rPr lang="en-US" sz="2400" dirty="0">
                <a:solidFill>
                  <a:schemeClr val="bg1"/>
                </a:solidFill>
              </a:rPr>
              <a:t>Making this payment channel secure and trustless is a major challenge</a:t>
            </a:r>
          </a:p>
        </p:txBody>
      </p:sp>
      <p:pic>
        <p:nvPicPr>
          <p:cNvPr id="7" name="Picture 6">
            <a:extLst>
              <a:ext uri="{FF2B5EF4-FFF2-40B4-BE49-F238E27FC236}">
                <a16:creationId xmlns:a16="http://schemas.microsoft.com/office/drawing/2014/main" id="{2D08389A-B0B8-E176-5AEA-C17AB344C57A}"/>
              </a:ext>
            </a:extLst>
          </p:cNvPr>
          <p:cNvPicPr>
            <a:picLocks noChangeAspect="1"/>
          </p:cNvPicPr>
          <p:nvPr/>
        </p:nvPicPr>
        <p:blipFill>
          <a:blip r:embed="rId7"/>
          <a:stretch>
            <a:fillRect/>
          </a:stretch>
        </p:blipFill>
        <p:spPr>
          <a:xfrm>
            <a:off x="881412" y="1621922"/>
            <a:ext cx="1097280" cy="1738461"/>
          </a:xfrm>
          <a:prstGeom prst="rect">
            <a:avLst/>
          </a:prstGeom>
        </p:spPr>
      </p:pic>
      <p:pic>
        <p:nvPicPr>
          <p:cNvPr id="11" name="Picture 10">
            <a:extLst>
              <a:ext uri="{FF2B5EF4-FFF2-40B4-BE49-F238E27FC236}">
                <a16:creationId xmlns:a16="http://schemas.microsoft.com/office/drawing/2014/main" id="{1A21BFBB-5651-7A6C-FD57-1CDA828BA227}"/>
              </a:ext>
            </a:extLst>
          </p:cNvPr>
          <p:cNvPicPr preferRelativeResize="0">
            <a:picLocks/>
          </p:cNvPicPr>
          <p:nvPr/>
        </p:nvPicPr>
        <p:blipFill>
          <a:blip r:embed="rId8"/>
          <a:stretch>
            <a:fillRect/>
          </a:stretch>
        </p:blipFill>
        <p:spPr>
          <a:xfrm>
            <a:off x="9911229" y="1602950"/>
            <a:ext cx="1097280" cy="1737360"/>
          </a:xfrm>
          <a:prstGeom prst="rect">
            <a:avLst/>
          </a:prstGeom>
        </p:spPr>
      </p:pic>
      <p:pic>
        <p:nvPicPr>
          <p:cNvPr id="10" name="Picture 9">
            <a:extLst>
              <a:ext uri="{FF2B5EF4-FFF2-40B4-BE49-F238E27FC236}">
                <a16:creationId xmlns:a16="http://schemas.microsoft.com/office/drawing/2014/main" id="{C391DB6B-E185-1DB9-E4E8-D75806A4755B}"/>
              </a:ext>
            </a:extLst>
          </p:cNvPr>
          <p:cNvPicPr>
            <a:picLocks noChangeAspect="1"/>
          </p:cNvPicPr>
          <p:nvPr/>
        </p:nvPicPr>
        <p:blipFill>
          <a:blip r:embed="rId9"/>
          <a:stretch>
            <a:fillRect/>
          </a:stretch>
        </p:blipFill>
        <p:spPr>
          <a:xfrm>
            <a:off x="4177369" y="2853591"/>
            <a:ext cx="1678285" cy="1367802"/>
          </a:xfrm>
          <a:prstGeom prst="rect">
            <a:avLst/>
          </a:prstGeom>
        </p:spPr>
      </p:pic>
    </p:spTree>
    <p:extLst>
      <p:ext uri="{BB962C8B-B14F-4D97-AF65-F5344CB8AC3E}">
        <p14:creationId xmlns:p14="http://schemas.microsoft.com/office/powerpoint/2010/main" val="63745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0" grpId="0" animBg="1"/>
      <p:bldP spid="25" grpId="0" animBg="1"/>
      <p:bldP spid="26" grpId="0" animBg="1"/>
      <p:bldP spid="27" grpId="0" animBg="1"/>
      <p:bldP spid="28" grpId="0" animBg="1"/>
      <p:bldP spid="29" grpId="0" animBg="1"/>
      <p:bldP spid="31" grpId="0"/>
      <p:bldP spid="32" grpId="0"/>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6C673-369A-7CAC-B839-FECE56CCB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11F9C-ACB8-D7F8-D9F8-928DEA02FDA5}"/>
              </a:ext>
            </a:extLst>
          </p:cNvPr>
          <p:cNvSpPr>
            <a:spLocks noGrp="1"/>
          </p:cNvSpPr>
          <p:nvPr>
            <p:ph type="title"/>
          </p:nvPr>
        </p:nvSpPr>
        <p:spPr/>
        <p:txBody>
          <a:bodyPr/>
          <a:lstStyle/>
          <a:p>
            <a:r>
              <a:rPr lang="en-US" dirty="0"/>
              <a:t>Payment Channel</a:t>
            </a:r>
          </a:p>
        </p:txBody>
      </p:sp>
      <p:sp>
        <p:nvSpPr>
          <p:cNvPr id="4" name="Slide Number Placeholder 3">
            <a:extLst>
              <a:ext uri="{FF2B5EF4-FFF2-40B4-BE49-F238E27FC236}">
                <a16:creationId xmlns:a16="http://schemas.microsoft.com/office/drawing/2014/main" id="{C2819093-9659-8B36-EE65-C3DD16B8D5BB}"/>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
        <p:nvSpPr>
          <p:cNvPr id="7" name="Oval 6">
            <a:extLst>
              <a:ext uri="{FF2B5EF4-FFF2-40B4-BE49-F238E27FC236}">
                <a16:creationId xmlns:a16="http://schemas.microsoft.com/office/drawing/2014/main" id="{193CC413-D306-21BB-A971-DA8F33F4F31A}"/>
              </a:ext>
            </a:extLst>
          </p:cNvPr>
          <p:cNvSpPr/>
          <p:nvPr/>
        </p:nvSpPr>
        <p:spPr>
          <a:xfrm>
            <a:off x="1355633" y="1821899"/>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4F43BE9-4E17-2F66-9C19-7E32E326964F}"/>
              </a:ext>
            </a:extLst>
          </p:cNvPr>
          <p:cNvSpPr/>
          <p:nvPr/>
        </p:nvSpPr>
        <p:spPr>
          <a:xfrm>
            <a:off x="1355633" y="2431496"/>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6829373-9D8C-9A63-5BA9-669AC4EEB0BB}"/>
              </a:ext>
            </a:extLst>
          </p:cNvPr>
          <p:cNvSpPr/>
          <p:nvPr/>
        </p:nvSpPr>
        <p:spPr>
          <a:xfrm>
            <a:off x="2230097" y="2077012"/>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965B4EB-2E3D-BD11-CD77-4BD315FC36AE}"/>
              </a:ext>
            </a:extLst>
          </p:cNvPr>
          <p:cNvGrpSpPr/>
          <p:nvPr/>
        </p:nvGrpSpPr>
        <p:grpSpPr>
          <a:xfrm rot="18889939">
            <a:off x="3176409" y="2122259"/>
            <a:ext cx="426586" cy="426576"/>
            <a:chOff x="7271329" y="4587629"/>
            <a:chExt cx="426586" cy="426576"/>
          </a:xfrm>
        </p:grpSpPr>
        <p:sp>
          <p:nvSpPr>
            <p:cNvPr id="21" name="Freeform: Shape 20">
              <a:extLst>
                <a:ext uri="{FF2B5EF4-FFF2-40B4-BE49-F238E27FC236}">
                  <a16:creationId xmlns:a16="http://schemas.microsoft.com/office/drawing/2014/main" id="{8D2F98E4-C472-00A6-731D-4893DB1BA181}"/>
                </a:ext>
              </a:extLst>
            </p:cNvPr>
            <p:cNvSpPr/>
            <p:nvPr/>
          </p:nvSpPr>
          <p:spPr>
            <a:xfrm>
              <a:off x="7271329" y="4587629"/>
              <a:ext cx="213288" cy="426575"/>
            </a:xfrm>
            <a:custGeom>
              <a:avLst/>
              <a:gdLst>
                <a:gd name="connsiteX0" fmla="*/ 213287 w 213288"/>
                <a:gd name="connsiteY0" fmla="*/ 0 h 426575"/>
                <a:gd name="connsiteX1" fmla="*/ 213288 w 213288"/>
                <a:gd name="connsiteY1" fmla="*/ 0 h 426575"/>
                <a:gd name="connsiteX2" fmla="*/ 213288 w 213288"/>
                <a:gd name="connsiteY2" fmla="*/ 426575 h 426575"/>
                <a:gd name="connsiteX3" fmla="*/ 213277 w 213288"/>
                <a:gd name="connsiteY3" fmla="*/ 426575 h 426575"/>
                <a:gd name="connsiteX4" fmla="*/ 170302 w 213288"/>
                <a:gd name="connsiteY4" fmla="*/ 422243 h 426575"/>
                <a:gd name="connsiteX5" fmla="*/ 4332 w 213288"/>
                <a:gd name="connsiteY5" fmla="*/ 256273 h 426575"/>
                <a:gd name="connsiteX6" fmla="*/ 0 w 213288"/>
                <a:gd name="connsiteY6" fmla="*/ 213298 h 426575"/>
                <a:gd name="connsiteX7" fmla="*/ 0 w 213288"/>
                <a:gd name="connsiteY7" fmla="*/ 213278 h 426575"/>
                <a:gd name="connsiteX8" fmla="*/ 4332 w 213288"/>
                <a:gd name="connsiteY8" fmla="*/ 170303 h 426575"/>
                <a:gd name="connsiteX9" fmla="*/ 213287 w 213288"/>
                <a:gd name="connsiteY9" fmla="*/ 0 h 42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288" h="426575">
                  <a:moveTo>
                    <a:pt x="213287" y="0"/>
                  </a:moveTo>
                  <a:lnTo>
                    <a:pt x="213288" y="0"/>
                  </a:lnTo>
                  <a:lnTo>
                    <a:pt x="213288" y="426575"/>
                  </a:lnTo>
                  <a:lnTo>
                    <a:pt x="213277" y="426575"/>
                  </a:lnTo>
                  <a:lnTo>
                    <a:pt x="170302" y="422243"/>
                  </a:lnTo>
                  <a:cubicBezTo>
                    <a:pt x="86995" y="405196"/>
                    <a:pt x="21380" y="339581"/>
                    <a:pt x="4332" y="256273"/>
                  </a:cubicBezTo>
                  <a:lnTo>
                    <a:pt x="0" y="213298"/>
                  </a:lnTo>
                  <a:lnTo>
                    <a:pt x="0" y="213278"/>
                  </a:lnTo>
                  <a:lnTo>
                    <a:pt x="4332" y="170303"/>
                  </a:lnTo>
                  <a:cubicBezTo>
                    <a:pt x="24221" y="73111"/>
                    <a:pt x="110216" y="0"/>
                    <a:pt x="213287" y="0"/>
                  </a:cubicBezTo>
                  <a:close/>
                </a:path>
              </a:pathLst>
            </a:cu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6E5B2B5-07EF-B140-AE22-C5FF876B5B76}"/>
                </a:ext>
              </a:extLst>
            </p:cNvPr>
            <p:cNvSpPr/>
            <p:nvPr/>
          </p:nvSpPr>
          <p:spPr>
            <a:xfrm>
              <a:off x="7484617" y="4587629"/>
              <a:ext cx="213298" cy="426576"/>
            </a:xfrm>
            <a:custGeom>
              <a:avLst/>
              <a:gdLst>
                <a:gd name="connsiteX0" fmla="*/ 11 w 213298"/>
                <a:gd name="connsiteY0" fmla="*/ 0 h 426576"/>
                <a:gd name="connsiteX1" fmla="*/ 42995 w 213298"/>
                <a:gd name="connsiteY1" fmla="*/ 4333 h 426576"/>
                <a:gd name="connsiteX2" fmla="*/ 213298 w 213298"/>
                <a:gd name="connsiteY2" fmla="*/ 213288 h 426576"/>
                <a:gd name="connsiteX3" fmla="*/ 10 w 213298"/>
                <a:gd name="connsiteY3" fmla="*/ 426576 h 426576"/>
                <a:gd name="connsiteX4" fmla="*/ 0 w 213298"/>
                <a:gd name="connsiteY4" fmla="*/ 426575 h 426576"/>
                <a:gd name="connsiteX5" fmla="*/ 11 w 213298"/>
                <a:gd name="connsiteY5" fmla="*/ 426575 h 426576"/>
                <a:gd name="connsiteX6" fmla="*/ 11 w 213298"/>
                <a:gd name="connsiteY6" fmla="*/ 0 h 42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298" h="426576">
                  <a:moveTo>
                    <a:pt x="11" y="0"/>
                  </a:moveTo>
                  <a:lnTo>
                    <a:pt x="42995" y="4333"/>
                  </a:lnTo>
                  <a:cubicBezTo>
                    <a:pt x="140187" y="24222"/>
                    <a:pt x="213298" y="110217"/>
                    <a:pt x="213298" y="213288"/>
                  </a:cubicBezTo>
                  <a:cubicBezTo>
                    <a:pt x="213298" y="331084"/>
                    <a:pt x="117806" y="426576"/>
                    <a:pt x="10" y="426576"/>
                  </a:cubicBezTo>
                  <a:lnTo>
                    <a:pt x="0" y="426575"/>
                  </a:lnTo>
                  <a:lnTo>
                    <a:pt x="11" y="426575"/>
                  </a:lnTo>
                  <a:lnTo>
                    <a:pt x="11" y="0"/>
                  </a:lnTo>
                  <a:close/>
                </a:path>
              </a:pathLst>
            </a:cu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4" name="Connector: Elbow 23">
            <a:extLst>
              <a:ext uri="{FF2B5EF4-FFF2-40B4-BE49-F238E27FC236}">
                <a16:creationId xmlns:a16="http://schemas.microsoft.com/office/drawing/2014/main" id="{BC77B249-6D1E-8F02-7A0B-24C93A979329}"/>
              </a:ext>
            </a:extLst>
          </p:cNvPr>
          <p:cNvCxnSpPr>
            <a:cxnSpLocks/>
            <a:stCxn id="7" idx="6"/>
          </p:cNvCxnSpPr>
          <p:nvPr/>
        </p:nvCxnSpPr>
        <p:spPr>
          <a:xfrm>
            <a:off x="1782208" y="2035187"/>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593A862B-D970-0536-CA66-F8A187076701}"/>
              </a:ext>
            </a:extLst>
          </p:cNvPr>
          <p:cNvCxnSpPr>
            <a:cxnSpLocks/>
          </p:cNvCxnSpPr>
          <p:nvPr/>
        </p:nvCxnSpPr>
        <p:spPr>
          <a:xfrm flipV="1">
            <a:off x="1789647" y="2431496"/>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C123542-BEB3-DB46-8DF5-F8D784242F5F}"/>
              </a:ext>
            </a:extLst>
          </p:cNvPr>
          <p:cNvCxnSpPr>
            <a:stCxn id="9" idx="3"/>
          </p:cNvCxnSpPr>
          <p:nvPr/>
        </p:nvCxnSpPr>
        <p:spPr>
          <a:xfrm flipV="1">
            <a:off x="2797868" y="2360897"/>
            <a:ext cx="357184" cy="1"/>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BE845DF6-B2D5-6F29-673B-E92E07C4E457}"/>
              </a:ext>
            </a:extLst>
          </p:cNvPr>
          <p:cNvPicPr>
            <a:picLocks noChangeAspect="1"/>
          </p:cNvPicPr>
          <p:nvPr/>
        </p:nvPicPr>
        <p:blipFill>
          <a:blip r:embed="rId2"/>
          <a:stretch>
            <a:fillRect/>
          </a:stretch>
        </p:blipFill>
        <p:spPr>
          <a:xfrm>
            <a:off x="3294215" y="2617624"/>
            <a:ext cx="292796" cy="304507"/>
          </a:xfrm>
          <a:prstGeom prst="rect">
            <a:avLst/>
          </a:prstGeom>
        </p:spPr>
      </p:pic>
      <p:sp>
        <p:nvSpPr>
          <p:cNvPr id="38" name="Rectangle 37">
            <a:extLst>
              <a:ext uri="{FF2B5EF4-FFF2-40B4-BE49-F238E27FC236}">
                <a16:creationId xmlns:a16="http://schemas.microsoft.com/office/drawing/2014/main" id="{53959F84-62EF-935C-C8C0-1415A49AAF9E}"/>
              </a:ext>
            </a:extLst>
          </p:cNvPr>
          <p:cNvSpPr/>
          <p:nvPr/>
        </p:nvSpPr>
        <p:spPr>
          <a:xfrm>
            <a:off x="4062608" y="2057356"/>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3B723815-1DA2-3882-66CC-0C1A01D467BF}"/>
              </a:ext>
            </a:extLst>
          </p:cNvPr>
          <p:cNvCxnSpPr/>
          <p:nvPr/>
        </p:nvCxnSpPr>
        <p:spPr>
          <a:xfrm flipV="1">
            <a:off x="3652560" y="2344876"/>
            <a:ext cx="357184" cy="1"/>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A9C3E91B-4440-0FDA-B982-6460E402ADE6}"/>
              </a:ext>
            </a:extLst>
          </p:cNvPr>
          <p:cNvCxnSpPr>
            <a:cxnSpLocks/>
          </p:cNvCxnSpPr>
          <p:nvPr/>
        </p:nvCxnSpPr>
        <p:spPr>
          <a:xfrm>
            <a:off x="4630822" y="2360897"/>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5F87A280-1096-089B-B07C-917D04F898E1}"/>
              </a:ext>
            </a:extLst>
          </p:cNvPr>
          <p:cNvCxnSpPr>
            <a:cxnSpLocks/>
          </p:cNvCxnSpPr>
          <p:nvPr/>
        </p:nvCxnSpPr>
        <p:spPr>
          <a:xfrm flipV="1">
            <a:off x="4630822" y="2040143"/>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E90A0DE8-D3CC-CF62-76D5-FC3F14FCF377}"/>
              </a:ext>
            </a:extLst>
          </p:cNvPr>
          <p:cNvSpPr/>
          <p:nvPr/>
        </p:nvSpPr>
        <p:spPr>
          <a:xfrm>
            <a:off x="5098501" y="1758600"/>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78481F67-3FC6-125B-412B-375D2B123867}"/>
              </a:ext>
            </a:extLst>
          </p:cNvPr>
          <p:cNvSpPr/>
          <p:nvPr/>
        </p:nvSpPr>
        <p:spPr>
          <a:xfrm>
            <a:off x="5125153" y="2357994"/>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157223A-3FF8-FD3B-059B-D10B7A1BF5B0}"/>
              </a:ext>
            </a:extLst>
          </p:cNvPr>
          <p:cNvSpPr/>
          <p:nvPr/>
        </p:nvSpPr>
        <p:spPr>
          <a:xfrm>
            <a:off x="4062608" y="3414463"/>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onnector: Elbow 44">
            <a:extLst>
              <a:ext uri="{FF2B5EF4-FFF2-40B4-BE49-F238E27FC236}">
                <a16:creationId xmlns:a16="http://schemas.microsoft.com/office/drawing/2014/main" id="{832F43A5-4131-91B1-41A6-4C5DAD9CC11B}"/>
              </a:ext>
            </a:extLst>
          </p:cNvPr>
          <p:cNvCxnSpPr>
            <a:cxnSpLocks/>
          </p:cNvCxnSpPr>
          <p:nvPr/>
        </p:nvCxnSpPr>
        <p:spPr>
          <a:xfrm>
            <a:off x="4630822" y="3708090"/>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605C8333-B5B6-6BE3-C512-9F8A3E3F98AC}"/>
              </a:ext>
            </a:extLst>
          </p:cNvPr>
          <p:cNvCxnSpPr>
            <a:cxnSpLocks/>
          </p:cNvCxnSpPr>
          <p:nvPr/>
        </p:nvCxnSpPr>
        <p:spPr>
          <a:xfrm flipV="1">
            <a:off x="4630822" y="3387336"/>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2F5DADC4-1E44-B3DA-A638-38FD27E12875}"/>
              </a:ext>
            </a:extLst>
          </p:cNvPr>
          <p:cNvSpPr/>
          <p:nvPr/>
        </p:nvSpPr>
        <p:spPr>
          <a:xfrm>
            <a:off x="5098501" y="3105793"/>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F68137C2-3144-435A-F56D-1893A3BFFAE7}"/>
              </a:ext>
            </a:extLst>
          </p:cNvPr>
          <p:cNvSpPr/>
          <p:nvPr/>
        </p:nvSpPr>
        <p:spPr>
          <a:xfrm>
            <a:off x="5125153" y="3705187"/>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2CC0C924-BFFC-D1B1-EFCC-A79F3F78FF74}"/>
              </a:ext>
            </a:extLst>
          </p:cNvPr>
          <p:cNvSpPr txBox="1"/>
          <p:nvPr/>
        </p:nvSpPr>
        <p:spPr>
          <a:xfrm>
            <a:off x="2096367" y="2643825"/>
            <a:ext cx="798617" cy="307777"/>
          </a:xfrm>
          <a:prstGeom prst="rect">
            <a:avLst/>
          </a:prstGeom>
          <a:noFill/>
        </p:spPr>
        <p:txBody>
          <a:bodyPr wrap="none" rtlCol="0">
            <a:spAutoFit/>
          </a:bodyPr>
          <a:lstStyle/>
          <a:p>
            <a:r>
              <a:rPr lang="en-US" sz="1400" dirty="0">
                <a:latin typeface="Candara" panose="020E0502030303020204" pitchFamily="34" charset="0"/>
              </a:rPr>
              <a:t>Funding</a:t>
            </a:r>
          </a:p>
        </p:txBody>
      </p:sp>
      <p:sp>
        <p:nvSpPr>
          <p:cNvPr id="75" name="TextBox 74">
            <a:extLst>
              <a:ext uri="{FF2B5EF4-FFF2-40B4-BE49-F238E27FC236}">
                <a16:creationId xmlns:a16="http://schemas.microsoft.com/office/drawing/2014/main" id="{ED767DE7-2A2A-0DB9-51C2-C97BFE6916CA}"/>
              </a:ext>
            </a:extLst>
          </p:cNvPr>
          <p:cNvSpPr txBox="1"/>
          <p:nvPr/>
        </p:nvSpPr>
        <p:spPr>
          <a:xfrm>
            <a:off x="3834243" y="2678182"/>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76" name="TextBox 75">
            <a:extLst>
              <a:ext uri="{FF2B5EF4-FFF2-40B4-BE49-F238E27FC236}">
                <a16:creationId xmlns:a16="http://schemas.microsoft.com/office/drawing/2014/main" id="{8E864CDA-69CA-2705-02D0-9EA18E54A429}"/>
              </a:ext>
            </a:extLst>
          </p:cNvPr>
          <p:cNvSpPr txBox="1"/>
          <p:nvPr/>
        </p:nvSpPr>
        <p:spPr>
          <a:xfrm>
            <a:off x="3831152" y="4074398"/>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77" name="TextBox 76">
            <a:extLst>
              <a:ext uri="{FF2B5EF4-FFF2-40B4-BE49-F238E27FC236}">
                <a16:creationId xmlns:a16="http://schemas.microsoft.com/office/drawing/2014/main" id="{8529D180-CA17-2E17-A6E5-A2F154629E5E}"/>
              </a:ext>
            </a:extLst>
          </p:cNvPr>
          <p:cNvSpPr txBox="1"/>
          <p:nvPr/>
        </p:nvSpPr>
        <p:spPr>
          <a:xfrm>
            <a:off x="778163" y="1892569"/>
            <a:ext cx="548548" cy="307777"/>
          </a:xfrm>
          <a:prstGeom prst="rect">
            <a:avLst/>
          </a:prstGeom>
          <a:noFill/>
        </p:spPr>
        <p:txBody>
          <a:bodyPr wrap="none" rtlCol="0">
            <a:spAutoFit/>
          </a:bodyPr>
          <a:lstStyle/>
          <a:p>
            <a:r>
              <a:rPr lang="en-US" sz="1400" dirty="0">
                <a:latin typeface="Candara" panose="020E0502030303020204" pitchFamily="34" charset="0"/>
              </a:rPr>
              <a:t>Alice</a:t>
            </a:r>
          </a:p>
        </p:txBody>
      </p:sp>
      <p:sp>
        <p:nvSpPr>
          <p:cNvPr id="78" name="TextBox 77">
            <a:extLst>
              <a:ext uri="{FF2B5EF4-FFF2-40B4-BE49-F238E27FC236}">
                <a16:creationId xmlns:a16="http://schemas.microsoft.com/office/drawing/2014/main" id="{A2B1E1F5-521D-86C2-DC98-CCB81B80BAB5}"/>
              </a:ext>
            </a:extLst>
          </p:cNvPr>
          <p:cNvSpPr txBox="1"/>
          <p:nvPr/>
        </p:nvSpPr>
        <p:spPr>
          <a:xfrm>
            <a:off x="846360" y="2531172"/>
            <a:ext cx="490840" cy="307777"/>
          </a:xfrm>
          <a:prstGeom prst="rect">
            <a:avLst/>
          </a:prstGeom>
          <a:noFill/>
        </p:spPr>
        <p:txBody>
          <a:bodyPr wrap="none" rtlCol="0">
            <a:spAutoFit/>
          </a:bodyPr>
          <a:lstStyle/>
          <a:p>
            <a:r>
              <a:rPr lang="en-US" sz="1400" dirty="0">
                <a:latin typeface="Candara" panose="020E0502030303020204" pitchFamily="34" charset="0"/>
              </a:rPr>
              <a:t>Bob</a:t>
            </a:r>
          </a:p>
        </p:txBody>
      </p:sp>
      <p:sp>
        <p:nvSpPr>
          <p:cNvPr id="83" name="TextBox 82">
            <a:extLst>
              <a:ext uri="{FF2B5EF4-FFF2-40B4-BE49-F238E27FC236}">
                <a16:creationId xmlns:a16="http://schemas.microsoft.com/office/drawing/2014/main" id="{3706DE74-505A-99C8-83F7-76C5008077CA}"/>
              </a:ext>
            </a:extLst>
          </p:cNvPr>
          <p:cNvSpPr txBox="1"/>
          <p:nvPr/>
        </p:nvSpPr>
        <p:spPr>
          <a:xfrm>
            <a:off x="1686362" y="1684990"/>
            <a:ext cx="654346" cy="261610"/>
          </a:xfrm>
          <a:prstGeom prst="rect">
            <a:avLst/>
          </a:prstGeom>
          <a:noFill/>
        </p:spPr>
        <p:txBody>
          <a:bodyPr wrap="none" rtlCol="0">
            <a:spAutoFit/>
          </a:bodyPr>
          <a:lstStyle/>
          <a:p>
            <a:r>
              <a:rPr lang="en-US" sz="1100" dirty="0">
                <a:latin typeface="Candara" panose="020E0502030303020204" pitchFamily="34" charset="0"/>
              </a:rPr>
              <a:t>100,000</a:t>
            </a:r>
          </a:p>
        </p:txBody>
      </p:sp>
      <p:sp>
        <p:nvSpPr>
          <p:cNvPr id="84" name="TextBox 83">
            <a:extLst>
              <a:ext uri="{FF2B5EF4-FFF2-40B4-BE49-F238E27FC236}">
                <a16:creationId xmlns:a16="http://schemas.microsoft.com/office/drawing/2014/main" id="{1F44E231-DC15-7723-B1D5-371790E67ADA}"/>
              </a:ext>
            </a:extLst>
          </p:cNvPr>
          <p:cNvSpPr txBox="1"/>
          <p:nvPr/>
        </p:nvSpPr>
        <p:spPr>
          <a:xfrm>
            <a:off x="1719687" y="2626882"/>
            <a:ext cx="261610" cy="261610"/>
          </a:xfrm>
          <a:prstGeom prst="rect">
            <a:avLst/>
          </a:prstGeom>
          <a:noFill/>
        </p:spPr>
        <p:txBody>
          <a:bodyPr wrap="none" rtlCol="0">
            <a:spAutoFit/>
          </a:bodyPr>
          <a:lstStyle/>
          <a:p>
            <a:r>
              <a:rPr lang="en-US" sz="1100" dirty="0">
                <a:latin typeface="Candara" panose="020E0502030303020204" pitchFamily="34" charset="0"/>
              </a:rPr>
              <a:t>0</a:t>
            </a:r>
          </a:p>
        </p:txBody>
      </p:sp>
      <p:sp>
        <p:nvSpPr>
          <p:cNvPr id="85" name="TextBox 84">
            <a:extLst>
              <a:ext uri="{FF2B5EF4-FFF2-40B4-BE49-F238E27FC236}">
                <a16:creationId xmlns:a16="http://schemas.microsoft.com/office/drawing/2014/main" id="{36F8A2E4-4A0A-A20B-FC6B-834555030829}"/>
              </a:ext>
            </a:extLst>
          </p:cNvPr>
          <p:cNvSpPr txBox="1"/>
          <p:nvPr/>
        </p:nvSpPr>
        <p:spPr>
          <a:xfrm>
            <a:off x="4433676" y="1752245"/>
            <a:ext cx="654346" cy="261610"/>
          </a:xfrm>
          <a:prstGeom prst="rect">
            <a:avLst/>
          </a:prstGeom>
          <a:noFill/>
        </p:spPr>
        <p:txBody>
          <a:bodyPr wrap="none" rtlCol="0">
            <a:spAutoFit/>
          </a:bodyPr>
          <a:lstStyle/>
          <a:p>
            <a:r>
              <a:rPr lang="en-US" sz="1100" dirty="0">
                <a:latin typeface="Candara" panose="020E0502030303020204" pitchFamily="34" charset="0"/>
              </a:rPr>
              <a:t>100,000</a:t>
            </a:r>
          </a:p>
        </p:txBody>
      </p:sp>
      <p:sp>
        <p:nvSpPr>
          <p:cNvPr id="86" name="TextBox 85">
            <a:extLst>
              <a:ext uri="{FF2B5EF4-FFF2-40B4-BE49-F238E27FC236}">
                <a16:creationId xmlns:a16="http://schemas.microsoft.com/office/drawing/2014/main" id="{2A5680E2-CF16-4093-B8C7-38E52A9479F3}"/>
              </a:ext>
            </a:extLst>
          </p:cNvPr>
          <p:cNvSpPr txBox="1"/>
          <p:nvPr/>
        </p:nvSpPr>
        <p:spPr>
          <a:xfrm>
            <a:off x="4772098" y="2523313"/>
            <a:ext cx="261610" cy="261610"/>
          </a:xfrm>
          <a:prstGeom prst="rect">
            <a:avLst/>
          </a:prstGeom>
          <a:noFill/>
        </p:spPr>
        <p:txBody>
          <a:bodyPr wrap="none" rtlCol="0">
            <a:spAutoFit/>
          </a:bodyPr>
          <a:lstStyle/>
          <a:p>
            <a:r>
              <a:rPr lang="en-US" sz="1100" dirty="0">
                <a:latin typeface="Candara" panose="020E0502030303020204" pitchFamily="34" charset="0"/>
              </a:rPr>
              <a:t>0</a:t>
            </a:r>
          </a:p>
        </p:txBody>
      </p:sp>
      <p:sp>
        <p:nvSpPr>
          <p:cNvPr id="87" name="TextBox 86">
            <a:extLst>
              <a:ext uri="{FF2B5EF4-FFF2-40B4-BE49-F238E27FC236}">
                <a16:creationId xmlns:a16="http://schemas.microsoft.com/office/drawing/2014/main" id="{6A328BBB-DF83-81FF-2045-968F1DCF42B0}"/>
              </a:ext>
            </a:extLst>
          </p:cNvPr>
          <p:cNvSpPr txBox="1"/>
          <p:nvPr/>
        </p:nvSpPr>
        <p:spPr>
          <a:xfrm>
            <a:off x="4493848" y="3092756"/>
            <a:ext cx="604653" cy="261610"/>
          </a:xfrm>
          <a:prstGeom prst="rect">
            <a:avLst/>
          </a:prstGeom>
          <a:noFill/>
        </p:spPr>
        <p:txBody>
          <a:bodyPr wrap="none" rtlCol="0">
            <a:spAutoFit/>
          </a:bodyPr>
          <a:lstStyle/>
          <a:p>
            <a:r>
              <a:rPr lang="en-US" sz="1100" dirty="0">
                <a:latin typeface="Candara" panose="020E0502030303020204" pitchFamily="34" charset="0"/>
              </a:rPr>
              <a:t>98,000</a:t>
            </a:r>
          </a:p>
        </p:txBody>
      </p:sp>
      <p:sp>
        <p:nvSpPr>
          <p:cNvPr id="88" name="TextBox 87">
            <a:extLst>
              <a:ext uri="{FF2B5EF4-FFF2-40B4-BE49-F238E27FC236}">
                <a16:creationId xmlns:a16="http://schemas.microsoft.com/office/drawing/2014/main" id="{A25BCD81-A5AB-9A48-C7EA-05D48D71DBA2}"/>
              </a:ext>
            </a:extLst>
          </p:cNvPr>
          <p:cNvSpPr txBox="1"/>
          <p:nvPr/>
        </p:nvSpPr>
        <p:spPr>
          <a:xfrm>
            <a:off x="4612801" y="3918474"/>
            <a:ext cx="481222" cy="261610"/>
          </a:xfrm>
          <a:prstGeom prst="rect">
            <a:avLst/>
          </a:prstGeom>
          <a:noFill/>
        </p:spPr>
        <p:txBody>
          <a:bodyPr wrap="none" rtlCol="0">
            <a:spAutoFit/>
          </a:bodyPr>
          <a:lstStyle/>
          <a:p>
            <a:r>
              <a:rPr lang="en-US" sz="1100" dirty="0">
                <a:latin typeface="Candara" panose="020E0502030303020204" pitchFamily="34" charset="0"/>
              </a:rPr>
              <a:t>2000</a:t>
            </a:r>
          </a:p>
        </p:txBody>
      </p:sp>
      <p:sp>
        <p:nvSpPr>
          <p:cNvPr id="97" name="Rectangle 96">
            <a:extLst>
              <a:ext uri="{FF2B5EF4-FFF2-40B4-BE49-F238E27FC236}">
                <a16:creationId xmlns:a16="http://schemas.microsoft.com/office/drawing/2014/main" id="{0533C577-0EA4-D618-DD15-167BE6886FC2}"/>
              </a:ext>
            </a:extLst>
          </p:cNvPr>
          <p:cNvSpPr/>
          <p:nvPr/>
        </p:nvSpPr>
        <p:spPr>
          <a:xfrm>
            <a:off x="4143929" y="4657628"/>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Connector: Elbow 97">
            <a:extLst>
              <a:ext uri="{FF2B5EF4-FFF2-40B4-BE49-F238E27FC236}">
                <a16:creationId xmlns:a16="http://schemas.microsoft.com/office/drawing/2014/main" id="{EA8FE6A6-7ADF-892B-F8E5-A4CBC4787BE8}"/>
              </a:ext>
            </a:extLst>
          </p:cNvPr>
          <p:cNvCxnSpPr>
            <a:cxnSpLocks/>
          </p:cNvCxnSpPr>
          <p:nvPr/>
        </p:nvCxnSpPr>
        <p:spPr>
          <a:xfrm flipV="1">
            <a:off x="4712143" y="4630501"/>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FF7933D1-30E8-A51F-8A44-92C6C5B17137}"/>
              </a:ext>
            </a:extLst>
          </p:cNvPr>
          <p:cNvSpPr/>
          <p:nvPr/>
        </p:nvSpPr>
        <p:spPr>
          <a:xfrm>
            <a:off x="5179822" y="4348958"/>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5AE0B211-1173-7FAE-960D-80C73EFAA906}"/>
              </a:ext>
            </a:extLst>
          </p:cNvPr>
          <p:cNvSpPr/>
          <p:nvPr/>
        </p:nvSpPr>
        <p:spPr>
          <a:xfrm>
            <a:off x="5206474" y="4948352"/>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C2CECC14-75C3-80B3-FC5B-8D249514EC63}"/>
              </a:ext>
            </a:extLst>
          </p:cNvPr>
          <p:cNvSpPr txBox="1"/>
          <p:nvPr/>
        </p:nvSpPr>
        <p:spPr>
          <a:xfrm>
            <a:off x="4694122" y="5161639"/>
            <a:ext cx="484428" cy="261610"/>
          </a:xfrm>
          <a:prstGeom prst="rect">
            <a:avLst/>
          </a:prstGeom>
          <a:noFill/>
        </p:spPr>
        <p:txBody>
          <a:bodyPr wrap="none" rtlCol="0">
            <a:spAutoFit/>
          </a:bodyPr>
          <a:lstStyle/>
          <a:p>
            <a:r>
              <a:rPr lang="en-US" sz="1100" dirty="0">
                <a:latin typeface="Candara" panose="020E0502030303020204" pitchFamily="34" charset="0"/>
              </a:rPr>
              <a:t>5000</a:t>
            </a:r>
          </a:p>
        </p:txBody>
      </p:sp>
      <p:cxnSp>
        <p:nvCxnSpPr>
          <p:cNvPr id="107" name="Connector: Elbow 106">
            <a:extLst>
              <a:ext uri="{FF2B5EF4-FFF2-40B4-BE49-F238E27FC236}">
                <a16:creationId xmlns:a16="http://schemas.microsoft.com/office/drawing/2014/main" id="{0CD35AE7-BA10-83DB-1ABA-5C095AEBB901}"/>
              </a:ext>
            </a:extLst>
          </p:cNvPr>
          <p:cNvCxnSpPr>
            <a:cxnSpLocks/>
          </p:cNvCxnSpPr>
          <p:nvPr/>
        </p:nvCxnSpPr>
        <p:spPr>
          <a:xfrm>
            <a:off x="4742830" y="4969275"/>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AC635E6-474D-EEAA-FC52-8BB46F848C6A}"/>
              </a:ext>
            </a:extLst>
          </p:cNvPr>
          <p:cNvSpPr txBox="1"/>
          <p:nvPr/>
        </p:nvSpPr>
        <p:spPr>
          <a:xfrm>
            <a:off x="3894063" y="5338614"/>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110" name="TextBox 109">
            <a:extLst>
              <a:ext uri="{FF2B5EF4-FFF2-40B4-BE49-F238E27FC236}">
                <a16:creationId xmlns:a16="http://schemas.microsoft.com/office/drawing/2014/main" id="{64E4CF12-F2B2-E7C1-452D-3912267C23A2}"/>
              </a:ext>
            </a:extLst>
          </p:cNvPr>
          <p:cNvSpPr txBox="1"/>
          <p:nvPr/>
        </p:nvSpPr>
        <p:spPr>
          <a:xfrm>
            <a:off x="4575169" y="4350878"/>
            <a:ext cx="596638" cy="261610"/>
          </a:xfrm>
          <a:prstGeom prst="rect">
            <a:avLst/>
          </a:prstGeom>
          <a:noFill/>
        </p:spPr>
        <p:txBody>
          <a:bodyPr wrap="none" rtlCol="0">
            <a:spAutoFit/>
          </a:bodyPr>
          <a:lstStyle/>
          <a:p>
            <a:r>
              <a:rPr lang="en-US" sz="1100" dirty="0">
                <a:latin typeface="Candara" panose="020E0502030303020204" pitchFamily="34" charset="0"/>
              </a:rPr>
              <a:t>95,000</a:t>
            </a:r>
          </a:p>
        </p:txBody>
      </p:sp>
      <p:pic>
        <p:nvPicPr>
          <p:cNvPr id="111" name="Picture 110">
            <a:extLst>
              <a:ext uri="{FF2B5EF4-FFF2-40B4-BE49-F238E27FC236}">
                <a16:creationId xmlns:a16="http://schemas.microsoft.com/office/drawing/2014/main" id="{CE51E02D-4855-FA08-3B03-E5FFD3C9E6E7}"/>
              </a:ext>
            </a:extLst>
          </p:cNvPr>
          <p:cNvPicPr>
            <a:picLocks noChangeAspect="1"/>
          </p:cNvPicPr>
          <p:nvPr/>
        </p:nvPicPr>
        <p:blipFill>
          <a:blip r:embed="rId3"/>
          <a:stretch>
            <a:fillRect/>
          </a:stretch>
        </p:blipFill>
        <p:spPr>
          <a:xfrm>
            <a:off x="3624553" y="2478440"/>
            <a:ext cx="554784" cy="1371719"/>
          </a:xfrm>
          <a:prstGeom prst="rect">
            <a:avLst/>
          </a:prstGeom>
        </p:spPr>
      </p:pic>
      <p:pic>
        <p:nvPicPr>
          <p:cNvPr id="112" name="Picture 111">
            <a:extLst>
              <a:ext uri="{FF2B5EF4-FFF2-40B4-BE49-F238E27FC236}">
                <a16:creationId xmlns:a16="http://schemas.microsoft.com/office/drawing/2014/main" id="{66DB4F0A-0A7E-259A-2AB2-EB248204E2A2}"/>
              </a:ext>
            </a:extLst>
          </p:cNvPr>
          <p:cNvPicPr>
            <a:picLocks noChangeAspect="1"/>
          </p:cNvPicPr>
          <p:nvPr/>
        </p:nvPicPr>
        <p:blipFill>
          <a:blip r:embed="rId4"/>
          <a:stretch>
            <a:fillRect/>
          </a:stretch>
        </p:blipFill>
        <p:spPr>
          <a:xfrm>
            <a:off x="3593455" y="2557206"/>
            <a:ext cx="676715" cy="2542252"/>
          </a:xfrm>
          <a:prstGeom prst="rect">
            <a:avLst/>
          </a:prstGeom>
        </p:spPr>
      </p:pic>
      <p:sp>
        <p:nvSpPr>
          <p:cNvPr id="14" name="TextBox 13">
            <a:extLst>
              <a:ext uri="{FF2B5EF4-FFF2-40B4-BE49-F238E27FC236}">
                <a16:creationId xmlns:a16="http://schemas.microsoft.com/office/drawing/2014/main" id="{EB0133E3-337E-09EE-6CB8-875126D41267}"/>
              </a:ext>
            </a:extLst>
          </p:cNvPr>
          <p:cNvSpPr txBox="1"/>
          <p:nvPr/>
        </p:nvSpPr>
        <p:spPr>
          <a:xfrm>
            <a:off x="6351189" y="1172503"/>
            <a:ext cx="5404044" cy="5078313"/>
          </a:xfrm>
          <a:prstGeom prst="rect">
            <a:avLst/>
          </a:prstGeom>
          <a:noFill/>
        </p:spPr>
        <p:txBody>
          <a:bodyPr wrap="square" rtlCol="0">
            <a:spAutoFit/>
          </a:bodyPr>
          <a:lstStyle/>
          <a:p>
            <a:pPr marL="342900" indent="-342900">
              <a:buFont typeface="+mj-lt"/>
              <a:buAutoNum type="arabicPeriod"/>
            </a:pPr>
            <a:r>
              <a:rPr lang="en-US" dirty="0">
                <a:latin typeface="Candara" panose="020E0502030303020204" pitchFamily="34" charset="0"/>
              </a:rPr>
              <a:t>Alice &amp; Bob decide to open a payment channel</a:t>
            </a:r>
          </a:p>
          <a:p>
            <a:pPr marL="342900" indent="-342900">
              <a:buFont typeface="+mj-lt"/>
              <a:buAutoNum type="arabicPeriod"/>
            </a:pPr>
            <a:r>
              <a:rPr lang="en-US" dirty="0">
                <a:latin typeface="Candara" panose="020E0502030303020204" pitchFamily="34" charset="0"/>
              </a:rPr>
              <a:t>Suppose Alice funds the channel with 100,000 sats</a:t>
            </a:r>
          </a:p>
          <a:p>
            <a:pPr marL="342900" indent="-342900">
              <a:buFont typeface="+mj-lt"/>
              <a:buAutoNum type="arabicPeriod"/>
            </a:pPr>
            <a:r>
              <a:rPr lang="en-US" dirty="0">
                <a:latin typeface="Candara" panose="020E0502030303020204" pitchFamily="34" charset="0"/>
              </a:rPr>
              <a:t>Alice &amp; Bob create a 2-of-2 </a:t>
            </a:r>
            <a:r>
              <a:rPr lang="en-US" dirty="0" err="1">
                <a:latin typeface="Candara" panose="020E0502030303020204" pitchFamily="34" charset="0"/>
              </a:rPr>
              <a:t>multisig</a:t>
            </a:r>
            <a:r>
              <a:rPr lang="en-US" dirty="0">
                <a:latin typeface="Candara" panose="020E0502030303020204" pitchFamily="34" charset="0"/>
              </a:rPr>
              <a:t> funding </a:t>
            </a:r>
            <a:r>
              <a:rPr lang="en-US" dirty="0" err="1">
                <a:latin typeface="Candara" panose="020E0502030303020204" pitchFamily="34" charset="0"/>
              </a:rPr>
              <a:t>tx</a:t>
            </a:r>
            <a:endParaRPr lang="en-US" dirty="0">
              <a:latin typeface="Candara" panose="020E0502030303020204" pitchFamily="34" charset="0"/>
            </a:endParaRPr>
          </a:p>
          <a:p>
            <a:pPr marL="342900" indent="-342900">
              <a:buFont typeface="+mj-lt"/>
              <a:buAutoNum type="arabicPeriod"/>
            </a:pPr>
            <a:r>
              <a:rPr lang="en-US" dirty="0">
                <a:latin typeface="Candara" panose="020E0502030303020204" pitchFamily="34" charset="0"/>
              </a:rPr>
              <a:t>Bob signs a commitment transaction to pay back Alice</a:t>
            </a:r>
          </a:p>
          <a:p>
            <a:pPr marL="342900" indent="-342900">
              <a:buFont typeface="+mj-lt"/>
              <a:buAutoNum type="arabicPeriod"/>
            </a:pPr>
            <a:r>
              <a:rPr lang="en-US" dirty="0">
                <a:latin typeface="Candara" panose="020E0502030303020204" pitchFamily="34" charset="0"/>
              </a:rPr>
              <a:t>Once Alice has the commitment transaction, the funding transaction is broadcast and confirmed on-chain</a:t>
            </a:r>
          </a:p>
          <a:p>
            <a:pPr marL="342900" indent="-342900">
              <a:buFont typeface="+mj-lt"/>
              <a:buAutoNum type="arabicPeriod"/>
            </a:pPr>
            <a:r>
              <a:rPr lang="en-US" dirty="0">
                <a:latin typeface="Candara" panose="020E0502030303020204" pitchFamily="34" charset="0"/>
              </a:rPr>
              <a:t>Alice buys coffee and together with Bob decides to update the channel</a:t>
            </a:r>
          </a:p>
          <a:p>
            <a:pPr marL="342900" indent="-342900">
              <a:buFont typeface="+mj-lt"/>
              <a:buAutoNum type="arabicPeriod"/>
            </a:pPr>
            <a:r>
              <a:rPr lang="en-US" dirty="0">
                <a:latin typeface="Candara" panose="020E0502030303020204" pitchFamily="34" charset="0"/>
              </a:rPr>
              <a:t>Alice &amp; Bob create a new commitment transaction with updated balances</a:t>
            </a:r>
          </a:p>
          <a:p>
            <a:pPr marL="342900" indent="-342900">
              <a:buFont typeface="+mj-lt"/>
              <a:buAutoNum type="arabicPeriod"/>
            </a:pPr>
            <a:r>
              <a:rPr lang="en-US" dirty="0">
                <a:latin typeface="Candara" panose="020E0502030303020204" pitchFamily="34" charset="0"/>
              </a:rPr>
              <a:t>Alice buys another coffee and together they decide to update the channel</a:t>
            </a:r>
          </a:p>
          <a:p>
            <a:pPr marL="342900" indent="-342900">
              <a:buFont typeface="+mj-lt"/>
              <a:buAutoNum type="arabicPeriod"/>
            </a:pPr>
            <a:r>
              <a:rPr lang="en-US" dirty="0">
                <a:latin typeface="Candara" panose="020E0502030303020204" pitchFamily="34" charset="0"/>
              </a:rPr>
              <a:t>They update their balances in the new commitment transaction</a:t>
            </a:r>
          </a:p>
          <a:p>
            <a:pPr marL="342900" indent="-342900">
              <a:buFont typeface="+mj-lt"/>
              <a:buAutoNum type="arabicPeriod"/>
            </a:pPr>
            <a:r>
              <a:rPr lang="en-US" dirty="0">
                <a:latin typeface="Candara" panose="020E0502030303020204" pitchFamily="34" charset="0"/>
              </a:rPr>
              <a:t>The process continues till they decide to close the channel </a:t>
            </a:r>
          </a:p>
        </p:txBody>
      </p:sp>
    </p:spTree>
    <p:extLst>
      <p:ext uri="{BB962C8B-B14F-4D97-AF65-F5344CB8AC3E}">
        <p14:creationId xmlns:p14="http://schemas.microsoft.com/office/powerpoint/2010/main" val="261255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4">
                                            <p:txEl>
                                              <p:pRg st="7" end="7"/>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1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0"/>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9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8" grpId="0" animBg="1"/>
      <p:bldP spid="42" grpId="0" animBg="1"/>
      <p:bldP spid="43" grpId="0" animBg="1"/>
      <p:bldP spid="44" grpId="0" animBg="1"/>
      <p:bldP spid="47" grpId="0" animBg="1"/>
      <p:bldP spid="48" grpId="0" animBg="1"/>
      <p:bldP spid="74" grpId="0"/>
      <p:bldP spid="75" grpId="0"/>
      <p:bldP spid="76" grpId="0"/>
      <p:bldP spid="83" grpId="0"/>
      <p:bldP spid="84" grpId="0"/>
      <p:bldP spid="85" grpId="0"/>
      <p:bldP spid="86" grpId="0"/>
      <p:bldP spid="87" grpId="0"/>
      <p:bldP spid="88" grpId="0"/>
      <p:bldP spid="97" grpId="0" animBg="1"/>
      <p:bldP spid="99" grpId="0" animBg="1"/>
      <p:bldP spid="100" grpId="0" animBg="1"/>
      <p:bldP spid="104" grpId="0"/>
      <p:bldP spid="109" grpId="0"/>
      <p:bldP spid="1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401BE-00B2-C733-4434-DFC9485E9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5BD94-85A6-A933-6EE2-EB32D1277146}"/>
              </a:ext>
            </a:extLst>
          </p:cNvPr>
          <p:cNvSpPr>
            <a:spLocks noGrp="1"/>
          </p:cNvSpPr>
          <p:nvPr>
            <p:ph type="title"/>
          </p:nvPr>
        </p:nvSpPr>
        <p:spPr/>
        <p:txBody>
          <a:bodyPr/>
          <a:lstStyle/>
          <a:p>
            <a:r>
              <a:rPr lang="en-PK" dirty="0">
                <a:latin typeface="+mn-lt"/>
              </a:rPr>
              <a:t>Lecture </a:t>
            </a:r>
            <a:r>
              <a:rPr lang="en-US" dirty="0">
                <a:latin typeface="+mn-lt"/>
              </a:rPr>
              <a:t>15</a:t>
            </a:r>
            <a:br>
              <a:rPr lang="en-PK" dirty="0">
                <a:latin typeface="+mn-lt"/>
              </a:rPr>
            </a:br>
            <a:r>
              <a:rPr lang="en-US" dirty="0">
                <a:latin typeface="+mn-lt"/>
              </a:rPr>
              <a:t>Tuesday</a:t>
            </a:r>
            <a:r>
              <a:rPr lang="en-PK" dirty="0">
                <a:latin typeface="+mn-lt"/>
              </a:rPr>
              <a:t>, </a:t>
            </a:r>
            <a:r>
              <a:rPr lang="en-US" dirty="0">
                <a:latin typeface="+mn-lt"/>
              </a:rPr>
              <a:t>Mar</a:t>
            </a:r>
            <a:r>
              <a:rPr lang="en-PK" dirty="0">
                <a:latin typeface="+mn-lt"/>
              </a:rPr>
              <a:t> </a:t>
            </a:r>
            <a:r>
              <a:rPr lang="en-US" dirty="0">
                <a:latin typeface="+mn-lt"/>
              </a:rPr>
              <a:t>24</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1A06AE23-76C3-5CB5-3F15-B82B32A55E52}"/>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2504468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347E9-7C1B-3212-7185-3DD66B458D58}"/>
              </a:ext>
            </a:extLst>
          </p:cNvPr>
          <p:cNvSpPr>
            <a:spLocks noGrp="1"/>
          </p:cNvSpPr>
          <p:nvPr>
            <p:ph type="title"/>
          </p:nvPr>
        </p:nvSpPr>
        <p:spPr/>
        <p:txBody>
          <a:bodyPr/>
          <a:lstStyle/>
          <a:p>
            <a:r>
              <a:rPr lang="en-US" dirty="0"/>
              <a:t>Security Risks</a:t>
            </a:r>
          </a:p>
        </p:txBody>
      </p:sp>
      <p:sp>
        <p:nvSpPr>
          <p:cNvPr id="3" name="Content Placeholder 2">
            <a:extLst>
              <a:ext uri="{FF2B5EF4-FFF2-40B4-BE49-F238E27FC236}">
                <a16:creationId xmlns:a16="http://schemas.microsoft.com/office/drawing/2014/main" id="{3344A3AB-2516-8155-7850-20C07C95A432}"/>
              </a:ext>
            </a:extLst>
          </p:cNvPr>
          <p:cNvSpPr>
            <a:spLocks noGrp="1"/>
          </p:cNvSpPr>
          <p:nvPr>
            <p:ph idx="1"/>
          </p:nvPr>
        </p:nvSpPr>
        <p:spPr>
          <a:xfrm>
            <a:off x="487680" y="1042027"/>
            <a:ext cx="11186160" cy="985520"/>
          </a:xfrm>
        </p:spPr>
        <p:txBody>
          <a:bodyPr>
            <a:normAutofit/>
          </a:bodyPr>
          <a:lstStyle/>
          <a:p>
            <a:pPr marL="0" indent="0" algn="ctr">
              <a:buNone/>
            </a:pPr>
            <a:r>
              <a:rPr lang="en-US" sz="2800" dirty="0"/>
              <a:t>Each commitment transaction is a valid bitcoin transaction, but it is not posted on-chain in usual circumstances </a:t>
            </a:r>
          </a:p>
        </p:txBody>
      </p:sp>
      <p:sp>
        <p:nvSpPr>
          <p:cNvPr id="4" name="Slide Number Placeholder 3">
            <a:extLst>
              <a:ext uri="{FF2B5EF4-FFF2-40B4-BE49-F238E27FC236}">
                <a16:creationId xmlns:a16="http://schemas.microsoft.com/office/drawing/2014/main" id="{3E65329B-37F0-47AD-4BB7-BC224A86B9BA}"/>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
        <p:nvSpPr>
          <p:cNvPr id="5" name="Rectangle 4">
            <a:extLst>
              <a:ext uri="{FF2B5EF4-FFF2-40B4-BE49-F238E27FC236}">
                <a16:creationId xmlns:a16="http://schemas.microsoft.com/office/drawing/2014/main" id="{CA3E2C95-5E4A-0E46-E324-F36AADA77113}"/>
              </a:ext>
            </a:extLst>
          </p:cNvPr>
          <p:cNvSpPr/>
          <p:nvPr/>
        </p:nvSpPr>
        <p:spPr>
          <a:xfrm>
            <a:off x="595964" y="2124857"/>
            <a:ext cx="11192693" cy="99568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What if one party tries to cheat and broadcasts an old commitment transaction?</a:t>
            </a:r>
          </a:p>
        </p:txBody>
      </p:sp>
      <p:sp>
        <p:nvSpPr>
          <p:cNvPr id="6" name="Rectangle 5">
            <a:extLst>
              <a:ext uri="{FF2B5EF4-FFF2-40B4-BE49-F238E27FC236}">
                <a16:creationId xmlns:a16="http://schemas.microsoft.com/office/drawing/2014/main" id="{C91262E1-2D96-2128-99BE-A87B87682E81}"/>
              </a:ext>
            </a:extLst>
          </p:cNvPr>
          <p:cNvSpPr/>
          <p:nvPr/>
        </p:nvSpPr>
        <p:spPr>
          <a:xfrm>
            <a:off x="595964" y="3667035"/>
            <a:ext cx="11192693" cy="99568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What if one party disappears or goes offline?</a:t>
            </a:r>
          </a:p>
        </p:txBody>
      </p:sp>
      <p:sp>
        <p:nvSpPr>
          <p:cNvPr id="8" name="Rectangle 7">
            <a:extLst>
              <a:ext uri="{FF2B5EF4-FFF2-40B4-BE49-F238E27FC236}">
                <a16:creationId xmlns:a16="http://schemas.microsoft.com/office/drawing/2014/main" id="{BB729051-3539-87A6-344F-9407B46FDE98}"/>
              </a:ext>
            </a:extLst>
          </p:cNvPr>
          <p:cNvSpPr/>
          <p:nvPr/>
        </p:nvSpPr>
        <p:spPr>
          <a:xfrm>
            <a:off x="595964" y="5209214"/>
            <a:ext cx="11192693" cy="995682"/>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What measures are required to ensure a trustless payment channel?</a:t>
            </a:r>
          </a:p>
        </p:txBody>
      </p:sp>
    </p:spTree>
    <p:extLst>
      <p:ext uri="{BB962C8B-B14F-4D97-AF65-F5344CB8AC3E}">
        <p14:creationId xmlns:p14="http://schemas.microsoft.com/office/powerpoint/2010/main" val="3429263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4E7C-30A1-062D-B285-AD2E95926899}"/>
              </a:ext>
            </a:extLst>
          </p:cNvPr>
          <p:cNvSpPr>
            <a:spLocks noGrp="1"/>
          </p:cNvSpPr>
          <p:nvPr>
            <p:ph type="title"/>
          </p:nvPr>
        </p:nvSpPr>
        <p:spPr/>
        <p:txBody>
          <a:bodyPr/>
          <a:lstStyle/>
          <a:p>
            <a:r>
              <a:rPr lang="en-US" dirty="0"/>
              <a:t>Preventing Old Commitment Publishing</a:t>
            </a:r>
          </a:p>
        </p:txBody>
      </p:sp>
      <p:sp>
        <p:nvSpPr>
          <p:cNvPr id="4" name="Slide Number Placeholder 3">
            <a:extLst>
              <a:ext uri="{FF2B5EF4-FFF2-40B4-BE49-F238E27FC236}">
                <a16:creationId xmlns:a16="http://schemas.microsoft.com/office/drawing/2014/main" id="{295A712E-D62B-CC3E-EA2B-52E9B416B612}"/>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
        <p:nvSpPr>
          <p:cNvPr id="8" name="TextBox 7">
            <a:extLst>
              <a:ext uri="{FF2B5EF4-FFF2-40B4-BE49-F238E27FC236}">
                <a16:creationId xmlns:a16="http://schemas.microsoft.com/office/drawing/2014/main" id="{E0A809AD-9D87-D8A9-ECBD-79D7A09D6A5D}"/>
              </a:ext>
            </a:extLst>
          </p:cNvPr>
          <p:cNvSpPr txBox="1"/>
          <p:nvPr/>
        </p:nvSpPr>
        <p:spPr>
          <a:xfrm>
            <a:off x="554257" y="1087120"/>
            <a:ext cx="11020124" cy="3046988"/>
          </a:xfrm>
          <a:prstGeom prst="rect">
            <a:avLst/>
          </a:prstGeom>
          <a:noFill/>
        </p:spPr>
        <p:txBody>
          <a:bodyPr wrap="square">
            <a:spAutoFit/>
          </a:bodyPr>
          <a:lstStyle/>
          <a:p>
            <a:pPr marL="342900" indent="-342900">
              <a:buFont typeface="Arial" panose="020B0604020202020204" pitchFamily="34" charset="0"/>
              <a:buChar char="•"/>
            </a:pPr>
            <a:r>
              <a:rPr lang="en-US" sz="3200" dirty="0">
                <a:solidFill>
                  <a:srgbClr val="7030A0"/>
                </a:solidFill>
                <a:latin typeface="Candara" panose="020E0502030303020204" pitchFamily="34" charset="0"/>
              </a:rPr>
              <a:t>All the old commitment transactions are valid transactions</a:t>
            </a:r>
          </a:p>
          <a:p>
            <a:pPr marL="800100" lvl="1" indent="-342900">
              <a:buFont typeface="Arial" panose="020B0604020202020204" pitchFamily="34" charset="0"/>
              <a:buChar char="•"/>
            </a:pPr>
            <a:r>
              <a:rPr lang="en-US" sz="3200" dirty="0">
                <a:solidFill>
                  <a:srgbClr val="FF0000"/>
                </a:solidFill>
                <a:latin typeface="Candara" panose="020E0502030303020204" pitchFamily="34" charset="0"/>
              </a:rPr>
              <a:t>Peers can try to publish old commitment transactions that award them a higher balance</a:t>
            </a:r>
          </a:p>
          <a:p>
            <a:pPr marL="342900" indent="-342900">
              <a:buFont typeface="Arial" panose="020B0604020202020204" pitchFamily="34" charset="0"/>
              <a:buChar char="•"/>
            </a:pPr>
            <a:r>
              <a:rPr lang="en-US" sz="3200" dirty="0">
                <a:solidFill>
                  <a:srgbClr val="7030A0"/>
                </a:solidFill>
                <a:latin typeface="Candara" panose="020E0502030303020204" pitchFamily="34" charset="0"/>
              </a:rPr>
              <a:t>It is therefore necessary to prevent old commitment transactions from being broadcast for this method to work in practice</a:t>
            </a:r>
          </a:p>
        </p:txBody>
      </p:sp>
    </p:spTree>
    <p:extLst>
      <p:ext uri="{BB962C8B-B14F-4D97-AF65-F5344CB8AC3E}">
        <p14:creationId xmlns:p14="http://schemas.microsoft.com/office/powerpoint/2010/main" val="2669301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8A2F7-AB7E-3847-F1D8-86BA4FB84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B2E7D-66EB-F701-816E-3AF1306EF5AF}"/>
              </a:ext>
            </a:extLst>
          </p:cNvPr>
          <p:cNvSpPr>
            <a:spLocks noGrp="1"/>
          </p:cNvSpPr>
          <p:nvPr>
            <p:ph type="title"/>
          </p:nvPr>
        </p:nvSpPr>
        <p:spPr/>
        <p:txBody>
          <a:bodyPr/>
          <a:lstStyle/>
          <a:p>
            <a:r>
              <a:rPr lang="en-US" dirty="0"/>
              <a:t>Trustless Payment Channel</a:t>
            </a:r>
          </a:p>
        </p:txBody>
      </p:sp>
      <p:sp>
        <p:nvSpPr>
          <p:cNvPr id="4" name="Slide Number Placeholder 3">
            <a:extLst>
              <a:ext uri="{FF2B5EF4-FFF2-40B4-BE49-F238E27FC236}">
                <a16:creationId xmlns:a16="http://schemas.microsoft.com/office/drawing/2014/main" id="{454C1660-461B-C105-F3BA-077E0F81F294}"/>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
        <p:nvSpPr>
          <p:cNvPr id="7" name="Oval 6">
            <a:extLst>
              <a:ext uri="{FF2B5EF4-FFF2-40B4-BE49-F238E27FC236}">
                <a16:creationId xmlns:a16="http://schemas.microsoft.com/office/drawing/2014/main" id="{9CC16F62-9974-F321-8A13-989E2A6BA4CA}"/>
              </a:ext>
            </a:extLst>
          </p:cNvPr>
          <p:cNvSpPr/>
          <p:nvPr/>
        </p:nvSpPr>
        <p:spPr>
          <a:xfrm>
            <a:off x="1355633" y="1821899"/>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CF51E55-99E1-C55E-7D71-B0FBBCE859C1}"/>
              </a:ext>
            </a:extLst>
          </p:cNvPr>
          <p:cNvSpPr/>
          <p:nvPr/>
        </p:nvSpPr>
        <p:spPr>
          <a:xfrm>
            <a:off x="1355633" y="2431496"/>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B7DEE7D-95EB-72BA-90EF-BB140C5EB18F}"/>
              </a:ext>
            </a:extLst>
          </p:cNvPr>
          <p:cNvSpPr/>
          <p:nvPr/>
        </p:nvSpPr>
        <p:spPr>
          <a:xfrm>
            <a:off x="2230097" y="2077012"/>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A771818D-797A-D669-A3AD-57BEAE746A6E}"/>
              </a:ext>
            </a:extLst>
          </p:cNvPr>
          <p:cNvGrpSpPr/>
          <p:nvPr/>
        </p:nvGrpSpPr>
        <p:grpSpPr>
          <a:xfrm rot="18889939">
            <a:off x="3176409" y="2122259"/>
            <a:ext cx="426586" cy="426576"/>
            <a:chOff x="7271329" y="4587629"/>
            <a:chExt cx="426586" cy="426576"/>
          </a:xfrm>
        </p:grpSpPr>
        <p:sp>
          <p:nvSpPr>
            <p:cNvPr id="21" name="Freeform: Shape 20">
              <a:extLst>
                <a:ext uri="{FF2B5EF4-FFF2-40B4-BE49-F238E27FC236}">
                  <a16:creationId xmlns:a16="http://schemas.microsoft.com/office/drawing/2014/main" id="{0A6C6058-AAF2-A400-8D98-C0721087A723}"/>
                </a:ext>
              </a:extLst>
            </p:cNvPr>
            <p:cNvSpPr/>
            <p:nvPr/>
          </p:nvSpPr>
          <p:spPr>
            <a:xfrm>
              <a:off x="7271329" y="4587629"/>
              <a:ext cx="213288" cy="426575"/>
            </a:xfrm>
            <a:custGeom>
              <a:avLst/>
              <a:gdLst>
                <a:gd name="connsiteX0" fmla="*/ 213287 w 213288"/>
                <a:gd name="connsiteY0" fmla="*/ 0 h 426575"/>
                <a:gd name="connsiteX1" fmla="*/ 213288 w 213288"/>
                <a:gd name="connsiteY1" fmla="*/ 0 h 426575"/>
                <a:gd name="connsiteX2" fmla="*/ 213288 w 213288"/>
                <a:gd name="connsiteY2" fmla="*/ 426575 h 426575"/>
                <a:gd name="connsiteX3" fmla="*/ 213277 w 213288"/>
                <a:gd name="connsiteY3" fmla="*/ 426575 h 426575"/>
                <a:gd name="connsiteX4" fmla="*/ 170302 w 213288"/>
                <a:gd name="connsiteY4" fmla="*/ 422243 h 426575"/>
                <a:gd name="connsiteX5" fmla="*/ 4332 w 213288"/>
                <a:gd name="connsiteY5" fmla="*/ 256273 h 426575"/>
                <a:gd name="connsiteX6" fmla="*/ 0 w 213288"/>
                <a:gd name="connsiteY6" fmla="*/ 213298 h 426575"/>
                <a:gd name="connsiteX7" fmla="*/ 0 w 213288"/>
                <a:gd name="connsiteY7" fmla="*/ 213278 h 426575"/>
                <a:gd name="connsiteX8" fmla="*/ 4332 w 213288"/>
                <a:gd name="connsiteY8" fmla="*/ 170303 h 426575"/>
                <a:gd name="connsiteX9" fmla="*/ 213287 w 213288"/>
                <a:gd name="connsiteY9" fmla="*/ 0 h 42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288" h="426575">
                  <a:moveTo>
                    <a:pt x="213287" y="0"/>
                  </a:moveTo>
                  <a:lnTo>
                    <a:pt x="213288" y="0"/>
                  </a:lnTo>
                  <a:lnTo>
                    <a:pt x="213288" y="426575"/>
                  </a:lnTo>
                  <a:lnTo>
                    <a:pt x="213277" y="426575"/>
                  </a:lnTo>
                  <a:lnTo>
                    <a:pt x="170302" y="422243"/>
                  </a:lnTo>
                  <a:cubicBezTo>
                    <a:pt x="86995" y="405196"/>
                    <a:pt x="21380" y="339581"/>
                    <a:pt x="4332" y="256273"/>
                  </a:cubicBezTo>
                  <a:lnTo>
                    <a:pt x="0" y="213298"/>
                  </a:lnTo>
                  <a:lnTo>
                    <a:pt x="0" y="213278"/>
                  </a:lnTo>
                  <a:lnTo>
                    <a:pt x="4332" y="170303"/>
                  </a:lnTo>
                  <a:cubicBezTo>
                    <a:pt x="24221" y="73111"/>
                    <a:pt x="110216" y="0"/>
                    <a:pt x="213287" y="0"/>
                  </a:cubicBezTo>
                  <a:close/>
                </a:path>
              </a:pathLst>
            </a:cu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E76D2882-39E7-013B-8642-944116BD8265}"/>
                </a:ext>
              </a:extLst>
            </p:cNvPr>
            <p:cNvSpPr/>
            <p:nvPr/>
          </p:nvSpPr>
          <p:spPr>
            <a:xfrm>
              <a:off x="7484617" y="4587629"/>
              <a:ext cx="213298" cy="426576"/>
            </a:xfrm>
            <a:custGeom>
              <a:avLst/>
              <a:gdLst>
                <a:gd name="connsiteX0" fmla="*/ 11 w 213298"/>
                <a:gd name="connsiteY0" fmla="*/ 0 h 426576"/>
                <a:gd name="connsiteX1" fmla="*/ 42995 w 213298"/>
                <a:gd name="connsiteY1" fmla="*/ 4333 h 426576"/>
                <a:gd name="connsiteX2" fmla="*/ 213298 w 213298"/>
                <a:gd name="connsiteY2" fmla="*/ 213288 h 426576"/>
                <a:gd name="connsiteX3" fmla="*/ 10 w 213298"/>
                <a:gd name="connsiteY3" fmla="*/ 426576 h 426576"/>
                <a:gd name="connsiteX4" fmla="*/ 0 w 213298"/>
                <a:gd name="connsiteY4" fmla="*/ 426575 h 426576"/>
                <a:gd name="connsiteX5" fmla="*/ 11 w 213298"/>
                <a:gd name="connsiteY5" fmla="*/ 426575 h 426576"/>
                <a:gd name="connsiteX6" fmla="*/ 11 w 213298"/>
                <a:gd name="connsiteY6" fmla="*/ 0 h 42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298" h="426576">
                  <a:moveTo>
                    <a:pt x="11" y="0"/>
                  </a:moveTo>
                  <a:lnTo>
                    <a:pt x="42995" y="4333"/>
                  </a:lnTo>
                  <a:cubicBezTo>
                    <a:pt x="140187" y="24222"/>
                    <a:pt x="213298" y="110217"/>
                    <a:pt x="213298" y="213288"/>
                  </a:cubicBezTo>
                  <a:cubicBezTo>
                    <a:pt x="213298" y="331084"/>
                    <a:pt x="117806" y="426576"/>
                    <a:pt x="10" y="426576"/>
                  </a:cubicBezTo>
                  <a:lnTo>
                    <a:pt x="0" y="426575"/>
                  </a:lnTo>
                  <a:lnTo>
                    <a:pt x="11" y="426575"/>
                  </a:lnTo>
                  <a:lnTo>
                    <a:pt x="11" y="0"/>
                  </a:lnTo>
                  <a:close/>
                </a:path>
              </a:pathLst>
            </a:cu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4" name="Connector: Elbow 23">
            <a:extLst>
              <a:ext uri="{FF2B5EF4-FFF2-40B4-BE49-F238E27FC236}">
                <a16:creationId xmlns:a16="http://schemas.microsoft.com/office/drawing/2014/main" id="{1F7E6EF7-65CC-5E3B-16CF-6888EA61A7C5}"/>
              </a:ext>
            </a:extLst>
          </p:cNvPr>
          <p:cNvCxnSpPr>
            <a:cxnSpLocks/>
            <a:stCxn id="7" idx="6"/>
          </p:cNvCxnSpPr>
          <p:nvPr/>
        </p:nvCxnSpPr>
        <p:spPr>
          <a:xfrm>
            <a:off x="1782208" y="2035187"/>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B0284973-F1A5-8491-66F9-DF8F0049E67A}"/>
              </a:ext>
            </a:extLst>
          </p:cNvPr>
          <p:cNvCxnSpPr>
            <a:cxnSpLocks/>
          </p:cNvCxnSpPr>
          <p:nvPr/>
        </p:nvCxnSpPr>
        <p:spPr>
          <a:xfrm flipV="1">
            <a:off x="1789647" y="2431496"/>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85603EE-DEF5-466B-75B2-D37D44A34390}"/>
              </a:ext>
            </a:extLst>
          </p:cNvPr>
          <p:cNvCxnSpPr>
            <a:stCxn id="9" idx="3"/>
          </p:cNvCxnSpPr>
          <p:nvPr/>
        </p:nvCxnSpPr>
        <p:spPr>
          <a:xfrm flipV="1">
            <a:off x="2797868" y="2360897"/>
            <a:ext cx="357184" cy="1"/>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EF56140C-87FB-C900-F0A7-A256909F8CBB}"/>
              </a:ext>
            </a:extLst>
          </p:cNvPr>
          <p:cNvPicPr>
            <a:picLocks noChangeAspect="1"/>
          </p:cNvPicPr>
          <p:nvPr/>
        </p:nvPicPr>
        <p:blipFill>
          <a:blip r:embed="rId2"/>
          <a:stretch>
            <a:fillRect/>
          </a:stretch>
        </p:blipFill>
        <p:spPr>
          <a:xfrm>
            <a:off x="3294215" y="2617624"/>
            <a:ext cx="292796" cy="304507"/>
          </a:xfrm>
          <a:prstGeom prst="rect">
            <a:avLst/>
          </a:prstGeom>
        </p:spPr>
      </p:pic>
      <p:sp>
        <p:nvSpPr>
          <p:cNvPr id="38" name="Rectangle 37">
            <a:extLst>
              <a:ext uri="{FF2B5EF4-FFF2-40B4-BE49-F238E27FC236}">
                <a16:creationId xmlns:a16="http://schemas.microsoft.com/office/drawing/2014/main" id="{642F7529-9475-8A68-8D95-626CFDA51948}"/>
              </a:ext>
            </a:extLst>
          </p:cNvPr>
          <p:cNvSpPr/>
          <p:nvPr/>
        </p:nvSpPr>
        <p:spPr>
          <a:xfrm>
            <a:off x="4062608" y="2057356"/>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EACC1784-8506-5B77-9477-E7201F5C4436}"/>
              </a:ext>
            </a:extLst>
          </p:cNvPr>
          <p:cNvCxnSpPr/>
          <p:nvPr/>
        </p:nvCxnSpPr>
        <p:spPr>
          <a:xfrm flipV="1">
            <a:off x="3652560" y="2344876"/>
            <a:ext cx="357184" cy="1"/>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A44ED366-CAEC-DB4B-FCD8-1484C951DDFB}"/>
              </a:ext>
            </a:extLst>
          </p:cNvPr>
          <p:cNvCxnSpPr>
            <a:cxnSpLocks/>
          </p:cNvCxnSpPr>
          <p:nvPr/>
        </p:nvCxnSpPr>
        <p:spPr>
          <a:xfrm>
            <a:off x="4630822" y="2360897"/>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D077628-43C8-752E-6FFE-4E4BB7830382}"/>
              </a:ext>
            </a:extLst>
          </p:cNvPr>
          <p:cNvCxnSpPr>
            <a:cxnSpLocks/>
          </p:cNvCxnSpPr>
          <p:nvPr/>
        </p:nvCxnSpPr>
        <p:spPr>
          <a:xfrm flipV="1">
            <a:off x="4630822" y="2040143"/>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BF6907F9-FBED-B4FD-8373-01D5DCB8567B}"/>
              </a:ext>
            </a:extLst>
          </p:cNvPr>
          <p:cNvSpPr/>
          <p:nvPr/>
        </p:nvSpPr>
        <p:spPr>
          <a:xfrm>
            <a:off x="5098501" y="1758600"/>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CD142DFE-B98B-B549-5432-66E919F1975D}"/>
              </a:ext>
            </a:extLst>
          </p:cNvPr>
          <p:cNvSpPr/>
          <p:nvPr/>
        </p:nvSpPr>
        <p:spPr>
          <a:xfrm>
            <a:off x="5125153" y="2357994"/>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7C017A8-DAE3-615E-A286-64BA0B08F27E}"/>
              </a:ext>
            </a:extLst>
          </p:cNvPr>
          <p:cNvSpPr/>
          <p:nvPr/>
        </p:nvSpPr>
        <p:spPr>
          <a:xfrm>
            <a:off x="4062608" y="3414463"/>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onnector: Elbow 44">
            <a:extLst>
              <a:ext uri="{FF2B5EF4-FFF2-40B4-BE49-F238E27FC236}">
                <a16:creationId xmlns:a16="http://schemas.microsoft.com/office/drawing/2014/main" id="{77E24989-A736-DF0E-4DCF-B756BA7488E3}"/>
              </a:ext>
            </a:extLst>
          </p:cNvPr>
          <p:cNvCxnSpPr>
            <a:cxnSpLocks/>
          </p:cNvCxnSpPr>
          <p:nvPr/>
        </p:nvCxnSpPr>
        <p:spPr>
          <a:xfrm>
            <a:off x="4630822" y="3708090"/>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70A929E2-6F29-7CC9-113A-452408B96DBB}"/>
              </a:ext>
            </a:extLst>
          </p:cNvPr>
          <p:cNvCxnSpPr>
            <a:cxnSpLocks/>
          </p:cNvCxnSpPr>
          <p:nvPr/>
        </p:nvCxnSpPr>
        <p:spPr>
          <a:xfrm flipV="1">
            <a:off x="4630822" y="3387336"/>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5AEE545A-5FBF-0AC2-21F3-77747AD1F2A1}"/>
              </a:ext>
            </a:extLst>
          </p:cNvPr>
          <p:cNvSpPr/>
          <p:nvPr/>
        </p:nvSpPr>
        <p:spPr>
          <a:xfrm>
            <a:off x="5098501" y="3105793"/>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D54FCAEA-68A8-E6BF-60CE-9AAE2B94FDC6}"/>
              </a:ext>
            </a:extLst>
          </p:cNvPr>
          <p:cNvSpPr/>
          <p:nvPr/>
        </p:nvSpPr>
        <p:spPr>
          <a:xfrm>
            <a:off x="5125153" y="3705187"/>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E70320B8-739E-9CE7-2C65-CD281F0B9F2F}"/>
              </a:ext>
            </a:extLst>
          </p:cNvPr>
          <p:cNvSpPr txBox="1"/>
          <p:nvPr/>
        </p:nvSpPr>
        <p:spPr>
          <a:xfrm>
            <a:off x="2096367" y="2643825"/>
            <a:ext cx="798617" cy="307777"/>
          </a:xfrm>
          <a:prstGeom prst="rect">
            <a:avLst/>
          </a:prstGeom>
          <a:noFill/>
        </p:spPr>
        <p:txBody>
          <a:bodyPr wrap="none" rtlCol="0">
            <a:spAutoFit/>
          </a:bodyPr>
          <a:lstStyle/>
          <a:p>
            <a:r>
              <a:rPr lang="en-US" sz="1400" dirty="0">
                <a:latin typeface="Candara" panose="020E0502030303020204" pitchFamily="34" charset="0"/>
              </a:rPr>
              <a:t>Funding</a:t>
            </a:r>
          </a:p>
        </p:txBody>
      </p:sp>
      <p:sp>
        <p:nvSpPr>
          <p:cNvPr id="75" name="TextBox 74">
            <a:extLst>
              <a:ext uri="{FF2B5EF4-FFF2-40B4-BE49-F238E27FC236}">
                <a16:creationId xmlns:a16="http://schemas.microsoft.com/office/drawing/2014/main" id="{09E769A4-048B-641A-B80C-996DCFFA4639}"/>
              </a:ext>
            </a:extLst>
          </p:cNvPr>
          <p:cNvSpPr txBox="1"/>
          <p:nvPr/>
        </p:nvSpPr>
        <p:spPr>
          <a:xfrm>
            <a:off x="3834243" y="2678182"/>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76" name="TextBox 75">
            <a:extLst>
              <a:ext uri="{FF2B5EF4-FFF2-40B4-BE49-F238E27FC236}">
                <a16:creationId xmlns:a16="http://schemas.microsoft.com/office/drawing/2014/main" id="{D4D4BB53-28ED-78C6-8DF5-F36B733DD42A}"/>
              </a:ext>
            </a:extLst>
          </p:cNvPr>
          <p:cNvSpPr txBox="1"/>
          <p:nvPr/>
        </p:nvSpPr>
        <p:spPr>
          <a:xfrm>
            <a:off x="3831152" y="4074398"/>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77" name="TextBox 76">
            <a:extLst>
              <a:ext uri="{FF2B5EF4-FFF2-40B4-BE49-F238E27FC236}">
                <a16:creationId xmlns:a16="http://schemas.microsoft.com/office/drawing/2014/main" id="{C0556E6A-6F76-FBD2-8735-0B7C128AB787}"/>
              </a:ext>
            </a:extLst>
          </p:cNvPr>
          <p:cNvSpPr txBox="1"/>
          <p:nvPr/>
        </p:nvSpPr>
        <p:spPr>
          <a:xfrm>
            <a:off x="778163" y="1892569"/>
            <a:ext cx="548548" cy="307777"/>
          </a:xfrm>
          <a:prstGeom prst="rect">
            <a:avLst/>
          </a:prstGeom>
          <a:noFill/>
        </p:spPr>
        <p:txBody>
          <a:bodyPr wrap="none" rtlCol="0">
            <a:spAutoFit/>
          </a:bodyPr>
          <a:lstStyle/>
          <a:p>
            <a:r>
              <a:rPr lang="en-US" sz="1400" dirty="0">
                <a:latin typeface="Candara" panose="020E0502030303020204" pitchFamily="34" charset="0"/>
              </a:rPr>
              <a:t>Alice</a:t>
            </a:r>
          </a:p>
        </p:txBody>
      </p:sp>
      <p:sp>
        <p:nvSpPr>
          <p:cNvPr id="78" name="TextBox 77">
            <a:extLst>
              <a:ext uri="{FF2B5EF4-FFF2-40B4-BE49-F238E27FC236}">
                <a16:creationId xmlns:a16="http://schemas.microsoft.com/office/drawing/2014/main" id="{5F413A3C-F434-A406-FCE0-48B975AF8A7D}"/>
              </a:ext>
            </a:extLst>
          </p:cNvPr>
          <p:cNvSpPr txBox="1"/>
          <p:nvPr/>
        </p:nvSpPr>
        <p:spPr>
          <a:xfrm>
            <a:off x="846360" y="2531172"/>
            <a:ext cx="490840" cy="307777"/>
          </a:xfrm>
          <a:prstGeom prst="rect">
            <a:avLst/>
          </a:prstGeom>
          <a:noFill/>
        </p:spPr>
        <p:txBody>
          <a:bodyPr wrap="none" rtlCol="0">
            <a:spAutoFit/>
          </a:bodyPr>
          <a:lstStyle/>
          <a:p>
            <a:r>
              <a:rPr lang="en-US" sz="1400" dirty="0">
                <a:latin typeface="Candara" panose="020E0502030303020204" pitchFamily="34" charset="0"/>
              </a:rPr>
              <a:t>Bob</a:t>
            </a:r>
          </a:p>
        </p:txBody>
      </p:sp>
      <p:sp>
        <p:nvSpPr>
          <p:cNvPr id="83" name="TextBox 82">
            <a:extLst>
              <a:ext uri="{FF2B5EF4-FFF2-40B4-BE49-F238E27FC236}">
                <a16:creationId xmlns:a16="http://schemas.microsoft.com/office/drawing/2014/main" id="{7ED4DAD3-50DA-ED46-3917-5F436E881BFB}"/>
              </a:ext>
            </a:extLst>
          </p:cNvPr>
          <p:cNvSpPr txBox="1"/>
          <p:nvPr/>
        </p:nvSpPr>
        <p:spPr>
          <a:xfrm>
            <a:off x="1686362" y="1684990"/>
            <a:ext cx="654346" cy="261610"/>
          </a:xfrm>
          <a:prstGeom prst="rect">
            <a:avLst/>
          </a:prstGeom>
          <a:noFill/>
        </p:spPr>
        <p:txBody>
          <a:bodyPr wrap="none" rtlCol="0">
            <a:spAutoFit/>
          </a:bodyPr>
          <a:lstStyle/>
          <a:p>
            <a:r>
              <a:rPr lang="en-US" sz="1100" dirty="0">
                <a:latin typeface="Candara" panose="020E0502030303020204" pitchFamily="34" charset="0"/>
              </a:rPr>
              <a:t>100,000</a:t>
            </a:r>
          </a:p>
        </p:txBody>
      </p:sp>
      <p:sp>
        <p:nvSpPr>
          <p:cNvPr id="84" name="TextBox 83">
            <a:extLst>
              <a:ext uri="{FF2B5EF4-FFF2-40B4-BE49-F238E27FC236}">
                <a16:creationId xmlns:a16="http://schemas.microsoft.com/office/drawing/2014/main" id="{1E6D4D46-C303-EC50-B428-D6D8388B8FEA}"/>
              </a:ext>
            </a:extLst>
          </p:cNvPr>
          <p:cNvSpPr txBox="1"/>
          <p:nvPr/>
        </p:nvSpPr>
        <p:spPr>
          <a:xfrm>
            <a:off x="1719687" y="2626882"/>
            <a:ext cx="261610" cy="261610"/>
          </a:xfrm>
          <a:prstGeom prst="rect">
            <a:avLst/>
          </a:prstGeom>
          <a:noFill/>
        </p:spPr>
        <p:txBody>
          <a:bodyPr wrap="none" rtlCol="0">
            <a:spAutoFit/>
          </a:bodyPr>
          <a:lstStyle/>
          <a:p>
            <a:r>
              <a:rPr lang="en-US" sz="1100" dirty="0">
                <a:latin typeface="Candara" panose="020E0502030303020204" pitchFamily="34" charset="0"/>
              </a:rPr>
              <a:t>0</a:t>
            </a:r>
          </a:p>
        </p:txBody>
      </p:sp>
      <p:sp>
        <p:nvSpPr>
          <p:cNvPr id="85" name="TextBox 84">
            <a:extLst>
              <a:ext uri="{FF2B5EF4-FFF2-40B4-BE49-F238E27FC236}">
                <a16:creationId xmlns:a16="http://schemas.microsoft.com/office/drawing/2014/main" id="{42E271EB-B19A-20C8-ED05-633462CBF6A7}"/>
              </a:ext>
            </a:extLst>
          </p:cNvPr>
          <p:cNvSpPr txBox="1"/>
          <p:nvPr/>
        </p:nvSpPr>
        <p:spPr>
          <a:xfrm>
            <a:off x="4433676" y="1752245"/>
            <a:ext cx="654346" cy="261610"/>
          </a:xfrm>
          <a:prstGeom prst="rect">
            <a:avLst/>
          </a:prstGeom>
          <a:noFill/>
        </p:spPr>
        <p:txBody>
          <a:bodyPr wrap="none" rtlCol="0">
            <a:spAutoFit/>
          </a:bodyPr>
          <a:lstStyle/>
          <a:p>
            <a:r>
              <a:rPr lang="en-US" sz="1100" dirty="0">
                <a:latin typeface="Candara" panose="020E0502030303020204" pitchFamily="34" charset="0"/>
              </a:rPr>
              <a:t>100,000</a:t>
            </a:r>
          </a:p>
        </p:txBody>
      </p:sp>
      <p:sp>
        <p:nvSpPr>
          <p:cNvPr id="86" name="TextBox 85">
            <a:extLst>
              <a:ext uri="{FF2B5EF4-FFF2-40B4-BE49-F238E27FC236}">
                <a16:creationId xmlns:a16="http://schemas.microsoft.com/office/drawing/2014/main" id="{BA292AE8-2919-C72A-D9F9-80C30C8C8C36}"/>
              </a:ext>
            </a:extLst>
          </p:cNvPr>
          <p:cNvSpPr txBox="1"/>
          <p:nvPr/>
        </p:nvSpPr>
        <p:spPr>
          <a:xfrm>
            <a:off x="4772098" y="2523313"/>
            <a:ext cx="261610" cy="261610"/>
          </a:xfrm>
          <a:prstGeom prst="rect">
            <a:avLst/>
          </a:prstGeom>
          <a:noFill/>
        </p:spPr>
        <p:txBody>
          <a:bodyPr wrap="none" rtlCol="0">
            <a:spAutoFit/>
          </a:bodyPr>
          <a:lstStyle/>
          <a:p>
            <a:r>
              <a:rPr lang="en-US" sz="1100" dirty="0">
                <a:latin typeface="Candara" panose="020E0502030303020204" pitchFamily="34" charset="0"/>
              </a:rPr>
              <a:t>0</a:t>
            </a:r>
          </a:p>
        </p:txBody>
      </p:sp>
      <p:sp>
        <p:nvSpPr>
          <p:cNvPr id="87" name="TextBox 86">
            <a:extLst>
              <a:ext uri="{FF2B5EF4-FFF2-40B4-BE49-F238E27FC236}">
                <a16:creationId xmlns:a16="http://schemas.microsoft.com/office/drawing/2014/main" id="{B7F613D7-B854-FE79-9BB5-C84C43401ED2}"/>
              </a:ext>
            </a:extLst>
          </p:cNvPr>
          <p:cNvSpPr txBox="1"/>
          <p:nvPr/>
        </p:nvSpPr>
        <p:spPr>
          <a:xfrm>
            <a:off x="4493848" y="3092756"/>
            <a:ext cx="604653" cy="261610"/>
          </a:xfrm>
          <a:prstGeom prst="rect">
            <a:avLst/>
          </a:prstGeom>
          <a:noFill/>
        </p:spPr>
        <p:txBody>
          <a:bodyPr wrap="none" rtlCol="0">
            <a:spAutoFit/>
          </a:bodyPr>
          <a:lstStyle/>
          <a:p>
            <a:r>
              <a:rPr lang="en-US" sz="1100" dirty="0">
                <a:latin typeface="Candara" panose="020E0502030303020204" pitchFamily="34" charset="0"/>
              </a:rPr>
              <a:t>98,000</a:t>
            </a:r>
          </a:p>
        </p:txBody>
      </p:sp>
      <p:sp>
        <p:nvSpPr>
          <p:cNvPr id="88" name="TextBox 87">
            <a:extLst>
              <a:ext uri="{FF2B5EF4-FFF2-40B4-BE49-F238E27FC236}">
                <a16:creationId xmlns:a16="http://schemas.microsoft.com/office/drawing/2014/main" id="{A498B687-41E7-36BD-6B34-7002E98F7AA0}"/>
              </a:ext>
            </a:extLst>
          </p:cNvPr>
          <p:cNvSpPr txBox="1"/>
          <p:nvPr/>
        </p:nvSpPr>
        <p:spPr>
          <a:xfrm>
            <a:off x="4612801" y="3918474"/>
            <a:ext cx="481222" cy="261610"/>
          </a:xfrm>
          <a:prstGeom prst="rect">
            <a:avLst/>
          </a:prstGeom>
          <a:noFill/>
        </p:spPr>
        <p:txBody>
          <a:bodyPr wrap="none" rtlCol="0">
            <a:spAutoFit/>
          </a:bodyPr>
          <a:lstStyle/>
          <a:p>
            <a:r>
              <a:rPr lang="en-US" sz="1100" dirty="0">
                <a:latin typeface="Candara" panose="020E0502030303020204" pitchFamily="34" charset="0"/>
              </a:rPr>
              <a:t>2000</a:t>
            </a:r>
          </a:p>
        </p:txBody>
      </p:sp>
      <p:sp>
        <p:nvSpPr>
          <p:cNvPr id="97" name="Rectangle 96">
            <a:extLst>
              <a:ext uri="{FF2B5EF4-FFF2-40B4-BE49-F238E27FC236}">
                <a16:creationId xmlns:a16="http://schemas.microsoft.com/office/drawing/2014/main" id="{A88FC4E5-FE73-39FF-E4BA-42B467070633}"/>
              </a:ext>
            </a:extLst>
          </p:cNvPr>
          <p:cNvSpPr/>
          <p:nvPr/>
        </p:nvSpPr>
        <p:spPr>
          <a:xfrm>
            <a:off x="4143929" y="4657628"/>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Connector: Elbow 97">
            <a:extLst>
              <a:ext uri="{FF2B5EF4-FFF2-40B4-BE49-F238E27FC236}">
                <a16:creationId xmlns:a16="http://schemas.microsoft.com/office/drawing/2014/main" id="{A17B044C-8986-3173-1905-3463D8E555E1}"/>
              </a:ext>
            </a:extLst>
          </p:cNvPr>
          <p:cNvCxnSpPr>
            <a:cxnSpLocks/>
          </p:cNvCxnSpPr>
          <p:nvPr/>
        </p:nvCxnSpPr>
        <p:spPr>
          <a:xfrm flipV="1">
            <a:off x="4712143" y="4630501"/>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D3E9FAB2-967B-52AF-48D1-D98D37A024D0}"/>
              </a:ext>
            </a:extLst>
          </p:cNvPr>
          <p:cNvSpPr/>
          <p:nvPr/>
        </p:nvSpPr>
        <p:spPr>
          <a:xfrm>
            <a:off x="5179822" y="4348958"/>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76B617DD-6FEF-C608-DD8C-4C978955C80A}"/>
              </a:ext>
            </a:extLst>
          </p:cNvPr>
          <p:cNvSpPr/>
          <p:nvPr/>
        </p:nvSpPr>
        <p:spPr>
          <a:xfrm>
            <a:off x="5206474" y="4948352"/>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59EA8B17-35F5-CC4A-97BF-27ED4243ED18}"/>
              </a:ext>
            </a:extLst>
          </p:cNvPr>
          <p:cNvSpPr txBox="1"/>
          <p:nvPr/>
        </p:nvSpPr>
        <p:spPr>
          <a:xfrm>
            <a:off x="4694122" y="5161639"/>
            <a:ext cx="484428" cy="261610"/>
          </a:xfrm>
          <a:prstGeom prst="rect">
            <a:avLst/>
          </a:prstGeom>
          <a:noFill/>
        </p:spPr>
        <p:txBody>
          <a:bodyPr wrap="none" rtlCol="0">
            <a:spAutoFit/>
          </a:bodyPr>
          <a:lstStyle/>
          <a:p>
            <a:r>
              <a:rPr lang="en-US" sz="1100" dirty="0">
                <a:latin typeface="Candara" panose="020E0502030303020204" pitchFamily="34" charset="0"/>
              </a:rPr>
              <a:t>5000</a:t>
            </a:r>
          </a:p>
        </p:txBody>
      </p:sp>
      <p:cxnSp>
        <p:nvCxnSpPr>
          <p:cNvPr id="107" name="Connector: Elbow 106">
            <a:extLst>
              <a:ext uri="{FF2B5EF4-FFF2-40B4-BE49-F238E27FC236}">
                <a16:creationId xmlns:a16="http://schemas.microsoft.com/office/drawing/2014/main" id="{7066A45C-6274-11CF-4C74-6E959247BDBD}"/>
              </a:ext>
            </a:extLst>
          </p:cNvPr>
          <p:cNvCxnSpPr>
            <a:cxnSpLocks/>
          </p:cNvCxnSpPr>
          <p:nvPr/>
        </p:nvCxnSpPr>
        <p:spPr>
          <a:xfrm>
            <a:off x="4742830" y="4969275"/>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C65702CF-2FF4-2E57-464B-88845240A0D3}"/>
              </a:ext>
            </a:extLst>
          </p:cNvPr>
          <p:cNvSpPr txBox="1"/>
          <p:nvPr/>
        </p:nvSpPr>
        <p:spPr>
          <a:xfrm>
            <a:off x="3894063" y="5338614"/>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110" name="TextBox 109">
            <a:extLst>
              <a:ext uri="{FF2B5EF4-FFF2-40B4-BE49-F238E27FC236}">
                <a16:creationId xmlns:a16="http://schemas.microsoft.com/office/drawing/2014/main" id="{8B042B2B-1335-5362-2A77-0BCFC1841C34}"/>
              </a:ext>
            </a:extLst>
          </p:cNvPr>
          <p:cNvSpPr txBox="1"/>
          <p:nvPr/>
        </p:nvSpPr>
        <p:spPr>
          <a:xfrm>
            <a:off x="4575169" y="4350878"/>
            <a:ext cx="596638" cy="261610"/>
          </a:xfrm>
          <a:prstGeom prst="rect">
            <a:avLst/>
          </a:prstGeom>
          <a:noFill/>
        </p:spPr>
        <p:txBody>
          <a:bodyPr wrap="none" rtlCol="0">
            <a:spAutoFit/>
          </a:bodyPr>
          <a:lstStyle/>
          <a:p>
            <a:r>
              <a:rPr lang="en-US" sz="1100" dirty="0">
                <a:latin typeface="Candara" panose="020E0502030303020204" pitchFamily="34" charset="0"/>
              </a:rPr>
              <a:t>95,000</a:t>
            </a:r>
          </a:p>
        </p:txBody>
      </p:sp>
      <p:pic>
        <p:nvPicPr>
          <p:cNvPr id="111" name="Picture 110">
            <a:extLst>
              <a:ext uri="{FF2B5EF4-FFF2-40B4-BE49-F238E27FC236}">
                <a16:creationId xmlns:a16="http://schemas.microsoft.com/office/drawing/2014/main" id="{6A685178-4FF0-FB2B-B47F-E7D0F644D54E}"/>
              </a:ext>
            </a:extLst>
          </p:cNvPr>
          <p:cNvPicPr>
            <a:picLocks noChangeAspect="1"/>
          </p:cNvPicPr>
          <p:nvPr/>
        </p:nvPicPr>
        <p:blipFill>
          <a:blip r:embed="rId3"/>
          <a:stretch>
            <a:fillRect/>
          </a:stretch>
        </p:blipFill>
        <p:spPr>
          <a:xfrm>
            <a:off x="3624553" y="2478440"/>
            <a:ext cx="554784" cy="1371719"/>
          </a:xfrm>
          <a:prstGeom prst="rect">
            <a:avLst/>
          </a:prstGeom>
        </p:spPr>
      </p:pic>
      <p:pic>
        <p:nvPicPr>
          <p:cNvPr id="112" name="Picture 111">
            <a:extLst>
              <a:ext uri="{FF2B5EF4-FFF2-40B4-BE49-F238E27FC236}">
                <a16:creationId xmlns:a16="http://schemas.microsoft.com/office/drawing/2014/main" id="{521338C6-3CA8-1735-3738-AB547F49BD3A}"/>
              </a:ext>
            </a:extLst>
          </p:cNvPr>
          <p:cNvPicPr>
            <a:picLocks noChangeAspect="1"/>
          </p:cNvPicPr>
          <p:nvPr/>
        </p:nvPicPr>
        <p:blipFill>
          <a:blip r:embed="rId4"/>
          <a:stretch>
            <a:fillRect/>
          </a:stretch>
        </p:blipFill>
        <p:spPr>
          <a:xfrm>
            <a:off x="3593455" y="2557206"/>
            <a:ext cx="676715" cy="2542252"/>
          </a:xfrm>
          <a:prstGeom prst="rect">
            <a:avLst/>
          </a:prstGeom>
        </p:spPr>
      </p:pic>
      <p:sp>
        <p:nvSpPr>
          <p:cNvPr id="3" name="Rectangle 2">
            <a:extLst>
              <a:ext uri="{FF2B5EF4-FFF2-40B4-BE49-F238E27FC236}">
                <a16:creationId xmlns:a16="http://schemas.microsoft.com/office/drawing/2014/main" id="{AE11849C-D906-13CD-5037-11D21B51D40E}"/>
              </a:ext>
            </a:extLst>
          </p:cNvPr>
          <p:cNvSpPr/>
          <p:nvPr/>
        </p:nvSpPr>
        <p:spPr>
          <a:xfrm>
            <a:off x="4060390" y="2053413"/>
            <a:ext cx="567771" cy="56777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BD99BC1-CDA5-F1FE-D79A-7F192BC27C0F}"/>
              </a:ext>
            </a:extLst>
          </p:cNvPr>
          <p:cNvSpPr/>
          <p:nvPr/>
        </p:nvSpPr>
        <p:spPr>
          <a:xfrm>
            <a:off x="5096283" y="1754657"/>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70CD804-1B0A-CA36-E57F-D9B15BB0252E}"/>
              </a:ext>
            </a:extLst>
          </p:cNvPr>
          <p:cNvSpPr/>
          <p:nvPr/>
        </p:nvSpPr>
        <p:spPr>
          <a:xfrm>
            <a:off x="5122935" y="2354051"/>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B922EB5-987C-7573-A732-C2D743A2CFFA}"/>
              </a:ext>
            </a:extLst>
          </p:cNvPr>
          <p:cNvSpPr/>
          <p:nvPr/>
        </p:nvSpPr>
        <p:spPr>
          <a:xfrm>
            <a:off x="4069881" y="3418457"/>
            <a:ext cx="567771" cy="56777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02CD10-A46E-0C1D-EBC6-7D30ECC83C0D}"/>
              </a:ext>
            </a:extLst>
          </p:cNvPr>
          <p:cNvSpPr/>
          <p:nvPr/>
        </p:nvSpPr>
        <p:spPr>
          <a:xfrm>
            <a:off x="5105774" y="3107669"/>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758193F-9656-B500-A157-4EE5760120BE}"/>
              </a:ext>
            </a:extLst>
          </p:cNvPr>
          <p:cNvSpPr/>
          <p:nvPr/>
        </p:nvSpPr>
        <p:spPr>
          <a:xfrm>
            <a:off x="5120394" y="3707063"/>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E1A58E0A-93EA-7B6F-2371-1FF08A4A9130}"/>
              </a:ext>
            </a:extLst>
          </p:cNvPr>
          <p:cNvCxnSpPr>
            <a:cxnSpLocks/>
          </p:cNvCxnSpPr>
          <p:nvPr/>
        </p:nvCxnSpPr>
        <p:spPr>
          <a:xfrm>
            <a:off x="4025872" y="1706024"/>
            <a:ext cx="1391033" cy="1255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6040C6B-62D9-4B79-B33A-7811449CF3D6}"/>
              </a:ext>
            </a:extLst>
          </p:cNvPr>
          <p:cNvCxnSpPr>
            <a:cxnSpLocks/>
          </p:cNvCxnSpPr>
          <p:nvPr/>
        </p:nvCxnSpPr>
        <p:spPr>
          <a:xfrm>
            <a:off x="4035363" y="3059036"/>
            <a:ext cx="1391033" cy="1255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B58A568-A733-0864-EE48-E0DD40BCDF5A}"/>
              </a:ext>
            </a:extLst>
          </p:cNvPr>
          <p:cNvSpPr txBox="1"/>
          <p:nvPr/>
        </p:nvSpPr>
        <p:spPr>
          <a:xfrm>
            <a:off x="6374873" y="1270812"/>
            <a:ext cx="5404044" cy="5355312"/>
          </a:xfrm>
          <a:prstGeom prst="rect">
            <a:avLst/>
          </a:prstGeom>
          <a:noFill/>
        </p:spPr>
        <p:txBody>
          <a:bodyPr wrap="square" rtlCol="0">
            <a:spAutoFit/>
          </a:bodyPr>
          <a:lstStyle/>
          <a:p>
            <a:pPr marL="342900" indent="-342900">
              <a:buFont typeface="+mj-lt"/>
              <a:buAutoNum type="arabicPeriod"/>
            </a:pPr>
            <a:r>
              <a:rPr lang="en-US" dirty="0">
                <a:latin typeface="Candara" panose="020E0502030303020204" pitchFamily="34" charset="0"/>
              </a:rPr>
              <a:t>Alice &amp; Bob decide to open a payment channel</a:t>
            </a:r>
          </a:p>
          <a:p>
            <a:pPr marL="342900" indent="-342900">
              <a:buFont typeface="+mj-lt"/>
              <a:buAutoNum type="arabicPeriod"/>
            </a:pPr>
            <a:r>
              <a:rPr lang="en-US" dirty="0">
                <a:latin typeface="Candara" panose="020E0502030303020204" pitchFamily="34" charset="0"/>
              </a:rPr>
              <a:t>Suppose Alice funds the channel with 100,000 sats</a:t>
            </a:r>
          </a:p>
          <a:p>
            <a:pPr marL="342900" indent="-342900">
              <a:buFont typeface="+mj-lt"/>
              <a:buAutoNum type="arabicPeriod"/>
            </a:pPr>
            <a:r>
              <a:rPr lang="en-US" dirty="0">
                <a:latin typeface="Candara" panose="020E0502030303020204" pitchFamily="34" charset="0"/>
              </a:rPr>
              <a:t>Alice &amp; Bob create a 2-of-2 </a:t>
            </a:r>
            <a:r>
              <a:rPr lang="en-US" dirty="0" err="1">
                <a:latin typeface="Candara" panose="020E0502030303020204" pitchFamily="34" charset="0"/>
              </a:rPr>
              <a:t>multisig</a:t>
            </a:r>
            <a:r>
              <a:rPr lang="en-US" dirty="0">
                <a:latin typeface="Candara" panose="020E0502030303020204" pitchFamily="34" charset="0"/>
              </a:rPr>
              <a:t> funding </a:t>
            </a:r>
            <a:r>
              <a:rPr lang="en-US" dirty="0" err="1">
                <a:latin typeface="Candara" panose="020E0502030303020204" pitchFamily="34" charset="0"/>
              </a:rPr>
              <a:t>tx</a:t>
            </a:r>
            <a:endParaRPr lang="en-US" dirty="0">
              <a:latin typeface="Candara" panose="020E0502030303020204" pitchFamily="34" charset="0"/>
            </a:endParaRPr>
          </a:p>
          <a:p>
            <a:pPr marL="342900" indent="-342900">
              <a:buFont typeface="+mj-lt"/>
              <a:buAutoNum type="arabicPeriod"/>
            </a:pPr>
            <a:r>
              <a:rPr lang="en-US" dirty="0">
                <a:latin typeface="Candara" panose="020E0502030303020204" pitchFamily="34" charset="0"/>
              </a:rPr>
              <a:t>Bob signs a commitment transaction to pay back Alice</a:t>
            </a:r>
          </a:p>
          <a:p>
            <a:pPr marL="342900" indent="-342900">
              <a:buFont typeface="+mj-lt"/>
              <a:buAutoNum type="arabicPeriod"/>
            </a:pPr>
            <a:r>
              <a:rPr lang="en-US" dirty="0">
                <a:latin typeface="Candara" panose="020E0502030303020204" pitchFamily="34" charset="0"/>
              </a:rPr>
              <a:t>Once Alice has the commitment transaction, the funding transaction is broadcast and confirmed on-chain</a:t>
            </a:r>
          </a:p>
          <a:p>
            <a:pPr marL="342900" indent="-342900">
              <a:buFont typeface="+mj-lt"/>
              <a:buAutoNum type="arabicPeriod"/>
            </a:pPr>
            <a:r>
              <a:rPr lang="en-US" dirty="0">
                <a:latin typeface="Candara" panose="020E0502030303020204" pitchFamily="34" charset="0"/>
              </a:rPr>
              <a:t>Alice buys coffee and together with Bob decides to update the channel</a:t>
            </a:r>
          </a:p>
          <a:p>
            <a:pPr marL="342900" indent="-342900">
              <a:buFont typeface="+mj-lt"/>
              <a:buAutoNum type="arabicPeriod"/>
            </a:pPr>
            <a:r>
              <a:rPr lang="en-US" dirty="0">
                <a:latin typeface="Candara" panose="020E0502030303020204" pitchFamily="34" charset="0"/>
              </a:rPr>
              <a:t>Alice and Bob revoke the old commitment</a:t>
            </a:r>
          </a:p>
          <a:p>
            <a:pPr marL="342900" indent="-342900">
              <a:buFont typeface="+mj-lt"/>
              <a:buAutoNum type="arabicPeriod"/>
            </a:pPr>
            <a:r>
              <a:rPr lang="en-US" dirty="0">
                <a:latin typeface="Candara" panose="020E0502030303020204" pitchFamily="34" charset="0"/>
              </a:rPr>
              <a:t>Alice &amp; Bob create a new commitment transaction with updated balances</a:t>
            </a:r>
          </a:p>
          <a:p>
            <a:pPr marL="342900" indent="-342900">
              <a:buFont typeface="+mj-lt"/>
              <a:buAutoNum type="arabicPeriod"/>
            </a:pPr>
            <a:r>
              <a:rPr lang="en-US" dirty="0">
                <a:latin typeface="Candara" panose="020E0502030303020204" pitchFamily="34" charset="0"/>
              </a:rPr>
              <a:t>Alice buys another coffee and together they decide to update the channel</a:t>
            </a:r>
          </a:p>
          <a:p>
            <a:pPr marL="342900" indent="-342900">
              <a:buFont typeface="+mj-lt"/>
              <a:buAutoNum type="arabicPeriod"/>
            </a:pPr>
            <a:r>
              <a:rPr lang="en-US" dirty="0">
                <a:latin typeface="Candara" panose="020E0502030303020204" pitchFamily="34" charset="0"/>
              </a:rPr>
              <a:t>They revoke the old commitment &amp; update their balances in the new commitment</a:t>
            </a:r>
          </a:p>
          <a:p>
            <a:pPr marL="342900" indent="-342900">
              <a:buFont typeface="+mj-lt"/>
              <a:buAutoNum type="arabicPeriod"/>
            </a:pPr>
            <a:r>
              <a:rPr lang="en-US" dirty="0">
                <a:latin typeface="Candara" panose="020E0502030303020204" pitchFamily="34" charset="0"/>
              </a:rPr>
              <a:t>The process continues till they decide to close the channel </a:t>
            </a:r>
          </a:p>
        </p:txBody>
      </p:sp>
    </p:spTree>
    <p:extLst>
      <p:ext uri="{BB962C8B-B14F-4D97-AF65-F5344CB8AC3E}">
        <p14:creationId xmlns:p14="http://schemas.microsoft.com/office/powerpoint/2010/main" val="283132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38"/>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42"/>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43"/>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44"/>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7"/>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48"/>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1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0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9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0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1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0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38" grpId="0" animBg="1"/>
      <p:bldP spid="38" grpId="1" animBg="1"/>
      <p:bldP spid="42" grpId="0" animBg="1"/>
      <p:bldP spid="42" grpId="1" animBg="1"/>
      <p:bldP spid="43" grpId="0" animBg="1"/>
      <p:bldP spid="43" grpId="1" animBg="1"/>
      <p:bldP spid="44" grpId="0" animBg="1"/>
      <p:bldP spid="44" grpId="1" animBg="1"/>
      <p:bldP spid="47" grpId="0" animBg="1"/>
      <p:bldP spid="47" grpId="1" animBg="1"/>
      <p:bldP spid="48" grpId="0" animBg="1"/>
      <p:bldP spid="48" grpId="1" animBg="1"/>
      <p:bldP spid="74" grpId="0"/>
      <p:bldP spid="75" grpId="0"/>
      <p:bldP spid="76" grpId="0"/>
      <p:bldP spid="77" grpId="0"/>
      <p:bldP spid="78" grpId="0"/>
      <p:bldP spid="83" grpId="0"/>
      <p:bldP spid="84" grpId="0"/>
      <p:bldP spid="85" grpId="0"/>
      <p:bldP spid="86" grpId="0"/>
      <p:bldP spid="87" grpId="0"/>
      <p:bldP spid="88" grpId="0"/>
      <p:bldP spid="97" grpId="0" animBg="1"/>
      <p:bldP spid="99" grpId="0" animBg="1"/>
      <p:bldP spid="100" grpId="0" animBg="1"/>
      <p:bldP spid="104" grpId="0"/>
      <p:bldP spid="109" grpId="0"/>
      <p:bldP spid="110" grpId="0"/>
      <p:bldP spid="3" grpId="0" animBg="1"/>
      <p:bldP spid="5" grpId="0" animBg="1"/>
      <p:bldP spid="6" grpId="0" animBg="1"/>
      <p:bldP spid="11" grpId="0" animBg="1"/>
      <p:bldP spid="12" grpId="0" animBg="1"/>
      <p:bldP spid="13" grpId="0" animBg="1"/>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CE333-9783-C398-9D6C-903685150461}"/>
              </a:ext>
            </a:extLst>
          </p:cNvPr>
          <p:cNvSpPr>
            <a:spLocks noGrp="1"/>
          </p:cNvSpPr>
          <p:nvPr>
            <p:ph type="title"/>
          </p:nvPr>
        </p:nvSpPr>
        <p:spPr/>
        <p:txBody>
          <a:bodyPr>
            <a:normAutofit/>
          </a:bodyPr>
          <a:lstStyle/>
          <a:p>
            <a:r>
              <a:rPr lang="en-US" dirty="0"/>
              <a:t>Fundamental Challenges</a:t>
            </a:r>
          </a:p>
        </p:txBody>
      </p:sp>
      <p:sp>
        <p:nvSpPr>
          <p:cNvPr id="4" name="Slide Number Placeholder 3">
            <a:extLst>
              <a:ext uri="{FF2B5EF4-FFF2-40B4-BE49-F238E27FC236}">
                <a16:creationId xmlns:a16="http://schemas.microsoft.com/office/drawing/2014/main" id="{71D115B2-1DD5-8A34-A703-C672CD17A000}"/>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
        <p:nvSpPr>
          <p:cNvPr id="5" name="TextBox 4">
            <a:extLst>
              <a:ext uri="{FF2B5EF4-FFF2-40B4-BE49-F238E27FC236}">
                <a16:creationId xmlns:a16="http://schemas.microsoft.com/office/drawing/2014/main" id="{EE843373-F3E9-D0AE-C852-3188E6821DB5}"/>
              </a:ext>
            </a:extLst>
          </p:cNvPr>
          <p:cNvSpPr txBox="1"/>
          <p:nvPr/>
        </p:nvSpPr>
        <p:spPr>
          <a:xfrm>
            <a:off x="487680" y="1174264"/>
            <a:ext cx="11186160"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ndara" panose="020E0502030303020204" pitchFamily="34" charset="0"/>
              </a:rPr>
              <a:t>There is no way to cancel a valid Bitcoin transaction</a:t>
            </a:r>
          </a:p>
          <a:p>
            <a:pPr marL="342900" indent="-342900">
              <a:buFont typeface="Arial" panose="020B0604020202020204" pitchFamily="34" charset="0"/>
              <a:buChar char="•"/>
            </a:pPr>
            <a:r>
              <a:rPr lang="en-US" sz="2400" dirty="0">
                <a:latin typeface="Candara" panose="020E0502030303020204" pitchFamily="34" charset="0"/>
              </a:rPr>
              <a:t>However, to make payment channels work, we need to find a way to revoke old commitments</a:t>
            </a:r>
          </a:p>
          <a:p>
            <a:pPr marL="342900" indent="-342900">
              <a:buFont typeface="Arial" panose="020B0604020202020204" pitchFamily="34" charset="0"/>
              <a:buChar char="•"/>
            </a:pPr>
            <a:r>
              <a:rPr lang="en-US" sz="2400" dirty="0">
                <a:latin typeface="Candara" panose="020E0502030303020204" pitchFamily="34" charset="0"/>
              </a:rPr>
              <a:t>There are two fundamental challenges that need to be addressed to create trustless payment channels</a:t>
            </a:r>
          </a:p>
        </p:txBody>
      </p:sp>
      <p:sp>
        <p:nvSpPr>
          <p:cNvPr id="6" name="Rectangle 5">
            <a:extLst>
              <a:ext uri="{FF2B5EF4-FFF2-40B4-BE49-F238E27FC236}">
                <a16:creationId xmlns:a16="http://schemas.microsoft.com/office/drawing/2014/main" id="{6AE82E60-73DD-5A0C-1BDA-7184F457F0B6}"/>
              </a:ext>
            </a:extLst>
          </p:cNvPr>
          <p:cNvSpPr/>
          <p:nvPr/>
        </p:nvSpPr>
        <p:spPr>
          <a:xfrm>
            <a:off x="595964" y="3568652"/>
            <a:ext cx="11192693" cy="99568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How to ascribe blame for broadcasting an old transaction? </a:t>
            </a:r>
          </a:p>
        </p:txBody>
      </p:sp>
      <p:sp>
        <p:nvSpPr>
          <p:cNvPr id="7" name="Rectangle 6">
            <a:extLst>
              <a:ext uri="{FF2B5EF4-FFF2-40B4-BE49-F238E27FC236}">
                <a16:creationId xmlns:a16="http://schemas.microsoft.com/office/drawing/2014/main" id="{42D7A756-72E2-5423-0586-01025CDCEADB}"/>
              </a:ext>
            </a:extLst>
          </p:cNvPr>
          <p:cNvSpPr/>
          <p:nvPr/>
        </p:nvSpPr>
        <p:spPr>
          <a:xfrm>
            <a:off x="595964" y="5110830"/>
            <a:ext cx="11192693" cy="99568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How to penalize the party that tries to publish the old commitment?</a:t>
            </a:r>
          </a:p>
        </p:txBody>
      </p:sp>
    </p:spTree>
    <p:extLst>
      <p:ext uri="{BB962C8B-B14F-4D97-AF65-F5344CB8AC3E}">
        <p14:creationId xmlns:p14="http://schemas.microsoft.com/office/powerpoint/2010/main" val="3397624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ECF1-0D82-A3A2-2108-14FCCB4A3C84}"/>
              </a:ext>
            </a:extLst>
          </p:cNvPr>
          <p:cNvSpPr>
            <a:spLocks noGrp="1"/>
          </p:cNvSpPr>
          <p:nvPr>
            <p:ph type="title"/>
          </p:nvPr>
        </p:nvSpPr>
        <p:spPr/>
        <p:txBody>
          <a:bodyPr/>
          <a:lstStyle/>
          <a:p>
            <a:r>
              <a:rPr lang="en-US" dirty="0"/>
              <a:t>Assigning Blame</a:t>
            </a:r>
          </a:p>
        </p:txBody>
      </p:sp>
      <p:sp>
        <p:nvSpPr>
          <p:cNvPr id="3" name="Content Placeholder 2">
            <a:extLst>
              <a:ext uri="{FF2B5EF4-FFF2-40B4-BE49-F238E27FC236}">
                <a16:creationId xmlns:a16="http://schemas.microsoft.com/office/drawing/2014/main" id="{A4AEB619-0E33-362A-B21B-D0550774ECCD}"/>
              </a:ext>
            </a:extLst>
          </p:cNvPr>
          <p:cNvSpPr>
            <a:spLocks noGrp="1"/>
          </p:cNvSpPr>
          <p:nvPr>
            <p:ph idx="1"/>
          </p:nvPr>
        </p:nvSpPr>
        <p:spPr>
          <a:xfrm>
            <a:off x="487680" y="1097281"/>
            <a:ext cx="11186160" cy="4158520"/>
          </a:xfrm>
        </p:spPr>
        <p:txBody>
          <a:bodyPr>
            <a:normAutofit fontScale="92500" lnSpcReduction="20000"/>
          </a:bodyPr>
          <a:lstStyle/>
          <a:p>
            <a:r>
              <a:rPr lang="en-US" dirty="0">
                <a:solidFill>
                  <a:srgbClr val="7030A0"/>
                </a:solidFill>
              </a:rPr>
              <a:t>Create two different commitment transactions for every update </a:t>
            </a:r>
          </a:p>
          <a:p>
            <a:pPr lvl="1"/>
            <a:r>
              <a:rPr lang="en-US" dirty="0"/>
              <a:t>Commitment transaction </a:t>
            </a:r>
            <a:r>
              <a:rPr lang="en-US" i="1" dirty="0"/>
              <a:t>C1a for Alice </a:t>
            </a:r>
            <a:r>
              <a:rPr lang="en-US" dirty="0"/>
              <a:t>which only she can broadcast</a:t>
            </a:r>
          </a:p>
          <a:p>
            <a:pPr lvl="1"/>
            <a:r>
              <a:rPr lang="en-US" dirty="0"/>
              <a:t>Commitment transaction </a:t>
            </a:r>
            <a:r>
              <a:rPr lang="en-US" i="1" dirty="0"/>
              <a:t>C1b is for Bob </a:t>
            </a:r>
            <a:r>
              <a:rPr lang="en-US" dirty="0"/>
              <a:t>which only he can broadcast</a:t>
            </a:r>
          </a:p>
          <a:p>
            <a:r>
              <a:rPr lang="en-US" dirty="0"/>
              <a:t>Both C1a and C1b </a:t>
            </a:r>
          </a:p>
          <a:p>
            <a:pPr lvl="1"/>
            <a:r>
              <a:rPr lang="en-US" dirty="0"/>
              <a:t>Spend the same funding transaction (same parent)</a:t>
            </a:r>
          </a:p>
          <a:p>
            <a:pPr lvl="1"/>
            <a:r>
              <a:rPr lang="en-US" dirty="0"/>
              <a:t>Reflect the same balance split between Alice &amp; Bob</a:t>
            </a:r>
          </a:p>
          <a:p>
            <a:pPr lvl="1"/>
            <a:r>
              <a:rPr lang="en-US" dirty="0"/>
              <a:t>Outputs are constructed differently, which makes them uniquely identifiable </a:t>
            </a:r>
          </a:p>
          <a:p>
            <a:r>
              <a:rPr lang="en-US" dirty="0"/>
              <a:t>If C1a appears on-chain, everyone knows Alice published it</a:t>
            </a:r>
          </a:p>
          <a:p>
            <a:r>
              <a:rPr lang="en-US" dirty="0"/>
              <a:t>If C1b appears on-chain, everyone knows Bob published it</a:t>
            </a:r>
          </a:p>
        </p:txBody>
      </p:sp>
      <p:sp>
        <p:nvSpPr>
          <p:cNvPr id="4" name="Slide Number Placeholder 3">
            <a:extLst>
              <a:ext uri="{FF2B5EF4-FFF2-40B4-BE49-F238E27FC236}">
                <a16:creationId xmlns:a16="http://schemas.microsoft.com/office/drawing/2014/main" id="{521D8FA9-9D47-97BE-B66A-8BF2A06005A9}"/>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
        <p:nvSpPr>
          <p:cNvPr id="6" name="TextBox 5">
            <a:extLst>
              <a:ext uri="{FF2B5EF4-FFF2-40B4-BE49-F238E27FC236}">
                <a16:creationId xmlns:a16="http://schemas.microsoft.com/office/drawing/2014/main" id="{5A7CE5E5-CB94-8979-6025-2B3EF527CF17}"/>
              </a:ext>
            </a:extLst>
          </p:cNvPr>
          <p:cNvSpPr txBox="1"/>
          <p:nvPr/>
        </p:nvSpPr>
        <p:spPr>
          <a:xfrm>
            <a:off x="897370" y="5378756"/>
            <a:ext cx="10654164" cy="954107"/>
          </a:xfrm>
          <a:prstGeom prst="rect">
            <a:avLst/>
          </a:prstGeom>
          <a:solidFill>
            <a:schemeClr val="accent6">
              <a:lumMod val="50000"/>
            </a:schemeClr>
          </a:solidFill>
        </p:spPr>
        <p:txBody>
          <a:bodyPr wrap="square">
            <a:spAutoFit/>
          </a:bodyPr>
          <a:lstStyle/>
          <a:p>
            <a:pPr algn="ctr"/>
            <a:r>
              <a:rPr lang="en-US" sz="2800" dirty="0">
                <a:solidFill>
                  <a:schemeClr val="bg1"/>
                </a:solidFill>
              </a:rPr>
              <a:t>Creating two different commitment transactions solves the blame assignment problem</a:t>
            </a:r>
          </a:p>
        </p:txBody>
      </p:sp>
    </p:spTree>
    <p:extLst>
      <p:ext uri="{BB962C8B-B14F-4D97-AF65-F5344CB8AC3E}">
        <p14:creationId xmlns:p14="http://schemas.microsoft.com/office/powerpoint/2010/main" val="353252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E121-9800-423E-62F4-0E72A6FA2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5D182-21C4-118D-AEC2-AA6039F1B0FA}"/>
              </a:ext>
            </a:extLst>
          </p:cNvPr>
          <p:cNvSpPr>
            <a:spLocks noGrp="1"/>
          </p:cNvSpPr>
          <p:nvPr>
            <p:ph type="title"/>
          </p:nvPr>
        </p:nvSpPr>
        <p:spPr/>
        <p:txBody>
          <a:bodyPr/>
          <a:lstStyle/>
          <a:p>
            <a:r>
              <a:rPr lang="en-US" dirty="0"/>
              <a:t>Add Asymmetric Time Delays</a:t>
            </a:r>
          </a:p>
        </p:txBody>
      </p:sp>
      <p:sp>
        <p:nvSpPr>
          <p:cNvPr id="4" name="Slide Number Placeholder 3">
            <a:extLst>
              <a:ext uri="{FF2B5EF4-FFF2-40B4-BE49-F238E27FC236}">
                <a16:creationId xmlns:a16="http://schemas.microsoft.com/office/drawing/2014/main" id="{85E2804C-9102-8272-0EB2-3B7FC2FF3A1C}"/>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37</a:t>
            </a:fld>
            <a:endParaRPr lang="en-US" dirty="0">
              <a:latin typeface="Candara" panose="020E0502030303020204" pitchFamily="34" charset="0"/>
            </a:endParaRPr>
          </a:p>
        </p:txBody>
      </p:sp>
      <p:sp>
        <p:nvSpPr>
          <p:cNvPr id="5" name="Content Placeholder 4">
            <a:extLst>
              <a:ext uri="{FF2B5EF4-FFF2-40B4-BE49-F238E27FC236}">
                <a16:creationId xmlns:a16="http://schemas.microsoft.com/office/drawing/2014/main" id="{642CE9A7-7B08-1032-43EE-21DF2FD9B647}"/>
              </a:ext>
            </a:extLst>
          </p:cNvPr>
          <p:cNvSpPr txBox="1">
            <a:spLocks noGrp="1"/>
          </p:cNvSpPr>
          <p:nvPr>
            <p:ph idx="1"/>
          </p:nvPr>
        </p:nvSpPr>
        <p:spPr>
          <a:xfrm>
            <a:off x="464213" y="1062236"/>
            <a:ext cx="11187112" cy="1209049"/>
          </a:xfrm>
          <a:prstGeom prst="rect">
            <a:avLst/>
          </a:prstGeom>
          <a:noFill/>
        </p:spPr>
        <p:txBody>
          <a:bodyPr wrap="square" rtlCol="0">
            <a:spAutoFit/>
          </a:bodyPr>
          <a:lstStyle/>
          <a:p>
            <a:r>
              <a:rPr lang="en-US" sz="2000" dirty="0"/>
              <a:t>To make the commitment transactions different and assign blame correctly, we add asymmetric time delays in the outputs according to the following rule:</a:t>
            </a:r>
          </a:p>
          <a:p>
            <a:pPr lvl="1"/>
            <a:r>
              <a:rPr lang="en-US" sz="1800" dirty="0">
                <a:solidFill>
                  <a:srgbClr val="7030A0"/>
                </a:solidFill>
              </a:rPr>
              <a:t>Whoever broadcasts a commitment transaction (old or new) must wait before spending their funds, while the counterparty can immediately spend </a:t>
            </a:r>
          </a:p>
        </p:txBody>
      </p:sp>
      <p:sp>
        <p:nvSpPr>
          <p:cNvPr id="6" name="Rectangle 5">
            <a:extLst>
              <a:ext uri="{FF2B5EF4-FFF2-40B4-BE49-F238E27FC236}">
                <a16:creationId xmlns:a16="http://schemas.microsoft.com/office/drawing/2014/main" id="{6001F672-039F-8DEE-8535-F556292AA0CE}"/>
              </a:ext>
            </a:extLst>
          </p:cNvPr>
          <p:cNvSpPr/>
          <p:nvPr/>
        </p:nvSpPr>
        <p:spPr>
          <a:xfrm>
            <a:off x="909429" y="4504526"/>
            <a:ext cx="5091890" cy="1930523"/>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000" dirty="0">
                <a:latin typeface="Candara" panose="020E0502030303020204" pitchFamily="34" charset="0"/>
              </a:rPr>
              <a:t>Commitment TX (Alice can broadcast)</a:t>
            </a:r>
          </a:p>
          <a:p>
            <a:r>
              <a:rPr lang="en-US" sz="2000" dirty="0">
                <a:latin typeface="Candara" panose="020E0502030303020204" pitchFamily="34" charset="0"/>
              </a:rPr>
              <a:t>(C1a)</a:t>
            </a:r>
          </a:p>
          <a:p>
            <a:endParaRPr lang="en-US" sz="2000" dirty="0">
              <a:latin typeface="Candara" panose="020E0502030303020204" pitchFamily="34" charset="0"/>
            </a:endParaRPr>
          </a:p>
          <a:p>
            <a:r>
              <a:rPr lang="en-US" sz="2000" dirty="0">
                <a:latin typeface="Candara" panose="020E0502030303020204" pitchFamily="34" charset="0"/>
              </a:rPr>
              <a:t>Outputs:</a:t>
            </a:r>
          </a:p>
          <a:p>
            <a:r>
              <a:rPr lang="en-US" sz="2000" dirty="0">
                <a:latin typeface="Candara" panose="020E0502030303020204" pitchFamily="34" charset="0"/>
              </a:rPr>
              <a:t>0. Alice 98,000 sats (time locked)</a:t>
            </a:r>
          </a:p>
          <a:p>
            <a:r>
              <a:rPr lang="en-US" sz="2000" dirty="0">
                <a:latin typeface="Candara" panose="020E0502030303020204" pitchFamily="34" charset="0"/>
              </a:rPr>
              <a:t>1. Bob 2000 sats</a:t>
            </a:r>
          </a:p>
        </p:txBody>
      </p:sp>
      <p:sp>
        <p:nvSpPr>
          <p:cNvPr id="8" name="Rectangle 7">
            <a:extLst>
              <a:ext uri="{FF2B5EF4-FFF2-40B4-BE49-F238E27FC236}">
                <a16:creationId xmlns:a16="http://schemas.microsoft.com/office/drawing/2014/main" id="{002136F0-F528-C789-4DB7-622E0A5F06BB}"/>
              </a:ext>
            </a:extLst>
          </p:cNvPr>
          <p:cNvSpPr/>
          <p:nvPr/>
        </p:nvSpPr>
        <p:spPr>
          <a:xfrm>
            <a:off x="6588483" y="4504524"/>
            <a:ext cx="5091890" cy="1930525"/>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000" dirty="0">
                <a:latin typeface="Candara" panose="020E0502030303020204" pitchFamily="34" charset="0"/>
              </a:rPr>
              <a:t>Commitment TX (Bob can broadcast)</a:t>
            </a:r>
          </a:p>
          <a:p>
            <a:r>
              <a:rPr lang="en-US" sz="2000" dirty="0">
                <a:latin typeface="Candara" panose="020E0502030303020204" pitchFamily="34" charset="0"/>
              </a:rPr>
              <a:t>(C1b)</a:t>
            </a:r>
          </a:p>
          <a:p>
            <a:endParaRPr lang="en-US" sz="2000" dirty="0">
              <a:latin typeface="Candara" panose="020E0502030303020204" pitchFamily="34" charset="0"/>
            </a:endParaRPr>
          </a:p>
          <a:p>
            <a:r>
              <a:rPr lang="en-US" sz="2000" dirty="0">
                <a:latin typeface="Candara" panose="020E0502030303020204" pitchFamily="34" charset="0"/>
              </a:rPr>
              <a:t>Outputs:</a:t>
            </a:r>
          </a:p>
          <a:p>
            <a:r>
              <a:rPr lang="en-US" sz="2000" dirty="0">
                <a:latin typeface="Candara" panose="020E0502030303020204" pitchFamily="34" charset="0"/>
              </a:rPr>
              <a:t>0. Alice 98,000 sats</a:t>
            </a:r>
          </a:p>
          <a:p>
            <a:r>
              <a:rPr lang="en-US" sz="2000" dirty="0">
                <a:latin typeface="Candara" panose="020E0502030303020204" pitchFamily="34" charset="0"/>
              </a:rPr>
              <a:t>1. Bob 2000 sats (time locked)</a:t>
            </a:r>
          </a:p>
        </p:txBody>
      </p:sp>
      <p:sp>
        <p:nvSpPr>
          <p:cNvPr id="7" name="TextBox 6">
            <a:extLst>
              <a:ext uri="{FF2B5EF4-FFF2-40B4-BE49-F238E27FC236}">
                <a16:creationId xmlns:a16="http://schemas.microsoft.com/office/drawing/2014/main" id="{72019A9D-C9C8-23E0-1160-24158BDE8BEA}"/>
              </a:ext>
            </a:extLst>
          </p:cNvPr>
          <p:cNvSpPr txBox="1"/>
          <p:nvPr/>
        </p:nvSpPr>
        <p:spPr>
          <a:xfrm>
            <a:off x="6756534" y="2529266"/>
            <a:ext cx="4731723" cy="1799467"/>
          </a:xfrm>
          <a:prstGeom prst="rect">
            <a:avLst/>
          </a:prstGeom>
          <a:noFill/>
          <a:ln>
            <a:solidFill>
              <a:schemeClr val="tx1"/>
            </a:solidFill>
          </a:ln>
        </p:spPr>
        <p:txBody>
          <a:bodyPr wrap="square" anchor="ctr" anchorCtr="0">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ndara" panose="020E0502030303020204" pitchFamily="34" charset="0"/>
                <a:ea typeface="+mn-ea"/>
                <a:cs typeface="+mn-cs"/>
              </a:rPr>
              <a:t>C1b (held by Bob) spends from the funding transaction and has two outputs:</a:t>
            </a:r>
          </a:p>
          <a:p>
            <a:pPr marL="685800" marR="0" lvl="1" indent="-228600" algn="l" defTabSz="914400" rtl="0" eaLnBrk="1" fontAlgn="auto" latinLnBrk="0" hangingPunct="1">
              <a:lnSpc>
                <a:spcPct val="90000"/>
              </a:lnSpc>
              <a:spcBef>
                <a:spcPts val="500"/>
              </a:spcBef>
              <a:spcAft>
                <a:spcPts val="0"/>
              </a:spcAft>
              <a:buClrTx/>
              <a:buSzTx/>
              <a:buFont typeface="System Font Regular"/>
              <a:buChar char="−"/>
              <a:tabLst/>
              <a:defRPr/>
            </a:pPr>
            <a:r>
              <a:rPr kumimoji="0" lang="en-US" b="0" i="0" u="none" strike="noStrike" kern="1200" cap="none" spc="0" normalizeH="0" baseline="0" noProof="0" dirty="0">
                <a:ln>
                  <a:noFill/>
                </a:ln>
                <a:solidFill>
                  <a:prstClr val="black"/>
                </a:solidFill>
                <a:effectLst/>
                <a:uLnTx/>
                <a:uFillTx/>
                <a:latin typeface="Candara" panose="020E0502030303020204" pitchFamily="34" charset="0"/>
                <a:ea typeface="+mn-ea"/>
                <a:cs typeface="+mn-cs"/>
              </a:rPr>
              <a:t>Alice’s output is immediately spendable</a:t>
            </a:r>
          </a:p>
          <a:p>
            <a:pPr marL="685800" marR="0" lvl="1" indent="-228600" algn="l" defTabSz="914400" rtl="0" eaLnBrk="1" fontAlgn="auto" latinLnBrk="0" hangingPunct="1">
              <a:lnSpc>
                <a:spcPct val="90000"/>
              </a:lnSpc>
              <a:spcBef>
                <a:spcPts val="500"/>
              </a:spcBef>
              <a:spcAft>
                <a:spcPts val="0"/>
              </a:spcAft>
              <a:buClrTx/>
              <a:buSzTx/>
              <a:buFont typeface="System Font Regular"/>
              <a:buChar char="−"/>
              <a:tabLst/>
              <a:defRPr/>
            </a:pPr>
            <a:r>
              <a:rPr kumimoji="0" lang="en-US" b="0" i="0" u="none" strike="noStrike" kern="1200" cap="none" spc="0" normalizeH="0" baseline="0" noProof="0" dirty="0">
                <a:ln>
                  <a:noFill/>
                </a:ln>
                <a:solidFill>
                  <a:srgbClr val="FF0000"/>
                </a:solidFill>
                <a:effectLst/>
                <a:uLnTx/>
                <a:uFillTx/>
                <a:latin typeface="Candara" panose="020E0502030303020204" pitchFamily="34" charset="0"/>
                <a:ea typeface="+mn-ea"/>
                <a:cs typeface="+mn-cs"/>
              </a:rPr>
              <a:t>Bob’s output is time-locked (he must wait to redeem it)</a:t>
            </a:r>
            <a:endParaRPr lang="en-US" sz="1600" dirty="0"/>
          </a:p>
        </p:txBody>
      </p:sp>
      <p:sp>
        <p:nvSpPr>
          <p:cNvPr id="10" name="TextBox 9">
            <a:extLst>
              <a:ext uri="{FF2B5EF4-FFF2-40B4-BE49-F238E27FC236}">
                <a16:creationId xmlns:a16="http://schemas.microsoft.com/office/drawing/2014/main" id="{6B084D7E-4C86-79F4-AEEE-5DD56C8C56E4}"/>
              </a:ext>
            </a:extLst>
          </p:cNvPr>
          <p:cNvSpPr txBox="1"/>
          <p:nvPr/>
        </p:nvSpPr>
        <p:spPr>
          <a:xfrm>
            <a:off x="1140878" y="2566824"/>
            <a:ext cx="4628991" cy="1799467"/>
          </a:xfrm>
          <a:prstGeom prst="rect">
            <a:avLst/>
          </a:prstGeom>
          <a:noFill/>
          <a:ln>
            <a:solidFill>
              <a:schemeClr val="tx1"/>
            </a:solidFill>
          </a:ln>
        </p:spPr>
        <p:txBody>
          <a:bodyPr wrap="square" anchor="ctr" anchorCtr="0">
            <a:spAutoFit/>
          </a:bodyPr>
          <a:lstStyle>
            <a:defPPr>
              <a:defRPr lang="en-US"/>
            </a:defPPr>
            <a:lvl1pPr marL="228600" marR="0" lvl="0" indent="-228600" fontAlgn="auto">
              <a:lnSpc>
                <a:spcPct val="90000"/>
              </a:lnSpc>
              <a:spcBef>
                <a:spcPts val="1000"/>
              </a:spcBef>
              <a:spcAft>
                <a:spcPts val="0"/>
              </a:spcAft>
              <a:buClrTx/>
              <a:buSzTx/>
              <a:buFont typeface="Arial" panose="020B0604020202020204" pitchFamily="34" charset="0"/>
              <a:buChar char="•"/>
              <a:tabLst/>
              <a:defRPr kumimoji="0" b="0" i="0" u="none" strike="noStrike" cap="none" spc="0" normalizeH="0" baseline="0">
                <a:ln>
                  <a:noFill/>
                </a:ln>
                <a:solidFill>
                  <a:prstClr val="black"/>
                </a:solidFill>
                <a:effectLst/>
                <a:uLnTx/>
                <a:uFillTx/>
                <a:latin typeface="Candara" panose="020E0502030303020204" pitchFamily="34" charset="0"/>
              </a:defRPr>
            </a:lvl1pPr>
            <a:lvl2pPr marL="685800" marR="0" lvl="1" indent="-228600" fontAlgn="auto">
              <a:lnSpc>
                <a:spcPct val="90000"/>
              </a:lnSpc>
              <a:spcBef>
                <a:spcPts val="500"/>
              </a:spcBef>
              <a:spcAft>
                <a:spcPts val="0"/>
              </a:spcAft>
              <a:buClrTx/>
              <a:buSzTx/>
              <a:buFont typeface="System Font Regular"/>
              <a:buChar char="−"/>
              <a:tabLst/>
              <a:defRPr kumimoji="0" sz="1600" b="0" i="0" u="none" strike="noStrike" cap="none" spc="0" normalizeH="0" baseline="0">
                <a:ln>
                  <a:noFill/>
                </a:ln>
                <a:solidFill>
                  <a:prstClr val="black"/>
                </a:solidFill>
                <a:effectLst/>
                <a:uLnTx/>
                <a:uFillTx/>
                <a:latin typeface="Candara" panose="020E0502030303020204" pitchFamily="34" charset="0"/>
              </a:defRPr>
            </a:lvl2pPr>
          </a:lstStyle>
          <a:p>
            <a:r>
              <a:rPr lang="en-US" sz="2000" dirty="0"/>
              <a:t>C1a (held by Alice) spends from the funding transaction and has two outputs:</a:t>
            </a:r>
          </a:p>
          <a:p>
            <a:pPr lvl="1"/>
            <a:r>
              <a:rPr lang="en-US" sz="1800" dirty="0"/>
              <a:t>Alice’s output is time-locked (she must wait to redeem it)</a:t>
            </a:r>
          </a:p>
          <a:p>
            <a:pPr lvl="1"/>
            <a:r>
              <a:rPr lang="en-US" sz="1800" dirty="0"/>
              <a:t>Bob’s output is immediately spendable</a:t>
            </a:r>
          </a:p>
        </p:txBody>
      </p:sp>
    </p:spTree>
    <p:extLst>
      <p:ext uri="{BB962C8B-B14F-4D97-AF65-F5344CB8AC3E}">
        <p14:creationId xmlns:p14="http://schemas.microsoft.com/office/powerpoint/2010/main" val="250659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7"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FC2E0-1918-2686-3330-3A5BEAE87921}"/>
              </a:ext>
            </a:extLst>
          </p:cNvPr>
          <p:cNvSpPr>
            <a:spLocks noGrp="1"/>
          </p:cNvSpPr>
          <p:nvPr>
            <p:ph type="title"/>
          </p:nvPr>
        </p:nvSpPr>
        <p:spPr/>
        <p:txBody>
          <a:bodyPr/>
          <a:lstStyle/>
          <a:p>
            <a:r>
              <a:rPr lang="en-US" dirty="0"/>
              <a:t>Commitment Transaction Creation</a:t>
            </a:r>
          </a:p>
        </p:txBody>
      </p:sp>
      <p:sp>
        <p:nvSpPr>
          <p:cNvPr id="3" name="Content Placeholder 2">
            <a:extLst>
              <a:ext uri="{FF2B5EF4-FFF2-40B4-BE49-F238E27FC236}">
                <a16:creationId xmlns:a16="http://schemas.microsoft.com/office/drawing/2014/main" id="{6210C0C7-5E5D-E82F-C319-F574F5F84656}"/>
              </a:ext>
            </a:extLst>
          </p:cNvPr>
          <p:cNvSpPr>
            <a:spLocks noGrp="1"/>
          </p:cNvSpPr>
          <p:nvPr>
            <p:ph idx="1"/>
          </p:nvPr>
        </p:nvSpPr>
        <p:spPr>
          <a:xfrm>
            <a:off x="487680" y="1097281"/>
            <a:ext cx="11186160" cy="4076604"/>
          </a:xfrm>
        </p:spPr>
        <p:txBody>
          <a:bodyPr>
            <a:normAutofit/>
          </a:bodyPr>
          <a:lstStyle/>
          <a:p>
            <a:r>
              <a:rPr lang="en-US" sz="2800" dirty="0">
                <a:solidFill>
                  <a:srgbClr val="7030A0"/>
                </a:solidFill>
              </a:rPr>
              <a:t>Bob creates C1a for Alice</a:t>
            </a:r>
          </a:p>
          <a:p>
            <a:pPr lvl="1"/>
            <a:r>
              <a:rPr lang="en-US" sz="2400" dirty="0"/>
              <a:t>Bob creates an output for himself that is immediately spendable</a:t>
            </a:r>
          </a:p>
          <a:p>
            <a:pPr lvl="1"/>
            <a:r>
              <a:rPr lang="en-US" sz="2400" dirty="0"/>
              <a:t>Bob creates an output for Alice with an agreed upon time lock</a:t>
            </a:r>
          </a:p>
          <a:p>
            <a:pPr lvl="1"/>
            <a:r>
              <a:rPr lang="en-US" sz="2400" dirty="0"/>
              <a:t>Bob signs the transaction &amp; gives the half-signed transaction to Alice</a:t>
            </a:r>
          </a:p>
          <a:p>
            <a:pPr lvl="1"/>
            <a:r>
              <a:rPr lang="en-US" sz="2400" dirty="0"/>
              <a:t>Alice adds her own signature but never gives the fully signed C1a back to Bob </a:t>
            </a:r>
          </a:p>
          <a:p>
            <a:pPr lvl="1"/>
            <a:r>
              <a:rPr lang="en-US" sz="2400" dirty="0"/>
              <a:t>Since the funding transaction is 2-of-2 </a:t>
            </a:r>
            <a:r>
              <a:rPr lang="en-US" sz="2400" dirty="0" err="1"/>
              <a:t>multisig</a:t>
            </a:r>
            <a:r>
              <a:rPr lang="en-US" sz="2400" dirty="0"/>
              <a:t> so Bob cannot broadcast the half-signed C1a </a:t>
            </a:r>
          </a:p>
          <a:p>
            <a:pPr lvl="1"/>
            <a:r>
              <a:rPr lang="en-US" sz="2400" dirty="0"/>
              <a:t>Therefore, if C1a ever appears on the network, everyone knows that it must have come from Alice</a:t>
            </a:r>
          </a:p>
          <a:p>
            <a:r>
              <a:rPr lang="en-US" sz="2800" dirty="0">
                <a:solidFill>
                  <a:schemeClr val="accent6">
                    <a:lumMod val="50000"/>
                  </a:schemeClr>
                </a:solidFill>
              </a:rPr>
              <a:t>Alice creates C1b for Bob </a:t>
            </a:r>
            <a:r>
              <a:rPr lang="en-US" sz="2800" dirty="0"/>
              <a:t>using similar procedure </a:t>
            </a:r>
          </a:p>
        </p:txBody>
      </p:sp>
      <p:sp>
        <p:nvSpPr>
          <p:cNvPr id="4" name="Slide Number Placeholder 3">
            <a:extLst>
              <a:ext uri="{FF2B5EF4-FFF2-40B4-BE49-F238E27FC236}">
                <a16:creationId xmlns:a16="http://schemas.microsoft.com/office/drawing/2014/main" id="{A8FFE735-27A0-FA03-0EF6-E5F214663267}"/>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
        <p:nvSpPr>
          <p:cNvPr id="5" name="TextBox 4">
            <a:extLst>
              <a:ext uri="{FF2B5EF4-FFF2-40B4-BE49-F238E27FC236}">
                <a16:creationId xmlns:a16="http://schemas.microsoft.com/office/drawing/2014/main" id="{C172A33E-33C7-EA10-BD8F-AEAFDF2B876D}"/>
              </a:ext>
            </a:extLst>
          </p:cNvPr>
          <p:cNvSpPr txBox="1"/>
          <p:nvPr/>
        </p:nvSpPr>
        <p:spPr>
          <a:xfrm>
            <a:off x="617771" y="5399354"/>
            <a:ext cx="10925978" cy="954107"/>
          </a:xfrm>
          <a:prstGeom prst="rect">
            <a:avLst/>
          </a:prstGeom>
          <a:solidFill>
            <a:srgbClr val="7030A0"/>
          </a:solidFill>
        </p:spPr>
        <p:txBody>
          <a:bodyPr wrap="square">
            <a:spAutoFit/>
          </a:bodyPr>
          <a:lstStyle/>
          <a:p>
            <a:pPr algn="ctr"/>
            <a:r>
              <a:rPr lang="en-US" sz="2800" dirty="0">
                <a:solidFill>
                  <a:schemeClr val="bg1"/>
                </a:solidFill>
                <a:latin typeface="Candara" panose="020E0502030303020204" pitchFamily="34" charset="0"/>
              </a:rPr>
              <a:t>Neither party can fabricate a different version of C1a or C1b because each commitment requires both signatures</a:t>
            </a:r>
          </a:p>
        </p:txBody>
      </p:sp>
    </p:spTree>
    <p:extLst>
      <p:ext uri="{BB962C8B-B14F-4D97-AF65-F5344CB8AC3E}">
        <p14:creationId xmlns:p14="http://schemas.microsoft.com/office/powerpoint/2010/main" val="2886074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CAD1D-F86F-92A0-91D2-04870E63B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19DCA-6438-8C47-02C0-ED47260A30F5}"/>
              </a:ext>
            </a:extLst>
          </p:cNvPr>
          <p:cNvSpPr>
            <a:spLocks noGrp="1"/>
          </p:cNvSpPr>
          <p:nvPr>
            <p:ph type="title"/>
          </p:nvPr>
        </p:nvSpPr>
        <p:spPr/>
        <p:txBody>
          <a:bodyPr/>
          <a:lstStyle/>
          <a:p>
            <a:r>
              <a:rPr lang="en-US" dirty="0"/>
              <a:t>Do We Need </a:t>
            </a:r>
            <a:r>
              <a:rPr lang="en-US" dirty="0" err="1"/>
              <a:t>SegWit</a:t>
            </a:r>
            <a:r>
              <a:rPr lang="en-US" dirty="0"/>
              <a:t>?</a:t>
            </a:r>
          </a:p>
        </p:txBody>
      </p:sp>
      <p:sp>
        <p:nvSpPr>
          <p:cNvPr id="4" name="Slide Number Placeholder 3">
            <a:extLst>
              <a:ext uri="{FF2B5EF4-FFF2-40B4-BE49-F238E27FC236}">
                <a16:creationId xmlns:a16="http://schemas.microsoft.com/office/drawing/2014/main" id="{1D630E2F-6E1A-B400-674D-AD7FBFCC86EC}"/>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39</a:t>
            </a:fld>
            <a:endParaRPr lang="en-US" dirty="0">
              <a:latin typeface="Candara" panose="020E0502030303020204" pitchFamily="34" charset="0"/>
            </a:endParaRPr>
          </a:p>
        </p:txBody>
      </p:sp>
      <p:sp>
        <p:nvSpPr>
          <p:cNvPr id="3" name="TextBox 2">
            <a:extLst>
              <a:ext uri="{FF2B5EF4-FFF2-40B4-BE49-F238E27FC236}">
                <a16:creationId xmlns:a16="http://schemas.microsoft.com/office/drawing/2014/main" id="{9D272FE9-3C97-3410-4EBB-3F400F6CC935}"/>
              </a:ext>
            </a:extLst>
          </p:cNvPr>
          <p:cNvSpPr txBox="1"/>
          <p:nvPr/>
        </p:nvSpPr>
        <p:spPr>
          <a:xfrm>
            <a:off x="3396039" y="1980087"/>
            <a:ext cx="6048749" cy="461665"/>
          </a:xfrm>
          <a:prstGeom prst="rect">
            <a:avLst/>
          </a:prstGeom>
          <a:noFill/>
        </p:spPr>
        <p:txBody>
          <a:bodyPr wrap="square" rtlCol="0">
            <a:spAutoFit/>
          </a:bodyPr>
          <a:lstStyle/>
          <a:p>
            <a:pPr algn="ctr"/>
            <a:r>
              <a:rPr lang="en-US" sz="2400" dirty="0">
                <a:solidFill>
                  <a:srgbClr val="002060"/>
                </a:solidFill>
                <a:latin typeface="Candara" panose="020E0502030303020204" pitchFamily="34" charset="0"/>
              </a:rPr>
              <a:t>Legacy </a:t>
            </a:r>
            <a:r>
              <a:rPr lang="en-US" sz="2400" dirty="0" err="1">
                <a:solidFill>
                  <a:srgbClr val="002060"/>
                </a:solidFill>
                <a:latin typeface="Candara" panose="020E0502030303020204" pitchFamily="34" charset="0"/>
              </a:rPr>
              <a:t>Txid</a:t>
            </a:r>
            <a:r>
              <a:rPr lang="en-US" sz="2400" dirty="0">
                <a:solidFill>
                  <a:srgbClr val="002060"/>
                </a:solidFill>
                <a:latin typeface="Candara" panose="020E0502030303020204" pitchFamily="34" charset="0"/>
              </a:rPr>
              <a:t>=SHA256(SHA256(All </a:t>
            </a:r>
            <a:r>
              <a:rPr lang="en-US" sz="2400" dirty="0" err="1">
                <a:solidFill>
                  <a:srgbClr val="002060"/>
                </a:solidFill>
                <a:latin typeface="Candara" panose="020E0502030303020204" pitchFamily="34" charset="0"/>
              </a:rPr>
              <a:t>txn</a:t>
            </a:r>
            <a:r>
              <a:rPr lang="en-US" sz="2400" dirty="0">
                <a:solidFill>
                  <a:srgbClr val="002060"/>
                </a:solidFill>
                <a:latin typeface="Candara" panose="020E0502030303020204" pitchFamily="34" charset="0"/>
              </a:rPr>
              <a:t> data)) </a:t>
            </a:r>
          </a:p>
        </p:txBody>
      </p:sp>
      <p:sp>
        <p:nvSpPr>
          <p:cNvPr id="9" name="TextBox 8">
            <a:extLst>
              <a:ext uri="{FF2B5EF4-FFF2-40B4-BE49-F238E27FC236}">
                <a16:creationId xmlns:a16="http://schemas.microsoft.com/office/drawing/2014/main" id="{B9F0819F-AD62-64AC-8242-A4D4963E2243}"/>
              </a:ext>
            </a:extLst>
          </p:cNvPr>
          <p:cNvSpPr txBox="1"/>
          <p:nvPr/>
        </p:nvSpPr>
        <p:spPr>
          <a:xfrm>
            <a:off x="735265" y="1042696"/>
            <a:ext cx="10733473" cy="830997"/>
          </a:xfrm>
          <a:prstGeom prst="rect">
            <a:avLst/>
          </a:prstGeom>
          <a:solidFill>
            <a:srgbClr val="7030A0"/>
          </a:solidFill>
        </p:spPr>
        <p:txBody>
          <a:bodyPr wrap="square">
            <a:spAutoFit/>
          </a:bodyPr>
          <a:lstStyle/>
          <a:p>
            <a:pPr algn="ctr"/>
            <a:r>
              <a:rPr lang="en-US" sz="2400" dirty="0">
                <a:solidFill>
                  <a:schemeClr val="bg1"/>
                </a:solidFill>
                <a:latin typeface="Candara" panose="020E0502030303020204" pitchFamily="34" charset="0"/>
              </a:rPr>
              <a:t>Prior to </a:t>
            </a:r>
            <a:r>
              <a:rPr lang="en-US" sz="2400" dirty="0" err="1">
                <a:solidFill>
                  <a:schemeClr val="bg1"/>
                </a:solidFill>
                <a:latin typeface="Candara" panose="020E0502030303020204" pitchFamily="34" charset="0"/>
              </a:rPr>
              <a:t>SegWit</a:t>
            </a:r>
            <a:r>
              <a:rPr lang="en-US" sz="2400" dirty="0">
                <a:solidFill>
                  <a:schemeClr val="bg1"/>
                </a:solidFill>
                <a:latin typeface="Candara" panose="020E0502030303020204" pitchFamily="34" charset="0"/>
              </a:rPr>
              <a:t>, transaction id (</a:t>
            </a:r>
            <a:r>
              <a:rPr lang="en-US" sz="2400" dirty="0" err="1">
                <a:solidFill>
                  <a:schemeClr val="bg1"/>
                </a:solidFill>
                <a:latin typeface="Candara" panose="020E0502030303020204" pitchFamily="34" charset="0"/>
              </a:rPr>
              <a:t>Txid</a:t>
            </a:r>
            <a:r>
              <a:rPr lang="en-US" sz="2400" dirty="0">
                <a:solidFill>
                  <a:schemeClr val="bg1"/>
                </a:solidFill>
                <a:latin typeface="Candara" panose="020E0502030303020204" pitchFamily="34" charset="0"/>
              </a:rPr>
              <a:t>) was computed by taking the hash of all the transaction data (signature included) in a well-defined serialization order</a:t>
            </a:r>
          </a:p>
        </p:txBody>
      </p:sp>
      <p:sp>
        <p:nvSpPr>
          <p:cNvPr id="12" name="TextBox 11">
            <a:extLst>
              <a:ext uri="{FF2B5EF4-FFF2-40B4-BE49-F238E27FC236}">
                <a16:creationId xmlns:a16="http://schemas.microsoft.com/office/drawing/2014/main" id="{52161A57-C875-C78E-B633-50449B4CACAD}"/>
              </a:ext>
            </a:extLst>
          </p:cNvPr>
          <p:cNvSpPr txBox="1"/>
          <p:nvPr/>
        </p:nvSpPr>
        <p:spPr>
          <a:xfrm>
            <a:off x="7653857" y="2753376"/>
            <a:ext cx="3866883" cy="2246769"/>
          </a:xfrm>
          <a:prstGeom prst="rect">
            <a:avLst/>
          </a:prstGeom>
          <a:noFill/>
        </p:spPr>
        <p:txBody>
          <a:bodyPr wrap="square">
            <a:spAutoFit/>
          </a:bodyPr>
          <a:lstStyle/>
          <a:p>
            <a:pPr marL="342900" indent="-342900">
              <a:buFont typeface="Arial" panose="020B0604020202020204" pitchFamily="34" charset="0"/>
              <a:buChar char="•"/>
            </a:pPr>
            <a:r>
              <a:rPr lang="en-US" sz="2000" dirty="0" err="1">
                <a:solidFill>
                  <a:srgbClr val="7030A0"/>
                </a:solidFill>
                <a:latin typeface="Candara" panose="020E0502030303020204" pitchFamily="34" charset="0"/>
              </a:rPr>
              <a:t>Txid</a:t>
            </a:r>
            <a:r>
              <a:rPr lang="en-US" sz="2000" dirty="0">
                <a:solidFill>
                  <a:srgbClr val="7030A0"/>
                </a:solidFill>
                <a:latin typeface="Candara" panose="020E0502030303020204" pitchFamily="34" charset="0"/>
              </a:rPr>
              <a:t> identifies a transaction for referencing it on blockchain network</a:t>
            </a:r>
          </a:p>
          <a:p>
            <a:pPr marL="342900" indent="-342900">
              <a:buFont typeface="Arial" panose="020B0604020202020204" pitchFamily="34" charset="0"/>
              <a:buChar char="•"/>
            </a:pPr>
            <a:r>
              <a:rPr lang="en-US" sz="2000" dirty="0">
                <a:solidFill>
                  <a:srgbClr val="7030A0"/>
                </a:solidFill>
                <a:latin typeface="Candara" panose="020E0502030303020204" pitchFamily="34" charset="0"/>
              </a:rPr>
              <a:t>A Merkel tree of all the </a:t>
            </a:r>
            <a:r>
              <a:rPr lang="en-US" sz="2000" dirty="0" err="1">
                <a:solidFill>
                  <a:srgbClr val="7030A0"/>
                </a:solidFill>
                <a:latin typeface="Candara" panose="020E0502030303020204" pitchFamily="34" charset="0"/>
              </a:rPr>
              <a:t>Txids</a:t>
            </a:r>
            <a:r>
              <a:rPr lang="en-US" sz="2000" dirty="0">
                <a:solidFill>
                  <a:srgbClr val="7030A0"/>
                </a:solidFill>
                <a:latin typeface="Candara" panose="020E0502030303020204" pitchFamily="34" charset="0"/>
              </a:rPr>
              <a:t> in a block is also created and its root is stored in the block header </a:t>
            </a:r>
          </a:p>
        </p:txBody>
      </p:sp>
      <p:sp>
        <p:nvSpPr>
          <p:cNvPr id="11" name="TextBox 10">
            <a:extLst>
              <a:ext uri="{FF2B5EF4-FFF2-40B4-BE49-F238E27FC236}">
                <a16:creationId xmlns:a16="http://schemas.microsoft.com/office/drawing/2014/main" id="{56FE62E4-D4CD-E1E7-441B-CAB1B201A4FB}"/>
              </a:ext>
            </a:extLst>
          </p:cNvPr>
          <p:cNvSpPr txBox="1"/>
          <p:nvPr/>
        </p:nvSpPr>
        <p:spPr>
          <a:xfrm>
            <a:off x="651041" y="5227545"/>
            <a:ext cx="10962639"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Legacy transaction format cannot be used for payment channels because when signatures are part of the inputs, both signatures are required to compute the </a:t>
            </a:r>
            <a:r>
              <a:rPr lang="en-US" sz="2000" dirty="0" err="1">
                <a:latin typeface="Candara" panose="020E0502030303020204" pitchFamily="34" charset="0"/>
              </a:rPr>
              <a:t>txid</a:t>
            </a:r>
            <a:endParaRPr lang="en-US" sz="2000" dirty="0">
              <a:latin typeface="Candara" panose="020E0502030303020204" pitchFamily="34" charset="0"/>
            </a:endParaRPr>
          </a:p>
          <a:p>
            <a:pPr marL="285750" indent="-285750">
              <a:buFont typeface="Arial" panose="020B0604020202020204" pitchFamily="34" charset="0"/>
              <a:buChar char="•"/>
            </a:pPr>
            <a:r>
              <a:rPr lang="en-US" sz="2000" dirty="0">
                <a:latin typeface="Candara" panose="020E0502030303020204" pitchFamily="34" charset="0"/>
              </a:rPr>
              <a:t>If someone malleates the </a:t>
            </a:r>
            <a:r>
              <a:rPr lang="en-US" sz="2000" dirty="0" err="1">
                <a:latin typeface="Candara" panose="020E0502030303020204" pitchFamily="34" charset="0"/>
              </a:rPr>
              <a:t>txid</a:t>
            </a:r>
            <a:r>
              <a:rPr lang="en-US" sz="2000" dirty="0">
                <a:latin typeface="Candara" panose="020E0502030303020204" pitchFamily="34" charset="0"/>
              </a:rPr>
              <a:t>, the child transactions that spend those commitment transactions become invalid</a:t>
            </a:r>
          </a:p>
        </p:txBody>
      </p:sp>
      <p:grpSp>
        <p:nvGrpSpPr>
          <p:cNvPr id="40" name="Group 39">
            <a:extLst>
              <a:ext uri="{FF2B5EF4-FFF2-40B4-BE49-F238E27FC236}">
                <a16:creationId xmlns:a16="http://schemas.microsoft.com/office/drawing/2014/main" id="{5010CB5D-1656-83E1-B129-37A4F8F8613C}"/>
              </a:ext>
            </a:extLst>
          </p:cNvPr>
          <p:cNvGrpSpPr/>
          <p:nvPr/>
        </p:nvGrpSpPr>
        <p:grpSpPr>
          <a:xfrm>
            <a:off x="3056024" y="2548146"/>
            <a:ext cx="4172721" cy="2542556"/>
            <a:chOff x="1664676" y="2441752"/>
            <a:chExt cx="4334251" cy="2542556"/>
          </a:xfrm>
        </p:grpSpPr>
        <p:grpSp>
          <p:nvGrpSpPr>
            <p:cNvPr id="39" name="Group 38">
              <a:extLst>
                <a:ext uri="{FF2B5EF4-FFF2-40B4-BE49-F238E27FC236}">
                  <a16:creationId xmlns:a16="http://schemas.microsoft.com/office/drawing/2014/main" id="{8BD86F4B-C9DF-603F-AA05-A149123D2E19}"/>
                </a:ext>
              </a:extLst>
            </p:cNvPr>
            <p:cNvGrpSpPr/>
            <p:nvPr/>
          </p:nvGrpSpPr>
          <p:grpSpPr>
            <a:xfrm>
              <a:off x="1664676" y="2441752"/>
              <a:ext cx="4334251" cy="2542556"/>
              <a:chOff x="1664676" y="2441752"/>
              <a:chExt cx="4334251" cy="2542556"/>
            </a:xfrm>
          </p:grpSpPr>
          <p:sp>
            <p:nvSpPr>
              <p:cNvPr id="6" name="Rectangle 5">
                <a:extLst>
                  <a:ext uri="{FF2B5EF4-FFF2-40B4-BE49-F238E27FC236}">
                    <a16:creationId xmlns:a16="http://schemas.microsoft.com/office/drawing/2014/main" id="{8580E1AB-4428-6ABB-4CBF-4CB9BC4957E5}"/>
                  </a:ext>
                </a:extLst>
              </p:cNvPr>
              <p:cNvSpPr/>
              <p:nvPr/>
            </p:nvSpPr>
            <p:spPr>
              <a:xfrm>
                <a:off x="1971228" y="2588504"/>
                <a:ext cx="3738042" cy="42232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Transaction-Level Fields (Version, </a:t>
                </a:r>
                <a:r>
                  <a:rPr lang="en-US" sz="1600" dirty="0" err="1">
                    <a:solidFill>
                      <a:schemeClr val="tx1"/>
                    </a:solidFill>
                    <a:latin typeface="Candara" panose="020E0502030303020204" pitchFamily="34" charset="0"/>
                  </a:rPr>
                  <a:t>nLockTime</a:t>
                </a:r>
                <a:r>
                  <a:rPr lang="en-US" sz="1600" dirty="0">
                    <a:solidFill>
                      <a:schemeClr val="tx1"/>
                    </a:solidFill>
                    <a:latin typeface="Candara" panose="020E0502030303020204" pitchFamily="34" charset="0"/>
                  </a:rPr>
                  <a:t>, Flags)</a:t>
                </a:r>
              </a:p>
            </p:txBody>
          </p:sp>
          <p:grpSp>
            <p:nvGrpSpPr>
              <p:cNvPr id="15" name="Group 14">
                <a:extLst>
                  <a:ext uri="{FF2B5EF4-FFF2-40B4-BE49-F238E27FC236}">
                    <a16:creationId xmlns:a16="http://schemas.microsoft.com/office/drawing/2014/main" id="{736D4B36-C356-B33E-30CA-2B60B56EF95E}"/>
                  </a:ext>
                </a:extLst>
              </p:cNvPr>
              <p:cNvGrpSpPr/>
              <p:nvPr/>
            </p:nvGrpSpPr>
            <p:grpSpPr>
              <a:xfrm>
                <a:off x="1976545" y="3028252"/>
                <a:ext cx="3738043" cy="1590424"/>
                <a:chOff x="4434145" y="2273747"/>
                <a:chExt cx="3398221" cy="2762535"/>
              </a:xfrm>
            </p:grpSpPr>
            <p:grpSp>
              <p:nvGrpSpPr>
                <p:cNvPr id="17" name="Group 16">
                  <a:extLst>
                    <a:ext uri="{FF2B5EF4-FFF2-40B4-BE49-F238E27FC236}">
                      <a16:creationId xmlns:a16="http://schemas.microsoft.com/office/drawing/2014/main" id="{A28300D9-9615-746D-BF1F-9E0B81DB05CB}"/>
                    </a:ext>
                  </a:extLst>
                </p:cNvPr>
                <p:cNvGrpSpPr/>
                <p:nvPr/>
              </p:nvGrpSpPr>
              <p:grpSpPr>
                <a:xfrm>
                  <a:off x="4434145" y="2273747"/>
                  <a:ext cx="3398221" cy="2762535"/>
                  <a:chOff x="4956668" y="2730954"/>
                  <a:chExt cx="3398221" cy="2762535"/>
                </a:xfrm>
              </p:grpSpPr>
              <p:sp>
                <p:nvSpPr>
                  <p:cNvPr id="21" name="Rectangle 20">
                    <a:extLst>
                      <a:ext uri="{FF2B5EF4-FFF2-40B4-BE49-F238E27FC236}">
                        <a16:creationId xmlns:a16="http://schemas.microsoft.com/office/drawing/2014/main" id="{DD02E26C-FA76-E836-8F33-7061F7E3F21F}"/>
                      </a:ext>
                    </a:extLst>
                  </p:cNvPr>
                  <p:cNvSpPr/>
                  <p:nvPr/>
                </p:nvSpPr>
                <p:spPr>
                  <a:xfrm>
                    <a:off x="4956668" y="2730954"/>
                    <a:ext cx="3398221"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900" kern="1200">
                        <a:solidFill>
                          <a:schemeClr val="lt1"/>
                        </a:solidFill>
                        <a:latin typeface="+mn-lt"/>
                        <a:ea typeface="+mn-ea"/>
                        <a:cs typeface="+mn-cs"/>
                      </a:defRPr>
                    </a:lvl1pPr>
                    <a:lvl2pPr marL="457189" algn="l" defTabSz="914377" rtl="0" eaLnBrk="1" latinLnBrk="0" hangingPunct="1">
                      <a:defRPr sz="1900" kern="1200">
                        <a:solidFill>
                          <a:schemeClr val="lt1"/>
                        </a:solidFill>
                        <a:latin typeface="+mn-lt"/>
                        <a:ea typeface="+mn-ea"/>
                        <a:cs typeface="+mn-cs"/>
                      </a:defRPr>
                    </a:lvl2pPr>
                    <a:lvl3pPr marL="914377" algn="l" defTabSz="914377" rtl="0" eaLnBrk="1" latinLnBrk="0" hangingPunct="1">
                      <a:defRPr sz="1900" kern="1200">
                        <a:solidFill>
                          <a:schemeClr val="lt1"/>
                        </a:solidFill>
                        <a:latin typeface="+mn-lt"/>
                        <a:ea typeface="+mn-ea"/>
                        <a:cs typeface="+mn-cs"/>
                      </a:defRPr>
                    </a:lvl3pPr>
                    <a:lvl4pPr marL="1371566" algn="l" defTabSz="914377" rtl="0" eaLnBrk="1" latinLnBrk="0" hangingPunct="1">
                      <a:defRPr sz="1900" kern="1200">
                        <a:solidFill>
                          <a:schemeClr val="lt1"/>
                        </a:solidFill>
                        <a:latin typeface="+mn-lt"/>
                        <a:ea typeface="+mn-ea"/>
                        <a:cs typeface="+mn-cs"/>
                      </a:defRPr>
                    </a:lvl4pPr>
                    <a:lvl5pPr marL="1828754" algn="l" defTabSz="914377" rtl="0" eaLnBrk="1" latinLnBrk="0" hangingPunct="1">
                      <a:defRPr sz="1900" kern="1200">
                        <a:solidFill>
                          <a:schemeClr val="lt1"/>
                        </a:solidFill>
                        <a:latin typeface="+mn-lt"/>
                        <a:ea typeface="+mn-ea"/>
                        <a:cs typeface="+mn-cs"/>
                      </a:defRPr>
                    </a:lvl5pPr>
                    <a:lvl6pPr marL="2285943" algn="l" defTabSz="914377" rtl="0" eaLnBrk="1" latinLnBrk="0" hangingPunct="1">
                      <a:defRPr sz="1900" kern="1200">
                        <a:solidFill>
                          <a:schemeClr val="lt1"/>
                        </a:solidFill>
                        <a:latin typeface="+mn-lt"/>
                        <a:ea typeface="+mn-ea"/>
                        <a:cs typeface="+mn-cs"/>
                      </a:defRPr>
                    </a:lvl6pPr>
                    <a:lvl7pPr marL="2743131" algn="l" defTabSz="914377" rtl="0" eaLnBrk="1" latinLnBrk="0" hangingPunct="1">
                      <a:defRPr sz="1900" kern="1200">
                        <a:solidFill>
                          <a:schemeClr val="lt1"/>
                        </a:solidFill>
                        <a:latin typeface="+mn-lt"/>
                        <a:ea typeface="+mn-ea"/>
                        <a:cs typeface="+mn-cs"/>
                      </a:defRPr>
                    </a:lvl7pPr>
                    <a:lvl8pPr marL="3200320" algn="l" defTabSz="914377" rtl="0" eaLnBrk="1" latinLnBrk="0" hangingPunct="1">
                      <a:defRPr sz="1900" kern="1200">
                        <a:solidFill>
                          <a:schemeClr val="lt1"/>
                        </a:solidFill>
                        <a:latin typeface="+mn-lt"/>
                        <a:ea typeface="+mn-ea"/>
                        <a:cs typeface="+mn-cs"/>
                      </a:defRPr>
                    </a:lvl8pPr>
                    <a:lvl9pPr marL="3657509" algn="l" defTabSz="914377" rtl="0" eaLnBrk="1" latinLnBrk="0" hangingPunct="1">
                      <a:defRPr sz="1900" kern="1200">
                        <a:solidFill>
                          <a:schemeClr val="lt1"/>
                        </a:solidFill>
                        <a:latin typeface="+mn-lt"/>
                        <a:ea typeface="+mn-ea"/>
                        <a:cs typeface="+mn-cs"/>
                      </a:defRPr>
                    </a:lvl9pPr>
                  </a:lstStyle>
                  <a:p>
                    <a:pPr algn="ctr"/>
                    <a:endParaRPr lang="en-US">
                      <a:latin typeface="Candara" panose="020E0502030303020204" pitchFamily="34" charset="0"/>
                    </a:endParaRPr>
                  </a:p>
                </p:txBody>
              </p:sp>
              <p:sp>
                <p:nvSpPr>
                  <p:cNvPr id="22" name="Rectangle 21">
                    <a:extLst>
                      <a:ext uri="{FF2B5EF4-FFF2-40B4-BE49-F238E27FC236}">
                        <a16:creationId xmlns:a16="http://schemas.microsoft.com/office/drawing/2014/main" id="{E777CC0E-3466-BB3C-5499-0643D9FFFE79}"/>
                      </a:ext>
                    </a:extLst>
                  </p:cNvPr>
                  <p:cNvSpPr/>
                  <p:nvPr/>
                </p:nvSpPr>
                <p:spPr>
                  <a:xfrm>
                    <a:off x="6694714" y="2730954"/>
                    <a:ext cx="1660175"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900" kern="1200">
                        <a:solidFill>
                          <a:schemeClr val="lt1"/>
                        </a:solidFill>
                        <a:latin typeface="+mn-lt"/>
                        <a:ea typeface="+mn-ea"/>
                        <a:cs typeface="+mn-cs"/>
                      </a:defRPr>
                    </a:lvl1pPr>
                    <a:lvl2pPr marL="457189" algn="l" defTabSz="914377" rtl="0" eaLnBrk="1" latinLnBrk="0" hangingPunct="1">
                      <a:defRPr sz="1900" kern="1200">
                        <a:solidFill>
                          <a:schemeClr val="lt1"/>
                        </a:solidFill>
                        <a:latin typeface="+mn-lt"/>
                        <a:ea typeface="+mn-ea"/>
                        <a:cs typeface="+mn-cs"/>
                      </a:defRPr>
                    </a:lvl2pPr>
                    <a:lvl3pPr marL="914377" algn="l" defTabSz="914377" rtl="0" eaLnBrk="1" latinLnBrk="0" hangingPunct="1">
                      <a:defRPr sz="1900" kern="1200">
                        <a:solidFill>
                          <a:schemeClr val="lt1"/>
                        </a:solidFill>
                        <a:latin typeface="+mn-lt"/>
                        <a:ea typeface="+mn-ea"/>
                        <a:cs typeface="+mn-cs"/>
                      </a:defRPr>
                    </a:lvl3pPr>
                    <a:lvl4pPr marL="1371566" algn="l" defTabSz="914377" rtl="0" eaLnBrk="1" latinLnBrk="0" hangingPunct="1">
                      <a:defRPr sz="1900" kern="1200">
                        <a:solidFill>
                          <a:schemeClr val="lt1"/>
                        </a:solidFill>
                        <a:latin typeface="+mn-lt"/>
                        <a:ea typeface="+mn-ea"/>
                        <a:cs typeface="+mn-cs"/>
                      </a:defRPr>
                    </a:lvl4pPr>
                    <a:lvl5pPr marL="1828754" algn="l" defTabSz="914377" rtl="0" eaLnBrk="1" latinLnBrk="0" hangingPunct="1">
                      <a:defRPr sz="1900" kern="1200">
                        <a:solidFill>
                          <a:schemeClr val="lt1"/>
                        </a:solidFill>
                        <a:latin typeface="+mn-lt"/>
                        <a:ea typeface="+mn-ea"/>
                        <a:cs typeface="+mn-cs"/>
                      </a:defRPr>
                    </a:lvl5pPr>
                    <a:lvl6pPr marL="2285943" algn="l" defTabSz="914377" rtl="0" eaLnBrk="1" latinLnBrk="0" hangingPunct="1">
                      <a:defRPr sz="1900" kern="1200">
                        <a:solidFill>
                          <a:schemeClr val="lt1"/>
                        </a:solidFill>
                        <a:latin typeface="+mn-lt"/>
                        <a:ea typeface="+mn-ea"/>
                        <a:cs typeface="+mn-cs"/>
                      </a:defRPr>
                    </a:lvl6pPr>
                    <a:lvl7pPr marL="2743131" algn="l" defTabSz="914377" rtl="0" eaLnBrk="1" latinLnBrk="0" hangingPunct="1">
                      <a:defRPr sz="1900" kern="1200">
                        <a:solidFill>
                          <a:schemeClr val="lt1"/>
                        </a:solidFill>
                        <a:latin typeface="+mn-lt"/>
                        <a:ea typeface="+mn-ea"/>
                        <a:cs typeface="+mn-cs"/>
                      </a:defRPr>
                    </a:lvl7pPr>
                    <a:lvl8pPr marL="3200320" algn="l" defTabSz="914377" rtl="0" eaLnBrk="1" latinLnBrk="0" hangingPunct="1">
                      <a:defRPr sz="1900" kern="1200">
                        <a:solidFill>
                          <a:schemeClr val="lt1"/>
                        </a:solidFill>
                        <a:latin typeface="+mn-lt"/>
                        <a:ea typeface="+mn-ea"/>
                        <a:cs typeface="+mn-cs"/>
                      </a:defRPr>
                    </a:lvl8pPr>
                    <a:lvl9pPr marL="3657509" algn="l" defTabSz="914377" rtl="0" eaLnBrk="1" latinLnBrk="0" hangingPunct="1">
                      <a:defRPr sz="1900" kern="1200">
                        <a:solidFill>
                          <a:schemeClr val="lt1"/>
                        </a:solidFill>
                        <a:latin typeface="+mn-lt"/>
                        <a:ea typeface="+mn-ea"/>
                        <a:cs typeface="+mn-cs"/>
                      </a:defRPr>
                    </a:lvl9pPr>
                  </a:lstStyle>
                  <a:p>
                    <a:pPr algn="ctr"/>
                    <a:endParaRPr lang="en-US">
                      <a:latin typeface="Candara" panose="020E0502030303020204" pitchFamily="34" charset="0"/>
                    </a:endParaRPr>
                  </a:p>
                </p:txBody>
              </p:sp>
              <p:sp>
                <p:nvSpPr>
                  <p:cNvPr id="23" name="TextBox 11">
                    <a:extLst>
                      <a:ext uri="{FF2B5EF4-FFF2-40B4-BE49-F238E27FC236}">
                        <a16:creationId xmlns:a16="http://schemas.microsoft.com/office/drawing/2014/main" id="{994C4D16-0F94-F754-63FD-E68E02224ADC}"/>
                      </a:ext>
                    </a:extLst>
                  </p:cNvPr>
                  <p:cNvSpPr txBox="1"/>
                  <p:nvPr/>
                </p:nvSpPr>
                <p:spPr>
                  <a:xfrm>
                    <a:off x="5074577" y="2767021"/>
                    <a:ext cx="1502228" cy="2726468"/>
                  </a:xfrm>
                  <a:prstGeom prst="rect">
                    <a:avLst/>
                  </a:prstGeom>
                  <a:noFill/>
                </p:spPr>
                <p:txBody>
                  <a:bodyPr wrap="square" rtlCol="0">
                    <a:spAutoFit/>
                  </a:bodyPr>
                  <a:lst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a:lstStyle>
                  <a:p>
                    <a:pPr algn="ctr"/>
                    <a:r>
                      <a:rPr lang="en-US" sz="1600" dirty="0">
                        <a:latin typeface="Candara" panose="020E0502030303020204" pitchFamily="34" charset="0"/>
                      </a:rPr>
                      <a:t>Prev Txid: Funding Tx</a:t>
                    </a:r>
                  </a:p>
                  <a:p>
                    <a:pPr algn="ctr"/>
                    <a:r>
                      <a:rPr lang="en-US" sz="1600" dirty="0" err="1">
                        <a:latin typeface="Candara" panose="020E0502030303020204" pitchFamily="34" charset="0"/>
                      </a:rPr>
                      <a:t>Idx</a:t>
                    </a:r>
                    <a:r>
                      <a:rPr lang="en-US" sz="1600" dirty="0">
                        <a:latin typeface="Candara" panose="020E0502030303020204" pitchFamily="34" charset="0"/>
                      </a:rPr>
                      <a:t>: 0</a:t>
                    </a:r>
                  </a:p>
                  <a:p>
                    <a:pPr algn="ctr"/>
                    <a:r>
                      <a:rPr lang="en-US" sz="1600" dirty="0">
                        <a:latin typeface="Candara" panose="020E0502030303020204" pitchFamily="34" charset="0"/>
                      </a:rPr>
                      <a:t>&lt;</a:t>
                    </a:r>
                    <a:r>
                      <a:rPr lang="en-US" sz="1600" dirty="0" err="1">
                        <a:latin typeface="Candara" panose="020E0502030303020204" pitchFamily="34" charset="0"/>
                      </a:rPr>
                      <a:t>scriptSig</a:t>
                    </a:r>
                    <a:r>
                      <a:rPr lang="en-US" sz="1600" dirty="0">
                        <a:latin typeface="Candara" panose="020E0502030303020204" pitchFamily="34" charset="0"/>
                      </a:rPr>
                      <a:t>&gt; = </a:t>
                    </a:r>
                  </a:p>
                  <a:p>
                    <a:pPr algn="ctr"/>
                    <a:r>
                      <a:rPr lang="en-US" sz="1600" dirty="0">
                        <a:latin typeface="Candara" panose="020E0502030303020204" pitchFamily="34" charset="0"/>
                      </a:rPr>
                      <a:t>&lt;</a:t>
                    </a:r>
                    <a:r>
                      <a:rPr lang="en-US" sz="1600" dirty="0" err="1">
                        <a:latin typeface="Candara" panose="020E0502030303020204" pitchFamily="34" charset="0"/>
                      </a:rPr>
                      <a:t>sigAlice</a:t>
                    </a:r>
                    <a:r>
                      <a:rPr lang="en-US" sz="1600" dirty="0">
                        <a:latin typeface="Candara" panose="020E0502030303020204" pitchFamily="34" charset="0"/>
                      </a:rPr>
                      <a:t>&gt; &lt;</a:t>
                    </a:r>
                    <a:r>
                      <a:rPr lang="en-US" sz="1600" dirty="0" err="1">
                        <a:latin typeface="Candara" panose="020E0502030303020204" pitchFamily="34" charset="0"/>
                      </a:rPr>
                      <a:t>sigBob</a:t>
                    </a:r>
                    <a:r>
                      <a:rPr lang="en-US" sz="1600" dirty="0">
                        <a:latin typeface="Candara" panose="020E0502030303020204" pitchFamily="34" charset="0"/>
                      </a:rPr>
                      <a:t>&gt;</a:t>
                    </a:r>
                  </a:p>
                </p:txBody>
              </p:sp>
              <p:sp>
                <p:nvSpPr>
                  <p:cNvPr id="24" name="TextBox 12">
                    <a:extLst>
                      <a:ext uri="{FF2B5EF4-FFF2-40B4-BE49-F238E27FC236}">
                        <a16:creationId xmlns:a16="http://schemas.microsoft.com/office/drawing/2014/main" id="{C36EB886-BBD1-CF5B-57C3-FDDFCC7067B4}"/>
                      </a:ext>
                    </a:extLst>
                  </p:cNvPr>
                  <p:cNvSpPr txBox="1"/>
                  <p:nvPr/>
                </p:nvSpPr>
                <p:spPr>
                  <a:xfrm>
                    <a:off x="6715922" y="2950561"/>
                    <a:ext cx="1553126" cy="753231"/>
                  </a:xfrm>
                  <a:prstGeom prst="rect">
                    <a:avLst/>
                  </a:prstGeom>
                  <a:noFill/>
                </p:spPr>
                <p:txBody>
                  <a:bodyPr wrap="square" rtlCol="0">
                    <a:spAutoFit/>
                  </a:bodyPr>
                  <a:lst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a:lstStyle>
                  <a:p>
                    <a:pPr algn="ctr"/>
                    <a:r>
                      <a:rPr lang="en-US" sz="1600" dirty="0">
                        <a:solidFill>
                          <a:schemeClr val="accent6">
                            <a:lumMod val="50000"/>
                          </a:schemeClr>
                        </a:solidFill>
                        <a:latin typeface="Candara" panose="020E0502030303020204" pitchFamily="34" charset="0"/>
                      </a:rPr>
                      <a:t>Alice 98,000 sats (time locked)</a:t>
                    </a:r>
                  </a:p>
                </p:txBody>
              </p:sp>
            </p:grpSp>
            <p:cxnSp>
              <p:nvCxnSpPr>
                <p:cNvPr id="19" name="Straight Connector 18">
                  <a:extLst>
                    <a:ext uri="{FF2B5EF4-FFF2-40B4-BE49-F238E27FC236}">
                      <a16:creationId xmlns:a16="http://schemas.microsoft.com/office/drawing/2014/main" id="{194C48AF-44C4-694A-3CA7-5C438231DDDE}"/>
                    </a:ext>
                  </a:extLst>
                </p:cNvPr>
                <p:cNvCxnSpPr>
                  <a:stCxn id="22" idx="1"/>
                  <a:endCxn id="21" idx="3"/>
                </p:cNvCxnSpPr>
                <p:nvPr/>
              </p:nvCxnSpPr>
              <p:spPr>
                <a:xfrm>
                  <a:off x="6172191" y="3626975"/>
                  <a:ext cx="16601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21">
                  <a:extLst>
                    <a:ext uri="{FF2B5EF4-FFF2-40B4-BE49-F238E27FC236}">
                      <a16:creationId xmlns:a16="http://schemas.microsoft.com/office/drawing/2014/main" id="{A5770AA0-2016-2109-C0F5-BF3119B11CF6}"/>
                    </a:ext>
                  </a:extLst>
                </p:cNvPr>
                <p:cNvSpPr txBox="1"/>
                <p:nvPr/>
              </p:nvSpPr>
              <p:spPr>
                <a:xfrm>
                  <a:off x="6193399" y="3866278"/>
                  <a:ext cx="1634133" cy="1015743"/>
                </a:xfrm>
                <a:prstGeom prst="rect">
                  <a:avLst/>
                </a:prstGeom>
                <a:noFill/>
              </p:spPr>
              <p:txBody>
                <a:bodyPr wrap="square" rtlCol="0">
                  <a:spAutoFit/>
                </a:bodyPr>
                <a:lst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a:lstStyle>
                <a:p>
                  <a:pPr algn="ctr"/>
                  <a:r>
                    <a:rPr lang="en-US" sz="1600" dirty="0">
                      <a:solidFill>
                        <a:srgbClr val="7030A0"/>
                      </a:solidFill>
                      <a:latin typeface="Candara" panose="020E0502030303020204" pitchFamily="34" charset="0"/>
                    </a:rPr>
                    <a:t>Bob 2000 sats </a:t>
                  </a:r>
                </a:p>
                <a:p>
                  <a:pPr algn="ctr"/>
                  <a:r>
                    <a:rPr lang="en-US" sz="1600" dirty="0">
                      <a:solidFill>
                        <a:srgbClr val="7030A0"/>
                      </a:solidFill>
                      <a:latin typeface="Candara" panose="020E0502030303020204" pitchFamily="34" charset="0"/>
                    </a:rPr>
                    <a:t>(no time lock)</a:t>
                  </a:r>
                </a:p>
              </p:txBody>
            </p:sp>
          </p:grpSp>
          <p:grpSp>
            <p:nvGrpSpPr>
              <p:cNvPr id="27" name="Group 26">
                <a:extLst>
                  <a:ext uri="{FF2B5EF4-FFF2-40B4-BE49-F238E27FC236}">
                    <a16:creationId xmlns:a16="http://schemas.microsoft.com/office/drawing/2014/main" id="{58558ECA-30FD-E100-D49D-648B00980528}"/>
                  </a:ext>
                </a:extLst>
              </p:cNvPr>
              <p:cNvGrpSpPr/>
              <p:nvPr/>
            </p:nvGrpSpPr>
            <p:grpSpPr>
              <a:xfrm>
                <a:off x="1664676" y="2441752"/>
                <a:ext cx="4334251" cy="2542556"/>
                <a:chOff x="1879825" y="1165167"/>
                <a:chExt cx="5596739" cy="2624922"/>
              </a:xfrm>
            </p:grpSpPr>
            <p:sp>
              <p:nvSpPr>
                <p:cNvPr id="34" name="Rectangle 33">
                  <a:extLst>
                    <a:ext uri="{FF2B5EF4-FFF2-40B4-BE49-F238E27FC236}">
                      <a16:creationId xmlns:a16="http://schemas.microsoft.com/office/drawing/2014/main" id="{5807472B-B4DF-FCB0-7658-5012BC8B874F}"/>
                    </a:ext>
                  </a:extLst>
                </p:cNvPr>
                <p:cNvSpPr/>
                <p:nvPr/>
              </p:nvSpPr>
              <p:spPr>
                <a:xfrm>
                  <a:off x="4720623" y="1792386"/>
                  <a:ext cx="2364941" cy="160861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ouble Bracket 28">
                  <a:extLst>
                    <a:ext uri="{FF2B5EF4-FFF2-40B4-BE49-F238E27FC236}">
                      <a16:creationId xmlns:a16="http://schemas.microsoft.com/office/drawing/2014/main" id="{029D7715-B34F-7FCF-7A08-394F3B3A6593}"/>
                    </a:ext>
                  </a:extLst>
                </p:cNvPr>
                <p:cNvSpPr/>
                <p:nvPr/>
              </p:nvSpPr>
              <p:spPr>
                <a:xfrm>
                  <a:off x="1879825" y="1165167"/>
                  <a:ext cx="5596739" cy="2624922"/>
                </a:xfrm>
                <a:prstGeom prst="bracketPair">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cxnSp>
          <p:nvCxnSpPr>
            <p:cNvPr id="37" name="Straight Connector 36">
              <a:extLst>
                <a:ext uri="{FF2B5EF4-FFF2-40B4-BE49-F238E27FC236}">
                  <a16:creationId xmlns:a16="http://schemas.microsoft.com/office/drawing/2014/main" id="{C2CB2067-C01A-54AE-A560-ABDF73AFD26E}"/>
                </a:ext>
              </a:extLst>
            </p:cNvPr>
            <p:cNvCxnSpPr/>
            <p:nvPr/>
          </p:nvCxnSpPr>
          <p:spPr>
            <a:xfrm>
              <a:off x="3888396" y="4606892"/>
              <a:ext cx="18261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6E5A6909-BC31-476E-5257-77857D3F1D79}"/>
              </a:ext>
            </a:extLst>
          </p:cNvPr>
          <p:cNvSpPr txBox="1"/>
          <p:nvPr/>
        </p:nvSpPr>
        <p:spPr>
          <a:xfrm>
            <a:off x="519676" y="3691563"/>
            <a:ext cx="2486771" cy="430887"/>
          </a:xfrm>
          <a:prstGeom prst="rect">
            <a:avLst/>
          </a:prstGeom>
          <a:noFill/>
        </p:spPr>
        <p:txBody>
          <a:bodyPr wrap="none" rtlCol="0">
            <a:spAutoFit/>
          </a:bodyPr>
          <a:lstStyle/>
          <a:p>
            <a:r>
              <a:rPr lang="en-US" sz="2200" dirty="0">
                <a:latin typeface="Candara" panose="020E0502030303020204" pitchFamily="34" charset="0"/>
              </a:rPr>
              <a:t>Legacy </a:t>
            </a:r>
            <a:r>
              <a:rPr lang="en-US" sz="2200" dirty="0" err="1">
                <a:latin typeface="Candara" panose="020E0502030303020204" pitchFamily="34" charset="0"/>
              </a:rPr>
              <a:t>Txid</a:t>
            </a:r>
            <a:r>
              <a:rPr lang="en-US" sz="2200" dirty="0">
                <a:latin typeface="Candara" panose="020E0502030303020204" pitchFamily="34" charset="0"/>
              </a:rPr>
              <a:t>  = Hash</a:t>
            </a:r>
          </a:p>
        </p:txBody>
      </p:sp>
    </p:spTree>
    <p:extLst>
      <p:ext uri="{BB962C8B-B14F-4D97-AF65-F5344CB8AC3E}">
        <p14:creationId xmlns:p14="http://schemas.microsoft.com/office/powerpoint/2010/main" val="36478084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A805F-6057-DF6D-A3A5-4FABE7A6D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4723B-7FA3-6BFC-B565-FEF20CE2B358}"/>
              </a:ext>
            </a:extLst>
          </p:cNvPr>
          <p:cNvSpPr>
            <a:spLocks noGrp="1"/>
          </p:cNvSpPr>
          <p:nvPr>
            <p:ph type="title"/>
          </p:nvPr>
        </p:nvSpPr>
        <p:spPr/>
        <p:txBody>
          <a:bodyPr/>
          <a:lstStyle/>
          <a:p>
            <a:r>
              <a:rPr lang="en-US" dirty="0" err="1"/>
              <a:t>SegWit</a:t>
            </a:r>
            <a:r>
              <a:rPr lang="en-US" dirty="0"/>
              <a:t> Solves the Problem</a:t>
            </a:r>
          </a:p>
        </p:txBody>
      </p:sp>
      <p:sp>
        <p:nvSpPr>
          <p:cNvPr id="4" name="Slide Number Placeholder 3">
            <a:extLst>
              <a:ext uri="{FF2B5EF4-FFF2-40B4-BE49-F238E27FC236}">
                <a16:creationId xmlns:a16="http://schemas.microsoft.com/office/drawing/2014/main" id="{575B13A3-272C-1719-9C34-B24E7BFC90C2}"/>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40</a:t>
            </a:fld>
            <a:endParaRPr lang="en-US" dirty="0">
              <a:latin typeface="Candara" panose="020E0502030303020204" pitchFamily="34" charset="0"/>
            </a:endParaRPr>
          </a:p>
        </p:txBody>
      </p:sp>
      <p:sp>
        <p:nvSpPr>
          <p:cNvPr id="8" name="TextBox 7">
            <a:extLst>
              <a:ext uri="{FF2B5EF4-FFF2-40B4-BE49-F238E27FC236}">
                <a16:creationId xmlns:a16="http://schemas.microsoft.com/office/drawing/2014/main" id="{65B61CE6-48ED-4830-3E51-181D22E825E4}"/>
              </a:ext>
            </a:extLst>
          </p:cNvPr>
          <p:cNvSpPr txBox="1"/>
          <p:nvPr/>
        </p:nvSpPr>
        <p:spPr>
          <a:xfrm>
            <a:off x="6345421" y="2682272"/>
            <a:ext cx="5430318" cy="2308324"/>
          </a:xfrm>
          <a:prstGeom prst="rect">
            <a:avLst/>
          </a:prstGeom>
          <a:noFill/>
        </p:spPr>
        <p:txBody>
          <a:bodyPr wrap="square" rtlCol="0">
            <a:spAutoFit/>
          </a:bodyPr>
          <a:lstStyle/>
          <a:p>
            <a:r>
              <a:rPr lang="en-US" dirty="0">
                <a:solidFill>
                  <a:srgbClr val="7030A0"/>
                </a:solidFill>
                <a:latin typeface="Candara" panose="020E0502030303020204" pitchFamily="34" charset="0"/>
              </a:rPr>
              <a:t>Witness field contains the signatures as well as any other spending condition(s) </a:t>
            </a:r>
          </a:p>
          <a:p>
            <a:pPr marL="800100" lvl="1" indent="-342900">
              <a:buFont typeface="Arial" panose="020B0604020202020204" pitchFamily="34" charset="0"/>
              <a:buChar char="•"/>
            </a:pPr>
            <a:r>
              <a:rPr lang="en-US" dirty="0">
                <a:solidFill>
                  <a:srgbClr val="FF0000"/>
                </a:solidFill>
                <a:latin typeface="Candara" panose="020E0502030303020204" pitchFamily="34" charset="0"/>
              </a:rPr>
              <a:t>Not considered part of the </a:t>
            </a:r>
            <a:r>
              <a:rPr lang="en-US" dirty="0" err="1">
                <a:solidFill>
                  <a:srgbClr val="FF0000"/>
                </a:solidFill>
                <a:latin typeface="Candara" panose="020E0502030303020204" pitchFamily="34" charset="0"/>
              </a:rPr>
              <a:t>txn</a:t>
            </a:r>
            <a:r>
              <a:rPr lang="en-US" dirty="0">
                <a:solidFill>
                  <a:srgbClr val="FF0000"/>
                </a:solidFill>
                <a:latin typeface="Candara" panose="020E0502030303020204" pitchFamily="34" charset="0"/>
              </a:rPr>
              <a:t> </a:t>
            </a:r>
            <a:r>
              <a:rPr lang="en-US" dirty="0">
                <a:latin typeface="Candara" panose="020E0502030303020204" pitchFamily="34" charset="0"/>
              </a:rPr>
              <a:t>so not used in computing </a:t>
            </a:r>
            <a:r>
              <a:rPr lang="en-US" dirty="0" err="1">
                <a:latin typeface="Candara" panose="020E0502030303020204" pitchFamily="34" charset="0"/>
              </a:rPr>
              <a:t>Txid</a:t>
            </a:r>
            <a:endParaRPr lang="en-US" dirty="0">
              <a:latin typeface="Candara" panose="020E0502030303020204" pitchFamily="34" charset="0"/>
            </a:endParaRPr>
          </a:p>
          <a:p>
            <a:pPr marL="800100" lvl="1" indent="-342900">
              <a:buFont typeface="Arial" panose="020B0604020202020204" pitchFamily="34" charset="0"/>
              <a:buChar char="•"/>
            </a:pPr>
            <a:r>
              <a:rPr lang="en-US" dirty="0">
                <a:latin typeface="Candara" panose="020E0502030303020204" pitchFamily="34" charset="0"/>
              </a:rPr>
              <a:t>Stored in the block but it is </a:t>
            </a:r>
            <a:r>
              <a:rPr lang="en-US" dirty="0">
                <a:solidFill>
                  <a:srgbClr val="FF0000"/>
                </a:solidFill>
                <a:latin typeface="Candara" panose="020E0502030303020204" pitchFamily="34" charset="0"/>
              </a:rPr>
              <a:t>not committed directly into the Merkel root of </a:t>
            </a:r>
            <a:r>
              <a:rPr lang="en-US" dirty="0" err="1">
                <a:solidFill>
                  <a:srgbClr val="FF0000"/>
                </a:solidFill>
                <a:latin typeface="Candara" panose="020E0502030303020204" pitchFamily="34" charset="0"/>
              </a:rPr>
              <a:t>Txids</a:t>
            </a:r>
            <a:r>
              <a:rPr lang="en-US" dirty="0">
                <a:solidFill>
                  <a:srgbClr val="FF0000"/>
                </a:solidFill>
                <a:latin typeface="Candara" panose="020E0502030303020204" pitchFamily="34" charset="0"/>
              </a:rPr>
              <a:t> in the block header </a:t>
            </a:r>
          </a:p>
          <a:p>
            <a:pPr marL="342900" indent="-342900">
              <a:buFont typeface="Arial" panose="020B0604020202020204" pitchFamily="34" charset="0"/>
              <a:buChar char="•"/>
            </a:pPr>
            <a:r>
              <a:rPr lang="en-US" dirty="0" err="1">
                <a:solidFill>
                  <a:srgbClr val="FF0000"/>
                </a:solidFill>
                <a:latin typeface="Candara" panose="020E0502030303020204" pitchFamily="34" charset="0"/>
              </a:rPr>
              <a:t>scriptPubKey</a:t>
            </a:r>
            <a:r>
              <a:rPr lang="en-US" dirty="0">
                <a:solidFill>
                  <a:srgbClr val="FF0000"/>
                </a:solidFill>
                <a:latin typeface="Candara" panose="020E0502030303020204" pitchFamily="34" charset="0"/>
              </a:rPr>
              <a:t> is treated as a witness program </a:t>
            </a:r>
          </a:p>
        </p:txBody>
      </p:sp>
      <p:sp>
        <p:nvSpPr>
          <p:cNvPr id="16" name="Rectangle 15">
            <a:extLst>
              <a:ext uri="{FF2B5EF4-FFF2-40B4-BE49-F238E27FC236}">
                <a16:creationId xmlns:a16="http://schemas.microsoft.com/office/drawing/2014/main" id="{2E607F75-A460-E0DC-D93B-BCADCCC353C0}"/>
              </a:ext>
            </a:extLst>
          </p:cNvPr>
          <p:cNvSpPr/>
          <p:nvPr/>
        </p:nvSpPr>
        <p:spPr>
          <a:xfrm>
            <a:off x="2267242" y="3831407"/>
            <a:ext cx="3579339" cy="63990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a:t>
            </a:r>
          </a:p>
          <a:p>
            <a:pPr algn="ctr"/>
            <a:r>
              <a:rPr lang="en-US" sz="2000" dirty="0">
                <a:solidFill>
                  <a:schemeClr val="tx1"/>
                </a:solidFill>
                <a:latin typeface="Candara" panose="020E0502030303020204" pitchFamily="34" charset="0"/>
              </a:rPr>
              <a:t>&lt;signature&gt; &lt;--&gt;</a:t>
            </a:r>
          </a:p>
        </p:txBody>
      </p:sp>
      <p:sp>
        <p:nvSpPr>
          <p:cNvPr id="11" name="TextBox 10">
            <a:extLst>
              <a:ext uri="{FF2B5EF4-FFF2-40B4-BE49-F238E27FC236}">
                <a16:creationId xmlns:a16="http://schemas.microsoft.com/office/drawing/2014/main" id="{0919279D-A966-8316-21E3-7CB1CA9F61CB}"/>
              </a:ext>
            </a:extLst>
          </p:cNvPr>
          <p:cNvSpPr txBox="1"/>
          <p:nvPr/>
        </p:nvSpPr>
        <p:spPr>
          <a:xfrm>
            <a:off x="373035" y="2295314"/>
            <a:ext cx="1357679" cy="400110"/>
          </a:xfrm>
          <a:prstGeom prst="rect">
            <a:avLst/>
          </a:prstGeom>
          <a:noFill/>
        </p:spPr>
        <p:txBody>
          <a:bodyPr wrap="none" rtlCol="0">
            <a:spAutoFit/>
          </a:bodyPr>
          <a:lstStyle/>
          <a:p>
            <a:r>
              <a:rPr lang="en-US" sz="2000" dirty="0" err="1">
                <a:latin typeface="Candara" panose="020E0502030303020204" pitchFamily="34" charset="0"/>
              </a:rPr>
              <a:t>Txid</a:t>
            </a:r>
            <a:r>
              <a:rPr lang="en-US" sz="2000" dirty="0">
                <a:latin typeface="Candara" panose="020E0502030303020204" pitchFamily="34" charset="0"/>
              </a:rPr>
              <a:t>= Hash</a:t>
            </a:r>
          </a:p>
        </p:txBody>
      </p:sp>
      <p:sp>
        <p:nvSpPr>
          <p:cNvPr id="21" name="TextBox 20">
            <a:extLst>
              <a:ext uri="{FF2B5EF4-FFF2-40B4-BE49-F238E27FC236}">
                <a16:creationId xmlns:a16="http://schemas.microsoft.com/office/drawing/2014/main" id="{75EF5E5D-80D6-E29C-CF7B-6E9C0AA73A4A}"/>
              </a:ext>
            </a:extLst>
          </p:cNvPr>
          <p:cNvSpPr txBox="1"/>
          <p:nvPr/>
        </p:nvSpPr>
        <p:spPr>
          <a:xfrm>
            <a:off x="7664827" y="1157159"/>
            <a:ext cx="3141576" cy="400110"/>
          </a:xfrm>
          <a:prstGeom prst="rect">
            <a:avLst/>
          </a:prstGeom>
          <a:noFill/>
        </p:spPr>
        <p:txBody>
          <a:bodyPr wrap="square" rtlCol="0">
            <a:spAutoFit/>
          </a:bodyPr>
          <a:lstStyle/>
          <a:p>
            <a:pPr algn="ctr"/>
            <a:r>
              <a:rPr lang="en-US" sz="2000" dirty="0" err="1">
                <a:latin typeface="Candara" panose="020E0502030303020204" pitchFamily="34" charset="0"/>
              </a:rPr>
              <a:t>Txid</a:t>
            </a:r>
            <a:r>
              <a:rPr lang="en-US" sz="2000" dirty="0">
                <a:latin typeface="Candara" panose="020E0502030303020204" pitchFamily="34" charset="0"/>
              </a:rPr>
              <a:t>=SHA256(SHA256(….)) </a:t>
            </a:r>
          </a:p>
        </p:txBody>
      </p:sp>
      <p:sp>
        <p:nvSpPr>
          <p:cNvPr id="23" name="TextBox 22">
            <a:extLst>
              <a:ext uri="{FF2B5EF4-FFF2-40B4-BE49-F238E27FC236}">
                <a16:creationId xmlns:a16="http://schemas.microsoft.com/office/drawing/2014/main" id="{AA295376-9EF9-8997-C9CD-06C70D3C0657}"/>
              </a:ext>
            </a:extLst>
          </p:cNvPr>
          <p:cNvSpPr txBox="1"/>
          <p:nvPr/>
        </p:nvSpPr>
        <p:spPr>
          <a:xfrm>
            <a:off x="7133556" y="1733460"/>
            <a:ext cx="4181295" cy="707886"/>
          </a:xfrm>
          <a:prstGeom prst="rect">
            <a:avLst/>
          </a:prstGeom>
          <a:noFill/>
        </p:spPr>
        <p:txBody>
          <a:bodyPr wrap="square" rtlCol="0">
            <a:spAutoFit/>
          </a:bodyPr>
          <a:lstStyle/>
          <a:p>
            <a:pPr algn="ctr"/>
            <a:r>
              <a:rPr lang="en-US" sz="2000" dirty="0" err="1">
                <a:latin typeface="Candara" panose="020E0502030303020204" pitchFamily="34" charset="0"/>
              </a:rPr>
              <a:t>Txid</a:t>
            </a:r>
            <a:r>
              <a:rPr lang="en-US" sz="2000" dirty="0">
                <a:latin typeface="Candara" panose="020E0502030303020204" pitchFamily="34" charset="0"/>
              </a:rPr>
              <a:t> </a:t>
            </a:r>
            <a:r>
              <a:rPr lang="en-US" sz="2000" i="1" dirty="0">
                <a:latin typeface="Candara" panose="020E0502030303020204" pitchFamily="34" charset="0"/>
              </a:rPr>
              <a:t>cannot</a:t>
            </a:r>
            <a:r>
              <a:rPr lang="en-US" sz="2000" dirty="0">
                <a:latin typeface="Candara" panose="020E0502030303020204" pitchFamily="34" charset="0"/>
              </a:rPr>
              <a:t> be malleated because </a:t>
            </a:r>
            <a:r>
              <a:rPr lang="en-US" sz="2000" dirty="0" err="1">
                <a:latin typeface="Candara" panose="020E0502030303020204" pitchFamily="34" charset="0"/>
              </a:rPr>
              <a:t>scriptSig</a:t>
            </a:r>
            <a:r>
              <a:rPr lang="en-US" sz="2000" dirty="0">
                <a:latin typeface="Candara" panose="020E0502030303020204" pitchFamily="34" charset="0"/>
              </a:rPr>
              <a:t> is kept empty</a:t>
            </a:r>
          </a:p>
        </p:txBody>
      </p:sp>
      <p:grpSp>
        <p:nvGrpSpPr>
          <p:cNvPr id="5" name="Group 4">
            <a:extLst>
              <a:ext uri="{FF2B5EF4-FFF2-40B4-BE49-F238E27FC236}">
                <a16:creationId xmlns:a16="http://schemas.microsoft.com/office/drawing/2014/main" id="{2A9A0123-6121-4DDD-1DF4-5ABD2D0CD2AF}"/>
              </a:ext>
            </a:extLst>
          </p:cNvPr>
          <p:cNvGrpSpPr/>
          <p:nvPr/>
        </p:nvGrpSpPr>
        <p:grpSpPr>
          <a:xfrm>
            <a:off x="1820034" y="1119061"/>
            <a:ext cx="4356695" cy="2624922"/>
            <a:chOff x="2806758" y="1150848"/>
            <a:chExt cx="5271600" cy="2624922"/>
          </a:xfrm>
        </p:grpSpPr>
        <p:grpSp>
          <p:nvGrpSpPr>
            <p:cNvPr id="22" name="Group 21">
              <a:extLst>
                <a:ext uri="{FF2B5EF4-FFF2-40B4-BE49-F238E27FC236}">
                  <a16:creationId xmlns:a16="http://schemas.microsoft.com/office/drawing/2014/main" id="{7A0E3B10-C8FC-EC55-1789-82097AB5E144}"/>
                </a:ext>
              </a:extLst>
            </p:cNvPr>
            <p:cNvGrpSpPr/>
            <p:nvPr/>
          </p:nvGrpSpPr>
          <p:grpSpPr>
            <a:xfrm>
              <a:off x="2806758" y="1150848"/>
              <a:ext cx="5271600" cy="2624922"/>
              <a:chOff x="1879825" y="1165167"/>
              <a:chExt cx="5596739" cy="2624922"/>
            </a:xfrm>
          </p:grpSpPr>
          <p:grpSp>
            <p:nvGrpSpPr>
              <p:cNvPr id="18" name="Group 17">
                <a:extLst>
                  <a:ext uri="{FF2B5EF4-FFF2-40B4-BE49-F238E27FC236}">
                    <a16:creationId xmlns:a16="http://schemas.microsoft.com/office/drawing/2014/main" id="{63DEB7A1-09A6-2A66-C2C4-ECA32DE3B9CA}"/>
                  </a:ext>
                </a:extLst>
              </p:cNvPr>
              <p:cNvGrpSpPr/>
              <p:nvPr/>
            </p:nvGrpSpPr>
            <p:grpSpPr>
              <a:xfrm>
                <a:off x="2134721" y="1378322"/>
                <a:ext cx="5057938" cy="2150263"/>
                <a:chOff x="805543" y="3039909"/>
                <a:chExt cx="5057939" cy="2150263"/>
              </a:xfrm>
              <a:noFill/>
            </p:grpSpPr>
            <p:sp>
              <p:nvSpPr>
                <p:cNvPr id="17" name="Rectangle 16">
                  <a:extLst>
                    <a:ext uri="{FF2B5EF4-FFF2-40B4-BE49-F238E27FC236}">
                      <a16:creationId xmlns:a16="http://schemas.microsoft.com/office/drawing/2014/main" id="{DB1A88E1-6876-CB6B-D8CC-9209DA9405B8}"/>
                    </a:ext>
                  </a:extLst>
                </p:cNvPr>
                <p:cNvSpPr/>
                <p:nvPr/>
              </p:nvSpPr>
              <p:spPr>
                <a:xfrm>
                  <a:off x="805543" y="3039909"/>
                  <a:ext cx="5057939" cy="2119920"/>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latin typeface="Candara" panose="020E0502030303020204" pitchFamily="34" charset="0"/>
                  </a:endParaRPr>
                </a:p>
              </p:txBody>
            </p:sp>
            <p:sp>
              <p:nvSpPr>
                <p:cNvPr id="12" name="Rectangle 11">
                  <a:extLst>
                    <a:ext uri="{FF2B5EF4-FFF2-40B4-BE49-F238E27FC236}">
                      <a16:creationId xmlns:a16="http://schemas.microsoft.com/office/drawing/2014/main" id="{0D63E1DD-6415-76FE-5992-049B5FB980D5}"/>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3" name="Rectangle 12">
                  <a:extLst>
                    <a:ext uri="{FF2B5EF4-FFF2-40B4-BE49-F238E27FC236}">
                      <a16:creationId xmlns:a16="http://schemas.microsoft.com/office/drawing/2014/main" id="{173501B0-6008-85CB-6F5C-2C2FAB34A85C}"/>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4" name="TextBox 13">
                  <a:extLst>
                    <a:ext uri="{FF2B5EF4-FFF2-40B4-BE49-F238E27FC236}">
                      <a16:creationId xmlns:a16="http://schemas.microsoft.com/office/drawing/2014/main" id="{26E73AD3-8D2C-36DB-1CE8-C090BFAE0DE3}"/>
                    </a:ext>
                  </a:extLst>
                </p:cNvPr>
                <p:cNvSpPr txBox="1"/>
                <p:nvPr/>
              </p:nvSpPr>
              <p:spPr>
                <a:xfrm>
                  <a:off x="1083540" y="3728246"/>
                  <a:ext cx="2139943" cy="1200329"/>
                </a:xfrm>
                <a:prstGeom prst="rect">
                  <a:avLst/>
                </a:prstGeom>
                <a:grpFill/>
              </p:spPr>
              <p:txBody>
                <a:bodyPr wrap="square" rtlCol="0">
                  <a:spAutoFit/>
                </a:bodyPr>
                <a:lstStyle/>
                <a:p>
                  <a:pPr algn="ctr"/>
                  <a:r>
                    <a:rPr lang="en-US" dirty="0">
                      <a:solidFill>
                        <a:schemeClr val="bg1"/>
                      </a:solidFill>
                      <a:latin typeface="Candara" panose="020E0502030303020204" pitchFamily="34" charset="0"/>
                    </a:rPr>
                    <a:t>Prev </a:t>
                  </a:r>
                  <a:r>
                    <a:rPr lang="en-US" dirty="0" err="1">
                      <a:solidFill>
                        <a:schemeClr val="bg1"/>
                      </a:solidFill>
                      <a:latin typeface="Candara" panose="020E0502030303020204" pitchFamily="34" charset="0"/>
                    </a:rPr>
                    <a:t>Txid</a:t>
                  </a:r>
                  <a:endParaRPr lang="en-US" dirty="0">
                    <a:solidFill>
                      <a:schemeClr val="bg1"/>
                    </a:solidFill>
                    <a:latin typeface="Candara" panose="020E0502030303020204" pitchFamily="34" charset="0"/>
                  </a:endParaRPr>
                </a:p>
                <a:p>
                  <a:pPr algn="ctr"/>
                  <a:r>
                    <a:rPr lang="en-US" dirty="0" err="1">
                      <a:solidFill>
                        <a:schemeClr val="bg1"/>
                      </a:solidFill>
                      <a:latin typeface="Candara" panose="020E0502030303020204" pitchFamily="34" charset="0"/>
                    </a:rPr>
                    <a:t>Idx</a:t>
                  </a:r>
                  <a:endParaRPr lang="en-US" dirty="0">
                    <a:solidFill>
                      <a:schemeClr val="bg1"/>
                    </a:solidFill>
                    <a:latin typeface="Candara" panose="020E0502030303020204" pitchFamily="34" charset="0"/>
                  </a:endParaRPr>
                </a:p>
                <a:p>
                  <a:pPr algn="ctr"/>
                  <a:r>
                    <a:rPr lang="en-US" dirty="0">
                      <a:solidFill>
                        <a:schemeClr val="bg1"/>
                      </a:solidFill>
                      <a:latin typeface="Candara" panose="020E0502030303020204" pitchFamily="34" charset="0"/>
                    </a:rPr>
                    <a:t>&lt;</a:t>
                  </a:r>
                  <a:r>
                    <a:rPr lang="en-US" dirty="0" err="1">
                      <a:solidFill>
                        <a:schemeClr val="bg1"/>
                      </a:solidFill>
                      <a:latin typeface="Candara" panose="020E0502030303020204" pitchFamily="34" charset="0"/>
                    </a:rPr>
                    <a:t>scriptSig</a:t>
                  </a:r>
                  <a:r>
                    <a:rPr lang="en-US" dirty="0">
                      <a:solidFill>
                        <a:schemeClr val="bg1"/>
                      </a:solidFill>
                      <a:latin typeface="Candara" panose="020E0502030303020204" pitchFamily="34" charset="0"/>
                    </a:rPr>
                    <a:t>&gt; = empty</a:t>
                  </a:r>
                </a:p>
              </p:txBody>
            </p:sp>
            <p:sp>
              <p:nvSpPr>
                <p:cNvPr id="15" name="TextBox 14">
                  <a:extLst>
                    <a:ext uri="{FF2B5EF4-FFF2-40B4-BE49-F238E27FC236}">
                      <a16:creationId xmlns:a16="http://schemas.microsoft.com/office/drawing/2014/main" id="{AF1C7BD7-16A2-C227-6A91-54D53FB1F442}"/>
                    </a:ext>
                  </a:extLst>
                </p:cNvPr>
                <p:cNvSpPr txBox="1"/>
                <p:nvPr/>
              </p:nvSpPr>
              <p:spPr>
                <a:xfrm>
                  <a:off x="3503946" y="3712844"/>
                  <a:ext cx="2139943" cy="1477328"/>
                </a:xfrm>
                <a:prstGeom prst="rect">
                  <a:avLst/>
                </a:prstGeom>
                <a:grpFill/>
              </p:spPr>
              <p:txBody>
                <a:bodyPr wrap="square" rtlCol="0">
                  <a:spAutoFit/>
                </a:bodyPr>
                <a:lstStyle/>
                <a:p>
                  <a:pPr algn="ctr"/>
                  <a:r>
                    <a:rPr lang="en-US" dirty="0">
                      <a:solidFill>
                        <a:schemeClr val="bg1"/>
                      </a:solidFill>
                      <a:latin typeface="Candara" panose="020E0502030303020204" pitchFamily="34" charset="0"/>
                    </a:rPr>
                    <a:t>Value </a:t>
                  </a:r>
                </a:p>
                <a:p>
                  <a:pPr algn="ctr"/>
                  <a:endParaRPr lang="en-US" dirty="0">
                    <a:solidFill>
                      <a:schemeClr val="bg1"/>
                    </a:solidFill>
                    <a:latin typeface="Candara" panose="020E0502030303020204" pitchFamily="34" charset="0"/>
                  </a:endParaRPr>
                </a:p>
                <a:p>
                  <a:pPr algn="ctr"/>
                  <a:r>
                    <a:rPr lang="en-US" dirty="0" err="1">
                      <a:solidFill>
                        <a:schemeClr val="bg1"/>
                      </a:solidFill>
                      <a:latin typeface="Candara" panose="020E0502030303020204" pitchFamily="34" charset="0"/>
                    </a:rPr>
                    <a:t>scriptPubKey</a:t>
                  </a:r>
                  <a:r>
                    <a:rPr lang="en-US" dirty="0">
                      <a:solidFill>
                        <a:schemeClr val="bg1"/>
                      </a:solidFill>
                      <a:latin typeface="Candara" panose="020E0502030303020204" pitchFamily="34" charset="0"/>
                    </a:rPr>
                    <a:t> =</a:t>
                  </a:r>
                </a:p>
                <a:p>
                  <a:pPr algn="ctr"/>
                  <a:r>
                    <a:rPr lang="en-US" dirty="0">
                      <a:solidFill>
                        <a:schemeClr val="bg1"/>
                      </a:solidFill>
                      <a:latin typeface="Candara" panose="020E0502030303020204" pitchFamily="34" charset="0"/>
                    </a:rPr>
                    <a:t>OP_0 &lt;</a:t>
                  </a:r>
                  <a:r>
                    <a:rPr lang="en-US" dirty="0" err="1">
                      <a:solidFill>
                        <a:schemeClr val="bg1"/>
                      </a:solidFill>
                      <a:latin typeface="Candara" panose="020E0502030303020204" pitchFamily="34" charset="0"/>
                    </a:rPr>
                    <a:t>pkh</a:t>
                  </a:r>
                  <a:r>
                    <a:rPr lang="en-US" dirty="0">
                      <a:solidFill>
                        <a:schemeClr val="bg1"/>
                      </a:solidFill>
                      <a:latin typeface="Candara" panose="020E0502030303020204" pitchFamily="34" charset="0"/>
                    </a:rPr>
                    <a:t>&gt;</a:t>
                  </a:r>
                </a:p>
                <a:p>
                  <a:pPr algn="ctr"/>
                  <a:endParaRPr lang="en-US" dirty="0">
                    <a:latin typeface="Candara" panose="020E0502030303020204" pitchFamily="34" charset="0"/>
                  </a:endParaRPr>
                </a:p>
              </p:txBody>
            </p:sp>
          </p:grpSp>
          <p:sp>
            <p:nvSpPr>
              <p:cNvPr id="20" name="Double Bracket 19">
                <a:extLst>
                  <a:ext uri="{FF2B5EF4-FFF2-40B4-BE49-F238E27FC236}">
                    <a16:creationId xmlns:a16="http://schemas.microsoft.com/office/drawing/2014/main" id="{0538305B-664E-2252-A466-A90407D90CEF}"/>
                  </a:ext>
                </a:extLst>
              </p:cNvPr>
              <p:cNvSpPr/>
              <p:nvPr/>
            </p:nvSpPr>
            <p:spPr>
              <a:xfrm>
                <a:off x="1879825" y="1165167"/>
                <a:ext cx="5596739" cy="2624922"/>
              </a:xfrm>
              <a:prstGeom prst="bracketPair">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Candara" panose="020E0502030303020204" pitchFamily="34" charset="0"/>
                </a:endParaRPr>
              </a:p>
            </p:txBody>
          </p:sp>
        </p:grpSp>
        <p:sp>
          <p:nvSpPr>
            <p:cNvPr id="3" name="Rectangle 2">
              <a:extLst>
                <a:ext uri="{FF2B5EF4-FFF2-40B4-BE49-F238E27FC236}">
                  <a16:creationId xmlns:a16="http://schemas.microsoft.com/office/drawing/2014/main" id="{1558A17E-D343-FDAE-2572-F876DBE4C1AB}"/>
                </a:ext>
              </a:extLst>
            </p:cNvPr>
            <p:cNvSpPr/>
            <p:nvPr/>
          </p:nvSpPr>
          <p:spPr>
            <a:xfrm>
              <a:off x="3046846" y="134099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6" name="TextBox 5">
            <a:extLst>
              <a:ext uri="{FF2B5EF4-FFF2-40B4-BE49-F238E27FC236}">
                <a16:creationId xmlns:a16="http://schemas.microsoft.com/office/drawing/2014/main" id="{72ABF63A-8DBA-68A5-F3BA-6669B6E0866B}"/>
              </a:ext>
            </a:extLst>
          </p:cNvPr>
          <p:cNvSpPr txBox="1"/>
          <p:nvPr/>
        </p:nvSpPr>
        <p:spPr>
          <a:xfrm>
            <a:off x="614680" y="5211997"/>
            <a:ext cx="10962639"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In our payment channel, to assign blame, Bob creates C1a for Alice and provides the signatures separately </a:t>
            </a:r>
          </a:p>
          <a:p>
            <a:pPr marL="342900" indent="-342900">
              <a:buFont typeface="Arial" panose="020B0604020202020204" pitchFamily="34" charset="0"/>
              <a:buChar char="•"/>
            </a:pPr>
            <a:r>
              <a:rPr lang="en-US" sz="2000" dirty="0">
                <a:latin typeface="Candara" panose="020E0502030303020204" pitchFamily="34" charset="0"/>
              </a:rPr>
              <a:t>Removing signatures form the input allows Bob to know the </a:t>
            </a:r>
            <a:r>
              <a:rPr lang="en-US" sz="2000" dirty="0" err="1">
                <a:latin typeface="Candara" panose="020E0502030303020204" pitchFamily="34" charset="0"/>
              </a:rPr>
              <a:t>Txid</a:t>
            </a:r>
            <a:r>
              <a:rPr lang="en-US" sz="2000" dirty="0">
                <a:latin typeface="Candara" panose="020E0502030303020204" pitchFamily="34" charset="0"/>
              </a:rPr>
              <a:t> before Alice even signs it  </a:t>
            </a:r>
          </a:p>
          <a:p>
            <a:pPr marL="342900" indent="-342900">
              <a:buFont typeface="Arial" panose="020B0604020202020204" pitchFamily="34" charset="0"/>
              <a:buChar char="•"/>
            </a:pPr>
            <a:r>
              <a:rPr lang="en-US" sz="2000" dirty="0">
                <a:latin typeface="Candara" panose="020E0502030303020204" pitchFamily="34" charset="0"/>
              </a:rPr>
              <a:t>Bob can safely link his child transactions to Alice’s commitment transactions </a:t>
            </a:r>
          </a:p>
        </p:txBody>
      </p:sp>
    </p:spTree>
    <p:extLst>
      <p:ext uri="{BB962C8B-B14F-4D97-AF65-F5344CB8AC3E}">
        <p14:creationId xmlns:p14="http://schemas.microsoft.com/office/powerpoint/2010/main" val="141914549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animBg="1"/>
      <p:bldP spid="21"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B2781-E35C-DA6A-43D3-1EA3A9B57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4EE5C-F3DB-8BA0-48DA-C6C935E3C78C}"/>
              </a:ext>
            </a:extLst>
          </p:cNvPr>
          <p:cNvSpPr>
            <a:spLocks noGrp="1"/>
          </p:cNvSpPr>
          <p:nvPr>
            <p:ph type="title"/>
          </p:nvPr>
        </p:nvSpPr>
        <p:spPr/>
        <p:txBody>
          <a:bodyPr/>
          <a:lstStyle/>
          <a:p>
            <a:r>
              <a:rPr lang="en-PK" dirty="0">
                <a:latin typeface="+mn-lt"/>
              </a:rPr>
              <a:t>Lecture </a:t>
            </a:r>
            <a:r>
              <a:rPr lang="en-US" dirty="0">
                <a:latin typeface="+mn-lt"/>
              </a:rPr>
              <a:t>16</a:t>
            </a:r>
            <a:br>
              <a:rPr lang="en-PK" dirty="0">
                <a:latin typeface="+mn-lt"/>
              </a:rPr>
            </a:br>
            <a:r>
              <a:rPr lang="en-US" dirty="0">
                <a:latin typeface="+mn-lt"/>
              </a:rPr>
              <a:t>Thursday</a:t>
            </a:r>
            <a:r>
              <a:rPr lang="en-PK" dirty="0">
                <a:latin typeface="+mn-lt"/>
              </a:rPr>
              <a:t>, </a:t>
            </a:r>
            <a:r>
              <a:rPr lang="en-US" dirty="0">
                <a:latin typeface="+mn-lt"/>
              </a:rPr>
              <a:t>Mar</a:t>
            </a:r>
            <a:r>
              <a:rPr lang="en-PK" dirty="0">
                <a:latin typeface="+mn-lt"/>
              </a:rPr>
              <a:t> </a:t>
            </a:r>
            <a:r>
              <a:rPr lang="en-US" dirty="0">
                <a:latin typeface="+mn-lt"/>
              </a:rPr>
              <a:t>26</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24F72AD8-8F94-CBD8-22F4-FDED3E839C80}"/>
              </a:ext>
            </a:extLst>
          </p:cNvPr>
          <p:cNvSpPr>
            <a:spLocks noGrp="1"/>
          </p:cNvSpPr>
          <p:nvPr>
            <p:ph type="sldNum" sz="quarter" idx="12"/>
          </p:nvPr>
        </p:nvSpPr>
        <p:spPr/>
        <p:txBody>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4202815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D3155-F209-0133-CCC9-4F849EF28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D02DE-BAA8-7CCA-3CBE-CC8333ACE636}"/>
              </a:ext>
            </a:extLst>
          </p:cNvPr>
          <p:cNvSpPr>
            <a:spLocks noGrp="1"/>
          </p:cNvSpPr>
          <p:nvPr>
            <p:ph type="title"/>
          </p:nvPr>
        </p:nvSpPr>
        <p:spPr/>
        <p:txBody>
          <a:bodyPr/>
          <a:lstStyle/>
          <a:p>
            <a:r>
              <a:rPr lang="en-US" dirty="0"/>
              <a:t>P2WPKH</a:t>
            </a:r>
          </a:p>
        </p:txBody>
      </p:sp>
      <p:sp>
        <p:nvSpPr>
          <p:cNvPr id="4" name="Slide Number Placeholder 3">
            <a:extLst>
              <a:ext uri="{FF2B5EF4-FFF2-40B4-BE49-F238E27FC236}">
                <a16:creationId xmlns:a16="http://schemas.microsoft.com/office/drawing/2014/main" id="{678D8B8A-A123-FE3F-B79B-681C96CD15FC}"/>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42</a:t>
            </a:fld>
            <a:endParaRPr lang="en-US" dirty="0">
              <a:latin typeface="Candara" panose="020E0502030303020204" pitchFamily="34" charset="0"/>
            </a:endParaRPr>
          </a:p>
        </p:txBody>
      </p:sp>
      <p:sp>
        <p:nvSpPr>
          <p:cNvPr id="3" name="TextBox 2">
            <a:extLst>
              <a:ext uri="{FF2B5EF4-FFF2-40B4-BE49-F238E27FC236}">
                <a16:creationId xmlns:a16="http://schemas.microsoft.com/office/drawing/2014/main" id="{002F47F1-8CF8-6D09-D645-3F383BBCD368}"/>
              </a:ext>
            </a:extLst>
          </p:cNvPr>
          <p:cNvSpPr txBox="1"/>
          <p:nvPr/>
        </p:nvSpPr>
        <p:spPr>
          <a:xfrm>
            <a:off x="1768858" y="1025391"/>
            <a:ext cx="8049165" cy="1323439"/>
          </a:xfrm>
          <a:prstGeom prst="rect">
            <a:avLst/>
          </a:prstGeom>
          <a:noFill/>
        </p:spPr>
        <p:txBody>
          <a:bodyPr wrap="square" rtlCol="0">
            <a:spAutoFit/>
          </a:bodyPr>
          <a:lstStyle/>
          <a:p>
            <a:pPr algn="ctr"/>
            <a:r>
              <a:rPr lang="en-US" sz="2000" u="sng" dirty="0">
                <a:latin typeface="Candara" panose="020E0502030303020204" pitchFamily="34" charset="0"/>
              </a:rPr>
              <a:t>P2WPKH (Pay-to-Witness-Public-Key-Hash)</a:t>
            </a:r>
          </a:p>
          <a:p>
            <a:pPr marL="800089" lvl="1" indent="-342900">
              <a:buFont typeface="Arial" panose="020B0604020202020204" pitchFamily="34" charset="0"/>
              <a:buChar char="•"/>
            </a:pPr>
            <a:r>
              <a:rPr lang="en-US" sz="2000" dirty="0">
                <a:solidFill>
                  <a:srgbClr val="24469D"/>
                </a:solidFill>
                <a:latin typeface="Candara" panose="020E0502030303020204" pitchFamily="34" charset="0"/>
              </a:rPr>
              <a:t>Output (parent </a:t>
            </a:r>
            <a:r>
              <a:rPr lang="en-US" sz="2000" dirty="0" err="1">
                <a:solidFill>
                  <a:srgbClr val="24469D"/>
                </a:solidFill>
                <a:latin typeface="Candara" panose="020E0502030303020204" pitchFamily="34" charset="0"/>
              </a:rPr>
              <a:t>txn</a:t>
            </a:r>
            <a:r>
              <a:rPr lang="en-US" sz="2000" dirty="0">
                <a:solidFill>
                  <a:srgbClr val="24469D"/>
                </a:solidFill>
                <a:latin typeface="Candara" panose="020E0502030303020204" pitchFamily="34" charset="0"/>
              </a:rPr>
              <a:t>): &lt;</a:t>
            </a:r>
            <a:r>
              <a:rPr lang="en-US" sz="2000" dirty="0" err="1">
                <a:solidFill>
                  <a:srgbClr val="24469D"/>
                </a:solidFill>
                <a:latin typeface="Candara" panose="020E0502030303020204" pitchFamily="34" charset="0"/>
              </a:rPr>
              <a:t>scriptPubKey</a:t>
            </a:r>
            <a:r>
              <a:rPr lang="en-US" sz="2000" dirty="0">
                <a:solidFill>
                  <a:srgbClr val="24469D"/>
                </a:solidFill>
                <a:latin typeface="Candara" panose="020E0502030303020204" pitchFamily="34" charset="0"/>
              </a:rPr>
              <a:t>&gt; = OP_0 </a:t>
            </a:r>
            <a:r>
              <a:rPr lang="en-US" sz="2000" dirty="0">
                <a:solidFill>
                  <a:srgbClr val="FF0000"/>
                </a:solidFill>
                <a:latin typeface="Candara" panose="020E0502030303020204" pitchFamily="34" charset="0"/>
              </a:rPr>
              <a:t>&lt;</a:t>
            </a:r>
            <a:r>
              <a:rPr lang="en-US" sz="2000" dirty="0" err="1">
                <a:solidFill>
                  <a:srgbClr val="FF0000"/>
                </a:solidFill>
                <a:latin typeface="Candara" panose="020E0502030303020204" pitchFamily="34" charset="0"/>
              </a:rPr>
              <a:t>wpkh</a:t>
            </a:r>
            <a:r>
              <a:rPr lang="en-US" sz="2000" dirty="0">
                <a:solidFill>
                  <a:srgbClr val="FF0000"/>
                </a:solidFill>
                <a:latin typeface="Candara" panose="020E0502030303020204" pitchFamily="34" charset="0"/>
              </a:rPr>
              <a:t>&gt;</a:t>
            </a:r>
          </a:p>
          <a:p>
            <a:pPr marL="800089" lvl="1" indent="-342900">
              <a:buFont typeface="Arial" panose="020B0604020202020204" pitchFamily="34" charset="0"/>
              <a:buChar char="•"/>
            </a:pPr>
            <a:r>
              <a:rPr lang="en-US" sz="2000" dirty="0">
                <a:solidFill>
                  <a:srgbClr val="24469D"/>
                </a:solidFill>
                <a:latin typeface="Candara" panose="020E0502030303020204" pitchFamily="34" charset="0"/>
              </a:rPr>
              <a:t>Input (child </a:t>
            </a:r>
            <a:r>
              <a:rPr lang="en-US" sz="2000" dirty="0" err="1">
                <a:solidFill>
                  <a:srgbClr val="24469D"/>
                </a:solidFill>
                <a:latin typeface="Candara" panose="020E0502030303020204" pitchFamily="34" charset="0"/>
              </a:rPr>
              <a:t>txn</a:t>
            </a:r>
            <a:r>
              <a:rPr lang="en-US" sz="2000" dirty="0">
                <a:solidFill>
                  <a:srgbClr val="24469D"/>
                </a:solidFill>
                <a:latin typeface="Candara" panose="020E0502030303020204" pitchFamily="34" charset="0"/>
              </a:rPr>
              <a:t>): &lt;</a:t>
            </a:r>
            <a:r>
              <a:rPr lang="en-US" sz="2000" dirty="0" err="1">
                <a:solidFill>
                  <a:srgbClr val="24469D"/>
                </a:solidFill>
                <a:latin typeface="Candara" panose="020E0502030303020204" pitchFamily="34" charset="0"/>
              </a:rPr>
              <a:t>scriptsig</a:t>
            </a:r>
            <a:r>
              <a:rPr lang="en-US" sz="2000" dirty="0">
                <a:solidFill>
                  <a:srgbClr val="24469D"/>
                </a:solidFill>
                <a:latin typeface="Candara" panose="020E0502030303020204" pitchFamily="34" charset="0"/>
              </a:rPr>
              <a:t>&gt; = empty </a:t>
            </a:r>
          </a:p>
          <a:p>
            <a:pPr marL="800089" lvl="1" indent="-342900">
              <a:buFont typeface="Arial" panose="020B0604020202020204" pitchFamily="34" charset="0"/>
              <a:buChar char="•"/>
            </a:pPr>
            <a:r>
              <a:rPr lang="en-US" sz="2000" dirty="0">
                <a:solidFill>
                  <a:srgbClr val="24469D"/>
                </a:solidFill>
                <a:latin typeface="Candara" panose="020E0502030303020204" pitchFamily="34" charset="0"/>
              </a:rPr>
              <a:t>Witness (child </a:t>
            </a:r>
            <a:r>
              <a:rPr lang="en-US" sz="2000" dirty="0" err="1">
                <a:solidFill>
                  <a:srgbClr val="24469D"/>
                </a:solidFill>
                <a:latin typeface="Candara" panose="020E0502030303020204" pitchFamily="34" charset="0"/>
              </a:rPr>
              <a:t>txn</a:t>
            </a:r>
            <a:r>
              <a:rPr lang="en-US" sz="2000" dirty="0">
                <a:solidFill>
                  <a:srgbClr val="24469D"/>
                </a:solidFill>
                <a:latin typeface="Candara" panose="020E0502030303020204" pitchFamily="34" charset="0"/>
              </a:rPr>
              <a:t>): </a:t>
            </a:r>
            <a:r>
              <a:rPr lang="en-US" sz="2000" dirty="0">
                <a:solidFill>
                  <a:srgbClr val="7030A0"/>
                </a:solidFill>
                <a:latin typeface="Candara" panose="020E0502030303020204" pitchFamily="34" charset="0"/>
              </a:rPr>
              <a:t>&lt;sig&gt; </a:t>
            </a:r>
            <a:r>
              <a:rPr lang="en-US" sz="2000" dirty="0">
                <a:solidFill>
                  <a:srgbClr val="FF0000"/>
                </a:solidFill>
                <a:latin typeface="Candara" panose="020E0502030303020204" pitchFamily="34" charset="0"/>
              </a:rPr>
              <a:t>&lt;</a:t>
            </a:r>
            <a:r>
              <a:rPr lang="en-US" sz="2000" dirty="0" err="1">
                <a:solidFill>
                  <a:srgbClr val="FF0000"/>
                </a:solidFill>
                <a:latin typeface="Candara" panose="020E0502030303020204" pitchFamily="34" charset="0"/>
              </a:rPr>
              <a:t>wpk</a:t>
            </a:r>
            <a:r>
              <a:rPr lang="en-US" sz="2000" dirty="0">
                <a:solidFill>
                  <a:srgbClr val="FF0000"/>
                </a:solidFill>
                <a:latin typeface="Candara" panose="020E0502030303020204" pitchFamily="34" charset="0"/>
              </a:rPr>
              <a:t>&gt; </a:t>
            </a:r>
          </a:p>
        </p:txBody>
      </p:sp>
      <p:sp>
        <p:nvSpPr>
          <p:cNvPr id="20" name="Rectangle 19">
            <a:extLst>
              <a:ext uri="{FF2B5EF4-FFF2-40B4-BE49-F238E27FC236}">
                <a16:creationId xmlns:a16="http://schemas.microsoft.com/office/drawing/2014/main" id="{26DFBD23-F15D-5AF8-0B34-AC9E5FC977C1}"/>
              </a:ext>
            </a:extLst>
          </p:cNvPr>
          <p:cNvSpPr/>
          <p:nvPr/>
        </p:nvSpPr>
        <p:spPr>
          <a:xfrm>
            <a:off x="662546" y="5868207"/>
            <a:ext cx="4764100" cy="579665"/>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 (parent </a:t>
            </a:r>
            <a:r>
              <a:rPr lang="en-US" sz="2000" dirty="0" err="1">
                <a:solidFill>
                  <a:schemeClr val="tx1"/>
                </a:solidFill>
                <a:latin typeface="Candara" panose="020E0502030303020204" pitchFamily="34" charset="0"/>
              </a:rPr>
              <a:t>txn</a:t>
            </a:r>
            <a:r>
              <a:rPr lang="en-US" sz="2000" dirty="0">
                <a:solidFill>
                  <a:schemeClr val="tx1"/>
                </a:solidFill>
                <a:latin typeface="Candara" panose="020E0502030303020204" pitchFamily="34" charset="0"/>
              </a:rPr>
              <a:t>)</a:t>
            </a:r>
          </a:p>
          <a:p>
            <a:pPr algn="ctr"/>
            <a:r>
              <a:rPr lang="en-US" sz="2000" dirty="0">
                <a:solidFill>
                  <a:schemeClr val="tx1"/>
                </a:solidFill>
                <a:latin typeface="Candara" panose="020E0502030303020204" pitchFamily="34" charset="0"/>
              </a:rPr>
              <a:t>&lt;--&gt; &lt;--&gt;</a:t>
            </a:r>
          </a:p>
        </p:txBody>
      </p:sp>
      <p:sp>
        <p:nvSpPr>
          <p:cNvPr id="38" name="Rectangle 37">
            <a:extLst>
              <a:ext uri="{FF2B5EF4-FFF2-40B4-BE49-F238E27FC236}">
                <a16:creationId xmlns:a16="http://schemas.microsoft.com/office/drawing/2014/main" id="{FCBCA5F8-A5C0-7893-4E57-322BD3C5B174}"/>
              </a:ext>
            </a:extLst>
          </p:cNvPr>
          <p:cNvSpPr/>
          <p:nvPr/>
        </p:nvSpPr>
        <p:spPr>
          <a:xfrm>
            <a:off x="6826732" y="5878596"/>
            <a:ext cx="4764100" cy="57966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 (child </a:t>
            </a:r>
            <a:r>
              <a:rPr lang="en-US" sz="2000" dirty="0" err="1">
                <a:solidFill>
                  <a:schemeClr val="tx1"/>
                </a:solidFill>
                <a:latin typeface="Candara" panose="020E0502030303020204" pitchFamily="34" charset="0"/>
              </a:rPr>
              <a:t>txn</a:t>
            </a:r>
            <a:r>
              <a:rPr lang="en-US" sz="2000" dirty="0">
                <a:solidFill>
                  <a:schemeClr val="tx1"/>
                </a:solidFill>
                <a:latin typeface="Candara" panose="020E0502030303020204" pitchFamily="34" charset="0"/>
              </a:rPr>
              <a:t>)</a:t>
            </a:r>
          </a:p>
          <a:p>
            <a:pPr algn="ctr"/>
            <a:r>
              <a:rPr lang="en-US" sz="2000" dirty="0">
                <a:solidFill>
                  <a:schemeClr val="tx1"/>
                </a:solidFill>
                <a:latin typeface="Candara" panose="020E0502030303020204" pitchFamily="34" charset="0"/>
              </a:rPr>
              <a:t>&lt;signature&gt; &lt;witness public key (</a:t>
            </a:r>
            <a:r>
              <a:rPr lang="en-US" sz="2000" dirty="0" err="1">
                <a:solidFill>
                  <a:schemeClr val="tx1"/>
                </a:solidFill>
                <a:latin typeface="Candara" panose="020E0502030303020204" pitchFamily="34" charset="0"/>
              </a:rPr>
              <a:t>wpk</a:t>
            </a:r>
            <a:r>
              <a:rPr lang="en-US" sz="2000" dirty="0">
                <a:solidFill>
                  <a:schemeClr val="tx1"/>
                </a:solidFill>
                <a:latin typeface="Candara" panose="020E0502030303020204" pitchFamily="34" charset="0"/>
              </a:rPr>
              <a:t>)&gt;</a:t>
            </a:r>
          </a:p>
        </p:txBody>
      </p:sp>
      <p:cxnSp>
        <p:nvCxnSpPr>
          <p:cNvPr id="40" name="Straight Arrow Connector 39">
            <a:extLst>
              <a:ext uri="{FF2B5EF4-FFF2-40B4-BE49-F238E27FC236}">
                <a16:creationId xmlns:a16="http://schemas.microsoft.com/office/drawing/2014/main" id="{12858CB5-DB69-6FB4-958F-D06304F538C8}"/>
              </a:ext>
            </a:extLst>
          </p:cNvPr>
          <p:cNvCxnSpPr>
            <a:stCxn id="15" idx="1"/>
            <a:endCxn id="33" idx="3"/>
          </p:cNvCxnSpPr>
          <p:nvPr/>
        </p:nvCxnSpPr>
        <p:spPr>
          <a:xfrm flipH="1">
            <a:off x="5426646" y="4024867"/>
            <a:ext cx="1400086" cy="21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82DACB37-8535-C89C-5E2C-E29B84CD9159}"/>
              </a:ext>
            </a:extLst>
          </p:cNvPr>
          <p:cNvGrpSpPr/>
          <p:nvPr/>
        </p:nvGrpSpPr>
        <p:grpSpPr>
          <a:xfrm>
            <a:off x="5426646" y="4581676"/>
            <a:ext cx="1400086" cy="1586756"/>
            <a:chOff x="5426646" y="4367463"/>
            <a:chExt cx="1400086" cy="1745433"/>
          </a:xfrm>
        </p:grpSpPr>
        <p:cxnSp>
          <p:nvCxnSpPr>
            <p:cNvPr id="42" name="Straight Connector 41">
              <a:extLst>
                <a:ext uri="{FF2B5EF4-FFF2-40B4-BE49-F238E27FC236}">
                  <a16:creationId xmlns:a16="http://schemas.microsoft.com/office/drawing/2014/main" id="{AE7E1A48-3660-DC50-DD12-D2344C397662}"/>
                </a:ext>
              </a:extLst>
            </p:cNvPr>
            <p:cNvCxnSpPr>
              <a:cxnSpLocks/>
              <a:stCxn id="38" idx="1"/>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E7A26C-3AF9-70AF-E2A6-B809F74F68B1}"/>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6698479-3E9C-1BFD-91F2-210801465C90}"/>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C7BFF283-C714-CB6C-2C51-4F0559B22500}"/>
              </a:ext>
            </a:extLst>
          </p:cNvPr>
          <p:cNvGrpSpPr/>
          <p:nvPr/>
        </p:nvGrpSpPr>
        <p:grpSpPr>
          <a:xfrm>
            <a:off x="662546" y="2621357"/>
            <a:ext cx="4764100" cy="2764994"/>
            <a:chOff x="662546" y="2621357"/>
            <a:chExt cx="4764100" cy="2764994"/>
          </a:xfrm>
        </p:grpSpPr>
        <p:grpSp>
          <p:nvGrpSpPr>
            <p:cNvPr id="51" name="Group 50">
              <a:extLst>
                <a:ext uri="{FF2B5EF4-FFF2-40B4-BE49-F238E27FC236}">
                  <a16:creationId xmlns:a16="http://schemas.microsoft.com/office/drawing/2014/main" id="{7C346FE6-3198-88C3-BDCA-2DB90A90401F}"/>
                </a:ext>
              </a:extLst>
            </p:cNvPr>
            <p:cNvGrpSpPr/>
            <p:nvPr/>
          </p:nvGrpSpPr>
          <p:grpSpPr>
            <a:xfrm>
              <a:off x="662546" y="3040562"/>
              <a:ext cx="4764100" cy="2345789"/>
              <a:chOff x="662546" y="2790923"/>
              <a:chExt cx="4764100" cy="2580368"/>
            </a:xfrm>
          </p:grpSpPr>
          <p:grpSp>
            <p:nvGrpSpPr>
              <p:cNvPr id="12" name="Group 11">
                <a:extLst>
                  <a:ext uri="{FF2B5EF4-FFF2-40B4-BE49-F238E27FC236}">
                    <a16:creationId xmlns:a16="http://schemas.microsoft.com/office/drawing/2014/main" id="{03B0AA5C-2253-9816-C252-0CD4F302D22D}"/>
                  </a:ext>
                </a:extLst>
              </p:cNvPr>
              <p:cNvGrpSpPr/>
              <p:nvPr/>
            </p:nvGrpSpPr>
            <p:grpSpPr>
              <a:xfrm>
                <a:off x="662546" y="2790923"/>
                <a:ext cx="4764100" cy="2380336"/>
                <a:chOff x="895162" y="2638523"/>
                <a:chExt cx="4764100" cy="2380336"/>
              </a:xfrm>
            </p:grpSpPr>
            <p:grpSp>
              <p:nvGrpSpPr>
                <p:cNvPr id="31" name="Group 30">
                  <a:extLst>
                    <a:ext uri="{FF2B5EF4-FFF2-40B4-BE49-F238E27FC236}">
                      <a16:creationId xmlns:a16="http://schemas.microsoft.com/office/drawing/2014/main" id="{D0A286C8-E2C2-1938-5E27-10C448998F9E}"/>
                    </a:ext>
                  </a:extLst>
                </p:cNvPr>
                <p:cNvGrpSpPr/>
                <p:nvPr/>
              </p:nvGrpSpPr>
              <p:grpSpPr>
                <a:xfrm>
                  <a:off x="895162" y="2661533"/>
                  <a:ext cx="4764100" cy="2357326"/>
                  <a:chOff x="805543" y="3039909"/>
                  <a:chExt cx="5057939" cy="2357326"/>
                </a:xfrm>
                <a:noFill/>
              </p:grpSpPr>
              <p:sp>
                <p:nvSpPr>
                  <p:cNvPr id="33" name="Rectangle 32">
                    <a:extLst>
                      <a:ext uri="{FF2B5EF4-FFF2-40B4-BE49-F238E27FC236}">
                        <a16:creationId xmlns:a16="http://schemas.microsoft.com/office/drawing/2014/main" id="{011000DD-168B-EA38-7A34-9CD3999F9515}"/>
                      </a:ext>
                    </a:extLst>
                  </p:cNvPr>
                  <p:cNvSpPr/>
                  <p:nvPr/>
                </p:nvSpPr>
                <p:spPr>
                  <a:xfrm>
                    <a:off x="805543" y="3039909"/>
                    <a:ext cx="5057939" cy="2119920"/>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34" name="Rectangle 33">
                    <a:extLst>
                      <a:ext uri="{FF2B5EF4-FFF2-40B4-BE49-F238E27FC236}">
                        <a16:creationId xmlns:a16="http://schemas.microsoft.com/office/drawing/2014/main" id="{7DB3D964-6114-C318-968F-BA9E657EA983}"/>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5" name="Rectangle 34">
                    <a:extLst>
                      <a:ext uri="{FF2B5EF4-FFF2-40B4-BE49-F238E27FC236}">
                        <a16:creationId xmlns:a16="http://schemas.microsoft.com/office/drawing/2014/main" id="{B1EE015E-E97F-5D8C-6D5C-CC6BB0D859AE}"/>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7" name="TextBox 36">
                    <a:extLst>
                      <a:ext uri="{FF2B5EF4-FFF2-40B4-BE49-F238E27FC236}">
                        <a16:creationId xmlns:a16="http://schemas.microsoft.com/office/drawing/2014/main" id="{B5997015-0DEF-5561-29B5-7BE4EEF47823}"/>
                      </a:ext>
                    </a:extLst>
                  </p:cNvPr>
                  <p:cNvSpPr txBox="1"/>
                  <p:nvPr/>
                </p:nvSpPr>
                <p:spPr>
                  <a:xfrm>
                    <a:off x="3503946" y="3941452"/>
                    <a:ext cx="2139943" cy="1455783"/>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a:t>
                    </a:r>
                  </a:p>
                  <a:p>
                    <a:pPr algn="ctr"/>
                    <a:r>
                      <a:rPr lang="en-US" sz="2000" dirty="0" err="1">
                        <a:solidFill>
                          <a:schemeClr val="bg1"/>
                        </a:solidFill>
                        <a:latin typeface="Candara" panose="020E0502030303020204" pitchFamily="34" charset="0"/>
                      </a:rPr>
                      <a:t>scriptPubKey</a:t>
                    </a:r>
                    <a:r>
                      <a:rPr lang="en-US" sz="2000" dirty="0">
                        <a:solidFill>
                          <a:schemeClr val="bg1"/>
                        </a:solidFill>
                        <a:latin typeface="Candara" panose="020E0502030303020204" pitchFamily="34" charset="0"/>
                      </a:rPr>
                      <a:t> = </a:t>
                    </a:r>
                  </a:p>
                  <a:p>
                    <a:pPr algn="ctr"/>
                    <a:r>
                      <a:rPr lang="en-US" sz="2000" dirty="0">
                        <a:solidFill>
                          <a:schemeClr val="bg1"/>
                        </a:solidFill>
                        <a:latin typeface="Candara" panose="020E0502030303020204" pitchFamily="34" charset="0"/>
                      </a:rPr>
                      <a:t>OP_0 &lt;</a:t>
                    </a:r>
                    <a:r>
                      <a:rPr lang="en-US" sz="2000" dirty="0" err="1">
                        <a:solidFill>
                          <a:schemeClr val="bg1"/>
                        </a:solidFill>
                        <a:latin typeface="Candara" panose="020E0502030303020204" pitchFamily="34" charset="0"/>
                      </a:rPr>
                      <a:t>wpkh</a:t>
                    </a:r>
                    <a:r>
                      <a:rPr lang="en-US" sz="2000" dirty="0">
                        <a:solidFill>
                          <a:schemeClr val="bg1"/>
                        </a:solidFill>
                        <a:latin typeface="Candara" panose="020E0502030303020204" pitchFamily="34" charset="0"/>
                      </a:rPr>
                      <a:t>&gt;</a:t>
                    </a:r>
                  </a:p>
                  <a:p>
                    <a:pPr algn="ctr"/>
                    <a:endParaRPr lang="en-US" sz="2000" dirty="0">
                      <a:latin typeface="Candara" panose="020E0502030303020204" pitchFamily="34" charset="0"/>
                    </a:endParaRPr>
                  </a:p>
                </p:txBody>
              </p:sp>
            </p:grpSp>
            <p:sp>
              <p:nvSpPr>
                <p:cNvPr id="32" name="Rectangle 31">
                  <a:extLst>
                    <a:ext uri="{FF2B5EF4-FFF2-40B4-BE49-F238E27FC236}">
                      <a16:creationId xmlns:a16="http://schemas.microsoft.com/office/drawing/2014/main" id="{2576F4EE-9C13-4822-8533-2F9FBA193DDF}"/>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48" name="Rectangle 47">
                <a:extLst>
                  <a:ext uri="{FF2B5EF4-FFF2-40B4-BE49-F238E27FC236}">
                    <a16:creationId xmlns:a16="http://schemas.microsoft.com/office/drawing/2014/main" id="{0D937F8A-C74B-7251-B4C2-2F6A0CBA3283}"/>
                  </a:ext>
                </a:extLst>
              </p:cNvPr>
              <p:cNvSpPr/>
              <p:nvPr/>
            </p:nvSpPr>
            <p:spPr>
              <a:xfrm>
                <a:off x="662546" y="4933853"/>
                <a:ext cx="4764100" cy="43743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P2WPKH1234P</a:t>
                </a:r>
              </a:p>
            </p:txBody>
          </p:sp>
        </p:grpSp>
        <p:sp>
          <p:nvSpPr>
            <p:cNvPr id="55" name="TextBox 54">
              <a:extLst>
                <a:ext uri="{FF2B5EF4-FFF2-40B4-BE49-F238E27FC236}">
                  <a16:creationId xmlns:a16="http://schemas.microsoft.com/office/drawing/2014/main" id="{E81A78DE-BBD8-2777-5B56-1018FDFFBD6B}"/>
                </a:ext>
              </a:extLst>
            </p:cNvPr>
            <p:cNvSpPr txBox="1"/>
            <p:nvPr/>
          </p:nvSpPr>
          <p:spPr>
            <a:xfrm>
              <a:off x="1768858" y="2621357"/>
              <a:ext cx="2623603" cy="461665"/>
            </a:xfrm>
            <a:prstGeom prst="rect">
              <a:avLst/>
            </a:prstGeom>
            <a:noFill/>
          </p:spPr>
          <p:txBody>
            <a:bodyPr wrap="none" rtlCol="0">
              <a:spAutoFit/>
            </a:bodyPr>
            <a:lstStyle/>
            <a:p>
              <a:r>
                <a:rPr lang="en-US" sz="2400" dirty="0">
                  <a:latin typeface="Candara" panose="020E0502030303020204" pitchFamily="34" charset="0"/>
                </a:rPr>
                <a:t>Parent Transaction</a:t>
              </a:r>
            </a:p>
          </p:txBody>
        </p:sp>
      </p:grpSp>
      <p:grpSp>
        <p:nvGrpSpPr>
          <p:cNvPr id="58" name="Group 57">
            <a:extLst>
              <a:ext uri="{FF2B5EF4-FFF2-40B4-BE49-F238E27FC236}">
                <a16:creationId xmlns:a16="http://schemas.microsoft.com/office/drawing/2014/main" id="{0869E6E8-8862-DA33-1C60-221B1188508D}"/>
              </a:ext>
            </a:extLst>
          </p:cNvPr>
          <p:cNvGrpSpPr/>
          <p:nvPr/>
        </p:nvGrpSpPr>
        <p:grpSpPr>
          <a:xfrm>
            <a:off x="6826732" y="2576830"/>
            <a:ext cx="4764100" cy="2805033"/>
            <a:chOff x="6826732" y="2576830"/>
            <a:chExt cx="4764100" cy="2805033"/>
          </a:xfrm>
        </p:grpSpPr>
        <p:grpSp>
          <p:nvGrpSpPr>
            <p:cNvPr id="52" name="Group 51">
              <a:extLst>
                <a:ext uri="{FF2B5EF4-FFF2-40B4-BE49-F238E27FC236}">
                  <a16:creationId xmlns:a16="http://schemas.microsoft.com/office/drawing/2014/main" id="{F5C71BCD-FA42-F7BD-82FF-E0FF9461B171}"/>
                </a:ext>
              </a:extLst>
            </p:cNvPr>
            <p:cNvGrpSpPr/>
            <p:nvPr/>
          </p:nvGrpSpPr>
          <p:grpSpPr>
            <a:xfrm>
              <a:off x="6826732" y="3040348"/>
              <a:ext cx="4764100" cy="2341515"/>
              <a:chOff x="6826732" y="2790923"/>
              <a:chExt cx="4764100" cy="2575666"/>
            </a:xfrm>
          </p:grpSpPr>
          <p:grpSp>
            <p:nvGrpSpPr>
              <p:cNvPr id="11" name="Group 10">
                <a:extLst>
                  <a:ext uri="{FF2B5EF4-FFF2-40B4-BE49-F238E27FC236}">
                    <a16:creationId xmlns:a16="http://schemas.microsoft.com/office/drawing/2014/main" id="{4538D9CE-FD9A-208F-7B9B-9447F0E5FC33}"/>
                  </a:ext>
                </a:extLst>
              </p:cNvPr>
              <p:cNvGrpSpPr/>
              <p:nvPr/>
            </p:nvGrpSpPr>
            <p:grpSpPr>
              <a:xfrm>
                <a:off x="6826732" y="2790923"/>
                <a:ext cx="4764100" cy="2142930"/>
                <a:chOff x="895162" y="2638523"/>
                <a:chExt cx="4764100" cy="2142930"/>
              </a:xfrm>
            </p:grpSpPr>
            <p:grpSp>
              <p:nvGrpSpPr>
                <p:cNvPr id="13" name="Group 12">
                  <a:extLst>
                    <a:ext uri="{FF2B5EF4-FFF2-40B4-BE49-F238E27FC236}">
                      <a16:creationId xmlns:a16="http://schemas.microsoft.com/office/drawing/2014/main" id="{3ED47600-BFDD-F094-DB9E-2BC5964328E4}"/>
                    </a:ext>
                  </a:extLst>
                </p:cNvPr>
                <p:cNvGrpSpPr/>
                <p:nvPr/>
              </p:nvGrpSpPr>
              <p:grpSpPr>
                <a:xfrm>
                  <a:off x="895162" y="2661533"/>
                  <a:ext cx="4764100" cy="2119920"/>
                  <a:chOff x="805543" y="3039909"/>
                  <a:chExt cx="5057939" cy="2119920"/>
                </a:xfrm>
                <a:noFill/>
              </p:grpSpPr>
              <p:sp>
                <p:nvSpPr>
                  <p:cNvPr id="15" name="Rectangle 14">
                    <a:extLst>
                      <a:ext uri="{FF2B5EF4-FFF2-40B4-BE49-F238E27FC236}">
                        <a16:creationId xmlns:a16="http://schemas.microsoft.com/office/drawing/2014/main" id="{4B44C395-FD7F-FDC8-B436-63AD4F84FA81}"/>
                      </a:ext>
                    </a:extLst>
                  </p:cNvPr>
                  <p:cNvSpPr/>
                  <p:nvPr/>
                </p:nvSpPr>
                <p:spPr>
                  <a:xfrm>
                    <a:off x="805543" y="3039909"/>
                    <a:ext cx="5057939" cy="2119920"/>
                  </a:xfrm>
                  <a:prstGeom prst="rect">
                    <a:avLst/>
                  </a:prstGeom>
                  <a:solidFill>
                    <a:schemeClr val="accent6">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6" name="Rectangle 15">
                    <a:extLst>
                      <a:ext uri="{FF2B5EF4-FFF2-40B4-BE49-F238E27FC236}">
                        <a16:creationId xmlns:a16="http://schemas.microsoft.com/office/drawing/2014/main" id="{DC4F4A66-2E10-42B7-6FCA-FDC983EBDFEA}"/>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7" name="Rectangle 16">
                    <a:extLst>
                      <a:ext uri="{FF2B5EF4-FFF2-40B4-BE49-F238E27FC236}">
                        <a16:creationId xmlns:a16="http://schemas.microsoft.com/office/drawing/2014/main" id="{5860B19D-E1E4-F825-5D89-543003409B7F}"/>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8" name="TextBox 17">
                    <a:extLst>
                      <a:ext uri="{FF2B5EF4-FFF2-40B4-BE49-F238E27FC236}">
                        <a16:creationId xmlns:a16="http://schemas.microsoft.com/office/drawing/2014/main" id="{6A62B517-844A-8E4A-75A7-F8F68B243091}"/>
                      </a:ext>
                    </a:extLst>
                  </p:cNvPr>
                  <p:cNvSpPr txBox="1"/>
                  <p:nvPr/>
                </p:nvSpPr>
                <p:spPr>
                  <a:xfrm>
                    <a:off x="1083540" y="3812470"/>
                    <a:ext cx="2139943" cy="1117229"/>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Prev </a:t>
                    </a:r>
                    <a:r>
                      <a:rPr lang="en-US" sz="2000" dirty="0" err="1">
                        <a:solidFill>
                          <a:schemeClr val="bg1"/>
                        </a:solidFill>
                        <a:latin typeface="Candara" panose="020E0502030303020204" pitchFamily="34" charset="0"/>
                      </a:rPr>
                      <a:t>Txid</a:t>
                    </a:r>
                    <a:endParaRPr lang="en-US" sz="2000" dirty="0">
                      <a:solidFill>
                        <a:schemeClr val="bg1"/>
                      </a:solidFill>
                      <a:latin typeface="Candara" panose="020E0502030303020204" pitchFamily="34" charset="0"/>
                    </a:endParaRPr>
                  </a:p>
                  <a:p>
                    <a:pPr algn="ctr"/>
                    <a:r>
                      <a:rPr lang="en-US" sz="2000" dirty="0" err="1">
                        <a:solidFill>
                          <a:schemeClr val="bg1"/>
                        </a:solidFill>
                        <a:latin typeface="Candara" panose="020E0502030303020204" pitchFamily="34" charset="0"/>
                      </a:rPr>
                      <a:t>Idx</a:t>
                    </a:r>
                    <a:endParaRPr lang="en-US" sz="2000" dirty="0">
                      <a:solidFill>
                        <a:schemeClr val="bg1"/>
                      </a:solidFill>
                      <a:latin typeface="Candara" panose="020E0502030303020204" pitchFamily="34" charset="0"/>
                    </a:endParaRPr>
                  </a:p>
                  <a:p>
                    <a:pPr algn="ctr"/>
                    <a:r>
                      <a:rPr lang="en-US" sz="2000" dirty="0" err="1">
                        <a:solidFill>
                          <a:schemeClr val="bg1"/>
                        </a:solidFill>
                        <a:latin typeface="Candara" panose="020E0502030303020204" pitchFamily="34" charset="0"/>
                      </a:rPr>
                      <a:t>scriptSig</a:t>
                    </a:r>
                    <a:r>
                      <a:rPr lang="en-US" sz="2000" dirty="0">
                        <a:solidFill>
                          <a:schemeClr val="bg1"/>
                        </a:solidFill>
                        <a:latin typeface="Candara" panose="020E0502030303020204" pitchFamily="34" charset="0"/>
                      </a:rPr>
                      <a:t>=empty</a:t>
                    </a:r>
                  </a:p>
                </p:txBody>
              </p:sp>
            </p:grpSp>
            <p:sp>
              <p:nvSpPr>
                <p:cNvPr id="7" name="Rectangle 6">
                  <a:extLst>
                    <a:ext uri="{FF2B5EF4-FFF2-40B4-BE49-F238E27FC236}">
                      <a16:creationId xmlns:a16="http://schemas.microsoft.com/office/drawing/2014/main" id="{EE4D693C-6CDB-8CFF-DF54-E338DA799309}"/>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Transaction-Level Fields </a:t>
                  </a:r>
                </a:p>
                <a:p>
                  <a:pPr algn="ctr"/>
                  <a:r>
                    <a:rPr lang="en-US" sz="2000" dirty="0">
                      <a:solidFill>
                        <a:schemeClr val="tx1"/>
                      </a:solidFill>
                      <a:latin typeface="Candara" panose="020E0502030303020204" pitchFamily="34" charset="0"/>
                    </a:rPr>
                    <a:t>(Version, </a:t>
                  </a:r>
                  <a:r>
                    <a:rPr lang="en-US" sz="2000" dirty="0" err="1">
                      <a:solidFill>
                        <a:schemeClr val="tx1"/>
                      </a:solidFill>
                      <a:latin typeface="Candara" panose="020E0502030303020204" pitchFamily="34" charset="0"/>
                    </a:rPr>
                    <a:t>nLockTime</a:t>
                  </a:r>
                  <a:r>
                    <a:rPr lang="en-US" sz="2000" dirty="0">
                      <a:solidFill>
                        <a:schemeClr val="tx1"/>
                      </a:solidFill>
                      <a:latin typeface="Candara" panose="020E0502030303020204" pitchFamily="34" charset="0"/>
                    </a:rPr>
                    <a:t>, Flags)</a:t>
                  </a:r>
                </a:p>
              </p:txBody>
            </p:sp>
          </p:grpSp>
          <p:sp>
            <p:nvSpPr>
              <p:cNvPr id="49" name="Rectangle 48">
                <a:extLst>
                  <a:ext uri="{FF2B5EF4-FFF2-40B4-BE49-F238E27FC236}">
                    <a16:creationId xmlns:a16="http://schemas.microsoft.com/office/drawing/2014/main" id="{C57BDC4C-3F57-843D-B388-3D49A04E9E32}"/>
                  </a:ext>
                </a:extLst>
              </p:cNvPr>
              <p:cNvSpPr/>
              <p:nvPr/>
            </p:nvSpPr>
            <p:spPr>
              <a:xfrm>
                <a:off x="6826732" y="4929151"/>
                <a:ext cx="4764100" cy="43743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P2WPKH5678C</a:t>
                </a:r>
              </a:p>
            </p:txBody>
          </p:sp>
        </p:grpSp>
        <p:sp>
          <p:nvSpPr>
            <p:cNvPr id="56" name="TextBox 55">
              <a:extLst>
                <a:ext uri="{FF2B5EF4-FFF2-40B4-BE49-F238E27FC236}">
                  <a16:creationId xmlns:a16="http://schemas.microsoft.com/office/drawing/2014/main" id="{E197AAFF-69E2-1A15-D28E-D40A06EAD6B8}"/>
                </a:ext>
              </a:extLst>
            </p:cNvPr>
            <p:cNvSpPr txBox="1"/>
            <p:nvPr/>
          </p:nvSpPr>
          <p:spPr>
            <a:xfrm>
              <a:off x="8008122" y="2576830"/>
              <a:ext cx="2400785" cy="461665"/>
            </a:xfrm>
            <a:prstGeom prst="rect">
              <a:avLst/>
            </a:prstGeom>
            <a:noFill/>
          </p:spPr>
          <p:txBody>
            <a:bodyPr wrap="none" rtlCol="0">
              <a:spAutoFit/>
            </a:bodyPr>
            <a:lstStyle/>
            <a:p>
              <a:r>
                <a:rPr lang="en-US" sz="2400" dirty="0">
                  <a:latin typeface="Candara" panose="020E0502030303020204" pitchFamily="34" charset="0"/>
                </a:rPr>
                <a:t>Child Transaction</a:t>
              </a:r>
            </a:p>
          </p:txBody>
        </p:sp>
      </p:grpSp>
    </p:spTree>
    <p:extLst>
      <p:ext uri="{BB962C8B-B14F-4D97-AF65-F5344CB8AC3E}">
        <p14:creationId xmlns:p14="http://schemas.microsoft.com/office/powerpoint/2010/main" val="236861825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B72D-18A2-53C0-A118-0D857CB97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DF705-5D69-C5C8-2912-E32D40CBC050}"/>
              </a:ext>
            </a:extLst>
          </p:cNvPr>
          <p:cNvSpPr>
            <a:spLocks noGrp="1"/>
          </p:cNvSpPr>
          <p:nvPr>
            <p:ph type="title"/>
          </p:nvPr>
        </p:nvSpPr>
        <p:spPr/>
        <p:txBody>
          <a:bodyPr/>
          <a:lstStyle/>
          <a:p>
            <a:r>
              <a:rPr lang="en-US" dirty="0"/>
              <a:t>P2WSH</a:t>
            </a:r>
          </a:p>
        </p:txBody>
      </p:sp>
      <p:sp>
        <p:nvSpPr>
          <p:cNvPr id="4" name="Slide Number Placeholder 3">
            <a:extLst>
              <a:ext uri="{FF2B5EF4-FFF2-40B4-BE49-F238E27FC236}">
                <a16:creationId xmlns:a16="http://schemas.microsoft.com/office/drawing/2014/main" id="{048CFBA7-22CE-CB04-B489-2C0ED224E610}"/>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43</a:t>
            </a:fld>
            <a:endParaRPr lang="en-US" dirty="0">
              <a:latin typeface="Candara" panose="020E0502030303020204" pitchFamily="34" charset="0"/>
            </a:endParaRPr>
          </a:p>
        </p:txBody>
      </p:sp>
      <p:sp>
        <p:nvSpPr>
          <p:cNvPr id="3" name="TextBox 2">
            <a:extLst>
              <a:ext uri="{FF2B5EF4-FFF2-40B4-BE49-F238E27FC236}">
                <a16:creationId xmlns:a16="http://schemas.microsoft.com/office/drawing/2014/main" id="{C016682B-A167-E3D1-2CC5-5680BAE67D5C}"/>
              </a:ext>
            </a:extLst>
          </p:cNvPr>
          <p:cNvSpPr txBox="1"/>
          <p:nvPr/>
        </p:nvSpPr>
        <p:spPr>
          <a:xfrm>
            <a:off x="1768858" y="1025391"/>
            <a:ext cx="8049165" cy="1323439"/>
          </a:xfrm>
          <a:prstGeom prst="rect">
            <a:avLst/>
          </a:prstGeom>
          <a:noFill/>
        </p:spPr>
        <p:txBody>
          <a:bodyPr wrap="square" rtlCol="0">
            <a:spAutoFit/>
          </a:bodyPr>
          <a:lstStyle/>
          <a:p>
            <a:pPr algn="ctr"/>
            <a:r>
              <a:rPr lang="en-US" sz="2000" u="sng" dirty="0">
                <a:latin typeface="Candara" panose="020E0502030303020204" pitchFamily="34" charset="0"/>
              </a:rPr>
              <a:t>P2WSH (Pay-to-Witness-Script-Hash)</a:t>
            </a:r>
          </a:p>
          <a:p>
            <a:pPr marL="800089" lvl="1" indent="-342900">
              <a:buFont typeface="Arial" panose="020B0604020202020204" pitchFamily="34" charset="0"/>
              <a:buChar char="•"/>
            </a:pPr>
            <a:r>
              <a:rPr lang="en-US" sz="2000" dirty="0">
                <a:solidFill>
                  <a:srgbClr val="24469D"/>
                </a:solidFill>
                <a:latin typeface="Candara" panose="020E0502030303020204" pitchFamily="34" charset="0"/>
              </a:rPr>
              <a:t>Output (parent </a:t>
            </a:r>
            <a:r>
              <a:rPr lang="en-US" sz="2000" dirty="0" err="1">
                <a:solidFill>
                  <a:srgbClr val="24469D"/>
                </a:solidFill>
                <a:latin typeface="Candara" panose="020E0502030303020204" pitchFamily="34" charset="0"/>
              </a:rPr>
              <a:t>txn</a:t>
            </a:r>
            <a:r>
              <a:rPr lang="en-US" sz="2000" dirty="0">
                <a:solidFill>
                  <a:srgbClr val="24469D"/>
                </a:solidFill>
                <a:latin typeface="Candara" panose="020E0502030303020204" pitchFamily="34" charset="0"/>
              </a:rPr>
              <a:t>): OP_0 </a:t>
            </a:r>
            <a:r>
              <a:rPr lang="en-US" sz="2000" dirty="0">
                <a:solidFill>
                  <a:srgbClr val="FF0000"/>
                </a:solidFill>
                <a:latin typeface="Candara" panose="020E0502030303020204" pitchFamily="34" charset="0"/>
              </a:rPr>
              <a:t>&lt;</a:t>
            </a:r>
            <a:r>
              <a:rPr lang="en-US" sz="2000" dirty="0" err="1">
                <a:solidFill>
                  <a:srgbClr val="FF0000"/>
                </a:solidFill>
                <a:latin typeface="Candara" panose="020E0502030303020204" pitchFamily="34" charset="0"/>
              </a:rPr>
              <a:t>wsh</a:t>
            </a:r>
            <a:r>
              <a:rPr lang="en-US" sz="2000" dirty="0">
                <a:solidFill>
                  <a:srgbClr val="FF0000"/>
                </a:solidFill>
                <a:latin typeface="Candara" panose="020E0502030303020204" pitchFamily="34" charset="0"/>
              </a:rPr>
              <a:t>&gt;</a:t>
            </a:r>
          </a:p>
          <a:p>
            <a:pPr marL="800089" lvl="1" indent="-342900">
              <a:buFont typeface="Arial" panose="020B0604020202020204" pitchFamily="34" charset="0"/>
              <a:buChar char="•"/>
            </a:pPr>
            <a:r>
              <a:rPr lang="en-US" sz="2000" dirty="0">
                <a:solidFill>
                  <a:srgbClr val="24469D"/>
                </a:solidFill>
                <a:latin typeface="Candara" panose="020E0502030303020204" pitchFamily="34" charset="0"/>
              </a:rPr>
              <a:t>Input (child </a:t>
            </a:r>
            <a:r>
              <a:rPr lang="en-US" sz="2000" dirty="0" err="1">
                <a:solidFill>
                  <a:srgbClr val="24469D"/>
                </a:solidFill>
                <a:latin typeface="Candara" panose="020E0502030303020204" pitchFamily="34" charset="0"/>
              </a:rPr>
              <a:t>txn</a:t>
            </a:r>
            <a:r>
              <a:rPr lang="en-US" sz="2000" dirty="0">
                <a:solidFill>
                  <a:srgbClr val="24469D"/>
                </a:solidFill>
                <a:latin typeface="Candara" panose="020E0502030303020204" pitchFamily="34" charset="0"/>
              </a:rPr>
              <a:t>): &lt;</a:t>
            </a:r>
            <a:r>
              <a:rPr lang="en-US" sz="2000" dirty="0" err="1">
                <a:solidFill>
                  <a:srgbClr val="24469D"/>
                </a:solidFill>
                <a:latin typeface="Candara" panose="020E0502030303020204" pitchFamily="34" charset="0"/>
              </a:rPr>
              <a:t>scriptsig</a:t>
            </a:r>
            <a:r>
              <a:rPr lang="en-US" sz="2000" dirty="0">
                <a:solidFill>
                  <a:srgbClr val="24469D"/>
                </a:solidFill>
                <a:latin typeface="Candara" panose="020E0502030303020204" pitchFamily="34" charset="0"/>
              </a:rPr>
              <a:t>&gt; = empty </a:t>
            </a:r>
          </a:p>
          <a:p>
            <a:pPr marL="800089" lvl="1" indent="-342900">
              <a:buFont typeface="Arial" panose="020B0604020202020204" pitchFamily="34" charset="0"/>
              <a:buChar char="•"/>
            </a:pPr>
            <a:r>
              <a:rPr lang="en-US" sz="2000" dirty="0">
                <a:solidFill>
                  <a:srgbClr val="24469D"/>
                </a:solidFill>
                <a:latin typeface="Candara" panose="020E0502030303020204" pitchFamily="34" charset="0"/>
              </a:rPr>
              <a:t>Witness (child </a:t>
            </a:r>
            <a:r>
              <a:rPr lang="en-US" sz="2000" dirty="0" err="1">
                <a:solidFill>
                  <a:srgbClr val="24469D"/>
                </a:solidFill>
                <a:latin typeface="Candara" panose="020E0502030303020204" pitchFamily="34" charset="0"/>
              </a:rPr>
              <a:t>txn</a:t>
            </a:r>
            <a:r>
              <a:rPr lang="en-US" sz="2000" dirty="0">
                <a:solidFill>
                  <a:srgbClr val="24469D"/>
                </a:solidFill>
                <a:latin typeface="Candara" panose="020E0502030303020204" pitchFamily="34" charset="0"/>
              </a:rPr>
              <a:t>): </a:t>
            </a:r>
            <a:r>
              <a:rPr lang="en-US" sz="2000" dirty="0">
                <a:solidFill>
                  <a:srgbClr val="7030A0"/>
                </a:solidFill>
                <a:latin typeface="Candara" panose="020E0502030303020204" pitchFamily="34" charset="0"/>
              </a:rPr>
              <a:t>&lt;sig&gt; </a:t>
            </a:r>
            <a:r>
              <a:rPr lang="en-US" sz="2000" dirty="0">
                <a:solidFill>
                  <a:srgbClr val="FF0000"/>
                </a:solidFill>
                <a:latin typeface="Candara" panose="020E0502030303020204" pitchFamily="34" charset="0"/>
              </a:rPr>
              <a:t>&lt;</a:t>
            </a:r>
            <a:r>
              <a:rPr lang="en-US" sz="2000" dirty="0" err="1">
                <a:solidFill>
                  <a:srgbClr val="FF0000"/>
                </a:solidFill>
                <a:latin typeface="Candara" panose="020E0502030303020204" pitchFamily="34" charset="0"/>
              </a:rPr>
              <a:t>ws</a:t>
            </a:r>
            <a:r>
              <a:rPr lang="en-US" sz="2000" dirty="0">
                <a:solidFill>
                  <a:srgbClr val="FF0000"/>
                </a:solidFill>
                <a:latin typeface="Candara" panose="020E0502030303020204" pitchFamily="34" charset="0"/>
              </a:rPr>
              <a:t>&gt; </a:t>
            </a:r>
          </a:p>
        </p:txBody>
      </p:sp>
      <p:sp>
        <p:nvSpPr>
          <p:cNvPr id="20" name="Rectangle 19">
            <a:extLst>
              <a:ext uri="{FF2B5EF4-FFF2-40B4-BE49-F238E27FC236}">
                <a16:creationId xmlns:a16="http://schemas.microsoft.com/office/drawing/2014/main" id="{7AFA21FD-21B2-A1A6-D5DE-84A2D2401628}"/>
              </a:ext>
            </a:extLst>
          </p:cNvPr>
          <p:cNvSpPr/>
          <p:nvPr/>
        </p:nvSpPr>
        <p:spPr>
          <a:xfrm>
            <a:off x="662546" y="5868207"/>
            <a:ext cx="4764100" cy="579665"/>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 (parent </a:t>
            </a:r>
            <a:r>
              <a:rPr lang="en-US" sz="2000" dirty="0" err="1">
                <a:solidFill>
                  <a:schemeClr val="tx1"/>
                </a:solidFill>
                <a:latin typeface="Candara" panose="020E0502030303020204" pitchFamily="34" charset="0"/>
              </a:rPr>
              <a:t>txn</a:t>
            </a:r>
            <a:r>
              <a:rPr lang="en-US" sz="2000" dirty="0">
                <a:solidFill>
                  <a:schemeClr val="tx1"/>
                </a:solidFill>
                <a:latin typeface="Candara" panose="020E0502030303020204" pitchFamily="34" charset="0"/>
              </a:rPr>
              <a:t>)</a:t>
            </a:r>
          </a:p>
          <a:p>
            <a:pPr algn="ctr"/>
            <a:r>
              <a:rPr lang="en-US" sz="2000" dirty="0">
                <a:solidFill>
                  <a:schemeClr val="tx1"/>
                </a:solidFill>
                <a:latin typeface="Candara" panose="020E0502030303020204" pitchFamily="34" charset="0"/>
              </a:rPr>
              <a:t>&lt;--&gt; &lt;--&gt;</a:t>
            </a:r>
          </a:p>
        </p:txBody>
      </p:sp>
      <p:sp>
        <p:nvSpPr>
          <p:cNvPr id="38" name="Rectangle 37">
            <a:extLst>
              <a:ext uri="{FF2B5EF4-FFF2-40B4-BE49-F238E27FC236}">
                <a16:creationId xmlns:a16="http://schemas.microsoft.com/office/drawing/2014/main" id="{0E6B0EF8-9328-6509-4A01-B8A09E1DC763}"/>
              </a:ext>
            </a:extLst>
          </p:cNvPr>
          <p:cNvSpPr/>
          <p:nvPr/>
        </p:nvSpPr>
        <p:spPr>
          <a:xfrm>
            <a:off x="6826732" y="5878596"/>
            <a:ext cx="4764100" cy="57966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 (child </a:t>
            </a:r>
            <a:r>
              <a:rPr lang="en-US" sz="2000" dirty="0" err="1">
                <a:solidFill>
                  <a:schemeClr val="tx1"/>
                </a:solidFill>
                <a:latin typeface="Candara" panose="020E0502030303020204" pitchFamily="34" charset="0"/>
              </a:rPr>
              <a:t>txn</a:t>
            </a:r>
            <a:r>
              <a:rPr lang="en-US" sz="2000" dirty="0">
                <a:solidFill>
                  <a:schemeClr val="tx1"/>
                </a:solidFill>
                <a:latin typeface="Candara" panose="020E0502030303020204" pitchFamily="34" charset="0"/>
              </a:rPr>
              <a:t>)</a:t>
            </a:r>
          </a:p>
          <a:p>
            <a:pPr algn="ctr"/>
            <a:r>
              <a:rPr lang="en-US" sz="2000" dirty="0">
                <a:solidFill>
                  <a:schemeClr val="tx1"/>
                </a:solidFill>
                <a:latin typeface="Candara" panose="020E0502030303020204" pitchFamily="34" charset="0"/>
              </a:rPr>
              <a:t>&lt;signature&gt; &lt;witness script (</a:t>
            </a:r>
            <a:r>
              <a:rPr lang="en-US" sz="2000" dirty="0" err="1">
                <a:solidFill>
                  <a:schemeClr val="tx1"/>
                </a:solidFill>
                <a:latin typeface="Candara" panose="020E0502030303020204" pitchFamily="34" charset="0"/>
              </a:rPr>
              <a:t>ws</a:t>
            </a:r>
            <a:r>
              <a:rPr lang="en-US" sz="2000" dirty="0">
                <a:solidFill>
                  <a:schemeClr val="tx1"/>
                </a:solidFill>
                <a:latin typeface="Candara" panose="020E0502030303020204" pitchFamily="34" charset="0"/>
              </a:rPr>
              <a:t>)&gt;</a:t>
            </a:r>
          </a:p>
        </p:txBody>
      </p:sp>
      <p:cxnSp>
        <p:nvCxnSpPr>
          <p:cNvPr id="40" name="Straight Arrow Connector 39">
            <a:extLst>
              <a:ext uri="{FF2B5EF4-FFF2-40B4-BE49-F238E27FC236}">
                <a16:creationId xmlns:a16="http://schemas.microsoft.com/office/drawing/2014/main" id="{66051562-2C66-F25B-1785-F42764DE6491}"/>
              </a:ext>
            </a:extLst>
          </p:cNvPr>
          <p:cNvCxnSpPr>
            <a:stCxn id="15" idx="1"/>
            <a:endCxn id="33" idx="3"/>
          </p:cNvCxnSpPr>
          <p:nvPr/>
        </p:nvCxnSpPr>
        <p:spPr>
          <a:xfrm flipH="1">
            <a:off x="5426646" y="4024867"/>
            <a:ext cx="1400086" cy="21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2D3ACB6F-ABE1-6596-91FB-19AA6C7F6706}"/>
              </a:ext>
            </a:extLst>
          </p:cNvPr>
          <p:cNvGrpSpPr/>
          <p:nvPr/>
        </p:nvGrpSpPr>
        <p:grpSpPr>
          <a:xfrm>
            <a:off x="5426646" y="4581676"/>
            <a:ext cx="1400086" cy="1586756"/>
            <a:chOff x="5426646" y="4367463"/>
            <a:chExt cx="1400086" cy="1745433"/>
          </a:xfrm>
        </p:grpSpPr>
        <p:cxnSp>
          <p:nvCxnSpPr>
            <p:cNvPr id="42" name="Straight Connector 41">
              <a:extLst>
                <a:ext uri="{FF2B5EF4-FFF2-40B4-BE49-F238E27FC236}">
                  <a16:creationId xmlns:a16="http://schemas.microsoft.com/office/drawing/2014/main" id="{12D40475-EA31-21D1-351F-601EDCF8F53D}"/>
                </a:ext>
              </a:extLst>
            </p:cNvPr>
            <p:cNvCxnSpPr>
              <a:cxnSpLocks/>
              <a:stCxn id="38" idx="1"/>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2A8F14A-DDD2-00B3-6EC0-A73FE4CFF177}"/>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AC2212F-B499-CAA6-304C-E59515D71E14}"/>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F368DEDF-FA06-401A-81C8-1918972AF94E}"/>
              </a:ext>
            </a:extLst>
          </p:cNvPr>
          <p:cNvGrpSpPr/>
          <p:nvPr/>
        </p:nvGrpSpPr>
        <p:grpSpPr>
          <a:xfrm>
            <a:off x="662546" y="2621357"/>
            <a:ext cx="4764100" cy="2764994"/>
            <a:chOff x="662546" y="2621357"/>
            <a:chExt cx="4764100" cy="2764994"/>
          </a:xfrm>
        </p:grpSpPr>
        <p:grpSp>
          <p:nvGrpSpPr>
            <p:cNvPr id="51" name="Group 50">
              <a:extLst>
                <a:ext uri="{FF2B5EF4-FFF2-40B4-BE49-F238E27FC236}">
                  <a16:creationId xmlns:a16="http://schemas.microsoft.com/office/drawing/2014/main" id="{34419CC2-556B-EE3B-5D39-74F37F4F7A7A}"/>
                </a:ext>
              </a:extLst>
            </p:cNvPr>
            <p:cNvGrpSpPr/>
            <p:nvPr/>
          </p:nvGrpSpPr>
          <p:grpSpPr>
            <a:xfrm>
              <a:off x="662546" y="3040562"/>
              <a:ext cx="4764100" cy="2345789"/>
              <a:chOff x="662546" y="2790923"/>
              <a:chExt cx="4764100" cy="2580368"/>
            </a:xfrm>
          </p:grpSpPr>
          <p:grpSp>
            <p:nvGrpSpPr>
              <p:cNvPr id="12" name="Group 11">
                <a:extLst>
                  <a:ext uri="{FF2B5EF4-FFF2-40B4-BE49-F238E27FC236}">
                    <a16:creationId xmlns:a16="http://schemas.microsoft.com/office/drawing/2014/main" id="{A745EC04-0FAE-58BB-5B1C-3B87B36301D8}"/>
                  </a:ext>
                </a:extLst>
              </p:cNvPr>
              <p:cNvGrpSpPr/>
              <p:nvPr/>
            </p:nvGrpSpPr>
            <p:grpSpPr>
              <a:xfrm>
                <a:off x="662546" y="2790923"/>
                <a:ext cx="4764100" cy="2142930"/>
                <a:chOff x="895162" y="2638523"/>
                <a:chExt cx="4764100" cy="2142930"/>
              </a:xfrm>
            </p:grpSpPr>
            <p:grpSp>
              <p:nvGrpSpPr>
                <p:cNvPr id="31" name="Group 30">
                  <a:extLst>
                    <a:ext uri="{FF2B5EF4-FFF2-40B4-BE49-F238E27FC236}">
                      <a16:creationId xmlns:a16="http://schemas.microsoft.com/office/drawing/2014/main" id="{BD2D28CA-A639-82A5-9308-379D12FA34B0}"/>
                    </a:ext>
                  </a:extLst>
                </p:cNvPr>
                <p:cNvGrpSpPr/>
                <p:nvPr/>
              </p:nvGrpSpPr>
              <p:grpSpPr>
                <a:xfrm>
                  <a:off x="895162" y="2661533"/>
                  <a:ext cx="4764100" cy="2119920"/>
                  <a:chOff x="805543" y="3039909"/>
                  <a:chExt cx="5057939" cy="2119920"/>
                </a:xfrm>
                <a:noFill/>
              </p:grpSpPr>
              <p:sp>
                <p:nvSpPr>
                  <p:cNvPr id="33" name="Rectangle 32">
                    <a:extLst>
                      <a:ext uri="{FF2B5EF4-FFF2-40B4-BE49-F238E27FC236}">
                        <a16:creationId xmlns:a16="http://schemas.microsoft.com/office/drawing/2014/main" id="{CF49DAF8-FF59-FB3F-7877-0867FE39FF8E}"/>
                      </a:ext>
                    </a:extLst>
                  </p:cNvPr>
                  <p:cNvSpPr/>
                  <p:nvPr/>
                </p:nvSpPr>
                <p:spPr>
                  <a:xfrm>
                    <a:off x="805543" y="3039909"/>
                    <a:ext cx="5057939" cy="2119920"/>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34" name="Rectangle 33">
                    <a:extLst>
                      <a:ext uri="{FF2B5EF4-FFF2-40B4-BE49-F238E27FC236}">
                        <a16:creationId xmlns:a16="http://schemas.microsoft.com/office/drawing/2014/main" id="{712C5838-6708-59BB-D672-59B5DFDD6D93}"/>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5" name="Rectangle 34">
                    <a:extLst>
                      <a:ext uri="{FF2B5EF4-FFF2-40B4-BE49-F238E27FC236}">
                        <a16:creationId xmlns:a16="http://schemas.microsoft.com/office/drawing/2014/main" id="{86179448-E52B-F16F-F4BC-E5895F227D5D}"/>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7" name="TextBox 36">
                    <a:extLst>
                      <a:ext uri="{FF2B5EF4-FFF2-40B4-BE49-F238E27FC236}">
                        <a16:creationId xmlns:a16="http://schemas.microsoft.com/office/drawing/2014/main" id="{C15BA2AD-1EA6-FA84-8D30-061A1C12F108}"/>
                      </a:ext>
                    </a:extLst>
                  </p:cNvPr>
                  <p:cNvSpPr txBox="1"/>
                  <p:nvPr/>
                </p:nvSpPr>
                <p:spPr>
                  <a:xfrm>
                    <a:off x="3503946" y="3941452"/>
                    <a:ext cx="2139943" cy="1117229"/>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 </a:t>
                    </a:r>
                  </a:p>
                  <a:p>
                    <a:pPr algn="ctr"/>
                    <a:r>
                      <a:rPr lang="en-US" sz="2000" dirty="0">
                        <a:solidFill>
                          <a:schemeClr val="bg1"/>
                        </a:solidFill>
                        <a:latin typeface="Candara" panose="020E0502030303020204" pitchFamily="34" charset="0"/>
                      </a:rPr>
                      <a:t>OP_0 &lt;</a:t>
                    </a:r>
                    <a:r>
                      <a:rPr lang="en-US" sz="2000" dirty="0" err="1">
                        <a:solidFill>
                          <a:schemeClr val="bg1"/>
                        </a:solidFill>
                        <a:latin typeface="Candara" panose="020E0502030303020204" pitchFamily="34" charset="0"/>
                      </a:rPr>
                      <a:t>wsh</a:t>
                    </a:r>
                    <a:r>
                      <a:rPr lang="en-US" sz="2000" dirty="0">
                        <a:solidFill>
                          <a:schemeClr val="bg1"/>
                        </a:solidFill>
                        <a:latin typeface="Candara" panose="020E0502030303020204" pitchFamily="34" charset="0"/>
                      </a:rPr>
                      <a:t>&gt;</a:t>
                    </a:r>
                  </a:p>
                  <a:p>
                    <a:pPr algn="ctr"/>
                    <a:endParaRPr lang="en-US" sz="2000" dirty="0">
                      <a:latin typeface="Candara" panose="020E0502030303020204" pitchFamily="34" charset="0"/>
                    </a:endParaRPr>
                  </a:p>
                </p:txBody>
              </p:sp>
            </p:grpSp>
            <p:sp>
              <p:nvSpPr>
                <p:cNvPr id="32" name="Rectangle 31">
                  <a:extLst>
                    <a:ext uri="{FF2B5EF4-FFF2-40B4-BE49-F238E27FC236}">
                      <a16:creationId xmlns:a16="http://schemas.microsoft.com/office/drawing/2014/main" id="{A6098FD0-2C53-71D7-C8D0-C75B3E004EB4}"/>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48" name="Rectangle 47">
                <a:extLst>
                  <a:ext uri="{FF2B5EF4-FFF2-40B4-BE49-F238E27FC236}">
                    <a16:creationId xmlns:a16="http://schemas.microsoft.com/office/drawing/2014/main" id="{255A4785-918F-58B3-638B-86AC222B935F}"/>
                  </a:ext>
                </a:extLst>
              </p:cNvPr>
              <p:cNvSpPr/>
              <p:nvPr/>
            </p:nvSpPr>
            <p:spPr>
              <a:xfrm>
                <a:off x="662546" y="4933853"/>
                <a:ext cx="4764100" cy="43743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P2WSH1234P</a:t>
                </a:r>
              </a:p>
            </p:txBody>
          </p:sp>
        </p:grpSp>
        <p:sp>
          <p:nvSpPr>
            <p:cNvPr id="55" name="TextBox 54">
              <a:extLst>
                <a:ext uri="{FF2B5EF4-FFF2-40B4-BE49-F238E27FC236}">
                  <a16:creationId xmlns:a16="http://schemas.microsoft.com/office/drawing/2014/main" id="{B2FB3F7B-B4D4-BEBD-A9C5-135F19F7FC1E}"/>
                </a:ext>
              </a:extLst>
            </p:cNvPr>
            <p:cNvSpPr txBox="1"/>
            <p:nvPr/>
          </p:nvSpPr>
          <p:spPr>
            <a:xfrm>
              <a:off x="1768858" y="2621357"/>
              <a:ext cx="2623603" cy="461665"/>
            </a:xfrm>
            <a:prstGeom prst="rect">
              <a:avLst/>
            </a:prstGeom>
            <a:noFill/>
          </p:spPr>
          <p:txBody>
            <a:bodyPr wrap="none" rtlCol="0">
              <a:spAutoFit/>
            </a:bodyPr>
            <a:lstStyle/>
            <a:p>
              <a:r>
                <a:rPr lang="en-US" sz="2400" dirty="0">
                  <a:latin typeface="Candara" panose="020E0502030303020204" pitchFamily="34" charset="0"/>
                </a:rPr>
                <a:t>Parent Transaction</a:t>
              </a:r>
            </a:p>
          </p:txBody>
        </p:sp>
      </p:grpSp>
      <p:grpSp>
        <p:nvGrpSpPr>
          <p:cNvPr id="58" name="Group 57">
            <a:extLst>
              <a:ext uri="{FF2B5EF4-FFF2-40B4-BE49-F238E27FC236}">
                <a16:creationId xmlns:a16="http://schemas.microsoft.com/office/drawing/2014/main" id="{2E260881-0A1D-BB99-B5E5-4789CD64B900}"/>
              </a:ext>
            </a:extLst>
          </p:cNvPr>
          <p:cNvGrpSpPr/>
          <p:nvPr/>
        </p:nvGrpSpPr>
        <p:grpSpPr>
          <a:xfrm>
            <a:off x="6826732" y="2576830"/>
            <a:ext cx="4764100" cy="2805033"/>
            <a:chOff x="6826732" y="2576830"/>
            <a:chExt cx="4764100" cy="2805033"/>
          </a:xfrm>
        </p:grpSpPr>
        <p:grpSp>
          <p:nvGrpSpPr>
            <p:cNvPr id="52" name="Group 51">
              <a:extLst>
                <a:ext uri="{FF2B5EF4-FFF2-40B4-BE49-F238E27FC236}">
                  <a16:creationId xmlns:a16="http://schemas.microsoft.com/office/drawing/2014/main" id="{F97EBF8C-DD25-6528-23EB-15F747202C6B}"/>
                </a:ext>
              </a:extLst>
            </p:cNvPr>
            <p:cNvGrpSpPr/>
            <p:nvPr/>
          </p:nvGrpSpPr>
          <p:grpSpPr>
            <a:xfrm>
              <a:off x="6826732" y="3040348"/>
              <a:ext cx="4764100" cy="2341515"/>
              <a:chOff x="6826732" y="2790923"/>
              <a:chExt cx="4764100" cy="2575666"/>
            </a:xfrm>
          </p:grpSpPr>
          <p:grpSp>
            <p:nvGrpSpPr>
              <p:cNvPr id="11" name="Group 10">
                <a:extLst>
                  <a:ext uri="{FF2B5EF4-FFF2-40B4-BE49-F238E27FC236}">
                    <a16:creationId xmlns:a16="http://schemas.microsoft.com/office/drawing/2014/main" id="{EC187A78-EBC7-CA72-0A0C-EDC403E0BA4F}"/>
                  </a:ext>
                </a:extLst>
              </p:cNvPr>
              <p:cNvGrpSpPr/>
              <p:nvPr/>
            </p:nvGrpSpPr>
            <p:grpSpPr>
              <a:xfrm>
                <a:off x="6826732" y="2790923"/>
                <a:ext cx="4764100" cy="2142930"/>
                <a:chOff x="895162" y="2638523"/>
                <a:chExt cx="4764100" cy="2142930"/>
              </a:xfrm>
            </p:grpSpPr>
            <p:grpSp>
              <p:nvGrpSpPr>
                <p:cNvPr id="13" name="Group 12">
                  <a:extLst>
                    <a:ext uri="{FF2B5EF4-FFF2-40B4-BE49-F238E27FC236}">
                      <a16:creationId xmlns:a16="http://schemas.microsoft.com/office/drawing/2014/main" id="{5F657451-5612-9E0C-819D-916664C0B2C2}"/>
                    </a:ext>
                  </a:extLst>
                </p:cNvPr>
                <p:cNvGrpSpPr/>
                <p:nvPr/>
              </p:nvGrpSpPr>
              <p:grpSpPr>
                <a:xfrm>
                  <a:off x="895162" y="2661533"/>
                  <a:ext cx="4764100" cy="2119920"/>
                  <a:chOff x="805543" y="3039909"/>
                  <a:chExt cx="5057939" cy="2119920"/>
                </a:xfrm>
                <a:noFill/>
              </p:grpSpPr>
              <p:sp>
                <p:nvSpPr>
                  <p:cNvPr id="15" name="Rectangle 14">
                    <a:extLst>
                      <a:ext uri="{FF2B5EF4-FFF2-40B4-BE49-F238E27FC236}">
                        <a16:creationId xmlns:a16="http://schemas.microsoft.com/office/drawing/2014/main" id="{8CA9B90A-7945-7924-06F5-A3957589B697}"/>
                      </a:ext>
                    </a:extLst>
                  </p:cNvPr>
                  <p:cNvSpPr/>
                  <p:nvPr/>
                </p:nvSpPr>
                <p:spPr>
                  <a:xfrm>
                    <a:off x="805543" y="3039909"/>
                    <a:ext cx="5057939" cy="2119920"/>
                  </a:xfrm>
                  <a:prstGeom prst="rect">
                    <a:avLst/>
                  </a:prstGeom>
                  <a:solidFill>
                    <a:schemeClr val="accent6">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6" name="Rectangle 15">
                    <a:extLst>
                      <a:ext uri="{FF2B5EF4-FFF2-40B4-BE49-F238E27FC236}">
                        <a16:creationId xmlns:a16="http://schemas.microsoft.com/office/drawing/2014/main" id="{C69506E1-474C-9C3F-08D3-24A2032D2775}"/>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7" name="Rectangle 16">
                    <a:extLst>
                      <a:ext uri="{FF2B5EF4-FFF2-40B4-BE49-F238E27FC236}">
                        <a16:creationId xmlns:a16="http://schemas.microsoft.com/office/drawing/2014/main" id="{84C23BCD-E7B5-219E-02CE-273178F0690B}"/>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8" name="TextBox 17">
                    <a:extLst>
                      <a:ext uri="{FF2B5EF4-FFF2-40B4-BE49-F238E27FC236}">
                        <a16:creationId xmlns:a16="http://schemas.microsoft.com/office/drawing/2014/main" id="{7E2312BC-E362-5139-0F9D-B0463647725C}"/>
                      </a:ext>
                    </a:extLst>
                  </p:cNvPr>
                  <p:cNvSpPr txBox="1"/>
                  <p:nvPr/>
                </p:nvSpPr>
                <p:spPr>
                  <a:xfrm>
                    <a:off x="1083540" y="3812470"/>
                    <a:ext cx="2139943" cy="1117229"/>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Prev </a:t>
                    </a:r>
                    <a:r>
                      <a:rPr lang="en-US" sz="2000" dirty="0" err="1">
                        <a:solidFill>
                          <a:schemeClr val="bg1"/>
                        </a:solidFill>
                        <a:latin typeface="Candara" panose="020E0502030303020204" pitchFamily="34" charset="0"/>
                      </a:rPr>
                      <a:t>Txid</a:t>
                    </a:r>
                    <a:endParaRPr lang="en-US" sz="2000" dirty="0">
                      <a:solidFill>
                        <a:schemeClr val="bg1"/>
                      </a:solidFill>
                      <a:latin typeface="Candara" panose="020E0502030303020204" pitchFamily="34" charset="0"/>
                    </a:endParaRPr>
                  </a:p>
                  <a:p>
                    <a:pPr algn="ctr"/>
                    <a:r>
                      <a:rPr lang="en-US" sz="2000" dirty="0" err="1">
                        <a:solidFill>
                          <a:schemeClr val="bg1"/>
                        </a:solidFill>
                        <a:latin typeface="Candara" panose="020E0502030303020204" pitchFamily="34" charset="0"/>
                      </a:rPr>
                      <a:t>Idx</a:t>
                    </a:r>
                    <a:endParaRPr lang="en-US" sz="2000" dirty="0">
                      <a:solidFill>
                        <a:schemeClr val="bg1"/>
                      </a:solidFill>
                      <a:latin typeface="Candara" panose="020E0502030303020204" pitchFamily="34" charset="0"/>
                    </a:endParaRPr>
                  </a:p>
                  <a:p>
                    <a:pPr algn="ctr"/>
                    <a:r>
                      <a:rPr lang="en-US" sz="2000" dirty="0" err="1">
                        <a:solidFill>
                          <a:schemeClr val="bg1"/>
                        </a:solidFill>
                        <a:latin typeface="Candara" panose="020E0502030303020204" pitchFamily="34" charset="0"/>
                      </a:rPr>
                      <a:t>scriptSig</a:t>
                    </a:r>
                    <a:r>
                      <a:rPr lang="en-US" sz="2000" dirty="0">
                        <a:solidFill>
                          <a:schemeClr val="bg1"/>
                        </a:solidFill>
                        <a:latin typeface="Candara" panose="020E0502030303020204" pitchFamily="34" charset="0"/>
                      </a:rPr>
                      <a:t>=empty</a:t>
                    </a:r>
                  </a:p>
                </p:txBody>
              </p:sp>
            </p:grpSp>
            <p:sp>
              <p:nvSpPr>
                <p:cNvPr id="7" name="Rectangle 6">
                  <a:extLst>
                    <a:ext uri="{FF2B5EF4-FFF2-40B4-BE49-F238E27FC236}">
                      <a16:creationId xmlns:a16="http://schemas.microsoft.com/office/drawing/2014/main" id="{8662258A-B5E4-2B76-142C-C925A3544394}"/>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Transaction-Level Fields </a:t>
                  </a:r>
                </a:p>
                <a:p>
                  <a:pPr algn="ctr"/>
                  <a:r>
                    <a:rPr lang="en-US" sz="2000" dirty="0">
                      <a:solidFill>
                        <a:schemeClr val="tx1"/>
                      </a:solidFill>
                      <a:latin typeface="Candara" panose="020E0502030303020204" pitchFamily="34" charset="0"/>
                    </a:rPr>
                    <a:t>(Version, </a:t>
                  </a:r>
                  <a:r>
                    <a:rPr lang="en-US" sz="2000" dirty="0" err="1">
                      <a:solidFill>
                        <a:schemeClr val="tx1"/>
                      </a:solidFill>
                      <a:latin typeface="Candara" panose="020E0502030303020204" pitchFamily="34" charset="0"/>
                    </a:rPr>
                    <a:t>nLockTime</a:t>
                  </a:r>
                  <a:r>
                    <a:rPr lang="en-US" sz="2000" dirty="0">
                      <a:solidFill>
                        <a:schemeClr val="tx1"/>
                      </a:solidFill>
                      <a:latin typeface="Candara" panose="020E0502030303020204" pitchFamily="34" charset="0"/>
                    </a:rPr>
                    <a:t>, Flags)</a:t>
                  </a:r>
                </a:p>
              </p:txBody>
            </p:sp>
          </p:grpSp>
          <p:sp>
            <p:nvSpPr>
              <p:cNvPr id="49" name="Rectangle 48">
                <a:extLst>
                  <a:ext uri="{FF2B5EF4-FFF2-40B4-BE49-F238E27FC236}">
                    <a16:creationId xmlns:a16="http://schemas.microsoft.com/office/drawing/2014/main" id="{D67176EC-ED3C-3D20-19D3-9B9083B104EC}"/>
                  </a:ext>
                </a:extLst>
              </p:cNvPr>
              <p:cNvSpPr/>
              <p:nvPr/>
            </p:nvSpPr>
            <p:spPr>
              <a:xfrm>
                <a:off x="6826732" y="4929151"/>
                <a:ext cx="4764100" cy="43743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P2WSH1234C</a:t>
                </a:r>
              </a:p>
            </p:txBody>
          </p:sp>
        </p:grpSp>
        <p:sp>
          <p:nvSpPr>
            <p:cNvPr id="56" name="TextBox 55">
              <a:extLst>
                <a:ext uri="{FF2B5EF4-FFF2-40B4-BE49-F238E27FC236}">
                  <a16:creationId xmlns:a16="http://schemas.microsoft.com/office/drawing/2014/main" id="{1229680E-B680-DD84-8CBE-982BC656D0DD}"/>
                </a:ext>
              </a:extLst>
            </p:cNvPr>
            <p:cNvSpPr txBox="1"/>
            <p:nvPr/>
          </p:nvSpPr>
          <p:spPr>
            <a:xfrm>
              <a:off x="8008122" y="2576830"/>
              <a:ext cx="2400785" cy="461665"/>
            </a:xfrm>
            <a:prstGeom prst="rect">
              <a:avLst/>
            </a:prstGeom>
            <a:noFill/>
          </p:spPr>
          <p:txBody>
            <a:bodyPr wrap="none" rtlCol="0">
              <a:spAutoFit/>
            </a:bodyPr>
            <a:lstStyle/>
            <a:p>
              <a:r>
                <a:rPr lang="en-US" sz="2400" dirty="0">
                  <a:latin typeface="Candara" panose="020E0502030303020204" pitchFamily="34" charset="0"/>
                </a:rPr>
                <a:t>Child Transaction</a:t>
              </a:r>
            </a:p>
          </p:txBody>
        </p:sp>
      </p:grpSp>
    </p:spTree>
    <p:extLst>
      <p:ext uri="{BB962C8B-B14F-4D97-AF65-F5344CB8AC3E}">
        <p14:creationId xmlns:p14="http://schemas.microsoft.com/office/powerpoint/2010/main" val="299832686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09C3D-3F6A-4170-1579-1C650DF10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FD918-67F9-CAA3-5420-C981045DCE8A}"/>
              </a:ext>
            </a:extLst>
          </p:cNvPr>
          <p:cNvSpPr>
            <a:spLocks noGrp="1"/>
          </p:cNvSpPr>
          <p:nvPr>
            <p:ph type="title"/>
          </p:nvPr>
        </p:nvSpPr>
        <p:spPr/>
        <p:txBody>
          <a:bodyPr/>
          <a:lstStyle/>
          <a:p>
            <a:r>
              <a:rPr lang="en-US" dirty="0" err="1"/>
              <a:t>SegWit</a:t>
            </a:r>
            <a:r>
              <a:rPr lang="en-US" dirty="0"/>
              <a:t> Transaction Validation</a:t>
            </a:r>
          </a:p>
        </p:txBody>
      </p:sp>
      <p:sp>
        <p:nvSpPr>
          <p:cNvPr id="4" name="Slide Number Placeholder 3">
            <a:extLst>
              <a:ext uri="{FF2B5EF4-FFF2-40B4-BE49-F238E27FC236}">
                <a16:creationId xmlns:a16="http://schemas.microsoft.com/office/drawing/2014/main" id="{616DCFF3-7EDF-70CF-1AC9-3F60B0A85535}"/>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44</a:t>
            </a:fld>
            <a:endParaRPr lang="en-US" dirty="0">
              <a:latin typeface="Candara" panose="020E0502030303020204" pitchFamily="34" charset="0"/>
            </a:endParaRPr>
          </a:p>
        </p:txBody>
      </p:sp>
      <p:sp>
        <p:nvSpPr>
          <p:cNvPr id="9" name="TextBox 8">
            <a:extLst>
              <a:ext uri="{FF2B5EF4-FFF2-40B4-BE49-F238E27FC236}">
                <a16:creationId xmlns:a16="http://schemas.microsoft.com/office/drawing/2014/main" id="{D56A690E-7982-726E-0748-3D75B7D84549}"/>
              </a:ext>
            </a:extLst>
          </p:cNvPr>
          <p:cNvSpPr txBox="1"/>
          <p:nvPr/>
        </p:nvSpPr>
        <p:spPr>
          <a:xfrm>
            <a:off x="487681" y="1566386"/>
            <a:ext cx="11316870"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ndara" panose="020E0502030303020204" pitchFamily="34" charset="0"/>
              </a:rPr>
              <a:t>Old nodes run the older version of the software that recognizes the legacy transaction format</a:t>
            </a:r>
          </a:p>
          <a:p>
            <a:pPr marL="342900" indent="-342900">
              <a:buFont typeface="Arial" panose="020B0604020202020204" pitchFamily="34" charset="0"/>
              <a:buChar char="•"/>
            </a:pPr>
            <a:r>
              <a:rPr lang="en-US" sz="2000" dirty="0">
                <a:latin typeface="Candara" panose="020E0502030303020204" pitchFamily="34" charset="0"/>
              </a:rPr>
              <a:t>The old nodes find the signature field empty</a:t>
            </a:r>
          </a:p>
          <a:p>
            <a:pPr marL="800100" lvl="1" indent="-342900">
              <a:buFont typeface="Arial" panose="020B0604020202020204" pitchFamily="34" charset="0"/>
              <a:buChar char="•"/>
            </a:pPr>
            <a:r>
              <a:rPr lang="en-US" sz="2000" dirty="0">
                <a:latin typeface="Candara" panose="020E0502030303020204" pitchFamily="34" charset="0"/>
              </a:rPr>
              <a:t>They validate without the signature because they do not find it anywhere inside the transaction</a:t>
            </a:r>
          </a:p>
          <a:p>
            <a:pPr marL="800100" lvl="1" indent="-342900">
              <a:buFont typeface="Arial" panose="020B0604020202020204" pitchFamily="34" charset="0"/>
              <a:buChar char="•"/>
            </a:pPr>
            <a:r>
              <a:rPr lang="en-US" sz="2000" dirty="0">
                <a:solidFill>
                  <a:srgbClr val="1F2328"/>
                </a:solidFill>
                <a:latin typeface="Candara" panose="020E0502030303020204" pitchFamily="34" charset="0"/>
              </a:rPr>
              <a:t>Old nodes validate </a:t>
            </a:r>
            <a:r>
              <a:rPr lang="en-US" sz="2000" dirty="0" err="1">
                <a:solidFill>
                  <a:srgbClr val="1F2328"/>
                </a:solidFill>
                <a:latin typeface="Candara" panose="020E0502030303020204" pitchFamily="34" charset="0"/>
              </a:rPr>
              <a:t>SegWit</a:t>
            </a:r>
            <a:r>
              <a:rPr lang="en-US" sz="2000" dirty="0">
                <a:solidFill>
                  <a:srgbClr val="1F2328"/>
                </a:solidFill>
                <a:latin typeface="Candara" panose="020E0502030303020204" pitchFamily="34" charset="0"/>
              </a:rPr>
              <a:t> transactions as “anyone-can-spend” </a:t>
            </a:r>
            <a:endParaRPr lang="en-US" sz="2000" dirty="0">
              <a:latin typeface="Candara" panose="020E0502030303020204" pitchFamily="34" charset="0"/>
            </a:endParaRPr>
          </a:p>
          <a:p>
            <a:pPr marL="342900" indent="-342900">
              <a:buFont typeface="Arial" panose="020B0604020202020204" pitchFamily="34" charset="0"/>
              <a:buChar char="•"/>
            </a:pPr>
            <a:r>
              <a:rPr lang="en-US" sz="2000" dirty="0">
                <a:latin typeface="Candara" panose="020E0502030303020204" pitchFamily="34" charset="0"/>
              </a:rPr>
              <a:t>In the output script, the old nodes first pop a zero (OP_0) on the stack followed by &lt;</a:t>
            </a:r>
            <a:r>
              <a:rPr lang="en-US" sz="2000" dirty="0" err="1">
                <a:latin typeface="Candara" panose="020E0502030303020204" pitchFamily="34" charset="0"/>
              </a:rPr>
              <a:t>wpkh</a:t>
            </a:r>
            <a:r>
              <a:rPr lang="en-US" sz="2000" dirty="0">
                <a:latin typeface="Candara" panose="020E0502030303020204" pitchFamily="34" charset="0"/>
              </a:rPr>
              <a:t>&gt; or &lt;</a:t>
            </a:r>
            <a:r>
              <a:rPr lang="en-US" sz="2000" dirty="0" err="1">
                <a:latin typeface="Candara" panose="020E0502030303020204" pitchFamily="34" charset="0"/>
              </a:rPr>
              <a:t>wsh</a:t>
            </a:r>
            <a:r>
              <a:rPr lang="en-US" sz="2000" dirty="0">
                <a:latin typeface="Candara" panose="020E0502030303020204" pitchFamily="34" charset="0"/>
              </a:rPr>
              <a:t>&gt;</a:t>
            </a:r>
          </a:p>
          <a:p>
            <a:pPr marL="800100" lvl="1" indent="-342900">
              <a:buFont typeface="Arial" panose="020B0604020202020204" pitchFamily="34" charset="0"/>
              <a:buChar char="•"/>
            </a:pPr>
            <a:r>
              <a:rPr lang="en-US" sz="2000" dirty="0">
                <a:latin typeface="Candara" panose="020E0502030303020204" pitchFamily="34" charset="0"/>
              </a:rPr>
              <a:t>A non-zero number at the top of the stack  is interpreted as </a:t>
            </a:r>
            <a:r>
              <a:rPr lang="en-US" sz="2000" i="1" dirty="0">
                <a:latin typeface="Candara" panose="020E0502030303020204" pitchFamily="34" charset="0"/>
              </a:rPr>
              <a:t>True</a:t>
            </a:r>
            <a:r>
              <a:rPr lang="en-US" sz="2000" dirty="0">
                <a:latin typeface="Candara" panose="020E0502030303020204" pitchFamily="34" charset="0"/>
              </a:rPr>
              <a:t>, therefore, validation succeeds </a:t>
            </a:r>
          </a:p>
        </p:txBody>
      </p:sp>
      <p:sp>
        <p:nvSpPr>
          <p:cNvPr id="10" name="TextBox 9">
            <a:extLst>
              <a:ext uri="{FF2B5EF4-FFF2-40B4-BE49-F238E27FC236}">
                <a16:creationId xmlns:a16="http://schemas.microsoft.com/office/drawing/2014/main" id="{C32F6E41-91E1-D6F8-1EB9-1B3B54D39458}"/>
              </a:ext>
            </a:extLst>
          </p:cNvPr>
          <p:cNvSpPr txBox="1"/>
          <p:nvPr/>
        </p:nvSpPr>
        <p:spPr>
          <a:xfrm>
            <a:off x="2517783" y="1087120"/>
            <a:ext cx="6922753" cy="461665"/>
          </a:xfrm>
          <a:prstGeom prst="rect">
            <a:avLst/>
          </a:prstGeom>
          <a:solidFill>
            <a:srgbClr val="00B0F0"/>
          </a:solidFill>
          <a:ln>
            <a:solidFill>
              <a:schemeClr val="tx1"/>
            </a:solidFill>
          </a:ln>
        </p:spPr>
        <p:txBody>
          <a:bodyPr wrap="square">
            <a:spAutoFit/>
          </a:bodyPr>
          <a:lstStyle/>
          <a:p>
            <a:pPr algn="ctr"/>
            <a:r>
              <a:rPr lang="en-US" sz="2400" dirty="0">
                <a:solidFill>
                  <a:schemeClr val="bg1"/>
                </a:solidFill>
                <a:latin typeface="Candara" panose="020E0502030303020204" pitchFamily="34" charset="0"/>
              </a:rPr>
              <a:t>Transaction validation by the Old Nodes</a:t>
            </a:r>
          </a:p>
        </p:txBody>
      </p:sp>
      <p:sp>
        <p:nvSpPr>
          <p:cNvPr id="11" name="TextBox 10">
            <a:extLst>
              <a:ext uri="{FF2B5EF4-FFF2-40B4-BE49-F238E27FC236}">
                <a16:creationId xmlns:a16="http://schemas.microsoft.com/office/drawing/2014/main" id="{6DDCB0C5-9DB0-069E-ED80-F711B59C6563}"/>
              </a:ext>
            </a:extLst>
          </p:cNvPr>
          <p:cNvSpPr txBox="1"/>
          <p:nvPr/>
        </p:nvSpPr>
        <p:spPr>
          <a:xfrm>
            <a:off x="487679" y="4177155"/>
            <a:ext cx="11316869" cy="1631216"/>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ndara" panose="020E0502030303020204" pitchFamily="34" charset="0"/>
              </a:rPr>
              <a:t>New nodes see OP_0 in the </a:t>
            </a:r>
            <a:r>
              <a:rPr lang="en-US" sz="2000" dirty="0" err="1">
                <a:latin typeface="Candara" panose="020E0502030303020204" pitchFamily="34" charset="0"/>
              </a:rPr>
              <a:t>scriptPubKey</a:t>
            </a:r>
            <a:r>
              <a:rPr lang="en-US" sz="2000" dirty="0">
                <a:latin typeface="Candara" panose="020E0502030303020204" pitchFamily="34" charset="0"/>
              </a:rPr>
              <a:t>, which indicates that it is a </a:t>
            </a:r>
            <a:r>
              <a:rPr lang="en-US" sz="2000" dirty="0" err="1">
                <a:latin typeface="Candara" panose="020E0502030303020204" pitchFamily="34" charset="0"/>
              </a:rPr>
              <a:t>SegWit</a:t>
            </a:r>
            <a:r>
              <a:rPr lang="en-US" sz="2000" dirty="0">
                <a:latin typeface="Candara" panose="020E0502030303020204" pitchFamily="34" charset="0"/>
              </a:rPr>
              <a:t> output</a:t>
            </a:r>
          </a:p>
          <a:p>
            <a:pPr marL="342900" indent="-342900">
              <a:buFont typeface="Arial" panose="020B0604020202020204" pitchFamily="34" charset="0"/>
              <a:buChar char="•"/>
            </a:pPr>
            <a:r>
              <a:rPr lang="en-US" sz="2000" dirty="0">
                <a:latin typeface="Candara" panose="020E0502030303020204" pitchFamily="34" charset="0"/>
              </a:rPr>
              <a:t>They check the witness field and execute the witness program </a:t>
            </a:r>
          </a:p>
          <a:p>
            <a:pPr marL="342900" indent="-342900">
              <a:buFont typeface="Arial" panose="020B0604020202020204" pitchFamily="34" charset="0"/>
              <a:buChar char="•"/>
            </a:pPr>
            <a:r>
              <a:rPr lang="en-US" sz="2000" dirty="0">
                <a:latin typeface="Candara" panose="020E0502030303020204" pitchFamily="34" charset="0"/>
              </a:rPr>
              <a:t>The type of program depends on the length of data in the </a:t>
            </a:r>
            <a:r>
              <a:rPr lang="en-US" sz="2000" dirty="0" err="1">
                <a:latin typeface="Candara" panose="020E0502030303020204" pitchFamily="34" charset="0"/>
              </a:rPr>
              <a:t>scriptPubKey</a:t>
            </a:r>
            <a:endParaRPr lang="en-US" sz="2000" dirty="0">
              <a:latin typeface="Candara" panose="020E0502030303020204" pitchFamily="34" charset="0"/>
            </a:endParaRPr>
          </a:p>
          <a:p>
            <a:pPr marL="800100" lvl="1" indent="-342900">
              <a:buFont typeface="Arial" panose="020B0604020202020204" pitchFamily="34" charset="0"/>
              <a:buChar char="•"/>
            </a:pPr>
            <a:r>
              <a:rPr lang="en-US" sz="2000" dirty="0">
                <a:latin typeface="Candara" panose="020E0502030303020204" pitchFamily="34" charset="0"/>
              </a:rPr>
              <a:t>20B – they run p2wpkh program that verifies the hash of public key in the witness field</a:t>
            </a:r>
          </a:p>
          <a:p>
            <a:pPr marL="800100" lvl="1" indent="-342900">
              <a:buFont typeface="Arial" panose="020B0604020202020204" pitchFamily="34" charset="0"/>
              <a:buChar char="•"/>
            </a:pPr>
            <a:r>
              <a:rPr lang="en-US" sz="2000" dirty="0">
                <a:latin typeface="Candara" panose="020E0502030303020204" pitchFamily="34" charset="0"/>
              </a:rPr>
              <a:t>32B – they run p2wsh program that verifies the hash of witness script and also runs the script</a:t>
            </a:r>
          </a:p>
        </p:txBody>
      </p:sp>
      <p:sp>
        <p:nvSpPr>
          <p:cNvPr id="12" name="TextBox 11">
            <a:extLst>
              <a:ext uri="{FF2B5EF4-FFF2-40B4-BE49-F238E27FC236}">
                <a16:creationId xmlns:a16="http://schemas.microsoft.com/office/drawing/2014/main" id="{796D029C-B662-6B0F-B458-41F60A270E5F}"/>
              </a:ext>
            </a:extLst>
          </p:cNvPr>
          <p:cNvSpPr txBox="1"/>
          <p:nvPr/>
        </p:nvSpPr>
        <p:spPr>
          <a:xfrm>
            <a:off x="2517782" y="3703979"/>
            <a:ext cx="6922753" cy="461665"/>
          </a:xfrm>
          <a:prstGeom prst="rect">
            <a:avLst/>
          </a:prstGeom>
          <a:solidFill>
            <a:srgbClr val="7030A0"/>
          </a:solidFill>
          <a:ln>
            <a:solidFill>
              <a:schemeClr val="tx1"/>
            </a:solidFill>
          </a:ln>
        </p:spPr>
        <p:txBody>
          <a:bodyPr wrap="square">
            <a:spAutoFit/>
          </a:bodyPr>
          <a:lstStyle/>
          <a:p>
            <a:pPr algn="ctr"/>
            <a:r>
              <a:rPr lang="en-US" sz="2400" dirty="0">
                <a:solidFill>
                  <a:schemeClr val="bg1"/>
                </a:solidFill>
                <a:latin typeface="Candara" panose="020E0502030303020204" pitchFamily="34" charset="0"/>
              </a:rPr>
              <a:t>Transaction Validation by New Nodes</a:t>
            </a:r>
          </a:p>
        </p:txBody>
      </p:sp>
    </p:spTree>
    <p:extLst>
      <p:ext uri="{BB962C8B-B14F-4D97-AF65-F5344CB8AC3E}">
        <p14:creationId xmlns:p14="http://schemas.microsoft.com/office/powerpoint/2010/main" val="345752646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38390-B884-E021-320F-FB485B2F0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0F74E-BCA0-46A9-DF24-8D317E53F07B}"/>
              </a:ext>
            </a:extLst>
          </p:cNvPr>
          <p:cNvSpPr>
            <a:spLocks noGrp="1"/>
          </p:cNvSpPr>
          <p:nvPr>
            <p:ph type="title"/>
          </p:nvPr>
        </p:nvSpPr>
        <p:spPr/>
        <p:txBody>
          <a:bodyPr/>
          <a:lstStyle/>
          <a:p>
            <a:r>
              <a:rPr lang="en-US" dirty="0"/>
              <a:t>Conditional Spending Rules using P2WSH</a:t>
            </a:r>
          </a:p>
        </p:txBody>
      </p:sp>
      <p:sp>
        <p:nvSpPr>
          <p:cNvPr id="4" name="Slide Number Placeholder 3">
            <a:extLst>
              <a:ext uri="{FF2B5EF4-FFF2-40B4-BE49-F238E27FC236}">
                <a16:creationId xmlns:a16="http://schemas.microsoft.com/office/drawing/2014/main" id="{83CA7459-3828-75AA-F7D5-CECD43CCD6E9}"/>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45</a:t>
            </a:fld>
            <a:endParaRPr lang="en-US" dirty="0">
              <a:latin typeface="Candara" panose="020E0502030303020204" pitchFamily="34" charset="0"/>
            </a:endParaRPr>
          </a:p>
        </p:txBody>
      </p:sp>
      <p:sp>
        <p:nvSpPr>
          <p:cNvPr id="5" name="TextBox 4">
            <a:extLst>
              <a:ext uri="{FF2B5EF4-FFF2-40B4-BE49-F238E27FC236}">
                <a16:creationId xmlns:a16="http://schemas.microsoft.com/office/drawing/2014/main" id="{BB6A4F97-EA0E-618E-97C5-4D7095BF106F}"/>
              </a:ext>
            </a:extLst>
          </p:cNvPr>
          <p:cNvSpPr txBox="1"/>
          <p:nvPr/>
        </p:nvSpPr>
        <p:spPr>
          <a:xfrm>
            <a:off x="518161" y="1087120"/>
            <a:ext cx="10985218" cy="400110"/>
          </a:xfrm>
          <a:prstGeom prst="rect">
            <a:avLst/>
          </a:prstGeom>
          <a:noFill/>
        </p:spPr>
        <p:txBody>
          <a:bodyPr wrap="square">
            <a:spAutoFit/>
          </a:bodyPr>
          <a:lstStyle/>
          <a:p>
            <a:pPr algn="ctr"/>
            <a:r>
              <a:rPr lang="en-US" sz="2000" dirty="0">
                <a:solidFill>
                  <a:srgbClr val="FF0000"/>
                </a:solidFill>
                <a:latin typeface="Candara" panose="020E0502030303020204" pitchFamily="34" charset="0"/>
              </a:rPr>
              <a:t>Conditional spending rules are implemented using P2WSH </a:t>
            </a:r>
          </a:p>
        </p:txBody>
      </p:sp>
      <p:sp>
        <p:nvSpPr>
          <p:cNvPr id="3" name="TextBox 2">
            <a:extLst>
              <a:ext uri="{FF2B5EF4-FFF2-40B4-BE49-F238E27FC236}">
                <a16:creationId xmlns:a16="http://schemas.microsoft.com/office/drawing/2014/main" id="{78CAD390-1007-97CA-1A50-72C0EDC08A03}"/>
              </a:ext>
            </a:extLst>
          </p:cNvPr>
          <p:cNvSpPr txBox="1"/>
          <p:nvPr/>
        </p:nvSpPr>
        <p:spPr>
          <a:xfrm>
            <a:off x="625969" y="1764863"/>
            <a:ext cx="10769601" cy="707886"/>
          </a:xfrm>
          <a:prstGeom prst="rect">
            <a:avLst/>
          </a:prstGeom>
          <a:noFill/>
        </p:spPr>
        <p:txBody>
          <a:bodyPr wrap="square" rtlCol="0">
            <a:spAutoFit/>
          </a:bodyPr>
          <a:lstStyle/>
          <a:p>
            <a:pPr algn="ctr"/>
            <a:r>
              <a:rPr lang="en-US" sz="2000" dirty="0">
                <a:latin typeface="Candara" panose="020E0502030303020204" pitchFamily="34" charset="0"/>
              </a:rPr>
              <a:t>Suppose we want to create a </a:t>
            </a:r>
            <a:r>
              <a:rPr lang="en-US" sz="2000" b="1" dirty="0">
                <a:latin typeface="Candara" panose="020E0502030303020204" pitchFamily="34" charset="0"/>
              </a:rPr>
              <a:t>P2WSH</a:t>
            </a:r>
            <a:r>
              <a:rPr lang="en-US" sz="2000" dirty="0">
                <a:latin typeface="Candara" panose="020E0502030303020204" pitchFamily="34" charset="0"/>
              </a:rPr>
              <a:t> output that </a:t>
            </a:r>
            <a:r>
              <a:rPr lang="en-US" sz="2000" i="1" dirty="0">
                <a:latin typeface="Candara" panose="020E0502030303020204" pitchFamily="34" charset="0"/>
              </a:rPr>
              <a:t>Alice can spend only with her signature (private key), while Bob can spend with a secret S whose hash is H=SHA256(S)</a:t>
            </a:r>
          </a:p>
        </p:txBody>
      </p:sp>
      <p:sp>
        <p:nvSpPr>
          <p:cNvPr id="6" name="Rectangle 5">
            <a:extLst>
              <a:ext uri="{FF2B5EF4-FFF2-40B4-BE49-F238E27FC236}">
                <a16:creationId xmlns:a16="http://schemas.microsoft.com/office/drawing/2014/main" id="{9208B055-6B3A-F118-8DF3-1C97BE100B1A}"/>
              </a:ext>
            </a:extLst>
          </p:cNvPr>
          <p:cNvSpPr/>
          <p:nvPr/>
        </p:nvSpPr>
        <p:spPr>
          <a:xfrm>
            <a:off x="662546" y="5627567"/>
            <a:ext cx="4764100" cy="579665"/>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 (parent </a:t>
            </a:r>
            <a:r>
              <a:rPr lang="en-US" sz="2000" dirty="0" err="1">
                <a:solidFill>
                  <a:schemeClr val="tx1"/>
                </a:solidFill>
                <a:latin typeface="Candara" panose="020E0502030303020204" pitchFamily="34" charset="0"/>
              </a:rPr>
              <a:t>txn</a:t>
            </a:r>
            <a:r>
              <a:rPr lang="en-US" sz="2000" dirty="0">
                <a:solidFill>
                  <a:schemeClr val="tx1"/>
                </a:solidFill>
                <a:latin typeface="Candara" panose="020E0502030303020204" pitchFamily="34" charset="0"/>
              </a:rPr>
              <a:t>)</a:t>
            </a:r>
          </a:p>
          <a:p>
            <a:pPr algn="ctr"/>
            <a:r>
              <a:rPr lang="en-US" sz="2000" dirty="0">
                <a:solidFill>
                  <a:schemeClr val="tx1"/>
                </a:solidFill>
                <a:latin typeface="Candara" panose="020E0502030303020204" pitchFamily="34" charset="0"/>
              </a:rPr>
              <a:t>&lt;--&gt; &lt;--&gt;</a:t>
            </a:r>
          </a:p>
        </p:txBody>
      </p:sp>
      <p:grpSp>
        <p:nvGrpSpPr>
          <p:cNvPr id="10" name="Group 9">
            <a:extLst>
              <a:ext uri="{FF2B5EF4-FFF2-40B4-BE49-F238E27FC236}">
                <a16:creationId xmlns:a16="http://schemas.microsoft.com/office/drawing/2014/main" id="{CB319397-A742-6B12-04BE-745558E489DF}"/>
              </a:ext>
            </a:extLst>
          </p:cNvPr>
          <p:cNvGrpSpPr/>
          <p:nvPr/>
        </p:nvGrpSpPr>
        <p:grpSpPr>
          <a:xfrm>
            <a:off x="662546" y="2621357"/>
            <a:ext cx="4764100" cy="2764994"/>
            <a:chOff x="662546" y="2621357"/>
            <a:chExt cx="4764100" cy="2764994"/>
          </a:xfrm>
        </p:grpSpPr>
        <p:grpSp>
          <p:nvGrpSpPr>
            <p:cNvPr id="11" name="Group 10">
              <a:extLst>
                <a:ext uri="{FF2B5EF4-FFF2-40B4-BE49-F238E27FC236}">
                  <a16:creationId xmlns:a16="http://schemas.microsoft.com/office/drawing/2014/main" id="{C08681E1-F6D7-9389-EA72-14728331D1D8}"/>
                </a:ext>
              </a:extLst>
            </p:cNvPr>
            <p:cNvGrpSpPr/>
            <p:nvPr/>
          </p:nvGrpSpPr>
          <p:grpSpPr>
            <a:xfrm>
              <a:off x="662546" y="3040562"/>
              <a:ext cx="4764100" cy="2345789"/>
              <a:chOff x="662546" y="2790923"/>
              <a:chExt cx="4764100" cy="2580368"/>
            </a:xfrm>
          </p:grpSpPr>
          <p:grpSp>
            <p:nvGrpSpPr>
              <p:cNvPr id="13" name="Group 12">
                <a:extLst>
                  <a:ext uri="{FF2B5EF4-FFF2-40B4-BE49-F238E27FC236}">
                    <a16:creationId xmlns:a16="http://schemas.microsoft.com/office/drawing/2014/main" id="{6EFDF55C-C0A4-690C-88D4-FA1DA97BD873}"/>
                  </a:ext>
                </a:extLst>
              </p:cNvPr>
              <p:cNvGrpSpPr/>
              <p:nvPr/>
            </p:nvGrpSpPr>
            <p:grpSpPr>
              <a:xfrm>
                <a:off x="662546" y="2790923"/>
                <a:ext cx="4764100" cy="2142930"/>
                <a:chOff x="895162" y="2638523"/>
                <a:chExt cx="4764100" cy="2142930"/>
              </a:xfrm>
            </p:grpSpPr>
            <p:grpSp>
              <p:nvGrpSpPr>
                <p:cNvPr id="15" name="Group 14">
                  <a:extLst>
                    <a:ext uri="{FF2B5EF4-FFF2-40B4-BE49-F238E27FC236}">
                      <a16:creationId xmlns:a16="http://schemas.microsoft.com/office/drawing/2014/main" id="{17AEF4C9-503D-E230-B349-EF78B9F228CC}"/>
                    </a:ext>
                  </a:extLst>
                </p:cNvPr>
                <p:cNvGrpSpPr/>
                <p:nvPr/>
              </p:nvGrpSpPr>
              <p:grpSpPr>
                <a:xfrm>
                  <a:off x="895162" y="2661533"/>
                  <a:ext cx="4764100" cy="2119920"/>
                  <a:chOff x="805543" y="3039909"/>
                  <a:chExt cx="5057939" cy="2119920"/>
                </a:xfrm>
                <a:noFill/>
              </p:grpSpPr>
              <p:sp>
                <p:nvSpPr>
                  <p:cNvPr id="17" name="Rectangle 16">
                    <a:extLst>
                      <a:ext uri="{FF2B5EF4-FFF2-40B4-BE49-F238E27FC236}">
                        <a16:creationId xmlns:a16="http://schemas.microsoft.com/office/drawing/2014/main" id="{9C8D9FD1-879E-2049-6F0A-89A39077F561}"/>
                      </a:ext>
                    </a:extLst>
                  </p:cNvPr>
                  <p:cNvSpPr/>
                  <p:nvPr/>
                </p:nvSpPr>
                <p:spPr>
                  <a:xfrm>
                    <a:off x="805543" y="3039909"/>
                    <a:ext cx="5057939" cy="2119920"/>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8" name="Rectangle 17">
                    <a:extLst>
                      <a:ext uri="{FF2B5EF4-FFF2-40B4-BE49-F238E27FC236}">
                        <a16:creationId xmlns:a16="http://schemas.microsoft.com/office/drawing/2014/main" id="{140A4E20-52D5-2FDA-36F2-B5844D264336}"/>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9" name="Rectangle 18">
                    <a:extLst>
                      <a:ext uri="{FF2B5EF4-FFF2-40B4-BE49-F238E27FC236}">
                        <a16:creationId xmlns:a16="http://schemas.microsoft.com/office/drawing/2014/main" id="{1521C25F-82B3-0C87-AD54-49ABC20E0E32}"/>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0" name="TextBox 19">
                    <a:extLst>
                      <a:ext uri="{FF2B5EF4-FFF2-40B4-BE49-F238E27FC236}">
                        <a16:creationId xmlns:a16="http://schemas.microsoft.com/office/drawing/2014/main" id="{A1F84B4C-34B6-DA32-4EE0-8441DDE8E5C1}"/>
                      </a:ext>
                    </a:extLst>
                  </p:cNvPr>
                  <p:cNvSpPr txBox="1"/>
                  <p:nvPr/>
                </p:nvSpPr>
                <p:spPr>
                  <a:xfrm>
                    <a:off x="3503946" y="3941452"/>
                    <a:ext cx="2139943" cy="1117229"/>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 </a:t>
                    </a:r>
                  </a:p>
                  <a:p>
                    <a:pPr algn="ctr"/>
                    <a:r>
                      <a:rPr lang="en-US" sz="2000" dirty="0">
                        <a:solidFill>
                          <a:schemeClr val="bg1"/>
                        </a:solidFill>
                        <a:latin typeface="Candara" panose="020E0502030303020204" pitchFamily="34" charset="0"/>
                      </a:rPr>
                      <a:t>OP_0 &lt;</a:t>
                    </a:r>
                    <a:r>
                      <a:rPr lang="en-US" sz="2000" dirty="0" err="1">
                        <a:solidFill>
                          <a:schemeClr val="bg1"/>
                        </a:solidFill>
                        <a:latin typeface="Candara" panose="020E0502030303020204" pitchFamily="34" charset="0"/>
                      </a:rPr>
                      <a:t>wsh</a:t>
                    </a:r>
                    <a:r>
                      <a:rPr lang="en-US" sz="2000" dirty="0">
                        <a:solidFill>
                          <a:schemeClr val="bg1"/>
                        </a:solidFill>
                        <a:latin typeface="Candara" panose="020E0502030303020204" pitchFamily="34" charset="0"/>
                      </a:rPr>
                      <a:t>&gt;</a:t>
                    </a:r>
                  </a:p>
                  <a:p>
                    <a:pPr algn="ctr"/>
                    <a:endParaRPr lang="en-US" sz="2000" dirty="0">
                      <a:latin typeface="Candara" panose="020E0502030303020204" pitchFamily="34" charset="0"/>
                    </a:endParaRPr>
                  </a:p>
                </p:txBody>
              </p:sp>
            </p:grpSp>
            <p:sp>
              <p:nvSpPr>
                <p:cNvPr id="16" name="Rectangle 15">
                  <a:extLst>
                    <a:ext uri="{FF2B5EF4-FFF2-40B4-BE49-F238E27FC236}">
                      <a16:creationId xmlns:a16="http://schemas.microsoft.com/office/drawing/2014/main" id="{06CACF44-7A2F-B9AD-CA1D-27033525724F}"/>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14" name="Rectangle 13">
                <a:extLst>
                  <a:ext uri="{FF2B5EF4-FFF2-40B4-BE49-F238E27FC236}">
                    <a16:creationId xmlns:a16="http://schemas.microsoft.com/office/drawing/2014/main" id="{38DAF1DB-931D-ABB4-8C21-AB29BE63DDC4}"/>
                  </a:ext>
                </a:extLst>
              </p:cNvPr>
              <p:cNvSpPr/>
              <p:nvPr/>
            </p:nvSpPr>
            <p:spPr>
              <a:xfrm>
                <a:off x="662546" y="4933853"/>
                <a:ext cx="4764100" cy="43743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P2WSH5678P</a:t>
                </a:r>
              </a:p>
            </p:txBody>
          </p:sp>
        </p:grpSp>
        <p:sp>
          <p:nvSpPr>
            <p:cNvPr id="12" name="TextBox 11">
              <a:extLst>
                <a:ext uri="{FF2B5EF4-FFF2-40B4-BE49-F238E27FC236}">
                  <a16:creationId xmlns:a16="http://schemas.microsoft.com/office/drawing/2014/main" id="{1CB76101-2E9A-B26A-EC35-0E1D6CB5244B}"/>
                </a:ext>
              </a:extLst>
            </p:cNvPr>
            <p:cNvSpPr txBox="1"/>
            <p:nvPr/>
          </p:nvSpPr>
          <p:spPr>
            <a:xfrm>
              <a:off x="1768858" y="2621357"/>
              <a:ext cx="2623603" cy="461665"/>
            </a:xfrm>
            <a:prstGeom prst="rect">
              <a:avLst/>
            </a:prstGeom>
            <a:noFill/>
          </p:spPr>
          <p:txBody>
            <a:bodyPr wrap="none" rtlCol="0">
              <a:spAutoFit/>
            </a:bodyPr>
            <a:lstStyle/>
            <a:p>
              <a:r>
                <a:rPr lang="en-US" sz="2400" dirty="0">
                  <a:latin typeface="Candara" panose="020E0502030303020204" pitchFamily="34" charset="0"/>
                </a:rPr>
                <a:t>Parent Transaction</a:t>
              </a:r>
            </a:p>
          </p:txBody>
        </p:sp>
      </p:grpSp>
      <p:sp>
        <p:nvSpPr>
          <p:cNvPr id="21" name="TextBox 20">
            <a:extLst>
              <a:ext uri="{FF2B5EF4-FFF2-40B4-BE49-F238E27FC236}">
                <a16:creationId xmlns:a16="http://schemas.microsoft.com/office/drawing/2014/main" id="{AFB6B8CE-14C9-CBD3-8B45-364248E6957B}"/>
              </a:ext>
            </a:extLst>
          </p:cNvPr>
          <p:cNvSpPr txBox="1"/>
          <p:nvPr/>
        </p:nvSpPr>
        <p:spPr>
          <a:xfrm>
            <a:off x="6080761" y="2971180"/>
            <a:ext cx="5593080" cy="3139321"/>
          </a:xfrm>
          <a:prstGeom prst="rect">
            <a:avLst/>
          </a:prstGeom>
          <a:noFill/>
        </p:spPr>
        <p:txBody>
          <a:bodyPr wrap="square" rtlCol="0">
            <a:spAutoFit/>
          </a:bodyPr>
          <a:lstStyle/>
          <a:p>
            <a:r>
              <a:rPr lang="en-US" b="1" dirty="0">
                <a:latin typeface="Candara" panose="020E0502030303020204" pitchFamily="34" charset="0"/>
              </a:rPr>
              <a:t>Witness Script (its hash goes into the </a:t>
            </a:r>
            <a:r>
              <a:rPr lang="en-US" b="1" dirty="0" err="1">
                <a:latin typeface="Candara" panose="020E0502030303020204" pitchFamily="34" charset="0"/>
              </a:rPr>
              <a:t>scriptPubKey</a:t>
            </a:r>
            <a:r>
              <a:rPr lang="en-US" b="1" dirty="0">
                <a:latin typeface="Candara" panose="020E0502030303020204" pitchFamily="34" charset="0"/>
              </a:rPr>
              <a:t> field of the parent </a:t>
            </a:r>
            <a:r>
              <a:rPr lang="en-US" b="1" dirty="0" err="1">
                <a:latin typeface="Candara" panose="020E0502030303020204" pitchFamily="34" charset="0"/>
              </a:rPr>
              <a:t>txn</a:t>
            </a:r>
            <a:r>
              <a:rPr lang="en-US" b="1" dirty="0">
                <a:latin typeface="Candara" panose="020E0502030303020204" pitchFamily="34" charset="0"/>
              </a:rPr>
              <a:t>)</a:t>
            </a:r>
            <a:r>
              <a:rPr lang="en-US" dirty="0">
                <a:latin typeface="Candara" panose="020E0502030303020204" pitchFamily="34" charset="0"/>
              </a:rPr>
              <a:t>:</a:t>
            </a:r>
          </a:p>
          <a:p>
            <a:r>
              <a:rPr lang="en-US" dirty="0">
                <a:latin typeface="Candara" panose="020E0502030303020204" pitchFamily="34" charset="0"/>
              </a:rPr>
              <a:t>OP_IF</a:t>
            </a:r>
          </a:p>
          <a:p>
            <a:r>
              <a:rPr lang="en-US" dirty="0">
                <a:latin typeface="Candara" panose="020E0502030303020204" pitchFamily="34" charset="0"/>
              </a:rPr>
              <a:t>    </a:t>
            </a:r>
            <a:r>
              <a:rPr lang="en-US" dirty="0">
                <a:solidFill>
                  <a:srgbClr val="FF0000"/>
                </a:solidFill>
                <a:latin typeface="Candara" panose="020E0502030303020204" pitchFamily="34" charset="0"/>
              </a:rPr>
              <a:t>&lt;</a:t>
            </a:r>
            <a:r>
              <a:rPr lang="en-US" dirty="0" err="1">
                <a:solidFill>
                  <a:srgbClr val="FF0000"/>
                </a:solidFill>
                <a:latin typeface="Candara" panose="020E0502030303020204" pitchFamily="34" charset="0"/>
              </a:rPr>
              <a:t>PubKeyAlice</a:t>
            </a:r>
            <a:r>
              <a:rPr lang="en-US" dirty="0">
                <a:solidFill>
                  <a:srgbClr val="FF0000"/>
                </a:solidFill>
                <a:latin typeface="Candara" panose="020E0502030303020204" pitchFamily="34" charset="0"/>
              </a:rPr>
              <a:t>&gt; OP_CHECKSIG</a:t>
            </a:r>
          </a:p>
          <a:p>
            <a:r>
              <a:rPr lang="en-US" dirty="0">
                <a:latin typeface="Candara" panose="020E0502030303020204" pitchFamily="34" charset="0"/>
              </a:rPr>
              <a:t>OP_ELSE</a:t>
            </a:r>
          </a:p>
          <a:p>
            <a:r>
              <a:rPr lang="en-US" dirty="0">
                <a:solidFill>
                  <a:srgbClr val="7030A0"/>
                </a:solidFill>
                <a:latin typeface="Candara" panose="020E0502030303020204" pitchFamily="34" charset="0"/>
              </a:rPr>
              <a:t>    OP_SHA256 &lt;H&gt; OP_EQUALVERIFY</a:t>
            </a:r>
          </a:p>
          <a:p>
            <a:r>
              <a:rPr lang="en-US" dirty="0">
                <a:solidFill>
                  <a:srgbClr val="7030A0"/>
                </a:solidFill>
                <a:latin typeface="Candara" panose="020E0502030303020204" pitchFamily="34" charset="0"/>
              </a:rPr>
              <a:t>    &lt;</a:t>
            </a:r>
            <a:r>
              <a:rPr lang="en-US" dirty="0" err="1">
                <a:solidFill>
                  <a:srgbClr val="7030A0"/>
                </a:solidFill>
                <a:latin typeface="Candara" panose="020E0502030303020204" pitchFamily="34" charset="0"/>
              </a:rPr>
              <a:t>PubKeyBob</a:t>
            </a:r>
            <a:r>
              <a:rPr lang="en-US" dirty="0">
                <a:solidFill>
                  <a:srgbClr val="7030A0"/>
                </a:solidFill>
                <a:latin typeface="Candara" panose="020E0502030303020204" pitchFamily="34" charset="0"/>
              </a:rPr>
              <a:t>&gt; OP_CHECKSIG</a:t>
            </a:r>
          </a:p>
          <a:p>
            <a:r>
              <a:rPr lang="en-US" dirty="0">
                <a:latin typeface="Candara" panose="020E0502030303020204" pitchFamily="34" charset="0"/>
              </a:rPr>
              <a:t>OP_ENDIF</a:t>
            </a:r>
          </a:p>
          <a:p>
            <a:endParaRPr lang="en-US" dirty="0">
              <a:latin typeface="Candara" panose="020E0502030303020204" pitchFamily="34" charset="0"/>
            </a:endParaRPr>
          </a:p>
          <a:p>
            <a:r>
              <a:rPr lang="en-US" dirty="0">
                <a:latin typeface="Candara" panose="020E0502030303020204" pitchFamily="34" charset="0"/>
              </a:rPr>
              <a:t>&lt;</a:t>
            </a:r>
            <a:r>
              <a:rPr lang="en-US" dirty="0" err="1">
                <a:latin typeface="Candara" panose="020E0502030303020204" pitchFamily="34" charset="0"/>
              </a:rPr>
              <a:t>wsh</a:t>
            </a:r>
            <a:r>
              <a:rPr lang="en-US" dirty="0">
                <a:latin typeface="Candara" panose="020E0502030303020204" pitchFamily="34" charset="0"/>
              </a:rPr>
              <a:t>&gt; = SHA256(Witness Script) – 32B hash is used in the </a:t>
            </a:r>
            <a:r>
              <a:rPr lang="en-US" dirty="0" err="1">
                <a:latin typeface="Candara" panose="020E0502030303020204" pitchFamily="34" charset="0"/>
              </a:rPr>
              <a:t>scriptPubKey</a:t>
            </a:r>
            <a:r>
              <a:rPr lang="en-US" dirty="0">
                <a:latin typeface="Candara" panose="020E0502030303020204" pitchFamily="34" charset="0"/>
              </a:rPr>
              <a:t> of the parent </a:t>
            </a:r>
            <a:r>
              <a:rPr lang="en-US" dirty="0" err="1">
                <a:latin typeface="Candara" panose="020E0502030303020204" pitchFamily="34" charset="0"/>
              </a:rPr>
              <a:t>txn</a:t>
            </a:r>
            <a:endParaRPr lang="en-US" dirty="0">
              <a:latin typeface="Candara" panose="020E0502030303020204" pitchFamily="34" charset="0"/>
            </a:endParaRPr>
          </a:p>
        </p:txBody>
      </p:sp>
      <p:sp>
        <p:nvSpPr>
          <p:cNvPr id="22" name="Oval 21">
            <a:extLst>
              <a:ext uri="{FF2B5EF4-FFF2-40B4-BE49-F238E27FC236}">
                <a16:creationId xmlns:a16="http://schemas.microsoft.com/office/drawing/2014/main" id="{B1515425-26F6-BFAF-05F2-2E0285F8FEA5}"/>
              </a:ext>
            </a:extLst>
          </p:cNvPr>
          <p:cNvSpPr/>
          <p:nvPr/>
        </p:nvSpPr>
        <p:spPr>
          <a:xfrm>
            <a:off x="4146366" y="4241259"/>
            <a:ext cx="726830" cy="357939"/>
          </a:xfrm>
          <a:prstGeom prst="ellipse">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FE3618A-5DC8-9663-4D0A-DF76B36301D2}"/>
              </a:ext>
            </a:extLst>
          </p:cNvPr>
          <p:cNvSpPr/>
          <p:nvPr/>
        </p:nvSpPr>
        <p:spPr>
          <a:xfrm>
            <a:off x="6096000" y="5469303"/>
            <a:ext cx="726830" cy="357939"/>
          </a:xfrm>
          <a:prstGeom prst="ellipse">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680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0" animBg="1"/>
      <p:bldP spid="2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D9145-C1B2-48A5-7085-5AFA83DE2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4717E-F665-C125-609C-3D8A99A85EDD}"/>
              </a:ext>
            </a:extLst>
          </p:cNvPr>
          <p:cNvSpPr>
            <a:spLocks noGrp="1"/>
          </p:cNvSpPr>
          <p:nvPr>
            <p:ph type="title"/>
          </p:nvPr>
        </p:nvSpPr>
        <p:spPr>
          <a:xfrm>
            <a:off x="487679" y="101601"/>
            <a:ext cx="11509789" cy="985519"/>
          </a:xfrm>
        </p:spPr>
        <p:txBody>
          <a:bodyPr/>
          <a:lstStyle/>
          <a:p>
            <a:r>
              <a:rPr lang="en-US" dirty="0"/>
              <a:t>Spending Transactions – P2WSH </a:t>
            </a:r>
          </a:p>
        </p:txBody>
      </p:sp>
      <p:sp>
        <p:nvSpPr>
          <p:cNvPr id="4" name="Slide Number Placeholder 3">
            <a:extLst>
              <a:ext uri="{FF2B5EF4-FFF2-40B4-BE49-F238E27FC236}">
                <a16:creationId xmlns:a16="http://schemas.microsoft.com/office/drawing/2014/main" id="{1653320B-5875-5D64-48F7-13A3D27E81C6}"/>
              </a:ext>
            </a:extLst>
          </p:cNvPr>
          <p:cNvSpPr>
            <a:spLocks noGrp="1"/>
          </p:cNvSpPr>
          <p:nvPr>
            <p:ph type="sldNum" sz="quarter" idx="12"/>
          </p:nvPr>
        </p:nvSpPr>
        <p:spPr>
          <a:xfrm>
            <a:off x="10620104" y="6578930"/>
            <a:ext cx="1090944" cy="279070"/>
          </a:xfrm>
        </p:spPr>
        <p:txBody>
          <a:bodyPr/>
          <a:lstStyle/>
          <a:p>
            <a:fld id="{D57F1E4F-1CFF-5643-939E-217C01CDF565}" type="slidenum">
              <a:rPr lang="en-US" smtClean="0">
                <a:latin typeface="Candara" panose="020E0502030303020204" pitchFamily="34" charset="0"/>
              </a:rPr>
              <a:pPr/>
              <a:t>46</a:t>
            </a:fld>
            <a:endParaRPr lang="en-US" dirty="0">
              <a:latin typeface="Candara" panose="020E0502030303020204" pitchFamily="34" charset="0"/>
            </a:endParaRPr>
          </a:p>
        </p:txBody>
      </p:sp>
      <p:cxnSp>
        <p:nvCxnSpPr>
          <p:cNvPr id="26" name="Straight Arrow Connector 25">
            <a:extLst>
              <a:ext uri="{FF2B5EF4-FFF2-40B4-BE49-F238E27FC236}">
                <a16:creationId xmlns:a16="http://schemas.microsoft.com/office/drawing/2014/main" id="{E4E2C223-4F6A-D3BA-9D90-788875774960}"/>
              </a:ext>
            </a:extLst>
          </p:cNvPr>
          <p:cNvCxnSpPr>
            <a:cxnSpLocks/>
          </p:cNvCxnSpPr>
          <p:nvPr/>
        </p:nvCxnSpPr>
        <p:spPr>
          <a:xfrm>
            <a:off x="8509158" y="2111539"/>
            <a:ext cx="2109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42C6369-73FA-C179-8791-A04291F85996}"/>
              </a:ext>
            </a:extLst>
          </p:cNvPr>
          <p:cNvSpPr txBox="1"/>
          <p:nvPr/>
        </p:nvSpPr>
        <p:spPr>
          <a:xfrm>
            <a:off x="487677" y="1087120"/>
            <a:ext cx="3833217" cy="2339102"/>
          </a:xfrm>
          <a:prstGeom prst="rect">
            <a:avLst/>
          </a:prstGeom>
          <a:noFill/>
          <a:ln>
            <a:solidFill>
              <a:schemeClr val="accent6">
                <a:lumMod val="50000"/>
              </a:schemeClr>
            </a:solidFill>
          </a:ln>
        </p:spPr>
        <p:txBody>
          <a:bodyPr wrap="square" rtlCol="0">
            <a:spAutoFit/>
          </a:bodyPr>
          <a:lstStyle/>
          <a:p>
            <a:r>
              <a:rPr lang="en-US" sz="1600" b="1" dirty="0">
                <a:latin typeface="Candara" panose="020E0502030303020204" pitchFamily="34" charset="0"/>
              </a:rPr>
              <a:t>Witness Script (</a:t>
            </a:r>
            <a:r>
              <a:rPr lang="en-US" sz="1600" b="1" dirty="0" err="1">
                <a:latin typeface="Candara" panose="020E0502030303020204" pitchFamily="34" charset="0"/>
              </a:rPr>
              <a:t>ws</a:t>
            </a:r>
            <a:r>
              <a:rPr lang="en-US" sz="1600" b="1" dirty="0">
                <a:latin typeface="Candara" panose="020E0502030303020204" pitchFamily="34" charset="0"/>
              </a:rPr>
              <a:t>)</a:t>
            </a:r>
            <a:r>
              <a:rPr lang="en-US" sz="1600" dirty="0">
                <a:latin typeface="Candara" panose="020E0502030303020204" pitchFamily="34" charset="0"/>
              </a:rPr>
              <a:t>:</a:t>
            </a:r>
          </a:p>
          <a:p>
            <a:r>
              <a:rPr lang="en-US" sz="1600" dirty="0">
                <a:latin typeface="Candara" panose="020E0502030303020204" pitchFamily="34" charset="0"/>
              </a:rPr>
              <a:t>OP_IF</a:t>
            </a:r>
          </a:p>
          <a:p>
            <a:r>
              <a:rPr lang="en-US" sz="1600" dirty="0">
                <a:solidFill>
                  <a:schemeClr val="accent6">
                    <a:lumMod val="50000"/>
                  </a:schemeClr>
                </a:solidFill>
                <a:latin typeface="Candara" panose="020E0502030303020204" pitchFamily="34" charset="0"/>
              </a:rPr>
              <a:t>    &lt;</a:t>
            </a:r>
            <a:r>
              <a:rPr lang="en-US" sz="1600" dirty="0" err="1">
                <a:solidFill>
                  <a:schemeClr val="accent6">
                    <a:lumMod val="50000"/>
                  </a:schemeClr>
                </a:solidFill>
                <a:latin typeface="Candara" panose="020E0502030303020204" pitchFamily="34" charset="0"/>
              </a:rPr>
              <a:t>PubKeyAlice</a:t>
            </a:r>
            <a:r>
              <a:rPr lang="en-US" sz="1600" dirty="0">
                <a:solidFill>
                  <a:schemeClr val="accent6">
                    <a:lumMod val="50000"/>
                  </a:schemeClr>
                </a:solidFill>
                <a:latin typeface="Candara" panose="020E0502030303020204" pitchFamily="34" charset="0"/>
              </a:rPr>
              <a:t>&gt; OP_CHECKSIG</a:t>
            </a:r>
          </a:p>
          <a:p>
            <a:r>
              <a:rPr lang="en-US" sz="1600" dirty="0">
                <a:latin typeface="Candara" panose="020E0502030303020204" pitchFamily="34" charset="0"/>
              </a:rPr>
              <a:t>OP_ELSE</a:t>
            </a:r>
          </a:p>
          <a:p>
            <a:r>
              <a:rPr lang="en-US" sz="1600" dirty="0">
                <a:solidFill>
                  <a:srgbClr val="7030A0"/>
                </a:solidFill>
                <a:latin typeface="Candara" panose="020E0502030303020204" pitchFamily="34" charset="0"/>
              </a:rPr>
              <a:t>    OP_SHA256 &lt;H&gt; OP_EQUALVERIFY</a:t>
            </a:r>
          </a:p>
          <a:p>
            <a:r>
              <a:rPr lang="en-US" sz="1600" dirty="0">
                <a:solidFill>
                  <a:srgbClr val="7030A0"/>
                </a:solidFill>
                <a:latin typeface="Candara" panose="020E0502030303020204" pitchFamily="34" charset="0"/>
              </a:rPr>
              <a:t>    &lt;</a:t>
            </a:r>
            <a:r>
              <a:rPr lang="en-US" sz="1600" dirty="0" err="1">
                <a:solidFill>
                  <a:srgbClr val="7030A0"/>
                </a:solidFill>
                <a:latin typeface="Candara" panose="020E0502030303020204" pitchFamily="34" charset="0"/>
              </a:rPr>
              <a:t>PubKeyBob</a:t>
            </a:r>
            <a:r>
              <a:rPr lang="en-US" sz="1600" dirty="0">
                <a:solidFill>
                  <a:srgbClr val="7030A0"/>
                </a:solidFill>
                <a:latin typeface="Candara" panose="020E0502030303020204" pitchFamily="34" charset="0"/>
              </a:rPr>
              <a:t>&gt; OP_CHECKSIG</a:t>
            </a:r>
          </a:p>
          <a:p>
            <a:r>
              <a:rPr lang="en-US" sz="1600" dirty="0">
                <a:latin typeface="Candara" panose="020E0502030303020204" pitchFamily="34" charset="0"/>
              </a:rPr>
              <a:t>OP_ENDIF</a:t>
            </a:r>
          </a:p>
          <a:p>
            <a:endParaRPr lang="en-US" sz="1600" dirty="0">
              <a:latin typeface="Candara" panose="020E0502030303020204" pitchFamily="34" charset="0"/>
            </a:endParaRPr>
          </a:p>
          <a:p>
            <a:r>
              <a:rPr lang="en-US" sz="1600" dirty="0">
                <a:solidFill>
                  <a:srgbClr val="FF0000"/>
                </a:solidFill>
                <a:latin typeface="Candara" panose="020E0502030303020204" pitchFamily="34" charset="0"/>
              </a:rPr>
              <a:t>&lt;</a:t>
            </a:r>
            <a:r>
              <a:rPr lang="en-US" sz="1600" dirty="0" err="1">
                <a:solidFill>
                  <a:srgbClr val="FF0000"/>
                </a:solidFill>
                <a:latin typeface="Candara" panose="020E0502030303020204" pitchFamily="34" charset="0"/>
              </a:rPr>
              <a:t>wsh</a:t>
            </a:r>
            <a:r>
              <a:rPr lang="en-US" sz="1600" dirty="0">
                <a:solidFill>
                  <a:srgbClr val="FF0000"/>
                </a:solidFill>
                <a:latin typeface="Candara" panose="020E0502030303020204" pitchFamily="34" charset="0"/>
              </a:rPr>
              <a:t>&gt; = SHA256(</a:t>
            </a:r>
            <a:r>
              <a:rPr lang="en-US" sz="1600" dirty="0" err="1">
                <a:solidFill>
                  <a:srgbClr val="FF0000"/>
                </a:solidFill>
                <a:latin typeface="Candara" panose="020E0502030303020204" pitchFamily="34" charset="0"/>
              </a:rPr>
              <a:t>ws</a:t>
            </a:r>
            <a:r>
              <a:rPr lang="en-US" sz="1600" dirty="0">
                <a:solidFill>
                  <a:srgbClr val="FF0000"/>
                </a:solidFill>
                <a:latin typeface="Candara" panose="020E0502030303020204" pitchFamily="34" charset="0"/>
              </a:rPr>
              <a:t>)</a:t>
            </a:r>
            <a:r>
              <a:rPr lang="en-US" sz="1600" dirty="0">
                <a:latin typeface="Candara" panose="020E0502030303020204" pitchFamily="34" charset="0"/>
              </a:rPr>
              <a:t>  </a:t>
            </a:r>
          </a:p>
        </p:txBody>
      </p:sp>
      <p:sp>
        <p:nvSpPr>
          <p:cNvPr id="48" name="TextBox 47">
            <a:extLst>
              <a:ext uri="{FF2B5EF4-FFF2-40B4-BE49-F238E27FC236}">
                <a16:creationId xmlns:a16="http://schemas.microsoft.com/office/drawing/2014/main" id="{58007727-4A27-9A4E-A9B9-638D538DAF11}"/>
              </a:ext>
            </a:extLst>
          </p:cNvPr>
          <p:cNvSpPr txBox="1"/>
          <p:nvPr/>
        </p:nvSpPr>
        <p:spPr>
          <a:xfrm>
            <a:off x="389364" y="3531942"/>
            <a:ext cx="3942004" cy="304698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Candara" panose="020E0502030303020204" pitchFamily="34" charset="0"/>
              </a:rPr>
              <a:t>Alice uses 1 in her </a:t>
            </a:r>
            <a:r>
              <a:rPr lang="en-US" sz="1600" dirty="0" err="1">
                <a:latin typeface="Candara" panose="020E0502030303020204" pitchFamily="34" charset="0"/>
              </a:rPr>
              <a:t>scriptSig</a:t>
            </a:r>
            <a:r>
              <a:rPr lang="en-US" sz="1600" dirty="0">
                <a:latin typeface="Candara" panose="020E0502030303020204" pitchFamily="34" charset="0"/>
              </a:rPr>
              <a:t> because she can spend via the IF branch according to the witness script </a:t>
            </a:r>
          </a:p>
          <a:p>
            <a:pPr marL="285750" indent="-285750">
              <a:buFont typeface="Arial" panose="020B0604020202020204" pitchFamily="34" charset="0"/>
              <a:buChar char="•"/>
            </a:pPr>
            <a:r>
              <a:rPr lang="en-US" sz="1600" dirty="0">
                <a:latin typeface="Candara" panose="020E0502030303020204" pitchFamily="34" charset="0"/>
              </a:rPr>
              <a:t>Bob uses 0 in his </a:t>
            </a:r>
            <a:r>
              <a:rPr lang="en-US" sz="1600" dirty="0" err="1">
                <a:latin typeface="Candara" panose="020E0502030303020204" pitchFamily="34" charset="0"/>
              </a:rPr>
              <a:t>scriptSig</a:t>
            </a:r>
            <a:r>
              <a:rPr lang="en-US" sz="1600" dirty="0">
                <a:latin typeface="Candara" panose="020E0502030303020204" pitchFamily="34" charset="0"/>
              </a:rPr>
              <a:t> because he can spend via the ELSE branch according to the witness script</a:t>
            </a:r>
          </a:p>
          <a:p>
            <a:pPr marL="285750" indent="-285750">
              <a:buFont typeface="Arial" panose="020B0604020202020204" pitchFamily="34" charset="0"/>
              <a:buChar char="•"/>
            </a:pPr>
            <a:r>
              <a:rPr lang="en-US" sz="1600" dirty="0">
                <a:latin typeface="Candara" panose="020E0502030303020204" pitchFamily="34" charset="0"/>
              </a:rPr>
              <a:t>Bob also provides the secret &lt;S&gt; in his witness field</a:t>
            </a:r>
          </a:p>
          <a:p>
            <a:pPr marL="285750" indent="-285750">
              <a:buFont typeface="Arial" panose="020B0604020202020204" pitchFamily="34" charset="0"/>
              <a:buChar char="•"/>
            </a:pPr>
            <a:r>
              <a:rPr lang="en-US" sz="1600" dirty="0">
                <a:solidFill>
                  <a:srgbClr val="FF0000"/>
                </a:solidFill>
                <a:latin typeface="Candara" panose="020E0502030303020204" pitchFamily="34" charset="0"/>
              </a:rPr>
              <a:t>Only one child transaction will be confirmed and as soon as it gets into a block, the other one is invalidated because double spending is not allowed</a:t>
            </a:r>
          </a:p>
        </p:txBody>
      </p:sp>
      <p:sp>
        <p:nvSpPr>
          <p:cNvPr id="3" name="Rectangle 2">
            <a:extLst>
              <a:ext uri="{FF2B5EF4-FFF2-40B4-BE49-F238E27FC236}">
                <a16:creationId xmlns:a16="http://schemas.microsoft.com/office/drawing/2014/main" id="{35A91FB0-5295-852A-FA0F-65BB80A38F3A}"/>
              </a:ext>
            </a:extLst>
          </p:cNvPr>
          <p:cNvSpPr/>
          <p:nvPr/>
        </p:nvSpPr>
        <p:spPr>
          <a:xfrm>
            <a:off x="4553080" y="3045551"/>
            <a:ext cx="3348085" cy="47906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&lt;--&gt; &lt;--&gt;</a:t>
            </a:r>
          </a:p>
        </p:txBody>
      </p:sp>
      <p:grpSp>
        <p:nvGrpSpPr>
          <p:cNvPr id="13" name="Group 12">
            <a:extLst>
              <a:ext uri="{FF2B5EF4-FFF2-40B4-BE49-F238E27FC236}">
                <a16:creationId xmlns:a16="http://schemas.microsoft.com/office/drawing/2014/main" id="{E3B6F625-64A2-CD1F-2B03-0BF331BE45F0}"/>
              </a:ext>
            </a:extLst>
          </p:cNvPr>
          <p:cNvGrpSpPr/>
          <p:nvPr/>
        </p:nvGrpSpPr>
        <p:grpSpPr>
          <a:xfrm>
            <a:off x="4541362" y="880032"/>
            <a:ext cx="3348085" cy="2089621"/>
            <a:chOff x="662546" y="2654094"/>
            <a:chExt cx="4764100" cy="2528436"/>
          </a:xfrm>
        </p:grpSpPr>
        <p:grpSp>
          <p:nvGrpSpPr>
            <p:cNvPr id="14" name="Group 13">
              <a:extLst>
                <a:ext uri="{FF2B5EF4-FFF2-40B4-BE49-F238E27FC236}">
                  <a16:creationId xmlns:a16="http://schemas.microsoft.com/office/drawing/2014/main" id="{6D60B86D-1603-5F19-2490-F7095652D296}"/>
                </a:ext>
              </a:extLst>
            </p:cNvPr>
            <p:cNvGrpSpPr/>
            <p:nvPr/>
          </p:nvGrpSpPr>
          <p:grpSpPr>
            <a:xfrm>
              <a:off x="662546" y="3040562"/>
              <a:ext cx="4764100" cy="2141968"/>
              <a:chOff x="662546" y="2790923"/>
              <a:chExt cx="4764100" cy="2356163"/>
            </a:xfrm>
          </p:grpSpPr>
          <p:grpSp>
            <p:nvGrpSpPr>
              <p:cNvPr id="21" name="Group 20">
                <a:extLst>
                  <a:ext uri="{FF2B5EF4-FFF2-40B4-BE49-F238E27FC236}">
                    <a16:creationId xmlns:a16="http://schemas.microsoft.com/office/drawing/2014/main" id="{BC731507-55D8-5E97-0EAE-A0608DCC51E4}"/>
                  </a:ext>
                </a:extLst>
              </p:cNvPr>
              <p:cNvGrpSpPr/>
              <p:nvPr/>
            </p:nvGrpSpPr>
            <p:grpSpPr>
              <a:xfrm>
                <a:off x="662546" y="2790923"/>
                <a:ext cx="4764100" cy="2198186"/>
                <a:chOff x="895162" y="2638523"/>
                <a:chExt cx="4764100" cy="2198186"/>
              </a:xfrm>
            </p:grpSpPr>
            <p:grpSp>
              <p:nvGrpSpPr>
                <p:cNvPr id="24" name="Group 23">
                  <a:extLst>
                    <a:ext uri="{FF2B5EF4-FFF2-40B4-BE49-F238E27FC236}">
                      <a16:creationId xmlns:a16="http://schemas.microsoft.com/office/drawing/2014/main" id="{865FBD15-E10D-3722-056D-11887847975B}"/>
                    </a:ext>
                  </a:extLst>
                </p:cNvPr>
                <p:cNvGrpSpPr/>
                <p:nvPr/>
              </p:nvGrpSpPr>
              <p:grpSpPr>
                <a:xfrm>
                  <a:off x="895162" y="2661534"/>
                  <a:ext cx="4764100" cy="2175175"/>
                  <a:chOff x="805543" y="3039910"/>
                  <a:chExt cx="5057939" cy="2175175"/>
                </a:xfrm>
                <a:noFill/>
              </p:grpSpPr>
              <p:sp>
                <p:nvSpPr>
                  <p:cNvPr id="28" name="Rectangle 27">
                    <a:extLst>
                      <a:ext uri="{FF2B5EF4-FFF2-40B4-BE49-F238E27FC236}">
                        <a16:creationId xmlns:a16="http://schemas.microsoft.com/office/drawing/2014/main" id="{F4F4D574-BF44-D55B-BF8A-8B684795D357}"/>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29" name="Rectangle 28">
                    <a:extLst>
                      <a:ext uri="{FF2B5EF4-FFF2-40B4-BE49-F238E27FC236}">
                        <a16:creationId xmlns:a16="http://schemas.microsoft.com/office/drawing/2014/main" id="{A4E4A5DC-6688-C86C-8D13-80F17D4A61A0}"/>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0" name="Rectangle 29">
                    <a:extLst>
                      <a:ext uri="{FF2B5EF4-FFF2-40B4-BE49-F238E27FC236}">
                        <a16:creationId xmlns:a16="http://schemas.microsoft.com/office/drawing/2014/main" id="{09401E1B-8CB5-ECA6-B9C5-639C71A2E533}"/>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7" name="TextBox 46">
                    <a:extLst>
                      <a:ext uri="{FF2B5EF4-FFF2-40B4-BE49-F238E27FC236}">
                        <a16:creationId xmlns:a16="http://schemas.microsoft.com/office/drawing/2014/main" id="{669AB806-72F5-B805-66FF-068FCF7F2700}"/>
                      </a:ext>
                    </a:extLst>
                  </p:cNvPr>
                  <p:cNvSpPr txBox="1"/>
                  <p:nvPr/>
                </p:nvSpPr>
                <p:spPr>
                  <a:xfrm>
                    <a:off x="3503946" y="3781305"/>
                    <a:ext cx="2139942" cy="1433780"/>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Value </a:t>
                    </a:r>
                  </a:p>
                  <a:p>
                    <a:pPr algn="ctr"/>
                    <a:r>
                      <a:rPr lang="en-US" sz="1600" dirty="0">
                        <a:solidFill>
                          <a:schemeClr val="bg1"/>
                        </a:solidFill>
                        <a:latin typeface="Candara" panose="020E0502030303020204" pitchFamily="34" charset="0"/>
                      </a:rPr>
                      <a:t>OP_0 </a:t>
                    </a:r>
                  </a:p>
                  <a:p>
                    <a:pPr algn="ctr"/>
                    <a:r>
                      <a:rPr lang="en-US" sz="1600" dirty="0">
                        <a:solidFill>
                          <a:schemeClr val="bg1"/>
                        </a:solidFill>
                        <a:latin typeface="Candara" panose="020E0502030303020204" pitchFamily="34" charset="0"/>
                      </a:rPr>
                      <a:t>&lt;</a:t>
                    </a:r>
                    <a:r>
                      <a:rPr lang="en-US" sz="1600" dirty="0" err="1">
                        <a:solidFill>
                          <a:schemeClr val="bg1"/>
                        </a:solidFill>
                        <a:latin typeface="Candara" panose="020E0502030303020204" pitchFamily="34" charset="0"/>
                      </a:rPr>
                      <a:t>wsh</a:t>
                    </a:r>
                    <a:r>
                      <a:rPr lang="en-US" sz="1600" dirty="0">
                        <a:solidFill>
                          <a:schemeClr val="bg1"/>
                        </a:solidFill>
                        <a:latin typeface="Candara" panose="020E0502030303020204" pitchFamily="34" charset="0"/>
                      </a:rPr>
                      <a:t>&gt;</a:t>
                    </a:r>
                  </a:p>
                  <a:p>
                    <a:pPr algn="ctr"/>
                    <a:endParaRPr lang="en-US" sz="1600" dirty="0">
                      <a:latin typeface="Candara" panose="020E0502030303020204" pitchFamily="34" charset="0"/>
                    </a:endParaRPr>
                  </a:p>
                </p:txBody>
              </p:sp>
            </p:grpSp>
            <p:sp>
              <p:nvSpPr>
                <p:cNvPr id="27" name="Rectangle 26">
                  <a:extLst>
                    <a:ext uri="{FF2B5EF4-FFF2-40B4-BE49-F238E27FC236}">
                      <a16:creationId xmlns:a16="http://schemas.microsoft.com/office/drawing/2014/main" id="{E7D8C050-9352-A6A9-07BF-D86DAA6A2829}"/>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Transaction-Level Fields </a:t>
                  </a:r>
                </a:p>
                <a:p>
                  <a:pPr algn="ctr"/>
                  <a:r>
                    <a:rPr lang="en-US" sz="1600" dirty="0">
                      <a:latin typeface="Candara" panose="020E0502030303020204" pitchFamily="34" charset="0"/>
                    </a:rPr>
                    <a:t>(Version, </a:t>
                  </a:r>
                  <a:r>
                    <a:rPr lang="en-US" sz="1600" dirty="0" err="1">
                      <a:latin typeface="Candara" panose="020E0502030303020204" pitchFamily="34" charset="0"/>
                    </a:rPr>
                    <a:t>nLockTime</a:t>
                  </a:r>
                  <a:r>
                    <a:rPr lang="en-US" sz="1600" dirty="0">
                      <a:latin typeface="Candara" panose="020E0502030303020204" pitchFamily="34" charset="0"/>
                    </a:rPr>
                    <a:t>, Flags)</a:t>
                  </a:r>
                </a:p>
              </p:txBody>
            </p:sp>
          </p:grpSp>
          <p:sp>
            <p:nvSpPr>
              <p:cNvPr id="23" name="Rectangle 22">
                <a:extLst>
                  <a:ext uri="{FF2B5EF4-FFF2-40B4-BE49-F238E27FC236}">
                    <a16:creationId xmlns:a16="http://schemas.microsoft.com/office/drawing/2014/main" id="{74A714BD-111F-31F4-3592-FC3E234EF872}"/>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P2WSH5678P</a:t>
                </a:r>
              </a:p>
            </p:txBody>
          </p:sp>
        </p:grpSp>
        <p:sp>
          <p:nvSpPr>
            <p:cNvPr id="19" name="TextBox 18">
              <a:extLst>
                <a:ext uri="{FF2B5EF4-FFF2-40B4-BE49-F238E27FC236}">
                  <a16:creationId xmlns:a16="http://schemas.microsoft.com/office/drawing/2014/main" id="{E01D5D8E-8E98-9FCC-26C8-5C0309F5D055}"/>
                </a:ext>
              </a:extLst>
            </p:cNvPr>
            <p:cNvSpPr txBox="1"/>
            <p:nvPr/>
          </p:nvSpPr>
          <p:spPr>
            <a:xfrm>
              <a:off x="1333370" y="2654094"/>
              <a:ext cx="2949091" cy="446892"/>
            </a:xfrm>
            <a:prstGeom prst="rect">
              <a:avLst/>
            </a:prstGeom>
            <a:noFill/>
          </p:spPr>
          <p:txBody>
            <a:bodyPr wrap="none" rtlCol="0">
              <a:spAutoFit/>
            </a:bodyPr>
            <a:lstStyle/>
            <a:p>
              <a:r>
                <a:rPr lang="en-US" dirty="0">
                  <a:latin typeface="Candara" panose="020E0502030303020204" pitchFamily="34" charset="0"/>
                </a:rPr>
                <a:t>Parent Transaction</a:t>
              </a:r>
            </a:p>
          </p:txBody>
        </p:sp>
      </p:grpSp>
      <p:sp>
        <p:nvSpPr>
          <p:cNvPr id="51" name="Rectangle 50">
            <a:extLst>
              <a:ext uri="{FF2B5EF4-FFF2-40B4-BE49-F238E27FC236}">
                <a16:creationId xmlns:a16="http://schemas.microsoft.com/office/drawing/2014/main" id="{A570F13D-A0C8-FC02-4094-95179F39C3EA}"/>
              </a:ext>
            </a:extLst>
          </p:cNvPr>
          <p:cNvSpPr/>
          <p:nvPr/>
        </p:nvSpPr>
        <p:spPr>
          <a:xfrm>
            <a:off x="8490531" y="2985247"/>
            <a:ext cx="3348085" cy="479062"/>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 </a:t>
            </a:r>
          </a:p>
          <a:p>
            <a:pPr algn="ctr"/>
            <a:r>
              <a:rPr lang="en-US" dirty="0">
                <a:solidFill>
                  <a:schemeClr val="tx1"/>
                </a:solidFill>
                <a:latin typeface="Candara" panose="020E0502030303020204" pitchFamily="34" charset="0"/>
              </a:rPr>
              <a:t>&lt;</a:t>
            </a:r>
            <a:r>
              <a:rPr lang="en-US" dirty="0" err="1">
                <a:solidFill>
                  <a:schemeClr val="tx1"/>
                </a:solidFill>
                <a:latin typeface="Candara" panose="020E0502030303020204" pitchFamily="34" charset="0"/>
              </a:rPr>
              <a:t>sigAlice</a:t>
            </a:r>
            <a:r>
              <a:rPr lang="en-US" dirty="0">
                <a:solidFill>
                  <a:schemeClr val="tx1"/>
                </a:solidFill>
                <a:latin typeface="Candara" panose="020E0502030303020204" pitchFamily="34" charset="0"/>
              </a:rPr>
              <a:t>&gt; 1 &lt;</a:t>
            </a:r>
            <a:r>
              <a:rPr lang="en-US" dirty="0" err="1">
                <a:solidFill>
                  <a:schemeClr val="tx1"/>
                </a:solidFill>
                <a:latin typeface="Candara" panose="020E0502030303020204" pitchFamily="34" charset="0"/>
              </a:rPr>
              <a:t>ws</a:t>
            </a:r>
            <a:r>
              <a:rPr lang="en-US" dirty="0">
                <a:solidFill>
                  <a:schemeClr val="tx1"/>
                </a:solidFill>
                <a:latin typeface="Candara" panose="020E0502030303020204" pitchFamily="34" charset="0"/>
              </a:rPr>
              <a:t>&gt;</a:t>
            </a:r>
          </a:p>
        </p:txBody>
      </p:sp>
      <p:grpSp>
        <p:nvGrpSpPr>
          <p:cNvPr id="52" name="Group 51">
            <a:extLst>
              <a:ext uri="{FF2B5EF4-FFF2-40B4-BE49-F238E27FC236}">
                <a16:creationId xmlns:a16="http://schemas.microsoft.com/office/drawing/2014/main" id="{916707FC-5706-AD4E-5FFE-EFF354F42187}"/>
              </a:ext>
            </a:extLst>
          </p:cNvPr>
          <p:cNvGrpSpPr/>
          <p:nvPr/>
        </p:nvGrpSpPr>
        <p:grpSpPr>
          <a:xfrm>
            <a:off x="8490531" y="872483"/>
            <a:ext cx="3348085" cy="2032051"/>
            <a:chOff x="6826732" y="2631916"/>
            <a:chExt cx="4764100" cy="2458777"/>
          </a:xfrm>
        </p:grpSpPr>
        <p:grpSp>
          <p:nvGrpSpPr>
            <p:cNvPr id="53" name="Group 52">
              <a:extLst>
                <a:ext uri="{FF2B5EF4-FFF2-40B4-BE49-F238E27FC236}">
                  <a16:creationId xmlns:a16="http://schemas.microsoft.com/office/drawing/2014/main" id="{56E43668-5EC1-EB66-9066-AAF78885CCB8}"/>
                </a:ext>
              </a:extLst>
            </p:cNvPr>
            <p:cNvGrpSpPr/>
            <p:nvPr/>
          </p:nvGrpSpPr>
          <p:grpSpPr>
            <a:xfrm>
              <a:off x="6826732" y="3040348"/>
              <a:ext cx="4764100" cy="2050345"/>
              <a:chOff x="6826732" y="2790923"/>
              <a:chExt cx="4764100" cy="2255376"/>
            </a:xfrm>
          </p:grpSpPr>
          <p:grpSp>
            <p:nvGrpSpPr>
              <p:cNvPr id="58" name="Group 57">
                <a:extLst>
                  <a:ext uri="{FF2B5EF4-FFF2-40B4-BE49-F238E27FC236}">
                    <a16:creationId xmlns:a16="http://schemas.microsoft.com/office/drawing/2014/main" id="{3108B59B-1147-7189-C1C6-A2C12A480656}"/>
                  </a:ext>
                </a:extLst>
              </p:cNvPr>
              <p:cNvGrpSpPr/>
              <p:nvPr/>
            </p:nvGrpSpPr>
            <p:grpSpPr>
              <a:xfrm>
                <a:off x="6826732" y="2790923"/>
                <a:ext cx="4764100" cy="2045687"/>
                <a:chOff x="895162" y="2638523"/>
                <a:chExt cx="4764100" cy="2045687"/>
              </a:xfrm>
            </p:grpSpPr>
            <p:grpSp>
              <p:nvGrpSpPr>
                <p:cNvPr id="60" name="Group 59">
                  <a:extLst>
                    <a:ext uri="{FF2B5EF4-FFF2-40B4-BE49-F238E27FC236}">
                      <a16:creationId xmlns:a16="http://schemas.microsoft.com/office/drawing/2014/main" id="{E3C9773B-5513-7393-285C-20989378300C}"/>
                    </a:ext>
                  </a:extLst>
                </p:cNvPr>
                <p:cNvGrpSpPr/>
                <p:nvPr/>
              </p:nvGrpSpPr>
              <p:grpSpPr>
                <a:xfrm>
                  <a:off x="895162" y="2661533"/>
                  <a:ext cx="4764100" cy="2022677"/>
                  <a:chOff x="805543" y="3039909"/>
                  <a:chExt cx="5057939" cy="2022677"/>
                </a:xfrm>
                <a:noFill/>
              </p:grpSpPr>
              <p:sp>
                <p:nvSpPr>
                  <p:cNvPr id="62" name="Rectangle 61">
                    <a:extLst>
                      <a:ext uri="{FF2B5EF4-FFF2-40B4-BE49-F238E27FC236}">
                        <a16:creationId xmlns:a16="http://schemas.microsoft.com/office/drawing/2014/main" id="{3D930A25-6FBB-E9B2-40E2-94B35265D31F}"/>
                      </a:ext>
                    </a:extLst>
                  </p:cNvPr>
                  <p:cNvSpPr/>
                  <p:nvPr/>
                </p:nvSpPr>
                <p:spPr>
                  <a:xfrm>
                    <a:off x="805543" y="3039909"/>
                    <a:ext cx="5057939" cy="1792253"/>
                  </a:xfrm>
                  <a:prstGeom prst="rect">
                    <a:avLst/>
                  </a:prstGeom>
                  <a:solidFill>
                    <a:schemeClr val="accent6">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63" name="Rectangle 62">
                    <a:extLst>
                      <a:ext uri="{FF2B5EF4-FFF2-40B4-BE49-F238E27FC236}">
                        <a16:creationId xmlns:a16="http://schemas.microsoft.com/office/drawing/2014/main" id="{9161E210-4B6D-2CD6-55D8-F42337C0F58A}"/>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64" name="Rectangle 63">
                    <a:extLst>
                      <a:ext uri="{FF2B5EF4-FFF2-40B4-BE49-F238E27FC236}">
                        <a16:creationId xmlns:a16="http://schemas.microsoft.com/office/drawing/2014/main" id="{76A0F99B-ADF2-655D-521C-D96ADCF83BA2}"/>
                      </a:ext>
                    </a:extLst>
                  </p:cNvPr>
                  <p:cNvSpPr/>
                  <p:nvPr/>
                </p:nvSpPr>
                <p:spPr>
                  <a:xfrm>
                    <a:off x="4304140" y="3662430"/>
                    <a:ext cx="1452247"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65" name="TextBox 64">
                    <a:extLst>
                      <a:ext uri="{FF2B5EF4-FFF2-40B4-BE49-F238E27FC236}">
                        <a16:creationId xmlns:a16="http://schemas.microsoft.com/office/drawing/2014/main" id="{ABC5B38C-15D9-7D09-2CCE-249739BF5D17}"/>
                      </a:ext>
                    </a:extLst>
                  </p:cNvPr>
                  <p:cNvSpPr txBox="1"/>
                  <p:nvPr/>
                </p:nvSpPr>
                <p:spPr>
                  <a:xfrm>
                    <a:off x="1094376" y="3736386"/>
                    <a:ext cx="2888477" cy="1106056"/>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Prev </a:t>
                    </a:r>
                    <a:r>
                      <a:rPr lang="en-US" sz="1600" dirty="0" err="1">
                        <a:solidFill>
                          <a:schemeClr val="bg1"/>
                        </a:solidFill>
                        <a:latin typeface="Candara" panose="020E0502030303020204" pitchFamily="34" charset="0"/>
                      </a:rPr>
                      <a:t>Txid</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Idx</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scriptSig</a:t>
                    </a:r>
                    <a:r>
                      <a:rPr lang="en-US" sz="1600" dirty="0">
                        <a:solidFill>
                          <a:schemeClr val="bg1"/>
                        </a:solidFill>
                        <a:latin typeface="Candara" panose="020E0502030303020204" pitchFamily="34" charset="0"/>
                      </a:rPr>
                      <a:t>=empty</a:t>
                    </a:r>
                  </a:p>
                </p:txBody>
              </p:sp>
            </p:grpSp>
            <p:sp>
              <p:nvSpPr>
                <p:cNvPr id="61" name="Rectangle 60">
                  <a:extLst>
                    <a:ext uri="{FF2B5EF4-FFF2-40B4-BE49-F238E27FC236}">
                      <a16:creationId xmlns:a16="http://schemas.microsoft.com/office/drawing/2014/main" id="{BC04DA63-414F-2886-8849-47BE3B202BE4}"/>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Transaction-Level Fields </a:t>
                  </a:r>
                </a:p>
                <a:p>
                  <a:pPr algn="ctr"/>
                  <a:r>
                    <a:rPr lang="en-US" sz="1600" dirty="0">
                      <a:solidFill>
                        <a:schemeClr val="tx1"/>
                      </a:solidFill>
                      <a:latin typeface="Candara" panose="020E0502030303020204" pitchFamily="34" charset="0"/>
                    </a:rPr>
                    <a:t>(Version, </a:t>
                  </a:r>
                  <a:r>
                    <a:rPr lang="en-US" sz="1600" dirty="0" err="1">
                      <a:solidFill>
                        <a:schemeClr val="tx1"/>
                      </a:solidFill>
                      <a:latin typeface="Candara" panose="020E0502030303020204" pitchFamily="34" charset="0"/>
                    </a:rPr>
                    <a:t>nLockTime</a:t>
                  </a:r>
                  <a:r>
                    <a:rPr lang="en-US" sz="1600" dirty="0">
                      <a:solidFill>
                        <a:schemeClr val="tx1"/>
                      </a:solidFill>
                      <a:latin typeface="Candara" panose="020E0502030303020204" pitchFamily="34" charset="0"/>
                    </a:rPr>
                    <a:t>, Flags)</a:t>
                  </a:r>
                </a:p>
              </p:txBody>
            </p:sp>
          </p:grpSp>
          <p:sp>
            <p:nvSpPr>
              <p:cNvPr id="59" name="Rectangle 58">
                <a:extLst>
                  <a:ext uri="{FF2B5EF4-FFF2-40B4-BE49-F238E27FC236}">
                    <a16:creationId xmlns:a16="http://schemas.microsoft.com/office/drawing/2014/main" id="{E0B4C7CF-96E2-2E27-7751-91A7C5765FF0}"/>
                  </a:ext>
                </a:extLst>
              </p:cNvPr>
              <p:cNvSpPr/>
              <p:nvPr/>
            </p:nvSpPr>
            <p:spPr>
              <a:xfrm>
                <a:off x="6826732" y="4608862"/>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P2WSH5678CA</a:t>
                </a:r>
              </a:p>
            </p:txBody>
          </p:sp>
        </p:grpSp>
        <p:sp>
          <p:nvSpPr>
            <p:cNvPr id="54" name="TextBox 53">
              <a:extLst>
                <a:ext uri="{FF2B5EF4-FFF2-40B4-BE49-F238E27FC236}">
                  <a16:creationId xmlns:a16="http://schemas.microsoft.com/office/drawing/2014/main" id="{35763E11-8589-C100-5595-C5EBFE9B072F}"/>
                </a:ext>
              </a:extLst>
            </p:cNvPr>
            <p:cNvSpPr txBox="1"/>
            <p:nvPr/>
          </p:nvSpPr>
          <p:spPr>
            <a:xfrm>
              <a:off x="7518616" y="2631916"/>
              <a:ext cx="3697771" cy="446892"/>
            </a:xfrm>
            <a:prstGeom prst="rect">
              <a:avLst/>
            </a:prstGeom>
            <a:noFill/>
          </p:spPr>
          <p:txBody>
            <a:bodyPr wrap="none" rtlCol="0">
              <a:spAutoFit/>
            </a:bodyPr>
            <a:lstStyle/>
            <a:p>
              <a:r>
                <a:rPr lang="en-US" dirty="0">
                  <a:latin typeface="Candara" panose="020E0502030303020204" pitchFamily="34" charset="0"/>
                </a:rPr>
                <a:t>Child Transaction (Alice)</a:t>
              </a:r>
            </a:p>
          </p:txBody>
        </p:sp>
      </p:grpSp>
      <p:grpSp>
        <p:nvGrpSpPr>
          <p:cNvPr id="67" name="Group 66">
            <a:extLst>
              <a:ext uri="{FF2B5EF4-FFF2-40B4-BE49-F238E27FC236}">
                <a16:creationId xmlns:a16="http://schemas.microsoft.com/office/drawing/2014/main" id="{81344264-AB82-C4F9-1FEE-7894B961A84B}"/>
              </a:ext>
            </a:extLst>
          </p:cNvPr>
          <p:cNvGrpSpPr/>
          <p:nvPr/>
        </p:nvGrpSpPr>
        <p:grpSpPr>
          <a:xfrm>
            <a:off x="7797901" y="2394313"/>
            <a:ext cx="731833" cy="894281"/>
            <a:chOff x="5426646" y="4367463"/>
            <a:chExt cx="1400086" cy="1745433"/>
          </a:xfrm>
        </p:grpSpPr>
        <p:cxnSp>
          <p:nvCxnSpPr>
            <p:cNvPr id="68" name="Straight Connector 67">
              <a:extLst>
                <a:ext uri="{FF2B5EF4-FFF2-40B4-BE49-F238E27FC236}">
                  <a16:creationId xmlns:a16="http://schemas.microsoft.com/office/drawing/2014/main" id="{72583E94-98FB-592D-F3C2-112704FBC320}"/>
                </a:ext>
              </a:extLst>
            </p:cNvPr>
            <p:cNvCxnSpPr>
              <a:cxnSpLocks/>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DCC6FA1-9D9B-5241-BD82-969E498080DD}"/>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1DAAC210-D22A-D345-AF57-734E760D2EF0}"/>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cxnSp>
        <p:nvCxnSpPr>
          <p:cNvPr id="101" name="Straight Arrow Connector 100">
            <a:extLst>
              <a:ext uri="{FF2B5EF4-FFF2-40B4-BE49-F238E27FC236}">
                <a16:creationId xmlns:a16="http://schemas.microsoft.com/office/drawing/2014/main" id="{E29296B1-FCD2-088F-7574-03F74B3671A9}"/>
              </a:ext>
            </a:extLst>
          </p:cNvPr>
          <p:cNvCxnSpPr>
            <a:cxnSpLocks/>
          </p:cNvCxnSpPr>
          <p:nvPr/>
        </p:nvCxnSpPr>
        <p:spPr>
          <a:xfrm>
            <a:off x="8524369" y="4998336"/>
            <a:ext cx="2109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266E8B97-2E69-5128-184C-E96628AD5ECE}"/>
              </a:ext>
            </a:extLst>
          </p:cNvPr>
          <p:cNvSpPr/>
          <p:nvPr/>
        </p:nvSpPr>
        <p:spPr>
          <a:xfrm>
            <a:off x="4568291" y="5944381"/>
            <a:ext cx="3348085" cy="47906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&lt;--&gt; &lt;--&gt;</a:t>
            </a:r>
          </a:p>
        </p:txBody>
      </p:sp>
      <p:grpSp>
        <p:nvGrpSpPr>
          <p:cNvPr id="103" name="Group 102">
            <a:extLst>
              <a:ext uri="{FF2B5EF4-FFF2-40B4-BE49-F238E27FC236}">
                <a16:creationId xmlns:a16="http://schemas.microsoft.com/office/drawing/2014/main" id="{02177D21-9075-CBD5-9828-7817B5332891}"/>
              </a:ext>
            </a:extLst>
          </p:cNvPr>
          <p:cNvGrpSpPr/>
          <p:nvPr/>
        </p:nvGrpSpPr>
        <p:grpSpPr>
          <a:xfrm>
            <a:off x="4556573" y="3778862"/>
            <a:ext cx="3348085" cy="2089621"/>
            <a:chOff x="662546" y="2654094"/>
            <a:chExt cx="4764100" cy="2528436"/>
          </a:xfrm>
        </p:grpSpPr>
        <p:grpSp>
          <p:nvGrpSpPr>
            <p:cNvPr id="104" name="Group 103">
              <a:extLst>
                <a:ext uri="{FF2B5EF4-FFF2-40B4-BE49-F238E27FC236}">
                  <a16:creationId xmlns:a16="http://schemas.microsoft.com/office/drawing/2014/main" id="{6B773A48-F98A-EC18-AE49-B95C7509E146}"/>
                </a:ext>
              </a:extLst>
            </p:cNvPr>
            <p:cNvGrpSpPr/>
            <p:nvPr/>
          </p:nvGrpSpPr>
          <p:grpSpPr>
            <a:xfrm>
              <a:off x="662546" y="3040562"/>
              <a:ext cx="4764100" cy="2141968"/>
              <a:chOff x="662546" y="2790923"/>
              <a:chExt cx="4764100" cy="2356163"/>
            </a:xfrm>
          </p:grpSpPr>
          <p:grpSp>
            <p:nvGrpSpPr>
              <p:cNvPr id="106" name="Group 105">
                <a:extLst>
                  <a:ext uri="{FF2B5EF4-FFF2-40B4-BE49-F238E27FC236}">
                    <a16:creationId xmlns:a16="http://schemas.microsoft.com/office/drawing/2014/main" id="{15D4A3A9-16C9-459C-8B69-ED687E5E29F7}"/>
                  </a:ext>
                </a:extLst>
              </p:cNvPr>
              <p:cNvGrpSpPr/>
              <p:nvPr/>
            </p:nvGrpSpPr>
            <p:grpSpPr>
              <a:xfrm>
                <a:off x="662546" y="2790923"/>
                <a:ext cx="4764100" cy="2198186"/>
                <a:chOff x="895162" y="2638523"/>
                <a:chExt cx="4764100" cy="2198186"/>
              </a:xfrm>
            </p:grpSpPr>
            <p:grpSp>
              <p:nvGrpSpPr>
                <p:cNvPr id="108" name="Group 107">
                  <a:extLst>
                    <a:ext uri="{FF2B5EF4-FFF2-40B4-BE49-F238E27FC236}">
                      <a16:creationId xmlns:a16="http://schemas.microsoft.com/office/drawing/2014/main" id="{F1982086-2D33-5016-F623-C82C074F081C}"/>
                    </a:ext>
                  </a:extLst>
                </p:cNvPr>
                <p:cNvGrpSpPr/>
                <p:nvPr/>
              </p:nvGrpSpPr>
              <p:grpSpPr>
                <a:xfrm>
                  <a:off x="895162" y="2661534"/>
                  <a:ext cx="4764100" cy="2175175"/>
                  <a:chOff x="805543" y="3039910"/>
                  <a:chExt cx="5057939" cy="2175175"/>
                </a:xfrm>
                <a:noFill/>
              </p:grpSpPr>
              <p:sp>
                <p:nvSpPr>
                  <p:cNvPr id="110" name="Rectangle 109">
                    <a:extLst>
                      <a:ext uri="{FF2B5EF4-FFF2-40B4-BE49-F238E27FC236}">
                        <a16:creationId xmlns:a16="http://schemas.microsoft.com/office/drawing/2014/main" id="{0F5861CA-F4E5-406E-01E8-704A8D3B983A}"/>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11" name="Rectangle 110">
                    <a:extLst>
                      <a:ext uri="{FF2B5EF4-FFF2-40B4-BE49-F238E27FC236}">
                        <a16:creationId xmlns:a16="http://schemas.microsoft.com/office/drawing/2014/main" id="{CD433268-9EDB-2D64-15EE-C55CC0B7C389}"/>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2" name="Rectangle 111">
                    <a:extLst>
                      <a:ext uri="{FF2B5EF4-FFF2-40B4-BE49-F238E27FC236}">
                        <a16:creationId xmlns:a16="http://schemas.microsoft.com/office/drawing/2014/main" id="{A4CDCC61-3970-BAF5-4FE5-6D50E3F0C753}"/>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3" name="TextBox 112">
                    <a:extLst>
                      <a:ext uri="{FF2B5EF4-FFF2-40B4-BE49-F238E27FC236}">
                        <a16:creationId xmlns:a16="http://schemas.microsoft.com/office/drawing/2014/main" id="{C550B739-8A3D-9CF2-89D0-E8094077FD90}"/>
                      </a:ext>
                    </a:extLst>
                  </p:cNvPr>
                  <p:cNvSpPr txBox="1"/>
                  <p:nvPr/>
                </p:nvSpPr>
                <p:spPr>
                  <a:xfrm>
                    <a:off x="3503946" y="3781305"/>
                    <a:ext cx="2139942" cy="1433780"/>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Value </a:t>
                    </a:r>
                  </a:p>
                  <a:p>
                    <a:pPr algn="ctr"/>
                    <a:r>
                      <a:rPr lang="en-US" sz="1600" dirty="0">
                        <a:solidFill>
                          <a:schemeClr val="bg1"/>
                        </a:solidFill>
                        <a:latin typeface="Candara" panose="020E0502030303020204" pitchFamily="34" charset="0"/>
                      </a:rPr>
                      <a:t>OP_0 </a:t>
                    </a:r>
                  </a:p>
                  <a:p>
                    <a:pPr algn="ctr"/>
                    <a:r>
                      <a:rPr lang="en-US" sz="1600" dirty="0">
                        <a:solidFill>
                          <a:schemeClr val="bg1"/>
                        </a:solidFill>
                        <a:latin typeface="Candara" panose="020E0502030303020204" pitchFamily="34" charset="0"/>
                      </a:rPr>
                      <a:t>&lt;</a:t>
                    </a:r>
                    <a:r>
                      <a:rPr lang="en-US" sz="1600" dirty="0" err="1">
                        <a:solidFill>
                          <a:schemeClr val="bg1"/>
                        </a:solidFill>
                        <a:latin typeface="Candara" panose="020E0502030303020204" pitchFamily="34" charset="0"/>
                      </a:rPr>
                      <a:t>wsh</a:t>
                    </a:r>
                    <a:r>
                      <a:rPr lang="en-US" sz="1600" dirty="0">
                        <a:solidFill>
                          <a:schemeClr val="bg1"/>
                        </a:solidFill>
                        <a:latin typeface="Candara" panose="020E0502030303020204" pitchFamily="34" charset="0"/>
                      </a:rPr>
                      <a:t>&gt;</a:t>
                    </a:r>
                  </a:p>
                  <a:p>
                    <a:pPr algn="ctr"/>
                    <a:endParaRPr lang="en-US" sz="1600" dirty="0">
                      <a:latin typeface="Candara" panose="020E0502030303020204" pitchFamily="34" charset="0"/>
                    </a:endParaRPr>
                  </a:p>
                </p:txBody>
              </p:sp>
            </p:grpSp>
            <p:sp>
              <p:nvSpPr>
                <p:cNvPr id="109" name="Rectangle 108">
                  <a:extLst>
                    <a:ext uri="{FF2B5EF4-FFF2-40B4-BE49-F238E27FC236}">
                      <a16:creationId xmlns:a16="http://schemas.microsoft.com/office/drawing/2014/main" id="{DF9C49DF-6F64-C5EA-C188-FB88D672FF23}"/>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Transaction-Level Fields </a:t>
                  </a:r>
                </a:p>
                <a:p>
                  <a:pPr algn="ctr"/>
                  <a:r>
                    <a:rPr lang="en-US" sz="1600" dirty="0">
                      <a:latin typeface="Candara" panose="020E0502030303020204" pitchFamily="34" charset="0"/>
                    </a:rPr>
                    <a:t>(Version, </a:t>
                  </a:r>
                  <a:r>
                    <a:rPr lang="en-US" sz="1600" dirty="0" err="1">
                      <a:latin typeface="Candara" panose="020E0502030303020204" pitchFamily="34" charset="0"/>
                    </a:rPr>
                    <a:t>nLockTime</a:t>
                  </a:r>
                  <a:r>
                    <a:rPr lang="en-US" sz="1600" dirty="0">
                      <a:latin typeface="Candara" panose="020E0502030303020204" pitchFamily="34" charset="0"/>
                    </a:rPr>
                    <a:t>, Flags)</a:t>
                  </a:r>
                </a:p>
              </p:txBody>
            </p:sp>
          </p:grpSp>
          <p:sp>
            <p:nvSpPr>
              <p:cNvPr id="107" name="Rectangle 106">
                <a:extLst>
                  <a:ext uri="{FF2B5EF4-FFF2-40B4-BE49-F238E27FC236}">
                    <a16:creationId xmlns:a16="http://schemas.microsoft.com/office/drawing/2014/main" id="{9B89D351-FFF7-95ED-FA1D-AB88A2AEDA62}"/>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P2WSH5678P</a:t>
                </a:r>
              </a:p>
            </p:txBody>
          </p:sp>
        </p:grpSp>
        <p:sp>
          <p:nvSpPr>
            <p:cNvPr id="105" name="TextBox 104">
              <a:extLst>
                <a:ext uri="{FF2B5EF4-FFF2-40B4-BE49-F238E27FC236}">
                  <a16:creationId xmlns:a16="http://schemas.microsoft.com/office/drawing/2014/main" id="{E5CF8A96-CF26-C7CC-CD0B-5E1A386D22A3}"/>
                </a:ext>
              </a:extLst>
            </p:cNvPr>
            <p:cNvSpPr txBox="1"/>
            <p:nvPr/>
          </p:nvSpPr>
          <p:spPr>
            <a:xfrm>
              <a:off x="1333370" y="2654094"/>
              <a:ext cx="2949091" cy="446892"/>
            </a:xfrm>
            <a:prstGeom prst="rect">
              <a:avLst/>
            </a:prstGeom>
            <a:noFill/>
          </p:spPr>
          <p:txBody>
            <a:bodyPr wrap="none" rtlCol="0">
              <a:spAutoFit/>
            </a:bodyPr>
            <a:lstStyle/>
            <a:p>
              <a:r>
                <a:rPr lang="en-US" dirty="0">
                  <a:latin typeface="Candara" panose="020E0502030303020204" pitchFamily="34" charset="0"/>
                </a:rPr>
                <a:t>Parent Transaction</a:t>
              </a:r>
            </a:p>
          </p:txBody>
        </p:sp>
      </p:grpSp>
      <p:sp>
        <p:nvSpPr>
          <p:cNvPr id="114" name="Rectangle 113">
            <a:extLst>
              <a:ext uri="{FF2B5EF4-FFF2-40B4-BE49-F238E27FC236}">
                <a16:creationId xmlns:a16="http://schemas.microsoft.com/office/drawing/2014/main" id="{AC741474-7F0D-544E-8FEF-CFFCBA502A47}"/>
              </a:ext>
            </a:extLst>
          </p:cNvPr>
          <p:cNvSpPr/>
          <p:nvPr/>
        </p:nvSpPr>
        <p:spPr>
          <a:xfrm>
            <a:off x="8505742" y="5884077"/>
            <a:ext cx="3348085" cy="537310"/>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 </a:t>
            </a:r>
          </a:p>
          <a:p>
            <a:pPr algn="ctr"/>
            <a:r>
              <a:rPr lang="en-US" dirty="0">
                <a:solidFill>
                  <a:schemeClr val="tx1"/>
                </a:solidFill>
                <a:latin typeface="Candara" panose="020E0502030303020204" pitchFamily="34" charset="0"/>
              </a:rPr>
              <a:t>&lt;</a:t>
            </a:r>
            <a:r>
              <a:rPr lang="en-US" dirty="0" err="1">
                <a:solidFill>
                  <a:schemeClr val="tx1"/>
                </a:solidFill>
                <a:latin typeface="Candara" panose="020E0502030303020204" pitchFamily="34" charset="0"/>
              </a:rPr>
              <a:t>sigBob</a:t>
            </a:r>
            <a:r>
              <a:rPr lang="en-US" dirty="0">
                <a:solidFill>
                  <a:schemeClr val="tx1"/>
                </a:solidFill>
                <a:latin typeface="Candara" panose="020E0502030303020204" pitchFamily="34" charset="0"/>
              </a:rPr>
              <a:t>&gt; &lt;S&gt; 0 &lt;</a:t>
            </a:r>
            <a:r>
              <a:rPr lang="en-US" dirty="0" err="1">
                <a:solidFill>
                  <a:schemeClr val="tx1"/>
                </a:solidFill>
                <a:latin typeface="Candara" panose="020E0502030303020204" pitchFamily="34" charset="0"/>
              </a:rPr>
              <a:t>ws</a:t>
            </a:r>
            <a:r>
              <a:rPr lang="en-US" dirty="0">
                <a:solidFill>
                  <a:schemeClr val="tx1"/>
                </a:solidFill>
                <a:latin typeface="Candara" panose="020E0502030303020204" pitchFamily="34" charset="0"/>
              </a:rPr>
              <a:t>&gt;</a:t>
            </a:r>
          </a:p>
        </p:txBody>
      </p:sp>
      <p:grpSp>
        <p:nvGrpSpPr>
          <p:cNvPr id="115" name="Group 114">
            <a:extLst>
              <a:ext uri="{FF2B5EF4-FFF2-40B4-BE49-F238E27FC236}">
                <a16:creationId xmlns:a16="http://schemas.microsoft.com/office/drawing/2014/main" id="{DD92A9F3-285D-9AAB-EC67-18F3C7799E47}"/>
              </a:ext>
            </a:extLst>
          </p:cNvPr>
          <p:cNvGrpSpPr/>
          <p:nvPr/>
        </p:nvGrpSpPr>
        <p:grpSpPr>
          <a:xfrm>
            <a:off x="8505742" y="3771313"/>
            <a:ext cx="3348085" cy="2032051"/>
            <a:chOff x="6826732" y="2631916"/>
            <a:chExt cx="4764100" cy="2458777"/>
          </a:xfrm>
        </p:grpSpPr>
        <p:grpSp>
          <p:nvGrpSpPr>
            <p:cNvPr id="116" name="Group 115">
              <a:extLst>
                <a:ext uri="{FF2B5EF4-FFF2-40B4-BE49-F238E27FC236}">
                  <a16:creationId xmlns:a16="http://schemas.microsoft.com/office/drawing/2014/main" id="{A5710D07-C32E-0FB2-B7C9-13878F1387AC}"/>
                </a:ext>
              </a:extLst>
            </p:cNvPr>
            <p:cNvGrpSpPr/>
            <p:nvPr/>
          </p:nvGrpSpPr>
          <p:grpSpPr>
            <a:xfrm>
              <a:off x="6826732" y="3040348"/>
              <a:ext cx="4764100" cy="2050345"/>
              <a:chOff x="6826732" y="2790923"/>
              <a:chExt cx="4764100" cy="2255376"/>
            </a:xfrm>
          </p:grpSpPr>
          <p:grpSp>
            <p:nvGrpSpPr>
              <p:cNvPr id="118" name="Group 117">
                <a:extLst>
                  <a:ext uri="{FF2B5EF4-FFF2-40B4-BE49-F238E27FC236}">
                    <a16:creationId xmlns:a16="http://schemas.microsoft.com/office/drawing/2014/main" id="{9505C3CD-7CBD-A8D8-82F6-9AA476E00D2C}"/>
                  </a:ext>
                </a:extLst>
              </p:cNvPr>
              <p:cNvGrpSpPr/>
              <p:nvPr/>
            </p:nvGrpSpPr>
            <p:grpSpPr>
              <a:xfrm>
                <a:off x="6826732" y="2790923"/>
                <a:ext cx="4764100" cy="2045687"/>
                <a:chOff x="895162" y="2638523"/>
                <a:chExt cx="4764100" cy="2045687"/>
              </a:xfrm>
            </p:grpSpPr>
            <p:grpSp>
              <p:nvGrpSpPr>
                <p:cNvPr id="120" name="Group 119">
                  <a:extLst>
                    <a:ext uri="{FF2B5EF4-FFF2-40B4-BE49-F238E27FC236}">
                      <a16:creationId xmlns:a16="http://schemas.microsoft.com/office/drawing/2014/main" id="{92907E04-8B3D-C659-8EA0-DD554FD5B245}"/>
                    </a:ext>
                  </a:extLst>
                </p:cNvPr>
                <p:cNvGrpSpPr/>
                <p:nvPr/>
              </p:nvGrpSpPr>
              <p:grpSpPr>
                <a:xfrm>
                  <a:off x="895162" y="2661533"/>
                  <a:ext cx="4764100" cy="2022677"/>
                  <a:chOff x="805543" y="3039909"/>
                  <a:chExt cx="5057939" cy="2022677"/>
                </a:xfrm>
                <a:noFill/>
              </p:grpSpPr>
              <p:sp>
                <p:nvSpPr>
                  <p:cNvPr id="122" name="Rectangle 121">
                    <a:extLst>
                      <a:ext uri="{FF2B5EF4-FFF2-40B4-BE49-F238E27FC236}">
                        <a16:creationId xmlns:a16="http://schemas.microsoft.com/office/drawing/2014/main" id="{3F719A9B-5BAF-E661-8DF8-14131B86F307}"/>
                      </a:ext>
                    </a:extLst>
                  </p:cNvPr>
                  <p:cNvSpPr/>
                  <p:nvPr/>
                </p:nvSpPr>
                <p:spPr>
                  <a:xfrm>
                    <a:off x="805543" y="3039909"/>
                    <a:ext cx="5057939" cy="1792253"/>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ndara" panose="020E0502030303020204" pitchFamily="34" charset="0"/>
                    </a:endParaRPr>
                  </a:p>
                </p:txBody>
              </p:sp>
              <p:sp>
                <p:nvSpPr>
                  <p:cNvPr id="123" name="Rectangle 122">
                    <a:extLst>
                      <a:ext uri="{FF2B5EF4-FFF2-40B4-BE49-F238E27FC236}">
                        <a16:creationId xmlns:a16="http://schemas.microsoft.com/office/drawing/2014/main" id="{283ED1CA-358D-D7F5-D981-5CEF9A7051E2}"/>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4" name="Rectangle 123">
                    <a:extLst>
                      <a:ext uri="{FF2B5EF4-FFF2-40B4-BE49-F238E27FC236}">
                        <a16:creationId xmlns:a16="http://schemas.microsoft.com/office/drawing/2014/main" id="{D252C3D8-B79E-7117-1547-52B59C497AAB}"/>
                      </a:ext>
                    </a:extLst>
                  </p:cNvPr>
                  <p:cNvSpPr/>
                  <p:nvPr/>
                </p:nvSpPr>
                <p:spPr>
                  <a:xfrm>
                    <a:off x="4304140" y="3662430"/>
                    <a:ext cx="1452247"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5" name="TextBox 124">
                    <a:extLst>
                      <a:ext uri="{FF2B5EF4-FFF2-40B4-BE49-F238E27FC236}">
                        <a16:creationId xmlns:a16="http://schemas.microsoft.com/office/drawing/2014/main" id="{E27061E5-FDFE-0EDA-5041-2F06FE1A275F}"/>
                      </a:ext>
                    </a:extLst>
                  </p:cNvPr>
                  <p:cNvSpPr txBox="1"/>
                  <p:nvPr/>
                </p:nvSpPr>
                <p:spPr>
                  <a:xfrm>
                    <a:off x="1094376" y="3736386"/>
                    <a:ext cx="2888477" cy="1106056"/>
                  </a:xfrm>
                  <a:prstGeom prst="rect">
                    <a:avLst/>
                  </a:prstGeom>
                  <a:grpFill/>
                </p:spPr>
                <p:txBody>
                  <a:bodyPr wrap="square" rtlCol="0">
                    <a:spAutoFit/>
                  </a:bodyPr>
                  <a:lstStyle/>
                  <a:p>
                    <a:pPr algn="ctr"/>
                    <a:r>
                      <a:rPr lang="en-US" sz="1600" dirty="0">
                        <a:latin typeface="Candara" panose="020E0502030303020204" pitchFamily="34" charset="0"/>
                      </a:rPr>
                      <a:t>Prev </a:t>
                    </a:r>
                    <a:r>
                      <a:rPr lang="en-US" sz="1600" dirty="0" err="1">
                        <a:latin typeface="Candara" panose="020E0502030303020204" pitchFamily="34" charset="0"/>
                      </a:rPr>
                      <a:t>Txid</a:t>
                    </a:r>
                    <a:endParaRPr lang="en-US" sz="1600" dirty="0">
                      <a:latin typeface="Candara" panose="020E0502030303020204" pitchFamily="34" charset="0"/>
                    </a:endParaRPr>
                  </a:p>
                  <a:p>
                    <a:pPr algn="ctr"/>
                    <a:r>
                      <a:rPr lang="en-US" sz="1600" dirty="0" err="1">
                        <a:latin typeface="Candara" panose="020E0502030303020204" pitchFamily="34" charset="0"/>
                      </a:rPr>
                      <a:t>Idx</a:t>
                    </a:r>
                    <a:endParaRPr lang="en-US" sz="1600" dirty="0">
                      <a:latin typeface="Candara" panose="020E0502030303020204" pitchFamily="34" charset="0"/>
                    </a:endParaRPr>
                  </a:p>
                  <a:p>
                    <a:pPr algn="ctr"/>
                    <a:r>
                      <a:rPr lang="en-US" sz="1600" dirty="0" err="1">
                        <a:latin typeface="Candara" panose="020E0502030303020204" pitchFamily="34" charset="0"/>
                      </a:rPr>
                      <a:t>scriptSig</a:t>
                    </a:r>
                    <a:r>
                      <a:rPr lang="en-US" sz="1600" dirty="0">
                        <a:latin typeface="Candara" panose="020E0502030303020204" pitchFamily="34" charset="0"/>
                      </a:rPr>
                      <a:t>=empty</a:t>
                    </a:r>
                  </a:p>
                </p:txBody>
              </p:sp>
            </p:grpSp>
            <p:sp>
              <p:nvSpPr>
                <p:cNvPr id="121" name="Rectangle 120">
                  <a:extLst>
                    <a:ext uri="{FF2B5EF4-FFF2-40B4-BE49-F238E27FC236}">
                      <a16:creationId xmlns:a16="http://schemas.microsoft.com/office/drawing/2014/main" id="{A387B9D4-35BD-9FDE-C4EF-3A0C9134EF89}"/>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Transaction-Level Fields </a:t>
                  </a:r>
                </a:p>
                <a:p>
                  <a:pPr algn="ctr"/>
                  <a:r>
                    <a:rPr lang="en-US" sz="1600" dirty="0">
                      <a:solidFill>
                        <a:schemeClr val="tx1"/>
                      </a:solidFill>
                      <a:latin typeface="Candara" panose="020E0502030303020204" pitchFamily="34" charset="0"/>
                    </a:rPr>
                    <a:t>(Version, </a:t>
                  </a:r>
                  <a:r>
                    <a:rPr lang="en-US" sz="1600" dirty="0" err="1">
                      <a:solidFill>
                        <a:schemeClr val="tx1"/>
                      </a:solidFill>
                      <a:latin typeface="Candara" panose="020E0502030303020204" pitchFamily="34" charset="0"/>
                    </a:rPr>
                    <a:t>nLockTime</a:t>
                  </a:r>
                  <a:r>
                    <a:rPr lang="en-US" sz="1600" dirty="0">
                      <a:solidFill>
                        <a:schemeClr val="tx1"/>
                      </a:solidFill>
                      <a:latin typeface="Candara" panose="020E0502030303020204" pitchFamily="34" charset="0"/>
                    </a:rPr>
                    <a:t>, Flags)</a:t>
                  </a:r>
                </a:p>
              </p:txBody>
            </p:sp>
          </p:grpSp>
          <p:sp>
            <p:nvSpPr>
              <p:cNvPr id="119" name="Rectangle 118">
                <a:extLst>
                  <a:ext uri="{FF2B5EF4-FFF2-40B4-BE49-F238E27FC236}">
                    <a16:creationId xmlns:a16="http://schemas.microsoft.com/office/drawing/2014/main" id="{568B5625-4D17-1D50-B058-B54CD64561D9}"/>
                  </a:ext>
                </a:extLst>
              </p:cNvPr>
              <p:cNvSpPr/>
              <p:nvPr/>
            </p:nvSpPr>
            <p:spPr>
              <a:xfrm>
                <a:off x="6826732" y="4608862"/>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P2WSH5678CB</a:t>
                </a:r>
              </a:p>
            </p:txBody>
          </p:sp>
        </p:grpSp>
        <p:sp>
          <p:nvSpPr>
            <p:cNvPr id="117" name="TextBox 116">
              <a:extLst>
                <a:ext uri="{FF2B5EF4-FFF2-40B4-BE49-F238E27FC236}">
                  <a16:creationId xmlns:a16="http://schemas.microsoft.com/office/drawing/2014/main" id="{7C55D91C-B731-79BA-BAF0-8E1B19693C47}"/>
                </a:ext>
              </a:extLst>
            </p:cNvPr>
            <p:cNvSpPr txBox="1"/>
            <p:nvPr/>
          </p:nvSpPr>
          <p:spPr>
            <a:xfrm>
              <a:off x="7518616" y="2631916"/>
              <a:ext cx="3585118" cy="446891"/>
            </a:xfrm>
            <a:prstGeom prst="rect">
              <a:avLst/>
            </a:prstGeom>
            <a:noFill/>
          </p:spPr>
          <p:txBody>
            <a:bodyPr wrap="none" rtlCol="0">
              <a:spAutoFit/>
            </a:bodyPr>
            <a:lstStyle/>
            <a:p>
              <a:r>
                <a:rPr lang="en-US" dirty="0">
                  <a:latin typeface="Candara" panose="020E0502030303020204" pitchFamily="34" charset="0"/>
                </a:rPr>
                <a:t>Child Transaction (Bob)</a:t>
              </a:r>
            </a:p>
          </p:txBody>
        </p:sp>
      </p:grpSp>
      <p:grpSp>
        <p:nvGrpSpPr>
          <p:cNvPr id="126" name="Group 125">
            <a:extLst>
              <a:ext uri="{FF2B5EF4-FFF2-40B4-BE49-F238E27FC236}">
                <a16:creationId xmlns:a16="http://schemas.microsoft.com/office/drawing/2014/main" id="{1A314A30-936A-63E6-EECD-9BF98A79B268}"/>
              </a:ext>
            </a:extLst>
          </p:cNvPr>
          <p:cNvGrpSpPr/>
          <p:nvPr/>
        </p:nvGrpSpPr>
        <p:grpSpPr>
          <a:xfrm>
            <a:off x="7813112" y="5287275"/>
            <a:ext cx="731833" cy="900149"/>
            <a:chOff x="5426646" y="4367463"/>
            <a:chExt cx="1400086" cy="1745433"/>
          </a:xfrm>
        </p:grpSpPr>
        <p:cxnSp>
          <p:nvCxnSpPr>
            <p:cNvPr id="127" name="Straight Connector 126">
              <a:extLst>
                <a:ext uri="{FF2B5EF4-FFF2-40B4-BE49-F238E27FC236}">
                  <a16:creationId xmlns:a16="http://schemas.microsoft.com/office/drawing/2014/main" id="{BEB39CF3-C42B-9AEC-4DF4-E9CCFE745DDB}"/>
                </a:ext>
              </a:extLst>
            </p:cNvPr>
            <p:cNvCxnSpPr>
              <a:cxnSpLocks/>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AEDAE3AC-7617-E215-5612-6A7ADF69EE70}"/>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952A5209-ACB9-8F4A-5901-5E7A818ED0F3}"/>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216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102" grpId="0" animBg="1"/>
      <p:bldP spid="11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D7237-4EF2-1DA7-3F0D-2BAD27A3E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5323E-0994-032C-7C49-BE6E01C81064}"/>
              </a:ext>
            </a:extLst>
          </p:cNvPr>
          <p:cNvSpPr>
            <a:spLocks noGrp="1"/>
          </p:cNvSpPr>
          <p:nvPr>
            <p:ph type="title"/>
          </p:nvPr>
        </p:nvSpPr>
        <p:spPr/>
        <p:txBody>
          <a:bodyPr>
            <a:normAutofit/>
          </a:bodyPr>
          <a:lstStyle/>
          <a:p>
            <a:r>
              <a:rPr lang="en-US" dirty="0"/>
              <a:t>Custom Locking using P2WSH</a:t>
            </a:r>
          </a:p>
        </p:txBody>
      </p:sp>
      <p:sp>
        <p:nvSpPr>
          <p:cNvPr id="3" name="Content Placeholder 2">
            <a:extLst>
              <a:ext uri="{FF2B5EF4-FFF2-40B4-BE49-F238E27FC236}">
                <a16:creationId xmlns:a16="http://schemas.microsoft.com/office/drawing/2014/main" id="{EB02F609-6173-5847-4F8D-D6C2AE8A704A}"/>
              </a:ext>
            </a:extLst>
          </p:cNvPr>
          <p:cNvSpPr>
            <a:spLocks noGrp="1"/>
          </p:cNvSpPr>
          <p:nvPr>
            <p:ph idx="1"/>
          </p:nvPr>
        </p:nvSpPr>
        <p:spPr>
          <a:xfrm>
            <a:off x="487680" y="1097280"/>
            <a:ext cx="11186160" cy="5359964"/>
          </a:xfrm>
        </p:spPr>
        <p:txBody>
          <a:bodyPr>
            <a:noAutofit/>
          </a:bodyPr>
          <a:lstStyle/>
          <a:p>
            <a:r>
              <a:rPr lang="en-US" sz="2000" dirty="0">
                <a:solidFill>
                  <a:srgbClr val="7030A0"/>
                </a:solidFill>
              </a:rPr>
              <a:t>Design the Witness Script</a:t>
            </a:r>
          </a:p>
          <a:p>
            <a:pPr lvl="1"/>
            <a:r>
              <a:rPr lang="en-US" sz="1600" dirty="0">
                <a:solidFill>
                  <a:srgbClr val="7030A0"/>
                </a:solidFill>
              </a:rPr>
              <a:t>Write the spending rules in Bitcoin Script (OP_IF / OP_ELSE, OP_SHA256, OP_CHECKSIG, OP_CHECKMULTISIG)</a:t>
            </a:r>
          </a:p>
          <a:p>
            <a:pPr lvl="1"/>
            <a:r>
              <a:rPr lang="en-US" sz="1600" dirty="0">
                <a:solidFill>
                  <a:srgbClr val="7030A0"/>
                </a:solidFill>
              </a:rPr>
              <a:t>Arrange operations &amp; checks so they are in the required order </a:t>
            </a:r>
          </a:p>
          <a:p>
            <a:r>
              <a:rPr lang="en-US" sz="2000" dirty="0">
                <a:solidFill>
                  <a:schemeClr val="accent6">
                    <a:lumMod val="50000"/>
                  </a:schemeClr>
                </a:solidFill>
              </a:rPr>
              <a:t>Compute the Witness script hash </a:t>
            </a:r>
          </a:p>
          <a:p>
            <a:pPr lvl="1"/>
            <a:r>
              <a:rPr lang="en-US" sz="1600" dirty="0">
                <a:solidFill>
                  <a:schemeClr val="accent6">
                    <a:lumMod val="50000"/>
                  </a:schemeClr>
                </a:solidFill>
              </a:rPr>
              <a:t>&lt;</a:t>
            </a:r>
            <a:r>
              <a:rPr lang="en-US" sz="1600" dirty="0" err="1">
                <a:solidFill>
                  <a:schemeClr val="accent6">
                    <a:lumMod val="50000"/>
                  </a:schemeClr>
                </a:solidFill>
              </a:rPr>
              <a:t>sh</a:t>
            </a:r>
            <a:r>
              <a:rPr lang="en-US" sz="1600" dirty="0">
                <a:solidFill>
                  <a:schemeClr val="accent6">
                    <a:lumMod val="50000"/>
                  </a:schemeClr>
                </a:solidFill>
              </a:rPr>
              <a:t>&gt; = SHA256(Witness Script)</a:t>
            </a:r>
          </a:p>
          <a:p>
            <a:pPr lvl="1"/>
            <a:r>
              <a:rPr lang="en-US" sz="1600" dirty="0">
                <a:solidFill>
                  <a:schemeClr val="accent6">
                    <a:lumMod val="50000"/>
                  </a:schemeClr>
                </a:solidFill>
              </a:rPr>
              <a:t>In P2WSH we use SHA256 hash of the witness script </a:t>
            </a:r>
          </a:p>
          <a:p>
            <a:r>
              <a:rPr lang="en-US" sz="2000" dirty="0">
                <a:solidFill>
                  <a:schemeClr val="accent4">
                    <a:lumMod val="50000"/>
                  </a:schemeClr>
                </a:solidFill>
              </a:rPr>
              <a:t>Create the </a:t>
            </a:r>
            <a:r>
              <a:rPr lang="en-US" sz="2000" dirty="0" err="1">
                <a:solidFill>
                  <a:schemeClr val="accent4">
                    <a:lumMod val="50000"/>
                  </a:schemeClr>
                </a:solidFill>
              </a:rPr>
              <a:t>scriptPubKey</a:t>
            </a:r>
            <a:endParaRPr lang="en-US" sz="2000" dirty="0">
              <a:solidFill>
                <a:schemeClr val="accent4">
                  <a:lumMod val="50000"/>
                </a:schemeClr>
              </a:solidFill>
            </a:endParaRPr>
          </a:p>
          <a:p>
            <a:pPr lvl="1"/>
            <a:r>
              <a:rPr lang="en-US" sz="1600" dirty="0">
                <a:solidFill>
                  <a:schemeClr val="accent4">
                    <a:lumMod val="50000"/>
                  </a:schemeClr>
                </a:solidFill>
              </a:rPr>
              <a:t>OP_0 &lt;</a:t>
            </a:r>
            <a:r>
              <a:rPr lang="en-US" sz="1600" dirty="0" err="1">
                <a:solidFill>
                  <a:schemeClr val="accent4">
                    <a:lumMod val="50000"/>
                  </a:schemeClr>
                </a:solidFill>
              </a:rPr>
              <a:t>wsh</a:t>
            </a:r>
            <a:r>
              <a:rPr lang="en-US" sz="1600" dirty="0">
                <a:solidFill>
                  <a:schemeClr val="accent4">
                    <a:lumMod val="50000"/>
                  </a:schemeClr>
                </a:solidFill>
              </a:rPr>
              <a:t>&gt;</a:t>
            </a:r>
          </a:p>
          <a:p>
            <a:pPr lvl="1"/>
            <a:r>
              <a:rPr lang="en-US" sz="1600" dirty="0">
                <a:solidFill>
                  <a:schemeClr val="accent4">
                    <a:lumMod val="50000"/>
                  </a:schemeClr>
                </a:solidFill>
              </a:rPr>
              <a:t>Use it to lock the value in a parent transaction, OP_0 indicates it is a </a:t>
            </a:r>
            <a:r>
              <a:rPr lang="en-US" sz="1600" dirty="0" err="1">
                <a:solidFill>
                  <a:schemeClr val="accent4">
                    <a:lumMod val="50000"/>
                  </a:schemeClr>
                </a:solidFill>
              </a:rPr>
              <a:t>segWit</a:t>
            </a:r>
            <a:r>
              <a:rPr lang="en-US" sz="1600" dirty="0">
                <a:solidFill>
                  <a:schemeClr val="accent4">
                    <a:lumMod val="50000"/>
                  </a:schemeClr>
                </a:solidFill>
              </a:rPr>
              <a:t> program</a:t>
            </a:r>
          </a:p>
          <a:p>
            <a:r>
              <a:rPr lang="en-US" sz="2000" dirty="0">
                <a:solidFill>
                  <a:schemeClr val="accent5">
                    <a:lumMod val="50000"/>
                  </a:schemeClr>
                </a:solidFill>
              </a:rPr>
              <a:t>Create a child transaction for spending the output </a:t>
            </a:r>
          </a:p>
          <a:p>
            <a:pPr lvl="1"/>
            <a:r>
              <a:rPr lang="en-US" sz="1600" dirty="0">
                <a:solidFill>
                  <a:schemeClr val="accent5">
                    <a:lumMod val="50000"/>
                  </a:schemeClr>
                </a:solidFill>
              </a:rPr>
              <a:t>Create/gather the required data according to the path used for unlocking</a:t>
            </a:r>
          </a:p>
          <a:p>
            <a:pPr lvl="1"/>
            <a:r>
              <a:rPr lang="en-US" sz="1600" dirty="0">
                <a:solidFill>
                  <a:schemeClr val="accent5">
                    <a:lumMod val="50000"/>
                  </a:schemeClr>
                </a:solidFill>
              </a:rPr>
              <a:t>Create the Witness (the required sequence of unlocking data items must be followed)</a:t>
            </a:r>
          </a:p>
          <a:p>
            <a:r>
              <a:rPr lang="en-US" sz="2000" dirty="0">
                <a:solidFill>
                  <a:srgbClr val="FF0000"/>
                </a:solidFill>
              </a:rPr>
              <a:t>To validate &amp; execute, nodes interpret it is a witness program when they find OP_0 in the </a:t>
            </a:r>
            <a:r>
              <a:rPr lang="en-US" sz="2000" dirty="0" err="1">
                <a:solidFill>
                  <a:srgbClr val="FF0000"/>
                </a:solidFill>
              </a:rPr>
              <a:t>scriptPubKey</a:t>
            </a:r>
            <a:r>
              <a:rPr lang="en-US" sz="2000" dirty="0">
                <a:solidFill>
                  <a:srgbClr val="FF0000"/>
                </a:solidFill>
              </a:rPr>
              <a:t> of the parent and the 32B length tells them it is a p2wsh program</a:t>
            </a:r>
          </a:p>
          <a:p>
            <a:pPr lvl="1"/>
            <a:r>
              <a:rPr lang="en-US" sz="1600" dirty="0">
                <a:solidFill>
                  <a:srgbClr val="FF0000"/>
                </a:solidFill>
              </a:rPr>
              <a:t>Nodes first check if the witness script in the child </a:t>
            </a:r>
            <a:r>
              <a:rPr lang="en-US" sz="1600" dirty="0" err="1">
                <a:solidFill>
                  <a:srgbClr val="FF0000"/>
                </a:solidFill>
              </a:rPr>
              <a:t>txn</a:t>
            </a:r>
            <a:r>
              <a:rPr lang="en-US" sz="1600" dirty="0">
                <a:solidFill>
                  <a:srgbClr val="FF0000"/>
                </a:solidFill>
              </a:rPr>
              <a:t> hashes to the correct value &lt;</a:t>
            </a:r>
            <a:r>
              <a:rPr lang="en-US" sz="1600" dirty="0" err="1">
                <a:solidFill>
                  <a:srgbClr val="FF0000"/>
                </a:solidFill>
              </a:rPr>
              <a:t>wsh</a:t>
            </a:r>
            <a:r>
              <a:rPr lang="en-US" sz="1600" dirty="0">
                <a:solidFill>
                  <a:srgbClr val="FF0000"/>
                </a:solidFill>
              </a:rPr>
              <a:t>&gt;</a:t>
            </a:r>
          </a:p>
          <a:p>
            <a:pPr lvl="1"/>
            <a:r>
              <a:rPr lang="en-US" sz="1600" dirty="0">
                <a:solidFill>
                  <a:srgbClr val="FF0000"/>
                </a:solidFill>
              </a:rPr>
              <a:t>If correct, the witness script also gets executed (special handling)</a:t>
            </a:r>
          </a:p>
          <a:p>
            <a:pPr lvl="1"/>
            <a:r>
              <a:rPr lang="en-US" sz="1600" dirty="0">
                <a:solidFill>
                  <a:srgbClr val="FF0000"/>
                </a:solidFill>
              </a:rPr>
              <a:t>Finally, the signatures are verified</a:t>
            </a:r>
          </a:p>
          <a:p>
            <a:pPr lvl="1"/>
            <a:endParaRPr lang="en-US" sz="1600" dirty="0"/>
          </a:p>
        </p:txBody>
      </p:sp>
      <p:sp>
        <p:nvSpPr>
          <p:cNvPr id="4" name="Slide Number Placeholder 3">
            <a:extLst>
              <a:ext uri="{FF2B5EF4-FFF2-40B4-BE49-F238E27FC236}">
                <a16:creationId xmlns:a16="http://schemas.microsoft.com/office/drawing/2014/main" id="{6EF5F89C-1B79-4319-82BA-0559863611D7}"/>
              </a:ext>
            </a:extLst>
          </p:cNvPr>
          <p:cNvSpPr>
            <a:spLocks noGrp="1"/>
          </p:cNvSpPr>
          <p:nvPr>
            <p:ph type="sldNum" sz="quarter" idx="12"/>
          </p:nvPr>
        </p:nvSpPr>
        <p:spPr/>
        <p:txBody>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331828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CDBD2-A5DA-402D-269D-2B6AD3107089}"/>
              </a:ext>
            </a:extLst>
          </p:cNvPr>
          <p:cNvSpPr>
            <a:spLocks noGrp="1"/>
          </p:cNvSpPr>
          <p:nvPr>
            <p:ph type="title"/>
          </p:nvPr>
        </p:nvSpPr>
        <p:spPr/>
        <p:txBody>
          <a:bodyPr/>
          <a:lstStyle/>
          <a:p>
            <a:r>
              <a:rPr lang="en-US" dirty="0"/>
              <a:t>Storing Data on Bitcoin Blockchain</a:t>
            </a:r>
          </a:p>
        </p:txBody>
      </p:sp>
      <p:sp>
        <p:nvSpPr>
          <p:cNvPr id="4" name="Slide Number Placeholder 3">
            <a:extLst>
              <a:ext uri="{FF2B5EF4-FFF2-40B4-BE49-F238E27FC236}">
                <a16:creationId xmlns:a16="http://schemas.microsoft.com/office/drawing/2014/main" id="{2F42FE89-7F65-FC70-3644-BEFB5ACF51F5}"/>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48</a:t>
            </a:fld>
            <a:endParaRPr lang="en-US" dirty="0">
              <a:latin typeface="Candara" panose="020E0502030303020204" pitchFamily="34" charset="0"/>
            </a:endParaRPr>
          </a:p>
        </p:txBody>
      </p:sp>
      <p:sp>
        <p:nvSpPr>
          <p:cNvPr id="5" name="Rectangle 4">
            <a:extLst>
              <a:ext uri="{FF2B5EF4-FFF2-40B4-BE49-F238E27FC236}">
                <a16:creationId xmlns:a16="http://schemas.microsoft.com/office/drawing/2014/main" id="{DE19DD11-9ECF-3DAF-B069-695A1EDD7D97}"/>
              </a:ext>
            </a:extLst>
          </p:cNvPr>
          <p:cNvSpPr/>
          <p:nvPr/>
        </p:nvSpPr>
        <p:spPr>
          <a:xfrm>
            <a:off x="578726" y="5433776"/>
            <a:ext cx="5931336" cy="60623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ndara" panose="020E0502030303020204" pitchFamily="34" charset="0"/>
              </a:rPr>
              <a:t>Witness Field</a:t>
            </a:r>
          </a:p>
          <a:p>
            <a:pPr algn="ctr"/>
            <a:r>
              <a:rPr lang="en-US" sz="2400" dirty="0">
                <a:solidFill>
                  <a:schemeClr val="tx1"/>
                </a:solidFill>
                <a:latin typeface="Candara" panose="020E0502030303020204" pitchFamily="34" charset="0"/>
              </a:rPr>
              <a:t>&lt;--&gt; &lt;--&gt;</a:t>
            </a:r>
          </a:p>
        </p:txBody>
      </p:sp>
      <p:grpSp>
        <p:nvGrpSpPr>
          <p:cNvPr id="21" name="Group 20">
            <a:extLst>
              <a:ext uri="{FF2B5EF4-FFF2-40B4-BE49-F238E27FC236}">
                <a16:creationId xmlns:a16="http://schemas.microsoft.com/office/drawing/2014/main" id="{422110B4-E147-0EA3-DAEA-3EB49C59C64C}"/>
              </a:ext>
            </a:extLst>
          </p:cNvPr>
          <p:cNvGrpSpPr/>
          <p:nvPr/>
        </p:nvGrpSpPr>
        <p:grpSpPr>
          <a:xfrm>
            <a:off x="578725" y="1870373"/>
            <a:ext cx="5931338" cy="3449669"/>
            <a:chOff x="3265358" y="1436557"/>
            <a:chExt cx="4456302" cy="3449669"/>
          </a:xfrm>
        </p:grpSpPr>
        <p:grpSp>
          <p:nvGrpSpPr>
            <p:cNvPr id="7" name="Group 6">
              <a:extLst>
                <a:ext uri="{FF2B5EF4-FFF2-40B4-BE49-F238E27FC236}">
                  <a16:creationId xmlns:a16="http://schemas.microsoft.com/office/drawing/2014/main" id="{C7AF4821-848C-F0E1-EDCA-F3B5D28E1693}"/>
                </a:ext>
              </a:extLst>
            </p:cNvPr>
            <p:cNvGrpSpPr/>
            <p:nvPr/>
          </p:nvGrpSpPr>
          <p:grpSpPr>
            <a:xfrm>
              <a:off x="3265358" y="1436557"/>
              <a:ext cx="4456302" cy="3449669"/>
              <a:chOff x="662545" y="2790923"/>
              <a:chExt cx="4764101" cy="2356163"/>
            </a:xfrm>
          </p:grpSpPr>
          <p:grpSp>
            <p:nvGrpSpPr>
              <p:cNvPr id="9" name="Group 8">
                <a:extLst>
                  <a:ext uri="{FF2B5EF4-FFF2-40B4-BE49-F238E27FC236}">
                    <a16:creationId xmlns:a16="http://schemas.microsoft.com/office/drawing/2014/main" id="{5BC1C031-A116-A7F0-17E1-9565BA7EB914}"/>
                  </a:ext>
                </a:extLst>
              </p:cNvPr>
              <p:cNvGrpSpPr/>
              <p:nvPr/>
            </p:nvGrpSpPr>
            <p:grpSpPr>
              <a:xfrm>
                <a:off x="662545" y="2790923"/>
                <a:ext cx="4764101" cy="2045687"/>
                <a:chOff x="895161" y="2638523"/>
                <a:chExt cx="4764101" cy="2045687"/>
              </a:xfrm>
            </p:grpSpPr>
            <p:grpSp>
              <p:nvGrpSpPr>
                <p:cNvPr id="11" name="Group 10">
                  <a:extLst>
                    <a:ext uri="{FF2B5EF4-FFF2-40B4-BE49-F238E27FC236}">
                      <a16:creationId xmlns:a16="http://schemas.microsoft.com/office/drawing/2014/main" id="{9970479E-2E19-90D0-A768-47FED4BFBA4F}"/>
                    </a:ext>
                  </a:extLst>
                </p:cNvPr>
                <p:cNvGrpSpPr/>
                <p:nvPr/>
              </p:nvGrpSpPr>
              <p:grpSpPr>
                <a:xfrm>
                  <a:off x="895161" y="2661534"/>
                  <a:ext cx="4764100" cy="2022676"/>
                  <a:chOff x="805542" y="3039910"/>
                  <a:chExt cx="5057939" cy="2022676"/>
                </a:xfrm>
                <a:noFill/>
              </p:grpSpPr>
              <p:sp>
                <p:nvSpPr>
                  <p:cNvPr id="13" name="Rectangle 12">
                    <a:extLst>
                      <a:ext uri="{FF2B5EF4-FFF2-40B4-BE49-F238E27FC236}">
                        <a16:creationId xmlns:a16="http://schemas.microsoft.com/office/drawing/2014/main" id="{FA23CD1F-1D06-7950-CA45-79E2AE6170C7}"/>
                      </a:ext>
                    </a:extLst>
                  </p:cNvPr>
                  <p:cNvSpPr/>
                  <p:nvPr/>
                </p:nvSpPr>
                <p:spPr>
                  <a:xfrm>
                    <a:off x="805542"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latin typeface="Candara" panose="020E0502030303020204" pitchFamily="34" charset="0"/>
                    </a:endParaRPr>
                  </a:p>
                </p:txBody>
              </p:sp>
              <p:sp>
                <p:nvSpPr>
                  <p:cNvPr id="14" name="Rectangle 13">
                    <a:extLst>
                      <a:ext uri="{FF2B5EF4-FFF2-40B4-BE49-F238E27FC236}">
                        <a16:creationId xmlns:a16="http://schemas.microsoft.com/office/drawing/2014/main" id="{8FB37C81-66C1-85A0-E1C7-A20C21B1AADF}"/>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Candara" panose="020E0502030303020204" pitchFamily="34" charset="0"/>
                    </a:endParaRPr>
                  </a:p>
                </p:txBody>
              </p:sp>
              <p:sp>
                <p:nvSpPr>
                  <p:cNvPr id="15" name="Rectangle 14">
                    <a:extLst>
                      <a:ext uri="{FF2B5EF4-FFF2-40B4-BE49-F238E27FC236}">
                        <a16:creationId xmlns:a16="http://schemas.microsoft.com/office/drawing/2014/main" id="{E5748910-BCDE-6DB7-AB34-04FEC024D8AB}"/>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Candara" panose="020E0502030303020204" pitchFamily="34" charset="0"/>
                    </a:endParaRPr>
                  </a:p>
                </p:txBody>
              </p:sp>
              <p:sp>
                <p:nvSpPr>
                  <p:cNvPr id="16" name="TextBox 15">
                    <a:extLst>
                      <a:ext uri="{FF2B5EF4-FFF2-40B4-BE49-F238E27FC236}">
                        <a16:creationId xmlns:a16="http://schemas.microsoft.com/office/drawing/2014/main" id="{819B09D5-FDD1-4D90-0873-B9F8CC0D375D}"/>
                      </a:ext>
                    </a:extLst>
                  </p:cNvPr>
                  <p:cNvSpPr txBox="1"/>
                  <p:nvPr/>
                </p:nvSpPr>
                <p:spPr>
                  <a:xfrm>
                    <a:off x="3503945" y="3687692"/>
                    <a:ext cx="2139943" cy="903924"/>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 </a:t>
                    </a:r>
                  </a:p>
                  <a:p>
                    <a:pPr algn="ctr"/>
                    <a:r>
                      <a:rPr lang="en-US" sz="2000" dirty="0">
                        <a:solidFill>
                          <a:schemeClr val="bg1"/>
                        </a:solidFill>
                        <a:latin typeface="Candara" panose="020E0502030303020204" pitchFamily="34" charset="0"/>
                      </a:rPr>
                      <a:t>OP_0 </a:t>
                    </a:r>
                  </a:p>
                  <a:p>
                    <a:pPr algn="ctr"/>
                    <a:r>
                      <a:rPr lang="en-US" sz="2000" dirty="0">
                        <a:solidFill>
                          <a:schemeClr val="bg1"/>
                        </a:solidFill>
                        <a:latin typeface="Candara" panose="020E0502030303020204" pitchFamily="34" charset="0"/>
                      </a:rPr>
                      <a:t>&lt;</a:t>
                    </a:r>
                    <a:r>
                      <a:rPr lang="en-US" sz="2000" dirty="0" err="1">
                        <a:solidFill>
                          <a:schemeClr val="bg1"/>
                        </a:solidFill>
                        <a:latin typeface="Candara" panose="020E0502030303020204" pitchFamily="34" charset="0"/>
                      </a:rPr>
                      <a:t>wsh</a:t>
                    </a:r>
                    <a:r>
                      <a:rPr lang="en-US" sz="2000" dirty="0">
                        <a:solidFill>
                          <a:schemeClr val="bg1"/>
                        </a:solidFill>
                        <a:latin typeface="Candara" panose="020E0502030303020204" pitchFamily="34" charset="0"/>
                      </a:rPr>
                      <a:t>&gt;</a:t>
                    </a:r>
                  </a:p>
                  <a:p>
                    <a:pPr algn="ctr"/>
                    <a:endParaRPr lang="en-US" sz="2000" dirty="0">
                      <a:latin typeface="Candara" panose="020E0502030303020204" pitchFamily="34" charset="0"/>
                    </a:endParaRPr>
                  </a:p>
                </p:txBody>
              </p:sp>
            </p:grpSp>
            <p:sp>
              <p:nvSpPr>
                <p:cNvPr id="12" name="Rectangle 11">
                  <a:extLst>
                    <a:ext uri="{FF2B5EF4-FFF2-40B4-BE49-F238E27FC236}">
                      <a16:creationId xmlns:a16="http://schemas.microsoft.com/office/drawing/2014/main" id="{32271267-7648-15CD-FEB6-5EBB3A848EFC}"/>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Candara" panose="020E0502030303020204" pitchFamily="34" charset="0"/>
                    </a:rPr>
                    <a:t>Transaction-Level Fields </a:t>
                  </a:r>
                </a:p>
                <a:p>
                  <a:pPr algn="ctr"/>
                  <a:r>
                    <a:rPr lang="en-US" sz="2400" dirty="0">
                      <a:latin typeface="Candara" panose="020E0502030303020204" pitchFamily="34" charset="0"/>
                    </a:rPr>
                    <a:t>(Version, </a:t>
                  </a:r>
                  <a:r>
                    <a:rPr lang="en-US" sz="2400" dirty="0" err="1">
                      <a:latin typeface="Candara" panose="020E0502030303020204" pitchFamily="34" charset="0"/>
                    </a:rPr>
                    <a:t>nLockTime</a:t>
                  </a:r>
                  <a:r>
                    <a:rPr lang="en-US" sz="2400" dirty="0">
                      <a:latin typeface="Candara" panose="020E0502030303020204" pitchFamily="34" charset="0"/>
                    </a:rPr>
                    <a:t>, Flags)</a:t>
                  </a:r>
                </a:p>
              </p:txBody>
            </p:sp>
          </p:grpSp>
          <p:sp>
            <p:nvSpPr>
              <p:cNvPr id="10" name="Rectangle 9">
                <a:extLst>
                  <a:ext uri="{FF2B5EF4-FFF2-40B4-BE49-F238E27FC236}">
                    <a16:creationId xmlns:a16="http://schemas.microsoft.com/office/drawing/2014/main" id="{23593574-BBEF-045C-E677-E03348B8DE90}"/>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andara" panose="020E0502030303020204" pitchFamily="34" charset="0"/>
                  </a:rPr>
                  <a:t>Txid</a:t>
                </a:r>
                <a:r>
                  <a:rPr lang="en-US" sz="2400" dirty="0">
                    <a:solidFill>
                      <a:schemeClr val="tx1"/>
                    </a:solidFill>
                    <a:latin typeface="Candara" panose="020E0502030303020204" pitchFamily="34" charset="0"/>
                  </a:rPr>
                  <a:t>: P2WSH5678P</a:t>
                </a:r>
              </a:p>
            </p:txBody>
          </p:sp>
        </p:grpSp>
        <p:cxnSp>
          <p:nvCxnSpPr>
            <p:cNvPr id="18" name="Straight Connector 17">
              <a:extLst>
                <a:ext uri="{FF2B5EF4-FFF2-40B4-BE49-F238E27FC236}">
                  <a16:creationId xmlns:a16="http://schemas.microsoft.com/office/drawing/2014/main" id="{61C98609-89C9-E785-A0BB-4C105963ECFB}"/>
                </a:ext>
              </a:extLst>
            </p:cNvPr>
            <p:cNvCxnSpPr>
              <a:stCxn id="15" idx="1"/>
              <a:endCxn id="15" idx="3"/>
            </p:cNvCxnSpPr>
            <p:nvPr/>
          </p:nvCxnSpPr>
          <p:spPr>
            <a:xfrm>
              <a:off x="5543671" y="3406669"/>
              <a:ext cx="20836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2FBE59A-BF8F-2B39-808D-C7F8965C0C12}"/>
                </a:ext>
              </a:extLst>
            </p:cNvPr>
            <p:cNvSpPr txBox="1"/>
            <p:nvPr/>
          </p:nvSpPr>
          <p:spPr>
            <a:xfrm>
              <a:off x="6001251" y="3508086"/>
              <a:ext cx="1168470" cy="707886"/>
            </a:xfrm>
            <a:prstGeom prst="rect">
              <a:avLst/>
            </a:prstGeom>
            <a:noFill/>
          </p:spPr>
          <p:txBody>
            <a:bodyPr wrap="none" rtlCol="0">
              <a:spAutoFit/>
            </a:bodyPr>
            <a:lstStyle/>
            <a:p>
              <a:pPr algn="ctr"/>
              <a:r>
                <a:rPr lang="en-US" sz="2000" dirty="0">
                  <a:solidFill>
                    <a:schemeClr val="bg1"/>
                  </a:solidFill>
                  <a:latin typeface="Candara" panose="020E0502030303020204" pitchFamily="34" charset="0"/>
                </a:rPr>
                <a:t>OP_RETURN</a:t>
              </a:r>
            </a:p>
            <a:p>
              <a:pPr algn="ctr"/>
              <a:r>
                <a:rPr lang="en-US" sz="2000" dirty="0">
                  <a:solidFill>
                    <a:schemeClr val="bg1"/>
                  </a:solidFill>
                  <a:latin typeface="Candara" panose="020E0502030303020204" pitchFamily="34" charset="0"/>
                </a:rPr>
                <a:t>&lt;DATA&gt;</a:t>
              </a:r>
            </a:p>
          </p:txBody>
        </p:sp>
      </p:grpSp>
      <p:sp>
        <p:nvSpPr>
          <p:cNvPr id="22" name="Content Placeholder 2">
            <a:extLst>
              <a:ext uri="{FF2B5EF4-FFF2-40B4-BE49-F238E27FC236}">
                <a16:creationId xmlns:a16="http://schemas.microsoft.com/office/drawing/2014/main" id="{C583426D-2C1E-D4C0-9195-6B5265A8825D}"/>
              </a:ext>
            </a:extLst>
          </p:cNvPr>
          <p:cNvSpPr>
            <a:spLocks noGrp="1"/>
          </p:cNvSpPr>
          <p:nvPr>
            <p:ph idx="1"/>
          </p:nvPr>
        </p:nvSpPr>
        <p:spPr>
          <a:xfrm>
            <a:off x="762000" y="1193908"/>
            <a:ext cx="10668000" cy="335700"/>
          </a:xfrm>
        </p:spPr>
        <p:txBody>
          <a:bodyPr anchor="ctr" anchorCtr="0">
            <a:noAutofit/>
          </a:bodyPr>
          <a:lstStyle/>
          <a:p>
            <a:pPr marL="0" indent="0" algn="ctr">
              <a:buNone/>
            </a:pPr>
            <a:r>
              <a:rPr lang="en-US" sz="2400" dirty="0">
                <a:solidFill>
                  <a:srgbClr val="7030A0"/>
                </a:solidFill>
              </a:rPr>
              <a:t>OP_RETURN is used to store arbitrary data on blockchain</a:t>
            </a:r>
          </a:p>
        </p:txBody>
      </p:sp>
      <p:sp>
        <p:nvSpPr>
          <p:cNvPr id="24" name="TextBox 23">
            <a:extLst>
              <a:ext uri="{FF2B5EF4-FFF2-40B4-BE49-F238E27FC236}">
                <a16:creationId xmlns:a16="http://schemas.microsoft.com/office/drawing/2014/main" id="{54566FAD-A13F-0509-C1F1-81B778A892D8}"/>
              </a:ext>
            </a:extLst>
          </p:cNvPr>
          <p:cNvSpPr txBox="1"/>
          <p:nvPr/>
        </p:nvSpPr>
        <p:spPr>
          <a:xfrm>
            <a:off x="7159176" y="2302425"/>
            <a:ext cx="4623135" cy="1323439"/>
          </a:xfrm>
          <a:prstGeom prst="rect">
            <a:avLst/>
          </a:prstGeom>
          <a:noFill/>
        </p:spPr>
        <p:txBody>
          <a:bodyPr wrap="square">
            <a:spAutoFit/>
          </a:bodyPr>
          <a:lstStyle/>
          <a:p>
            <a:pPr algn="ctr"/>
            <a:r>
              <a:rPr lang="en-US" sz="2000" dirty="0">
                <a:solidFill>
                  <a:srgbClr val="7030A0"/>
                </a:solidFill>
                <a:latin typeface="Candara" panose="020E0502030303020204" pitchFamily="34" charset="0"/>
              </a:rPr>
              <a:t>OP_RETURN creates a valid data transaction output that is provably </a:t>
            </a:r>
            <a:r>
              <a:rPr lang="en-US" sz="2000" dirty="0" err="1">
                <a:solidFill>
                  <a:srgbClr val="7030A0"/>
                </a:solidFill>
                <a:latin typeface="Candara" panose="020E0502030303020204" pitchFamily="34" charset="0"/>
              </a:rPr>
              <a:t>unspendable</a:t>
            </a:r>
            <a:r>
              <a:rPr lang="en-US" sz="2000" dirty="0">
                <a:solidFill>
                  <a:srgbClr val="7030A0"/>
                </a:solidFill>
                <a:latin typeface="Candara" panose="020E0502030303020204" pitchFamily="34" charset="0"/>
              </a:rPr>
              <a:t>, so it is not stored in the UTXO database  </a:t>
            </a:r>
          </a:p>
        </p:txBody>
      </p:sp>
      <p:sp>
        <p:nvSpPr>
          <p:cNvPr id="25" name="Rectangle 24">
            <a:extLst>
              <a:ext uri="{FF2B5EF4-FFF2-40B4-BE49-F238E27FC236}">
                <a16:creationId xmlns:a16="http://schemas.microsoft.com/office/drawing/2014/main" id="{0873800E-1F98-32BF-D9AE-E09E1B1A9075}"/>
              </a:ext>
            </a:extLst>
          </p:cNvPr>
          <p:cNvSpPr/>
          <p:nvPr/>
        </p:nvSpPr>
        <p:spPr>
          <a:xfrm>
            <a:off x="7188554" y="4203753"/>
            <a:ext cx="4198637" cy="1323439"/>
          </a:xfrm>
          <a:prstGeom prst="rect">
            <a:avLst/>
          </a:prstGeom>
          <a:noFill/>
          <a:ln>
            <a:noFill/>
          </a:ln>
        </p:spPr>
        <p:txBody>
          <a:bodyPr wrap="square">
            <a:spAutoFit/>
          </a:bodyPr>
          <a:lstStyle/>
          <a:p>
            <a:pPr algn="ctr"/>
            <a:r>
              <a:rPr lang="en-US" sz="2000" dirty="0">
                <a:solidFill>
                  <a:srgbClr val="FF0000"/>
                </a:solidFill>
                <a:latin typeface="Candara" panose="020E0502030303020204" pitchFamily="34" charset="0"/>
              </a:rPr>
              <a:t>Any output with OP_RETURN is known to contain data, so these outputs are not stored in the UTXO database  </a:t>
            </a:r>
          </a:p>
        </p:txBody>
      </p:sp>
    </p:spTree>
    <p:extLst>
      <p:ext uri="{BB962C8B-B14F-4D97-AF65-F5344CB8AC3E}">
        <p14:creationId xmlns:p14="http://schemas.microsoft.com/office/powerpoint/2010/main" val="149638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4F50-7A93-81BA-4D94-687778032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7FABC-91A0-AB13-F8C7-25A05E92A8B2}"/>
              </a:ext>
            </a:extLst>
          </p:cNvPr>
          <p:cNvSpPr>
            <a:spLocks noGrp="1"/>
          </p:cNvSpPr>
          <p:nvPr>
            <p:ph type="title"/>
          </p:nvPr>
        </p:nvSpPr>
        <p:spPr/>
        <p:txBody>
          <a:bodyPr/>
          <a:lstStyle/>
          <a:p>
            <a:r>
              <a:rPr lang="en-US" dirty="0"/>
              <a:t>Coinbase Transaction</a:t>
            </a:r>
          </a:p>
        </p:txBody>
      </p:sp>
      <p:sp>
        <p:nvSpPr>
          <p:cNvPr id="4" name="Slide Number Placeholder 3">
            <a:extLst>
              <a:ext uri="{FF2B5EF4-FFF2-40B4-BE49-F238E27FC236}">
                <a16:creationId xmlns:a16="http://schemas.microsoft.com/office/drawing/2014/main" id="{FB894688-977F-BE2B-F35C-6CA3C60425D5}"/>
              </a:ext>
            </a:extLst>
          </p:cNvPr>
          <p:cNvSpPr>
            <a:spLocks noGrp="1"/>
          </p:cNvSpPr>
          <p:nvPr>
            <p:ph type="sldNum" sz="quarter" idx="12"/>
          </p:nvPr>
        </p:nvSpPr>
        <p:spPr>
          <a:xfrm>
            <a:off x="10535449" y="6491073"/>
            <a:ext cx="985130" cy="390991"/>
          </a:xfrm>
        </p:spPr>
        <p:txBody>
          <a:bodyPr/>
          <a:lstStyle/>
          <a:p>
            <a:fld id="{19FE8B7B-3258-47CD-BBC0-34D05FC906E5}" type="slidenum">
              <a:rPr lang="en-US" smtClean="0">
                <a:latin typeface="Candara" panose="020E0502030303020204" pitchFamily="34" charset="0"/>
              </a:rPr>
              <a:t>49</a:t>
            </a:fld>
            <a:endParaRPr lang="en-US" dirty="0">
              <a:latin typeface="Candara" panose="020E0502030303020204" pitchFamily="34" charset="0"/>
            </a:endParaRPr>
          </a:p>
        </p:txBody>
      </p:sp>
      <p:grpSp>
        <p:nvGrpSpPr>
          <p:cNvPr id="19" name="Group 18">
            <a:extLst>
              <a:ext uri="{FF2B5EF4-FFF2-40B4-BE49-F238E27FC236}">
                <a16:creationId xmlns:a16="http://schemas.microsoft.com/office/drawing/2014/main" id="{CB0341F9-F6C9-D21E-3705-3D8119A278C8}"/>
              </a:ext>
            </a:extLst>
          </p:cNvPr>
          <p:cNvGrpSpPr/>
          <p:nvPr/>
        </p:nvGrpSpPr>
        <p:grpSpPr>
          <a:xfrm>
            <a:off x="2806955" y="1922067"/>
            <a:ext cx="5773552" cy="3612121"/>
            <a:chOff x="2011780" y="2386781"/>
            <a:chExt cx="5240195" cy="3202409"/>
          </a:xfrm>
        </p:grpSpPr>
        <p:grpSp>
          <p:nvGrpSpPr>
            <p:cNvPr id="6" name="Group 5">
              <a:extLst>
                <a:ext uri="{FF2B5EF4-FFF2-40B4-BE49-F238E27FC236}">
                  <a16:creationId xmlns:a16="http://schemas.microsoft.com/office/drawing/2014/main" id="{3BD4CD8B-E3A7-E83D-C1C3-7A6E625F4EB1}"/>
                </a:ext>
              </a:extLst>
            </p:cNvPr>
            <p:cNvGrpSpPr/>
            <p:nvPr/>
          </p:nvGrpSpPr>
          <p:grpSpPr>
            <a:xfrm>
              <a:off x="2011780" y="2386781"/>
              <a:ext cx="5240195" cy="3202409"/>
              <a:chOff x="4956668" y="2730954"/>
              <a:chExt cx="3398221" cy="2706455"/>
            </a:xfrm>
          </p:grpSpPr>
          <p:sp>
            <p:nvSpPr>
              <p:cNvPr id="9" name="Rectangle 8">
                <a:extLst>
                  <a:ext uri="{FF2B5EF4-FFF2-40B4-BE49-F238E27FC236}">
                    <a16:creationId xmlns:a16="http://schemas.microsoft.com/office/drawing/2014/main" id="{8F7325E0-8DA2-8BF7-DD00-39394E3570B2}"/>
                  </a:ext>
                </a:extLst>
              </p:cNvPr>
              <p:cNvSpPr/>
              <p:nvPr/>
            </p:nvSpPr>
            <p:spPr>
              <a:xfrm>
                <a:off x="4956668" y="2730954"/>
                <a:ext cx="3398221"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0" name="Rectangle 9">
                <a:extLst>
                  <a:ext uri="{FF2B5EF4-FFF2-40B4-BE49-F238E27FC236}">
                    <a16:creationId xmlns:a16="http://schemas.microsoft.com/office/drawing/2014/main" id="{E8D95065-4B6F-0827-3936-BAD46382A8F6}"/>
                  </a:ext>
                </a:extLst>
              </p:cNvPr>
              <p:cNvSpPr/>
              <p:nvPr/>
            </p:nvSpPr>
            <p:spPr>
              <a:xfrm>
                <a:off x="6694714" y="2730954"/>
                <a:ext cx="1660175" cy="2706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 name="TextBox 10">
                <a:extLst>
                  <a:ext uri="{FF2B5EF4-FFF2-40B4-BE49-F238E27FC236}">
                    <a16:creationId xmlns:a16="http://schemas.microsoft.com/office/drawing/2014/main" id="{B119859B-8338-C707-C58F-C7C9173F63D8}"/>
                  </a:ext>
                </a:extLst>
              </p:cNvPr>
              <p:cNvSpPr txBox="1"/>
              <p:nvPr/>
            </p:nvSpPr>
            <p:spPr>
              <a:xfrm>
                <a:off x="5078486" y="3802831"/>
                <a:ext cx="1502228" cy="622641"/>
              </a:xfrm>
              <a:prstGeom prst="rect">
                <a:avLst/>
              </a:prstGeom>
              <a:noFill/>
            </p:spPr>
            <p:txBody>
              <a:bodyPr wrap="square" rtlCol="0">
                <a:spAutoFit/>
              </a:bodyPr>
              <a:lstStyle/>
              <a:p>
                <a:pPr algn="ctr"/>
                <a:r>
                  <a:rPr lang="en-US" sz="2400" dirty="0" err="1">
                    <a:latin typeface="Candara" panose="020E0502030303020204" pitchFamily="34" charset="0"/>
                  </a:rPr>
                  <a:t>Prev</a:t>
                </a:r>
                <a:r>
                  <a:rPr lang="en-US" sz="2400" dirty="0">
                    <a:latin typeface="Candara" panose="020E0502030303020204" pitchFamily="34" charset="0"/>
                  </a:rPr>
                  <a:t> Txid: 00..00</a:t>
                </a:r>
              </a:p>
              <a:p>
                <a:pPr algn="ctr"/>
                <a:r>
                  <a:rPr lang="en-US" sz="2400" dirty="0" err="1">
                    <a:latin typeface="Candara" panose="020E0502030303020204" pitchFamily="34" charset="0"/>
                  </a:rPr>
                  <a:t>Idx</a:t>
                </a:r>
                <a:r>
                  <a:rPr lang="en-US" sz="2400" dirty="0">
                    <a:latin typeface="Candara" panose="020E0502030303020204" pitchFamily="34" charset="0"/>
                  </a:rPr>
                  <a:t>: 0xFF..FF</a:t>
                </a:r>
              </a:p>
            </p:txBody>
          </p:sp>
          <p:sp>
            <p:nvSpPr>
              <p:cNvPr id="12" name="TextBox 11">
                <a:extLst>
                  <a:ext uri="{FF2B5EF4-FFF2-40B4-BE49-F238E27FC236}">
                    <a16:creationId xmlns:a16="http://schemas.microsoft.com/office/drawing/2014/main" id="{93FEFBD4-A11A-5CA9-BE02-05055F16E078}"/>
                  </a:ext>
                </a:extLst>
              </p:cNvPr>
              <p:cNvSpPr txBox="1"/>
              <p:nvPr/>
            </p:nvSpPr>
            <p:spPr>
              <a:xfrm>
                <a:off x="6738661" y="2865312"/>
                <a:ext cx="1502228" cy="1452829"/>
              </a:xfrm>
              <a:prstGeom prst="rect">
                <a:avLst/>
              </a:prstGeom>
              <a:noFill/>
            </p:spPr>
            <p:txBody>
              <a:bodyPr wrap="square" rtlCol="0">
                <a:spAutoFit/>
              </a:bodyPr>
              <a:lstStyle/>
              <a:p>
                <a:pPr algn="ctr"/>
                <a:r>
                  <a:rPr lang="en-US" sz="2400" dirty="0">
                    <a:latin typeface="Candara" panose="020E0502030303020204" pitchFamily="34" charset="0"/>
                  </a:rPr>
                  <a:t>Value: </a:t>
                </a:r>
              </a:p>
              <a:p>
                <a:pPr algn="ctr"/>
                <a:r>
                  <a:rPr lang="en-US" sz="2400" dirty="0">
                    <a:latin typeface="Candara" panose="020E0502030303020204" pitchFamily="34" charset="0"/>
                  </a:rPr>
                  <a:t>3.125 + fees</a:t>
                </a:r>
              </a:p>
              <a:p>
                <a:pPr algn="ctr"/>
                <a:endParaRPr lang="en-US" sz="2400" dirty="0">
                  <a:latin typeface="Candara" panose="020E0502030303020204" pitchFamily="34" charset="0"/>
                </a:endParaRPr>
              </a:p>
              <a:p>
                <a:pPr algn="ctr"/>
                <a:r>
                  <a:rPr lang="en-US" sz="2400" dirty="0">
                    <a:latin typeface="Candara" panose="020E0502030303020204" pitchFamily="34" charset="0"/>
                  </a:rPr>
                  <a:t>OP_0</a:t>
                </a:r>
              </a:p>
              <a:p>
                <a:pPr algn="ctr"/>
                <a:r>
                  <a:rPr lang="en-US" sz="2400" dirty="0">
                    <a:latin typeface="Candara" panose="020E0502030303020204" pitchFamily="34" charset="0"/>
                  </a:rPr>
                  <a:t>&lt;</a:t>
                </a:r>
                <a:r>
                  <a:rPr lang="en-US" sz="2400" dirty="0" err="1">
                    <a:latin typeface="Candara" panose="020E0502030303020204" pitchFamily="34" charset="0"/>
                  </a:rPr>
                  <a:t>pwpkh_Miner</a:t>
                </a:r>
                <a:r>
                  <a:rPr lang="en-US" sz="2400" dirty="0">
                    <a:latin typeface="Candara" panose="020E0502030303020204" pitchFamily="34" charset="0"/>
                  </a:rPr>
                  <a:t>&gt;</a:t>
                </a:r>
              </a:p>
            </p:txBody>
          </p:sp>
        </p:grpSp>
        <p:cxnSp>
          <p:nvCxnSpPr>
            <p:cNvPr id="7" name="Straight Connector 6">
              <a:extLst>
                <a:ext uri="{FF2B5EF4-FFF2-40B4-BE49-F238E27FC236}">
                  <a16:creationId xmlns:a16="http://schemas.microsoft.com/office/drawing/2014/main" id="{4991864C-4793-8762-06E1-390C0A467E0B}"/>
                </a:ext>
              </a:extLst>
            </p:cNvPr>
            <p:cNvCxnSpPr/>
            <p:nvPr/>
          </p:nvCxnSpPr>
          <p:spPr>
            <a:xfrm>
              <a:off x="4691918" y="4497626"/>
              <a:ext cx="2560057"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CDBF89-B4AD-08F0-B83D-E9D00B7685EA}"/>
                </a:ext>
              </a:extLst>
            </p:cNvPr>
            <p:cNvSpPr txBox="1"/>
            <p:nvPr/>
          </p:nvSpPr>
          <p:spPr>
            <a:xfrm>
              <a:off x="4878105" y="4827209"/>
              <a:ext cx="2200289" cy="736739"/>
            </a:xfrm>
            <a:prstGeom prst="rect">
              <a:avLst/>
            </a:prstGeom>
            <a:noFill/>
          </p:spPr>
          <p:txBody>
            <a:bodyPr wrap="square" rtlCol="0">
              <a:spAutoFit/>
            </a:bodyPr>
            <a:lstStyle/>
            <a:p>
              <a:pPr algn="ctr"/>
              <a:r>
                <a:rPr lang="en-US" sz="2400" dirty="0">
                  <a:latin typeface="Candara" panose="020E0502030303020204" pitchFamily="34" charset="0"/>
                </a:rPr>
                <a:t>OP_RETURN</a:t>
              </a:r>
            </a:p>
            <a:p>
              <a:pPr algn="ctr"/>
              <a:r>
                <a:rPr lang="en-US" sz="2400" dirty="0">
                  <a:latin typeface="Candara" panose="020E0502030303020204" pitchFamily="34" charset="0"/>
                </a:rPr>
                <a:t>&lt;Data&gt;</a:t>
              </a:r>
            </a:p>
          </p:txBody>
        </p:sp>
      </p:grpSp>
      <p:sp>
        <p:nvSpPr>
          <p:cNvPr id="16" name="Rectangle 15">
            <a:extLst>
              <a:ext uri="{FF2B5EF4-FFF2-40B4-BE49-F238E27FC236}">
                <a16:creationId xmlns:a16="http://schemas.microsoft.com/office/drawing/2014/main" id="{D9908F94-F28E-AF30-F87A-8AC02116627D}"/>
              </a:ext>
            </a:extLst>
          </p:cNvPr>
          <p:cNvSpPr/>
          <p:nvPr/>
        </p:nvSpPr>
        <p:spPr>
          <a:xfrm>
            <a:off x="8462115" y="2046547"/>
            <a:ext cx="2327134" cy="85400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Candara" panose="020E0502030303020204" pitchFamily="34" charset="0"/>
              </a:rPr>
              <a:t>3.125 BTC + fees</a:t>
            </a:r>
          </a:p>
        </p:txBody>
      </p:sp>
      <p:sp>
        <p:nvSpPr>
          <p:cNvPr id="17" name="Rectangle 16">
            <a:extLst>
              <a:ext uri="{FF2B5EF4-FFF2-40B4-BE49-F238E27FC236}">
                <a16:creationId xmlns:a16="http://schemas.microsoft.com/office/drawing/2014/main" id="{A6F9DAC6-45A3-3142-1E60-7C9110011549}"/>
              </a:ext>
            </a:extLst>
          </p:cNvPr>
          <p:cNvSpPr/>
          <p:nvPr/>
        </p:nvSpPr>
        <p:spPr>
          <a:xfrm>
            <a:off x="8476116" y="3306319"/>
            <a:ext cx="2327134" cy="85400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Candara" panose="020E0502030303020204" pitchFamily="34" charset="0"/>
              </a:rPr>
              <a:t>Locked to Miner’s </a:t>
            </a:r>
            <a:r>
              <a:rPr lang="en-US" sz="2400" dirty="0" err="1">
                <a:latin typeface="Candara" panose="020E0502030303020204" pitchFamily="34" charset="0"/>
              </a:rPr>
              <a:t>PubKey</a:t>
            </a:r>
            <a:endParaRPr lang="en-US" sz="2400" dirty="0">
              <a:latin typeface="Candara" panose="020E0502030303020204" pitchFamily="34" charset="0"/>
            </a:endParaRPr>
          </a:p>
        </p:txBody>
      </p:sp>
      <p:sp>
        <p:nvSpPr>
          <p:cNvPr id="3" name="Rectangle 2">
            <a:extLst>
              <a:ext uri="{FF2B5EF4-FFF2-40B4-BE49-F238E27FC236}">
                <a16:creationId xmlns:a16="http://schemas.microsoft.com/office/drawing/2014/main" id="{9BE41F2F-3C94-66C1-7D7A-80264A9FB3AF}"/>
              </a:ext>
            </a:extLst>
          </p:cNvPr>
          <p:cNvSpPr/>
          <p:nvPr/>
        </p:nvSpPr>
        <p:spPr>
          <a:xfrm>
            <a:off x="767645" y="1040542"/>
            <a:ext cx="10442222" cy="707886"/>
          </a:xfrm>
          <a:prstGeom prst="rect">
            <a:avLst/>
          </a:prstGeom>
        </p:spPr>
        <p:txBody>
          <a:bodyPr wrap="square">
            <a:spAutoFit/>
          </a:bodyPr>
          <a:lstStyle/>
          <a:p>
            <a:pPr marL="285750" indent="-285750">
              <a:buFont typeface="Arial" panose="020B0604020202020204" pitchFamily="34" charset="0"/>
              <a:buChar char="•"/>
            </a:pPr>
            <a:r>
              <a:rPr lang="en-US" sz="2000" dirty="0">
                <a:latin typeface="Candara" panose="020E0502030303020204" pitchFamily="34" charset="0"/>
              </a:rPr>
              <a:t>It is a special </a:t>
            </a:r>
            <a:r>
              <a:rPr lang="en-US" sz="2000" dirty="0" err="1">
                <a:latin typeface="Candara" panose="020E0502030303020204" pitchFamily="34" charset="0"/>
              </a:rPr>
              <a:t>txn</a:t>
            </a:r>
            <a:r>
              <a:rPr lang="en-US" sz="2000" dirty="0">
                <a:latin typeface="Candara" panose="020E0502030303020204" pitchFamily="34" charset="0"/>
              </a:rPr>
              <a:t> created by the miner attempting to create a block </a:t>
            </a:r>
          </a:p>
          <a:p>
            <a:pPr marL="285750" indent="-285750">
              <a:buFont typeface="Arial" panose="020B0604020202020204" pitchFamily="34" charset="0"/>
              <a:buChar char="•"/>
            </a:pPr>
            <a:r>
              <a:rPr lang="en-US" sz="2000" dirty="0">
                <a:latin typeface="Candara" panose="020E0502030303020204" pitchFamily="34" charset="0"/>
              </a:rPr>
              <a:t>It is also the first </a:t>
            </a:r>
            <a:r>
              <a:rPr lang="en-US" sz="2000" dirty="0" err="1">
                <a:latin typeface="Candara" panose="020E0502030303020204" pitchFamily="34" charset="0"/>
              </a:rPr>
              <a:t>txn</a:t>
            </a:r>
            <a:r>
              <a:rPr lang="en-US" sz="2000" dirty="0">
                <a:latin typeface="Candara" panose="020E0502030303020204" pitchFamily="34" charset="0"/>
              </a:rPr>
              <a:t> in a candidate block</a:t>
            </a:r>
          </a:p>
        </p:txBody>
      </p:sp>
      <p:sp>
        <p:nvSpPr>
          <p:cNvPr id="8" name="Rectangle 7">
            <a:extLst>
              <a:ext uri="{FF2B5EF4-FFF2-40B4-BE49-F238E27FC236}">
                <a16:creationId xmlns:a16="http://schemas.microsoft.com/office/drawing/2014/main" id="{7AADB0DE-8AE0-3AEE-26F8-1D8CD6C58A48}"/>
              </a:ext>
            </a:extLst>
          </p:cNvPr>
          <p:cNvSpPr/>
          <p:nvPr/>
        </p:nvSpPr>
        <p:spPr>
          <a:xfrm>
            <a:off x="1160192" y="3461943"/>
            <a:ext cx="1809084" cy="85400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Candara" panose="020E0502030303020204" pitchFamily="34" charset="0"/>
              </a:rPr>
              <a:t>No parent </a:t>
            </a:r>
          </a:p>
        </p:txBody>
      </p:sp>
      <p:sp>
        <p:nvSpPr>
          <p:cNvPr id="5" name="Rectangle 4">
            <a:extLst>
              <a:ext uri="{FF2B5EF4-FFF2-40B4-BE49-F238E27FC236}">
                <a16:creationId xmlns:a16="http://schemas.microsoft.com/office/drawing/2014/main" id="{7A024545-C741-06F5-B465-81D5D5E32266}"/>
              </a:ext>
            </a:extLst>
          </p:cNvPr>
          <p:cNvSpPr/>
          <p:nvPr/>
        </p:nvSpPr>
        <p:spPr>
          <a:xfrm>
            <a:off x="8476115" y="4512387"/>
            <a:ext cx="2327134" cy="85400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Candara" panose="020E0502030303020204" pitchFamily="34" charset="0"/>
              </a:rPr>
              <a:t>For inclusion of additional data</a:t>
            </a:r>
          </a:p>
        </p:txBody>
      </p:sp>
      <p:sp>
        <p:nvSpPr>
          <p:cNvPr id="18" name="Rectangle 17">
            <a:extLst>
              <a:ext uri="{FF2B5EF4-FFF2-40B4-BE49-F238E27FC236}">
                <a16:creationId xmlns:a16="http://schemas.microsoft.com/office/drawing/2014/main" id="{F41D3191-EA9E-B4D8-91E9-ABADAF86EF97}"/>
              </a:ext>
            </a:extLst>
          </p:cNvPr>
          <p:cNvSpPr/>
          <p:nvPr/>
        </p:nvSpPr>
        <p:spPr>
          <a:xfrm>
            <a:off x="2806954" y="5611262"/>
            <a:ext cx="5773552" cy="69328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ndara" panose="020E0502030303020204" pitchFamily="34" charset="0"/>
              </a:rPr>
              <a:t>Witness Field</a:t>
            </a:r>
          </a:p>
          <a:p>
            <a:pPr algn="ctr"/>
            <a:r>
              <a:rPr lang="en-US" sz="2400" dirty="0">
                <a:solidFill>
                  <a:schemeClr val="tx1"/>
                </a:solidFill>
                <a:latin typeface="Candara" panose="020E0502030303020204" pitchFamily="34" charset="0"/>
              </a:rPr>
              <a:t>&lt;--&gt; &lt;--&gt;</a:t>
            </a:r>
          </a:p>
        </p:txBody>
      </p:sp>
    </p:spTree>
    <p:extLst>
      <p:ext uri="{BB962C8B-B14F-4D97-AF65-F5344CB8AC3E}">
        <p14:creationId xmlns:p14="http://schemas.microsoft.com/office/powerpoint/2010/main" val="74936364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8" grpId="0" animBg="1"/>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F6FA0-878E-333D-E021-53E6E6A14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944F0-5F21-3B71-B6AA-F907C64180F0}"/>
              </a:ext>
            </a:extLst>
          </p:cNvPr>
          <p:cNvSpPr>
            <a:spLocks noGrp="1"/>
          </p:cNvSpPr>
          <p:nvPr>
            <p:ph type="title"/>
          </p:nvPr>
        </p:nvSpPr>
        <p:spPr/>
        <p:txBody>
          <a:bodyPr/>
          <a:lstStyle/>
          <a:p>
            <a:r>
              <a:rPr lang="en-US" dirty="0"/>
              <a:t>Committing Witness Data to the Block</a:t>
            </a:r>
          </a:p>
        </p:txBody>
      </p:sp>
      <p:sp>
        <p:nvSpPr>
          <p:cNvPr id="4" name="Slide Number Placeholder 3">
            <a:extLst>
              <a:ext uri="{FF2B5EF4-FFF2-40B4-BE49-F238E27FC236}">
                <a16:creationId xmlns:a16="http://schemas.microsoft.com/office/drawing/2014/main" id="{79364D48-9B5B-46FF-A180-E70F4FA86AEC}"/>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50</a:t>
            </a:fld>
            <a:endParaRPr lang="en-US" dirty="0">
              <a:latin typeface="Candara" panose="020E0502030303020204" pitchFamily="34" charset="0"/>
            </a:endParaRPr>
          </a:p>
        </p:txBody>
      </p:sp>
      <p:sp>
        <p:nvSpPr>
          <p:cNvPr id="5" name="TextBox 4">
            <a:extLst>
              <a:ext uri="{FF2B5EF4-FFF2-40B4-BE49-F238E27FC236}">
                <a16:creationId xmlns:a16="http://schemas.microsoft.com/office/drawing/2014/main" id="{09E50F42-F76F-6EBB-201E-0AAE65999E76}"/>
              </a:ext>
            </a:extLst>
          </p:cNvPr>
          <p:cNvSpPr txBox="1"/>
          <p:nvPr/>
        </p:nvSpPr>
        <p:spPr>
          <a:xfrm>
            <a:off x="411182" y="1002598"/>
            <a:ext cx="4468531" cy="1938992"/>
          </a:xfrm>
          <a:prstGeom prst="rect">
            <a:avLst/>
          </a:prstGeom>
          <a:noFill/>
          <a:ln>
            <a:noFill/>
          </a:ln>
        </p:spPr>
        <p:txBody>
          <a:bodyPr wrap="square">
            <a:spAutoFit/>
          </a:bodyPr>
          <a:lstStyle/>
          <a:p>
            <a:r>
              <a:rPr lang="en-US" sz="2000" dirty="0">
                <a:solidFill>
                  <a:srgbClr val="7030A0"/>
                </a:solidFill>
                <a:latin typeface="Candara" panose="020E0502030303020204" pitchFamily="34" charset="0"/>
              </a:rPr>
              <a:t>To ensure that witness data cannot be altered, a separate witness </a:t>
            </a:r>
            <a:r>
              <a:rPr lang="en-US" sz="2000" dirty="0" err="1">
                <a:solidFill>
                  <a:srgbClr val="7030A0"/>
                </a:solidFill>
                <a:latin typeface="Candara" panose="020E0502030303020204" pitchFamily="34" charset="0"/>
              </a:rPr>
              <a:t>txid</a:t>
            </a:r>
            <a:r>
              <a:rPr lang="en-US" sz="2000" dirty="0">
                <a:solidFill>
                  <a:srgbClr val="7030A0"/>
                </a:solidFill>
                <a:latin typeface="Candara" panose="020E0502030303020204" pitchFamily="34" charset="0"/>
              </a:rPr>
              <a:t> (</a:t>
            </a:r>
            <a:r>
              <a:rPr lang="en-US" sz="2000" dirty="0" err="1">
                <a:solidFill>
                  <a:srgbClr val="7030A0"/>
                </a:solidFill>
                <a:latin typeface="Candara" panose="020E0502030303020204" pitchFamily="34" charset="0"/>
              </a:rPr>
              <a:t>wtxid</a:t>
            </a:r>
            <a:r>
              <a:rPr lang="en-US" sz="2000" dirty="0">
                <a:solidFill>
                  <a:srgbClr val="7030A0"/>
                </a:solidFill>
                <a:latin typeface="Candara" panose="020E0502030303020204" pitchFamily="34" charset="0"/>
              </a:rPr>
              <a:t>) is calculated and a Merkel tree of all </a:t>
            </a:r>
            <a:r>
              <a:rPr lang="en-US" sz="2000" dirty="0" err="1">
                <a:solidFill>
                  <a:srgbClr val="7030A0"/>
                </a:solidFill>
                <a:latin typeface="Candara" panose="020E0502030303020204" pitchFamily="34" charset="0"/>
              </a:rPr>
              <a:t>wtxids</a:t>
            </a:r>
            <a:r>
              <a:rPr lang="en-US" sz="2000" dirty="0">
                <a:solidFill>
                  <a:srgbClr val="7030A0"/>
                </a:solidFill>
                <a:latin typeface="Candara" panose="020E0502030303020204" pitchFamily="34" charset="0"/>
              </a:rPr>
              <a:t> is created whose root is stored in one of the </a:t>
            </a:r>
            <a:r>
              <a:rPr lang="en-US" sz="2000" dirty="0" err="1">
                <a:solidFill>
                  <a:srgbClr val="7030A0"/>
                </a:solidFill>
                <a:latin typeface="Candara" panose="020E0502030303020204" pitchFamily="34" charset="0"/>
              </a:rPr>
              <a:t>coinbase</a:t>
            </a:r>
            <a:r>
              <a:rPr lang="en-US" sz="2000" dirty="0">
                <a:solidFill>
                  <a:srgbClr val="7030A0"/>
                </a:solidFill>
                <a:latin typeface="Candara" panose="020E0502030303020204" pitchFamily="34" charset="0"/>
              </a:rPr>
              <a:t> </a:t>
            </a:r>
            <a:r>
              <a:rPr lang="en-US" sz="2000" dirty="0" err="1">
                <a:solidFill>
                  <a:srgbClr val="7030A0"/>
                </a:solidFill>
                <a:latin typeface="Candara" panose="020E0502030303020204" pitchFamily="34" charset="0"/>
              </a:rPr>
              <a:t>txn</a:t>
            </a:r>
            <a:r>
              <a:rPr lang="en-US" sz="2000" dirty="0">
                <a:solidFill>
                  <a:srgbClr val="7030A0"/>
                </a:solidFill>
                <a:latin typeface="Candara" panose="020E0502030303020204" pitchFamily="34" charset="0"/>
              </a:rPr>
              <a:t> output using OP_RETURN   </a:t>
            </a:r>
          </a:p>
        </p:txBody>
      </p:sp>
      <p:grpSp>
        <p:nvGrpSpPr>
          <p:cNvPr id="64" name="Group 63">
            <a:extLst>
              <a:ext uri="{FF2B5EF4-FFF2-40B4-BE49-F238E27FC236}">
                <a16:creationId xmlns:a16="http://schemas.microsoft.com/office/drawing/2014/main" id="{E7C0D74E-8BA2-C5DC-5A60-E107DE670F57}"/>
              </a:ext>
            </a:extLst>
          </p:cNvPr>
          <p:cNvGrpSpPr/>
          <p:nvPr/>
        </p:nvGrpSpPr>
        <p:grpSpPr>
          <a:xfrm>
            <a:off x="5300988" y="3318512"/>
            <a:ext cx="5173373" cy="645461"/>
            <a:chOff x="3776987" y="3318511"/>
            <a:chExt cx="5173373" cy="645461"/>
          </a:xfrm>
        </p:grpSpPr>
        <p:sp>
          <p:nvSpPr>
            <p:cNvPr id="6" name="Rectangle 5">
              <a:extLst>
                <a:ext uri="{FF2B5EF4-FFF2-40B4-BE49-F238E27FC236}">
                  <a16:creationId xmlns:a16="http://schemas.microsoft.com/office/drawing/2014/main" id="{91752126-F601-A543-455B-589C5C2407F5}"/>
                </a:ext>
              </a:extLst>
            </p:cNvPr>
            <p:cNvSpPr/>
            <p:nvPr/>
          </p:nvSpPr>
          <p:spPr>
            <a:xfrm>
              <a:off x="3776987" y="3318513"/>
              <a:ext cx="1032734" cy="6454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latin typeface="Candara" panose="020E0502030303020204" pitchFamily="34" charset="0"/>
                </a:rPr>
                <a:t>txid</a:t>
              </a:r>
              <a:r>
                <a:rPr lang="en-US" sz="1400" dirty="0">
                  <a:latin typeface="Candara" panose="020E0502030303020204" pitchFamily="34" charset="0"/>
                </a:rPr>
                <a:t> 0 (</a:t>
              </a:r>
              <a:r>
                <a:rPr lang="en-US" sz="1400" dirty="0" err="1">
                  <a:latin typeface="Candara" panose="020E0502030303020204" pitchFamily="34" charset="0"/>
                </a:rPr>
                <a:t>coinbase</a:t>
              </a:r>
              <a:r>
                <a:rPr lang="en-US" sz="1400" dirty="0">
                  <a:latin typeface="Candara" panose="020E0502030303020204" pitchFamily="34" charset="0"/>
                </a:rPr>
                <a:t>)</a:t>
              </a:r>
            </a:p>
          </p:txBody>
        </p:sp>
        <p:sp>
          <p:nvSpPr>
            <p:cNvPr id="7" name="Rectangle 6">
              <a:extLst>
                <a:ext uri="{FF2B5EF4-FFF2-40B4-BE49-F238E27FC236}">
                  <a16:creationId xmlns:a16="http://schemas.microsoft.com/office/drawing/2014/main" id="{77E3703F-B8AC-C31D-58D8-AF859A090561}"/>
                </a:ext>
              </a:extLst>
            </p:cNvPr>
            <p:cNvSpPr/>
            <p:nvPr/>
          </p:nvSpPr>
          <p:spPr>
            <a:xfrm>
              <a:off x="5160763" y="3318513"/>
              <a:ext cx="1032734" cy="6454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latin typeface="Candara" panose="020E0502030303020204" pitchFamily="34" charset="0"/>
                </a:rPr>
                <a:t>txid</a:t>
              </a:r>
              <a:r>
                <a:rPr lang="en-US" sz="1400" dirty="0">
                  <a:latin typeface="Candara" panose="020E0502030303020204" pitchFamily="34" charset="0"/>
                </a:rPr>
                <a:t> 1</a:t>
              </a:r>
            </a:p>
          </p:txBody>
        </p:sp>
        <p:sp>
          <p:nvSpPr>
            <p:cNvPr id="9" name="Rectangle 8">
              <a:extLst>
                <a:ext uri="{FF2B5EF4-FFF2-40B4-BE49-F238E27FC236}">
                  <a16:creationId xmlns:a16="http://schemas.microsoft.com/office/drawing/2014/main" id="{93E1D170-3852-131A-5BF4-68F57AFCBE46}"/>
                </a:ext>
              </a:extLst>
            </p:cNvPr>
            <p:cNvSpPr/>
            <p:nvPr/>
          </p:nvSpPr>
          <p:spPr>
            <a:xfrm>
              <a:off x="6614770" y="3318512"/>
              <a:ext cx="1032734" cy="6454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latin typeface="Candara" panose="020E0502030303020204" pitchFamily="34" charset="0"/>
                </a:rPr>
                <a:t>txid</a:t>
              </a:r>
              <a:r>
                <a:rPr lang="en-US" sz="1400" dirty="0">
                  <a:latin typeface="Candara" panose="020E0502030303020204" pitchFamily="34" charset="0"/>
                </a:rPr>
                <a:t> 2</a:t>
              </a:r>
            </a:p>
          </p:txBody>
        </p:sp>
        <p:sp>
          <p:nvSpPr>
            <p:cNvPr id="10" name="Rectangle 9">
              <a:extLst>
                <a:ext uri="{FF2B5EF4-FFF2-40B4-BE49-F238E27FC236}">
                  <a16:creationId xmlns:a16="http://schemas.microsoft.com/office/drawing/2014/main" id="{AF0BC024-163E-7422-CB60-ECA4273827D5}"/>
                </a:ext>
              </a:extLst>
            </p:cNvPr>
            <p:cNvSpPr/>
            <p:nvPr/>
          </p:nvSpPr>
          <p:spPr>
            <a:xfrm>
              <a:off x="7917626" y="3318511"/>
              <a:ext cx="1032734" cy="6454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latin typeface="Candara" panose="020E0502030303020204" pitchFamily="34" charset="0"/>
                </a:rPr>
                <a:t>txid</a:t>
              </a:r>
              <a:r>
                <a:rPr lang="en-US" sz="1400" dirty="0">
                  <a:latin typeface="Candara" panose="020E0502030303020204" pitchFamily="34" charset="0"/>
                </a:rPr>
                <a:t> 3</a:t>
              </a:r>
            </a:p>
          </p:txBody>
        </p:sp>
      </p:grpSp>
      <p:grpSp>
        <p:nvGrpSpPr>
          <p:cNvPr id="65" name="Group 64">
            <a:extLst>
              <a:ext uri="{FF2B5EF4-FFF2-40B4-BE49-F238E27FC236}">
                <a16:creationId xmlns:a16="http://schemas.microsoft.com/office/drawing/2014/main" id="{AD191944-1162-4899-2FB6-C9781E4277DE}"/>
              </a:ext>
            </a:extLst>
          </p:cNvPr>
          <p:cNvGrpSpPr/>
          <p:nvPr/>
        </p:nvGrpSpPr>
        <p:grpSpPr>
          <a:xfrm>
            <a:off x="6684764" y="4137886"/>
            <a:ext cx="3789597" cy="645460"/>
            <a:chOff x="5160763" y="4137886"/>
            <a:chExt cx="3789597" cy="645460"/>
          </a:xfrm>
        </p:grpSpPr>
        <p:sp>
          <p:nvSpPr>
            <p:cNvPr id="12" name="Rectangle 11">
              <a:extLst>
                <a:ext uri="{FF2B5EF4-FFF2-40B4-BE49-F238E27FC236}">
                  <a16:creationId xmlns:a16="http://schemas.microsoft.com/office/drawing/2014/main" id="{7C954C4F-9817-6FCA-1A4B-F364FDD1627D}"/>
                </a:ext>
              </a:extLst>
            </p:cNvPr>
            <p:cNvSpPr/>
            <p:nvPr/>
          </p:nvSpPr>
          <p:spPr>
            <a:xfrm>
              <a:off x="5160763" y="4137887"/>
              <a:ext cx="1032734" cy="645459"/>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wtxid</a:t>
              </a:r>
              <a:r>
                <a:rPr lang="en-US" sz="2000" dirty="0">
                  <a:solidFill>
                    <a:schemeClr val="tx1"/>
                  </a:solidFill>
                  <a:latin typeface="Candara" panose="020E0502030303020204" pitchFamily="34" charset="0"/>
                </a:rPr>
                <a:t> 1</a:t>
              </a:r>
            </a:p>
          </p:txBody>
        </p:sp>
        <p:sp>
          <p:nvSpPr>
            <p:cNvPr id="13" name="Rectangle 12">
              <a:extLst>
                <a:ext uri="{FF2B5EF4-FFF2-40B4-BE49-F238E27FC236}">
                  <a16:creationId xmlns:a16="http://schemas.microsoft.com/office/drawing/2014/main" id="{06A57A3D-1F6D-870F-B093-60D83CE775AF}"/>
                </a:ext>
              </a:extLst>
            </p:cNvPr>
            <p:cNvSpPr/>
            <p:nvPr/>
          </p:nvSpPr>
          <p:spPr>
            <a:xfrm>
              <a:off x="6614770" y="4137887"/>
              <a:ext cx="1032734" cy="645459"/>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wtxid</a:t>
              </a:r>
              <a:r>
                <a:rPr lang="en-US" sz="2000" dirty="0">
                  <a:solidFill>
                    <a:schemeClr val="tx1"/>
                  </a:solidFill>
                  <a:latin typeface="Candara" panose="020E0502030303020204" pitchFamily="34" charset="0"/>
                </a:rPr>
                <a:t> 2</a:t>
              </a:r>
            </a:p>
          </p:txBody>
        </p:sp>
        <p:sp>
          <p:nvSpPr>
            <p:cNvPr id="14" name="Rectangle 13">
              <a:extLst>
                <a:ext uri="{FF2B5EF4-FFF2-40B4-BE49-F238E27FC236}">
                  <a16:creationId xmlns:a16="http://schemas.microsoft.com/office/drawing/2014/main" id="{1E2BC605-AE97-1E15-7568-641B46624B6B}"/>
                </a:ext>
              </a:extLst>
            </p:cNvPr>
            <p:cNvSpPr/>
            <p:nvPr/>
          </p:nvSpPr>
          <p:spPr>
            <a:xfrm>
              <a:off x="7917626" y="4137886"/>
              <a:ext cx="1032734" cy="645459"/>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wtxid</a:t>
              </a:r>
              <a:r>
                <a:rPr lang="en-US" sz="2000" dirty="0">
                  <a:solidFill>
                    <a:schemeClr val="tx1"/>
                  </a:solidFill>
                  <a:latin typeface="Candara" panose="020E0502030303020204" pitchFamily="34" charset="0"/>
                </a:rPr>
                <a:t> 3</a:t>
              </a:r>
            </a:p>
          </p:txBody>
        </p:sp>
      </p:grpSp>
      <p:grpSp>
        <p:nvGrpSpPr>
          <p:cNvPr id="66" name="Group 65">
            <a:extLst>
              <a:ext uri="{FF2B5EF4-FFF2-40B4-BE49-F238E27FC236}">
                <a16:creationId xmlns:a16="http://schemas.microsoft.com/office/drawing/2014/main" id="{223498C7-BBA3-9315-CDC3-F7B534A5A063}"/>
              </a:ext>
            </a:extLst>
          </p:cNvPr>
          <p:cNvGrpSpPr/>
          <p:nvPr/>
        </p:nvGrpSpPr>
        <p:grpSpPr>
          <a:xfrm>
            <a:off x="5817354" y="1173481"/>
            <a:ext cx="4150396" cy="2145032"/>
            <a:chOff x="4293354" y="1173481"/>
            <a:chExt cx="4150396" cy="2145032"/>
          </a:xfrm>
        </p:grpSpPr>
        <p:cxnSp>
          <p:nvCxnSpPr>
            <p:cNvPr id="31" name="Straight Arrow Connector 30">
              <a:extLst>
                <a:ext uri="{FF2B5EF4-FFF2-40B4-BE49-F238E27FC236}">
                  <a16:creationId xmlns:a16="http://schemas.microsoft.com/office/drawing/2014/main" id="{85733262-69BC-3EB1-EC81-410EDD98DF7E}"/>
                </a:ext>
              </a:extLst>
            </p:cNvPr>
            <p:cNvCxnSpPr>
              <a:cxnSpLocks/>
            </p:cNvCxnSpPr>
            <p:nvPr/>
          </p:nvCxnSpPr>
          <p:spPr>
            <a:xfrm flipV="1">
              <a:off x="4857586" y="1663288"/>
              <a:ext cx="812139" cy="55592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C56D702-451B-B3EE-3CB7-D2F549B33FFB}"/>
                </a:ext>
              </a:extLst>
            </p:cNvPr>
            <p:cNvCxnSpPr>
              <a:cxnSpLocks/>
              <a:stCxn id="6" idx="0"/>
              <a:endCxn id="19" idx="2"/>
            </p:cNvCxnSpPr>
            <p:nvPr/>
          </p:nvCxnSpPr>
          <p:spPr>
            <a:xfrm flipV="1">
              <a:off x="4293354" y="2774577"/>
              <a:ext cx="606354" cy="54393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6649DA4-525A-D02F-CE91-AF6D85840CF4}"/>
                </a:ext>
              </a:extLst>
            </p:cNvPr>
            <p:cNvCxnSpPr>
              <a:cxnSpLocks/>
              <a:stCxn id="7" idx="0"/>
            </p:cNvCxnSpPr>
            <p:nvPr/>
          </p:nvCxnSpPr>
          <p:spPr>
            <a:xfrm flipH="1" flipV="1">
              <a:off x="4989695" y="2774577"/>
              <a:ext cx="687435" cy="54393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39011D4-3C36-DE8B-D7F3-5FED250441D5}"/>
                </a:ext>
              </a:extLst>
            </p:cNvPr>
            <p:cNvSpPr/>
            <p:nvPr/>
          </p:nvSpPr>
          <p:spPr>
            <a:xfrm>
              <a:off x="4383341" y="2129118"/>
              <a:ext cx="1032734" cy="64545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a:p>
              <a:pPr algn="ctr"/>
              <a:r>
                <a:rPr lang="en-US" sz="1400" dirty="0">
                  <a:latin typeface="Candara" panose="020E0502030303020204" pitchFamily="34" charset="0"/>
                </a:rPr>
                <a:t>0,1</a:t>
              </a:r>
            </a:p>
          </p:txBody>
        </p:sp>
        <p:sp>
          <p:nvSpPr>
            <p:cNvPr id="22" name="Rectangle 21">
              <a:extLst>
                <a:ext uri="{FF2B5EF4-FFF2-40B4-BE49-F238E27FC236}">
                  <a16:creationId xmlns:a16="http://schemas.microsoft.com/office/drawing/2014/main" id="{016F7B55-014C-95D4-BF69-EC71D179CA50}"/>
                </a:ext>
              </a:extLst>
            </p:cNvPr>
            <p:cNvSpPr/>
            <p:nvPr/>
          </p:nvSpPr>
          <p:spPr>
            <a:xfrm>
              <a:off x="7131137" y="2129118"/>
              <a:ext cx="1032734" cy="64545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a:p>
              <a:pPr algn="ctr"/>
              <a:r>
                <a:rPr lang="en-US" sz="1400" dirty="0">
                  <a:latin typeface="Candara" panose="020E0502030303020204" pitchFamily="34" charset="0"/>
                </a:rPr>
                <a:t>2,3</a:t>
              </a:r>
            </a:p>
          </p:txBody>
        </p:sp>
        <p:cxnSp>
          <p:nvCxnSpPr>
            <p:cNvPr id="25" name="Straight Arrow Connector 24">
              <a:extLst>
                <a:ext uri="{FF2B5EF4-FFF2-40B4-BE49-F238E27FC236}">
                  <a16:creationId xmlns:a16="http://schemas.microsoft.com/office/drawing/2014/main" id="{C7F479D0-004D-9377-5DC7-C7806CE6BA67}"/>
                </a:ext>
              </a:extLst>
            </p:cNvPr>
            <p:cNvCxnSpPr>
              <a:cxnSpLocks/>
              <a:endCxn id="22" idx="2"/>
            </p:cNvCxnSpPr>
            <p:nvPr/>
          </p:nvCxnSpPr>
          <p:spPr>
            <a:xfrm flipV="1">
              <a:off x="7098082" y="2774577"/>
              <a:ext cx="549422" cy="543934"/>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B78B011-2FC9-445E-354B-2515486F30A4}"/>
                </a:ext>
              </a:extLst>
            </p:cNvPr>
            <p:cNvCxnSpPr>
              <a:cxnSpLocks/>
            </p:cNvCxnSpPr>
            <p:nvPr/>
          </p:nvCxnSpPr>
          <p:spPr>
            <a:xfrm flipH="1" flipV="1">
              <a:off x="7756315" y="2763166"/>
              <a:ext cx="687435" cy="54393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B674FF88-7FFB-8A55-419A-34CD456EF938}"/>
                </a:ext>
              </a:extLst>
            </p:cNvPr>
            <p:cNvSpPr/>
            <p:nvPr/>
          </p:nvSpPr>
          <p:spPr>
            <a:xfrm>
              <a:off x="5677130" y="1173481"/>
              <a:ext cx="1032734" cy="64545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p:txBody>
        </p:sp>
        <p:cxnSp>
          <p:nvCxnSpPr>
            <p:cNvPr id="33" name="Straight Arrow Connector 32">
              <a:extLst>
                <a:ext uri="{FF2B5EF4-FFF2-40B4-BE49-F238E27FC236}">
                  <a16:creationId xmlns:a16="http://schemas.microsoft.com/office/drawing/2014/main" id="{280850C4-E914-CA26-6BBF-8D5C8F7849C8}"/>
                </a:ext>
              </a:extLst>
            </p:cNvPr>
            <p:cNvCxnSpPr>
              <a:cxnSpLocks/>
            </p:cNvCxnSpPr>
            <p:nvPr/>
          </p:nvCxnSpPr>
          <p:spPr>
            <a:xfrm flipH="1" flipV="1">
              <a:off x="6678844" y="1663288"/>
              <a:ext cx="904585" cy="459159"/>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72518EBE-A8E1-3660-5D45-42F78034D923}"/>
              </a:ext>
            </a:extLst>
          </p:cNvPr>
          <p:cNvGrpSpPr/>
          <p:nvPr/>
        </p:nvGrpSpPr>
        <p:grpSpPr>
          <a:xfrm>
            <a:off x="8243383" y="1041231"/>
            <a:ext cx="1951336" cy="584775"/>
            <a:chOff x="6719383" y="1041230"/>
            <a:chExt cx="1951336" cy="584775"/>
          </a:xfrm>
        </p:grpSpPr>
        <p:cxnSp>
          <p:nvCxnSpPr>
            <p:cNvPr id="37" name="Straight Arrow Connector 36">
              <a:extLst>
                <a:ext uri="{FF2B5EF4-FFF2-40B4-BE49-F238E27FC236}">
                  <a16:creationId xmlns:a16="http://schemas.microsoft.com/office/drawing/2014/main" id="{4840BB03-C921-26E0-F528-46C9337BC653}"/>
                </a:ext>
              </a:extLst>
            </p:cNvPr>
            <p:cNvCxnSpPr>
              <a:cxnSpLocks/>
            </p:cNvCxnSpPr>
            <p:nvPr/>
          </p:nvCxnSpPr>
          <p:spPr>
            <a:xfrm>
              <a:off x="6719383" y="1338765"/>
              <a:ext cx="563544" cy="0"/>
            </a:xfrm>
            <a:prstGeom prst="straightConnector1">
              <a:avLst/>
            </a:prstGeom>
            <a:ln w="25400">
              <a:solidFill>
                <a:schemeClr val="tx1"/>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3BC12B7-2348-2708-6334-E7E6911B2BC4}"/>
                </a:ext>
              </a:extLst>
            </p:cNvPr>
            <p:cNvSpPr txBox="1"/>
            <p:nvPr/>
          </p:nvSpPr>
          <p:spPr>
            <a:xfrm>
              <a:off x="7314017" y="1041230"/>
              <a:ext cx="1356702" cy="584775"/>
            </a:xfrm>
            <a:prstGeom prst="rect">
              <a:avLst/>
            </a:prstGeom>
            <a:noFill/>
          </p:spPr>
          <p:txBody>
            <a:bodyPr wrap="square" rtlCol="0">
              <a:spAutoFit/>
            </a:bodyPr>
            <a:lstStyle/>
            <a:p>
              <a:pPr algn="ctr"/>
              <a:r>
                <a:rPr lang="en-US" sz="1600" dirty="0">
                  <a:latin typeface="Candara" panose="020E0502030303020204" pitchFamily="34" charset="0"/>
                </a:rPr>
                <a:t>Store in block header</a:t>
              </a:r>
            </a:p>
          </p:txBody>
        </p:sp>
      </p:grpSp>
      <p:grpSp>
        <p:nvGrpSpPr>
          <p:cNvPr id="68" name="Group 67">
            <a:extLst>
              <a:ext uri="{FF2B5EF4-FFF2-40B4-BE49-F238E27FC236}">
                <a16:creationId xmlns:a16="http://schemas.microsoft.com/office/drawing/2014/main" id="{7E73B3C4-9C98-4787-19F8-57017B0E6C99}"/>
              </a:ext>
            </a:extLst>
          </p:cNvPr>
          <p:cNvGrpSpPr/>
          <p:nvPr/>
        </p:nvGrpSpPr>
        <p:grpSpPr>
          <a:xfrm>
            <a:off x="6835915" y="4783345"/>
            <a:ext cx="3624401" cy="1758586"/>
            <a:chOff x="5311914" y="4783345"/>
            <a:chExt cx="3624401" cy="1758586"/>
          </a:xfrm>
        </p:grpSpPr>
        <p:cxnSp>
          <p:nvCxnSpPr>
            <p:cNvPr id="42" name="Straight Arrow Connector 41">
              <a:extLst>
                <a:ext uri="{FF2B5EF4-FFF2-40B4-BE49-F238E27FC236}">
                  <a16:creationId xmlns:a16="http://schemas.microsoft.com/office/drawing/2014/main" id="{14EB6FCC-DEE6-5E03-8C1D-DB5F42EDAAA0}"/>
                </a:ext>
              </a:extLst>
            </p:cNvPr>
            <p:cNvCxnSpPr>
              <a:cxnSpLocks/>
              <a:stCxn id="12" idx="2"/>
            </p:cNvCxnSpPr>
            <p:nvPr/>
          </p:nvCxnSpPr>
          <p:spPr>
            <a:xfrm>
              <a:off x="5677130" y="4783346"/>
              <a:ext cx="667518" cy="322729"/>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1F761A3A-F803-67CF-3B59-2A3E5617640B}"/>
                </a:ext>
              </a:extLst>
            </p:cNvPr>
            <p:cNvSpPr/>
            <p:nvPr/>
          </p:nvSpPr>
          <p:spPr>
            <a:xfrm>
              <a:off x="6065348" y="5106075"/>
              <a:ext cx="1032734" cy="645459"/>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a:p>
              <a:pPr algn="ctr"/>
              <a:r>
                <a:rPr lang="en-US" sz="1400" dirty="0">
                  <a:latin typeface="Candara" panose="020E0502030303020204" pitchFamily="34" charset="0"/>
                </a:rPr>
                <a:t>1,2</a:t>
              </a:r>
            </a:p>
          </p:txBody>
        </p:sp>
        <p:cxnSp>
          <p:nvCxnSpPr>
            <p:cNvPr id="47" name="Straight Arrow Connector 46">
              <a:extLst>
                <a:ext uri="{FF2B5EF4-FFF2-40B4-BE49-F238E27FC236}">
                  <a16:creationId xmlns:a16="http://schemas.microsoft.com/office/drawing/2014/main" id="{76A9B8F2-2E3C-B6A7-3CFD-1964D52FB373}"/>
                </a:ext>
              </a:extLst>
            </p:cNvPr>
            <p:cNvCxnSpPr>
              <a:cxnSpLocks/>
            </p:cNvCxnSpPr>
            <p:nvPr/>
          </p:nvCxnSpPr>
          <p:spPr>
            <a:xfrm flipH="1">
              <a:off x="6858743" y="4783345"/>
              <a:ext cx="424184" cy="32273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D012E3DD-F36B-FFE8-2429-3DE43B4439DB}"/>
                </a:ext>
              </a:extLst>
            </p:cNvPr>
            <p:cNvSpPr/>
            <p:nvPr/>
          </p:nvSpPr>
          <p:spPr>
            <a:xfrm>
              <a:off x="7903581" y="5106074"/>
              <a:ext cx="1032734" cy="645459"/>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a:p>
              <a:pPr algn="ctr"/>
              <a:r>
                <a:rPr lang="en-US" sz="1400" dirty="0">
                  <a:latin typeface="Candara" panose="020E0502030303020204" pitchFamily="34" charset="0"/>
                </a:rPr>
                <a:t>3</a:t>
              </a:r>
            </a:p>
          </p:txBody>
        </p:sp>
        <p:cxnSp>
          <p:nvCxnSpPr>
            <p:cNvPr id="54" name="Straight Arrow Connector 53">
              <a:extLst>
                <a:ext uri="{FF2B5EF4-FFF2-40B4-BE49-F238E27FC236}">
                  <a16:creationId xmlns:a16="http://schemas.microsoft.com/office/drawing/2014/main" id="{A476944F-114A-A90A-0990-CF860F2713CD}"/>
                </a:ext>
              </a:extLst>
            </p:cNvPr>
            <p:cNvCxnSpPr>
              <a:cxnSpLocks/>
            </p:cNvCxnSpPr>
            <p:nvPr/>
          </p:nvCxnSpPr>
          <p:spPr>
            <a:xfrm flipH="1">
              <a:off x="8405903" y="4802172"/>
              <a:ext cx="14045" cy="31017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5E7681A-3A04-FA28-809B-ACE548502A9D}"/>
                </a:ext>
              </a:extLst>
            </p:cNvPr>
            <p:cNvCxnSpPr>
              <a:cxnSpLocks/>
            </p:cNvCxnSpPr>
            <p:nvPr/>
          </p:nvCxnSpPr>
          <p:spPr>
            <a:xfrm flipH="1">
              <a:off x="5828281" y="5764085"/>
              <a:ext cx="388218" cy="31017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14F98D71-10C2-46F2-D1D3-FE138C2EF932}"/>
                </a:ext>
              </a:extLst>
            </p:cNvPr>
            <p:cNvSpPr/>
            <p:nvPr/>
          </p:nvSpPr>
          <p:spPr>
            <a:xfrm>
              <a:off x="5311914" y="6086815"/>
              <a:ext cx="1032734" cy="455116"/>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p:txBody>
        </p:sp>
        <p:cxnSp>
          <p:nvCxnSpPr>
            <p:cNvPr id="59" name="Straight Arrow Connector 58">
              <a:extLst>
                <a:ext uri="{FF2B5EF4-FFF2-40B4-BE49-F238E27FC236}">
                  <a16:creationId xmlns:a16="http://schemas.microsoft.com/office/drawing/2014/main" id="{74A07680-A73D-F9AD-F4CD-5D07FA00796D}"/>
                </a:ext>
              </a:extLst>
            </p:cNvPr>
            <p:cNvCxnSpPr>
              <a:cxnSpLocks/>
              <a:endCxn id="58" idx="3"/>
            </p:cNvCxnSpPr>
            <p:nvPr/>
          </p:nvCxnSpPr>
          <p:spPr>
            <a:xfrm flipH="1">
              <a:off x="6344648" y="5463543"/>
              <a:ext cx="1558933" cy="85083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cxnSp>
        <p:nvCxnSpPr>
          <p:cNvPr id="61" name="Straight Arrow Connector 60">
            <a:extLst>
              <a:ext uri="{FF2B5EF4-FFF2-40B4-BE49-F238E27FC236}">
                <a16:creationId xmlns:a16="http://schemas.microsoft.com/office/drawing/2014/main" id="{E10F1648-D086-C5FF-D079-239D808D5038}"/>
              </a:ext>
            </a:extLst>
          </p:cNvPr>
          <p:cNvCxnSpPr>
            <a:cxnSpLocks/>
            <a:stCxn id="58" idx="1"/>
          </p:cNvCxnSpPr>
          <p:nvPr/>
        </p:nvCxnSpPr>
        <p:spPr>
          <a:xfrm flipH="1">
            <a:off x="6395632" y="6314373"/>
            <a:ext cx="440283" cy="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4883B804-A001-35BF-1BFD-2E2BFD964E93}"/>
              </a:ext>
            </a:extLst>
          </p:cNvPr>
          <p:cNvGrpSpPr/>
          <p:nvPr/>
        </p:nvGrpSpPr>
        <p:grpSpPr>
          <a:xfrm>
            <a:off x="1039786" y="3577592"/>
            <a:ext cx="3387237" cy="2021170"/>
            <a:chOff x="2006742" y="1800591"/>
            <a:chExt cx="5296637" cy="3788600"/>
          </a:xfrm>
        </p:grpSpPr>
        <p:grpSp>
          <p:nvGrpSpPr>
            <p:cNvPr id="70" name="Group 69">
              <a:extLst>
                <a:ext uri="{FF2B5EF4-FFF2-40B4-BE49-F238E27FC236}">
                  <a16:creationId xmlns:a16="http://schemas.microsoft.com/office/drawing/2014/main" id="{C5848ED0-D234-8F79-6E9D-D58E2FE3D1B7}"/>
                </a:ext>
              </a:extLst>
            </p:cNvPr>
            <p:cNvGrpSpPr/>
            <p:nvPr/>
          </p:nvGrpSpPr>
          <p:grpSpPr>
            <a:xfrm>
              <a:off x="2006742" y="1800591"/>
              <a:ext cx="5296637" cy="3788600"/>
              <a:chOff x="4953402" y="2235546"/>
              <a:chExt cx="3434824" cy="3201863"/>
            </a:xfrm>
          </p:grpSpPr>
          <p:sp>
            <p:nvSpPr>
              <p:cNvPr id="73" name="Rectangle 72">
                <a:extLst>
                  <a:ext uri="{FF2B5EF4-FFF2-40B4-BE49-F238E27FC236}">
                    <a16:creationId xmlns:a16="http://schemas.microsoft.com/office/drawing/2014/main" id="{718E886A-8BEE-9CC1-97BC-78A5C59FC1CA}"/>
                  </a:ext>
                </a:extLst>
              </p:cNvPr>
              <p:cNvSpPr/>
              <p:nvPr/>
            </p:nvSpPr>
            <p:spPr>
              <a:xfrm>
                <a:off x="4956668" y="2730954"/>
                <a:ext cx="3398221" cy="270645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Candara" panose="020E0502030303020204" pitchFamily="34" charset="0"/>
                </a:endParaRPr>
              </a:p>
            </p:txBody>
          </p:sp>
          <p:sp>
            <p:nvSpPr>
              <p:cNvPr id="74" name="Rectangle 73">
                <a:extLst>
                  <a:ext uri="{FF2B5EF4-FFF2-40B4-BE49-F238E27FC236}">
                    <a16:creationId xmlns:a16="http://schemas.microsoft.com/office/drawing/2014/main" id="{548369A0-90BA-EBE9-9D0B-F73D0EB00810}"/>
                  </a:ext>
                </a:extLst>
              </p:cNvPr>
              <p:cNvSpPr/>
              <p:nvPr/>
            </p:nvSpPr>
            <p:spPr>
              <a:xfrm>
                <a:off x="6694714" y="2730953"/>
                <a:ext cx="1660175" cy="270645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Candara" panose="020E0502030303020204" pitchFamily="34" charset="0"/>
                </a:endParaRPr>
              </a:p>
            </p:txBody>
          </p:sp>
          <p:sp>
            <p:nvSpPr>
              <p:cNvPr id="75" name="TextBox 74">
                <a:extLst>
                  <a:ext uri="{FF2B5EF4-FFF2-40B4-BE49-F238E27FC236}">
                    <a16:creationId xmlns:a16="http://schemas.microsoft.com/office/drawing/2014/main" id="{19ACAFA7-BEE4-9FB0-9BFC-280396786DD8}"/>
                  </a:ext>
                </a:extLst>
              </p:cNvPr>
              <p:cNvSpPr txBox="1"/>
              <p:nvPr/>
            </p:nvSpPr>
            <p:spPr>
              <a:xfrm>
                <a:off x="5118085" y="3509675"/>
                <a:ext cx="1502228" cy="114901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dirty="0" err="1">
                    <a:latin typeface="Candara" panose="020E0502030303020204" pitchFamily="34" charset="0"/>
                  </a:rPr>
                  <a:t>Prev</a:t>
                </a:r>
                <a:r>
                  <a:rPr lang="en-US" sz="1600" dirty="0">
                    <a:latin typeface="Candara" panose="020E0502030303020204" pitchFamily="34" charset="0"/>
                  </a:rPr>
                  <a:t> Txid: 00..00</a:t>
                </a:r>
              </a:p>
              <a:p>
                <a:r>
                  <a:rPr lang="en-US" sz="1600" dirty="0" err="1">
                    <a:latin typeface="Candara" panose="020E0502030303020204" pitchFamily="34" charset="0"/>
                  </a:rPr>
                  <a:t>Idx</a:t>
                </a:r>
                <a:r>
                  <a:rPr lang="en-US" sz="1600" dirty="0">
                    <a:latin typeface="Candara" panose="020E0502030303020204" pitchFamily="34" charset="0"/>
                  </a:rPr>
                  <a:t>: 0xFF..FF</a:t>
                </a:r>
              </a:p>
            </p:txBody>
          </p:sp>
          <p:sp>
            <p:nvSpPr>
              <p:cNvPr id="76" name="TextBox 75">
                <a:extLst>
                  <a:ext uri="{FF2B5EF4-FFF2-40B4-BE49-F238E27FC236}">
                    <a16:creationId xmlns:a16="http://schemas.microsoft.com/office/drawing/2014/main" id="{E0477622-AD3F-A189-23A5-32E8343B5C1B}"/>
                  </a:ext>
                </a:extLst>
              </p:cNvPr>
              <p:cNvSpPr txBox="1"/>
              <p:nvPr/>
            </p:nvSpPr>
            <p:spPr>
              <a:xfrm>
                <a:off x="6783205" y="2838731"/>
                <a:ext cx="1502228" cy="102134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Candara" panose="020E0502030303020204" pitchFamily="34" charset="0"/>
                  </a:rPr>
                  <a:t>Value: </a:t>
                </a:r>
              </a:p>
              <a:p>
                <a:r>
                  <a:rPr lang="en-US" dirty="0">
                    <a:latin typeface="Candara" panose="020E0502030303020204" pitchFamily="34" charset="0"/>
                  </a:rPr>
                  <a:t>3.125+fee</a:t>
                </a:r>
              </a:p>
              <a:p>
                <a:r>
                  <a:rPr lang="en-US" dirty="0">
                    <a:latin typeface="Candara" panose="020E0502030303020204" pitchFamily="34" charset="0"/>
                  </a:rPr>
                  <a:t>OP_0 &lt;</a:t>
                </a:r>
                <a:r>
                  <a:rPr lang="en-US" dirty="0" err="1">
                    <a:latin typeface="Candara" panose="020E0502030303020204" pitchFamily="34" charset="0"/>
                  </a:rPr>
                  <a:t>wpkh</a:t>
                </a:r>
                <a:r>
                  <a:rPr lang="en-US" dirty="0">
                    <a:latin typeface="Candara" panose="020E0502030303020204" pitchFamily="34" charset="0"/>
                  </a:rPr>
                  <a:t>&gt;</a:t>
                </a:r>
              </a:p>
            </p:txBody>
          </p:sp>
          <p:sp>
            <p:nvSpPr>
              <p:cNvPr id="77" name="TextBox 76">
                <a:extLst>
                  <a:ext uri="{FF2B5EF4-FFF2-40B4-BE49-F238E27FC236}">
                    <a16:creationId xmlns:a16="http://schemas.microsoft.com/office/drawing/2014/main" id="{BA21D2E7-C248-33A1-B596-A89748695A72}"/>
                  </a:ext>
                </a:extLst>
              </p:cNvPr>
              <p:cNvSpPr txBox="1"/>
              <p:nvPr/>
            </p:nvSpPr>
            <p:spPr>
              <a:xfrm>
                <a:off x="4953402" y="2235546"/>
                <a:ext cx="3434824" cy="603181"/>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dirty="0">
                    <a:latin typeface="Candara" panose="020E0502030303020204" pitchFamily="34" charset="0"/>
                  </a:rPr>
                  <a:t>Coinbase Transaction (Miner)</a:t>
                </a:r>
              </a:p>
            </p:txBody>
          </p:sp>
        </p:grpSp>
        <p:cxnSp>
          <p:nvCxnSpPr>
            <p:cNvPr id="71" name="Straight Connector 70">
              <a:extLst>
                <a:ext uri="{FF2B5EF4-FFF2-40B4-BE49-F238E27FC236}">
                  <a16:creationId xmlns:a16="http://schemas.microsoft.com/office/drawing/2014/main" id="{DE636585-9CA5-4C4C-0617-F43CF086AE71}"/>
                </a:ext>
              </a:extLst>
            </p:cNvPr>
            <p:cNvCxnSpPr/>
            <p:nvPr/>
          </p:nvCxnSpPr>
          <p:spPr>
            <a:xfrm>
              <a:off x="4691915" y="3850337"/>
              <a:ext cx="2560057" cy="2"/>
            </a:xfrm>
            <a:prstGeom prst="line">
              <a:avLst/>
            </a:prstGeom>
          </p:spPr>
          <p:style>
            <a:lnRef idx="2">
              <a:schemeClr val="accent1">
                <a:shade val="15000"/>
              </a:schemeClr>
            </a:lnRef>
            <a:fillRef idx="1">
              <a:schemeClr val="accent1"/>
            </a:fillRef>
            <a:effectRef idx="0">
              <a:schemeClr val="accent1"/>
            </a:effectRef>
            <a:fontRef idx="minor">
              <a:schemeClr val="lt1"/>
            </a:fontRef>
          </p:style>
        </p:cxnSp>
        <p:sp>
          <p:nvSpPr>
            <p:cNvPr id="72" name="TextBox 71">
              <a:extLst>
                <a:ext uri="{FF2B5EF4-FFF2-40B4-BE49-F238E27FC236}">
                  <a16:creationId xmlns:a16="http://schemas.microsoft.com/office/drawing/2014/main" id="{1720B663-5098-0BB6-1899-51622041970D}"/>
                </a:ext>
              </a:extLst>
            </p:cNvPr>
            <p:cNvSpPr txBox="1"/>
            <p:nvPr/>
          </p:nvSpPr>
          <p:spPr>
            <a:xfrm>
              <a:off x="4921372" y="4299670"/>
              <a:ext cx="2200289" cy="85602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Candara" panose="020E0502030303020204" pitchFamily="34" charset="0"/>
                </a:rPr>
                <a:t>OP_RETURN</a:t>
              </a:r>
            </a:p>
            <a:p>
              <a:r>
                <a:rPr lang="en-US" dirty="0">
                  <a:latin typeface="Candara" panose="020E0502030303020204" pitchFamily="34" charset="0"/>
                </a:rPr>
                <a:t>&lt;hash&gt;</a:t>
              </a:r>
            </a:p>
          </p:txBody>
        </p:sp>
      </p:grpSp>
      <p:cxnSp>
        <p:nvCxnSpPr>
          <p:cNvPr id="79" name="Straight Arrow Connector 78">
            <a:extLst>
              <a:ext uri="{FF2B5EF4-FFF2-40B4-BE49-F238E27FC236}">
                <a16:creationId xmlns:a16="http://schemas.microsoft.com/office/drawing/2014/main" id="{29A5A7FD-7B51-94CF-BD14-932B432B5717}"/>
              </a:ext>
            </a:extLst>
          </p:cNvPr>
          <p:cNvCxnSpPr>
            <a:cxnSpLocks/>
          </p:cNvCxnSpPr>
          <p:nvPr/>
        </p:nvCxnSpPr>
        <p:spPr>
          <a:xfrm flipH="1">
            <a:off x="4424855" y="4000054"/>
            <a:ext cx="848004" cy="1203618"/>
          </a:xfrm>
          <a:prstGeom prst="straightConnector1">
            <a:avLst/>
          </a:prstGeom>
          <a:ln w="25400">
            <a:solidFill>
              <a:schemeClr val="tx1"/>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0CFEC2A3-93EB-312C-66E9-639DA47E156A}"/>
              </a:ext>
            </a:extLst>
          </p:cNvPr>
          <p:cNvSpPr txBox="1"/>
          <p:nvPr/>
        </p:nvSpPr>
        <p:spPr>
          <a:xfrm>
            <a:off x="8499427" y="5946742"/>
            <a:ext cx="2649567" cy="646331"/>
          </a:xfrm>
          <a:prstGeom prst="rect">
            <a:avLst/>
          </a:prstGeom>
          <a:noFill/>
        </p:spPr>
        <p:txBody>
          <a:bodyPr wrap="square" rtlCol="0">
            <a:spAutoFit/>
          </a:bodyPr>
          <a:lstStyle/>
          <a:p>
            <a:pPr algn="ctr"/>
            <a:r>
              <a:rPr lang="en-US" sz="1200" dirty="0" err="1">
                <a:solidFill>
                  <a:srgbClr val="002060"/>
                </a:solidFill>
                <a:latin typeface="Candara" panose="020E0502030303020204" pitchFamily="34" charset="0"/>
              </a:rPr>
              <a:t>wtxids</a:t>
            </a:r>
            <a:r>
              <a:rPr lang="en-US" sz="1200" dirty="0">
                <a:solidFill>
                  <a:srgbClr val="002060"/>
                </a:solidFill>
                <a:latin typeface="Candara" panose="020E0502030303020204" pitchFamily="34" charset="0"/>
              </a:rPr>
              <a:t> are also double SHA256 hashes of the complete transaction data along with its witness </a:t>
            </a:r>
          </a:p>
        </p:txBody>
      </p:sp>
      <p:sp>
        <p:nvSpPr>
          <p:cNvPr id="3" name="Rectangle 2">
            <a:extLst>
              <a:ext uri="{FF2B5EF4-FFF2-40B4-BE49-F238E27FC236}">
                <a16:creationId xmlns:a16="http://schemas.microsoft.com/office/drawing/2014/main" id="{0DCBF938-63E6-DFD4-3890-7535FEFCD6A9}"/>
              </a:ext>
            </a:extLst>
          </p:cNvPr>
          <p:cNvSpPr/>
          <p:nvPr/>
        </p:nvSpPr>
        <p:spPr>
          <a:xfrm>
            <a:off x="1043006" y="5740981"/>
            <a:ext cx="3387237" cy="771535"/>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32 B witness reservation value (</a:t>
            </a:r>
            <a:r>
              <a:rPr lang="en-US" dirty="0" err="1">
                <a:solidFill>
                  <a:schemeClr val="tx1"/>
                </a:solidFill>
                <a:latin typeface="Candara" panose="020E0502030303020204" pitchFamily="34" charset="0"/>
              </a:rPr>
              <a:t>wrv</a:t>
            </a:r>
            <a:r>
              <a:rPr lang="en-US" dirty="0">
                <a:solidFill>
                  <a:schemeClr val="tx1"/>
                </a:solidFill>
                <a:latin typeface="Candara" panose="020E0502030303020204" pitchFamily="34" charset="0"/>
              </a:rPr>
              <a:t>) (arbitrary value)</a:t>
            </a:r>
          </a:p>
        </p:txBody>
      </p:sp>
      <p:cxnSp>
        <p:nvCxnSpPr>
          <p:cNvPr id="15" name="Straight Arrow Connector 14">
            <a:extLst>
              <a:ext uri="{FF2B5EF4-FFF2-40B4-BE49-F238E27FC236}">
                <a16:creationId xmlns:a16="http://schemas.microsoft.com/office/drawing/2014/main" id="{D534BA44-3D46-F606-7743-5C3AB95423A6}"/>
              </a:ext>
            </a:extLst>
          </p:cNvPr>
          <p:cNvCxnSpPr>
            <a:cxnSpLocks/>
          </p:cNvCxnSpPr>
          <p:nvPr/>
        </p:nvCxnSpPr>
        <p:spPr>
          <a:xfrm>
            <a:off x="4439054" y="6314373"/>
            <a:ext cx="510434" cy="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0998ACF-B603-6760-328E-B924868DF27B}"/>
              </a:ext>
            </a:extLst>
          </p:cNvPr>
          <p:cNvSpPr/>
          <p:nvPr/>
        </p:nvSpPr>
        <p:spPr>
          <a:xfrm>
            <a:off x="4936052" y="5933471"/>
            <a:ext cx="1487656" cy="645459"/>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a:p>
            <a:pPr algn="ctr"/>
            <a:r>
              <a:rPr lang="en-US" sz="1400" dirty="0">
                <a:latin typeface="Candara" panose="020E0502030303020204" pitchFamily="34" charset="0"/>
              </a:rPr>
              <a:t>1,wrv</a:t>
            </a:r>
          </a:p>
        </p:txBody>
      </p:sp>
      <p:cxnSp>
        <p:nvCxnSpPr>
          <p:cNvPr id="21" name="Straight Arrow Connector 20">
            <a:extLst>
              <a:ext uri="{FF2B5EF4-FFF2-40B4-BE49-F238E27FC236}">
                <a16:creationId xmlns:a16="http://schemas.microsoft.com/office/drawing/2014/main" id="{EC3EAF92-FDF1-6CD6-B829-48DB7DCCC382}"/>
              </a:ext>
            </a:extLst>
          </p:cNvPr>
          <p:cNvCxnSpPr>
            <a:cxnSpLocks/>
            <a:stCxn id="20" idx="0"/>
          </p:cNvCxnSpPr>
          <p:nvPr/>
        </p:nvCxnSpPr>
        <p:spPr>
          <a:xfrm flipV="1">
            <a:off x="5679880" y="3963971"/>
            <a:ext cx="47243" cy="196950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24998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3" grpId="0" animBg="1"/>
      <p:bldP spid="2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30F12-280C-3569-A9F0-BE96EDEAB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0CAEE-7295-1054-EAE4-1332C3DE69C1}"/>
              </a:ext>
            </a:extLst>
          </p:cNvPr>
          <p:cNvSpPr>
            <a:spLocks noGrp="1"/>
          </p:cNvSpPr>
          <p:nvPr>
            <p:ph type="title"/>
          </p:nvPr>
        </p:nvSpPr>
        <p:spPr/>
        <p:txBody>
          <a:bodyPr/>
          <a:lstStyle/>
          <a:p>
            <a:r>
              <a:rPr lang="en-PK" dirty="0">
                <a:latin typeface="+mn-lt"/>
              </a:rPr>
              <a:t>Lecture </a:t>
            </a:r>
            <a:r>
              <a:rPr lang="en-US" dirty="0">
                <a:latin typeface="+mn-lt"/>
              </a:rPr>
              <a:t>17</a:t>
            </a:r>
            <a:br>
              <a:rPr lang="en-PK" dirty="0">
                <a:latin typeface="+mn-lt"/>
              </a:rPr>
            </a:br>
            <a:r>
              <a:rPr lang="en-US" dirty="0">
                <a:latin typeface="+mn-lt"/>
              </a:rPr>
              <a:t>Tuesday</a:t>
            </a:r>
            <a:r>
              <a:rPr lang="en-PK" dirty="0">
                <a:latin typeface="+mn-lt"/>
              </a:rPr>
              <a:t>, </a:t>
            </a:r>
            <a:r>
              <a:rPr lang="en-US" dirty="0">
                <a:latin typeface="+mn-lt"/>
              </a:rPr>
              <a:t>Mar</a:t>
            </a:r>
            <a:r>
              <a:rPr lang="en-PK" dirty="0">
                <a:latin typeface="+mn-lt"/>
              </a:rPr>
              <a:t> </a:t>
            </a:r>
            <a:r>
              <a:rPr lang="en-US" dirty="0">
                <a:latin typeface="+mn-lt"/>
              </a:rPr>
              <a:t>31</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45ACBDB2-ECF6-1980-D929-39678C458DAF}"/>
              </a:ext>
            </a:extLst>
          </p:cNvPr>
          <p:cNvSpPr>
            <a:spLocks noGrp="1"/>
          </p:cNvSpPr>
          <p:nvPr>
            <p:ph type="sldNum" sz="quarter" idx="12"/>
          </p:nvPr>
        </p:nvSpPr>
        <p:spPr/>
        <p:txBody>
          <a:bodyPr/>
          <a:lstStyle/>
          <a:p>
            <a:fld id="{D57F1E4F-1CFF-5643-939E-217C01CDF565}" type="slidenum">
              <a:rPr lang="en-US" smtClean="0"/>
              <a:pPr/>
              <a:t>51</a:t>
            </a:fld>
            <a:endParaRPr lang="en-US" dirty="0"/>
          </a:p>
        </p:txBody>
      </p:sp>
    </p:spTree>
    <p:extLst>
      <p:ext uri="{BB962C8B-B14F-4D97-AF65-F5344CB8AC3E}">
        <p14:creationId xmlns:p14="http://schemas.microsoft.com/office/powerpoint/2010/main" val="72453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B93B-64DD-830C-E2F4-4AC47BB53133}"/>
              </a:ext>
            </a:extLst>
          </p:cNvPr>
          <p:cNvSpPr>
            <a:spLocks noGrp="1"/>
          </p:cNvSpPr>
          <p:nvPr>
            <p:ph type="title"/>
          </p:nvPr>
        </p:nvSpPr>
        <p:spPr/>
        <p:txBody>
          <a:bodyPr/>
          <a:lstStyle/>
          <a:p>
            <a:r>
              <a:rPr lang="en-US" dirty="0"/>
              <a:t>Prevent Cheating in Payment Channels</a:t>
            </a:r>
          </a:p>
        </p:txBody>
      </p:sp>
      <p:sp>
        <p:nvSpPr>
          <p:cNvPr id="3" name="Content Placeholder 2">
            <a:extLst>
              <a:ext uri="{FF2B5EF4-FFF2-40B4-BE49-F238E27FC236}">
                <a16:creationId xmlns:a16="http://schemas.microsoft.com/office/drawing/2014/main" id="{A2628A79-C625-1156-7E85-CF138ED7665F}"/>
              </a:ext>
            </a:extLst>
          </p:cNvPr>
          <p:cNvSpPr>
            <a:spLocks noGrp="1"/>
          </p:cNvSpPr>
          <p:nvPr>
            <p:ph idx="1"/>
          </p:nvPr>
        </p:nvSpPr>
        <p:spPr>
          <a:xfrm>
            <a:off x="487680" y="1097280"/>
            <a:ext cx="11186160" cy="3868259"/>
          </a:xfrm>
        </p:spPr>
        <p:txBody>
          <a:bodyPr>
            <a:normAutofit/>
          </a:bodyPr>
          <a:lstStyle/>
          <a:p>
            <a:r>
              <a:rPr lang="en-US" sz="2800" dirty="0"/>
              <a:t>Suppose Alice broadcasts an old commitment (C1a) where she has a higher balance</a:t>
            </a:r>
          </a:p>
          <a:p>
            <a:pPr lvl="1"/>
            <a:r>
              <a:rPr lang="en-US" sz="2400" dirty="0"/>
              <a:t>Bob and everyone else know that Alice has published C1a </a:t>
            </a:r>
          </a:p>
          <a:p>
            <a:pPr lvl="1"/>
            <a:r>
              <a:rPr lang="en-US" sz="2400" dirty="0">
                <a:solidFill>
                  <a:srgbClr val="7030A0"/>
                </a:solidFill>
              </a:rPr>
              <a:t>Bob can immediately redeem his (smaller) output but that does not stop Alice</a:t>
            </a:r>
          </a:p>
          <a:p>
            <a:pPr lvl="1"/>
            <a:r>
              <a:rPr lang="en-US" sz="2400" dirty="0">
                <a:solidFill>
                  <a:srgbClr val="FF0000"/>
                </a:solidFill>
              </a:rPr>
              <a:t>Once the time lock expires, Alice still walks away with more funds than her share </a:t>
            </a:r>
          </a:p>
          <a:p>
            <a:r>
              <a:rPr lang="en-US" sz="2800" dirty="0"/>
              <a:t>Bob could try to counter Alice by publishing his own old commitment (C1b) to make it a race</a:t>
            </a:r>
          </a:p>
          <a:p>
            <a:pPr lvl="1"/>
            <a:r>
              <a:rPr lang="en-US" sz="2400" dirty="0">
                <a:solidFill>
                  <a:srgbClr val="7030A0"/>
                </a:solidFill>
              </a:rPr>
              <a:t>There is no guarantee of winning this race</a:t>
            </a:r>
          </a:p>
        </p:txBody>
      </p:sp>
      <p:sp>
        <p:nvSpPr>
          <p:cNvPr id="4" name="Slide Number Placeholder 3">
            <a:extLst>
              <a:ext uri="{FF2B5EF4-FFF2-40B4-BE49-F238E27FC236}">
                <a16:creationId xmlns:a16="http://schemas.microsoft.com/office/drawing/2014/main" id="{17F1A36C-5731-0D23-A93C-BF34DB426DE7}"/>
              </a:ext>
            </a:extLst>
          </p:cNvPr>
          <p:cNvSpPr>
            <a:spLocks noGrp="1"/>
          </p:cNvSpPr>
          <p:nvPr>
            <p:ph type="sldNum" sz="quarter" idx="12"/>
          </p:nvPr>
        </p:nvSpPr>
        <p:spPr/>
        <p:txBody>
          <a:bodyPr/>
          <a:lstStyle/>
          <a:p>
            <a:fld id="{D57F1E4F-1CFF-5643-939E-217C01CDF565}" type="slidenum">
              <a:rPr lang="en-US" smtClean="0"/>
              <a:pPr/>
              <a:t>52</a:t>
            </a:fld>
            <a:endParaRPr lang="en-US" dirty="0"/>
          </a:p>
        </p:txBody>
      </p:sp>
      <p:sp>
        <p:nvSpPr>
          <p:cNvPr id="5" name="TextBox 4">
            <a:extLst>
              <a:ext uri="{FF2B5EF4-FFF2-40B4-BE49-F238E27FC236}">
                <a16:creationId xmlns:a16="http://schemas.microsoft.com/office/drawing/2014/main" id="{7DC91C47-8DF3-E677-275C-8FEC1B5F4A1D}"/>
              </a:ext>
            </a:extLst>
          </p:cNvPr>
          <p:cNvSpPr txBox="1"/>
          <p:nvPr/>
        </p:nvSpPr>
        <p:spPr>
          <a:xfrm>
            <a:off x="1953937" y="5160990"/>
            <a:ext cx="8067555" cy="584775"/>
          </a:xfrm>
          <a:prstGeom prst="rect">
            <a:avLst/>
          </a:prstGeom>
          <a:solidFill>
            <a:srgbClr val="FF0000"/>
          </a:solidFill>
        </p:spPr>
        <p:txBody>
          <a:bodyPr wrap="square" rtlCol="0">
            <a:spAutoFit/>
          </a:bodyPr>
          <a:lstStyle/>
          <a:p>
            <a:pPr algn="ctr"/>
            <a:r>
              <a:rPr lang="en-US" sz="3200" dirty="0">
                <a:solidFill>
                  <a:schemeClr val="bg1"/>
                </a:solidFill>
                <a:latin typeface="Candara" panose="020E0502030303020204" pitchFamily="34" charset="0"/>
              </a:rPr>
              <a:t>Time Locks alone cannot prevent cheating</a:t>
            </a:r>
          </a:p>
        </p:txBody>
      </p:sp>
    </p:spTree>
    <p:extLst>
      <p:ext uri="{BB962C8B-B14F-4D97-AF65-F5344CB8AC3E}">
        <p14:creationId xmlns:p14="http://schemas.microsoft.com/office/powerpoint/2010/main" val="183343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bg/>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A2586-A982-5A78-C579-47487E6A1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E9D54-371B-3287-4DDC-1007B85CCAA4}"/>
              </a:ext>
            </a:extLst>
          </p:cNvPr>
          <p:cNvSpPr>
            <a:spLocks noGrp="1"/>
          </p:cNvSpPr>
          <p:nvPr>
            <p:ph type="title"/>
          </p:nvPr>
        </p:nvSpPr>
        <p:spPr/>
        <p:txBody>
          <a:bodyPr/>
          <a:lstStyle/>
          <a:p>
            <a:r>
              <a:rPr lang="en-US" dirty="0"/>
              <a:t>Add Punishment for Cheating</a:t>
            </a:r>
          </a:p>
        </p:txBody>
      </p:sp>
      <p:sp>
        <p:nvSpPr>
          <p:cNvPr id="3" name="Content Placeholder 2">
            <a:extLst>
              <a:ext uri="{FF2B5EF4-FFF2-40B4-BE49-F238E27FC236}">
                <a16:creationId xmlns:a16="http://schemas.microsoft.com/office/drawing/2014/main" id="{91D52138-8168-926F-7633-78AA2A0772FE}"/>
              </a:ext>
            </a:extLst>
          </p:cNvPr>
          <p:cNvSpPr>
            <a:spLocks noGrp="1"/>
          </p:cNvSpPr>
          <p:nvPr>
            <p:ph idx="1"/>
          </p:nvPr>
        </p:nvSpPr>
        <p:spPr>
          <a:xfrm>
            <a:off x="487680" y="1025089"/>
            <a:ext cx="11186160" cy="3357357"/>
          </a:xfrm>
        </p:spPr>
        <p:txBody>
          <a:bodyPr>
            <a:noAutofit/>
          </a:bodyPr>
          <a:lstStyle/>
          <a:p>
            <a:r>
              <a:rPr lang="en-US" sz="2400" dirty="0">
                <a:solidFill>
                  <a:srgbClr val="7030A0"/>
                </a:solidFill>
              </a:rPr>
              <a:t>The addition of an economic penalty that is higher than the intended reward gained from cheating is the only effective way to discourage the publication of an old state </a:t>
            </a:r>
          </a:p>
          <a:p>
            <a:r>
              <a:rPr lang="en-US" sz="2400" dirty="0"/>
              <a:t>Suppose Alice publishes an old commitment (C1a) where she has  a higher balance</a:t>
            </a:r>
          </a:p>
          <a:p>
            <a:pPr lvl="1"/>
            <a:r>
              <a:rPr lang="en-US" sz="2000" dirty="0"/>
              <a:t>Her output is time locked</a:t>
            </a:r>
          </a:p>
          <a:p>
            <a:pPr lvl="1"/>
            <a:r>
              <a:rPr lang="en-US" sz="2000" dirty="0"/>
              <a:t>If Bob could also take Alice’s output immediately, then this would make publishing an old commitment truly uneconomical (Alice loses everything)</a:t>
            </a:r>
          </a:p>
          <a:p>
            <a:r>
              <a:rPr lang="en-US" sz="2400" dirty="0">
                <a:solidFill>
                  <a:srgbClr val="7030A0"/>
                </a:solidFill>
              </a:rPr>
              <a:t>Add a spending condition with the help of a revocation key that lets either party immediately claim the counterparty’s time-locked output </a:t>
            </a:r>
            <a:r>
              <a:rPr lang="en-US" sz="2400" i="1" dirty="0">
                <a:solidFill>
                  <a:srgbClr val="7030A0"/>
                </a:solidFill>
              </a:rPr>
              <a:t>if an outdated commitment is ever published</a:t>
            </a:r>
          </a:p>
        </p:txBody>
      </p:sp>
      <p:sp>
        <p:nvSpPr>
          <p:cNvPr id="4" name="Slide Number Placeholder 3">
            <a:extLst>
              <a:ext uri="{FF2B5EF4-FFF2-40B4-BE49-F238E27FC236}">
                <a16:creationId xmlns:a16="http://schemas.microsoft.com/office/drawing/2014/main" id="{5B5BDCF6-A862-58CD-E0A9-F82E9C50B11B}"/>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53</a:t>
            </a:fld>
            <a:endParaRPr lang="en-US" dirty="0">
              <a:latin typeface="Candara" panose="020E0502030303020204" pitchFamily="34" charset="0"/>
            </a:endParaRPr>
          </a:p>
        </p:txBody>
      </p:sp>
      <p:sp>
        <p:nvSpPr>
          <p:cNvPr id="7" name="TextBox 6">
            <a:extLst>
              <a:ext uri="{FF2B5EF4-FFF2-40B4-BE49-F238E27FC236}">
                <a16:creationId xmlns:a16="http://schemas.microsoft.com/office/drawing/2014/main" id="{8283C658-A0CE-2F2D-082A-DD6743E62BF3}"/>
              </a:ext>
            </a:extLst>
          </p:cNvPr>
          <p:cNvSpPr txBox="1"/>
          <p:nvPr/>
        </p:nvSpPr>
        <p:spPr>
          <a:xfrm>
            <a:off x="1322754" y="4511192"/>
            <a:ext cx="9552297" cy="1938992"/>
          </a:xfrm>
          <a:prstGeom prst="rect">
            <a:avLst/>
          </a:prstGeom>
          <a:solidFill>
            <a:srgbClr val="7030A0"/>
          </a:solidFill>
          <a:ln>
            <a:solidFill>
              <a:schemeClr val="accent1">
                <a:shade val="15000"/>
              </a:schemeClr>
            </a:solidFill>
          </a:ln>
        </p:spPr>
        <p:txBody>
          <a:bodyPr wrap="square">
            <a:spAutoFit/>
          </a:bodyPr>
          <a:lstStyle/>
          <a:p>
            <a:r>
              <a:rPr lang="en-US" sz="2000" dirty="0">
                <a:solidFill>
                  <a:schemeClr val="bg1"/>
                </a:solidFill>
                <a:latin typeface="Candara" panose="020E0502030303020204" pitchFamily="34" charset="0"/>
              </a:rPr>
              <a:t>IF  (revocation path is used)</a:t>
            </a:r>
          </a:p>
          <a:p>
            <a:r>
              <a:rPr lang="en-US" sz="2000" dirty="0">
                <a:solidFill>
                  <a:schemeClr val="bg1"/>
                </a:solidFill>
                <a:latin typeface="Candara" panose="020E0502030303020204" pitchFamily="34" charset="0"/>
              </a:rPr>
              <a:t>    Require: Signature from the Revocation key   // For Bob to punish Alice</a:t>
            </a:r>
          </a:p>
          <a:p>
            <a:r>
              <a:rPr lang="en-US" sz="2000" dirty="0">
                <a:solidFill>
                  <a:schemeClr val="bg1"/>
                </a:solidFill>
                <a:latin typeface="Candara" panose="020E0502030303020204" pitchFamily="34" charset="0"/>
              </a:rPr>
              <a:t>ELSE  (normal time lock path)</a:t>
            </a:r>
          </a:p>
          <a:p>
            <a:r>
              <a:rPr lang="en-US" sz="2000" dirty="0">
                <a:solidFill>
                  <a:schemeClr val="bg1"/>
                </a:solidFill>
                <a:latin typeface="Candara" panose="020E0502030303020204" pitchFamily="34" charset="0"/>
              </a:rPr>
              <a:t>    Require: Time lock        // Alice must wait</a:t>
            </a:r>
          </a:p>
          <a:p>
            <a:r>
              <a:rPr lang="en-US" sz="2000" dirty="0">
                <a:solidFill>
                  <a:schemeClr val="bg1"/>
                </a:solidFill>
                <a:latin typeface="Candara" panose="020E0502030303020204" pitchFamily="34" charset="0"/>
              </a:rPr>
              <a:t>    Require: Signature from Alice Key    // Alice claims her output after delay</a:t>
            </a:r>
          </a:p>
          <a:p>
            <a:r>
              <a:rPr lang="en-US" sz="2000" dirty="0">
                <a:solidFill>
                  <a:schemeClr val="bg1"/>
                </a:solidFill>
                <a:latin typeface="Candara" panose="020E0502030303020204" pitchFamily="34" charset="0"/>
              </a:rPr>
              <a:t>END</a:t>
            </a:r>
          </a:p>
        </p:txBody>
      </p:sp>
    </p:spTree>
    <p:extLst>
      <p:ext uri="{BB962C8B-B14F-4D97-AF65-F5344CB8AC3E}">
        <p14:creationId xmlns:p14="http://schemas.microsoft.com/office/powerpoint/2010/main" val="234950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D8EB-B6CE-DF0C-041F-71BA9238ADC5}"/>
              </a:ext>
            </a:extLst>
          </p:cNvPr>
          <p:cNvSpPr>
            <a:spLocks noGrp="1"/>
          </p:cNvSpPr>
          <p:nvPr>
            <p:ph type="title"/>
          </p:nvPr>
        </p:nvSpPr>
        <p:spPr/>
        <p:txBody>
          <a:bodyPr/>
          <a:lstStyle/>
          <a:p>
            <a:r>
              <a:rPr lang="en-US" dirty="0"/>
              <a:t>Revocation Key – Naïve Construction</a:t>
            </a:r>
          </a:p>
        </p:txBody>
      </p:sp>
      <p:sp>
        <p:nvSpPr>
          <p:cNvPr id="4" name="Slide Number Placeholder 3">
            <a:extLst>
              <a:ext uri="{FF2B5EF4-FFF2-40B4-BE49-F238E27FC236}">
                <a16:creationId xmlns:a16="http://schemas.microsoft.com/office/drawing/2014/main" id="{44D4EEC6-B16A-A2D7-BEF2-AE746665B3B7}"/>
              </a:ext>
            </a:extLst>
          </p:cNvPr>
          <p:cNvSpPr>
            <a:spLocks noGrp="1"/>
          </p:cNvSpPr>
          <p:nvPr>
            <p:ph type="sldNum" sz="quarter" idx="12"/>
          </p:nvPr>
        </p:nvSpPr>
        <p:spPr/>
        <p:txBody>
          <a:bodyPr/>
          <a:lstStyle/>
          <a:p>
            <a:fld id="{D57F1E4F-1CFF-5643-939E-217C01CDF565}" type="slidenum">
              <a:rPr lang="en-US" smtClean="0"/>
              <a:pPr/>
              <a:t>54</a:t>
            </a:fld>
            <a:endParaRPr lang="en-US" dirty="0"/>
          </a:p>
        </p:txBody>
      </p:sp>
      <p:sp>
        <p:nvSpPr>
          <p:cNvPr id="5" name="Content Placeholder 4">
            <a:extLst>
              <a:ext uri="{FF2B5EF4-FFF2-40B4-BE49-F238E27FC236}">
                <a16:creationId xmlns:a16="http://schemas.microsoft.com/office/drawing/2014/main" id="{B83AA44F-F4CF-E70F-7A99-7FBC77677016}"/>
              </a:ext>
            </a:extLst>
          </p:cNvPr>
          <p:cNvSpPr txBox="1">
            <a:spLocks noGrp="1"/>
          </p:cNvSpPr>
          <p:nvPr>
            <p:ph idx="1"/>
          </p:nvPr>
        </p:nvSpPr>
        <p:spPr>
          <a:xfrm>
            <a:off x="487363" y="1096963"/>
            <a:ext cx="11098895" cy="3687163"/>
          </a:xfrm>
          <a:prstGeom prst="rect">
            <a:avLst/>
          </a:prstGeom>
          <a:noFill/>
        </p:spPr>
        <p:txBody>
          <a:bodyPr wrap="square">
            <a:spAutoFit/>
          </a:bodyPr>
          <a:lstStyle/>
          <a:p>
            <a:r>
              <a:rPr lang="en-US" sz="2000" dirty="0"/>
              <a:t>To enable punishment through revocation key, lets try a straightforward key construction method </a:t>
            </a:r>
          </a:p>
          <a:p>
            <a:pPr lvl="1"/>
            <a:r>
              <a:rPr lang="en-US" sz="1800" dirty="0"/>
              <a:t>Bob generates a key pair (</a:t>
            </a:r>
            <a:r>
              <a:rPr lang="en-US" sz="1800" dirty="0" err="1"/>
              <a:t>r_b</a:t>
            </a:r>
            <a:r>
              <a:rPr lang="en-US" sz="1800" dirty="0"/>
              <a:t>, </a:t>
            </a:r>
            <a:r>
              <a:rPr lang="en-US" sz="1800" dirty="0" err="1"/>
              <a:t>R_b</a:t>
            </a:r>
            <a:r>
              <a:rPr lang="en-US" sz="1800" dirty="0"/>
              <a:t>) </a:t>
            </a:r>
          </a:p>
          <a:p>
            <a:pPr lvl="1"/>
            <a:r>
              <a:rPr lang="en-US" sz="1800" i="1" dirty="0"/>
              <a:t>Lowercase letters denote private key, uppercase letter denotes public key</a:t>
            </a:r>
          </a:p>
          <a:p>
            <a:pPr lvl="1"/>
            <a:r>
              <a:rPr lang="en-US" sz="1800" dirty="0"/>
              <a:t>He uses </a:t>
            </a:r>
            <a:r>
              <a:rPr lang="en-US" sz="1800" dirty="0" err="1"/>
              <a:t>R_b</a:t>
            </a:r>
            <a:r>
              <a:rPr lang="en-US" sz="1800" dirty="0"/>
              <a:t> as the revocation key in C1a, signs and gives it to Alice</a:t>
            </a:r>
          </a:p>
          <a:p>
            <a:pPr lvl="1"/>
            <a:r>
              <a:rPr lang="en-US" sz="1800" dirty="0"/>
              <a:t>The revocation path lets Bob take Alice’s funds immediately because Bob knows private key </a:t>
            </a:r>
            <a:r>
              <a:rPr lang="en-US" sz="1800" dirty="0" err="1"/>
              <a:t>r_b</a:t>
            </a:r>
            <a:r>
              <a:rPr lang="en-US" sz="1800" dirty="0"/>
              <a:t> </a:t>
            </a:r>
          </a:p>
          <a:p>
            <a:r>
              <a:rPr lang="en-US" sz="2000" dirty="0"/>
              <a:t>However, there is a serious flaw with this method</a:t>
            </a:r>
          </a:p>
          <a:p>
            <a:pPr lvl="1"/>
            <a:r>
              <a:rPr lang="en-US" sz="1800" dirty="0"/>
              <a:t>If Alice honestly publishes the latest commitment, she must wait to claim her funds</a:t>
            </a:r>
          </a:p>
          <a:p>
            <a:pPr lvl="1"/>
            <a:r>
              <a:rPr lang="en-US" sz="1800" dirty="0"/>
              <a:t>Bob already knows </a:t>
            </a:r>
            <a:r>
              <a:rPr lang="en-US" sz="1800" dirty="0" err="1"/>
              <a:t>r_b</a:t>
            </a:r>
            <a:r>
              <a:rPr lang="en-US" sz="1800" dirty="0"/>
              <a:t>, so he can steal everything even when Alice does nothing wrong</a:t>
            </a:r>
          </a:p>
          <a:p>
            <a:r>
              <a:rPr lang="en-US" sz="2000" dirty="0"/>
              <a:t>We need a revocation key that </a:t>
            </a:r>
          </a:p>
          <a:p>
            <a:pPr lvl="1"/>
            <a:r>
              <a:rPr lang="en-US" sz="1800" dirty="0"/>
              <a:t>Can punish only if an outdated commitment is published</a:t>
            </a:r>
          </a:p>
          <a:p>
            <a:pPr lvl="1"/>
            <a:r>
              <a:rPr lang="en-US" sz="1800" dirty="0"/>
              <a:t> Cannot be used against the latest commitment </a:t>
            </a:r>
          </a:p>
        </p:txBody>
      </p:sp>
      <p:sp>
        <p:nvSpPr>
          <p:cNvPr id="7" name="TextBox 6">
            <a:extLst>
              <a:ext uri="{FF2B5EF4-FFF2-40B4-BE49-F238E27FC236}">
                <a16:creationId xmlns:a16="http://schemas.microsoft.com/office/drawing/2014/main" id="{0C0E5592-6680-B98F-2B3F-4E8E9CE1A3CC}"/>
              </a:ext>
            </a:extLst>
          </p:cNvPr>
          <p:cNvSpPr txBox="1"/>
          <p:nvPr/>
        </p:nvSpPr>
        <p:spPr>
          <a:xfrm>
            <a:off x="733023" y="5049303"/>
            <a:ext cx="10853235" cy="1200329"/>
          </a:xfrm>
          <a:prstGeom prst="rect">
            <a:avLst/>
          </a:prstGeom>
          <a:solidFill>
            <a:srgbClr val="7030A0"/>
          </a:solidFill>
        </p:spPr>
        <p:txBody>
          <a:bodyPr wrap="square" rtlCol="0">
            <a:spAutoFit/>
          </a:bodyPr>
          <a:lstStyle/>
          <a:p>
            <a:pPr algn="ctr"/>
            <a:r>
              <a:rPr lang="en-US" sz="2400" dirty="0">
                <a:solidFill>
                  <a:schemeClr val="bg1"/>
                </a:solidFill>
              </a:rPr>
              <a:t>A revocation public key is required at the time of constructing a commitment transaction, but the corresponding revocation private key should remain hidden from both the parties until they advance to a new commitment</a:t>
            </a:r>
          </a:p>
        </p:txBody>
      </p:sp>
    </p:spTree>
    <p:extLst>
      <p:ext uri="{BB962C8B-B14F-4D97-AF65-F5344CB8AC3E}">
        <p14:creationId xmlns:p14="http://schemas.microsoft.com/office/powerpoint/2010/main" val="70266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EA288-0F05-AC1A-CBDE-449993A29616}"/>
              </a:ext>
            </a:extLst>
          </p:cNvPr>
          <p:cNvSpPr>
            <a:spLocks noGrp="1"/>
          </p:cNvSpPr>
          <p:nvPr>
            <p:ph type="title"/>
          </p:nvPr>
        </p:nvSpPr>
        <p:spPr/>
        <p:txBody>
          <a:bodyPr/>
          <a:lstStyle/>
          <a:p>
            <a:r>
              <a:rPr lang="en-US" dirty="0"/>
              <a:t>Safe Revocation Key</a:t>
            </a:r>
          </a:p>
        </p:txBody>
      </p:sp>
      <p:sp>
        <p:nvSpPr>
          <p:cNvPr id="3" name="Content Placeholder 2">
            <a:extLst>
              <a:ext uri="{FF2B5EF4-FFF2-40B4-BE49-F238E27FC236}">
                <a16:creationId xmlns:a16="http://schemas.microsoft.com/office/drawing/2014/main" id="{8A483DD4-EDD8-A6B8-89C8-62E93B045E69}"/>
              </a:ext>
            </a:extLst>
          </p:cNvPr>
          <p:cNvSpPr>
            <a:spLocks noGrp="1"/>
          </p:cNvSpPr>
          <p:nvPr>
            <p:ph idx="1"/>
          </p:nvPr>
        </p:nvSpPr>
        <p:spPr>
          <a:xfrm>
            <a:off x="502920" y="1632030"/>
            <a:ext cx="11186160" cy="4780345"/>
          </a:xfrm>
        </p:spPr>
        <p:txBody>
          <a:bodyPr>
            <a:normAutofit fontScale="92500" lnSpcReduction="10000"/>
          </a:bodyPr>
          <a:lstStyle/>
          <a:p>
            <a:r>
              <a:rPr lang="en-US" sz="2400" dirty="0"/>
              <a:t>Each commitment transaction (C1a, C1b, C2a, …) has its own revocation key pair (r, R)</a:t>
            </a:r>
          </a:p>
          <a:p>
            <a:r>
              <a:rPr lang="en-US" sz="2400" dirty="0"/>
              <a:t>Let’s focus on constructing a safe revocation key for C1a, which Bob creates for Alice </a:t>
            </a:r>
          </a:p>
          <a:p>
            <a:pPr lvl="1"/>
            <a:r>
              <a:rPr lang="en-US" sz="2400" dirty="0"/>
              <a:t>Bob should be able to punish Alice only if she publishes this state after it’s obsolete</a:t>
            </a:r>
          </a:p>
          <a:p>
            <a:pPr lvl="1"/>
            <a:r>
              <a:rPr lang="en-US" sz="2400" dirty="0"/>
              <a:t>Bob must not be able to take Alice’s funds if she publishes it honestly while it's the latest state</a:t>
            </a:r>
          </a:p>
          <a:p>
            <a:r>
              <a:rPr lang="en-US" sz="2400" dirty="0"/>
              <a:t>Alice generates a key pair (</a:t>
            </a:r>
            <a:r>
              <a:rPr lang="en-US" sz="2400" dirty="0" err="1"/>
              <a:t>r_a</a:t>
            </a:r>
            <a:r>
              <a:rPr lang="en-US" sz="2400" dirty="0"/>
              <a:t>, </a:t>
            </a:r>
            <a:r>
              <a:rPr lang="en-US" sz="2400" dirty="0" err="1"/>
              <a:t>R_a</a:t>
            </a:r>
            <a:r>
              <a:rPr lang="en-US" sz="2400" dirty="0"/>
              <a:t>)</a:t>
            </a:r>
          </a:p>
          <a:p>
            <a:r>
              <a:rPr lang="en-US" sz="2400" dirty="0"/>
              <a:t>Bob generates a key pair (</a:t>
            </a:r>
            <a:r>
              <a:rPr lang="en-US" sz="2400" dirty="0" err="1"/>
              <a:t>r_b</a:t>
            </a:r>
            <a:r>
              <a:rPr lang="en-US" sz="2400" dirty="0"/>
              <a:t>, </a:t>
            </a:r>
            <a:r>
              <a:rPr lang="en-US" sz="2400" dirty="0" err="1"/>
              <a:t>R_b</a:t>
            </a:r>
            <a:r>
              <a:rPr lang="en-US" sz="2400" dirty="0"/>
              <a:t>)</a:t>
            </a:r>
          </a:p>
          <a:p>
            <a:r>
              <a:rPr lang="en-US" sz="2400" dirty="0"/>
              <a:t>They exchange the public keys </a:t>
            </a:r>
            <a:r>
              <a:rPr lang="en-US" sz="2400" dirty="0" err="1"/>
              <a:t>R_a</a:t>
            </a:r>
            <a:r>
              <a:rPr lang="en-US" sz="2400" dirty="0"/>
              <a:t> and </a:t>
            </a:r>
            <a:r>
              <a:rPr lang="en-US" sz="2400" dirty="0" err="1"/>
              <a:t>R_b</a:t>
            </a:r>
            <a:endParaRPr lang="en-US" sz="2400" dirty="0"/>
          </a:p>
          <a:p>
            <a:r>
              <a:rPr lang="en-US" sz="2400" dirty="0"/>
              <a:t>Bob combines them to make a revocation public key R=</a:t>
            </a:r>
            <a:r>
              <a:rPr lang="en-US" sz="2400" dirty="0" err="1"/>
              <a:t>R_a+R_b</a:t>
            </a:r>
            <a:endParaRPr lang="en-US" sz="2400" dirty="0"/>
          </a:p>
          <a:p>
            <a:r>
              <a:rPr lang="en-US" sz="2400" dirty="0"/>
              <a:t>Bob constructs C1a and adds a revocation path with the revocation public key R and gives half-signed C1a to Alice</a:t>
            </a:r>
          </a:p>
          <a:p>
            <a:r>
              <a:rPr lang="en-US" sz="2400" dirty="0">
                <a:solidFill>
                  <a:schemeClr val="accent6">
                    <a:lumMod val="50000"/>
                  </a:schemeClr>
                </a:solidFill>
              </a:rPr>
              <a:t>Neither Bob nor Alice knows the private key which is r=</a:t>
            </a:r>
            <a:r>
              <a:rPr lang="en-US" sz="2400" dirty="0" err="1">
                <a:solidFill>
                  <a:schemeClr val="accent6">
                    <a:lumMod val="50000"/>
                  </a:schemeClr>
                </a:solidFill>
              </a:rPr>
              <a:t>r_a+r_b</a:t>
            </a:r>
            <a:endParaRPr lang="en-US" sz="2400" dirty="0">
              <a:solidFill>
                <a:schemeClr val="accent6">
                  <a:lumMod val="50000"/>
                </a:schemeClr>
              </a:solidFill>
            </a:endParaRPr>
          </a:p>
          <a:p>
            <a:r>
              <a:rPr lang="en-US" sz="2400" dirty="0">
                <a:solidFill>
                  <a:schemeClr val="accent6">
                    <a:lumMod val="50000"/>
                  </a:schemeClr>
                </a:solidFill>
              </a:rPr>
              <a:t>Bob cannot steal Alice’s funds if she publishes C1a honestly </a:t>
            </a:r>
          </a:p>
        </p:txBody>
      </p:sp>
      <p:sp>
        <p:nvSpPr>
          <p:cNvPr id="4" name="Slide Number Placeholder 3">
            <a:extLst>
              <a:ext uri="{FF2B5EF4-FFF2-40B4-BE49-F238E27FC236}">
                <a16:creationId xmlns:a16="http://schemas.microsoft.com/office/drawing/2014/main" id="{2387B891-2AC2-9695-45BE-9E775F6CC847}"/>
              </a:ext>
            </a:extLst>
          </p:cNvPr>
          <p:cNvSpPr>
            <a:spLocks noGrp="1"/>
          </p:cNvSpPr>
          <p:nvPr>
            <p:ph type="sldNum" sz="quarter" idx="12"/>
          </p:nvPr>
        </p:nvSpPr>
        <p:spPr/>
        <p:txBody>
          <a:bodyPr/>
          <a:lstStyle/>
          <a:p>
            <a:fld id="{D57F1E4F-1CFF-5643-939E-217C01CDF565}" type="slidenum">
              <a:rPr lang="en-US" smtClean="0"/>
              <a:pPr/>
              <a:t>55</a:t>
            </a:fld>
            <a:endParaRPr lang="en-US" dirty="0"/>
          </a:p>
        </p:txBody>
      </p:sp>
      <p:sp>
        <p:nvSpPr>
          <p:cNvPr id="6" name="TextBox 5">
            <a:extLst>
              <a:ext uri="{FF2B5EF4-FFF2-40B4-BE49-F238E27FC236}">
                <a16:creationId xmlns:a16="http://schemas.microsoft.com/office/drawing/2014/main" id="{A2424D94-382A-DE79-AE1C-ED11F07EFC92}"/>
              </a:ext>
            </a:extLst>
          </p:cNvPr>
          <p:cNvSpPr txBox="1"/>
          <p:nvPr/>
        </p:nvSpPr>
        <p:spPr>
          <a:xfrm>
            <a:off x="479770" y="1027422"/>
            <a:ext cx="11186160" cy="461665"/>
          </a:xfrm>
          <a:prstGeom prst="rect">
            <a:avLst/>
          </a:prstGeom>
          <a:solidFill>
            <a:srgbClr val="7030A0"/>
          </a:solidFill>
        </p:spPr>
        <p:txBody>
          <a:bodyPr wrap="square">
            <a:spAutoFit/>
          </a:bodyPr>
          <a:lstStyle/>
          <a:p>
            <a:pPr algn="ctr"/>
            <a:r>
              <a:rPr lang="en-US" sz="2400" dirty="0">
                <a:solidFill>
                  <a:schemeClr val="bg1"/>
                </a:solidFill>
              </a:rPr>
              <a:t>A safe revocation key enables punishment only when a commitment becomes outdated</a:t>
            </a:r>
          </a:p>
        </p:txBody>
      </p:sp>
    </p:spTree>
    <p:extLst>
      <p:ext uri="{BB962C8B-B14F-4D97-AF65-F5344CB8AC3E}">
        <p14:creationId xmlns:p14="http://schemas.microsoft.com/office/powerpoint/2010/main" val="145570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18888-EED6-9029-06EA-DCF814794C85}"/>
              </a:ext>
            </a:extLst>
          </p:cNvPr>
          <p:cNvSpPr>
            <a:spLocks noGrp="1"/>
          </p:cNvSpPr>
          <p:nvPr>
            <p:ph type="title"/>
          </p:nvPr>
        </p:nvSpPr>
        <p:spPr/>
        <p:txBody>
          <a:bodyPr/>
          <a:lstStyle/>
          <a:p>
            <a:r>
              <a:rPr lang="en-US" dirty="0"/>
              <a:t>Revoking the Old Commitment</a:t>
            </a:r>
          </a:p>
        </p:txBody>
      </p:sp>
      <p:sp>
        <p:nvSpPr>
          <p:cNvPr id="3" name="Content Placeholder 2">
            <a:extLst>
              <a:ext uri="{FF2B5EF4-FFF2-40B4-BE49-F238E27FC236}">
                <a16:creationId xmlns:a16="http://schemas.microsoft.com/office/drawing/2014/main" id="{711F8D67-6927-4AE3-82F8-88F8C66244F0}"/>
              </a:ext>
            </a:extLst>
          </p:cNvPr>
          <p:cNvSpPr>
            <a:spLocks noGrp="1"/>
          </p:cNvSpPr>
          <p:nvPr>
            <p:ph idx="1"/>
          </p:nvPr>
        </p:nvSpPr>
        <p:spPr/>
        <p:txBody>
          <a:bodyPr>
            <a:normAutofit fontScale="77500" lnSpcReduction="20000"/>
          </a:bodyPr>
          <a:lstStyle/>
          <a:p>
            <a:r>
              <a:rPr lang="en-US" dirty="0"/>
              <a:t>Suppose Alice and Bob agree to move on to a new state with updated balances</a:t>
            </a:r>
          </a:p>
          <a:p>
            <a:r>
              <a:rPr lang="en-US" dirty="0"/>
              <a:t>Bob has to create a new commitment C2a, which will make C1a outdated but before that he has to revoke C1a</a:t>
            </a:r>
          </a:p>
          <a:p>
            <a:r>
              <a:rPr lang="en-US" dirty="0"/>
              <a:t>Bob asks Alice to reveal </a:t>
            </a:r>
            <a:r>
              <a:rPr lang="en-US" dirty="0" err="1"/>
              <a:t>r_a</a:t>
            </a:r>
            <a:r>
              <a:rPr lang="en-US" dirty="0"/>
              <a:t> </a:t>
            </a:r>
          </a:p>
          <a:p>
            <a:r>
              <a:rPr lang="en-US" dirty="0"/>
              <a:t>If Alice wants to continue the channel for further micropayments, she will give </a:t>
            </a:r>
            <a:r>
              <a:rPr lang="en-US" dirty="0" err="1"/>
              <a:t>r_a</a:t>
            </a:r>
            <a:r>
              <a:rPr lang="en-US" dirty="0"/>
              <a:t> to Bob</a:t>
            </a:r>
          </a:p>
          <a:p>
            <a:r>
              <a:rPr lang="en-US" dirty="0"/>
              <a:t>Once Bob knows </a:t>
            </a:r>
            <a:r>
              <a:rPr lang="en-US" dirty="0" err="1"/>
              <a:t>r_a</a:t>
            </a:r>
            <a:r>
              <a:rPr lang="en-US" dirty="0"/>
              <a:t>, he gets the private key: r=</a:t>
            </a:r>
            <a:r>
              <a:rPr lang="en-US" dirty="0" err="1"/>
              <a:t>r_a+r_b</a:t>
            </a:r>
            <a:r>
              <a:rPr lang="en-US" dirty="0"/>
              <a:t> </a:t>
            </a:r>
          </a:p>
          <a:p>
            <a:pPr lvl="1"/>
            <a:r>
              <a:rPr lang="en-US" dirty="0"/>
              <a:t>Bob can easily check if the key provided by Alice is correct by generating R</a:t>
            </a:r>
          </a:p>
          <a:p>
            <a:r>
              <a:rPr lang="en-US" dirty="0"/>
              <a:t>If Alice tries to publish C1a, Bob can claim her funds too</a:t>
            </a:r>
          </a:p>
          <a:p>
            <a:r>
              <a:rPr lang="en-US" dirty="0"/>
              <a:t>Alice does not know r because Bob never reveals </a:t>
            </a:r>
            <a:r>
              <a:rPr lang="en-US" dirty="0" err="1"/>
              <a:t>r_b</a:t>
            </a:r>
            <a:endParaRPr lang="en-US" dirty="0"/>
          </a:p>
          <a:p>
            <a:r>
              <a:rPr lang="en-US" dirty="0"/>
              <a:t>Now, Bob is safe to move forward and constructs C2a for Alice</a:t>
            </a:r>
          </a:p>
          <a:p>
            <a:r>
              <a:rPr lang="en-US" dirty="0"/>
              <a:t>Alice has no incentive to publish C1a because she will lose all her funds </a:t>
            </a:r>
          </a:p>
          <a:p>
            <a:r>
              <a:rPr lang="en-US" dirty="0"/>
              <a:t>This effectively revokes C1a</a:t>
            </a:r>
          </a:p>
          <a:p>
            <a:endParaRPr lang="en-US" dirty="0"/>
          </a:p>
          <a:p>
            <a:endParaRPr lang="en-US" dirty="0"/>
          </a:p>
        </p:txBody>
      </p:sp>
      <p:sp>
        <p:nvSpPr>
          <p:cNvPr id="4" name="Slide Number Placeholder 3">
            <a:extLst>
              <a:ext uri="{FF2B5EF4-FFF2-40B4-BE49-F238E27FC236}">
                <a16:creationId xmlns:a16="http://schemas.microsoft.com/office/drawing/2014/main" id="{7139832F-7551-223F-801D-F327B078C976}"/>
              </a:ext>
            </a:extLst>
          </p:cNvPr>
          <p:cNvSpPr>
            <a:spLocks noGrp="1"/>
          </p:cNvSpPr>
          <p:nvPr>
            <p:ph type="sldNum" sz="quarter" idx="12"/>
          </p:nvPr>
        </p:nvSpPr>
        <p:spPr/>
        <p:txBody>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404761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1D3E-4F96-CD15-0C9F-E82AC3A15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7CCA9-E433-C1E8-F41A-916685E4525D}"/>
              </a:ext>
            </a:extLst>
          </p:cNvPr>
          <p:cNvSpPr>
            <a:spLocks noGrp="1"/>
          </p:cNvSpPr>
          <p:nvPr>
            <p:ph type="title"/>
          </p:nvPr>
        </p:nvSpPr>
        <p:spPr/>
        <p:txBody>
          <a:bodyPr/>
          <a:lstStyle/>
          <a:p>
            <a:r>
              <a:rPr lang="en-US" dirty="0"/>
              <a:t>The Complete Picture</a:t>
            </a:r>
          </a:p>
        </p:txBody>
      </p:sp>
      <p:sp>
        <p:nvSpPr>
          <p:cNvPr id="4" name="Slide Number Placeholder 3">
            <a:extLst>
              <a:ext uri="{FF2B5EF4-FFF2-40B4-BE49-F238E27FC236}">
                <a16:creationId xmlns:a16="http://schemas.microsoft.com/office/drawing/2014/main" id="{E1409C55-BA9B-506C-A8C5-E351B2B80DBB}"/>
              </a:ext>
            </a:extLst>
          </p:cNvPr>
          <p:cNvSpPr>
            <a:spLocks noGrp="1"/>
          </p:cNvSpPr>
          <p:nvPr>
            <p:ph type="sldNum" sz="quarter" idx="12"/>
          </p:nvPr>
        </p:nvSpPr>
        <p:spPr/>
        <p:txBody>
          <a:bodyPr/>
          <a:lstStyle/>
          <a:p>
            <a:fld id="{D57F1E4F-1CFF-5643-939E-217C01CDF565}" type="slidenum">
              <a:rPr lang="en-US" smtClean="0"/>
              <a:pPr/>
              <a:t>57</a:t>
            </a:fld>
            <a:endParaRPr lang="en-US" dirty="0"/>
          </a:p>
        </p:txBody>
      </p:sp>
      <p:sp>
        <p:nvSpPr>
          <p:cNvPr id="7" name="Oval 6">
            <a:extLst>
              <a:ext uri="{FF2B5EF4-FFF2-40B4-BE49-F238E27FC236}">
                <a16:creationId xmlns:a16="http://schemas.microsoft.com/office/drawing/2014/main" id="{7841A9F8-22B0-FEA1-66D5-0716F2DA013C}"/>
              </a:ext>
            </a:extLst>
          </p:cNvPr>
          <p:cNvSpPr/>
          <p:nvPr/>
        </p:nvSpPr>
        <p:spPr>
          <a:xfrm>
            <a:off x="3388970" y="1809867"/>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3306263-D05B-AB45-F6C2-216624359A50}"/>
              </a:ext>
            </a:extLst>
          </p:cNvPr>
          <p:cNvSpPr/>
          <p:nvPr/>
        </p:nvSpPr>
        <p:spPr>
          <a:xfrm>
            <a:off x="3388970" y="2419464"/>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C42585C-83AD-1B88-0F26-4212DE97333D}"/>
              </a:ext>
            </a:extLst>
          </p:cNvPr>
          <p:cNvSpPr/>
          <p:nvPr/>
        </p:nvSpPr>
        <p:spPr>
          <a:xfrm>
            <a:off x="4263434" y="2064980"/>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0926B083-2013-4FC2-4646-24CDC3D43C09}"/>
              </a:ext>
            </a:extLst>
          </p:cNvPr>
          <p:cNvGrpSpPr/>
          <p:nvPr/>
        </p:nvGrpSpPr>
        <p:grpSpPr>
          <a:xfrm rot="18889939">
            <a:off x="5209746" y="2110227"/>
            <a:ext cx="426586" cy="426576"/>
            <a:chOff x="7271329" y="4587629"/>
            <a:chExt cx="426586" cy="426576"/>
          </a:xfrm>
        </p:grpSpPr>
        <p:sp>
          <p:nvSpPr>
            <p:cNvPr id="21" name="Freeform: Shape 20">
              <a:extLst>
                <a:ext uri="{FF2B5EF4-FFF2-40B4-BE49-F238E27FC236}">
                  <a16:creationId xmlns:a16="http://schemas.microsoft.com/office/drawing/2014/main" id="{94600F7D-C6ED-DFAA-7701-EA75853D51A7}"/>
                </a:ext>
              </a:extLst>
            </p:cNvPr>
            <p:cNvSpPr/>
            <p:nvPr/>
          </p:nvSpPr>
          <p:spPr>
            <a:xfrm>
              <a:off x="7271329" y="4587629"/>
              <a:ext cx="213288" cy="426575"/>
            </a:xfrm>
            <a:custGeom>
              <a:avLst/>
              <a:gdLst>
                <a:gd name="connsiteX0" fmla="*/ 213287 w 213288"/>
                <a:gd name="connsiteY0" fmla="*/ 0 h 426575"/>
                <a:gd name="connsiteX1" fmla="*/ 213288 w 213288"/>
                <a:gd name="connsiteY1" fmla="*/ 0 h 426575"/>
                <a:gd name="connsiteX2" fmla="*/ 213288 w 213288"/>
                <a:gd name="connsiteY2" fmla="*/ 426575 h 426575"/>
                <a:gd name="connsiteX3" fmla="*/ 213277 w 213288"/>
                <a:gd name="connsiteY3" fmla="*/ 426575 h 426575"/>
                <a:gd name="connsiteX4" fmla="*/ 170302 w 213288"/>
                <a:gd name="connsiteY4" fmla="*/ 422243 h 426575"/>
                <a:gd name="connsiteX5" fmla="*/ 4332 w 213288"/>
                <a:gd name="connsiteY5" fmla="*/ 256273 h 426575"/>
                <a:gd name="connsiteX6" fmla="*/ 0 w 213288"/>
                <a:gd name="connsiteY6" fmla="*/ 213298 h 426575"/>
                <a:gd name="connsiteX7" fmla="*/ 0 w 213288"/>
                <a:gd name="connsiteY7" fmla="*/ 213278 h 426575"/>
                <a:gd name="connsiteX8" fmla="*/ 4332 w 213288"/>
                <a:gd name="connsiteY8" fmla="*/ 170303 h 426575"/>
                <a:gd name="connsiteX9" fmla="*/ 213287 w 213288"/>
                <a:gd name="connsiteY9" fmla="*/ 0 h 42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288" h="426575">
                  <a:moveTo>
                    <a:pt x="213287" y="0"/>
                  </a:moveTo>
                  <a:lnTo>
                    <a:pt x="213288" y="0"/>
                  </a:lnTo>
                  <a:lnTo>
                    <a:pt x="213288" y="426575"/>
                  </a:lnTo>
                  <a:lnTo>
                    <a:pt x="213277" y="426575"/>
                  </a:lnTo>
                  <a:lnTo>
                    <a:pt x="170302" y="422243"/>
                  </a:lnTo>
                  <a:cubicBezTo>
                    <a:pt x="86995" y="405196"/>
                    <a:pt x="21380" y="339581"/>
                    <a:pt x="4332" y="256273"/>
                  </a:cubicBezTo>
                  <a:lnTo>
                    <a:pt x="0" y="213298"/>
                  </a:lnTo>
                  <a:lnTo>
                    <a:pt x="0" y="213278"/>
                  </a:lnTo>
                  <a:lnTo>
                    <a:pt x="4332" y="170303"/>
                  </a:lnTo>
                  <a:cubicBezTo>
                    <a:pt x="24221" y="73111"/>
                    <a:pt x="110216" y="0"/>
                    <a:pt x="213287" y="0"/>
                  </a:cubicBezTo>
                  <a:close/>
                </a:path>
              </a:pathLst>
            </a:cu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FF71348E-A668-C13B-D3FF-E26C36F1C890}"/>
                </a:ext>
              </a:extLst>
            </p:cNvPr>
            <p:cNvSpPr/>
            <p:nvPr/>
          </p:nvSpPr>
          <p:spPr>
            <a:xfrm>
              <a:off x="7484617" y="4587629"/>
              <a:ext cx="213298" cy="426576"/>
            </a:xfrm>
            <a:custGeom>
              <a:avLst/>
              <a:gdLst>
                <a:gd name="connsiteX0" fmla="*/ 11 w 213298"/>
                <a:gd name="connsiteY0" fmla="*/ 0 h 426576"/>
                <a:gd name="connsiteX1" fmla="*/ 42995 w 213298"/>
                <a:gd name="connsiteY1" fmla="*/ 4333 h 426576"/>
                <a:gd name="connsiteX2" fmla="*/ 213298 w 213298"/>
                <a:gd name="connsiteY2" fmla="*/ 213288 h 426576"/>
                <a:gd name="connsiteX3" fmla="*/ 10 w 213298"/>
                <a:gd name="connsiteY3" fmla="*/ 426576 h 426576"/>
                <a:gd name="connsiteX4" fmla="*/ 0 w 213298"/>
                <a:gd name="connsiteY4" fmla="*/ 426575 h 426576"/>
                <a:gd name="connsiteX5" fmla="*/ 11 w 213298"/>
                <a:gd name="connsiteY5" fmla="*/ 426575 h 426576"/>
                <a:gd name="connsiteX6" fmla="*/ 11 w 213298"/>
                <a:gd name="connsiteY6" fmla="*/ 0 h 42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298" h="426576">
                  <a:moveTo>
                    <a:pt x="11" y="0"/>
                  </a:moveTo>
                  <a:lnTo>
                    <a:pt x="42995" y="4333"/>
                  </a:lnTo>
                  <a:cubicBezTo>
                    <a:pt x="140187" y="24222"/>
                    <a:pt x="213298" y="110217"/>
                    <a:pt x="213298" y="213288"/>
                  </a:cubicBezTo>
                  <a:cubicBezTo>
                    <a:pt x="213298" y="331084"/>
                    <a:pt x="117806" y="426576"/>
                    <a:pt x="10" y="426576"/>
                  </a:cubicBezTo>
                  <a:lnTo>
                    <a:pt x="0" y="426575"/>
                  </a:lnTo>
                  <a:lnTo>
                    <a:pt x="11" y="426575"/>
                  </a:lnTo>
                  <a:lnTo>
                    <a:pt x="11" y="0"/>
                  </a:lnTo>
                  <a:close/>
                </a:path>
              </a:pathLst>
            </a:cu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4" name="Connector: Elbow 23">
            <a:extLst>
              <a:ext uri="{FF2B5EF4-FFF2-40B4-BE49-F238E27FC236}">
                <a16:creationId xmlns:a16="http://schemas.microsoft.com/office/drawing/2014/main" id="{1DB2D799-4194-AF10-94B3-980E47C33C1A}"/>
              </a:ext>
            </a:extLst>
          </p:cNvPr>
          <p:cNvCxnSpPr>
            <a:cxnSpLocks/>
            <a:stCxn id="7" idx="6"/>
          </p:cNvCxnSpPr>
          <p:nvPr/>
        </p:nvCxnSpPr>
        <p:spPr>
          <a:xfrm>
            <a:off x="3815545" y="2023155"/>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C7CEC705-B5F5-DFD9-CFF7-A9E0EBD9B5B3}"/>
              </a:ext>
            </a:extLst>
          </p:cNvPr>
          <p:cNvCxnSpPr>
            <a:cxnSpLocks/>
          </p:cNvCxnSpPr>
          <p:nvPr/>
        </p:nvCxnSpPr>
        <p:spPr>
          <a:xfrm flipV="1">
            <a:off x="3822984" y="2419464"/>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0E26589-3C6E-DC0B-0500-A946AD85140E}"/>
              </a:ext>
            </a:extLst>
          </p:cNvPr>
          <p:cNvCxnSpPr>
            <a:stCxn id="9" idx="3"/>
          </p:cNvCxnSpPr>
          <p:nvPr/>
        </p:nvCxnSpPr>
        <p:spPr>
          <a:xfrm flipV="1">
            <a:off x="4831205" y="2348865"/>
            <a:ext cx="357184" cy="1"/>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F4188CA9-68E1-11BF-F9FF-1847E2E0CEDD}"/>
              </a:ext>
            </a:extLst>
          </p:cNvPr>
          <p:cNvPicPr>
            <a:picLocks noChangeAspect="1"/>
          </p:cNvPicPr>
          <p:nvPr/>
        </p:nvPicPr>
        <p:blipFill>
          <a:blip r:embed="rId2"/>
          <a:stretch>
            <a:fillRect/>
          </a:stretch>
        </p:blipFill>
        <p:spPr>
          <a:xfrm>
            <a:off x="5327552" y="2605592"/>
            <a:ext cx="292796" cy="304507"/>
          </a:xfrm>
          <a:prstGeom prst="rect">
            <a:avLst/>
          </a:prstGeom>
        </p:spPr>
      </p:pic>
      <p:sp>
        <p:nvSpPr>
          <p:cNvPr id="38" name="Rectangle 37">
            <a:extLst>
              <a:ext uri="{FF2B5EF4-FFF2-40B4-BE49-F238E27FC236}">
                <a16:creationId xmlns:a16="http://schemas.microsoft.com/office/drawing/2014/main" id="{3246E432-2095-0036-D4B7-D1699591F4F0}"/>
              </a:ext>
            </a:extLst>
          </p:cNvPr>
          <p:cNvSpPr/>
          <p:nvPr/>
        </p:nvSpPr>
        <p:spPr>
          <a:xfrm>
            <a:off x="6095945" y="2045324"/>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82895002-4803-E783-595A-96C3306F9041}"/>
              </a:ext>
            </a:extLst>
          </p:cNvPr>
          <p:cNvCxnSpPr/>
          <p:nvPr/>
        </p:nvCxnSpPr>
        <p:spPr>
          <a:xfrm flipV="1">
            <a:off x="5685897" y="2332844"/>
            <a:ext cx="357184" cy="1"/>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B250CB72-2C36-5937-3D95-8BF21FCA25E8}"/>
              </a:ext>
            </a:extLst>
          </p:cNvPr>
          <p:cNvCxnSpPr>
            <a:cxnSpLocks/>
          </p:cNvCxnSpPr>
          <p:nvPr/>
        </p:nvCxnSpPr>
        <p:spPr>
          <a:xfrm>
            <a:off x="6664159" y="2348865"/>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E8ECFD48-D4D8-29AE-9DA8-31C5610A0023}"/>
              </a:ext>
            </a:extLst>
          </p:cNvPr>
          <p:cNvCxnSpPr>
            <a:cxnSpLocks/>
          </p:cNvCxnSpPr>
          <p:nvPr/>
        </p:nvCxnSpPr>
        <p:spPr>
          <a:xfrm flipV="1">
            <a:off x="6664159" y="2028111"/>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85826B60-73BA-C0EC-F2F1-C0EF0E29598F}"/>
              </a:ext>
            </a:extLst>
          </p:cNvPr>
          <p:cNvSpPr/>
          <p:nvPr/>
        </p:nvSpPr>
        <p:spPr>
          <a:xfrm>
            <a:off x="7131838" y="1746568"/>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F5C2252-E6E4-37C0-B5CD-D0AFD65247AA}"/>
              </a:ext>
            </a:extLst>
          </p:cNvPr>
          <p:cNvSpPr/>
          <p:nvPr/>
        </p:nvSpPr>
        <p:spPr>
          <a:xfrm>
            <a:off x="7158490" y="2345962"/>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2FE0706-73C0-F1D2-B7FC-69A386699BF2}"/>
              </a:ext>
            </a:extLst>
          </p:cNvPr>
          <p:cNvSpPr/>
          <p:nvPr/>
        </p:nvSpPr>
        <p:spPr>
          <a:xfrm>
            <a:off x="6095945" y="3402431"/>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onnector: Elbow 44">
            <a:extLst>
              <a:ext uri="{FF2B5EF4-FFF2-40B4-BE49-F238E27FC236}">
                <a16:creationId xmlns:a16="http://schemas.microsoft.com/office/drawing/2014/main" id="{96B10BFE-377D-85E1-638A-F468043C0261}"/>
              </a:ext>
            </a:extLst>
          </p:cNvPr>
          <p:cNvCxnSpPr>
            <a:cxnSpLocks/>
          </p:cNvCxnSpPr>
          <p:nvPr/>
        </p:nvCxnSpPr>
        <p:spPr>
          <a:xfrm>
            <a:off x="6664159" y="3696058"/>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44FD9A94-85D3-8E00-4792-B1168C1836FB}"/>
              </a:ext>
            </a:extLst>
          </p:cNvPr>
          <p:cNvCxnSpPr>
            <a:cxnSpLocks/>
          </p:cNvCxnSpPr>
          <p:nvPr/>
        </p:nvCxnSpPr>
        <p:spPr>
          <a:xfrm flipV="1">
            <a:off x="6664159" y="3375304"/>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2722563B-945F-7AB4-6DB2-16AD5DDE453F}"/>
              </a:ext>
            </a:extLst>
          </p:cNvPr>
          <p:cNvSpPr/>
          <p:nvPr/>
        </p:nvSpPr>
        <p:spPr>
          <a:xfrm>
            <a:off x="7131838" y="3093761"/>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8B72AF6F-A735-C8E2-57C2-A82D2D6DDB2E}"/>
              </a:ext>
            </a:extLst>
          </p:cNvPr>
          <p:cNvSpPr/>
          <p:nvPr/>
        </p:nvSpPr>
        <p:spPr>
          <a:xfrm>
            <a:off x="7158490" y="3693155"/>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679DEC5D-306A-6305-9599-5F687FA3AE23}"/>
              </a:ext>
            </a:extLst>
          </p:cNvPr>
          <p:cNvSpPr txBox="1"/>
          <p:nvPr/>
        </p:nvSpPr>
        <p:spPr>
          <a:xfrm>
            <a:off x="4129704" y="2631793"/>
            <a:ext cx="798617" cy="307777"/>
          </a:xfrm>
          <a:prstGeom prst="rect">
            <a:avLst/>
          </a:prstGeom>
          <a:noFill/>
        </p:spPr>
        <p:txBody>
          <a:bodyPr wrap="none" rtlCol="0">
            <a:spAutoFit/>
          </a:bodyPr>
          <a:lstStyle/>
          <a:p>
            <a:r>
              <a:rPr lang="en-US" sz="1400" dirty="0">
                <a:latin typeface="Candara" panose="020E0502030303020204" pitchFamily="34" charset="0"/>
              </a:rPr>
              <a:t>Funding</a:t>
            </a:r>
          </a:p>
        </p:txBody>
      </p:sp>
      <p:sp>
        <p:nvSpPr>
          <p:cNvPr id="75" name="TextBox 74">
            <a:extLst>
              <a:ext uri="{FF2B5EF4-FFF2-40B4-BE49-F238E27FC236}">
                <a16:creationId xmlns:a16="http://schemas.microsoft.com/office/drawing/2014/main" id="{5654BAD3-9D51-88A0-26AD-B770B0C7434D}"/>
              </a:ext>
            </a:extLst>
          </p:cNvPr>
          <p:cNvSpPr txBox="1"/>
          <p:nvPr/>
        </p:nvSpPr>
        <p:spPr>
          <a:xfrm>
            <a:off x="5867580" y="2666150"/>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76" name="TextBox 75">
            <a:extLst>
              <a:ext uri="{FF2B5EF4-FFF2-40B4-BE49-F238E27FC236}">
                <a16:creationId xmlns:a16="http://schemas.microsoft.com/office/drawing/2014/main" id="{30DFD39A-3754-D736-E216-89765480E99C}"/>
              </a:ext>
            </a:extLst>
          </p:cNvPr>
          <p:cNvSpPr txBox="1"/>
          <p:nvPr/>
        </p:nvSpPr>
        <p:spPr>
          <a:xfrm>
            <a:off x="5864489" y="4062366"/>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77" name="TextBox 76">
            <a:extLst>
              <a:ext uri="{FF2B5EF4-FFF2-40B4-BE49-F238E27FC236}">
                <a16:creationId xmlns:a16="http://schemas.microsoft.com/office/drawing/2014/main" id="{B0BD3B88-7E9A-1EDA-55E8-5D08982DF045}"/>
              </a:ext>
            </a:extLst>
          </p:cNvPr>
          <p:cNvSpPr txBox="1"/>
          <p:nvPr/>
        </p:nvSpPr>
        <p:spPr>
          <a:xfrm>
            <a:off x="2811500" y="1880537"/>
            <a:ext cx="548548" cy="307777"/>
          </a:xfrm>
          <a:prstGeom prst="rect">
            <a:avLst/>
          </a:prstGeom>
          <a:noFill/>
        </p:spPr>
        <p:txBody>
          <a:bodyPr wrap="none" rtlCol="0">
            <a:spAutoFit/>
          </a:bodyPr>
          <a:lstStyle/>
          <a:p>
            <a:r>
              <a:rPr lang="en-US" sz="1400" dirty="0">
                <a:latin typeface="Candara" panose="020E0502030303020204" pitchFamily="34" charset="0"/>
              </a:rPr>
              <a:t>Alice</a:t>
            </a:r>
          </a:p>
        </p:txBody>
      </p:sp>
      <p:sp>
        <p:nvSpPr>
          <p:cNvPr id="78" name="TextBox 77">
            <a:extLst>
              <a:ext uri="{FF2B5EF4-FFF2-40B4-BE49-F238E27FC236}">
                <a16:creationId xmlns:a16="http://schemas.microsoft.com/office/drawing/2014/main" id="{68A4D389-1971-D304-16A7-E696D0071D52}"/>
              </a:ext>
            </a:extLst>
          </p:cNvPr>
          <p:cNvSpPr txBox="1"/>
          <p:nvPr/>
        </p:nvSpPr>
        <p:spPr>
          <a:xfrm>
            <a:off x="2879697" y="2519140"/>
            <a:ext cx="490840" cy="307777"/>
          </a:xfrm>
          <a:prstGeom prst="rect">
            <a:avLst/>
          </a:prstGeom>
          <a:noFill/>
        </p:spPr>
        <p:txBody>
          <a:bodyPr wrap="none" rtlCol="0">
            <a:spAutoFit/>
          </a:bodyPr>
          <a:lstStyle/>
          <a:p>
            <a:r>
              <a:rPr lang="en-US" sz="1400" dirty="0">
                <a:latin typeface="Candara" panose="020E0502030303020204" pitchFamily="34" charset="0"/>
              </a:rPr>
              <a:t>Bob</a:t>
            </a:r>
          </a:p>
        </p:txBody>
      </p:sp>
      <p:sp>
        <p:nvSpPr>
          <p:cNvPr id="83" name="TextBox 82">
            <a:extLst>
              <a:ext uri="{FF2B5EF4-FFF2-40B4-BE49-F238E27FC236}">
                <a16:creationId xmlns:a16="http://schemas.microsoft.com/office/drawing/2014/main" id="{334FBE1D-7BD7-0334-0B1C-F6F76DBD1AC7}"/>
              </a:ext>
            </a:extLst>
          </p:cNvPr>
          <p:cNvSpPr txBox="1"/>
          <p:nvPr/>
        </p:nvSpPr>
        <p:spPr>
          <a:xfrm>
            <a:off x="3719699" y="1672958"/>
            <a:ext cx="654346" cy="261610"/>
          </a:xfrm>
          <a:prstGeom prst="rect">
            <a:avLst/>
          </a:prstGeom>
          <a:noFill/>
        </p:spPr>
        <p:txBody>
          <a:bodyPr wrap="none" rtlCol="0">
            <a:spAutoFit/>
          </a:bodyPr>
          <a:lstStyle/>
          <a:p>
            <a:r>
              <a:rPr lang="en-US" sz="1100" dirty="0">
                <a:latin typeface="Candara" panose="020E0502030303020204" pitchFamily="34" charset="0"/>
              </a:rPr>
              <a:t>100,000</a:t>
            </a:r>
          </a:p>
        </p:txBody>
      </p:sp>
      <p:sp>
        <p:nvSpPr>
          <p:cNvPr id="84" name="TextBox 83">
            <a:extLst>
              <a:ext uri="{FF2B5EF4-FFF2-40B4-BE49-F238E27FC236}">
                <a16:creationId xmlns:a16="http://schemas.microsoft.com/office/drawing/2014/main" id="{8098FA54-DFC9-7815-2567-C231A899C62F}"/>
              </a:ext>
            </a:extLst>
          </p:cNvPr>
          <p:cNvSpPr txBox="1"/>
          <p:nvPr/>
        </p:nvSpPr>
        <p:spPr>
          <a:xfrm>
            <a:off x="3753024" y="2614850"/>
            <a:ext cx="261610" cy="261610"/>
          </a:xfrm>
          <a:prstGeom prst="rect">
            <a:avLst/>
          </a:prstGeom>
          <a:noFill/>
        </p:spPr>
        <p:txBody>
          <a:bodyPr wrap="none" rtlCol="0">
            <a:spAutoFit/>
          </a:bodyPr>
          <a:lstStyle/>
          <a:p>
            <a:r>
              <a:rPr lang="en-US" sz="1100" dirty="0">
                <a:latin typeface="Candara" panose="020E0502030303020204" pitchFamily="34" charset="0"/>
              </a:rPr>
              <a:t>0</a:t>
            </a:r>
          </a:p>
        </p:txBody>
      </p:sp>
      <p:sp>
        <p:nvSpPr>
          <p:cNvPr id="85" name="TextBox 84">
            <a:extLst>
              <a:ext uri="{FF2B5EF4-FFF2-40B4-BE49-F238E27FC236}">
                <a16:creationId xmlns:a16="http://schemas.microsoft.com/office/drawing/2014/main" id="{A2D344F8-47FA-BC66-E3F7-F0FAF41617BF}"/>
              </a:ext>
            </a:extLst>
          </p:cNvPr>
          <p:cNvSpPr txBox="1"/>
          <p:nvPr/>
        </p:nvSpPr>
        <p:spPr>
          <a:xfrm>
            <a:off x="6467013" y="1740213"/>
            <a:ext cx="654346" cy="261610"/>
          </a:xfrm>
          <a:prstGeom prst="rect">
            <a:avLst/>
          </a:prstGeom>
          <a:noFill/>
        </p:spPr>
        <p:txBody>
          <a:bodyPr wrap="none" rtlCol="0">
            <a:spAutoFit/>
          </a:bodyPr>
          <a:lstStyle/>
          <a:p>
            <a:r>
              <a:rPr lang="en-US" sz="1100" dirty="0">
                <a:latin typeface="Candara" panose="020E0502030303020204" pitchFamily="34" charset="0"/>
              </a:rPr>
              <a:t>100,000</a:t>
            </a:r>
          </a:p>
        </p:txBody>
      </p:sp>
      <p:sp>
        <p:nvSpPr>
          <p:cNvPr id="86" name="TextBox 85">
            <a:extLst>
              <a:ext uri="{FF2B5EF4-FFF2-40B4-BE49-F238E27FC236}">
                <a16:creationId xmlns:a16="http://schemas.microsoft.com/office/drawing/2014/main" id="{5AD2E823-D2D6-F51D-5C30-A25DD4CC44C8}"/>
              </a:ext>
            </a:extLst>
          </p:cNvPr>
          <p:cNvSpPr txBox="1"/>
          <p:nvPr/>
        </p:nvSpPr>
        <p:spPr>
          <a:xfrm>
            <a:off x="6805435" y="2511281"/>
            <a:ext cx="261610" cy="261610"/>
          </a:xfrm>
          <a:prstGeom prst="rect">
            <a:avLst/>
          </a:prstGeom>
          <a:noFill/>
        </p:spPr>
        <p:txBody>
          <a:bodyPr wrap="none" rtlCol="0">
            <a:spAutoFit/>
          </a:bodyPr>
          <a:lstStyle/>
          <a:p>
            <a:r>
              <a:rPr lang="en-US" sz="1100" dirty="0">
                <a:latin typeface="Candara" panose="020E0502030303020204" pitchFamily="34" charset="0"/>
              </a:rPr>
              <a:t>0</a:t>
            </a:r>
          </a:p>
        </p:txBody>
      </p:sp>
      <p:sp>
        <p:nvSpPr>
          <p:cNvPr id="87" name="TextBox 86">
            <a:extLst>
              <a:ext uri="{FF2B5EF4-FFF2-40B4-BE49-F238E27FC236}">
                <a16:creationId xmlns:a16="http://schemas.microsoft.com/office/drawing/2014/main" id="{CB0C9D64-5692-FE20-33B1-A03B9ED68745}"/>
              </a:ext>
            </a:extLst>
          </p:cNvPr>
          <p:cNvSpPr txBox="1"/>
          <p:nvPr/>
        </p:nvSpPr>
        <p:spPr>
          <a:xfrm>
            <a:off x="6527185" y="3080724"/>
            <a:ext cx="604653" cy="261610"/>
          </a:xfrm>
          <a:prstGeom prst="rect">
            <a:avLst/>
          </a:prstGeom>
          <a:noFill/>
        </p:spPr>
        <p:txBody>
          <a:bodyPr wrap="none" rtlCol="0">
            <a:spAutoFit/>
          </a:bodyPr>
          <a:lstStyle/>
          <a:p>
            <a:r>
              <a:rPr lang="en-US" sz="1100" dirty="0">
                <a:latin typeface="Candara" panose="020E0502030303020204" pitchFamily="34" charset="0"/>
              </a:rPr>
              <a:t>98,000</a:t>
            </a:r>
          </a:p>
        </p:txBody>
      </p:sp>
      <p:sp>
        <p:nvSpPr>
          <p:cNvPr id="88" name="TextBox 87">
            <a:extLst>
              <a:ext uri="{FF2B5EF4-FFF2-40B4-BE49-F238E27FC236}">
                <a16:creationId xmlns:a16="http://schemas.microsoft.com/office/drawing/2014/main" id="{C86DA81E-272C-9036-8358-1967E83C4D35}"/>
              </a:ext>
            </a:extLst>
          </p:cNvPr>
          <p:cNvSpPr txBox="1"/>
          <p:nvPr/>
        </p:nvSpPr>
        <p:spPr>
          <a:xfrm>
            <a:off x="6646138" y="3906442"/>
            <a:ext cx="481222" cy="261610"/>
          </a:xfrm>
          <a:prstGeom prst="rect">
            <a:avLst/>
          </a:prstGeom>
          <a:noFill/>
        </p:spPr>
        <p:txBody>
          <a:bodyPr wrap="none" rtlCol="0">
            <a:spAutoFit/>
          </a:bodyPr>
          <a:lstStyle/>
          <a:p>
            <a:r>
              <a:rPr lang="en-US" sz="1100" dirty="0">
                <a:latin typeface="Candara" panose="020E0502030303020204" pitchFamily="34" charset="0"/>
              </a:rPr>
              <a:t>2000</a:t>
            </a:r>
          </a:p>
        </p:txBody>
      </p:sp>
      <p:sp>
        <p:nvSpPr>
          <p:cNvPr id="97" name="Rectangle 96">
            <a:extLst>
              <a:ext uri="{FF2B5EF4-FFF2-40B4-BE49-F238E27FC236}">
                <a16:creationId xmlns:a16="http://schemas.microsoft.com/office/drawing/2014/main" id="{28950A1A-DF1F-B7CC-5A45-B1DBAF4A5EF0}"/>
              </a:ext>
            </a:extLst>
          </p:cNvPr>
          <p:cNvSpPr/>
          <p:nvPr/>
        </p:nvSpPr>
        <p:spPr>
          <a:xfrm>
            <a:off x="6177266" y="4645596"/>
            <a:ext cx="567771" cy="5677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Connector: Elbow 97">
            <a:extLst>
              <a:ext uri="{FF2B5EF4-FFF2-40B4-BE49-F238E27FC236}">
                <a16:creationId xmlns:a16="http://schemas.microsoft.com/office/drawing/2014/main" id="{24E8C71F-06C2-6C1B-17FD-51B4531C53FB}"/>
              </a:ext>
            </a:extLst>
          </p:cNvPr>
          <p:cNvCxnSpPr>
            <a:cxnSpLocks/>
          </p:cNvCxnSpPr>
          <p:nvPr/>
        </p:nvCxnSpPr>
        <p:spPr>
          <a:xfrm flipV="1">
            <a:off x="6745480" y="4618469"/>
            <a:ext cx="457200" cy="229501"/>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11FF5CDF-8B64-0E6D-8312-7023F9F89A04}"/>
              </a:ext>
            </a:extLst>
          </p:cNvPr>
          <p:cNvSpPr/>
          <p:nvPr/>
        </p:nvSpPr>
        <p:spPr>
          <a:xfrm>
            <a:off x="7213159" y="4336926"/>
            <a:ext cx="426575" cy="42657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F864CC7-D83E-B235-79F3-44FA38362E2B}"/>
              </a:ext>
            </a:extLst>
          </p:cNvPr>
          <p:cNvSpPr/>
          <p:nvPr/>
        </p:nvSpPr>
        <p:spPr>
          <a:xfrm>
            <a:off x="7239811" y="4936320"/>
            <a:ext cx="426575" cy="426575"/>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57C21D99-AEF1-DEFA-6BED-C82D64A01F40}"/>
              </a:ext>
            </a:extLst>
          </p:cNvPr>
          <p:cNvSpPr txBox="1"/>
          <p:nvPr/>
        </p:nvSpPr>
        <p:spPr>
          <a:xfrm>
            <a:off x="6727459" y="5149607"/>
            <a:ext cx="484428" cy="261610"/>
          </a:xfrm>
          <a:prstGeom prst="rect">
            <a:avLst/>
          </a:prstGeom>
          <a:noFill/>
        </p:spPr>
        <p:txBody>
          <a:bodyPr wrap="none" rtlCol="0">
            <a:spAutoFit/>
          </a:bodyPr>
          <a:lstStyle/>
          <a:p>
            <a:r>
              <a:rPr lang="en-US" sz="1100" dirty="0">
                <a:latin typeface="Candara" panose="020E0502030303020204" pitchFamily="34" charset="0"/>
              </a:rPr>
              <a:t>5000</a:t>
            </a:r>
          </a:p>
        </p:txBody>
      </p:sp>
      <p:cxnSp>
        <p:nvCxnSpPr>
          <p:cNvPr id="107" name="Connector: Elbow 106">
            <a:extLst>
              <a:ext uri="{FF2B5EF4-FFF2-40B4-BE49-F238E27FC236}">
                <a16:creationId xmlns:a16="http://schemas.microsoft.com/office/drawing/2014/main" id="{B079E704-C9B0-4460-954B-E84BF5C2BC04}"/>
              </a:ext>
            </a:extLst>
          </p:cNvPr>
          <p:cNvCxnSpPr>
            <a:cxnSpLocks/>
          </p:cNvCxnSpPr>
          <p:nvPr/>
        </p:nvCxnSpPr>
        <p:spPr>
          <a:xfrm>
            <a:off x="6776167" y="4957243"/>
            <a:ext cx="457200" cy="227819"/>
          </a:xfrm>
          <a:prstGeom prst="bentConnector3">
            <a:avLst>
              <a:gd name="adj1" fmla="val 50000"/>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F3AC2DCF-D641-C005-2E2F-F660574329E9}"/>
              </a:ext>
            </a:extLst>
          </p:cNvPr>
          <p:cNvSpPr txBox="1"/>
          <p:nvPr/>
        </p:nvSpPr>
        <p:spPr>
          <a:xfrm>
            <a:off x="5927400" y="5326582"/>
            <a:ext cx="1040670" cy="276999"/>
          </a:xfrm>
          <a:prstGeom prst="rect">
            <a:avLst/>
          </a:prstGeom>
          <a:noFill/>
        </p:spPr>
        <p:txBody>
          <a:bodyPr wrap="none" rtlCol="0">
            <a:spAutoFit/>
          </a:bodyPr>
          <a:lstStyle/>
          <a:p>
            <a:r>
              <a:rPr lang="en-US" sz="1200" dirty="0">
                <a:latin typeface="Candara" panose="020E0502030303020204" pitchFamily="34" charset="0"/>
              </a:rPr>
              <a:t>Commitment</a:t>
            </a:r>
          </a:p>
        </p:txBody>
      </p:sp>
      <p:sp>
        <p:nvSpPr>
          <p:cNvPr id="110" name="TextBox 109">
            <a:extLst>
              <a:ext uri="{FF2B5EF4-FFF2-40B4-BE49-F238E27FC236}">
                <a16:creationId xmlns:a16="http://schemas.microsoft.com/office/drawing/2014/main" id="{BCF5DD5D-8235-F668-7318-E3CB36611E1B}"/>
              </a:ext>
            </a:extLst>
          </p:cNvPr>
          <p:cNvSpPr txBox="1"/>
          <p:nvPr/>
        </p:nvSpPr>
        <p:spPr>
          <a:xfrm>
            <a:off x="6608506" y="4338846"/>
            <a:ext cx="596638" cy="261610"/>
          </a:xfrm>
          <a:prstGeom prst="rect">
            <a:avLst/>
          </a:prstGeom>
          <a:noFill/>
        </p:spPr>
        <p:txBody>
          <a:bodyPr wrap="none" rtlCol="0">
            <a:spAutoFit/>
          </a:bodyPr>
          <a:lstStyle/>
          <a:p>
            <a:r>
              <a:rPr lang="en-US" sz="1100" dirty="0">
                <a:latin typeface="Candara" panose="020E0502030303020204" pitchFamily="34" charset="0"/>
              </a:rPr>
              <a:t>95,000</a:t>
            </a:r>
          </a:p>
        </p:txBody>
      </p:sp>
      <p:pic>
        <p:nvPicPr>
          <p:cNvPr id="111" name="Picture 110">
            <a:extLst>
              <a:ext uri="{FF2B5EF4-FFF2-40B4-BE49-F238E27FC236}">
                <a16:creationId xmlns:a16="http://schemas.microsoft.com/office/drawing/2014/main" id="{5D7E8BCB-7C29-3D49-23F1-3B269D5884F9}"/>
              </a:ext>
            </a:extLst>
          </p:cNvPr>
          <p:cNvPicPr>
            <a:picLocks noChangeAspect="1"/>
          </p:cNvPicPr>
          <p:nvPr/>
        </p:nvPicPr>
        <p:blipFill>
          <a:blip r:embed="rId3"/>
          <a:stretch>
            <a:fillRect/>
          </a:stretch>
        </p:blipFill>
        <p:spPr>
          <a:xfrm>
            <a:off x="5657890" y="2466408"/>
            <a:ext cx="554784" cy="1371719"/>
          </a:xfrm>
          <a:prstGeom prst="rect">
            <a:avLst/>
          </a:prstGeom>
        </p:spPr>
      </p:pic>
      <p:pic>
        <p:nvPicPr>
          <p:cNvPr id="112" name="Picture 111">
            <a:extLst>
              <a:ext uri="{FF2B5EF4-FFF2-40B4-BE49-F238E27FC236}">
                <a16:creationId xmlns:a16="http://schemas.microsoft.com/office/drawing/2014/main" id="{629F8B9C-7ECD-80A6-0EE8-2F3AB9F46684}"/>
              </a:ext>
            </a:extLst>
          </p:cNvPr>
          <p:cNvPicPr>
            <a:picLocks noChangeAspect="1"/>
          </p:cNvPicPr>
          <p:nvPr/>
        </p:nvPicPr>
        <p:blipFill>
          <a:blip r:embed="rId4"/>
          <a:stretch>
            <a:fillRect/>
          </a:stretch>
        </p:blipFill>
        <p:spPr>
          <a:xfrm>
            <a:off x="5626792" y="2545174"/>
            <a:ext cx="676715" cy="2542252"/>
          </a:xfrm>
          <a:prstGeom prst="rect">
            <a:avLst/>
          </a:prstGeom>
        </p:spPr>
      </p:pic>
      <p:sp>
        <p:nvSpPr>
          <p:cNvPr id="3" name="Rectangle 2">
            <a:extLst>
              <a:ext uri="{FF2B5EF4-FFF2-40B4-BE49-F238E27FC236}">
                <a16:creationId xmlns:a16="http://schemas.microsoft.com/office/drawing/2014/main" id="{B2AC0B89-9D38-C9BC-35A6-94AE9C918341}"/>
              </a:ext>
            </a:extLst>
          </p:cNvPr>
          <p:cNvSpPr/>
          <p:nvPr/>
        </p:nvSpPr>
        <p:spPr>
          <a:xfrm>
            <a:off x="6093727" y="2041381"/>
            <a:ext cx="567771" cy="56777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76EA63F-AAF3-BC80-E35B-C1BE36148F8D}"/>
              </a:ext>
            </a:extLst>
          </p:cNvPr>
          <p:cNvSpPr/>
          <p:nvPr/>
        </p:nvSpPr>
        <p:spPr>
          <a:xfrm>
            <a:off x="7129620" y="1754657"/>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DDD29CD-76EA-EAD1-5937-C235C857967B}"/>
              </a:ext>
            </a:extLst>
          </p:cNvPr>
          <p:cNvSpPr/>
          <p:nvPr/>
        </p:nvSpPr>
        <p:spPr>
          <a:xfrm>
            <a:off x="7156272" y="2342019"/>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DF1F1FE-1035-D153-56D1-FBB9171C3B30}"/>
              </a:ext>
            </a:extLst>
          </p:cNvPr>
          <p:cNvSpPr/>
          <p:nvPr/>
        </p:nvSpPr>
        <p:spPr>
          <a:xfrm>
            <a:off x="6103218" y="3406425"/>
            <a:ext cx="567771" cy="56777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9B7F058-0054-4C81-904A-7D974A4395C1}"/>
              </a:ext>
            </a:extLst>
          </p:cNvPr>
          <p:cNvSpPr/>
          <p:nvPr/>
        </p:nvSpPr>
        <p:spPr>
          <a:xfrm>
            <a:off x="7139111" y="3095637"/>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F191D1D-64C4-E6FA-115A-D8B7103C9A25}"/>
              </a:ext>
            </a:extLst>
          </p:cNvPr>
          <p:cNvSpPr/>
          <p:nvPr/>
        </p:nvSpPr>
        <p:spPr>
          <a:xfrm>
            <a:off x="7153731" y="3695031"/>
            <a:ext cx="426575" cy="42657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60B09947-E083-3604-F1A5-4FBAFA6C9FD4}"/>
              </a:ext>
            </a:extLst>
          </p:cNvPr>
          <p:cNvCxnSpPr>
            <a:cxnSpLocks/>
          </p:cNvCxnSpPr>
          <p:nvPr/>
        </p:nvCxnSpPr>
        <p:spPr>
          <a:xfrm>
            <a:off x="6059209" y="1693992"/>
            <a:ext cx="1391033" cy="1255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A2B849-F341-E1A4-3751-47E1CB98BA80}"/>
              </a:ext>
            </a:extLst>
          </p:cNvPr>
          <p:cNvCxnSpPr>
            <a:cxnSpLocks/>
          </p:cNvCxnSpPr>
          <p:nvPr/>
        </p:nvCxnSpPr>
        <p:spPr>
          <a:xfrm>
            <a:off x="6068700" y="3047004"/>
            <a:ext cx="1391033" cy="1255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05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38"/>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42"/>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43"/>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44"/>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7"/>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48"/>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1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0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9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0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1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38" grpId="0" animBg="1"/>
      <p:bldP spid="38" grpId="1" animBg="1"/>
      <p:bldP spid="42" grpId="0" animBg="1"/>
      <p:bldP spid="42" grpId="1" animBg="1"/>
      <p:bldP spid="43" grpId="0" animBg="1"/>
      <p:bldP spid="43" grpId="1" animBg="1"/>
      <p:bldP spid="44" grpId="0" animBg="1"/>
      <p:bldP spid="44" grpId="1" animBg="1"/>
      <p:bldP spid="47" grpId="0" animBg="1"/>
      <p:bldP spid="47" grpId="1" animBg="1"/>
      <p:bldP spid="48" grpId="0" animBg="1"/>
      <p:bldP spid="48" grpId="1" animBg="1"/>
      <p:bldP spid="74" grpId="0"/>
      <p:bldP spid="75" grpId="0"/>
      <p:bldP spid="76" grpId="0"/>
      <p:bldP spid="77" grpId="0"/>
      <p:bldP spid="78" grpId="0"/>
      <p:bldP spid="83" grpId="0"/>
      <p:bldP spid="84" grpId="0"/>
      <p:bldP spid="85" grpId="0"/>
      <p:bldP spid="86" grpId="0"/>
      <p:bldP spid="87" grpId="0"/>
      <p:bldP spid="88" grpId="0"/>
      <p:bldP spid="97" grpId="0" animBg="1"/>
      <p:bldP spid="99" grpId="0" animBg="1"/>
      <p:bldP spid="100" grpId="0" animBg="1"/>
      <p:bldP spid="104" grpId="0"/>
      <p:bldP spid="109" grpId="0"/>
      <p:bldP spid="110" grpId="0"/>
      <p:bldP spid="3" grpId="0" animBg="1"/>
      <p:bldP spid="5" grpId="0" animBg="1"/>
      <p:bldP spid="6" grpId="0" animBg="1"/>
      <p:bldP spid="11" grpId="0" animBg="1"/>
      <p:bldP spid="12" grpId="0" animBg="1"/>
      <p:bldP spid="1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77B8-D033-8CF4-1BFF-AC5156140C02}"/>
              </a:ext>
            </a:extLst>
          </p:cNvPr>
          <p:cNvSpPr>
            <a:spLocks noGrp="1"/>
          </p:cNvSpPr>
          <p:nvPr>
            <p:ph type="title"/>
          </p:nvPr>
        </p:nvSpPr>
        <p:spPr/>
        <p:txBody>
          <a:bodyPr/>
          <a:lstStyle/>
          <a:p>
            <a:r>
              <a:rPr lang="en-US" dirty="0"/>
              <a:t>Watch Tower</a:t>
            </a:r>
          </a:p>
        </p:txBody>
      </p:sp>
      <p:sp>
        <p:nvSpPr>
          <p:cNvPr id="4" name="Slide Number Placeholder 3">
            <a:extLst>
              <a:ext uri="{FF2B5EF4-FFF2-40B4-BE49-F238E27FC236}">
                <a16:creationId xmlns:a16="http://schemas.microsoft.com/office/drawing/2014/main" id="{F713D74F-1BB3-3AFD-AED8-3E6D0BC6F86B}"/>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58</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E614853C-2422-C2A2-2CE8-B4121356A885}"/>
              </a:ext>
            </a:extLst>
          </p:cNvPr>
          <p:cNvSpPr txBox="1"/>
          <p:nvPr/>
        </p:nvSpPr>
        <p:spPr>
          <a:xfrm>
            <a:off x="1053296" y="1279835"/>
            <a:ext cx="9711159" cy="830997"/>
          </a:xfrm>
          <a:prstGeom prst="rect">
            <a:avLst/>
          </a:prstGeom>
          <a:noFill/>
        </p:spPr>
        <p:txBody>
          <a:bodyPr wrap="square">
            <a:spAutoFit/>
          </a:bodyPr>
          <a:lstStyle/>
          <a:p>
            <a:pPr algn="ctr"/>
            <a:r>
              <a:rPr lang="en-US" sz="2400" dirty="0">
                <a:latin typeface="Candara" panose="020E0502030303020204" pitchFamily="34" charset="0"/>
              </a:rPr>
              <a:t>If the honest party isn’t online when an outdated commitment is published, the cheater can wait out the time lock and steal the funds </a:t>
            </a:r>
          </a:p>
        </p:txBody>
      </p:sp>
      <p:sp>
        <p:nvSpPr>
          <p:cNvPr id="8" name="TextBox 7">
            <a:extLst>
              <a:ext uri="{FF2B5EF4-FFF2-40B4-BE49-F238E27FC236}">
                <a16:creationId xmlns:a16="http://schemas.microsoft.com/office/drawing/2014/main" id="{4FD56B20-F9E4-164D-C42D-4CB46AF38E2E}"/>
              </a:ext>
            </a:extLst>
          </p:cNvPr>
          <p:cNvSpPr txBox="1"/>
          <p:nvPr/>
        </p:nvSpPr>
        <p:spPr>
          <a:xfrm>
            <a:off x="2398708" y="2769508"/>
            <a:ext cx="7020334" cy="830997"/>
          </a:xfrm>
          <a:prstGeom prst="rect">
            <a:avLst/>
          </a:prstGeom>
          <a:noFill/>
        </p:spPr>
        <p:txBody>
          <a:bodyPr wrap="square">
            <a:spAutoFit/>
          </a:bodyPr>
          <a:lstStyle/>
          <a:p>
            <a:pPr algn="ctr"/>
            <a:r>
              <a:rPr lang="en-US" sz="2400" dirty="0">
                <a:latin typeface="Candara" panose="020E0502030303020204" pitchFamily="34" charset="0"/>
              </a:rPr>
              <a:t>Job of monitoring the blockchain can be outsourced to a dedicated service called a watchtower</a:t>
            </a:r>
          </a:p>
        </p:txBody>
      </p:sp>
      <p:sp>
        <p:nvSpPr>
          <p:cNvPr id="10" name="TextBox 9">
            <a:extLst>
              <a:ext uri="{FF2B5EF4-FFF2-40B4-BE49-F238E27FC236}">
                <a16:creationId xmlns:a16="http://schemas.microsoft.com/office/drawing/2014/main" id="{41A78311-53F7-9E16-3727-6DD866FC2373}"/>
              </a:ext>
            </a:extLst>
          </p:cNvPr>
          <p:cNvSpPr txBox="1"/>
          <p:nvPr/>
        </p:nvSpPr>
        <p:spPr>
          <a:xfrm>
            <a:off x="1360358" y="4354889"/>
            <a:ext cx="9259746" cy="1200329"/>
          </a:xfrm>
          <a:prstGeom prst="rect">
            <a:avLst/>
          </a:prstGeom>
          <a:noFill/>
        </p:spPr>
        <p:txBody>
          <a:bodyPr wrap="square">
            <a:spAutoFit/>
          </a:bodyPr>
          <a:lstStyle/>
          <a:p>
            <a:pPr algn="ctr"/>
            <a:r>
              <a:rPr lang="en-US" sz="2400" dirty="0">
                <a:latin typeface="Candara" panose="020E0502030303020204" pitchFamily="34" charset="0"/>
              </a:rPr>
              <a:t>With payment channels, revocation mechanism, and watchtowers in place, Bitcoin can be securely used for micropayments while avoiding the high on-chain fees for every transaction</a:t>
            </a:r>
          </a:p>
        </p:txBody>
      </p:sp>
    </p:spTree>
    <p:extLst>
      <p:ext uri="{BB962C8B-B14F-4D97-AF65-F5344CB8AC3E}">
        <p14:creationId xmlns:p14="http://schemas.microsoft.com/office/powerpoint/2010/main" val="310486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3B2D5-F23A-6141-A9E1-9DB029FAC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F80D5-89DD-3FA0-4155-ECDFF1D15C78}"/>
              </a:ext>
            </a:extLst>
          </p:cNvPr>
          <p:cNvSpPr>
            <a:spLocks noGrp="1"/>
          </p:cNvSpPr>
          <p:nvPr>
            <p:ph type="title"/>
          </p:nvPr>
        </p:nvSpPr>
        <p:spPr/>
        <p:txBody>
          <a:bodyPr/>
          <a:lstStyle/>
          <a:p>
            <a:r>
              <a:rPr lang="en-US" dirty="0"/>
              <a:t>Time locks</a:t>
            </a:r>
          </a:p>
        </p:txBody>
      </p:sp>
      <p:sp>
        <p:nvSpPr>
          <p:cNvPr id="4" name="Slide Number Placeholder 3">
            <a:extLst>
              <a:ext uri="{FF2B5EF4-FFF2-40B4-BE49-F238E27FC236}">
                <a16:creationId xmlns:a16="http://schemas.microsoft.com/office/drawing/2014/main" id="{949210F6-227B-C6EA-470C-EDB06B337A46}"/>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59</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16DBFC35-8390-5596-0153-5EFB4497D243}"/>
              </a:ext>
            </a:extLst>
          </p:cNvPr>
          <p:cNvSpPr txBox="1"/>
          <p:nvPr/>
        </p:nvSpPr>
        <p:spPr>
          <a:xfrm>
            <a:off x="697089" y="964009"/>
            <a:ext cx="10797822" cy="156966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7030A0"/>
                </a:solidFill>
                <a:latin typeface="Candara" panose="020E0502030303020204" pitchFamily="34" charset="0"/>
              </a:rPr>
              <a:t>Time locks are encumbrance that stop a transaction or its output from being confirmed or spent until a certain time or block height is reached</a:t>
            </a:r>
          </a:p>
          <a:p>
            <a:pPr marL="342900" indent="-342900">
              <a:buFont typeface="Arial" panose="020B0604020202020204" pitchFamily="34" charset="0"/>
              <a:buChar char="•"/>
            </a:pPr>
            <a:r>
              <a:rPr lang="en-US" sz="2400" dirty="0">
                <a:latin typeface="Candara" panose="020E0502030303020204" pitchFamily="34" charset="0"/>
              </a:rPr>
              <a:t>Absolute time lock: Locks until a specific block height or time </a:t>
            </a:r>
          </a:p>
          <a:p>
            <a:pPr marL="342900" indent="-342900">
              <a:buFont typeface="Arial" panose="020B0604020202020204" pitchFamily="34" charset="0"/>
              <a:buChar char="•"/>
            </a:pPr>
            <a:r>
              <a:rPr lang="en-US" sz="2400" dirty="0">
                <a:latin typeface="Candara" panose="020E0502030303020204" pitchFamily="34" charset="0"/>
              </a:rPr>
              <a:t>Relative time lock: Locks for a period of time after confirmation </a:t>
            </a:r>
          </a:p>
        </p:txBody>
      </p:sp>
      <p:sp>
        <p:nvSpPr>
          <p:cNvPr id="7" name="Rectangle 6">
            <a:extLst>
              <a:ext uri="{FF2B5EF4-FFF2-40B4-BE49-F238E27FC236}">
                <a16:creationId xmlns:a16="http://schemas.microsoft.com/office/drawing/2014/main" id="{CCBAEC4F-1D35-4F6D-7128-B484C9431E8B}"/>
              </a:ext>
            </a:extLst>
          </p:cNvPr>
          <p:cNvSpPr/>
          <p:nvPr/>
        </p:nvSpPr>
        <p:spPr>
          <a:xfrm>
            <a:off x="7897703" y="2741738"/>
            <a:ext cx="2743200" cy="118872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Candara" panose="020E0502030303020204" pitchFamily="34" charset="0"/>
              </a:rPr>
              <a:t>Relative Time lock</a:t>
            </a:r>
          </a:p>
        </p:txBody>
      </p:sp>
      <p:sp>
        <p:nvSpPr>
          <p:cNvPr id="8" name="Rectangle 7">
            <a:extLst>
              <a:ext uri="{FF2B5EF4-FFF2-40B4-BE49-F238E27FC236}">
                <a16:creationId xmlns:a16="http://schemas.microsoft.com/office/drawing/2014/main" id="{E4655426-0C5F-4D6C-7CDE-71BE10C990AA}"/>
              </a:ext>
            </a:extLst>
          </p:cNvPr>
          <p:cNvSpPr/>
          <p:nvPr/>
        </p:nvSpPr>
        <p:spPr>
          <a:xfrm>
            <a:off x="6522998" y="4808053"/>
            <a:ext cx="2468880" cy="164592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Candara" panose="020E0502030303020204" pitchFamily="34" charset="0"/>
              </a:rPr>
              <a:t>nSequence</a:t>
            </a:r>
            <a:endParaRPr lang="en-US" sz="1600" dirty="0">
              <a:latin typeface="Candara" panose="020E0502030303020204" pitchFamily="34" charset="0"/>
            </a:endParaRPr>
          </a:p>
          <a:p>
            <a:pPr algn="ctr"/>
            <a:r>
              <a:rPr lang="en-US" sz="1600" dirty="0">
                <a:latin typeface="Candara" panose="020E0502030303020204" pitchFamily="34" charset="0"/>
              </a:rPr>
              <a:t>Input level – </a:t>
            </a:r>
          </a:p>
          <a:p>
            <a:pPr algn="ctr"/>
            <a:r>
              <a:rPr lang="en-US" sz="1600" dirty="0">
                <a:latin typeface="Candara" panose="020E0502030303020204" pitchFamily="34" charset="0"/>
              </a:rPr>
              <a:t>Relative delay after confirmation</a:t>
            </a:r>
          </a:p>
        </p:txBody>
      </p:sp>
      <p:sp>
        <p:nvSpPr>
          <p:cNvPr id="10" name="Rectangle 9">
            <a:extLst>
              <a:ext uri="{FF2B5EF4-FFF2-40B4-BE49-F238E27FC236}">
                <a16:creationId xmlns:a16="http://schemas.microsoft.com/office/drawing/2014/main" id="{1F2E0922-CE69-1F84-027C-9E258498F928}"/>
              </a:ext>
            </a:extLst>
          </p:cNvPr>
          <p:cNvSpPr/>
          <p:nvPr/>
        </p:nvSpPr>
        <p:spPr>
          <a:xfrm>
            <a:off x="9442593" y="4816017"/>
            <a:ext cx="2468880" cy="164592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CHECKSEQUENCEVERIFY (CSV)</a:t>
            </a:r>
          </a:p>
          <a:p>
            <a:pPr algn="ctr"/>
            <a:r>
              <a:rPr lang="en-US" sz="1600" dirty="0">
                <a:latin typeface="Candara" panose="020E0502030303020204" pitchFamily="34" charset="0"/>
              </a:rPr>
              <a:t>Output level – </a:t>
            </a:r>
          </a:p>
          <a:p>
            <a:pPr algn="ctr"/>
            <a:r>
              <a:rPr lang="en-US" sz="1600" dirty="0">
                <a:latin typeface="Candara" panose="020E0502030303020204" pitchFamily="34" charset="0"/>
              </a:rPr>
              <a:t>UTXO becomes spendable after relative delay</a:t>
            </a:r>
          </a:p>
        </p:txBody>
      </p:sp>
      <p:sp>
        <p:nvSpPr>
          <p:cNvPr id="3" name="Rectangle 2">
            <a:extLst>
              <a:ext uri="{FF2B5EF4-FFF2-40B4-BE49-F238E27FC236}">
                <a16:creationId xmlns:a16="http://schemas.microsoft.com/office/drawing/2014/main" id="{549B300B-56A5-CBC3-784A-563C52C7AC9C}"/>
              </a:ext>
            </a:extLst>
          </p:cNvPr>
          <p:cNvSpPr/>
          <p:nvPr/>
        </p:nvSpPr>
        <p:spPr>
          <a:xfrm>
            <a:off x="1837842" y="2744187"/>
            <a:ext cx="2743200" cy="1188720"/>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Candara" panose="020E0502030303020204" pitchFamily="34" charset="0"/>
              </a:rPr>
              <a:t>Absolute Time lock</a:t>
            </a:r>
          </a:p>
        </p:txBody>
      </p:sp>
      <p:sp>
        <p:nvSpPr>
          <p:cNvPr id="5" name="Rectangle 4">
            <a:extLst>
              <a:ext uri="{FF2B5EF4-FFF2-40B4-BE49-F238E27FC236}">
                <a16:creationId xmlns:a16="http://schemas.microsoft.com/office/drawing/2014/main" id="{978AF457-2ECD-94CC-3F2E-9761C42CCC76}"/>
              </a:ext>
            </a:extLst>
          </p:cNvPr>
          <p:cNvSpPr/>
          <p:nvPr/>
        </p:nvSpPr>
        <p:spPr>
          <a:xfrm>
            <a:off x="280527" y="4816017"/>
            <a:ext cx="2468880" cy="1645920"/>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Candara" panose="020E0502030303020204" pitchFamily="34" charset="0"/>
              </a:rPr>
              <a:t>nLockTime</a:t>
            </a:r>
            <a:endParaRPr lang="en-US" sz="1600" dirty="0">
              <a:latin typeface="Candara" panose="020E0502030303020204" pitchFamily="34" charset="0"/>
            </a:endParaRPr>
          </a:p>
          <a:p>
            <a:pPr algn="ctr"/>
            <a:r>
              <a:rPr lang="en-US" sz="1600" dirty="0">
                <a:latin typeface="Candara" panose="020E0502030303020204" pitchFamily="34" charset="0"/>
              </a:rPr>
              <a:t>Transaction level –</a:t>
            </a:r>
          </a:p>
          <a:p>
            <a:pPr algn="ctr"/>
            <a:r>
              <a:rPr lang="en-US" sz="1600" dirty="0">
                <a:latin typeface="Candara" panose="020E0502030303020204" pitchFamily="34" charset="0"/>
              </a:rPr>
              <a:t> Earliest block/time before a transaction can be included in a block</a:t>
            </a:r>
          </a:p>
        </p:txBody>
      </p:sp>
      <p:sp>
        <p:nvSpPr>
          <p:cNvPr id="9" name="Rectangle 8">
            <a:extLst>
              <a:ext uri="{FF2B5EF4-FFF2-40B4-BE49-F238E27FC236}">
                <a16:creationId xmlns:a16="http://schemas.microsoft.com/office/drawing/2014/main" id="{8FA25A3C-E328-EA82-C2B0-BEF0140A8D0A}"/>
              </a:ext>
            </a:extLst>
          </p:cNvPr>
          <p:cNvSpPr/>
          <p:nvPr/>
        </p:nvSpPr>
        <p:spPr>
          <a:xfrm>
            <a:off x="3631249" y="4816017"/>
            <a:ext cx="2585418" cy="1645920"/>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CHECKLOCKTIMEVERIFY (CLTV)</a:t>
            </a:r>
          </a:p>
          <a:p>
            <a:pPr algn="ctr"/>
            <a:r>
              <a:rPr lang="en-US" sz="1600" dirty="0">
                <a:latin typeface="Candara" panose="020E0502030303020204" pitchFamily="34" charset="0"/>
              </a:rPr>
              <a:t>Output level – </a:t>
            </a:r>
          </a:p>
          <a:p>
            <a:pPr algn="ctr"/>
            <a:r>
              <a:rPr lang="en-US" sz="1600" dirty="0">
                <a:latin typeface="Candara" panose="020E0502030303020204" pitchFamily="34" charset="0"/>
              </a:rPr>
              <a:t>UTXO becomes spendable after a certain block/time</a:t>
            </a:r>
          </a:p>
        </p:txBody>
      </p:sp>
      <p:grpSp>
        <p:nvGrpSpPr>
          <p:cNvPr id="17" name="Group 16">
            <a:extLst>
              <a:ext uri="{FF2B5EF4-FFF2-40B4-BE49-F238E27FC236}">
                <a16:creationId xmlns:a16="http://schemas.microsoft.com/office/drawing/2014/main" id="{3221CB85-8347-C532-1C04-BA9FB78ED2A8}"/>
              </a:ext>
            </a:extLst>
          </p:cNvPr>
          <p:cNvGrpSpPr/>
          <p:nvPr/>
        </p:nvGrpSpPr>
        <p:grpSpPr>
          <a:xfrm>
            <a:off x="1366466" y="3330221"/>
            <a:ext cx="479611" cy="1485796"/>
            <a:chOff x="3759196" y="1974840"/>
            <a:chExt cx="479611" cy="904568"/>
          </a:xfrm>
        </p:grpSpPr>
        <p:cxnSp>
          <p:nvCxnSpPr>
            <p:cNvPr id="18" name="Straight Arrow Connector 17">
              <a:extLst>
                <a:ext uri="{FF2B5EF4-FFF2-40B4-BE49-F238E27FC236}">
                  <a16:creationId xmlns:a16="http://schemas.microsoft.com/office/drawing/2014/main" id="{DF5D6D06-1979-61AA-18FC-B8BA7EC903AD}"/>
                </a:ext>
              </a:extLst>
            </p:cNvPr>
            <p:cNvCxnSpPr>
              <a:cxnSpLocks/>
            </p:cNvCxnSpPr>
            <p:nvPr/>
          </p:nvCxnSpPr>
          <p:spPr>
            <a:xfrm>
              <a:off x="3759196" y="1974840"/>
              <a:ext cx="0" cy="9045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E0406E-64F5-02B3-675E-68454A446A9E}"/>
                </a:ext>
              </a:extLst>
            </p:cNvPr>
            <p:cNvCxnSpPr>
              <a:cxnSpLocks/>
            </p:cNvCxnSpPr>
            <p:nvPr/>
          </p:nvCxnSpPr>
          <p:spPr>
            <a:xfrm flipH="1">
              <a:off x="3759196" y="1974840"/>
              <a:ext cx="4796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A4EE66E4-1E64-40F6-640C-4805291D493D}"/>
              </a:ext>
            </a:extLst>
          </p:cNvPr>
          <p:cNvGrpSpPr/>
          <p:nvPr/>
        </p:nvGrpSpPr>
        <p:grpSpPr>
          <a:xfrm>
            <a:off x="7426327" y="3330221"/>
            <a:ext cx="479611" cy="1485795"/>
            <a:chOff x="3759196" y="1974840"/>
            <a:chExt cx="479611" cy="904568"/>
          </a:xfrm>
        </p:grpSpPr>
        <p:cxnSp>
          <p:nvCxnSpPr>
            <p:cNvPr id="21" name="Straight Arrow Connector 20">
              <a:extLst>
                <a:ext uri="{FF2B5EF4-FFF2-40B4-BE49-F238E27FC236}">
                  <a16:creationId xmlns:a16="http://schemas.microsoft.com/office/drawing/2014/main" id="{5740A944-DDD9-8953-E8E7-CFAE864C1DD9}"/>
                </a:ext>
              </a:extLst>
            </p:cNvPr>
            <p:cNvCxnSpPr>
              <a:cxnSpLocks/>
            </p:cNvCxnSpPr>
            <p:nvPr/>
          </p:nvCxnSpPr>
          <p:spPr>
            <a:xfrm>
              <a:off x="3759196" y="1974840"/>
              <a:ext cx="0" cy="9045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612E47A-A4D4-58B2-32EF-75F248F4700A}"/>
                </a:ext>
              </a:extLst>
            </p:cNvPr>
            <p:cNvCxnSpPr>
              <a:cxnSpLocks/>
            </p:cNvCxnSpPr>
            <p:nvPr/>
          </p:nvCxnSpPr>
          <p:spPr>
            <a:xfrm flipH="1">
              <a:off x="3759196" y="1974840"/>
              <a:ext cx="4796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47D7DED8-DB3A-62FF-9CF1-39A0D684D319}"/>
              </a:ext>
            </a:extLst>
          </p:cNvPr>
          <p:cNvGrpSpPr/>
          <p:nvPr/>
        </p:nvGrpSpPr>
        <p:grpSpPr>
          <a:xfrm>
            <a:off x="4572806" y="3330220"/>
            <a:ext cx="479611" cy="1477829"/>
            <a:chOff x="7558079" y="1810354"/>
            <a:chExt cx="479611" cy="904568"/>
          </a:xfrm>
        </p:grpSpPr>
        <p:cxnSp>
          <p:nvCxnSpPr>
            <p:cNvPr id="24" name="Straight Arrow Connector 23">
              <a:extLst>
                <a:ext uri="{FF2B5EF4-FFF2-40B4-BE49-F238E27FC236}">
                  <a16:creationId xmlns:a16="http://schemas.microsoft.com/office/drawing/2014/main" id="{2EFAAE4A-068F-F4F0-54DE-BFBF4CFCF914}"/>
                </a:ext>
              </a:extLst>
            </p:cNvPr>
            <p:cNvCxnSpPr>
              <a:cxnSpLocks/>
            </p:cNvCxnSpPr>
            <p:nvPr/>
          </p:nvCxnSpPr>
          <p:spPr>
            <a:xfrm>
              <a:off x="8037690" y="1810354"/>
              <a:ext cx="0" cy="9045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79BDEE7-7FC7-A2A1-41DD-BE4BF2B0B42C}"/>
                </a:ext>
              </a:extLst>
            </p:cNvPr>
            <p:cNvCxnSpPr>
              <a:cxnSpLocks/>
            </p:cNvCxnSpPr>
            <p:nvPr/>
          </p:nvCxnSpPr>
          <p:spPr>
            <a:xfrm flipH="1">
              <a:off x="7558079" y="1816794"/>
              <a:ext cx="4796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967336D5-5AD9-EAE6-ED54-5576990F6921}"/>
              </a:ext>
            </a:extLst>
          </p:cNvPr>
          <p:cNvGrpSpPr/>
          <p:nvPr/>
        </p:nvGrpSpPr>
        <p:grpSpPr>
          <a:xfrm>
            <a:off x="10632666" y="3338187"/>
            <a:ext cx="479611" cy="1477829"/>
            <a:chOff x="7558079" y="1810354"/>
            <a:chExt cx="479611" cy="904568"/>
          </a:xfrm>
        </p:grpSpPr>
        <p:cxnSp>
          <p:nvCxnSpPr>
            <p:cNvPr id="27" name="Straight Arrow Connector 26">
              <a:extLst>
                <a:ext uri="{FF2B5EF4-FFF2-40B4-BE49-F238E27FC236}">
                  <a16:creationId xmlns:a16="http://schemas.microsoft.com/office/drawing/2014/main" id="{D7CA8235-A7E1-FBB6-BFD9-A06435DEF62A}"/>
                </a:ext>
              </a:extLst>
            </p:cNvPr>
            <p:cNvCxnSpPr>
              <a:cxnSpLocks/>
            </p:cNvCxnSpPr>
            <p:nvPr/>
          </p:nvCxnSpPr>
          <p:spPr>
            <a:xfrm>
              <a:off x="8037690" y="1810354"/>
              <a:ext cx="0" cy="9045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E24624-5E7B-E915-259E-B2202EFC3E35}"/>
                </a:ext>
              </a:extLst>
            </p:cNvPr>
            <p:cNvCxnSpPr>
              <a:cxnSpLocks/>
            </p:cNvCxnSpPr>
            <p:nvPr/>
          </p:nvCxnSpPr>
          <p:spPr>
            <a:xfrm flipH="1">
              <a:off x="7558079" y="1816794"/>
              <a:ext cx="4796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5931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3" grpId="0" animBg="1"/>
      <p:bldP spid="5" grpId="0" animBg="1"/>
      <p:bldP spid="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26CCF-CAF8-BD18-0DFF-FDF261A6B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5B884-B36D-EB46-C9CC-00EA6A1C00C0}"/>
              </a:ext>
            </a:extLst>
          </p:cNvPr>
          <p:cNvSpPr>
            <a:spLocks noGrp="1"/>
          </p:cNvSpPr>
          <p:nvPr>
            <p:ph type="title"/>
          </p:nvPr>
        </p:nvSpPr>
        <p:spPr/>
        <p:txBody>
          <a:bodyPr/>
          <a:lstStyle/>
          <a:p>
            <a:r>
              <a:rPr lang="en-PK" dirty="0">
                <a:latin typeface="+mn-lt"/>
              </a:rPr>
              <a:t>Lecture </a:t>
            </a:r>
            <a:r>
              <a:rPr lang="en-US" dirty="0">
                <a:latin typeface="+mn-lt"/>
              </a:rPr>
              <a:t>18</a:t>
            </a:r>
            <a:br>
              <a:rPr lang="en-PK" dirty="0">
                <a:latin typeface="+mn-lt"/>
              </a:rPr>
            </a:br>
            <a:r>
              <a:rPr lang="en-US" dirty="0">
                <a:latin typeface="+mn-lt"/>
              </a:rPr>
              <a:t>Thursday</a:t>
            </a:r>
            <a:r>
              <a:rPr lang="en-PK" dirty="0">
                <a:latin typeface="+mn-lt"/>
              </a:rPr>
              <a:t>, </a:t>
            </a:r>
            <a:r>
              <a:rPr lang="en-US" dirty="0">
                <a:latin typeface="+mn-lt"/>
              </a:rPr>
              <a:t>Apr</a:t>
            </a:r>
            <a:r>
              <a:rPr lang="en-PK" dirty="0">
                <a:latin typeface="+mn-lt"/>
              </a:rPr>
              <a:t> </a:t>
            </a:r>
            <a:r>
              <a:rPr lang="en-US" dirty="0">
                <a:latin typeface="+mn-lt"/>
              </a:rPr>
              <a:t>2</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04864DC9-BF9C-F175-8FC3-3D744F9B1524}"/>
              </a:ext>
            </a:extLst>
          </p:cNvPr>
          <p:cNvSpPr>
            <a:spLocks noGrp="1"/>
          </p:cNvSpPr>
          <p:nvPr>
            <p:ph type="sldNum" sz="quarter" idx="12"/>
          </p:nvPr>
        </p:nvSpPr>
        <p:spPr/>
        <p:txBody>
          <a:bodyPr/>
          <a:lstStyle/>
          <a:p>
            <a:fld id="{D57F1E4F-1CFF-5643-939E-217C01CDF565}" type="slidenum">
              <a:rPr lang="en-US" smtClean="0"/>
              <a:pPr/>
              <a:t>60</a:t>
            </a:fld>
            <a:endParaRPr lang="en-US" dirty="0"/>
          </a:p>
        </p:txBody>
      </p:sp>
    </p:spTree>
    <p:extLst>
      <p:ext uri="{BB962C8B-B14F-4D97-AF65-F5344CB8AC3E}">
        <p14:creationId xmlns:p14="http://schemas.microsoft.com/office/powerpoint/2010/main" val="36314413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FC421-1F8D-13CC-C46C-2735C0CA5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A609B-DFC8-C5A6-59E5-5974523FA13E}"/>
              </a:ext>
            </a:extLst>
          </p:cNvPr>
          <p:cNvSpPr>
            <a:spLocks noGrp="1"/>
          </p:cNvSpPr>
          <p:nvPr>
            <p:ph type="title"/>
          </p:nvPr>
        </p:nvSpPr>
        <p:spPr/>
        <p:txBody>
          <a:bodyPr/>
          <a:lstStyle/>
          <a:p>
            <a:r>
              <a:rPr lang="en-US" dirty="0"/>
              <a:t>Absolute Time Lock</a:t>
            </a:r>
          </a:p>
        </p:txBody>
      </p:sp>
      <p:sp>
        <p:nvSpPr>
          <p:cNvPr id="4" name="Slide Number Placeholder 3">
            <a:extLst>
              <a:ext uri="{FF2B5EF4-FFF2-40B4-BE49-F238E27FC236}">
                <a16:creationId xmlns:a16="http://schemas.microsoft.com/office/drawing/2014/main" id="{5D3750D7-FAF7-4F36-67E8-042B04447716}"/>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61</a:t>
            </a:fld>
            <a:endParaRPr lang="en-US" dirty="0">
              <a:latin typeface="Candara" panose="020E0502030303020204" pitchFamily="34" charset="0"/>
            </a:endParaRPr>
          </a:p>
        </p:txBody>
      </p:sp>
      <p:sp>
        <p:nvSpPr>
          <p:cNvPr id="11" name="TextBox 10">
            <a:extLst>
              <a:ext uri="{FF2B5EF4-FFF2-40B4-BE49-F238E27FC236}">
                <a16:creationId xmlns:a16="http://schemas.microsoft.com/office/drawing/2014/main" id="{1E9A6806-7BBC-9637-C2BC-A5F9E8E373DD}"/>
              </a:ext>
            </a:extLst>
          </p:cNvPr>
          <p:cNvSpPr txBox="1"/>
          <p:nvPr/>
        </p:nvSpPr>
        <p:spPr>
          <a:xfrm>
            <a:off x="487680" y="1581149"/>
            <a:ext cx="11438142" cy="489364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ndara" panose="020E0502030303020204" pitchFamily="34" charset="0"/>
              </a:rPr>
              <a:t>If L &lt; 500,000,000 – considered as a block height</a:t>
            </a:r>
          </a:p>
          <a:p>
            <a:pPr marL="342900" indent="-342900">
              <a:buFont typeface="Arial" panose="020B0604020202020204" pitchFamily="34" charset="0"/>
              <a:buChar char="•"/>
            </a:pPr>
            <a:r>
              <a:rPr lang="en-US" sz="2400" dirty="0">
                <a:latin typeface="Candara" panose="020E0502030303020204" pitchFamily="34" charset="0"/>
              </a:rPr>
              <a:t>If L ≥ 500,000,000 – considered as a Unix timestamp which is the number of seconds since Jan 1, 1970</a:t>
            </a:r>
          </a:p>
          <a:p>
            <a:pPr marL="342900" indent="-342900">
              <a:buFont typeface="Arial" panose="020B0604020202020204" pitchFamily="34" charset="0"/>
              <a:buChar char="•"/>
            </a:pPr>
            <a:endParaRPr lang="en-US" sz="2400" dirty="0">
              <a:latin typeface="Candara" panose="020E0502030303020204" pitchFamily="34" charset="0"/>
            </a:endParaRPr>
          </a:p>
          <a:p>
            <a:pPr marL="342900" indent="-342900">
              <a:buFont typeface="Arial" panose="020B0604020202020204" pitchFamily="34" charset="0"/>
              <a:buChar char="•"/>
            </a:pPr>
            <a:r>
              <a:rPr lang="en-US" sz="2400" dirty="0">
                <a:latin typeface="Candara" panose="020E0502030303020204" pitchFamily="34" charset="0"/>
              </a:rPr>
              <a:t>Example: Suppose current block height is 915,600 and we want a transaction to get into a block roughly after two week from now. What should be the value of L in block height? </a:t>
            </a:r>
          </a:p>
          <a:p>
            <a:pPr marL="800100" lvl="1" indent="-342900">
              <a:buFont typeface="Arial" panose="020B0604020202020204" pitchFamily="34" charset="0"/>
              <a:buChar char="•"/>
            </a:pPr>
            <a:r>
              <a:rPr lang="en-US" sz="2400" dirty="0">
                <a:latin typeface="Candara" panose="020E0502030303020204" pitchFamily="34" charset="0"/>
              </a:rPr>
              <a:t>Average block time is 10 minutes – 2016 blocks in two weeks (6 x 24 x 14 = 2016 blocks): </a:t>
            </a:r>
            <a:r>
              <a:rPr lang="en-US" sz="2400" dirty="0" err="1">
                <a:latin typeface="Candara" panose="020E0502030303020204" pitchFamily="34" charset="0"/>
              </a:rPr>
              <a:t>nLockTime</a:t>
            </a:r>
            <a:r>
              <a:rPr lang="en-US" sz="2400" dirty="0">
                <a:latin typeface="Candara" panose="020E0502030303020204" pitchFamily="34" charset="0"/>
              </a:rPr>
              <a:t> =  917,616 </a:t>
            </a:r>
          </a:p>
          <a:p>
            <a:pPr marL="342900" indent="-342900">
              <a:buFont typeface="Arial" panose="020B0604020202020204" pitchFamily="34" charset="0"/>
              <a:buChar char="•"/>
            </a:pPr>
            <a:r>
              <a:rPr lang="en-US" sz="2400" dirty="0">
                <a:latin typeface="Candara" panose="020E0502030303020204" pitchFamily="34" charset="0"/>
              </a:rPr>
              <a:t>Example: Suppose we want a transaction to get confirmed after April 30, 2026, 10 am. What should be the value of L in Unix timestamp?</a:t>
            </a:r>
          </a:p>
          <a:p>
            <a:pPr marL="800100" lvl="1" indent="-342900">
              <a:buFont typeface="Arial" panose="020B0604020202020204" pitchFamily="34" charset="0"/>
              <a:buChar char="•"/>
            </a:pPr>
            <a:r>
              <a:rPr lang="en-US" sz="2400" dirty="0">
                <a:latin typeface="Candara" panose="020E0502030303020204" pitchFamily="34" charset="0"/>
              </a:rPr>
              <a:t>Using a Unix timestamp calculator, we find that </a:t>
            </a:r>
            <a:r>
              <a:rPr lang="en-US" sz="2400" dirty="0" err="1">
                <a:latin typeface="Candara" panose="020E0502030303020204" pitchFamily="34" charset="0"/>
              </a:rPr>
              <a:t>nLockTime</a:t>
            </a:r>
            <a:r>
              <a:rPr lang="en-US" sz="2400" dirty="0">
                <a:latin typeface="Candara" panose="020E0502030303020204" pitchFamily="34" charset="0"/>
              </a:rPr>
              <a:t> = 1777525200 </a:t>
            </a:r>
            <a:r>
              <a:rPr lang="en-US" sz="2400" dirty="0">
                <a:latin typeface="Candara" panose="020E0502030303020204" pitchFamily="34" charset="0"/>
                <a:hlinkClick r:id="rId2"/>
              </a:rPr>
              <a:t>https://www.unixtimestamp.com/</a:t>
            </a:r>
            <a:r>
              <a:rPr lang="en-US" sz="2400" dirty="0">
                <a:latin typeface="Candara" panose="020E0502030303020204" pitchFamily="34" charset="0"/>
              </a:rPr>
              <a:t> (Unix timestamp calculator)</a:t>
            </a:r>
          </a:p>
        </p:txBody>
      </p:sp>
      <p:sp>
        <p:nvSpPr>
          <p:cNvPr id="25" name="TextBox 24">
            <a:extLst>
              <a:ext uri="{FF2B5EF4-FFF2-40B4-BE49-F238E27FC236}">
                <a16:creationId xmlns:a16="http://schemas.microsoft.com/office/drawing/2014/main" id="{E66129FA-6D6C-EA5B-AA28-BEA10BE2305F}"/>
              </a:ext>
            </a:extLst>
          </p:cNvPr>
          <p:cNvSpPr txBox="1"/>
          <p:nvPr/>
        </p:nvSpPr>
        <p:spPr>
          <a:xfrm>
            <a:off x="788752" y="999998"/>
            <a:ext cx="10123435" cy="954107"/>
          </a:xfrm>
          <a:prstGeom prst="rect">
            <a:avLst/>
          </a:prstGeom>
          <a:noFill/>
        </p:spPr>
        <p:txBody>
          <a:bodyPr wrap="square">
            <a:spAutoFit/>
          </a:bodyPr>
          <a:lstStyle/>
          <a:p>
            <a:pPr algn="ctr"/>
            <a:r>
              <a:rPr lang="en-US" sz="2800" dirty="0">
                <a:solidFill>
                  <a:srgbClr val="FF0000"/>
                </a:solidFill>
                <a:latin typeface="Candara" panose="020E0502030303020204" pitchFamily="34" charset="0"/>
              </a:rPr>
              <a:t>Absolute time lock: Locks until a specific block height or time </a:t>
            </a:r>
          </a:p>
        </p:txBody>
      </p:sp>
    </p:spTree>
    <p:extLst>
      <p:ext uri="{BB962C8B-B14F-4D97-AF65-F5344CB8AC3E}">
        <p14:creationId xmlns:p14="http://schemas.microsoft.com/office/powerpoint/2010/main" val="52028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7B5D3-EA96-CB47-A5C1-BE128B37C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75FB7-BC06-B090-5B5B-012320FE469A}"/>
              </a:ext>
            </a:extLst>
          </p:cNvPr>
          <p:cNvSpPr>
            <a:spLocks noGrp="1"/>
          </p:cNvSpPr>
          <p:nvPr>
            <p:ph type="title"/>
          </p:nvPr>
        </p:nvSpPr>
        <p:spPr/>
        <p:txBody>
          <a:bodyPr/>
          <a:lstStyle/>
          <a:p>
            <a:r>
              <a:rPr lang="en-US" dirty="0"/>
              <a:t>Transaction Lock</a:t>
            </a:r>
          </a:p>
        </p:txBody>
      </p:sp>
      <p:sp>
        <p:nvSpPr>
          <p:cNvPr id="4" name="Slide Number Placeholder 3">
            <a:extLst>
              <a:ext uri="{FF2B5EF4-FFF2-40B4-BE49-F238E27FC236}">
                <a16:creationId xmlns:a16="http://schemas.microsoft.com/office/drawing/2014/main" id="{A24F28C3-0E29-8834-DB08-33748D949EA7}"/>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62</a:t>
            </a:fld>
            <a:endParaRPr lang="en-US" dirty="0">
              <a:latin typeface="Candara" panose="020E0502030303020204" pitchFamily="34" charset="0"/>
            </a:endParaRPr>
          </a:p>
        </p:txBody>
      </p:sp>
      <p:sp>
        <p:nvSpPr>
          <p:cNvPr id="22" name="TextBox 21">
            <a:extLst>
              <a:ext uri="{FF2B5EF4-FFF2-40B4-BE49-F238E27FC236}">
                <a16:creationId xmlns:a16="http://schemas.microsoft.com/office/drawing/2014/main" id="{EB959E5B-F24F-18DF-88FD-12D31356C045}"/>
              </a:ext>
            </a:extLst>
          </p:cNvPr>
          <p:cNvSpPr txBox="1"/>
          <p:nvPr/>
        </p:nvSpPr>
        <p:spPr>
          <a:xfrm>
            <a:off x="7109859" y="3371251"/>
            <a:ext cx="4570514" cy="1938992"/>
          </a:xfrm>
          <a:prstGeom prst="rect">
            <a:avLst/>
          </a:prstGeom>
          <a:noFill/>
        </p:spPr>
        <p:txBody>
          <a:bodyPr wrap="square" rtlCol="0">
            <a:spAutoFit/>
          </a:bodyPr>
          <a:lstStyle/>
          <a:p>
            <a:pPr algn="ctr"/>
            <a:r>
              <a:rPr lang="en-US" sz="2400" dirty="0" err="1">
                <a:latin typeface="Candara" panose="020E0502030303020204" pitchFamily="34" charset="0"/>
              </a:rPr>
              <a:t>nLockTime</a:t>
            </a:r>
            <a:r>
              <a:rPr lang="en-US" sz="2400" dirty="0">
                <a:latin typeface="Candara" panose="020E0502030303020204" pitchFamily="34" charset="0"/>
              </a:rPr>
              <a:t> = L : This whole transaction cannot be mined and included in a block until the absolute block height or absolute time L has reached</a:t>
            </a:r>
          </a:p>
        </p:txBody>
      </p:sp>
      <p:sp>
        <p:nvSpPr>
          <p:cNvPr id="41" name="TextBox 40">
            <a:extLst>
              <a:ext uri="{FF2B5EF4-FFF2-40B4-BE49-F238E27FC236}">
                <a16:creationId xmlns:a16="http://schemas.microsoft.com/office/drawing/2014/main" id="{053068CD-CF82-E9D7-675F-847F4AEFFA66}"/>
              </a:ext>
            </a:extLst>
          </p:cNvPr>
          <p:cNvSpPr txBox="1"/>
          <p:nvPr/>
        </p:nvSpPr>
        <p:spPr>
          <a:xfrm>
            <a:off x="599049" y="1010640"/>
            <a:ext cx="11105271" cy="830997"/>
          </a:xfrm>
          <a:prstGeom prst="rect">
            <a:avLst/>
          </a:prstGeom>
          <a:noFill/>
        </p:spPr>
        <p:txBody>
          <a:bodyPr wrap="square" rtlCol="0">
            <a:spAutoFit/>
          </a:bodyPr>
          <a:lstStyle/>
          <a:p>
            <a:pPr algn="ctr"/>
            <a:r>
              <a:rPr lang="en-US" sz="2400" dirty="0">
                <a:latin typeface="Candara" panose="020E0502030303020204" pitchFamily="34" charset="0"/>
              </a:rPr>
              <a:t>Suppose current block height &amp; time at which this transaction is created are B &amp; T respectively</a:t>
            </a:r>
          </a:p>
        </p:txBody>
      </p:sp>
      <p:sp>
        <p:nvSpPr>
          <p:cNvPr id="3" name="Rectangle 2">
            <a:extLst>
              <a:ext uri="{FF2B5EF4-FFF2-40B4-BE49-F238E27FC236}">
                <a16:creationId xmlns:a16="http://schemas.microsoft.com/office/drawing/2014/main" id="{EFC68FE7-716B-8392-A605-86DC90E87562}"/>
              </a:ext>
            </a:extLst>
          </p:cNvPr>
          <p:cNvSpPr/>
          <p:nvPr/>
        </p:nvSpPr>
        <p:spPr>
          <a:xfrm>
            <a:off x="1061792" y="5508379"/>
            <a:ext cx="5764562" cy="93355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andara" panose="020E0502030303020204" pitchFamily="34" charset="0"/>
              </a:rPr>
              <a:t>Witness Field</a:t>
            </a:r>
          </a:p>
          <a:p>
            <a:pPr algn="ctr"/>
            <a:r>
              <a:rPr lang="en-US" sz="2800" dirty="0">
                <a:solidFill>
                  <a:schemeClr val="tx1"/>
                </a:solidFill>
                <a:latin typeface="Candara" panose="020E0502030303020204" pitchFamily="34" charset="0"/>
              </a:rPr>
              <a:t>&lt;--&gt; &lt;--&gt;</a:t>
            </a:r>
          </a:p>
        </p:txBody>
      </p:sp>
      <p:grpSp>
        <p:nvGrpSpPr>
          <p:cNvPr id="6" name="Group 5">
            <a:extLst>
              <a:ext uri="{FF2B5EF4-FFF2-40B4-BE49-F238E27FC236}">
                <a16:creationId xmlns:a16="http://schemas.microsoft.com/office/drawing/2014/main" id="{2E4BCDD8-1D2F-5455-47DC-9037258777B3}"/>
              </a:ext>
            </a:extLst>
          </p:cNvPr>
          <p:cNvGrpSpPr/>
          <p:nvPr/>
        </p:nvGrpSpPr>
        <p:grpSpPr>
          <a:xfrm>
            <a:off x="1061793" y="1930126"/>
            <a:ext cx="5764562" cy="3449668"/>
            <a:chOff x="662546" y="2790923"/>
            <a:chExt cx="4764100" cy="2356163"/>
          </a:xfrm>
        </p:grpSpPr>
        <p:grpSp>
          <p:nvGrpSpPr>
            <p:cNvPr id="12" name="Group 11">
              <a:extLst>
                <a:ext uri="{FF2B5EF4-FFF2-40B4-BE49-F238E27FC236}">
                  <a16:creationId xmlns:a16="http://schemas.microsoft.com/office/drawing/2014/main" id="{36E06E86-50CD-6AB8-748A-277368083109}"/>
                </a:ext>
              </a:extLst>
            </p:cNvPr>
            <p:cNvGrpSpPr/>
            <p:nvPr/>
          </p:nvGrpSpPr>
          <p:grpSpPr>
            <a:xfrm>
              <a:off x="662546" y="2790923"/>
              <a:ext cx="4764100" cy="2045687"/>
              <a:chOff x="895162" y="2638523"/>
              <a:chExt cx="4764100" cy="2045687"/>
            </a:xfrm>
          </p:grpSpPr>
          <p:grpSp>
            <p:nvGrpSpPr>
              <p:cNvPr id="17" name="Group 16">
                <a:extLst>
                  <a:ext uri="{FF2B5EF4-FFF2-40B4-BE49-F238E27FC236}">
                    <a16:creationId xmlns:a16="http://schemas.microsoft.com/office/drawing/2014/main" id="{237E0624-39B7-D66C-A726-CE804933EB08}"/>
                  </a:ext>
                </a:extLst>
              </p:cNvPr>
              <p:cNvGrpSpPr/>
              <p:nvPr/>
            </p:nvGrpSpPr>
            <p:grpSpPr>
              <a:xfrm>
                <a:off x="895162" y="2661534"/>
                <a:ext cx="4764100" cy="2022676"/>
                <a:chOff x="805543" y="3039910"/>
                <a:chExt cx="5057939" cy="2022676"/>
              </a:xfrm>
              <a:noFill/>
            </p:grpSpPr>
            <p:sp>
              <p:nvSpPr>
                <p:cNvPr id="28" name="Rectangle 27">
                  <a:extLst>
                    <a:ext uri="{FF2B5EF4-FFF2-40B4-BE49-F238E27FC236}">
                      <a16:creationId xmlns:a16="http://schemas.microsoft.com/office/drawing/2014/main" id="{E624B048-1EDD-9E94-7247-5C2A96172569}"/>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29" name="Rectangle 28">
                  <a:extLst>
                    <a:ext uri="{FF2B5EF4-FFF2-40B4-BE49-F238E27FC236}">
                      <a16:creationId xmlns:a16="http://schemas.microsoft.com/office/drawing/2014/main" id="{27CC6693-A94C-494C-FFE0-24C870B45F80}"/>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4" name="Rectangle 33">
                  <a:extLst>
                    <a:ext uri="{FF2B5EF4-FFF2-40B4-BE49-F238E27FC236}">
                      <a16:creationId xmlns:a16="http://schemas.microsoft.com/office/drawing/2014/main" id="{7426A2F7-9E8C-1733-9388-C605B7728220}"/>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5" name="TextBox 34">
                  <a:extLst>
                    <a:ext uri="{FF2B5EF4-FFF2-40B4-BE49-F238E27FC236}">
                      <a16:creationId xmlns:a16="http://schemas.microsoft.com/office/drawing/2014/main" id="{69F2F774-3015-C0F3-E3BB-3ACA500FB502}"/>
                    </a:ext>
                  </a:extLst>
                </p:cNvPr>
                <p:cNvSpPr txBox="1"/>
                <p:nvPr/>
              </p:nvSpPr>
              <p:spPr>
                <a:xfrm>
                  <a:off x="3391446" y="3698427"/>
                  <a:ext cx="2139942" cy="1324354"/>
                </a:xfrm>
                <a:prstGeom prst="rect">
                  <a:avLst/>
                </a:prstGeom>
                <a:grpFill/>
              </p:spPr>
              <p:txBody>
                <a:bodyPr wrap="square" rtlCol="0" anchor="ctr" anchorCtr="0">
                  <a:spAutoFit/>
                </a:bodyPr>
                <a:lstStyle/>
                <a:p>
                  <a:pPr algn="ctr"/>
                  <a:r>
                    <a:rPr lang="en-US" sz="2400" dirty="0">
                      <a:solidFill>
                        <a:schemeClr val="bg1"/>
                      </a:solidFill>
                      <a:latin typeface="Candara" panose="020E0502030303020204" pitchFamily="34" charset="0"/>
                    </a:rPr>
                    <a:t>Value</a:t>
                  </a:r>
                </a:p>
                <a:p>
                  <a:pPr algn="ctr"/>
                  <a:r>
                    <a:rPr lang="en-US" sz="2400" dirty="0">
                      <a:solidFill>
                        <a:schemeClr val="bg1"/>
                      </a:solidFill>
                      <a:latin typeface="Candara" panose="020E0502030303020204" pitchFamily="34" charset="0"/>
                    </a:rPr>
                    <a:t> </a:t>
                  </a:r>
                </a:p>
                <a:p>
                  <a:pPr algn="ctr"/>
                  <a:r>
                    <a:rPr lang="en-US" sz="2400" dirty="0">
                      <a:solidFill>
                        <a:schemeClr val="bg1"/>
                      </a:solidFill>
                      <a:latin typeface="Candara" panose="020E0502030303020204" pitchFamily="34" charset="0"/>
                    </a:rPr>
                    <a:t>OP_0 </a:t>
                  </a:r>
                </a:p>
                <a:p>
                  <a:pPr algn="ctr"/>
                  <a:r>
                    <a:rPr lang="en-US" sz="2400" dirty="0">
                      <a:solidFill>
                        <a:schemeClr val="bg1"/>
                      </a:solidFill>
                      <a:latin typeface="Candara" panose="020E0502030303020204" pitchFamily="34" charset="0"/>
                    </a:rPr>
                    <a:t>&lt;</a:t>
                  </a:r>
                  <a:r>
                    <a:rPr lang="en-US" sz="2400" dirty="0" err="1">
                      <a:solidFill>
                        <a:schemeClr val="bg1"/>
                      </a:solidFill>
                      <a:latin typeface="Candara" panose="020E0502030303020204" pitchFamily="34" charset="0"/>
                    </a:rPr>
                    <a:t>wsh</a:t>
                  </a:r>
                  <a:r>
                    <a:rPr lang="en-US" sz="2400" dirty="0">
                      <a:solidFill>
                        <a:schemeClr val="bg1"/>
                      </a:solidFill>
                      <a:latin typeface="Candara" panose="020E0502030303020204" pitchFamily="34" charset="0"/>
                    </a:rPr>
                    <a:t>&gt;</a:t>
                  </a:r>
                </a:p>
                <a:p>
                  <a:pPr algn="ctr"/>
                  <a:endParaRPr lang="en-US" sz="2400" dirty="0">
                    <a:latin typeface="Candara" panose="020E0502030303020204" pitchFamily="34" charset="0"/>
                  </a:endParaRPr>
                </a:p>
              </p:txBody>
            </p:sp>
          </p:grpSp>
          <p:sp>
            <p:nvSpPr>
              <p:cNvPr id="19" name="Rectangle 18">
                <a:extLst>
                  <a:ext uri="{FF2B5EF4-FFF2-40B4-BE49-F238E27FC236}">
                    <a16:creationId xmlns:a16="http://schemas.microsoft.com/office/drawing/2014/main" id="{457DA46E-0A65-F4A3-61D4-4E6D269DABCE}"/>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latin typeface="Candara" panose="020E0502030303020204" pitchFamily="34" charset="0"/>
                  </a:rPr>
                  <a:t>nLockTime</a:t>
                </a:r>
                <a:r>
                  <a:rPr lang="en-US" sz="4000" dirty="0">
                    <a:latin typeface="Candara" panose="020E0502030303020204" pitchFamily="34" charset="0"/>
                  </a:rPr>
                  <a:t> = L</a:t>
                </a:r>
              </a:p>
            </p:txBody>
          </p:sp>
        </p:grpSp>
        <p:sp>
          <p:nvSpPr>
            <p:cNvPr id="16" name="Rectangle 15">
              <a:extLst>
                <a:ext uri="{FF2B5EF4-FFF2-40B4-BE49-F238E27FC236}">
                  <a16:creationId xmlns:a16="http://schemas.microsoft.com/office/drawing/2014/main" id="{C2EF5E67-3138-F825-E3C9-8D99403F2417}"/>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ATL1234</a:t>
              </a:r>
            </a:p>
          </p:txBody>
        </p:sp>
      </p:grpSp>
      <p:sp>
        <p:nvSpPr>
          <p:cNvPr id="7" name="TextBox 6">
            <a:extLst>
              <a:ext uri="{FF2B5EF4-FFF2-40B4-BE49-F238E27FC236}">
                <a16:creationId xmlns:a16="http://schemas.microsoft.com/office/drawing/2014/main" id="{5DDE94AD-1244-2357-3744-2F417D1953C9}"/>
              </a:ext>
            </a:extLst>
          </p:cNvPr>
          <p:cNvSpPr txBox="1"/>
          <p:nvPr/>
        </p:nvSpPr>
        <p:spPr>
          <a:xfrm>
            <a:off x="7934571" y="5621421"/>
            <a:ext cx="3195637" cy="646331"/>
          </a:xfrm>
          <a:prstGeom prst="rect">
            <a:avLst/>
          </a:prstGeom>
          <a:noFill/>
        </p:spPr>
        <p:txBody>
          <a:bodyPr wrap="square">
            <a:spAutoFit/>
          </a:bodyPr>
          <a:lstStyle/>
          <a:p>
            <a:r>
              <a:rPr lang="en-US" b="1" dirty="0"/>
              <a:t>If L &lt; 500M → valid when B ≥ L</a:t>
            </a:r>
            <a:br>
              <a:rPr lang="en-US" dirty="0"/>
            </a:br>
            <a:r>
              <a:rPr lang="en-US" b="1" dirty="0"/>
              <a:t>If L ≥ 500M → valid when T ≥ L</a:t>
            </a:r>
            <a:endParaRPr lang="en-PK" dirty="0"/>
          </a:p>
        </p:txBody>
      </p:sp>
    </p:spTree>
    <p:extLst>
      <p:ext uri="{BB962C8B-B14F-4D97-AF65-F5344CB8AC3E}">
        <p14:creationId xmlns:p14="http://schemas.microsoft.com/office/powerpoint/2010/main" val="100847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49CED-1299-D182-9A6D-5B3AD39CF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3E001-5CD0-BBB5-1EDD-8733CCD9E3E0}"/>
              </a:ext>
            </a:extLst>
          </p:cNvPr>
          <p:cNvSpPr>
            <a:spLocks noGrp="1"/>
          </p:cNvSpPr>
          <p:nvPr>
            <p:ph type="title"/>
          </p:nvPr>
        </p:nvSpPr>
        <p:spPr/>
        <p:txBody>
          <a:bodyPr/>
          <a:lstStyle/>
          <a:p>
            <a:r>
              <a:rPr lang="en-US" dirty="0"/>
              <a:t>CHECKLOCKTIMEVERIFY (CLTV)</a:t>
            </a:r>
          </a:p>
        </p:txBody>
      </p:sp>
      <p:sp>
        <p:nvSpPr>
          <p:cNvPr id="4" name="Slide Number Placeholder 3">
            <a:extLst>
              <a:ext uri="{FF2B5EF4-FFF2-40B4-BE49-F238E27FC236}">
                <a16:creationId xmlns:a16="http://schemas.microsoft.com/office/drawing/2014/main" id="{6D406DD8-C2E6-D9E7-60F6-9F6B53014354}"/>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63</a:t>
            </a:fld>
            <a:endParaRPr lang="en-US" dirty="0">
              <a:latin typeface="Candara" panose="020E0502030303020204" pitchFamily="34" charset="0"/>
            </a:endParaRPr>
          </a:p>
        </p:txBody>
      </p:sp>
      <p:sp>
        <p:nvSpPr>
          <p:cNvPr id="38" name="TextBox 37">
            <a:extLst>
              <a:ext uri="{FF2B5EF4-FFF2-40B4-BE49-F238E27FC236}">
                <a16:creationId xmlns:a16="http://schemas.microsoft.com/office/drawing/2014/main" id="{D36AA5E6-18AF-59EA-744B-99CC5EDEF00B}"/>
              </a:ext>
            </a:extLst>
          </p:cNvPr>
          <p:cNvSpPr txBox="1"/>
          <p:nvPr/>
        </p:nvSpPr>
        <p:spPr>
          <a:xfrm>
            <a:off x="638921" y="4550970"/>
            <a:ext cx="11144601" cy="1754326"/>
          </a:xfrm>
          <a:prstGeom prst="rect">
            <a:avLst/>
          </a:prstGeom>
          <a:noFill/>
        </p:spPr>
        <p:txBody>
          <a:bodyPr wrap="square" rtlCol="0">
            <a:spAutoFit/>
          </a:bodyPr>
          <a:lstStyle/>
          <a:p>
            <a:pPr algn="ctr"/>
            <a:r>
              <a:rPr lang="en-US" dirty="0">
                <a:latin typeface="Candara" panose="020E0502030303020204" pitchFamily="34" charset="0"/>
              </a:rPr>
              <a:t>CLTV Lock: The transaction </a:t>
            </a:r>
            <a:r>
              <a:rPr lang="en-US" b="1" dirty="0">
                <a:latin typeface="Candara" panose="020E0502030303020204" pitchFamily="34" charset="0"/>
              </a:rPr>
              <a:t>can be immediately mined and included in any block (B+1, B+2, …)</a:t>
            </a:r>
            <a:r>
              <a:rPr lang="en-US" dirty="0">
                <a:latin typeface="Candara" panose="020E0502030303020204" pitchFamily="34" charset="0"/>
              </a:rPr>
              <a:t>. However, its output has a CLTV lock, which prevents its spending by a child transaction until the time lock condition L is met </a:t>
            </a:r>
          </a:p>
          <a:p>
            <a:pPr algn="ctr"/>
            <a:endParaRPr lang="en-US" dirty="0">
              <a:latin typeface="Candara" panose="020E0502030303020204" pitchFamily="34" charset="0"/>
            </a:endParaRPr>
          </a:p>
          <a:p>
            <a:pPr algn="ctr"/>
            <a:r>
              <a:rPr lang="en-US" dirty="0">
                <a:latin typeface="Candara" panose="020E0502030303020204" pitchFamily="34" charset="0"/>
              </a:rPr>
              <a:t>&lt;L&gt; OP_CHECKLOCKTIMEVERIFY OP_DROP</a:t>
            </a:r>
          </a:p>
          <a:p>
            <a:pPr algn="ctr"/>
            <a:r>
              <a:rPr lang="en-US" dirty="0">
                <a:latin typeface="Candara" panose="020E0502030303020204" pitchFamily="34" charset="0"/>
              </a:rPr>
              <a:t>If the absolute time lock condition fails, the script fails, otherwise, the script succeeds, and OP_DROP removes &lt;L&gt; from the stack, allowing the execution and checking of the subsequent operations on the stack</a:t>
            </a:r>
          </a:p>
        </p:txBody>
      </p:sp>
      <p:sp>
        <p:nvSpPr>
          <p:cNvPr id="3" name="Rectangle 2">
            <a:extLst>
              <a:ext uri="{FF2B5EF4-FFF2-40B4-BE49-F238E27FC236}">
                <a16:creationId xmlns:a16="http://schemas.microsoft.com/office/drawing/2014/main" id="{FB721923-E5E0-162D-BCB9-8EFAAF068E12}"/>
              </a:ext>
            </a:extLst>
          </p:cNvPr>
          <p:cNvSpPr/>
          <p:nvPr/>
        </p:nvSpPr>
        <p:spPr>
          <a:xfrm>
            <a:off x="855489" y="3613453"/>
            <a:ext cx="5240511" cy="656735"/>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a:t>
            </a:r>
          </a:p>
          <a:p>
            <a:pPr algn="ctr"/>
            <a:r>
              <a:rPr lang="en-US" sz="2000" dirty="0">
                <a:solidFill>
                  <a:schemeClr val="tx1"/>
                </a:solidFill>
                <a:latin typeface="Candara" panose="020E0502030303020204" pitchFamily="34" charset="0"/>
              </a:rPr>
              <a:t>&lt;--&gt; &lt;--&gt;</a:t>
            </a:r>
          </a:p>
        </p:txBody>
      </p:sp>
      <p:grpSp>
        <p:nvGrpSpPr>
          <p:cNvPr id="5" name="Group 4">
            <a:extLst>
              <a:ext uri="{FF2B5EF4-FFF2-40B4-BE49-F238E27FC236}">
                <a16:creationId xmlns:a16="http://schemas.microsoft.com/office/drawing/2014/main" id="{F35F0958-1F14-341A-DA2C-B83356774B27}"/>
              </a:ext>
            </a:extLst>
          </p:cNvPr>
          <p:cNvGrpSpPr/>
          <p:nvPr/>
        </p:nvGrpSpPr>
        <p:grpSpPr>
          <a:xfrm>
            <a:off x="855489" y="1055442"/>
            <a:ext cx="5240511" cy="2426758"/>
            <a:chOff x="662546" y="2790923"/>
            <a:chExt cx="4764100" cy="2356163"/>
          </a:xfrm>
        </p:grpSpPr>
        <p:grpSp>
          <p:nvGrpSpPr>
            <p:cNvPr id="6" name="Group 5">
              <a:extLst>
                <a:ext uri="{FF2B5EF4-FFF2-40B4-BE49-F238E27FC236}">
                  <a16:creationId xmlns:a16="http://schemas.microsoft.com/office/drawing/2014/main" id="{4E91A012-0027-DA92-2C79-F47BB5675D5D}"/>
                </a:ext>
              </a:extLst>
            </p:cNvPr>
            <p:cNvGrpSpPr/>
            <p:nvPr/>
          </p:nvGrpSpPr>
          <p:grpSpPr>
            <a:xfrm>
              <a:off x="662546" y="2790923"/>
              <a:ext cx="4764100" cy="2120647"/>
              <a:chOff x="895162" y="2638523"/>
              <a:chExt cx="4764100" cy="2120647"/>
            </a:xfrm>
          </p:grpSpPr>
          <p:grpSp>
            <p:nvGrpSpPr>
              <p:cNvPr id="12" name="Group 11">
                <a:extLst>
                  <a:ext uri="{FF2B5EF4-FFF2-40B4-BE49-F238E27FC236}">
                    <a16:creationId xmlns:a16="http://schemas.microsoft.com/office/drawing/2014/main" id="{5B88F61F-006F-72B8-0E58-90B3E99BB9FA}"/>
                  </a:ext>
                </a:extLst>
              </p:cNvPr>
              <p:cNvGrpSpPr/>
              <p:nvPr/>
            </p:nvGrpSpPr>
            <p:grpSpPr>
              <a:xfrm>
                <a:off x="895162" y="2661534"/>
                <a:ext cx="4764100" cy="2097636"/>
                <a:chOff x="805543" y="3039910"/>
                <a:chExt cx="5057939" cy="2097636"/>
              </a:xfrm>
              <a:noFill/>
            </p:grpSpPr>
            <p:sp>
              <p:nvSpPr>
                <p:cNvPr id="17" name="Rectangle 16">
                  <a:extLst>
                    <a:ext uri="{FF2B5EF4-FFF2-40B4-BE49-F238E27FC236}">
                      <a16:creationId xmlns:a16="http://schemas.microsoft.com/office/drawing/2014/main" id="{761CC781-C54F-F9B6-E420-9037B2050BB1}"/>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Candara" panose="020E0502030303020204" pitchFamily="34" charset="0"/>
                  </a:endParaRPr>
                </a:p>
              </p:txBody>
            </p:sp>
            <p:sp>
              <p:nvSpPr>
                <p:cNvPr id="19" name="Rectangle 18">
                  <a:extLst>
                    <a:ext uri="{FF2B5EF4-FFF2-40B4-BE49-F238E27FC236}">
                      <a16:creationId xmlns:a16="http://schemas.microsoft.com/office/drawing/2014/main" id="{5BB06DD8-9EC8-99AA-4E15-7DA0F5819963}"/>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8" name="Rectangle 27">
                  <a:extLst>
                    <a:ext uri="{FF2B5EF4-FFF2-40B4-BE49-F238E27FC236}">
                      <a16:creationId xmlns:a16="http://schemas.microsoft.com/office/drawing/2014/main" id="{5445BDEC-B1BA-36B1-3B7A-F0C337BCB343}"/>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Candara" panose="020E0502030303020204" pitchFamily="34" charset="0"/>
                  </a:endParaRPr>
                </a:p>
              </p:txBody>
            </p:sp>
            <p:sp>
              <p:nvSpPr>
                <p:cNvPr id="29" name="TextBox 28">
                  <a:extLst>
                    <a:ext uri="{FF2B5EF4-FFF2-40B4-BE49-F238E27FC236}">
                      <a16:creationId xmlns:a16="http://schemas.microsoft.com/office/drawing/2014/main" id="{ADF4DE11-CCF4-CFF0-02E6-C846B97F90E8}"/>
                    </a:ext>
                  </a:extLst>
                </p:cNvPr>
                <p:cNvSpPr txBox="1"/>
                <p:nvPr/>
              </p:nvSpPr>
              <p:spPr>
                <a:xfrm>
                  <a:off x="3391446" y="3583666"/>
                  <a:ext cx="2139942" cy="1553880"/>
                </a:xfrm>
                <a:prstGeom prst="rect">
                  <a:avLst/>
                </a:prstGeom>
                <a:grpFill/>
              </p:spPr>
              <p:txBody>
                <a:bodyPr wrap="square" rtlCol="0" anchor="ctr" anchorCtr="0">
                  <a:spAutoFit/>
                </a:bodyPr>
                <a:lstStyle/>
                <a:p>
                  <a:pPr algn="ctr"/>
                  <a:r>
                    <a:rPr lang="en-US" sz="2000" dirty="0">
                      <a:solidFill>
                        <a:schemeClr val="bg1"/>
                      </a:solidFill>
                      <a:latin typeface="Candara" panose="020E0502030303020204" pitchFamily="34" charset="0"/>
                    </a:rPr>
                    <a:t>Value</a:t>
                  </a:r>
                </a:p>
                <a:p>
                  <a:pPr algn="ctr"/>
                  <a:r>
                    <a:rPr lang="en-US" sz="2000" dirty="0">
                      <a:solidFill>
                        <a:schemeClr val="bg1"/>
                      </a:solidFill>
                      <a:latin typeface="Candara" panose="020E0502030303020204" pitchFamily="34" charset="0"/>
                    </a:rPr>
                    <a:t> </a:t>
                  </a:r>
                </a:p>
                <a:p>
                  <a:pPr algn="ctr"/>
                  <a:r>
                    <a:rPr lang="en-US" sz="2000" dirty="0">
                      <a:solidFill>
                        <a:schemeClr val="bg1"/>
                      </a:solidFill>
                      <a:latin typeface="Candara" panose="020E0502030303020204" pitchFamily="34" charset="0"/>
                    </a:rPr>
                    <a:t>OP_0 </a:t>
                  </a:r>
                </a:p>
                <a:p>
                  <a:pPr algn="ctr"/>
                  <a:r>
                    <a:rPr lang="en-US" sz="2000" dirty="0">
                      <a:solidFill>
                        <a:schemeClr val="bg1"/>
                      </a:solidFill>
                      <a:latin typeface="Candara" panose="020E0502030303020204" pitchFamily="34" charset="0"/>
                    </a:rPr>
                    <a:t>&lt;</a:t>
                  </a:r>
                  <a:r>
                    <a:rPr lang="en-US" sz="2000" dirty="0" err="1">
                      <a:solidFill>
                        <a:schemeClr val="bg1"/>
                      </a:solidFill>
                      <a:latin typeface="Candara" panose="020E0502030303020204" pitchFamily="34" charset="0"/>
                    </a:rPr>
                    <a:t>wsh</a:t>
                  </a:r>
                  <a:r>
                    <a:rPr lang="en-US" sz="2000" dirty="0">
                      <a:solidFill>
                        <a:schemeClr val="bg1"/>
                      </a:solidFill>
                      <a:latin typeface="Candara" panose="020E0502030303020204" pitchFamily="34" charset="0"/>
                    </a:rPr>
                    <a:t>&gt;</a:t>
                  </a:r>
                </a:p>
                <a:p>
                  <a:pPr algn="ctr"/>
                  <a:endParaRPr lang="en-US" dirty="0">
                    <a:latin typeface="Candara" panose="020E0502030303020204" pitchFamily="34" charset="0"/>
                  </a:endParaRPr>
                </a:p>
              </p:txBody>
            </p:sp>
          </p:grpSp>
          <p:sp>
            <p:nvSpPr>
              <p:cNvPr id="16" name="Rectangle 15">
                <a:extLst>
                  <a:ext uri="{FF2B5EF4-FFF2-40B4-BE49-F238E27FC236}">
                    <a16:creationId xmlns:a16="http://schemas.microsoft.com/office/drawing/2014/main" id="{594F20CC-6A0B-08FD-D449-C3DFCAF04C92}"/>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ndara" panose="020E0502030303020204" pitchFamily="34" charset="0"/>
                  </a:rPr>
                  <a:t>nLockTime</a:t>
                </a:r>
                <a:r>
                  <a:rPr lang="en-US" sz="2800" dirty="0">
                    <a:latin typeface="Candara" panose="020E0502030303020204" pitchFamily="34" charset="0"/>
                  </a:rPr>
                  <a:t> = 0</a:t>
                </a:r>
              </a:p>
            </p:txBody>
          </p:sp>
        </p:grpSp>
        <p:sp>
          <p:nvSpPr>
            <p:cNvPr id="8" name="Rectangle 7">
              <a:extLst>
                <a:ext uri="{FF2B5EF4-FFF2-40B4-BE49-F238E27FC236}">
                  <a16:creationId xmlns:a16="http://schemas.microsoft.com/office/drawing/2014/main" id="{9AD62490-2EEC-D0D8-41C3-C0E553D4E992}"/>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CLTV1234</a:t>
              </a:r>
            </a:p>
          </p:txBody>
        </p:sp>
      </p:grpSp>
      <p:sp>
        <p:nvSpPr>
          <p:cNvPr id="34" name="TextBox 33">
            <a:extLst>
              <a:ext uri="{FF2B5EF4-FFF2-40B4-BE49-F238E27FC236}">
                <a16:creationId xmlns:a16="http://schemas.microsoft.com/office/drawing/2014/main" id="{99661E6C-DFB7-E15B-7F67-7A2799CDF519}"/>
              </a:ext>
            </a:extLst>
          </p:cNvPr>
          <p:cNvSpPr txBox="1"/>
          <p:nvPr/>
        </p:nvSpPr>
        <p:spPr>
          <a:xfrm>
            <a:off x="6424392" y="1434138"/>
            <a:ext cx="4473691" cy="2246769"/>
          </a:xfrm>
          <a:prstGeom prst="rect">
            <a:avLst/>
          </a:prstGeom>
          <a:noFill/>
          <a:ln>
            <a:solidFill>
              <a:schemeClr val="accent6">
                <a:lumMod val="50000"/>
              </a:schemeClr>
            </a:solidFill>
          </a:ln>
        </p:spPr>
        <p:txBody>
          <a:bodyPr wrap="square" rtlCol="0">
            <a:spAutoFit/>
          </a:bodyPr>
          <a:lstStyle/>
          <a:p>
            <a:r>
              <a:rPr lang="en-US" sz="2000" b="1" dirty="0">
                <a:latin typeface="Candara" panose="020E0502030303020204" pitchFamily="34" charset="0"/>
              </a:rPr>
              <a:t>Witness Script (</a:t>
            </a:r>
            <a:r>
              <a:rPr lang="en-US" sz="2000" b="1" dirty="0" err="1">
                <a:latin typeface="Candara" panose="020E0502030303020204" pitchFamily="34" charset="0"/>
              </a:rPr>
              <a:t>ws</a:t>
            </a:r>
            <a:r>
              <a:rPr lang="en-US" sz="2000" b="1" dirty="0">
                <a:latin typeface="Candara" panose="020E0502030303020204" pitchFamily="34" charset="0"/>
              </a:rPr>
              <a:t>)</a:t>
            </a:r>
            <a:r>
              <a:rPr lang="en-US" sz="2000" dirty="0">
                <a:latin typeface="Candara" panose="020E0502030303020204" pitchFamily="34" charset="0"/>
              </a:rPr>
              <a:t>:</a:t>
            </a:r>
          </a:p>
          <a:p>
            <a:r>
              <a:rPr lang="en-US" sz="2000" dirty="0">
                <a:latin typeface="Candara" panose="020E0502030303020204" pitchFamily="34" charset="0"/>
              </a:rPr>
              <a:t>&lt;L&gt; OP_CHECKLOCKTIMEVERIFY OP_DROP </a:t>
            </a:r>
          </a:p>
          <a:p>
            <a:r>
              <a:rPr lang="en-US" sz="2000" dirty="0">
                <a:latin typeface="Candara" panose="020E0502030303020204" pitchFamily="34" charset="0"/>
              </a:rPr>
              <a:t>&lt;</a:t>
            </a:r>
            <a:r>
              <a:rPr lang="en-US" sz="2000" dirty="0" err="1">
                <a:latin typeface="Candara" panose="020E0502030303020204" pitchFamily="34" charset="0"/>
              </a:rPr>
              <a:t>pubkey</a:t>
            </a:r>
            <a:r>
              <a:rPr lang="en-US" sz="2000" dirty="0">
                <a:latin typeface="Candara" panose="020E0502030303020204" pitchFamily="34" charset="0"/>
              </a:rPr>
              <a:t>&gt; OP_CHECKSIG</a:t>
            </a:r>
          </a:p>
          <a:p>
            <a:endParaRPr lang="en-US" sz="2000" dirty="0">
              <a:latin typeface="Candara" panose="020E0502030303020204" pitchFamily="34" charset="0"/>
            </a:endParaRPr>
          </a:p>
          <a:p>
            <a:endParaRPr lang="en-US" sz="2000" dirty="0">
              <a:latin typeface="Candara" panose="020E0502030303020204" pitchFamily="34" charset="0"/>
            </a:endParaRPr>
          </a:p>
          <a:p>
            <a:r>
              <a:rPr lang="en-US" sz="2000" dirty="0">
                <a:solidFill>
                  <a:srgbClr val="FF0000"/>
                </a:solidFill>
                <a:latin typeface="Candara" panose="020E0502030303020204" pitchFamily="34" charset="0"/>
              </a:rPr>
              <a:t>&lt;</a:t>
            </a:r>
            <a:r>
              <a:rPr lang="en-US" sz="2000" dirty="0" err="1">
                <a:solidFill>
                  <a:srgbClr val="FF0000"/>
                </a:solidFill>
                <a:latin typeface="Candara" panose="020E0502030303020204" pitchFamily="34" charset="0"/>
              </a:rPr>
              <a:t>wsh</a:t>
            </a:r>
            <a:r>
              <a:rPr lang="en-US" sz="2000" dirty="0">
                <a:solidFill>
                  <a:srgbClr val="FF0000"/>
                </a:solidFill>
                <a:latin typeface="Candara" panose="020E0502030303020204" pitchFamily="34" charset="0"/>
              </a:rPr>
              <a:t>&gt; = SHA256(</a:t>
            </a:r>
            <a:r>
              <a:rPr lang="en-US" sz="2000" dirty="0" err="1">
                <a:solidFill>
                  <a:srgbClr val="FF0000"/>
                </a:solidFill>
                <a:latin typeface="Candara" panose="020E0502030303020204" pitchFamily="34" charset="0"/>
              </a:rPr>
              <a:t>ws</a:t>
            </a:r>
            <a:r>
              <a:rPr lang="en-US" sz="2000" dirty="0">
                <a:solidFill>
                  <a:srgbClr val="FF0000"/>
                </a:solidFill>
                <a:latin typeface="Candara" panose="020E0502030303020204" pitchFamily="34" charset="0"/>
              </a:rPr>
              <a:t>)</a:t>
            </a:r>
            <a:r>
              <a:rPr lang="en-US" sz="2000" dirty="0">
                <a:latin typeface="Candara" panose="020E0502030303020204" pitchFamily="34" charset="0"/>
              </a:rPr>
              <a:t>   </a:t>
            </a:r>
          </a:p>
        </p:txBody>
      </p:sp>
    </p:spTree>
    <p:extLst>
      <p:ext uri="{BB962C8B-B14F-4D97-AF65-F5344CB8AC3E}">
        <p14:creationId xmlns:p14="http://schemas.microsoft.com/office/powerpoint/2010/main" val="191369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15A3-FC8C-C8A3-E2E9-3B75BBB67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F5212-6E23-6D6B-19C4-6355522B77E3}"/>
              </a:ext>
            </a:extLst>
          </p:cNvPr>
          <p:cNvSpPr>
            <a:spLocks noGrp="1"/>
          </p:cNvSpPr>
          <p:nvPr>
            <p:ph type="title"/>
          </p:nvPr>
        </p:nvSpPr>
        <p:spPr/>
        <p:txBody>
          <a:bodyPr/>
          <a:lstStyle/>
          <a:p>
            <a:r>
              <a:rPr lang="en-US" dirty="0"/>
              <a:t>Relative Time Lock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86D7DE-F12B-F1BF-2AF8-FCE9B417FC1F}"/>
                  </a:ext>
                </a:extLst>
              </p:cNvPr>
              <p:cNvSpPr>
                <a:spLocks noGrp="1"/>
              </p:cNvSpPr>
              <p:nvPr>
                <p:ph idx="1"/>
              </p:nvPr>
            </p:nvSpPr>
            <p:spPr/>
            <p:txBody>
              <a:bodyPr>
                <a:normAutofit fontScale="92500" lnSpcReduction="10000"/>
              </a:bodyPr>
              <a:lstStyle/>
              <a:p>
                <a:r>
                  <a:rPr lang="en-US" dirty="0"/>
                  <a:t>Relative time locks can be specified in either blocks or time units</a:t>
                </a:r>
              </a:p>
              <a:p>
                <a:r>
                  <a:rPr lang="en-US" dirty="0"/>
                  <a:t>A </a:t>
                </a:r>
                <a:r>
                  <a:rPr lang="en-US" i="1" dirty="0"/>
                  <a:t>relative time lock of L blocks </a:t>
                </a:r>
                <a:r>
                  <a:rPr lang="en-US" dirty="0"/>
                  <a:t>on a UTXO means that it can only be spent after at least L confirmations</a:t>
                </a:r>
              </a:p>
              <a:p>
                <a:r>
                  <a:rPr lang="en-US" dirty="0"/>
                  <a:t>A </a:t>
                </a:r>
                <a:r>
                  <a:rPr lang="en-US" i="1" dirty="0"/>
                  <a:t>relative time lock of L time units </a:t>
                </a:r>
                <a:r>
                  <a:rPr lang="en-US" dirty="0"/>
                  <a:t>on a UTXO means that it can only be spent after at least L time units have passed since its confirmation </a:t>
                </a:r>
              </a:p>
              <a:p>
                <a:r>
                  <a:rPr lang="en-US" dirty="0"/>
                  <a:t>A time unit is defined as 512 seconds whereas a block is generated on average after 600 s</a:t>
                </a:r>
              </a:p>
              <a:p>
                <a:pPr lvl="1"/>
                <a:r>
                  <a:rPr lang="en-US" dirty="0"/>
                  <a:t>The value of 512 is chosen because it is equal to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2</m:t>
                        </m:r>
                      </m:e>
                      <m:sup>
                        <m:r>
                          <a:rPr lang="en-US" i="1" dirty="0" smtClean="0">
                            <a:latin typeface="Cambria Math" panose="02040503050406030204" pitchFamily="18" charset="0"/>
                          </a:rPr>
                          <m:t>9</m:t>
                        </m:r>
                      </m:sup>
                    </m:sSup>
                  </m:oMath>
                </a14:m>
                <a:r>
                  <a:rPr lang="en-US" dirty="0"/>
                  <a:t>, which simplifies encoding  </a:t>
                </a:r>
              </a:p>
              <a:p>
                <a:r>
                  <a:rPr lang="en-US" dirty="0"/>
                  <a:t>A flag bit in the BIP68 encoding scheme is used to distinguish whether the relative time lock is specified in blocks or in time units</a:t>
                </a:r>
              </a:p>
            </p:txBody>
          </p:sp>
        </mc:Choice>
        <mc:Fallback xmlns="">
          <p:sp>
            <p:nvSpPr>
              <p:cNvPr id="3" name="Content Placeholder 2">
                <a:extLst>
                  <a:ext uri="{FF2B5EF4-FFF2-40B4-BE49-F238E27FC236}">
                    <a16:creationId xmlns:a16="http://schemas.microsoft.com/office/drawing/2014/main" id="{DB86D7DE-F12B-F1BF-2AF8-FCE9B417FC1F}"/>
                  </a:ext>
                </a:extLst>
              </p:cNvPr>
              <p:cNvSpPr>
                <a:spLocks noGrp="1" noRot="1" noChangeAspect="1" noMove="1" noResize="1" noEditPoints="1" noAdjustHandles="1" noChangeArrowheads="1" noChangeShapeType="1" noTextEdit="1"/>
              </p:cNvSpPr>
              <p:nvPr>
                <p:ph idx="1"/>
              </p:nvPr>
            </p:nvSpPr>
            <p:spPr>
              <a:blipFill>
                <a:blip r:embed="rId3"/>
                <a:stretch>
                  <a:fillRect l="-1090" t="-3121" r="-1308" b="-156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726B031-FCB9-F4C6-91C6-7CDFD1ED5FBB}"/>
              </a:ext>
            </a:extLst>
          </p:cNvPr>
          <p:cNvSpPr>
            <a:spLocks noGrp="1"/>
          </p:cNvSpPr>
          <p:nvPr>
            <p:ph type="sldNum" sz="quarter" idx="12"/>
          </p:nvPr>
        </p:nvSpPr>
        <p:spPr/>
        <p:txBody>
          <a:bodyPr/>
          <a:lstStyle/>
          <a:p>
            <a:fld id="{D57F1E4F-1CFF-5643-939E-217C01CDF565}" type="slidenum">
              <a:rPr lang="en-US" smtClean="0"/>
              <a:pPr/>
              <a:t>64</a:t>
            </a:fld>
            <a:endParaRPr lang="en-US" dirty="0"/>
          </a:p>
        </p:txBody>
      </p:sp>
    </p:spTree>
    <p:extLst>
      <p:ext uri="{BB962C8B-B14F-4D97-AF65-F5344CB8AC3E}">
        <p14:creationId xmlns:p14="http://schemas.microsoft.com/office/powerpoint/2010/main" val="136044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93FD1-789E-84B7-8D57-65DACBDB3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C2668-138C-3C73-F7BD-D17AE62AA851}"/>
              </a:ext>
            </a:extLst>
          </p:cNvPr>
          <p:cNvSpPr>
            <a:spLocks noGrp="1"/>
          </p:cNvSpPr>
          <p:nvPr>
            <p:ph type="title"/>
          </p:nvPr>
        </p:nvSpPr>
        <p:spPr/>
        <p:txBody>
          <a:bodyPr/>
          <a:lstStyle/>
          <a:p>
            <a:r>
              <a:rPr lang="en-US" dirty="0"/>
              <a:t>CSV + </a:t>
            </a:r>
            <a:r>
              <a:rPr lang="en-US" dirty="0" err="1"/>
              <a:t>nSequence</a:t>
            </a:r>
            <a:endParaRPr lang="en-US" dirty="0"/>
          </a:p>
        </p:txBody>
      </p:sp>
      <p:sp>
        <p:nvSpPr>
          <p:cNvPr id="4" name="Slide Number Placeholder 3">
            <a:extLst>
              <a:ext uri="{FF2B5EF4-FFF2-40B4-BE49-F238E27FC236}">
                <a16:creationId xmlns:a16="http://schemas.microsoft.com/office/drawing/2014/main" id="{91837446-4E87-F284-E42C-8665BFF422DE}"/>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65</a:t>
            </a:fld>
            <a:endParaRPr lang="en-US" dirty="0">
              <a:latin typeface="Candara" panose="020E0502030303020204" pitchFamily="34" charset="0"/>
            </a:endParaRPr>
          </a:p>
        </p:txBody>
      </p:sp>
      <p:sp>
        <p:nvSpPr>
          <p:cNvPr id="29" name="TextBox 28">
            <a:extLst>
              <a:ext uri="{FF2B5EF4-FFF2-40B4-BE49-F238E27FC236}">
                <a16:creationId xmlns:a16="http://schemas.microsoft.com/office/drawing/2014/main" id="{E76BF8A3-5F73-74D7-EB8A-93AD36402340}"/>
              </a:ext>
            </a:extLst>
          </p:cNvPr>
          <p:cNvSpPr txBox="1"/>
          <p:nvPr/>
        </p:nvSpPr>
        <p:spPr>
          <a:xfrm>
            <a:off x="357607" y="1031131"/>
            <a:ext cx="11350463" cy="430887"/>
          </a:xfrm>
          <a:prstGeom prst="rect">
            <a:avLst/>
          </a:prstGeom>
          <a:noFill/>
        </p:spPr>
        <p:txBody>
          <a:bodyPr wrap="square" rtlCol="0">
            <a:spAutoFit/>
          </a:bodyPr>
          <a:lstStyle/>
          <a:p>
            <a:pPr algn="ctr"/>
            <a:r>
              <a:rPr lang="en-US" sz="2200" dirty="0">
                <a:solidFill>
                  <a:srgbClr val="7030A0"/>
                </a:solidFill>
                <a:latin typeface="Candara" panose="020E0502030303020204" pitchFamily="34" charset="0"/>
              </a:rPr>
              <a:t>Relative time lock is enforced through a combination of CSV script and </a:t>
            </a:r>
            <a:r>
              <a:rPr lang="en-US" sz="2200" dirty="0" err="1">
                <a:solidFill>
                  <a:srgbClr val="7030A0"/>
                </a:solidFill>
                <a:latin typeface="Candara" panose="020E0502030303020204" pitchFamily="34" charset="0"/>
              </a:rPr>
              <a:t>nSequence</a:t>
            </a:r>
            <a:r>
              <a:rPr lang="en-US" sz="2200" dirty="0">
                <a:solidFill>
                  <a:srgbClr val="7030A0"/>
                </a:solidFill>
                <a:latin typeface="Candara" panose="020E0502030303020204" pitchFamily="34" charset="0"/>
              </a:rPr>
              <a:t> field </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DF6A45B-86D9-D880-21D1-99952A337354}"/>
                  </a:ext>
                </a:extLst>
              </p:cNvPr>
              <p:cNvSpPr txBox="1"/>
              <p:nvPr/>
            </p:nvSpPr>
            <p:spPr>
              <a:xfrm>
                <a:off x="565915" y="4942265"/>
                <a:ext cx="5596035"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ndara" panose="020E0502030303020204" pitchFamily="34" charset="0"/>
                  </a:rPr>
                  <a:t>Even if the parent output’s relative lock has expired, the child is still required to set </a:t>
                </a:r>
                <a:r>
                  <a:rPr lang="en-US" dirty="0" err="1">
                    <a:latin typeface="Candara" panose="020E0502030303020204" pitchFamily="34" charset="0"/>
                  </a:rPr>
                  <a:t>nSequence</a:t>
                </a:r>
                <a:r>
                  <a:rPr lang="en-US" dirty="0">
                    <a:latin typeface="Candara" panose="020E0502030303020204" pitchFamily="34"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latin typeface="Candara" panose="020E0502030303020204" pitchFamily="34" charset="0"/>
                  </a:rPr>
                  <a:t> L</a:t>
                </a:r>
              </a:p>
              <a:p>
                <a:pPr marL="285750" indent="-285750">
                  <a:buFont typeface="Arial" panose="020B0604020202020204" pitchFamily="34" charset="0"/>
                  <a:buChar char="•"/>
                </a:pPr>
                <a:r>
                  <a:rPr lang="en-US" dirty="0" err="1">
                    <a:latin typeface="Candara" panose="020E0502030303020204" pitchFamily="34" charset="0"/>
                  </a:rPr>
                  <a:t>nSequence</a:t>
                </a:r>
                <a:r>
                  <a:rPr lang="en-US" dirty="0">
                    <a:latin typeface="Candara" panose="020E0502030303020204" pitchFamily="34" charset="0"/>
                  </a:rPr>
                  <a:t> signals to the script that the input is spending a relative lock output to differentiate it from normal outputs without any locks</a:t>
                </a:r>
              </a:p>
            </p:txBody>
          </p:sp>
        </mc:Choice>
        <mc:Fallback xmlns="">
          <p:sp>
            <p:nvSpPr>
              <p:cNvPr id="30" name="TextBox 29">
                <a:extLst>
                  <a:ext uri="{FF2B5EF4-FFF2-40B4-BE49-F238E27FC236}">
                    <a16:creationId xmlns:a16="http://schemas.microsoft.com/office/drawing/2014/main" id="{1DF6A45B-86D9-D880-21D1-99952A337354}"/>
                  </a:ext>
                </a:extLst>
              </p:cNvPr>
              <p:cNvSpPr txBox="1">
                <a:spLocks noRot="1" noChangeAspect="1" noMove="1" noResize="1" noEditPoints="1" noAdjustHandles="1" noChangeArrowheads="1" noChangeShapeType="1" noTextEdit="1"/>
              </p:cNvSpPr>
              <p:nvPr/>
            </p:nvSpPr>
            <p:spPr>
              <a:xfrm>
                <a:off x="565915" y="4942265"/>
                <a:ext cx="5596035" cy="1477328"/>
              </a:xfrm>
              <a:prstGeom prst="rect">
                <a:avLst/>
              </a:prstGeom>
              <a:blipFill>
                <a:blip r:embed="rId3"/>
                <a:stretch>
                  <a:fillRect l="-763" t="-2479" b="-5785"/>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E6F5048F-A965-DDAD-B4AB-3BE51D787AED}"/>
              </a:ext>
            </a:extLst>
          </p:cNvPr>
          <p:cNvSpPr/>
          <p:nvPr/>
        </p:nvSpPr>
        <p:spPr>
          <a:xfrm>
            <a:off x="854008" y="4042180"/>
            <a:ext cx="4764101" cy="59703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a:t>
            </a:r>
          </a:p>
          <a:p>
            <a:pPr algn="ctr"/>
            <a:r>
              <a:rPr lang="en-US" sz="2000" dirty="0">
                <a:solidFill>
                  <a:schemeClr val="tx1"/>
                </a:solidFill>
                <a:latin typeface="Candara" panose="020E0502030303020204" pitchFamily="34" charset="0"/>
              </a:rPr>
              <a:t>&lt;--&gt; &lt;--&gt;</a:t>
            </a:r>
          </a:p>
        </p:txBody>
      </p:sp>
      <p:grpSp>
        <p:nvGrpSpPr>
          <p:cNvPr id="31" name="Group 30">
            <a:extLst>
              <a:ext uri="{FF2B5EF4-FFF2-40B4-BE49-F238E27FC236}">
                <a16:creationId xmlns:a16="http://schemas.microsoft.com/office/drawing/2014/main" id="{4D184899-1D76-7D62-C663-43768D5FCFF1}"/>
              </a:ext>
            </a:extLst>
          </p:cNvPr>
          <p:cNvGrpSpPr/>
          <p:nvPr/>
        </p:nvGrpSpPr>
        <p:grpSpPr>
          <a:xfrm>
            <a:off x="854008" y="1721041"/>
            <a:ext cx="4764101" cy="2206144"/>
            <a:chOff x="662546" y="2790923"/>
            <a:chExt cx="4764100" cy="2356163"/>
          </a:xfrm>
        </p:grpSpPr>
        <p:grpSp>
          <p:nvGrpSpPr>
            <p:cNvPr id="32" name="Group 31">
              <a:extLst>
                <a:ext uri="{FF2B5EF4-FFF2-40B4-BE49-F238E27FC236}">
                  <a16:creationId xmlns:a16="http://schemas.microsoft.com/office/drawing/2014/main" id="{90E67E31-F649-7DD0-0CCB-42D9A1C86655}"/>
                </a:ext>
              </a:extLst>
            </p:cNvPr>
            <p:cNvGrpSpPr/>
            <p:nvPr/>
          </p:nvGrpSpPr>
          <p:grpSpPr>
            <a:xfrm>
              <a:off x="662546" y="2790923"/>
              <a:ext cx="4764100" cy="2045687"/>
              <a:chOff x="895162" y="2638523"/>
              <a:chExt cx="4764100" cy="2045687"/>
            </a:xfrm>
          </p:grpSpPr>
          <p:grpSp>
            <p:nvGrpSpPr>
              <p:cNvPr id="34" name="Group 33">
                <a:extLst>
                  <a:ext uri="{FF2B5EF4-FFF2-40B4-BE49-F238E27FC236}">
                    <a16:creationId xmlns:a16="http://schemas.microsoft.com/office/drawing/2014/main" id="{D04876F7-25C4-FF76-2D96-7D99BDFAC303}"/>
                  </a:ext>
                </a:extLst>
              </p:cNvPr>
              <p:cNvGrpSpPr/>
              <p:nvPr/>
            </p:nvGrpSpPr>
            <p:grpSpPr>
              <a:xfrm>
                <a:off x="895162" y="2661534"/>
                <a:ext cx="4764100" cy="2022676"/>
                <a:chOff x="805543" y="3039910"/>
                <a:chExt cx="5057939" cy="2022676"/>
              </a:xfrm>
              <a:noFill/>
            </p:grpSpPr>
            <p:sp>
              <p:nvSpPr>
                <p:cNvPr id="36" name="Rectangle 35">
                  <a:extLst>
                    <a:ext uri="{FF2B5EF4-FFF2-40B4-BE49-F238E27FC236}">
                      <a16:creationId xmlns:a16="http://schemas.microsoft.com/office/drawing/2014/main" id="{7453787E-F8C8-EE28-656F-E64A573238D5}"/>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Candara" panose="020E0502030303020204" pitchFamily="34" charset="0"/>
                  </a:endParaRPr>
                </a:p>
              </p:txBody>
            </p:sp>
            <p:sp>
              <p:nvSpPr>
                <p:cNvPr id="37" name="Rectangle 36">
                  <a:extLst>
                    <a:ext uri="{FF2B5EF4-FFF2-40B4-BE49-F238E27FC236}">
                      <a16:creationId xmlns:a16="http://schemas.microsoft.com/office/drawing/2014/main" id="{247981A2-AA95-69CB-0BD0-80AE9FB6246A}"/>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8" name="Rectangle 37">
                  <a:extLst>
                    <a:ext uri="{FF2B5EF4-FFF2-40B4-BE49-F238E27FC236}">
                      <a16:creationId xmlns:a16="http://schemas.microsoft.com/office/drawing/2014/main" id="{1043AEFD-4E26-32B9-EA55-12B5AD6BFFAC}"/>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Candara" panose="020E0502030303020204" pitchFamily="34" charset="0"/>
                  </a:endParaRPr>
                </a:p>
              </p:txBody>
            </p:sp>
            <p:sp>
              <p:nvSpPr>
                <p:cNvPr id="39" name="TextBox 38">
                  <a:extLst>
                    <a:ext uri="{FF2B5EF4-FFF2-40B4-BE49-F238E27FC236}">
                      <a16:creationId xmlns:a16="http://schemas.microsoft.com/office/drawing/2014/main" id="{EA219A90-7AE2-7953-D11E-69506B64BE41}"/>
                    </a:ext>
                  </a:extLst>
                </p:cNvPr>
                <p:cNvSpPr txBox="1"/>
                <p:nvPr/>
              </p:nvSpPr>
              <p:spPr>
                <a:xfrm>
                  <a:off x="3391445" y="3670323"/>
                  <a:ext cx="2139942" cy="1380564"/>
                </a:xfrm>
                <a:prstGeom prst="rect">
                  <a:avLst/>
                </a:prstGeom>
                <a:grpFill/>
              </p:spPr>
              <p:txBody>
                <a:bodyPr wrap="square" rtlCol="0" anchor="ctr" anchorCtr="0">
                  <a:spAutoFit/>
                </a:bodyPr>
                <a:lstStyle/>
                <a:p>
                  <a:pPr algn="ctr"/>
                  <a:r>
                    <a:rPr lang="en-US" sz="1600" dirty="0">
                      <a:solidFill>
                        <a:schemeClr val="bg1"/>
                      </a:solidFill>
                      <a:latin typeface="Candara" panose="020E0502030303020204" pitchFamily="34" charset="0"/>
                    </a:rPr>
                    <a:t>Value</a:t>
                  </a:r>
                </a:p>
                <a:p>
                  <a:pPr algn="ctr"/>
                  <a:r>
                    <a:rPr lang="en-US" sz="1600" dirty="0">
                      <a:solidFill>
                        <a:schemeClr val="bg1"/>
                      </a:solidFill>
                      <a:latin typeface="Candara" panose="020E0502030303020204" pitchFamily="34" charset="0"/>
                    </a:rPr>
                    <a:t> </a:t>
                  </a:r>
                </a:p>
                <a:p>
                  <a:pPr algn="ctr"/>
                  <a:r>
                    <a:rPr lang="en-US" sz="1600" dirty="0">
                      <a:solidFill>
                        <a:schemeClr val="bg1"/>
                      </a:solidFill>
                      <a:latin typeface="Candara" panose="020E0502030303020204" pitchFamily="34" charset="0"/>
                    </a:rPr>
                    <a:t>OP_0 </a:t>
                  </a:r>
                </a:p>
                <a:p>
                  <a:pPr algn="ctr"/>
                  <a:r>
                    <a:rPr lang="en-US" sz="1600" dirty="0">
                      <a:solidFill>
                        <a:schemeClr val="bg1"/>
                      </a:solidFill>
                      <a:latin typeface="Candara" panose="020E0502030303020204" pitchFamily="34" charset="0"/>
                    </a:rPr>
                    <a:t>&lt;</a:t>
                  </a:r>
                  <a:r>
                    <a:rPr lang="en-US" sz="1600" dirty="0" err="1">
                      <a:solidFill>
                        <a:schemeClr val="bg1"/>
                      </a:solidFill>
                      <a:latin typeface="Candara" panose="020E0502030303020204" pitchFamily="34" charset="0"/>
                    </a:rPr>
                    <a:t>wsh</a:t>
                  </a:r>
                  <a:r>
                    <a:rPr lang="en-US" sz="1600" dirty="0">
                      <a:solidFill>
                        <a:schemeClr val="bg1"/>
                      </a:solidFill>
                      <a:latin typeface="Candara" panose="020E0502030303020204" pitchFamily="34" charset="0"/>
                    </a:rPr>
                    <a:t>&gt;</a:t>
                  </a:r>
                </a:p>
                <a:p>
                  <a:pPr algn="ctr"/>
                  <a:endParaRPr lang="en-US" sz="1400" dirty="0">
                    <a:latin typeface="Candara" panose="020E0502030303020204" pitchFamily="34" charset="0"/>
                  </a:endParaRPr>
                </a:p>
              </p:txBody>
            </p:sp>
          </p:grpSp>
          <p:sp>
            <p:nvSpPr>
              <p:cNvPr id="35" name="Rectangle 34">
                <a:extLst>
                  <a:ext uri="{FF2B5EF4-FFF2-40B4-BE49-F238E27FC236}">
                    <a16:creationId xmlns:a16="http://schemas.microsoft.com/office/drawing/2014/main" id="{D2E0D846-52E4-C1B3-D7B2-1E07D7EC55F0}"/>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atin typeface="Candara" panose="020E0502030303020204" pitchFamily="34" charset="0"/>
                  </a:rPr>
                  <a:t>nLockTime</a:t>
                </a:r>
                <a:r>
                  <a:rPr lang="en-US" sz="2400" dirty="0">
                    <a:latin typeface="Candara" panose="020E0502030303020204" pitchFamily="34" charset="0"/>
                  </a:rPr>
                  <a:t> = 0</a:t>
                </a:r>
              </a:p>
            </p:txBody>
          </p:sp>
        </p:grpSp>
        <p:sp>
          <p:nvSpPr>
            <p:cNvPr id="33" name="Rectangle 32">
              <a:extLst>
                <a:ext uri="{FF2B5EF4-FFF2-40B4-BE49-F238E27FC236}">
                  <a16:creationId xmlns:a16="http://schemas.microsoft.com/office/drawing/2014/main" id="{E50B3F33-9895-A264-C0AE-F13B5ADD571A}"/>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CSV1234</a:t>
              </a:r>
            </a:p>
          </p:txBody>
        </p:sp>
      </p:grpSp>
      <p:sp>
        <p:nvSpPr>
          <p:cNvPr id="40" name="Rectangle 39">
            <a:extLst>
              <a:ext uri="{FF2B5EF4-FFF2-40B4-BE49-F238E27FC236}">
                <a16:creationId xmlns:a16="http://schemas.microsoft.com/office/drawing/2014/main" id="{CBEC4CAE-D6F3-59C0-819D-88E71D4F91BB}"/>
              </a:ext>
            </a:extLst>
          </p:cNvPr>
          <p:cNvSpPr/>
          <p:nvPr/>
        </p:nvSpPr>
        <p:spPr>
          <a:xfrm>
            <a:off x="6754117" y="4037727"/>
            <a:ext cx="4764101" cy="59703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a:t>
            </a:r>
          </a:p>
          <a:p>
            <a:pPr algn="ctr"/>
            <a:r>
              <a:rPr lang="en-US" sz="2000" dirty="0">
                <a:solidFill>
                  <a:schemeClr val="tx1"/>
                </a:solidFill>
                <a:latin typeface="Candara" panose="020E0502030303020204" pitchFamily="34" charset="0"/>
              </a:rPr>
              <a:t>&lt;signature&gt; &lt;</a:t>
            </a:r>
            <a:r>
              <a:rPr lang="en-US" sz="2000" dirty="0" err="1">
                <a:solidFill>
                  <a:schemeClr val="tx1"/>
                </a:solidFill>
                <a:latin typeface="Candara" panose="020E0502030303020204" pitchFamily="34" charset="0"/>
              </a:rPr>
              <a:t>ws</a:t>
            </a:r>
            <a:r>
              <a:rPr lang="en-US" sz="2000" dirty="0">
                <a:solidFill>
                  <a:schemeClr val="tx1"/>
                </a:solidFill>
                <a:latin typeface="Candara" panose="020E0502030303020204" pitchFamily="34" charset="0"/>
              </a:rPr>
              <a:t>&gt;</a:t>
            </a:r>
          </a:p>
        </p:txBody>
      </p:sp>
      <p:grpSp>
        <p:nvGrpSpPr>
          <p:cNvPr id="41" name="Group 40">
            <a:extLst>
              <a:ext uri="{FF2B5EF4-FFF2-40B4-BE49-F238E27FC236}">
                <a16:creationId xmlns:a16="http://schemas.microsoft.com/office/drawing/2014/main" id="{3444C6FA-AC3B-CDAD-BDBA-45EBA3C5BF7E}"/>
              </a:ext>
            </a:extLst>
          </p:cNvPr>
          <p:cNvGrpSpPr/>
          <p:nvPr/>
        </p:nvGrpSpPr>
        <p:grpSpPr>
          <a:xfrm>
            <a:off x="6754117" y="1716588"/>
            <a:ext cx="4764101" cy="2206144"/>
            <a:chOff x="662546" y="2790923"/>
            <a:chExt cx="4764100" cy="2356163"/>
          </a:xfrm>
        </p:grpSpPr>
        <p:grpSp>
          <p:nvGrpSpPr>
            <p:cNvPr id="42" name="Group 41">
              <a:extLst>
                <a:ext uri="{FF2B5EF4-FFF2-40B4-BE49-F238E27FC236}">
                  <a16:creationId xmlns:a16="http://schemas.microsoft.com/office/drawing/2014/main" id="{4B2CCCF6-9F1F-F9DD-E0BE-63ED6520B8C7}"/>
                </a:ext>
              </a:extLst>
            </p:cNvPr>
            <p:cNvGrpSpPr/>
            <p:nvPr/>
          </p:nvGrpSpPr>
          <p:grpSpPr>
            <a:xfrm>
              <a:off x="662546" y="2790923"/>
              <a:ext cx="4764100" cy="2045687"/>
              <a:chOff x="895162" y="2638523"/>
              <a:chExt cx="4764100" cy="2045687"/>
            </a:xfrm>
          </p:grpSpPr>
          <p:grpSp>
            <p:nvGrpSpPr>
              <p:cNvPr id="44" name="Group 43">
                <a:extLst>
                  <a:ext uri="{FF2B5EF4-FFF2-40B4-BE49-F238E27FC236}">
                    <a16:creationId xmlns:a16="http://schemas.microsoft.com/office/drawing/2014/main" id="{FD511BEF-9725-F4A7-979F-AC27502179CC}"/>
                  </a:ext>
                </a:extLst>
              </p:cNvPr>
              <p:cNvGrpSpPr/>
              <p:nvPr/>
            </p:nvGrpSpPr>
            <p:grpSpPr>
              <a:xfrm>
                <a:off x="895162" y="2661534"/>
                <a:ext cx="4764100" cy="2022676"/>
                <a:chOff x="805543" y="3039910"/>
                <a:chExt cx="5057939" cy="2022676"/>
              </a:xfrm>
              <a:noFill/>
            </p:grpSpPr>
            <p:sp>
              <p:nvSpPr>
                <p:cNvPr id="46" name="Rectangle 45">
                  <a:extLst>
                    <a:ext uri="{FF2B5EF4-FFF2-40B4-BE49-F238E27FC236}">
                      <a16:creationId xmlns:a16="http://schemas.microsoft.com/office/drawing/2014/main" id="{C117BAA5-90DA-E03B-4983-7BE25AD05243}"/>
                    </a:ext>
                  </a:extLst>
                </p:cNvPr>
                <p:cNvSpPr/>
                <p:nvPr/>
              </p:nvSpPr>
              <p:spPr>
                <a:xfrm>
                  <a:off x="805543" y="3039910"/>
                  <a:ext cx="5057939" cy="1905633"/>
                </a:xfrm>
                <a:prstGeom prst="rect">
                  <a:avLst/>
                </a:prstGeom>
                <a:solidFill>
                  <a:schemeClr val="accent6">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Candara" panose="020E0502030303020204" pitchFamily="34" charset="0"/>
                  </a:endParaRPr>
                </a:p>
              </p:txBody>
            </p:sp>
            <p:sp>
              <p:nvSpPr>
                <p:cNvPr id="47" name="Rectangle 46">
                  <a:extLst>
                    <a:ext uri="{FF2B5EF4-FFF2-40B4-BE49-F238E27FC236}">
                      <a16:creationId xmlns:a16="http://schemas.microsoft.com/office/drawing/2014/main" id="{95655A20-36B2-6648-57EC-AC243BB48538}"/>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8" name="Rectangle 47">
                  <a:extLst>
                    <a:ext uri="{FF2B5EF4-FFF2-40B4-BE49-F238E27FC236}">
                      <a16:creationId xmlns:a16="http://schemas.microsoft.com/office/drawing/2014/main" id="{B37C6CCB-BDFB-A770-6F44-D8CEEA3944C7}"/>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Candara" panose="020E0502030303020204" pitchFamily="34" charset="0"/>
                  </a:endParaRPr>
                </a:p>
              </p:txBody>
            </p:sp>
          </p:grpSp>
          <p:sp>
            <p:nvSpPr>
              <p:cNvPr id="45" name="Rectangle 44">
                <a:extLst>
                  <a:ext uri="{FF2B5EF4-FFF2-40B4-BE49-F238E27FC236}">
                    <a16:creationId xmlns:a16="http://schemas.microsoft.com/office/drawing/2014/main" id="{0134E1F0-6B89-7669-2D8F-FC46367091B9}"/>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andara" panose="020E0502030303020204" pitchFamily="34" charset="0"/>
                  </a:rPr>
                  <a:t>nLockTime</a:t>
                </a:r>
                <a:r>
                  <a:rPr lang="en-US" sz="2400" dirty="0">
                    <a:solidFill>
                      <a:schemeClr val="tx1"/>
                    </a:solidFill>
                    <a:latin typeface="Candara" panose="020E0502030303020204" pitchFamily="34" charset="0"/>
                  </a:rPr>
                  <a:t> = 0</a:t>
                </a:r>
              </a:p>
            </p:txBody>
          </p:sp>
        </p:grpSp>
        <p:sp>
          <p:nvSpPr>
            <p:cNvPr id="43" name="Rectangle 42">
              <a:extLst>
                <a:ext uri="{FF2B5EF4-FFF2-40B4-BE49-F238E27FC236}">
                  <a16:creationId xmlns:a16="http://schemas.microsoft.com/office/drawing/2014/main" id="{C9290ECD-575D-ACC3-E901-100C67E54C5B}"/>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CSVnseq1234</a:t>
              </a:r>
            </a:p>
          </p:txBody>
        </p:sp>
      </p:grpSp>
      <p:grpSp>
        <p:nvGrpSpPr>
          <p:cNvPr id="49" name="Group 48">
            <a:extLst>
              <a:ext uri="{FF2B5EF4-FFF2-40B4-BE49-F238E27FC236}">
                <a16:creationId xmlns:a16="http://schemas.microsoft.com/office/drawing/2014/main" id="{216A109D-599D-3B4C-F667-3A1B245AF99E}"/>
              </a:ext>
            </a:extLst>
          </p:cNvPr>
          <p:cNvGrpSpPr/>
          <p:nvPr/>
        </p:nvGrpSpPr>
        <p:grpSpPr>
          <a:xfrm>
            <a:off x="5618109" y="3021045"/>
            <a:ext cx="1136007" cy="1348827"/>
            <a:chOff x="5426646" y="4367463"/>
            <a:chExt cx="1400086" cy="1745433"/>
          </a:xfrm>
        </p:grpSpPr>
        <p:cxnSp>
          <p:nvCxnSpPr>
            <p:cNvPr id="50" name="Straight Connector 49">
              <a:extLst>
                <a:ext uri="{FF2B5EF4-FFF2-40B4-BE49-F238E27FC236}">
                  <a16:creationId xmlns:a16="http://schemas.microsoft.com/office/drawing/2014/main" id="{67CD1D87-7C33-B1D2-AB6C-C19443B945D3}"/>
                </a:ext>
              </a:extLst>
            </p:cNvPr>
            <p:cNvCxnSpPr>
              <a:cxnSpLocks/>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CDF62E6-E253-6504-CA47-E1DFD91C4025}"/>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26506E9-EC7E-5FA4-904E-05A555A342E2}"/>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cxnSp>
        <p:nvCxnSpPr>
          <p:cNvPr id="53" name="Straight Arrow Connector 52">
            <a:extLst>
              <a:ext uri="{FF2B5EF4-FFF2-40B4-BE49-F238E27FC236}">
                <a16:creationId xmlns:a16="http://schemas.microsoft.com/office/drawing/2014/main" id="{EA95EB99-BE30-034D-17B0-974220DCAFEC}"/>
              </a:ext>
            </a:extLst>
          </p:cNvPr>
          <p:cNvCxnSpPr>
            <a:cxnSpLocks/>
          </p:cNvCxnSpPr>
          <p:nvPr/>
        </p:nvCxnSpPr>
        <p:spPr>
          <a:xfrm flipH="1">
            <a:off x="5618109" y="2737168"/>
            <a:ext cx="113600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147301B-FCD5-EC81-8C31-13360C569038}"/>
              </a:ext>
            </a:extLst>
          </p:cNvPr>
          <p:cNvSpPr txBox="1"/>
          <p:nvPr/>
        </p:nvSpPr>
        <p:spPr>
          <a:xfrm>
            <a:off x="7167087" y="2285361"/>
            <a:ext cx="1858256" cy="1077218"/>
          </a:xfrm>
          <a:prstGeom prst="rect">
            <a:avLst/>
          </a:prstGeom>
          <a:noFill/>
        </p:spPr>
        <p:txBody>
          <a:bodyPr wrap="square" rtlCol="0">
            <a:spAutoFit/>
          </a:bodyPr>
          <a:lstStyle/>
          <a:p>
            <a:pPr algn="ctr"/>
            <a:r>
              <a:rPr lang="en-US" sz="1600" dirty="0">
                <a:solidFill>
                  <a:schemeClr val="bg1"/>
                </a:solidFill>
                <a:latin typeface="Candara" panose="020E0502030303020204" pitchFamily="34" charset="0"/>
              </a:rPr>
              <a:t>Prev </a:t>
            </a:r>
            <a:r>
              <a:rPr lang="en-US" sz="1600" dirty="0" err="1">
                <a:solidFill>
                  <a:schemeClr val="bg1"/>
                </a:solidFill>
                <a:latin typeface="Candara" panose="020E0502030303020204" pitchFamily="34" charset="0"/>
              </a:rPr>
              <a:t>Txid</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Idx</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scriptSig</a:t>
            </a:r>
            <a:r>
              <a:rPr lang="en-US" sz="1600" dirty="0">
                <a:solidFill>
                  <a:schemeClr val="bg1"/>
                </a:solidFill>
                <a:latin typeface="Candara" panose="020E0502030303020204" pitchFamily="34" charset="0"/>
              </a:rPr>
              <a:t>=empty</a:t>
            </a:r>
          </a:p>
          <a:p>
            <a:pPr algn="ctr"/>
            <a:r>
              <a:rPr lang="en-US" sz="1600" i="1" dirty="0" err="1">
                <a:solidFill>
                  <a:schemeClr val="bg1"/>
                </a:solidFill>
                <a:latin typeface="Candara" panose="020E0502030303020204" pitchFamily="34" charset="0"/>
              </a:rPr>
              <a:t>nSequence</a:t>
            </a:r>
            <a:r>
              <a:rPr lang="en-US" sz="1600" i="1" dirty="0">
                <a:solidFill>
                  <a:schemeClr val="bg1"/>
                </a:solidFill>
                <a:latin typeface="Candara" panose="020E0502030303020204" pitchFamily="34" charset="0"/>
              </a:rPr>
              <a:t> = L</a:t>
            </a:r>
          </a:p>
        </p:txBody>
      </p:sp>
      <p:sp>
        <p:nvSpPr>
          <p:cNvPr id="55" name="TextBox 54">
            <a:extLst>
              <a:ext uri="{FF2B5EF4-FFF2-40B4-BE49-F238E27FC236}">
                <a16:creationId xmlns:a16="http://schemas.microsoft.com/office/drawing/2014/main" id="{C000BB33-EEC1-3F79-7428-2C9D3539184D}"/>
              </a:ext>
            </a:extLst>
          </p:cNvPr>
          <p:cNvSpPr txBox="1"/>
          <p:nvPr/>
        </p:nvSpPr>
        <p:spPr>
          <a:xfrm>
            <a:off x="6754117" y="4942265"/>
            <a:ext cx="4764102" cy="1477328"/>
          </a:xfrm>
          <a:prstGeom prst="rect">
            <a:avLst/>
          </a:prstGeom>
          <a:noFill/>
          <a:ln>
            <a:solidFill>
              <a:schemeClr val="accent6">
                <a:lumMod val="50000"/>
              </a:schemeClr>
            </a:solidFill>
          </a:ln>
        </p:spPr>
        <p:txBody>
          <a:bodyPr wrap="square" rtlCol="0">
            <a:spAutoFit/>
          </a:bodyPr>
          <a:lstStyle/>
          <a:p>
            <a:r>
              <a:rPr lang="en-US" b="1" dirty="0">
                <a:latin typeface="Candara" panose="020E0502030303020204" pitchFamily="34" charset="0"/>
              </a:rPr>
              <a:t>Witness Script (</a:t>
            </a:r>
            <a:r>
              <a:rPr lang="en-US" b="1" dirty="0" err="1">
                <a:latin typeface="Candara" panose="020E0502030303020204" pitchFamily="34" charset="0"/>
              </a:rPr>
              <a:t>ws</a:t>
            </a:r>
            <a:r>
              <a:rPr lang="en-US" b="1" dirty="0">
                <a:latin typeface="Candara" panose="020E0502030303020204" pitchFamily="34" charset="0"/>
              </a:rPr>
              <a:t>)</a:t>
            </a:r>
            <a:r>
              <a:rPr lang="en-US" dirty="0">
                <a:latin typeface="Candara" panose="020E0502030303020204" pitchFamily="34" charset="0"/>
              </a:rPr>
              <a:t>:</a:t>
            </a:r>
          </a:p>
          <a:p>
            <a:r>
              <a:rPr lang="en-US" dirty="0">
                <a:latin typeface="Candara" panose="020E0502030303020204" pitchFamily="34" charset="0"/>
              </a:rPr>
              <a:t>&lt;L&gt; OP_CHECKSEQUENCEVERIFY OP_DROP </a:t>
            </a:r>
          </a:p>
          <a:p>
            <a:r>
              <a:rPr lang="en-US" dirty="0">
                <a:latin typeface="Candara" panose="020E0502030303020204" pitchFamily="34" charset="0"/>
              </a:rPr>
              <a:t>&lt;</a:t>
            </a:r>
            <a:r>
              <a:rPr lang="en-US" dirty="0" err="1">
                <a:latin typeface="Candara" panose="020E0502030303020204" pitchFamily="34" charset="0"/>
              </a:rPr>
              <a:t>pubkey</a:t>
            </a:r>
            <a:r>
              <a:rPr lang="en-US" dirty="0">
                <a:latin typeface="Candara" panose="020E0502030303020204" pitchFamily="34" charset="0"/>
              </a:rPr>
              <a:t>&gt; OP_CHECKSIG</a:t>
            </a:r>
          </a:p>
          <a:p>
            <a:endParaRPr lang="en-US" dirty="0">
              <a:latin typeface="Candara" panose="020E0502030303020204" pitchFamily="34" charset="0"/>
            </a:endParaRPr>
          </a:p>
          <a:p>
            <a:r>
              <a:rPr lang="en-US" dirty="0">
                <a:solidFill>
                  <a:srgbClr val="FF0000"/>
                </a:solidFill>
                <a:latin typeface="Candara" panose="020E0502030303020204" pitchFamily="34" charset="0"/>
              </a:rPr>
              <a:t>&lt;</a:t>
            </a:r>
            <a:r>
              <a:rPr lang="en-US" dirty="0" err="1">
                <a:solidFill>
                  <a:srgbClr val="FF0000"/>
                </a:solidFill>
                <a:latin typeface="Candara" panose="020E0502030303020204" pitchFamily="34" charset="0"/>
              </a:rPr>
              <a:t>wsh</a:t>
            </a:r>
            <a:r>
              <a:rPr lang="en-US" dirty="0">
                <a:solidFill>
                  <a:srgbClr val="FF0000"/>
                </a:solidFill>
                <a:latin typeface="Candara" panose="020E0502030303020204" pitchFamily="34" charset="0"/>
              </a:rPr>
              <a:t>&gt; = SHA256(</a:t>
            </a:r>
            <a:r>
              <a:rPr lang="en-US" dirty="0" err="1">
                <a:solidFill>
                  <a:srgbClr val="FF0000"/>
                </a:solidFill>
                <a:latin typeface="Candara" panose="020E0502030303020204" pitchFamily="34" charset="0"/>
              </a:rPr>
              <a:t>ws</a:t>
            </a:r>
            <a:r>
              <a:rPr lang="en-US" dirty="0">
                <a:solidFill>
                  <a:srgbClr val="FF0000"/>
                </a:solidFill>
                <a:latin typeface="Candara" panose="020E0502030303020204" pitchFamily="34" charset="0"/>
              </a:rPr>
              <a:t>)</a:t>
            </a:r>
            <a:r>
              <a:rPr lang="en-US" dirty="0">
                <a:latin typeface="Candara" panose="020E0502030303020204" pitchFamily="34" charset="0"/>
              </a:rPr>
              <a:t>   </a:t>
            </a:r>
          </a:p>
        </p:txBody>
      </p:sp>
    </p:spTree>
    <p:extLst>
      <p:ext uri="{BB962C8B-B14F-4D97-AF65-F5344CB8AC3E}">
        <p14:creationId xmlns:p14="http://schemas.microsoft.com/office/powerpoint/2010/main" val="429357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animBg="1"/>
      <p:bldP spid="40" grpId="0" animBg="1"/>
      <p:bldP spid="5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023A5-B11A-0DB2-F9BA-D0AB263EB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A2298-F59F-E39A-FB88-4FF6F3965DA6}"/>
              </a:ext>
            </a:extLst>
          </p:cNvPr>
          <p:cNvSpPr>
            <a:spLocks noGrp="1"/>
          </p:cNvSpPr>
          <p:nvPr>
            <p:ph type="title"/>
          </p:nvPr>
        </p:nvSpPr>
        <p:spPr/>
        <p:txBody>
          <a:bodyPr/>
          <a:lstStyle/>
          <a:p>
            <a:r>
              <a:rPr lang="en-US" dirty="0"/>
              <a:t>Relative Time Lock: </a:t>
            </a:r>
            <a:r>
              <a:rPr lang="en-US" dirty="0" err="1"/>
              <a:t>nSequence</a:t>
            </a:r>
            <a:r>
              <a:rPr lang="en-US" dirty="0"/>
              <a:t> Only</a:t>
            </a:r>
          </a:p>
        </p:txBody>
      </p:sp>
      <p:sp>
        <p:nvSpPr>
          <p:cNvPr id="4" name="Slide Number Placeholder 3">
            <a:extLst>
              <a:ext uri="{FF2B5EF4-FFF2-40B4-BE49-F238E27FC236}">
                <a16:creationId xmlns:a16="http://schemas.microsoft.com/office/drawing/2014/main" id="{775711A0-7E75-4625-F536-FBD94A153A98}"/>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66</a:t>
            </a:fld>
            <a:endParaRPr lang="en-US" dirty="0">
              <a:latin typeface="Candara" panose="020E0502030303020204" pitchFamily="34" charset="0"/>
            </a:endParaRPr>
          </a:p>
        </p:txBody>
      </p:sp>
      <p:sp>
        <p:nvSpPr>
          <p:cNvPr id="47" name="TextBox 46">
            <a:extLst>
              <a:ext uri="{FF2B5EF4-FFF2-40B4-BE49-F238E27FC236}">
                <a16:creationId xmlns:a16="http://schemas.microsoft.com/office/drawing/2014/main" id="{2B5036A2-8AC9-CE6D-A86A-AB1EB5E053AA}"/>
              </a:ext>
            </a:extLst>
          </p:cNvPr>
          <p:cNvSpPr txBox="1"/>
          <p:nvPr/>
        </p:nvSpPr>
        <p:spPr>
          <a:xfrm>
            <a:off x="696955" y="1054447"/>
            <a:ext cx="11105272"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ndara" panose="020E0502030303020204" pitchFamily="34" charset="0"/>
              </a:rPr>
              <a:t>Suppose a normal transaction is confirmed in block B and it has no time lock on its output </a:t>
            </a:r>
          </a:p>
          <a:p>
            <a:pPr marL="285750" indent="-285750">
              <a:buFont typeface="Arial" panose="020B0604020202020204" pitchFamily="34" charset="0"/>
              <a:buChar char="•"/>
            </a:pPr>
            <a:r>
              <a:rPr lang="en-US" dirty="0">
                <a:latin typeface="Candara" panose="020E0502030303020204" pitchFamily="34" charset="0"/>
              </a:rPr>
              <a:t>We want to spend it after a delay of L blocks by creating a child transaction by appropriately setting its </a:t>
            </a:r>
            <a:r>
              <a:rPr lang="en-US" dirty="0" err="1">
                <a:latin typeface="Candara" panose="020E0502030303020204" pitchFamily="34" charset="0"/>
              </a:rPr>
              <a:t>nSequence</a:t>
            </a:r>
            <a:r>
              <a:rPr lang="en-US" dirty="0">
                <a:latin typeface="Candara" panose="020E0502030303020204" pitchFamily="34" charset="0"/>
              </a:rPr>
              <a:t> value</a:t>
            </a:r>
          </a:p>
          <a:p>
            <a:pPr marL="285750" indent="-285750">
              <a:buFont typeface="Arial" panose="020B0604020202020204" pitchFamily="34" charset="0"/>
              <a:buChar char="•"/>
            </a:pPr>
            <a:r>
              <a:rPr lang="en-US" dirty="0">
                <a:solidFill>
                  <a:srgbClr val="FF0000"/>
                </a:solidFill>
                <a:latin typeface="Candara" panose="020E0502030303020204" pitchFamily="34" charset="0"/>
              </a:rPr>
              <a:t>What is the problem with this method and why it won’t work?</a:t>
            </a:r>
          </a:p>
        </p:txBody>
      </p:sp>
      <p:sp>
        <p:nvSpPr>
          <p:cNvPr id="51" name="TextBox 50">
            <a:extLst>
              <a:ext uri="{FF2B5EF4-FFF2-40B4-BE49-F238E27FC236}">
                <a16:creationId xmlns:a16="http://schemas.microsoft.com/office/drawing/2014/main" id="{B7474E21-125C-B276-4986-7C670361DED6}"/>
              </a:ext>
            </a:extLst>
          </p:cNvPr>
          <p:cNvSpPr txBox="1"/>
          <p:nvPr/>
        </p:nvSpPr>
        <p:spPr>
          <a:xfrm>
            <a:off x="854009" y="5450135"/>
            <a:ext cx="10664210" cy="923330"/>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Candara" panose="020E0502030303020204" pitchFamily="34" charset="0"/>
              </a:rPr>
              <a:t>nSequence</a:t>
            </a:r>
            <a:r>
              <a:rPr lang="en-US" dirty="0">
                <a:latin typeface="Candara" panose="020E0502030303020204" pitchFamily="34" charset="0"/>
              </a:rPr>
              <a:t> cannot enforce the lock without CSV</a:t>
            </a:r>
          </a:p>
          <a:p>
            <a:pPr marL="742950" lvl="1" indent="-285750">
              <a:buFont typeface="Arial" panose="020B0604020202020204" pitchFamily="34" charset="0"/>
              <a:buChar char="•"/>
            </a:pPr>
            <a:r>
              <a:rPr lang="en-US" dirty="0">
                <a:latin typeface="Candara" panose="020E0502030303020204" pitchFamily="34" charset="0"/>
              </a:rPr>
              <a:t>This transaction is immediately spendable because </a:t>
            </a:r>
            <a:r>
              <a:rPr lang="en-US" dirty="0" err="1">
                <a:latin typeface="Candara" panose="020E0502030303020204" pitchFamily="34" charset="0"/>
              </a:rPr>
              <a:t>nSequence</a:t>
            </a:r>
            <a:r>
              <a:rPr lang="en-US" dirty="0">
                <a:latin typeface="Candara" panose="020E0502030303020204" pitchFamily="34" charset="0"/>
              </a:rPr>
              <a:t> has no effect (miners ignore </a:t>
            </a:r>
            <a:r>
              <a:rPr lang="en-US" dirty="0" err="1">
                <a:latin typeface="Candara" panose="020E0502030303020204" pitchFamily="34" charset="0"/>
              </a:rPr>
              <a:t>nSequence</a:t>
            </a:r>
            <a:r>
              <a:rPr lang="en-US" dirty="0">
                <a:latin typeface="Candara" panose="020E0502030303020204" pitchFamily="34" charset="0"/>
              </a:rPr>
              <a:t> field without a CSV lock)</a:t>
            </a:r>
          </a:p>
        </p:txBody>
      </p:sp>
      <p:sp>
        <p:nvSpPr>
          <p:cNvPr id="3" name="Rectangle 2">
            <a:extLst>
              <a:ext uri="{FF2B5EF4-FFF2-40B4-BE49-F238E27FC236}">
                <a16:creationId xmlns:a16="http://schemas.microsoft.com/office/drawing/2014/main" id="{6FDFD488-3307-339F-73B6-BF270500BE33}"/>
              </a:ext>
            </a:extLst>
          </p:cNvPr>
          <p:cNvSpPr/>
          <p:nvPr/>
        </p:nvSpPr>
        <p:spPr>
          <a:xfrm>
            <a:off x="854008" y="4607678"/>
            <a:ext cx="4764101" cy="59703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a:t>
            </a:r>
          </a:p>
          <a:p>
            <a:pPr algn="ctr"/>
            <a:r>
              <a:rPr lang="en-US" sz="2000" dirty="0">
                <a:solidFill>
                  <a:schemeClr val="tx1"/>
                </a:solidFill>
                <a:latin typeface="Candara" panose="020E0502030303020204" pitchFamily="34" charset="0"/>
              </a:rPr>
              <a:t>&lt;--&gt; &lt;--&gt;</a:t>
            </a:r>
          </a:p>
        </p:txBody>
      </p:sp>
      <p:grpSp>
        <p:nvGrpSpPr>
          <p:cNvPr id="5" name="Group 4">
            <a:extLst>
              <a:ext uri="{FF2B5EF4-FFF2-40B4-BE49-F238E27FC236}">
                <a16:creationId xmlns:a16="http://schemas.microsoft.com/office/drawing/2014/main" id="{CF18509B-D652-238D-7E59-E0414CE5D395}"/>
              </a:ext>
            </a:extLst>
          </p:cNvPr>
          <p:cNvGrpSpPr/>
          <p:nvPr/>
        </p:nvGrpSpPr>
        <p:grpSpPr>
          <a:xfrm>
            <a:off x="854008" y="2286539"/>
            <a:ext cx="4764101" cy="2206144"/>
            <a:chOff x="662546" y="2790923"/>
            <a:chExt cx="4764100" cy="2356163"/>
          </a:xfrm>
        </p:grpSpPr>
        <p:grpSp>
          <p:nvGrpSpPr>
            <p:cNvPr id="15" name="Group 14">
              <a:extLst>
                <a:ext uri="{FF2B5EF4-FFF2-40B4-BE49-F238E27FC236}">
                  <a16:creationId xmlns:a16="http://schemas.microsoft.com/office/drawing/2014/main" id="{4A6C6781-17A9-814C-33FF-8EDDDAD40766}"/>
                </a:ext>
              </a:extLst>
            </p:cNvPr>
            <p:cNvGrpSpPr/>
            <p:nvPr/>
          </p:nvGrpSpPr>
          <p:grpSpPr>
            <a:xfrm>
              <a:off x="662546" y="2790923"/>
              <a:ext cx="4764100" cy="2045687"/>
              <a:chOff x="895162" y="2638523"/>
              <a:chExt cx="4764100" cy="2045687"/>
            </a:xfrm>
          </p:grpSpPr>
          <p:grpSp>
            <p:nvGrpSpPr>
              <p:cNvPr id="19" name="Group 18">
                <a:extLst>
                  <a:ext uri="{FF2B5EF4-FFF2-40B4-BE49-F238E27FC236}">
                    <a16:creationId xmlns:a16="http://schemas.microsoft.com/office/drawing/2014/main" id="{927D9090-50C3-EF62-73EF-5D153BD09E02}"/>
                  </a:ext>
                </a:extLst>
              </p:cNvPr>
              <p:cNvGrpSpPr/>
              <p:nvPr/>
            </p:nvGrpSpPr>
            <p:grpSpPr>
              <a:xfrm>
                <a:off x="895162" y="2661534"/>
                <a:ext cx="4764100" cy="2022676"/>
                <a:chOff x="805543" y="3039910"/>
                <a:chExt cx="5057939" cy="2022676"/>
              </a:xfrm>
              <a:noFill/>
            </p:grpSpPr>
            <p:sp>
              <p:nvSpPr>
                <p:cNvPr id="23" name="Rectangle 22">
                  <a:extLst>
                    <a:ext uri="{FF2B5EF4-FFF2-40B4-BE49-F238E27FC236}">
                      <a16:creationId xmlns:a16="http://schemas.microsoft.com/office/drawing/2014/main" id="{20274959-B30B-63FE-F88F-A6A92DC55C22}"/>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Candara" panose="020E0502030303020204" pitchFamily="34" charset="0"/>
                  </a:endParaRPr>
                </a:p>
              </p:txBody>
            </p:sp>
            <p:sp>
              <p:nvSpPr>
                <p:cNvPr id="24" name="Rectangle 23">
                  <a:extLst>
                    <a:ext uri="{FF2B5EF4-FFF2-40B4-BE49-F238E27FC236}">
                      <a16:creationId xmlns:a16="http://schemas.microsoft.com/office/drawing/2014/main" id="{3FCCF26A-40B2-84FB-58AF-801D7DABDB64}"/>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5" name="Rectangle 24">
                  <a:extLst>
                    <a:ext uri="{FF2B5EF4-FFF2-40B4-BE49-F238E27FC236}">
                      <a16:creationId xmlns:a16="http://schemas.microsoft.com/office/drawing/2014/main" id="{3C3B3712-B79D-8153-F492-C31DBB373220}"/>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Candara" panose="020E0502030303020204" pitchFamily="34" charset="0"/>
                  </a:endParaRPr>
                </a:p>
              </p:txBody>
            </p:sp>
            <p:sp>
              <p:nvSpPr>
                <p:cNvPr id="26" name="TextBox 25">
                  <a:extLst>
                    <a:ext uri="{FF2B5EF4-FFF2-40B4-BE49-F238E27FC236}">
                      <a16:creationId xmlns:a16="http://schemas.microsoft.com/office/drawing/2014/main" id="{CA4C7608-BCEA-99B9-B57E-B83F78DF5D23}"/>
                    </a:ext>
                  </a:extLst>
                </p:cNvPr>
                <p:cNvSpPr txBox="1"/>
                <p:nvPr/>
              </p:nvSpPr>
              <p:spPr>
                <a:xfrm>
                  <a:off x="3391445" y="3670323"/>
                  <a:ext cx="2139942" cy="1380564"/>
                </a:xfrm>
                <a:prstGeom prst="rect">
                  <a:avLst/>
                </a:prstGeom>
                <a:grpFill/>
              </p:spPr>
              <p:txBody>
                <a:bodyPr wrap="square" rtlCol="0" anchor="ctr" anchorCtr="0">
                  <a:spAutoFit/>
                </a:bodyPr>
                <a:lstStyle/>
                <a:p>
                  <a:pPr algn="ctr"/>
                  <a:r>
                    <a:rPr lang="en-US" sz="1600" dirty="0">
                      <a:solidFill>
                        <a:schemeClr val="bg1"/>
                      </a:solidFill>
                      <a:latin typeface="Candara" panose="020E0502030303020204" pitchFamily="34" charset="0"/>
                    </a:rPr>
                    <a:t>Value</a:t>
                  </a:r>
                </a:p>
                <a:p>
                  <a:pPr algn="ctr"/>
                  <a:r>
                    <a:rPr lang="en-US" sz="1600" dirty="0">
                      <a:solidFill>
                        <a:schemeClr val="bg1"/>
                      </a:solidFill>
                      <a:latin typeface="Candara" panose="020E0502030303020204" pitchFamily="34" charset="0"/>
                    </a:rPr>
                    <a:t> </a:t>
                  </a:r>
                </a:p>
                <a:p>
                  <a:pPr algn="ctr"/>
                  <a:r>
                    <a:rPr lang="en-US" sz="1600" dirty="0">
                      <a:solidFill>
                        <a:schemeClr val="bg1"/>
                      </a:solidFill>
                      <a:latin typeface="Candara" panose="020E0502030303020204" pitchFamily="34" charset="0"/>
                    </a:rPr>
                    <a:t>OP_0 </a:t>
                  </a:r>
                </a:p>
                <a:p>
                  <a:pPr algn="ctr"/>
                  <a:r>
                    <a:rPr lang="en-US" sz="1600" dirty="0">
                      <a:solidFill>
                        <a:schemeClr val="bg1"/>
                      </a:solidFill>
                      <a:latin typeface="Candara" panose="020E0502030303020204" pitchFamily="34" charset="0"/>
                    </a:rPr>
                    <a:t>&lt;</a:t>
                  </a:r>
                  <a:r>
                    <a:rPr lang="en-US" sz="1600" dirty="0" err="1">
                      <a:solidFill>
                        <a:schemeClr val="bg1"/>
                      </a:solidFill>
                      <a:latin typeface="Candara" panose="020E0502030303020204" pitchFamily="34" charset="0"/>
                    </a:rPr>
                    <a:t>wsh</a:t>
                  </a:r>
                  <a:r>
                    <a:rPr lang="en-US" sz="1600" dirty="0">
                      <a:solidFill>
                        <a:schemeClr val="bg1"/>
                      </a:solidFill>
                      <a:latin typeface="Candara" panose="020E0502030303020204" pitchFamily="34" charset="0"/>
                    </a:rPr>
                    <a:t>&gt;</a:t>
                  </a:r>
                </a:p>
                <a:p>
                  <a:pPr algn="ctr"/>
                  <a:endParaRPr lang="en-US" sz="1400" dirty="0">
                    <a:latin typeface="Candara" panose="020E0502030303020204" pitchFamily="34" charset="0"/>
                  </a:endParaRPr>
                </a:p>
              </p:txBody>
            </p:sp>
          </p:grpSp>
          <p:sp>
            <p:nvSpPr>
              <p:cNvPr id="22" name="Rectangle 21">
                <a:extLst>
                  <a:ext uri="{FF2B5EF4-FFF2-40B4-BE49-F238E27FC236}">
                    <a16:creationId xmlns:a16="http://schemas.microsoft.com/office/drawing/2014/main" id="{DAE50913-D19C-6EFE-E721-D550AC925A5B}"/>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atin typeface="Candara" panose="020E0502030303020204" pitchFamily="34" charset="0"/>
                  </a:rPr>
                  <a:t>nLockTime</a:t>
                </a:r>
                <a:r>
                  <a:rPr lang="en-US" sz="2400" dirty="0">
                    <a:latin typeface="Candara" panose="020E0502030303020204" pitchFamily="34" charset="0"/>
                  </a:rPr>
                  <a:t> = 0</a:t>
                </a:r>
              </a:p>
            </p:txBody>
          </p:sp>
        </p:grpSp>
        <p:sp>
          <p:nvSpPr>
            <p:cNvPr id="16" name="Rectangle 15">
              <a:extLst>
                <a:ext uri="{FF2B5EF4-FFF2-40B4-BE49-F238E27FC236}">
                  <a16:creationId xmlns:a16="http://schemas.microsoft.com/office/drawing/2014/main" id="{90AF7AF9-DE4A-06CD-A31D-6907A4CF776B}"/>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P2WSH1234</a:t>
              </a:r>
            </a:p>
          </p:txBody>
        </p:sp>
      </p:grpSp>
      <p:sp>
        <p:nvSpPr>
          <p:cNvPr id="27" name="Rectangle 26">
            <a:extLst>
              <a:ext uri="{FF2B5EF4-FFF2-40B4-BE49-F238E27FC236}">
                <a16:creationId xmlns:a16="http://schemas.microsoft.com/office/drawing/2014/main" id="{A3B73BDB-708F-A4F9-2841-F24DEA8E1306}"/>
              </a:ext>
            </a:extLst>
          </p:cNvPr>
          <p:cNvSpPr/>
          <p:nvPr/>
        </p:nvSpPr>
        <p:spPr>
          <a:xfrm>
            <a:off x="6754117" y="4603225"/>
            <a:ext cx="4764101" cy="59703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Witness Field</a:t>
            </a:r>
          </a:p>
          <a:p>
            <a:pPr algn="ctr"/>
            <a:r>
              <a:rPr lang="en-US" sz="2000" dirty="0">
                <a:solidFill>
                  <a:schemeClr val="tx1"/>
                </a:solidFill>
                <a:latin typeface="Candara" panose="020E0502030303020204" pitchFamily="34" charset="0"/>
              </a:rPr>
              <a:t>&lt;signature&gt; &lt;</a:t>
            </a:r>
            <a:r>
              <a:rPr lang="en-US" sz="2000" dirty="0" err="1">
                <a:solidFill>
                  <a:schemeClr val="tx1"/>
                </a:solidFill>
                <a:latin typeface="Candara" panose="020E0502030303020204" pitchFamily="34" charset="0"/>
              </a:rPr>
              <a:t>ws</a:t>
            </a:r>
            <a:r>
              <a:rPr lang="en-US" sz="2000" dirty="0">
                <a:solidFill>
                  <a:schemeClr val="tx1"/>
                </a:solidFill>
                <a:latin typeface="Candara" panose="020E0502030303020204" pitchFamily="34" charset="0"/>
              </a:rPr>
              <a:t>&gt;</a:t>
            </a:r>
          </a:p>
        </p:txBody>
      </p:sp>
      <p:grpSp>
        <p:nvGrpSpPr>
          <p:cNvPr id="30" name="Group 29">
            <a:extLst>
              <a:ext uri="{FF2B5EF4-FFF2-40B4-BE49-F238E27FC236}">
                <a16:creationId xmlns:a16="http://schemas.microsoft.com/office/drawing/2014/main" id="{4FD91D12-5F6F-1A41-93AB-031E6281AECE}"/>
              </a:ext>
            </a:extLst>
          </p:cNvPr>
          <p:cNvGrpSpPr/>
          <p:nvPr/>
        </p:nvGrpSpPr>
        <p:grpSpPr>
          <a:xfrm>
            <a:off x="6754117" y="2282086"/>
            <a:ext cx="4764101" cy="2206144"/>
            <a:chOff x="662546" y="2790923"/>
            <a:chExt cx="4764100" cy="2356163"/>
          </a:xfrm>
        </p:grpSpPr>
        <p:grpSp>
          <p:nvGrpSpPr>
            <p:cNvPr id="31" name="Group 30">
              <a:extLst>
                <a:ext uri="{FF2B5EF4-FFF2-40B4-BE49-F238E27FC236}">
                  <a16:creationId xmlns:a16="http://schemas.microsoft.com/office/drawing/2014/main" id="{691666AB-20B5-2119-A994-A416A4ABA560}"/>
                </a:ext>
              </a:extLst>
            </p:cNvPr>
            <p:cNvGrpSpPr/>
            <p:nvPr/>
          </p:nvGrpSpPr>
          <p:grpSpPr>
            <a:xfrm>
              <a:off x="662546" y="2790923"/>
              <a:ext cx="4764100" cy="2045687"/>
              <a:chOff x="895162" y="2638523"/>
              <a:chExt cx="4764100" cy="2045687"/>
            </a:xfrm>
          </p:grpSpPr>
          <p:grpSp>
            <p:nvGrpSpPr>
              <p:cNvPr id="33" name="Group 32">
                <a:extLst>
                  <a:ext uri="{FF2B5EF4-FFF2-40B4-BE49-F238E27FC236}">
                    <a16:creationId xmlns:a16="http://schemas.microsoft.com/office/drawing/2014/main" id="{0C144578-856E-58E1-187F-6598AC60E7E7}"/>
                  </a:ext>
                </a:extLst>
              </p:cNvPr>
              <p:cNvGrpSpPr/>
              <p:nvPr/>
            </p:nvGrpSpPr>
            <p:grpSpPr>
              <a:xfrm>
                <a:off x="895162" y="2661534"/>
                <a:ext cx="4764100" cy="2022676"/>
                <a:chOff x="805543" y="3039910"/>
                <a:chExt cx="5057939" cy="2022676"/>
              </a:xfrm>
              <a:noFill/>
            </p:grpSpPr>
            <p:sp>
              <p:nvSpPr>
                <p:cNvPr id="38" name="Rectangle 37">
                  <a:extLst>
                    <a:ext uri="{FF2B5EF4-FFF2-40B4-BE49-F238E27FC236}">
                      <a16:creationId xmlns:a16="http://schemas.microsoft.com/office/drawing/2014/main" id="{C4314124-EF68-6B30-D273-52172FBF7DA3}"/>
                    </a:ext>
                  </a:extLst>
                </p:cNvPr>
                <p:cNvSpPr/>
                <p:nvPr/>
              </p:nvSpPr>
              <p:spPr>
                <a:xfrm>
                  <a:off x="805543" y="3039910"/>
                  <a:ext cx="5057939" cy="1905633"/>
                </a:xfrm>
                <a:prstGeom prst="rect">
                  <a:avLst/>
                </a:prstGeom>
                <a:solidFill>
                  <a:schemeClr val="accent6">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Candara" panose="020E0502030303020204" pitchFamily="34" charset="0"/>
                  </a:endParaRPr>
                </a:p>
              </p:txBody>
            </p:sp>
            <p:sp>
              <p:nvSpPr>
                <p:cNvPr id="39" name="Rectangle 38">
                  <a:extLst>
                    <a:ext uri="{FF2B5EF4-FFF2-40B4-BE49-F238E27FC236}">
                      <a16:creationId xmlns:a16="http://schemas.microsoft.com/office/drawing/2014/main" id="{0F020D0F-7300-8341-755C-22B416B540B1}"/>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0" name="Rectangle 39">
                  <a:extLst>
                    <a:ext uri="{FF2B5EF4-FFF2-40B4-BE49-F238E27FC236}">
                      <a16:creationId xmlns:a16="http://schemas.microsoft.com/office/drawing/2014/main" id="{77055176-CC8D-6D62-D9EE-F3067779039C}"/>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Candara" panose="020E0502030303020204" pitchFamily="34" charset="0"/>
                  </a:endParaRPr>
                </a:p>
              </p:txBody>
            </p:sp>
          </p:grpSp>
          <p:sp>
            <p:nvSpPr>
              <p:cNvPr id="36" name="Rectangle 35">
                <a:extLst>
                  <a:ext uri="{FF2B5EF4-FFF2-40B4-BE49-F238E27FC236}">
                    <a16:creationId xmlns:a16="http://schemas.microsoft.com/office/drawing/2014/main" id="{416859D1-7CE8-2184-FB46-E65EF29E17FB}"/>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andara" panose="020E0502030303020204" pitchFamily="34" charset="0"/>
                  </a:rPr>
                  <a:t>nLockTime</a:t>
                </a:r>
                <a:r>
                  <a:rPr lang="en-US" sz="2400" dirty="0">
                    <a:solidFill>
                      <a:schemeClr val="tx1"/>
                    </a:solidFill>
                    <a:latin typeface="Candara" panose="020E0502030303020204" pitchFamily="34" charset="0"/>
                  </a:rPr>
                  <a:t> = 0</a:t>
                </a:r>
              </a:p>
            </p:txBody>
          </p:sp>
        </p:grpSp>
        <p:sp>
          <p:nvSpPr>
            <p:cNvPr id="32" name="Rectangle 31">
              <a:extLst>
                <a:ext uri="{FF2B5EF4-FFF2-40B4-BE49-F238E27FC236}">
                  <a16:creationId xmlns:a16="http://schemas.microsoft.com/office/drawing/2014/main" id="{5CAA343F-5151-2415-D104-DBE6D2F54EB7}"/>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nseq1234</a:t>
              </a:r>
            </a:p>
          </p:txBody>
        </p:sp>
      </p:grpSp>
      <p:grpSp>
        <p:nvGrpSpPr>
          <p:cNvPr id="52" name="Group 51">
            <a:extLst>
              <a:ext uri="{FF2B5EF4-FFF2-40B4-BE49-F238E27FC236}">
                <a16:creationId xmlns:a16="http://schemas.microsoft.com/office/drawing/2014/main" id="{BE49766E-F8BD-A403-3474-E13E407FE936}"/>
              </a:ext>
            </a:extLst>
          </p:cNvPr>
          <p:cNvGrpSpPr/>
          <p:nvPr/>
        </p:nvGrpSpPr>
        <p:grpSpPr>
          <a:xfrm>
            <a:off x="5618109" y="3586543"/>
            <a:ext cx="1136007" cy="1348827"/>
            <a:chOff x="5426646" y="4367463"/>
            <a:chExt cx="1400086" cy="1745433"/>
          </a:xfrm>
        </p:grpSpPr>
        <p:cxnSp>
          <p:nvCxnSpPr>
            <p:cNvPr id="53" name="Straight Connector 52">
              <a:extLst>
                <a:ext uri="{FF2B5EF4-FFF2-40B4-BE49-F238E27FC236}">
                  <a16:creationId xmlns:a16="http://schemas.microsoft.com/office/drawing/2014/main" id="{E8D8FA71-A161-8B38-41FF-10F4E30C212F}"/>
                </a:ext>
              </a:extLst>
            </p:cNvPr>
            <p:cNvCxnSpPr>
              <a:cxnSpLocks/>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A5EA9FF-3B89-2B0A-C965-760AB9BDDB20}"/>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C314F96-2BDB-ECD9-2F59-092623E1A28D}"/>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cxnSp>
        <p:nvCxnSpPr>
          <p:cNvPr id="56" name="Straight Arrow Connector 55">
            <a:extLst>
              <a:ext uri="{FF2B5EF4-FFF2-40B4-BE49-F238E27FC236}">
                <a16:creationId xmlns:a16="http://schemas.microsoft.com/office/drawing/2014/main" id="{286011FB-2358-D46E-97A1-15FA144D7554}"/>
              </a:ext>
            </a:extLst>
          </p:cNvPr>
          <p:cNvCxnSpPr>
            <a:cxnSpLocks/>
          </p:cNvCxnSpPr>
          <p:nvPr/>
        </p:nvCxnSpPr>
        <p:spPr>
          <a:xfrm flipH="1">
            <a:off x="5618109" y="3302666"/>
            <a:ext cx="113600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3D0D5B5-8DC0-4EE6-E53C-B9BABDFAFF72}"/>
              </a:ext>
            </a:extLst>
          </p:cNvPr>
          <p:cNvSpPr txBox="1"/>
          <p:nvPr/>
        </p:nvSpPr>
        <p:spPr>
          <a:xfrm>
            <a:off x="7167087" y="2850859"/>
            <a:ext cx="1858256" cy="1077218"/>
          </a:xfrm>
          <a:prstGeom prst="rect">
            <a:avLst/>
          </a:prstGeom>
          <a:noFill/>
        </p:spPr>
        <p:txBody>
          <a:bodyPr wrap="square" rtlCol="0">
            <a:spAutoFit/>
          </a:bodyPr>
          <a:lstStyle/>
          <a:p>
            <a:pPr algn="ctr"/>
            <a:r>
              <a:rPr lang="en-US" sz="1600" dirty="0">
                <a:solidFill>
                  <a:schemeClr val="bg1"/>
                </a:solidFill>
                <a:latin typeface="Candara" panose="020E0502030303020204" pitchFamily="34" charset="0"/>
              </a:rPr>
              <a:t>Prev </a:t>
            </a:r>
            <a:r>
              <a:rPr lang="en-US" sz="1600" dirty="0" err="1">
                <a:solidFill>
                  <a:schemeClr val="bg1"/>
                </a:solidFill>
                <a:latin typeface="Candara" panose="020E0502030303020204" pitchFamily="34" charset="0"/>
              </a:rPr>
              <a:t>Txid</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Idx</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scriptSig</a:t>
            </a:r>
            <a:r>
              <a:rPr lang="en-US" sz="1600" dirty="0">
                <a:solidFill>
                  <a:schemeClr val="bg1"/>
                </a:solidFill>
                <a:latin typeface="Candara" panose="020E0502030303020204" pitchFamily="34" charset="0"/>
              </a:rPr>
              <a:t>=empty</a:t>
            </a:r>
          </a:p>
          <a:p>
            <a:pPr algn="ctr"/>
            <a:r>
              <a:rPr lang="en-US" sz="1600" i="1" dirty="0" err="1">
                <a:solidFill>
                  <a:schemeClr val="bg1"/>
                </a:solidFill>
                <a:latin typeface="Candara" panose="020E0502030303020204" pitchFamily="34" charset="0"/>
              </a:rPr>
              <a:t>nSequence</a:t>
            </a:r>
            <a:r>
              <a:rPr lang="en-US" sz="1600" i="1" dirty="0">
                <a:solidFill>
                  <a:schemeClr val="bg1"/>
                </a:solidFill>
                <a:latin typeface="Candara" panose="020E0502030303020204" pitchFamily="34" charset="0"/>
              </a:rPr>
              <a:t> = L</a:t>
            </a:r>
          </a:p>
        </p:txBody>
      </p:sp>
    </p:spTree>
    <p:extLst>
      <p:ext uri="{BB962C8B-B14F-4D97-AF65-F5344CB8AC3E}">
        <p14:creationId xmlns:p14="http://schemas.microsoft.com/office/powerpoint/2010/main" val="253359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allAtOnce"/>
      <p:bldP spid="2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7CA2D-DA6C-FF0D-FDBE-5BF57F907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0A21B-7272-7A23-3CC3-919A74CCA246}"/>
              </a:ext>
            </a:extLst>
          </p:cNvPr>
          <p:cNvSpPr>
            <a:spLocks noGrp="1"/>
          </p:cNvSpPr>
          <p:nvPr>
            <p:ph type="title"/>
          </p:nvPr>
        </p:nvSpPr>
        <p:spPr/>
        <p:txBody>
          <a:bodyPr/>
          <a:lstStyle/>
          <a:p>
            <a:r>
              <a:rPr lang="en-US" dirty="0"/>
              <a:t>Summary of Time Locks</a:t>
            </a:r>
          </a:p>
        </p:txBody>
      </p:sp>
      <p:sp>
        <p:nvSpPr>
          <p:cNvPr id="4" name="Slide Number Placeholder 3">
            <a:extLst>
              <a:ext uri="{FF2B5EF4-FFF2-40B4-BE49-F238E27FC236}">
                <a16:creationId xmlns:a16="http://schemas.microsoft.com/office/drawing/2014/main" id="{52B5A346-3BEE-575A-C7AB-51373CA74724}"/>
              </a:ext>
            </a:extLst>
          </p:cNvPr>
          <p:cNvSpPr>
            <a:spLocks noGrp="1"/>
          </p:cNvSpPr>
          <p:nvPr>
            <p:ph type="sldNum" sz="quarter" idx="12"/>
          </p:nvPr>
        </p:nvSpPr>
        <p:spPr/>
        <p:txBody>
          <a:bodyPr/>
          <a:lstStyle/>
          <a:p>
            <a:fld id="{D57F1E4F-1CFF-5643-939E-217C01CDF565}" type="slidenum">
              <a:rPr lang="en-US" smtClean="0"/>
              <a:pPr/>
              <a:t>67</a:t>
            </a:fld>
            <a:endParaRPr lang="en-US" dirty="0"/>
          </a:p>
        </p:txBody>
      </p:sp>
      <p:sp>
        <p:nvSpPr>
          <p:cNvPr id="6" name="TextBox 5">
            <a:extLst>
              <a:ext uri="{FF2B5EF4-FFF2-40B4-BE49-F238E27FC236}">
                <a16:creationId xmlns:a16="http://schemas.microsoft.com/office/drawing/2014/main" id="{563100C4-4784-5EA1-2190-1D5C6AAC02EB}"/>
              </a:ext>
            </a:extLst>
          </p:cNvPr>
          <p:cNvSpPr txBox="1"/>
          <p:nvPr/>
        </p:nvSpPr>
        <p:spPr>
          <a:xfrm>
            <a:off x="499653" y="1324646"/>
            <a:ext cx="11192693" cy="5016758"/>
          </a:xfrm>
          <a:prstGeom prst="rect">
            <a:avLst/>
          </a:prstGeom>
          <a:noFill/>
        </p:spPr>
        <p:txBody>
          <a:bodyPr wrap="square">
            <a:spAutoFit/>
          </a:bodyPr>
          <a:lstStyle/>
          <a:p>
            <a:pPr algn="ctr"/>
            <a:r>
              <a:rPr lang="en-US" sz="2000" dirty="0">
                <a:latin typeface="Candara" panose="020E0502030303020204" pitchFamily="34" charset="0"/>
              </a:rPr>
              <a:t>Block 1000 – Parent </a:t>
            </a:r>
            <a:r>
              <a:rPr lang="en-US" sz="2000" dirty="0" err="1">
                <a:latin typeface="Candara" panose="020E0502030303020204" pitchFamily="34" charset="0"/>
              </a:rPr>
              <a:t>Txn</a:t>
            </a:r>
            <a:r>
              <a:rPr lang="en-US" sz="2000" dirty="0">
                <a:latin typeface="Candara" panose="020E0502030303020204" pitchFamily="34" charset="0"/>
              </a:rPr>
              <a:t> mined (if applicable)</a:t>
            </a:r>
          </a:p>
          <a:p>
            <a:endParaRPr lang="en-US" sz="2000" dirty="0">
              <a:latin typeface="Candara" panose="020E0502030303020204" pitchFamily="34" charset="0"/>
            </a:endParaRPr>
          </a:p>
          <a:p>
            <a:r>
              <a:rPr lang="en-US" sz="2000" dirty="0" err="1">
                <a:latin typeface="Candara" panose="020E0502030303020204" pitchFamily="34" charset="0"/>
              </a:rPr>
              <a:t>nLockTime</a:t>
            </a:r>
            <a:r>
              <a:rPr lang="en-US" sz="2000" dirty="0">
                <a:latin typeface="Candara" panose="020E0502030303020204" pitchFamily="34" charset="0"/>
              </a:rPr>
              <a:t> (L=1010): 	</a:t>
            </a:r>
            <a:r>
              <a:rPr lang="en-US" sz="2000" dirty="0">
                <a:solidFill>
                  <a:srgbClr val="FF0000"/>
                </a:solidFill>
                <a:latin typeface="Candara" panose="020E0502030303020204" pitchFamily="34" charset="0"/>
              </a:rPr>
              <a:t>Block 1000-1009 → </a:t>
            </a:r>
            <a:r>
              <a:rPr lang="en-US" sz="2000" dirty="0" err="1">
                <a:solidFill>
                  <a:srgbClr val="FF0000"/>
                </a:solidFill>
                <a:latin typeface="Candara" panose="020E0502030303020204" pitchFamily="34" charset="0"/>
              </a:rPr>
              <a:t>Txn</a:t>
            </a:r>
            <a:r>
              <a:rPr lang="en-US" sz="2000" dirty="0">
                <a:solidFill>
                  <a:srgbClr val="FF0000"/>
                </a:solidFill>
                <a:latin typeface="Candara" panose="020E0502030303020204" pitchFamily="34" charset="0"/>
              </a:rPr>
              <a:t> rejected</a:t>
            </a:r>
          </a:p>
          <a:p>
            <a:r>
              <a:rPr lang="en-US" sz="2000" dirty="0">
                <a:solidFill>
                  <a:srgbClr val="7030A0"/>
                </a:solidFill>
                <a:latin typeface="Candara" panose="020E0502030303020204" pitchFamily="34" charset="0"/>
              </a:rPr>
              <a:t>                                		Block 1010 → </a:t>
            </a:r>
            <a:r>
              <a:rPr lang="en-US" sz="2000" dirty="0" err="1">
                <a:solidFill>
                  <a:srgbClr val="7030A0"/>
                </a:solidFill>
                <a:latin typeface="Candara" panose="020E0502030303020204" pitchFamily="34" charset="0"/>
              </a:rPr>
              <a:t>Txn</a:t>
            </a:r>
            <a:r>
              <a:rPr lang="en-US" sz="2000" dirty="0">
                <a:solidFill>
                  <a:srgbClr val="7030A0"/>
                </a:solidFill>
                <a:latin typeface="Candara" panose="020E0502030303020204" pitchFamily="34" charset="0"/>
              </a:rPr>
              <a:t> mined</a:t>
            </a:r>
          </a:p>
          <a:p>
            <a:endParaRPr lang="en-US" sz="2000" dirty="0">
              <a:latin typeface="Candara" panose="020E0502030303020204" pitchFamily="34" charset="0"/>
            </a:endParaRPr>
          </a:p>
          <a:p>
            <a:r>
              <a:rPr lang="en-US" sz="2000" dirty="0">
                <a:latin typeface="Candara" panose="020E0502030303020204" pitchFamily="34" charset="0"/>
              </a:rPr>
              <a:t>CLTV Output (L=1010):       Output remains locked until 1010</a:t>
            </a:r>
          </a:p>
          <a:p>
            <a:r>
              <a:rPr lang="en-US" sz="2000" dirty="0">
                <a:solidFill>
                  <a:srgbClr val="FF0000"/>
                </a:solidFill>
                <a:latin typeface="Candara" panose="020E0502030303020204" pitchFamily="34" charset="0"/>
              </a:rPr>
              <a:t>                                		Block 1000-1009 → child </a:t>
            </a:r>
            <a:r>
              <a:rPr lang="en-US" sz="2000" dirty="0" err="1">
                <a:solidFill>
                  <a:srgbClr val="FF0000"/>
                </a:solidFill>
                <a:latin typeface="Candara" panose="020E0502030303020204" pitchFamily="34" charset="0"/>
              </a:rPr>
              <a:t>Txn</a:t>
            </a:r>
            <a:r>
              <a:rPr lang="en-US" sz="2000" dirty="0">
                <a:solidFill>
                  <a:srgbClr val="FF0000"/>
                </a:solidFill>
                <a:latin typeface="Candara" panose="020E0502030303020204" pitchFamily="34" charset="0"/>
              </a:rPr>
              <a:t> rejected (cannot spend)</a:t>
            </a:r>
          </a:p>
          <a:p>
            <a:r>
              <a:rPr lang="en-US" sz="2000" dirty="0">
                <a:solidFill>
                  <a:srgbClr val="7030A0"/>
                </a:solidFill>
                <a:latin typeface="Candara" panose="020E0502030303020204" pitchFamily="34" charset="0"/>
              </a:rPr>
              <a:t>                                		Block 1010 → child </a:t>
            </a:r>
            <a:r>
              <a:rPr lang="en-US" sz="2000" dirty="0" err="1">
                <a:solidFill>
                  <a:srgbClr val="7030A0"/>
                </a:solidFill>
                <a:latin typeface="Candara" panose="020E0502030303020204" pitchFamily="34" charset="0"/>
              </a:rPr>
              <a:t>Txn</a:t>
            </a:r>
            <a:r>
              <a:rPr lang="en-US" sz="2000" dirty="0">
                <a:solidFill>
                  <a:srgbClr val="7030A0"/>
                </a:solidFill>
                <a:latin typeface="Candara" panose="020E0502030303020204" pitchFamily="34" charset="0"/>
              </a:rPr>
              <a:t> mined (output spent)</a:t>
            </a:r>
          </a:p>
          <a:p>
            <a:endParaRPr lang="en-US" sz="2000" dirty="0">
              <a:latin typeface="Candara" panose="020E0502030303020204" pitchFamily="34" charset="0"/>
            </a:endParaRPr>
          </a:p>
          <a:p>
            <a:r>
              <a:rPr lang="en-US" sz="2000" dirty="0">
                <a:latin typeface="Candara" panose="020E0502030303020204" pitchFamily="34" charset="0"/>
              </a:rPr>
              <a:t>CSV + </a:t>
            </a:r>
            <a:r>
              <a:rPr lang="en-US" sz="2000" dirty="0" err="1">
                <a:latin typeface="Candara" panose="020E0502030303020204" pitchFamily="34" charset="0"/>
              </a:rPr>
              <a:t>nSequence</a:t>
            </a:r>
            <a:r>
              <a:rPr lang="en-US" sz="2000" dirty="0">
                <a:latin typeface="Candara" panose="020E0502030303020204" pitchFamily="34" charset="0"/>
              </a:rPr>
              <a:t>: 	Output relative lock = 100 blocks</a:t>
            </a:r>
          </a:p>
          <a:p>
            <a:r>
              <a:rPr lang="en-US" sz="2000" dirty="0">
                <a:solidFill>
                  <a:srgbClr val="FF0000"/>
                </a:solidFill>
                <a:latin typeface="Candara" panose="020E0502030303020204" pitchFamily="34" charset="0"/>
              </a:rPr>
              <a:t>                                		Block 1001 → child </a:t>
            </a:r>
            <a:r>
              <a:rPr lang="en-US" sz="2000" dirty="0" err="1">
                <a:solidFill>
                  <a:srgbClr val="FF0000"/>
                </a:solidFill>
                <a:latin typeface="Candara" panose="020E0502030303020204" pitchFamily="34" charset="0"/>
              </a:rPr>
              <a:t>Txn</a:t>
            </a:r>
            <a:r>
              <a:rPr lang="en-US" sz="2000" dirty="0">
                <a:solidFill>
                  <a:srgbClr val="FF0000"/>
                </a:solidFill>
                <a:latin typeface="Candara" panose="020E0502030303020204" pitchFamily="34" charset="0"/>
              </a:rPr>
              <a:t> rejected (</a:t>
            </a:r>
            <a:r>
              <a:rPr lang="en-US" sz="2000" dirty="0" err="1">
                <a:solidFill>
                  <a:srgbClr val="FF0000"/>
                </a:solidFill>
                <a:latin typeface="Candara" panose="020E0502030303020204" pitchFamily="34" charset="0"/>
              </a:rPr>
              <a:t>nSequence</a:t>
            </a:r>
            <a:r>
              <a:rPr lang="en-US" sz="2000" dirty="0">
                <a:solidFill>
                  <a:srgbClr val="FF0000"/>
                </a:solidFill>
                <a:latin typeface="Candara" panose="020E0502030303020204" pitchFamily="34" charset="0"/>
              </a:rPr>
              <a:t> = 100)</a:t>
            </a:r>
          </a:p>
          <a:p>
            <a:r>
              <a:rPr lang="en-US" sz="2000" dirty="0">
                <a:solidFill>
                  <a:srgbClr val="FF0000"/>
                </a:solidFill>
                <a:latin typeface="Candara" panose="020E0502030303020204" pitchFamily="34" charset="0"/>
              </a:rPr>
              <a:t>                                		Block 1100 → child </a:t>
            </a:r>
            <a:r>
              <a:rPr lang="en-US" sz="2000" dirty="0" err="1">
                <a:solidFill>
                  <a:srgbClr val="FF0000"/>
                </a:solidFill>
                <a:latin typeface="Candara" panose="020E0502030303020204" pitchFamily="34" charset="0"/>
              </a:rPr>
              <a:t>Txn</a:t>
            </a:r>
            <a:r>
              <a:rPr lang="en-US" sz="2000" dirty="0">
                <a:solidFill>
                  <a:srgbClr val="FF0000"/>
                </a:solidFill>
                <a:latin typeface="Candara" panose="020E0502030303020204" pitchFamily="34" charset="0"/>
              </a:rPr>
              <a:t> still rejected (age check)</a:t>
            </a:r>
          </a:p>
          <a:p>
            <a:r>
              <a:rPr lang="en-US" sz="2000" dirty="0">
                <a:solidFill>
                  <a:srgbClr val="7030A0"/>
                </a:solidFill>
                <a:latin typeface="Candara" panose="020E0502030303020204" pitchFamily="34" charset="0"/>
              </a:rPr>
              <a:t>                                		Block 1101 → child </a:t>
            </a:r>
            <a:r>
              <a:rPr lang="en-US" sz="2000" dirty="0" err="1">
                <a:solidFill>
                  <a:srgbClr val="7030A0"/>
                </a:solidFill>
                <a:latin typeface="Candara" panose="020E0502030303020204" pitchFamily="34" charset="0"/>
              </a:rPr>
              <a:t>Txn</a:t>
            </a:r>
            <a:r>
              <a:rPr lang="en-US" sz="2000" dirty="0">
                <a:solidFill>
                  <a:srgbClr val="7030A0"/>
                </a:solidFill>
                <a:latin typeface="Candara" panose="020E0502030303020204" pitchFamily="34" charset="0"/>
              </a:rPr>
              <a:t> mined </a:t>
            </a:r>
          </a:p>
          <a:p>
            <a:endParaRPr lang="en-US" sz="2000" dirty="0">
              <a:latin typeface="Candara" panose="020E0502030303020204" pitchFamily="34" charset="0"/>
            </a:endParaRPr>
          </a:p>
          <a:p>
            <a:r>
              <a:rPr lang="en-US" sz="2000" dirty="0" err="1">
                <a:latin typeface="Candara" panose="020E0502030303020204" pitchFamily="34" charset="0"/>
              </a:rPr>
              <a:t>nSequence</a:t>
            </a:r>
            <a:r>
              <a:rPr lang="en-US" sz="2000" dirty="0">
                <a:latin typeface="Candara" panose="020E0502030303020204" pitchFamily="34" charset="0"/>
              </a:rPr>
              <a:t> only on normal output: </a:t>
            </a:r>
            <a:r>
              <a:rPr lang="en-US" sz="2000" dirty="0">
                <a:solidFill>
                  <a:schemeClr val="accent6">
                    <a:lumMod val="50000"/>
                  </a:schemeClr>
                </a:solidFill>
                <a:latin typeface="Candara" panose="020E0502030303020204" pitchFamily="34" charset="0"/>
              </a:rPr>
              <a:t>Block 1001 → child </a:t>
            </a:r>
            <a:r>
              <a:rPr lang="en-US" sz="2000" dirty="0" err="1">
                <a:solidFill>
                  <a:schemeClr val="accent6">
                    <a:lumMod val="50000"/>
                  </a:schemeClr>
                </a:solidFill>
                <a:latin typeface="Candara" panose="020E0502030303020204" pitchFamily="34" charset="0"/>
              </a:rPr>
              <a:t>Txn</a:t>
            </a:r>
            <a:r>
              <a:rPr lang="en-US" sz="2000" dirty="0">
                <a:solidFill>
                  <a:schemeClr val="accent6">
                    <a:lumMod val="50000"/>
                  </a:schemeClr>
                </a:solidFill>
                <a:latin typeface="Candara" panose="020E0502030303020204" pitchFamily="34" charset="0"/>
              </a:rPr>
              <a:t> mined immediately</a:t>
            </a:r>
          </a:p>
          <a:p>
            <a:r>
              <a:rPr lang="en-US" sz="2000" dirty="0">
                <a:solidFill>
                  <a:schemeClr val="accent6">
                    <a:lumMod val="50000"/>
                  </a:schemeClr>
                </a:solidFill>
                <a:latin typeface="Candara" panose="020E0502030303020204" pitchFamily="34" charset="0"/>
              </a:rPr>
              <a:t>                                			Block 1002 → competing </a:t>
            </a:r>
            <a:r>
              <a:rPr lang="en-US" sz="2000" dirty="0" err="1">
                <a:solidFill>
                  <a:schemeClr val="accent6">
                    <a:lumMod val="50000"/>
                  </a:schemeClr>
                </a:solidFill>
                <a:latin typeface="Candara" panose="020E0502030303020204" pitchFamily="34" charset="0"/>
              </a:rPr>
              <a:t>Txn</a:t>
            </a:r>
            <a:r>
              <a:rPr lang="en-US" sz="2000" dirty="0">
                <a:solidFill>
                  <a:schemeClr val="accent6">
                    <a:lumMod val="50000"/>
                  </a:schemeClr>
                </a:solidFill>
                <a:latin typeface="Candara" panose="020E0502030303020204" pitchFamily="34" charset="0"/>
              </a:rPr>
              <a:t> can also spend parent </a:t>
            </a:r>
            <a:r>
              <a:rPr lang="en-US" sz="2000" dirty="0">
                <a:latin typeface="Candara" panose="020E0502030303020204" pitchFamily="34" charset="0"/>
              </a:rPr>
              <a:t> </a:t>
            </a:r>
          </a:p>
        </p:txBody>
      </p:sp>
    </p:spTree>
    <p:extLst>
      <p:ext uri="{BB962C8B-B14F-4D97-AF65-F5344CB8AC3E}">
        <p14:creationId xmlns:p14="http://schemas.microsoft.com/office/powerpoint/2010/main" val="93168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3484-167D-CCA3-BAA0-6CB64524C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845A0-9F57-CA99-C99E-29C3CA723F31}"/>
              </a:ext>
            </a:extLst>
          </p:cNvPr>
          <p:cNvSpPr>
            <a:spLocks noGrp="1"/>
          </p:cNvSpPr>
          <p:nvPr>
            <p:ph type="title"/>
          </p:nvPr>
        </p:nvSpPr>
        <p:spPr/>
        <p:txBody>
          <a:bodyPr/>
          <a:lstStyle/>
          <a:p>
            <a:r>
              <a:rPr lang="en-US" dirty="0"/>
              <a:t>Payment Routing</a:t>
            </a:r>
          </a:p>
        </p:txBody>
      </p:sp>
      <p:sp>
        <p:nvSpPr>
          <p:cNvPr id="4" name="Slide Number Placeholder 3">
            <a:extLst>
              <a:ext uri="{FF2B5EF4-FFF2-40B4-BE49-F238E27FC236}">
                <a16:creationId xmlns:a16="http://schemas.microsoft.com/office/drawing/2014/main" id="{8C8F35CC-CB4E-2F9E-44BA-D4055485DC5F}"/>
              </a:ext>
            </a:extLst>
          </p:cNvPr>
          <p:cNvSpPr>
            <a:spLocks noGrp="1"/>
          </p:cNvSpPr>
          <p:nvPr>
            <p:ph type="sldNum" sz="quarter" idx="12"/>
          </p:nvPr>
        </p:nvSpPr>
        <p:spPr/>
        <p:txBody>
          <a:bodyPr/>
          <a:lstStyle/>
          <a:p>
            <a:fld id="{D57F1E4F-1CFF-5643-939E-217C01CDF565}" type="slidenum">
              <a:rPr lang="en-US" smtClean="0"/>
              <a:pPr/>
              <a:t>68</a:t>
            </a:fld>
            <a:endParaRPr lang="en-US" dirty="0"/>
          </a:p>
        </p:txBody>
      </p:sp>
      <p:sp>
        <p:nvSpPr>
          <p:cNvPr id="5" name="TextBox 4">
            <a:extLst>
              <a:ext uri="{FF2B5EF4-FFF2-40B4-BE49-F238E27FC236}">
                <a16:creationId xmlns:a16="http://schemas.microsoft.com/office/drawing/2014/main" id="{E0F2024A-0F5B-B4CB-648F-F08673F1721F}"/>
              </a:ext>
            </a:extLst>
          </p:cNvPr>
          <p:cNvSpPr txBox="1"/>
          <p:nvPr/>
        </p:nvSpPr>
        <p:spPr>
          <a:xfrm>
            <a:off x="8635927" y="5182759"/>
            <a:ext cx="2274982" cy="584775"/>
          </a:xfrm>
          <a:prstGeom prst="rect">
            <a:avLst/>
          </a:prstGeom>
          <a:noFill/>
        </p:spPr>
        <p:txBody>
          <a:bodyPr wrap="none" rtlCol="0">
            <a:spAutoFit/>
          </a:bodyPr>
          <a:lstStyle/>
          <a:p>
            <a:r>
              <a:rPr lang="en-US" sz="1600" dirty="0">
                <a:latin typeface="Candara" panose="020E0502030303020204" pitchFamily="34" charset="0"/>
              </a:rPr>
              <a:t>1. Bob creates a secret S</a:t>
            </a:r>
          </a:p>
          <a:p>
            <a:r>
              <a:rPr lang="en-US" sz="1600" dirty="0">
                <a:latin typeface="Candara" panose="020E0502030303020204" pitchFamily="34" charset="0"/>
              </a:rPr>
              <a:t>Computes H=SHA256(S)</a:t>
            </a:r>
          </a:p>
        </p:txBody>
      </p:sp>
      <p:grpSp>
        <p:nvGrpSpPr>
          <p:cNvPr id="6" name="Group 5">
            <a:extLst>
              <a:ext uri="{FF2B5EF4-FFF2-40B4-BE49-F238E27FC236}">
                <a16:creationId xmlns:a16="http://schemas.microsoft.com/office/drawing/2014/main" id="{7F4D1FEA-20DC-530E-183D-AD52F2A59F50}"/>
              </a:ext>
            </a:extLst>
          </p:cNvPr>
          <p:cNvGrpSpPr/>
          <p:nvPr/>
        </p:nvGrpSpPr>
        <p:grpSpPr>
          <a:xfrm>
            <a:off x="1357999" y="4958164"/>
            <a:ext cx="7277928" cy="547741"/>
            <a:chOff x="1415159" y="4667680"/>
            <a:chExt cx="7277928" cy="760733"/>
          </a:xfrm>
        </p:grpSpPr>
        <p:cxnSp>
          <p:nvCxnSpPr>
            <p:cNvPr id="7" name="Straight Connector 6">
              <a:extLst>
                <a:ext uri="{FF2B5EF4-FFF2-40B4-BE49-F238E27FC236}">
                  <a16:creationId xmlns:a16="http://schemas.microsoft.com/office/drawing/2014/main" id="{CD3C97C9-2583-3F83-2AC7-B6201FBA300E}"/>
                </a:ext>
              </a:extLst>
            </p:cNvPr>
            <p:cNvCxnSpPr>
              <a:cxnSpLocks/>
            </p:cNvCxnSpPr>
            <p:nvPr/>
          </p:nvCxnSpPr>
          <p:spPr>
            <a:xfrm flipH="1">
              <a:off x="1415159" y="5360359"/>
              <a:ext cx="7277928" cy="362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C1DBFEE-DDAA-99F6-D245-236037D5CEE5}"/>
                </a:ext>
              </a:extLst>
            </p:cNvPr>
            <p:cNvCxnSpPr>
              <a:cxnSpLocks/>
            </p:cNvCxnSpPr>
            <p:nvPr/>
          </p:nvCxnSpPr>
          <p:spPr>
            <a:xfrm flipV="1">
              <a:off x="1415159" y="4667680"/>
              <a:ext cx="0" cy="76073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D8446FDE-C506-24F4-D6D7-76FC203D28EA}"/>
              </a:ext>
            </a:extLst>
          </p:cNvPr>
          <p:cNvSpPr txBox="1"/>
          <p:nvPr/>
        </p:nvSpPr>
        <p:spPr>
          <a:xfrm>
            <a:off x="3424073" y="5120192"/>
            <a:ext cx="3765774" cy="338554"/>
          </a:xfrm>
          <a:prstGeom prst="rect">
            <a:avLst/>
          </a:prstGeom>
          <a:noFill/>
        </p:spPr>
        <p:txBody>
          <a:bodyPr wrap="none" rtlCol="0">
            <a:spAutoFit/>
          </a:bodyPr>
          <a:lstStyle/>
          <a:p>
            <a:r>
              <a:rPr lang="en-US" sz="1600" dirty="0">
                <a:latin typeface="Candara" panose="020E0502030303020204" pitchFamily="34" charset="0"/>
              </a:rPr>
              <a:t>2. Bob tells H to Alice but keeps S hidden</a:t>
            </a:r>
          </a:p>
        </p:txBody>
      </p:sp>
      <p:sp>
        <p:nvSpPr>
          <p:cNvPr id="10" name="TextBox 9">
            <a:extLst>
              <a:ext uri="{FF2B5EF4-FFF2-40B4-BE49-F238E27FC236}">
                <a16:creationId xmlns:a16="http://schemas.microsoft.com/office/drawing/2014/main" id="{96C2E481-2980-5FEF-518A-679625543A4D}"/>
              </a:ext>
            </a:extLst>
          </p:cNvPr>
          <p:cNvSpPr txBox="1"/>
          <p:nvPr/>
        </p:nvSpPr>
        <p:spPr>
          <a:xfrm rot="20091674">
            <a:off x="1403750" y="2188707"/>
            <a:ext cx="2751259" cy="1323439"/>
          </a:xfrm>
          <a:prstGeom prst="rect">
            <a:avLst/>
          </a:prstGeom>
          <a:noFill/>
        </p:spPr>
        <p:txBody>
          <a:bodyPr wrap="square" rtlCol="0">
            <a:spAutoFit/>
          </a:bodyPr>
          <a:lstStyle/>
          <a:p>
            <a:pPr algn="ctr"/>
            <a:r>
              <a:rPr lang="en-US" sz="1600" dirty="0">
                <a:solidFill>
                  <a:srgbClr val="7030A0"/>
                </a:solidFill>
                <a:latin typeface="Candara" panose="020E0502030303020204" pitchFamily="34" charset="0"/>
              </a:rPr>
              <a:t>3. Alice creates a commitment locked to Charlie’s public key plus H (backed by Alice-Charlie funding TX) </a:t>
            </a:r>
          </a:p>
        </p:txBody>
      </p:sp>
      <p:sp>
        <p:nvSpPr>
          <p:cNvPr id="11" name="TextBox 10">
            <a:extLst>
              <a:ext uri="{FF2B5EF4-FFF2-40B4-BE49-F238E27FC236}">
                <a16:creationId xmlns:a16="http://schemas.microsoft.com/office/drawing/2014/main" id="{3F7BDB8A-6F06-7E4B-3E01-1DF549D690BE}"/>
              </a:ext>
            </a:extLst>
          </p:cNvPr>
          <p:cNvSpPr txBox="1"/>
          <p:nvPr/>
        </p:nvSpPr>
        <p:spPr>
          <a:xfrm rot="1750724">
            <a:off x="5886835" y="2388607"/>
            <a:ext cx="2914273" cy="1077218"/>
          </a:xfrm>
          <a:prstGeom prst="rect">
            <a:avLst/>
          </a:prstGeom>
          <a:noFill/>
        </p:spPr>
        <p:txBody>
          <a:bodyPr wrap="square" rtlCol="0">
            <a:spAutoFit/>
          </a:bodyPr>
          <a:lstStyle/>
          <a:p>
            <a:pPr algn="ctr"/>
            <a:r>
              <a:rPr lang="en-US" sz="1600" dirty="0">
                <a:solidFill>
                  <a:srgbClr val="7030A0"/>
                </a:solidFill>
                <a:latin typeface="Candara" panose="020E0502030303020204" pitchFamily="34" charset="0"/>
              </a:rPr>
              <a:t>4. Charlie creates a commitment locked to Bob’s public key plus H (backed by Charlie-Bob funding TX)</a:t>
            </a:r>
          </a:p>
        </p:txBody>
      </p:sp>
      <p:sp>
        <p:nvSpPr>
          <p:cNvPr id="12" name="TextBox 11">
            <a:extLst>
              <a:ext uri="{FF2B5EF4-FFF2-40B4-BE49-F238E27FC236}">
                <a16:creationId xmlns:a16="http://schemas.microsoft.com/office/drawing/2014/main" id="{B15AFF6E-C8C1-E6E8-FCE4-3D1F19399148}"/>
              </a:ext>
            </a:extLst>
          </p:cNvPr>
          <p:cNvSpPr txBox="1"/>
          <p:nvPr/>
        </p:nvSpPr>
        <p:spPr>
          <a:xfrm rot="1730963">
            <a:off x="5560659" y="3519609"/>
            <a:ext cx="2694207" cy="1077218"/>
          </a:xfrm>
          <a:prstGeom prst="rect">
            <a:avLst/>
          </a:prstGeom>
          <a:noFill/>
        </p:spPr>
        <p:txBody>
          <a:bodyPr wrap="square" rtlCol="0">
            <a:spAutoFit/>
          </a:bodyPr>
          <a:lstStyle/>
          <a:p>
            <a:pPr algn="ctr"/>
            <a:r>
              <a:rPr lang="en-US" sz="1600" dirty="0">
                <a:latin typeface="Candara" panose="020E0502030303020204" pitchFamily="34" charset="0"/>
              </a:rPr>
              <a:t>5. Bob can spend Charlie’s output because he knows the secret S (now S is revealed to everyone)</a:t>
            </a:r>
          </a:p>
        </p:txBody>
      </p:sp>
      <p:sp>
        <p:nvSpPr>
          <p:cNvPr id="13" name="TextBox 12">
            <a:extLst>
              <a:ext uri="{FF2B5EF4-FFF2-40B4-BE49-F238E27FC236}">
                <a16:creationId xmlns:a16="http://schemas.microsoft.com/office/drawing/2014/main" id="{E6B9CE51-B30B-9A3F-8AA2-128437A3FF74}"/>
              </a:ext>
            </a:extLst>
          </p:cNvPr>
          <p:cNvSpPr txBox="1"/>
          <p:nvPr/>
        </p:nvSpPr>
        <p:spPr>
          <a:xfrm rot="20051530">
            <a:off x="2028681" y="3589413"/>
            <a:ext cx="2542315" cy="584775"/>
          </a:xfrm>
          <a:prstGeom prst="rect">
            <a:avLst/>
          </a:prstGeom>
          <a:noFill/>
        </p:spPr>
        <p:txBody>
          <a:bodyPr wrap="square" rtlCol="0">
            <a:spAutoFit/>
          </a:bodyPr>
          <a:lstStyle/>
          <a:p>
            <a:pPr algn="ctr"/>
            <a:r>
              <a:rPr lang="en-US" sz="1600" dirty="0">
                <a:latin typeface="Candara" panose="020E0502030303020204" pitchFamily="34" charset="0"/>
              </a:rPr>
              <a:t>6. Charlie learns S, so he can spend Alice’s output </a:t>
            </a:r>
          </a:p>
        </p:txBody>
      </p:sp>
      <p:sp>
        <p:nvSpPr>
          <p:cNvPr id="14" name="TextBox 13">
            <a:extLst>
              <a:ext uri="{FF2B5EF4-FFF2-40B4-BE49-F238E27FC236}">
                <a16:creationId xmlns:a16="http://schemas.microsoft.com/office/drawing/2014/main" id="{807693E5-CC54-A90D-60AF-02669AED48D1}"/>
              </a:ext>
            </a:extLst>
          </p:cNvPr>
          <p:cNvSpPr txBox="1"/>
          <p:nvPr/>
        </p:nvSpPr>
        <p:spPr>
          <a:xfrm>
            <a:off x="9621537" y="3767156"/>
            <a:ext cx="1825636" cy="830997"/>
          </a:xfrm>
          <a:prstGeom prst="rect">
            <a:avLst/>
          </a:prstGeom>
          <a:noFill/>
        </p:spPr>
        <p:txBody>
          <a:bodyPr wrap="square" rtlCol="0">
            <a:spAutoFit/>
          </a:bodyPr>
          <a:lstStyle/>
          <a:p>
            <a:pPr algn="ctr"/>
            <a:r>
              <a:rPr lang="en-US" sz="1600" dirty="0">
                <a:solidFill>
                  <a:srgbClr val="7030A0"/>
                </a:solidFill>
                <a:latin typeface="Candara" panose="020E0502030303020204" pitchFamily="34" charset="0"/>
              </a:rPr>
              <a:t>Bob gets payment by Alice routed through Charlie</a:t>
            </a:r>
          </a:p>
        </p:txBody>
      </p:sp>
      <p:pic>
        <p:nvPicPr>
          <p:cNvPr id="15" name="Picture 14">
            <a:extLst>
              <a:ext uri="{FF2B5EF4-FFF2-40B4-BE49-F238E27FC236}">
                <a16:creationId xmlns:a16="http://schemas.microsoft.com/office/drawing/2014/main" id="{ACA6773A-1A50-189F-63ED-9426537CE191}"/>
              </a:ext>
            </a:extLst>
          </p:cNvPr>
          <p:cNvPicPr preferRelativeResize="0">
            <a:picLocks/>
          </p:cNvPicPr>
          <p:nvPr/>
        </p:nvPicPr>
        <p:blipFill>
          <a:blip r:embed="rId3"/>
          <a:stretch>
            <a:fillRect/>
          </a:stretch>
        </p:blipFill>
        <p:spPr>
          <a:xfrm>
            <a:off x="661241" y="3232354"/>
            <a:ext cx="1097280" cy="1737360"/>
          </a:xfrm>
          <a:prstGeom prst="rect">
            <a:avLst/>
          </a:prstGeom>
        </p:spPr>
      </p:pic>
      <p:pic>
        <p:nvPicPr>
          <p:cNvPr id="16" name="Picture 15">
            <a:extLst>
              <a:ext uri="{FF2B5EF4-FFF2-40B4-BE49-F238E27FC236}">
                <a16:creationId xmlns:a16="http://schemas.microsoft.com/office/drawing/2014/main" id="{5B85E9AA-54EE-6C43-93FB-B73E7D610D9E}"/>
              </a:ext>
            </a:extLst>
          </p:cNvPr>
          <p:cNvPicPr preferRelativeResize="0">
            <a:picLocks/>
          </p:cNvPicPr>
          <p:nvPr/>
        </p:nvPicPr>
        <p:blipFill>
          <a:blip r:embed="rId4"/>
          <a:stretch>
            <a:fillRect/>
          </a:stretch>
        </p:blipFill>
        <p:spPr>
          <a:xfrm>
            <a:off x="8524257" y="3382832"/>
            <a:ext cx="1097280" cy="1737360"/>
          </a:xfrm>
          <a:prstGeom prst="rect">
            <a:avLst/>
          </a:prstGeom>
        </p:spPr>
      </p:pic>
      <p:sp>
        <p:nvSpPr>
          <p:cNvPr id="18" name="Arrow: Left-Right 17">
            <a:extLst>
              <a:ext uri="{FF2B5EF4-FFF2-40B4-BE49-F238E27FC236}">
                <a16:creationId xmlns:a16="http://schemas.microsoft.com/office/drawing/2014/main" id="{5A09E3A7-CBD4-158F-4679-3E44925C909B}"/>
              </a:ext>
            </a:extLst>
          </p:cNvPr>
          <p:cNvSpPr/>
          <p:nvPr/>
        </p:nvSpPr>
        <p:spPr>
          <a:xfrm rot="20092486">
            <a:off x="1584191" y="3294076"/>
            <a:ext cx="3325615" cy="279896"/>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Right 18">
            <a:extLst>
              <a:ext uri="{FF2B5EF4-FFF2-40B4-BE49-F238E27FC236}">
                <a16:creationId xmlns:a16="http://schemas.microsoft.com/office/drawing/2014/main" id="{BF6458A1-2385-1D98-342C-3E51746B309D}"/>
              </a:ext>
            </a:extLst>
          </p:cNvPr>
          <p:cNvSpPr/>
          <p:nvPr/>
        </p:nvSpPr>
        <p:spPr>
          <a:xfrm rot="1739877">
            <a:off x="5687490" y="3436682"/>
            <a:ext cx="3023286" cy="279896"/>
          </a:xfrm>
          <a:prstGeom prst="leftRightArrow">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C9C4D7C-5802-2FF6-6061-BA872CCEE72C}"/>
              </a:ext>
            </a:extLst>
          </p:cNvPr>
          <p:cNvSpPr txBox="1"/>
          <p:nvPr/>
        </p:nvSpPr>
        <p:spPr>
          <a:xfrm>
            <a:off x="530402" y="896618"/>
            <a:ext cx="11143438"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Alice wants to buy coffee from Bob and pay in BTC</a:t>
            </a:r>
          </a:p>
          <a:p>
            <a:pPr marL="742950" lvl="1" indent="-285750">
              <a:buFont typeface="Arial" panose="020B0604020202020204" pitchFamily="34" charset="0"/>
              <a:buChar char="•"/>
            </a:pPr>
            <a:r>
              <a:rPr lang="en-US" sz="2000" dirty="0">
                <a:latin typeface="Candara" panose="020E0502030303020204" pitchFamily="34" charset="0"/>
              </a:rPr>
              <a:t>Alice does not have a direct payment channel with Bob</a:t>
            </a:r>
          </a:p>
          <a:p>
            <a:pPr marL="285750" indent="-285750">
              <a:buFont typeface="Arial" panose="020B0604020202020204" pitchFamily="34" charset="0"/>
              <a:buChar char="•"/>
            </a:pPr>
            <a:r>
              <a:rPr lang="en-US" sz="2000" dirty="0">
                <a:latin typeface="Candara" panose="020E0502030303020204" pitchFamily="34" charset="0"/>
              </a:rPr>
              <a:t>Can Alice route her payment to Bob through Charlie who is connected to both in a trustless way?</a:t>
            </a:r>
          </a:p>
        </p:txBody>
      </p:sp>
      <p:sp>
        <p:nvSpPr>
          <p:cNvPr id="21" name="TextBox 20">
            <a:extLst>
              <a:ext uri="{FF2B5EF4-FFF2-40B4-BE49-F238E27FC236}">
                <a16:creationId xmlns:a16="http://schemas.microsoft.com/office/drawing/2014/main" id="{077E451F-043D-7E2E-8A68-34728101E006}"/>
              </a:ext>
            </a:extLst>
          </p:cNvPr>
          <p:cNvSpPr txBox="1"/>
          <p:nvPr/>
        </p:nvSpPr>
        <p:spPr>
          <a:xfrm>
            <a:off x="705558" y="5584702"/>
            <a:ext cx="10780884" cy="923330"/>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0000"/>
                </a:solidFill>
                <a:latin typeface="Candara" panose="020E0502030303020204" pitchFamily="34" charset="0"/>
              </a:rPr>
              <a:t>Theft of funds is not possible with a hash lock, but funds can be held hostage  </a:t>
            </a:r>
          </a:p>
          <a:p>
            <a:pPr marL="800100" lvl="1" indent="-342900">
              <a:buFont typeface="Arial" panose="020B0604020202020204" pitchFamily="34" charset="0"/>
              <a:buChar char="•"/>
            </a:pPr>
            <a:r>
              <a:rPr lang="en-US" dirty="0">
                <a:solidFill>
                  <a:srgbClr val="FF0000"/>
                </a:solidFill>
                <a:latin typeface="Candara" panose="020E0502030303020204" pitchFamily="34" charset="0"/>
              </a:rPr>
              <a:t>Bob can hold Charlie’s funds hostage if he never reveals S (never claims funds so never gets paid too)</a:t>
            </a:r>
          </a:p>
          <a:p>
            <a:pPr marL="800100" lvl="1" indent="-342900">
              <a:buFont typeface="Arial" panose="020B0604020202020204" pitchFamily="34" charset="0"/>
              <a:buChar char="•"/>
            </a:pPr>
            <a:r>
              <a:rPr lang="en-US" dirty="0">
                <a:solidFill>
                  <a:srgbClr val="FF0000"/>
                </a:solidFill>
                <a:latin typeface="Candara" panose="020E0502030303020204" pitchFamily="34" charset="0"/>
              </a:rPr>
              <a:t>Charlie can hold Alice’s funds hostage if he never creates a transaction for Bob </a:t>
            </a:r>
          </a:p>
        </p:txBody>
      </p:sp>
      <p:pic>
        <p:nvPicPr>
          <p:cNvPr id="22" name="Picture 21">
            <a:extLst>
              <a:ext uri="{FF2B5EF4-FFF2-40B4-BE49-F238E27FC236}">
                <a16:creationId xmlns:a16="http://schemas.microsoft.com/office/drawing/2014/main" id="{FFFD8D5B-32FB-5DDA-0D0C-6F5C8A0B7FBD}"/>
              </a:ext>
            </a:extLst>
          </p:cNvPr>
          <p:cNvPicPr preferRelativeResize="0">
            <a:picLocks/>
          </p:cNvPicPr>
          <p:nvPr/>
        </p:nvPicPr>
        <p:blipFill>
          <a:blip r:embed="rId5"/>
          <a:stretch>
            <a:fillRect/>
          </a:stretch>
        </p:blipFill>
        <p:spPr>
          <a:xfrm>
            <a:off x="4809803" y="1858571"/>
            <a:ext cx="1097280" cy="1737360"/>
          </a:xfrm>
          <a:prstGeom prst="rect">
            <a:avLst/>
          </a:prstGeom>
        </p:spPr>
      </p:pic>
    </p:spTree>
    <p:extLst>
      <p:ext uri="{BB962C8B-B14F-4D97-AF65-F5344CB8AC3E}">
        <p14:creationId xmlns:p14="http://schemas.microsoft.com/office/powerpoint/2010/main" val="50021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p:bldP spid="12" grpId="0"/>
      <p:bldP spid="13" grpId="0"/>
      <p:bldP spid="14" grpId="0"/>
      <p:bldP spid="18" grpId="0" animBg="1"/>
      <p:bldP spid="1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9B08B-0F4D-939F-C6E4-622BB854A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4A526-00E4-8472-2B56-AA06E6A1D38A}"/>
              </a:ext>
            </a:extLst>
          </p:cNvPr>
          <p:cNvSpPr>
            <a:spLocks noGrp="1"/>
          </p:cNvSpPr>
          <p:nvPr>
            <p:ph type="title"/>
          </p:nvPr>
        </p:nvSpPr>
        <p:spPr/>
        <p:txBody>
          <a:bodyPr/>
          <a:lstStyle/>
          <a:p>
            <a:r>
              <a:rPr lang="en-US" dirty="0"/>
              <a:t>Hash Lock</a:t>
            </a:r>
          </a:p>
        </p:txBody>
      </p:sp>
      <p:sp>
        <p:nvSpPr>
          <p:cNvPr id="3" name="Content Placeholder 2">
            <a:extLst>
              <a:ext uri="{FF2B5EF4-FFF2-40B4-BE49-F238E27FC236}">
                <a16:creationId xmlns:a16="http://schemas.microsoft.com/office/drawing/2014/main" id="{212B85A0-2781-5BC8-F94C-2A5158539255}"/>
              </a:ext>
            </a:extLst>
          </p:cNvPr>
          <p:cNvSpPr>
            <a:spLocks noGrp="1"/>
          </p:cNvSpPr>
          <p:nvPr>
            <p:ph idx="1"/>
          </p:nvPr>
        </p:nvSpPr>
        <p:spPr>
          <a:xfrm>
            <a:off x="487680" y="1097281"/>
            <a:ext cx="11186160" cy="3858541"/>
          </a:xfrm>
        </p:spPr>
        <p:txBody>
          <a:bodyPr>
            <a:noAutofit/>
          </a:bodyPr>
          <a:lstStyle/>
          <a:p>
            <a:r>
              <a:rPr lang="en-US" dirty="0">
                <a:solidFill>
                  <a:srgbClr val="7030A0"/>
                </a:solidFill>
              </a:rPr>
              <a:t>A Hash lock is a type of lock that restricts the spending of an output until the corresponding preimage of a specified hash (H) is publicly revealed </a:t>
            </a:r>
          </a:p>
          <a:p>
            <a:pPr lvl="1"/>
            <a:r>
              <a:rPr lang="en-US" dirty="0"/>
              <a:t>OP_SHA256 &lt;H&gt; OP_EQUALVERIFY</a:t>
            </a:r>
          </a:p>
          <a:p>
            <a:pPr lvl="1"/>
            <a:r>
              <a:rPr lang="en-US" dirty="0"/>
              <a:t>Once any hash lock is opened publicly, any other hash lock secured using the same preimage can also be opened</a:t>
            </a:r>
          </a:p>
          <a:p>
            <a:pPr lvl="1"/>
            <a:r>
              <a:rPr lang="en-US" dirty="0"/>
              <a:t>This makes it possible to create multiple outputs that are all encumbered by the same hash lock and which all become spendable at the same time</a:t>
            </a:r>
          </a:p>
          <a:p>
            <a:pPr lvl="1"/>
            <a:endParaRPr lang="en-US" dirty="0">
              <a:solidFill>
                <a:schemeClr val="accent6">
                  <a:lumMod val="50000"/>
                </a:schemeClr>
              </a:solidFill>
            </a:endParaRPr>
          </a:p>
        </p:txBody>
      </p:sp>
      <p:sp>
        <p:nvSpPr>
          <p:cNvPr id="4" name="Slide Number Placeholder 3">
            <a:extLst>
              <a:ext uri="{FF2B5EF4-FFF2-40B4-BE49-F238E27FC236}">
                <a16:creationId xmlns:a16="http://schemas.microsoft.com/office/drawing/2014/main" id="{C0115628-586A-402C-B192-E6C711DD7C5D}"/>
              </a:ext>
            </a:extLst>
          </p:cNvPr>
          <p:cNvSpPr>
            <a:spLocks noGrp="1"/>
          </p:cNvSpPr>
          <p:nvPr>
            <p:ph type="sldNum" sz="quarter" idx="12"/>
          </p:nvPr>
        </p:nvSpPr>
        <p:spPr/>
        <p:txBody>
          <a:bodyPr/>
          <a:lstStyle/>
          <a:p>
            <a:fld id="{D57F1E4F-1CFF-5643-939E-217C01CDF565}" type="slidenum">
              <a:rPr lang="en-US" smtClean="0"/>
              <a:pPr/>
              <a:t>69</a:t>
            </a:fld>
            <a:endParaRPr lang="en-US" dirty="0"/>
          </a:p>
        </p:txBody>
      </p:sp>
      <p:sp>
        <p:nvSpPr>
          <p:cNvPr id="8" name="TextBox 7">
            <a:extLst>
              <a:ext uri="{FF2B5EF4-FFF2-40B4-BE49-F238E27FC236}">
                <a16:creationId xmlns:a16="http://schemas.microsoft.com/office/drawing/2014/main" id="{8ED8EE80-B866-94A6-2FCE-16F8A8B7E403}"/>
              </a:ext>
            </a:extLst>
          </p:cNvPr>
          <p:cNvSpPr txBox="1"/>
          <p:nvPr/>
        </p:nvSpPr>
        <p:spPr>
          <a:xfrm>
            <a:off x="733660" y="5290322"/>
            <a:ext cx="10724679" cy="954107"/>
          </a:xfrm>
          <a:prstGeom prst="rect">
            <a:avLst/>
          </a:prstGeom>
          <a:solidFill>
            <a:srgbClr val="7030A0"/>
          </a:solidFill>
        </p:spPr>
        <p:txBody>
          <a:bodyPr wrap="square">
            <a:spAutoFit/>
          </a:bodyPr>
          <a:lstStyle/>
          <a:p>
            <a:pPr algn="ctr"/>
            <a:r>
              <a:rPr lang="en-US" sz="2800" b="0" i="0" dirty="0">
                <a:solidFill>
                  <a:schemeClr val="bg1"/>
                </a:solidFill>
                <a:effectLst/>
                <a:latin typeface="Candara" panose="020E0502030303020204" pitchFamily="34" charset="0"/>
              </a:rPr>
              <a:t>Hash locks allow payments to be routed through third parties without any risk that the third-parties will take the payment for themselves</a:t>
            </a:r>
            <a:endParaRPr lang="en-US"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7740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B20D5-C076-632B-7104-7EC870E38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7E68F-B1A7-2BE5-4ACF-39BAF11EB8D0}"/>
              </a:ext>
            </a:extLst>
          </p:cNvPr>
          <p:cNvSpPr>
            <a:spLocks noGrp="1"/>
          </p:cNvSpPr>
          <p:nvPr>
            <p:ph type="title"/>
          </p:nvPr>
        </p:nvSpPr>
        <p:spPr/>
        <p:txBody>
          <a:bodyPr/>
          <a:lstStyle/>
          <a:p>
            <a:r>
              <a:rPr lang="en-US" dirty="0"/>
              <a:t>Hash Lock Transactions &amp; Scripts</a:t>
            </a:r>
          </a:p>
        </p:txBody>
      </p:sp>
      <p:sp>
        <p:nvSpPr>
          <p:cNvPr id="4" name="Slide Number Placeholder 3">
            <a:extLst>
              <a:ext uri="{FF2B5EF4-FFF2-40B4-BE49-F238E27FC236}">
                <a16:creationId xmlns:a16="http://schemas.microsoft.com/office/drawing/2014/main" id="{D58D8D6B-4192-8674-4030-D5373EB1B152}"/>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70</a:t>
            </a:fld>
            <a:endParaRPr lang="en-US" dirty="0">
              <a:latin typeface="Candara" panose="020E0502030303020204" pitchFamily="34" charset="0"/>
            </a:endParaRPr>
          </a:p>
        </p:txBody>
      </p:sp>
      <p:cxnSp>
        <p:nvCxnSpPr>
          <p:cNvPr id="26" name="Straight Arrow Connector 25">
            <a:extLst>
              <a:ext uri="{FF2B5EF4-FFF2-40B4-BE49-F238E27FC236}">
                <a16:creationId xmlns:a16="http://schemas.microsoft.com/office/drawing/2014/main" id="{C9CF6356-F31B-5FE8-8B28-4964ACB49A20}"/>
              </a:ext>
            </a:extLst>
          </p:cNvPr>
          <p:cNvCxnSpPr>
            <a:cxnSpLocks/>
          </p:cNvCxnSpPr>
          <p:nvPr/>
        </p:nvCxnSpPr>
        <p:spPr>
          <a:xfrm flipH="1">
            <a:off x="7780096" y="2111539"/>
            <a:ext cx="72906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BE9C5F2-FB0C-C364-F515-963D8414AA46}"/>
              </a:ext>
            </a:extLst>
          </p:cNvPr>
          <p:cNvSpPr txBox="1"/>
          <p:nvPr/>
        </p:nvSpPr>
        <p:spPr>
          <a:xfrm>
            <a:off x="487680" y="1504373"/>
            <a:ext cx="3725436" cy="1323439"/>
          </a:xfrm>
          <a:prstGeom prst="rect">
            <a:avLst/>
          </a:prstGeom>
          <a:noFill/>
          <a:ln>
            <a:solidFill>
              <a:schemeClr val="accent6">
                <a:lumMod val="50000"/>
              </a:schemeClr>
            </a:solidFill>
          </a:ln>
        </p:spPr>
        <p:txBody>
          <a:bodyPr wrap="square" rtlCol="0">
            <a:spAutoFit/>
          </a:bodyPr>
          <a:lstStyle/>
          <a:p>
            <a:r>
              <a:rPr lang="en-US" sz="1600" b="1" dirty="0">
                <a:latin typeface="Candara" panose="020E0502030303020204" pitchFamily="34" charset="0"/>
              </a:rPr>
              <a:t>Witness Script (</a:t>
            </a:r>
            <a:r>
              <a:rPr lang="en-US" sz="1600" b="1" dirty="0" err="1">
                <a:latin typeface="Candara" panose="020E0502030303020204" pitchFamily="34" charset="0"/>
              </a:rPr>
              <a:t>ws_A_C</a:t>
            </a:r>
            <a:r>
              <a:rPr lang="en-US" sz="1600" b="1" dirty="0">
                <a:latin typeface="Candara" panose="020E0502030303020204" pitchFamily="34" charset="0"/>
              </a:rPr>
              <a:t>)</a:t>
            </a:r>
            <a:r>
              <a:rPr lang="en-US" sz="1600" dirty="0">
                <a:latin typeface="Candara" panose="020E0502030303020204" pitchFamily="34" charset="0"/>
              </a:rPr>
              <a:t>:</a:t>
            </a:r>
          </a:p>
          <a:p>
            <a:r>
              <a:rPr lang="en-US" sz="1600" dirty="0">
                <a:solidFill>
                  <a:srgbClr val="7030A0"/>
                </a:solidFill>
                <a:latin typeface="Candara" panose="020E0502030303020204" pitchFamily="34" charset="0"/>
              </a:rPr>
              <a:t>OP_SHA256 &lt;H&gt; OP_EQUALVERIFY</a:t>
            </a:r>
          </a:p>
          <a:p>
            <a:r>
              <a:rPr lang="en-US" sz="1600" dirty="0">
                <a:solidFill>
                  <a:srgbClr val="7030A0"/>
                </a:solidFill>
                <a:latin typeface="Candara" panose="020E0502030303020204" pitchFamily="34" charset="0"/>
              </a:rPr>
              <a:t>&lt;</a:t>
            </a:r>
            <a:r>
              <a:rPr lang="en-US" sz="1600" dirty="0" err="1">
                <a:solidFill>
                  <a:srgbClr val="7030A0"/>
                </a:solidFill>
                <a:latin typeface="Candara" panose="020E0502030303020204" pitchFamily="34" charset="0"/>
              </a:rPr>
              <a:t>PubKeyCharlie</a:t>
            </a:r>
            <a:r>
              <a:rPr lang="en-US" sz="1600" dirty="0">
                <a:solidFill>
                  <a:srgbClr val="7030A0"/>
                </a:solidFill>
                <a:latin typeface="Candara" panose="020E0502030303020204" pitchFamily="34" charset="0"/>
              </a:rPr>
              <a:t>&gt; OP_CHECKSIG</a:t>
            </a:r>
          </a:p>
          <a:p>
            <a:endParaRPr lang="en-US" sz="1600" dirty="0">
              <a:latin typeface="Candara" panose="020E0502030303020204" pitchFamily="34" charset="0"/>
            </a:endParaRPr>
          </a:p>
          <a:p>
            <a:r>
              <a:rPr lang="en-US" sz="1600" dirty="0">
                <a:solidFill>
                  <a:srgbClr val="FF0000"/>
                </a:solidFill>
                <a:latin typeface="Candara" panose="020E0502030303020204" pitchFamily="34" charset="0"/>
              </a:rPr>
              <a:t>&lt;</a:t>
            </a:r>
            <a:r>
              <a:rPr lang="en-US" sz="1600" dirty="0" err="1">
                <a:solidFill>
                  <a:srgbClr val="FF0000"/>
                </a:solidFill>
                <a:latin typeface="Candara" panose="020E0502030303020204" pitchFamily="34" charset="0"/>
              </a:rPr>
              <a:t>wsh_A_C</a:t>
            </a:r>
            <a:r>
              <a:rPr lang="en-US" sz="1600" dirty="0">
                <a:solidFill>
                  <a:srgbClr val="FF0000"/>
                </a:solidFill>
                <a:latin typeface="Candara" panose="020E0502030303020204" pitchFamily="34" charset="0"/>
              </a:rPr>
              <a:t>&gt; = SHA256(</a:t>
            </a:r>
            <a:r>
              <a:rPr lang="en-US" sz="1600" dirty="0" err="1">
                <a:solidFill>
                  <a:srgbClr val="FF0000"/>
                </a:solidFill>
                <a:latin typeface="Candara" panose="020E0502030303020204" pitchFamily="34" charset="0"/>
              </a:rPr>
              <a:t>ws_A_C</a:t>
            </a:r>
            <a:r>
              <a:rPr lang="en-US" sz="1600" dirty="0">
                <a:solidFill>
                  <a:srgbClr val="FF0000"/>
                </a:solidFill>
                <a:latin typeface="Candara" panose="020E0502030303020204" pitchFamily="34" charset="0"/>
              </a:rPr>
              <a:t>)</a:t>
            </a:r>
            <a:r>
              <a:rPr lang="en-US" sz="1600" dirty="0">
                <a:latin typeface="Candara" panose="020E0502030303020204" pitchFamily="34" charset="0"/>
              </a:rPr>
              <a:t>  </a:t>
            </a:r>
          </a:p>
        </p:txBody>
      </p:sp>
      <p:sp>
        <p:nvSpPr>
          <p:cNvPr id="3" name="Rectangle 2">
            <a:extLst>
              <a:ext uri="{FF2B5EF4-FFF2-40B4-BE49-F238E27FC236}">
                <a16:creationId xmlns:a16="http://schemas.microsoft.com/office/drawing/2014/main" id="{9BEA41D8-BCF0-F12B-E789-7EF492C3EB72}"/>
              </a:ext>
            </a:extLst>
          </p:cNvPr>
          <p:cNvSpPr/>
          <p:nvPr/>
        </p:nvSpPr>
        <p:spPr>
          <a:xfrm>
            <a:off x="4553080" y="3045550"/>
            <a:ext cx="3253945" cy="511215"/>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&lt;--&gt; &lt;--&gt;</a:t>
            </a:r>
          </a:p>
        </p:txBody>
      </p:sp>
      <p:grpSp>
        <p:nvGrpSpPr>
          <p:cNvPr id="13" name="Group 12">
            <a:extLst>
              <a:ext uri="{FF2B5EF4-FFF2-40B4-BE49-F238E27FC236}">
                <a16:creationId xmlns:a16="http://schemas.microsoft.com/office/drawing/2014/main" id="{7D59D381-0A69-01CC-6319-E796EE454712}"/>
              </a:ext>
            </a:extLst>
          </p:cNvPr>
          <p:cNvGrpSpPr/>
          <p:nvPr/>
        </p:nvGrpSpPr>
        <p:grpSpPr>
          <a:xfrm>
            <a:off x="4541362" y="865699"/>
            <a:ext cx="3253945" cy="2103953"/>
            <a:chOff x="662546" y="2636752"/>
            <a:chExt cx="4764100" cy="2545778"/>
          </a:xfrm>
        </p:grpSpPr>
        <p:grpSp>
          <p:nvGrpSpPr>
            <p:cNvPr id="14" name="Group 13">
              <a:extLst>
                <a:ext uri="{FF2B5EF4-FFF2-40B4-BE49-F238E27FC236}">
                  <a16:creationId xmlns:a16="http://schemas.microsoft.com/office/drawing/2014/main" id="{8E0E2B63-D048-56AE-A82C-7FE6EE71AF5D}"/>
                </a:ext>
              </a:extLst>
            </p:cNvPr>
            <p:cNvGrpSpPr/>
            <p:nvPr/>
          </p:nvGrpSpPr>
          <p:grpSpPr>
            <a:xfrm>
              <a:off x="662546" y="3040562"/>
              <a:ext cx="4764100" cy="2141968"/>
              <a:chOff x="662546" y="2790923"/>
              <a:chExt cx="4764100" cy="2356163"/>
            </a:xfrm>
          </p:grpSpPr>
          <p:grpSp>
            <p:nvGrpSpPr>
              <p:cNvPr id="21" name="Group 20">
                <a:extLst>
                  <a:ext uri="{FF2B5EF4-FFF2-40B4-BE49-F238E27FC236}">
                    <a16:creationId xmlns:a16="http://schemas.microsoft.com/office/drawing/2014/main" id="{D13A37F3-BFE1-5766-201A-644500CB3452}"/>
                  </a:ext>
                </a:extLst>
              </p:cNvPr>
              <p:cNvGrpSpPr/>
              <p:nvPr/>
            </p:nvGrpSpPr>
            <p:grpSpPr>
              <a:xfrm>
                <a:off x="662546" y="2790923"/>
                <a:ext cx="4764100" cy="2198186"/>
                <a:chOff x="895162" y="2638523"/>
                <a:chExt cx="4764100" cy="2198186"/>
              </a:xfrm>
            </p:grpSpPr>
            <p:grpSp>
              <p:nvGrpSpPr>
                <p:cNvPr id="24" name="Group 23">
                  <a:extLst>
                    <a:ext uri="{FF2B5EF4-FFF2-40B4-BE49-F238E27FC236}">
                      <a16:creationId xmlns:a16="http://schemas.microsoft.com/office/drawing/2014/main" id="{B07374B6-BFCE-5FE2-BD10-FF26F75C0D3B}"/>
                    </a:ext>
                  </a:extLst>
                </p:cNvPr>
                <p:cNvGrpSpPr/>
                <p:nvPr/>
              </p:nvGrpSpPr>
              <p:grpSpPr>
                <a:xfrm>
                  <a:off x="895162" y="2661534"/>
                  <a:ext cx="4764100" cy="2175175"/>
                  <a:chOff x="805543" y="3039910"/>
                  <a:chExt cx="5057939" cy="2175175"/>
                </a:xfrm>
                <a:noFill/>
              </p:grpSpPr>
              <p:sp>
                <p:nvSpPr>
                  <p:cNvPr id="28" name="Rectangle 27">
                    <a:extLst>
                      <a:ext uri="{FF2B5EF4-FFF2-40B4-BE49-F238E27FC236}">
                        <a16:creationId xmlns:a16="http://schemas.microsoft.com/office/drawing/2014/main" id="{E900B856-E884-F6B0-B018-B946F74558B5}"/>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29" name="Rectangle 28">
                    <a:extLst>
                      <a:ext uri="{FF2B5EF4-FFF2-40B4-BE49-F238E27FC236}">
                        <a16:creationId xmlns:a16="http://schemas.microsoft.com/office/drawing/2014/main" id="{20F31611-D55A-A2E8-C94D-87904A8B16EE}"/>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0" name="Rectangle 29">
                    <a:extLst>
                      <a:ext uri="{FF2B5EF4-FFF2-40B4-BE49-F238E27FC236}">
                        <a16:creationId xmlns:a16="http://schemas.microsoft.com/office/drawing/2014/main" id="{48A4E4C3-71AF-7689-0D99-20BC3B09C6A6}"/>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7" name="TextBox 46">
                    <a:extLst>
                      <a:ext uri="{FF2B5EF4-FFF2-40B4-BE49-F238E27FC236}">
                        <a16:creationId xmlns:a16="http://schemas.microsoft.com/office/drawing/2014/main" id="{7A945BBA-3C95-B7A6-C094-AC3E33BAB5CE}"/>
                      </a:ext>
                    </a:extLst>
                  </p:cNvPr>
                  <p:cNvSpPr txBox="1"/>
                  <p:nvPr/>
                </p:nvSpPr>
                <p:spPr>
                  <a:xfrm>
                    <a:off x="3503946" y="3781305"/>
                    <a:ext cx="2139942" cy="1433780"/>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Value </a:t>
                    </a:r>
                  </a:p>
                  <a:p>
                    <a:pPr algn="ctr"/>
                    <a:r>
                      <a:rPr lang="en-US" sz="1600" dirty="0">
                        <a:solidFill>
                          <a:schemeClr val="bg1"/>
                        </a:solidFill>
                        <a:latin typeface="Candara" panose="020E0502030303020204" pitchFamily="34" charset="0"/>
                      </a:rPr>
                      <a:t>OP_0 </a:t>
                    </a:r>
                  </a:p>
                  <a:p>
                    <a:pPr algn="ctr"/>
                    <a:r>
                      <a:rPr lang="en-US" sz="1600" dirty="0">
                        <a:solidFill>
                          <a:schemeClr val="bg1"/>
                        </a:solidFill>
                        <a:latin typeface="Candara" panose="020E0502030303020204" pitchFamily="34" charset="0"/>
                      </a:rPr>
                      <a:t>&lt;</a:t>
                    </a:r>
                    <a:r>
                      <a:rPr lang="en-US" sz="1600" dirty="0" err="1">
                        <a:solidFill>
                          <a:schemeClr val="bg1"/>
                        </a:solidFill>
                        <a:latin typeface="Candara" panose="020E0502030303020204" pitchFamily="34" charset="0"/>
                      </a:rPr>
                      <a:t>wsh_A_C</a:t>
                    </a:r>
                    <a:r>
                      <a:rPr lang="en-US" sz="1600" dirty="0">
                        <a:solidFill>
                          <a:schemeClr val="bg1"/>
                        </a:solidFill>
                        <a:latin typeface="Candara" panose="020E0502030303020204" pitchFamily="34" charset="0"/>
                      </a:rPr>
                      <a:t>&gt;</a:t>
                    </a:r>
                  </a:p>
                  <a:p>
                    <a:pPr algn="ctr"/>
                    <a:endParaRPr lang="en-US" sz="1600" dirty="0">
                      <a:latin typeface="Candara" panose="020E0502030303020204" pitchFamily="34" charset="0"/>
                    </a:endParaRPr>
                  </a:p>
                </p:txBody>
              </p:sp>
            </p:grpSp>
            <p:sp>
              <p:nvSpPr>
                <p:cNvPr id="27" name="Rectangle 26">
                  <a:extLst>
                    <a:ext uri="{FF2B5EF4-FFF2-40B4-BE49-F238E27FC236}">
                      <a16:creationId xmlns:a16="http://schemas.microsoft.com/office/drawing/2014/main" id="{9545D00B-5D3A-F169-3DE1-F7D910034839}"/>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Transaction-Level Fields </a:t>
                  </a:r>
                </a:p>
                <a:p>
                  <a:pPr algn="ctr"/>
                  <a:r>
                    <a:rPr lang="en-US" sz="1600" dirty="0">
                      <a:latin typeface="Candara" panose="020E0502030303020204" pitchFamily="34" charset="0"/>
                    </a:rPr>
                    <a:t>(Version, </a:t>
                  </a:r>
                  <a:r>
                    <a:rPr lang="en-US" sz="1600" dirty="0" err="1">
                      <a:latin typeface="Candara" panose="020E0502030303020204" pitchFamily="34" charset="0"/>
                    </a:rPr>
                    <a:t>nLockTime</a:t>
                  </a:r>
                  <a:r>
                    <a:rPr lang="en-US" sz="1600" dirty="0">
                      <a:latin typeface="Candara" panose="020E0502030303020204" pitchFamily="34" charset="0"/>
                    </a:rPr>
                    <a:t>, Flags)</a:t>
                  </a:r>
                </a:p>
              </p:txBody>
            </p:sp>
          </p:grpSp>
          <p:sp>
            <p:nvSpPr>
              <p:cNvPr id="23" name="Rectangle 22">
                <a:extLst>
                  <a:ext uri="{FF2B5EF4-FFF2-40B4-BE49-F238E27FC236}">
                    <a16:creationId xmlns:a16="http://schemas.microsoft.com/office/drawing/2014/main" id="{54BB59D2-56FE-F6B5-B2B0-5E414F9399AF}"/>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HL1234A</a:t>
                </a:r>
              </a:p>
            </p:txBody>
          </p:sp>
        </p:grpSp>
        <p:sp>
          <p:nvSpPr>
            <p:cNvPr id="19" name="TextBox 18">
              <a:extLst>
                <a:ext uri="{FF2B5EF4-FFF2-40B4-BE49-F238E27FC236}">
                  <a16:creationId xmlns:a16="http://schemas.microsoft.com/office/drawing/2014/main" id="{427BD7EB-31F5-75E6-6006-D0C35CEE744F}"/>
                </a:ext>
              </a:extLst>
            </p:cNvPr>
            <p:cNvSpPr txBox="1"/>
            <p:nvPr/>
          </p:nvSpPr>
          <p:spPr>
            <a:xfrm>
              <a:off x="1012745" y="2636752"/>
              <a:ext cx="4335297" cy="446891"/>
            </a:xfrm>
            <a:prstGeom prst="rect">
              <a:avLst/>
            </a:prstGeom>
            <a:noFill/>
          </p:spPr>
          <p:txBody>
            <a:bodyPr wrap="none" rtlCol="0">
              <a:spAutoFit/>
            </a:bodyPr>
            <a:lstStyle/>
            <a:p>
              <a:r>
                <a:rPr lang="en-US" dirty="0">
                  <a:latin typeface="Candara" panose="020E0502030303020204" pitchFamily="34" charset="0"/>
                </a:rPr>
                <a:t>Alice gives this </a:t>
              </a:r>
              <a:r>
                <a:rPr lang="en-US" dirty="0" err="1">
                  <a:latin typeface="Candara" panose="020E0502030303020204" pitchFamily="34" charset="0"/>
                </a:rPr>
                <a:t>txn</a:t>
              </a:r>
              <a:r>
                <a:rPr lang="en-US" dirty="0">
                  <a:latin typeface="Candara" panose="020E0502030303020204" pitchFamily="34" charset="0"/>
                </a:rPr>
                <a:t> to Charlie</a:t>
              </a:r>
            </a:p>
          </p:txBody>
        </p:sp>
      </p:grpSp>
      <p:sp>
        <p:nvSpPr>
          <p:cNvPr id="51" name="Rectangle 50">
            <a:extLst>
              <a:ext uri="{FF2B5EF4-FFF2-40B4-BE49-F238E27FC236}">
                <a16:creationId xmlns:a16="http://schemas.microsoft.com/office/drawing/2014/main" id="{C3486E5D-BA98-20B0-3F4C-1A9D399E3DCE}"/>
              </a:ext>
            </a:extLst>
          </p:cNvPr>
          <p:cNvSpPr/>
          <p:nvPr/>
        </p:nvSpPr>
        <p:spPr>
          <a:xfrm>
            <a:off x="8490531" y="2985246"/>
            <a:ext cx="3253945" cy="5746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 </a:t>
            </a:r>
          </a:p>
          <a:p>
            <a:pPr algn="ctr"/>
            <a:r>
              <a:rPr lang="en-US" dirty="0">
                <a:solidFill>
                  <a:schemeClr val="tx1"/>
                </a:solidFill>
                <a:latin typeface="Candara" panose="020E0502030303020204" pitchFamily="34" charset="0"/>
              </a:rPr>
              <a:t>&lt;</a:t>
            </a:r>
            <a:r>
              <a:rPr lang="en-US" dirty="0" err="1">
                <a:solidFill>
                  <a:schemeClr val="tx1"/>
                </a:solidFill>
                <a:latin typeface="Candara" panose="020E0502030303020204" pitchFamily="34" charset="0"/>
              </a:rPr>
              <a:t>sigCharlie</a:t>
            </a:r>
            <a:r>
              <a:rPr lang="en-US" dirty="0">
                <a:solidFill>
                  <a:schemeClr val="tx1"/>
                </a:solidFill>
                <a:latin typeface="Candara" panose="020E0502030303020204" pitchFamily="34" charset="0"/>
              </a:rPr>
              <a:t>&gt; &lt;S&gt; &lt;</a:t>
            </a:r>
            <a:r>
              <a:rPr lang="en-US" dirty="0" err="1">
                <a:solidFill>
                  <a:schemeClr val="tx1"/>
                </a:solidFill>
                <a:latin typeface="Candara" panose="020E0502030303020204" pitchFamily="34" charset="0"/>
              </a:rPr>
              <a:t>ws_A_C</a:t>
            </a:r>
            <a:r>
              <a:rPr lang="en-US" dirty="0">
                <a:solidFill>
                  <a:schemeClr val="tx1"/>
                </a:solidFill>
                <a:latin typeface="Candara" panose="020E0502030303020204" pitchFamily="34" charset="0"/>
              </a:rPr>
              <a:t>&gt;</a:t>
            </a:r>
          </a:p>
        </p:txBody>
      </p:sp>
      <p:grpSp>
        <p:nvGrpSpPr>
          <p:cNvPr id="52" name="Group 51">
            <a:extLst>
              <a:ext uri="{FF2B5EF4-FFF2-40B4-BE49-F238E27FC236}">
                <a16:creationId xmlns:a16="http://schemas.microsoft.com/office/drawing/2014/main" id="{8995928E-A2CD-812B-97C0-F9A112DE2262}"/>
              </a:ext>
            </a:extLst>
          </p:cNvPr>
          <p:cNvGrpSpPr/>
          <p:nvPr/>
        </p:nvGrpSpPr>
        <p:grpSpPr>
          <a:xfrm>
            <a:off x="7881579" y="895082"/>
            <a:ext cx="4206601" cy="2009452"/>
            <a:chOff x="5935164" y="2659261"/>
            <a:chExt cx="6158886" cy="2431432"/>
          </a:xfrm>
        </p:grpSpPr>
        <p:grpSp>
          <p:nvGrpSpPr>
            <p:cNvPr id="53" name="Group 52">
              <a:extLst>
                <a:ext uri="{FF2B5EF4-FFF2-40B4-BE49-F238E27FC236}">
                  <a16:creationId xmlns:a16="http://schemas.microsoft.com/office/drawing/2014/main" id="{3ED211A9-4E57-FD0B-1878-78524C22B2CA}"/>
                </a:ext>
              </a:extLst>
            </p:cNvPr>
            <p:cNvGrpSpPr/>
            <p:nvPr/>
          </p:nvGrpSpPr>
          <p:grpSpPr>
            <a:xfrm>
              <a:off x="6826732" y="3040348"/>
              <a:ext cx="4764100" cy="2050345"/>
              <a:chOff x="6826732" y="2790923"/>
              <a:chExt cx="4764100" cy="2255376"/>
            </a:xfrm>
          </p:grpSpPr>
          <p:grpSp>
            <p:nvGrpSpPr>
              <p:cNvPr id="58" name="Group 57">
                <a:extLst>
                  <a:ext uri="{FF2B5EF4-FFF2-40B4-BE49-F238E27FC236}">
                    <a16:creationId xmlns:a16="http://schemas.microsoft.com/office/drawing/2014/main" id="{83492147-66DD-D84F-3396-61BDDF1CDE5A}"/>
                  </a:ext>
                </a:extLst>
              </p:cNvPr>
              <p:cNvGrpSpPr/>
              <p:nvPr/>
            </p:nvGrpSpPr>
            <p:grpSpPr>
              <a:xfrm>
                <a:off x="6826732" y="2790923"/>
                <a:ext cx="4764100" cy="2045687"/>
                <a:chOff x="895162" y="2638523"/>
                <a:chExt cx="4764100" cy="2045687"/>
              </a:xfrm>
            </p:grpSpPr>
            <p:grpSp>
              <p:nvGrpSpPr>
                <p:cNvPr id="60" name="Group 59">
                  <a:extLst>
                    <a:ext uri="{FF2B5EF4-FFF2-40B4-BE49-F238E27FC236}">
                      <a16:creationId xmlns:a16="http://schemas.microsoft.com/office/drawing/2014/main" id="{95F7B280-A538-7F7F-0A19-38AC04ADAE0C}"/>
                    </a:ext>
                  </a:extLst>
                </p:cNvPr>
                <p:cNvGrpSpPr/>
                <p:nvPr/>
              </p:nvGrpSpPr>
              <p:grpSpPr>
                <a:xfrm>
                  <a:off x="895162" y="2661533"/>
                  <a:ext cx="4764100" cy="2022677"/>
                  <a:chOff x="805543" y="3039909"/>
                  <a:chExt cx="5057939" cy="2022677"/>
                </a:xfrm>
                <a:noFill/>
              </p:grpSpPr>
              <p:sp>
                <p:nvSpPr>
                  <p:cNvPr id="62" name="Rectangle 61">
                    <a:extLst>
                      <a:ext uri="{FF2B5EF4-FFF2-40B4-BE49-F238E27FC236}">
                        <a16:creationId xmlns:a16="http://schemas.microsoft.com/office/drawing/2014/main" id="{648C5CB8-0D12-28E9-FFCC-09CC54B6900F}"/>
                      </a:ext>
                    </a:extLst>
                  </p:cNvPr>
                  <p:cNvSpPr/>
                  <p:nvPr/>
                </p:nvSpPr>
                <p:spPr>
                  <a:xfrm>
                    <a:off x="805543" y="3039909"/>
                    <a:ext cx="5057939" cy="1792253"/>
                  </a:xfrm>
                  <a:prstGeom prst="rect">
                    <a:avLst/>
                  </a:prstGeom>
                  <a:solidFill>
                    <a:schemeClr val="accent6">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63" name="Rectangle 62">
                    <a:extLst>
                      <a:ext uri="{FF2B5EF4-FFF2-40B4-BE49-F238E27FC236}">
                        <a16:creationId xmlns:a16="http://schemas.microsoft.com/office/drawing/2014/main" id="{D5172661-D4CE-9A68-10BC-BFF6876BB0C6}"/>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64" name="Rectangle 63">
                    <a:extLst>
                      <a:ext uri="{FF2B5EF4-FFF2-40B4-BE49-F238E27FC236}">
                        <a16:creationId xmlns:a16="http://schemas.microsoft.com/office/drawing/2014/main" id="{CA8BD4EF-A9B1-6D4D-1DFB-5DAB433952C8}"/>
                      </a:ext>
                    </a:extLst>
                  </p:cNvPr>
                  <p:cNvSpPr/>
                  <p:nvPr/>
                </p:nvSpPr>
                <p:spPr>
                  <a:xfrm>
                    <a:off x="3982853" y="3662430"/>
                    <a:ext cx="1773534"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65" name="TextBox 64">
                    <a:extLst>
                      <a:ext uri="{FF2B5EF4-FFF2-40B4-BE49-F238E27FC236}">
                        <a16:creationId xmlns:a16="http://schemas.microsoft.com/office/drawing/2014/main" id="{8AD9A682-51B5-D3D5-E5B4-F20902EDA92B}"/>
                      </a:ext>
                    </a:extLst>
                  </p:cNvPr>
                  <p:cNvSpPr txBox="1"/>
                  <p:nvPr/>
                </p:nvSpPr>
                <p:spPr>
                  <a:xfrm>
                    <a:off x="1094376" y="3736386"/>
                    <a:ext cx="2888477" cy="1106056"/>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Prev </a:t>
                    </a:r>
                    <a:r>
                      <a:rPr lang="en-US" sz="1600" dirty="0" err="1">
                        <a:solidFill>
                          <a:schemeClr val="bg1"/>
                        </a:solidFill>
                        <a:latin typeface="Candara" panose="020E0502030303020204" pitchFamily="34" charset="0"/>
                      </a:rPr>
                      <a:t>Txid</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Idx</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scriptSig</a:t>
                    </a:r>
                    <a:r>
                      <a:rPr lang="en-US" sz="1600" dirty="0">
                        <a:solidFill>
                          <a:schemeClr val="bg1"/>
                        </a:solidFill>
                        <a:latin typeface="Candara" panose="020E0502030303020204" pitchFamily="34" charset="0"/>
                      </a:rPr>
                      <a:t>=empty</a:t>
                    </a:r>
                  </a:p>
                </p:txBody>
              </p:sp>
            </p:grpSp>
            <p:sp>
              <p:nvSpPr>
                <p:cNvPr id="61" name="Rectangle 60">
                  <a:extLst>
                    <a:ext uri="{FF2B5EF4-FFF2-40B4-BE49-F238E27FC236}">
                      <a16:creationId xmlns:a16="http://schemas.microsoft.com/office/drawing/2014/main" id="{581AB461-EC86-29C9-4826-F22C42056005}"/>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Transaction-Level Fields </a:t>
                  </a:r>
                </a:p>
                <a:p>
                  <a:pPr algn="ctr"/>
                  <a:r>
                    <a:rPr lang="en-US" sz="1600" dirty="0">
                      <a:solidFill>
                        <a:schemeClr val="tx1"/>
                      </a:solidFill>
                      <a:latin typeface="Candara" panose="020E0502030303020204" pitchFamily="34" charset="0"/>
                    </a:rPr>
                    <a:t>(Version, </a:t>
                  </a:r>
                  <a:r>
                    <a:rPr lang="en-US" sz="1600" dirty="0" err="1">
                      <a:solidFill>
                        <a:schemeClr val="tx1"/>
                      </a:solidFill>
                      <a:latin typeface="Candara" panose="020E0502030303020204" pitchFamily="34" charset="0"/>
                    </a:rPr>
                    <a:t>nLockTime</a:t>
                  </a:r>
                  <a:r>
                    <a:rPr lang="en-US" sz="1600" dirty="0">
                      <a:solidFill>
                        <a:schemeClr val="tx1"/>
                      </a:solidFill>
                      <a:latin typeface="Candara" panose="020E0502030303020204" pitchFamily="34" charset="0"/>
                    </a:rPr>
                    <a:t>, Flags)</a:t>
                  </a:r>
                </a:p>
              </p:txBody>
            </p:sp>
          </p:grpSp>
          <p:sp>
            <p:nvSpPr>
              <p:cNvPr id="59" name="Rectangle 58">
                <a:extLst>
                  <a:ext uri="{FF2B5EF4-FFF2-40B4-BE49-F238E27FC236}">
                    <a16:creationId xmlns:a16="http://schemas.microsoft.com/office/drawing/2014/main" id="{D9E2278E-CB96-B6B9-B39B-487E04371F80}"/>
                  </a:ext>
                </a:extLst>
              </p:cNvPr>
              <p:cNvSpPr/>
              <p:nvPr/>
            </p:nvSpPr>
            <p:spPr>
              <a:xfrm>
                <a:off x="6826732" y="4608862"/>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HL1234C</a:t>
                </a:r>
              </a:p>
            </p:txBody>
          </p:sp>
        </p:grpSp>
        <p:sp>
          <p:nvSpPr>
            <p:cNvPr id="54" name="TextBox 53">
              <a:extLst>
                <a:ext uri="{FF2B5EF4-FFF2-40B4-BE49-F238E27FC236}">
                  <a16:creationId xmlns:a16="http://schemas.microsoft.com/office/drawing/2014/main" id="{1DF967F4-116E-9D02-64E7-9E49602A20C4}"/>
                </a:ext>
              </a:extLst>
            </p:cNvPr>
            <p:cNvSpPr txBox="1"/>
            <p:nvPr/>
          </p:nvSpPr>
          <p:spPr>
            <a:xfrm>
              <a:off x="5935164" y="2659261"/>
              <a:ext cx="6158886" cy="446891"/>
            </a:xfrm>
            <a:prstGeom prst="rect">
              <a:avLst/>
            </a:prstGeom>
            <a:noFill/>
          </p:spPr>
          <p:txBody>
            <a:bodyPr wrap="none" rtlCol="0">
              <a:spAutoFit/>
            </a:bodyPr>
            <a:lstStyle/>
            <a:p>
              <a:r>
                <a:rPr lang="en-US" dirty="0">
                  <a:latin typeface="Candara" panose="020E0502030303020204" pitchFamily="34" charset="0"/>
                </a:rPr>
                <a:t>Charlie learns S and spends Alice’s output</a:t>
              </a:r>
            </a:p>
          </p:txBody>
        </p:sp>
      </p:grpSp>
      <p:grpSp>
        <p:nvGrpSpPr>
          <p:cNvPr id="67" name="Group 66">
            <a:extLst>
              <a:ext uri="{FF2B5EF4-FFF2-40B4-BE49-F238E27FC236}">
                <a16:creationId xmlns:a16="http://schemas.microsoft.com/office/drawing/2014/main" id="{B9F76656-5ACA-44E6-B74F-F0F317F59FEE}"/>
              </a:ext>
            </a:extLst>
          </p:cNvPr>
          <p:cNvGrpSpPr/>
          <p:nvPr/>
        </p:nvGrpSpPr>
        <p:grpSpPr>
          <a:xfrm>
            <a:off x="7797902" y="2394313"/>
            <a:ext cx="711256" cy="894281"/>
            <a:chOff x="5426646" y="4367463"/>
            <a:chExt cx="1400086" cy="1745433"/>
          </a:xfrm>
        </p:grpSpPr>
        <p:cxnSp>
          <p:nvCxnSpPr>
            <p:cNvPr id="68" name="Straight Connector 67">
              <a:extLst>
                <a:ext uri="{FF2B5EF4-FFF2-40B4-BE49-F238E27FC236}">
                  <a16:creationId xmlns:a16="http://schemas.microsoft.com/office/drawing/2014/main" id="{ED132F76-A4C4-C663-B618-82467B25DEB3}"/>
                </a:ext>
              </a:extLst>
            </p:cNvPr>
            <p:cNvCxnSpPr>
              <a:cxnSpLocks/>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A90CB86-DEAC-121E-C4C4-005C9A6290EA}"/>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101F5F2-DF2C-D2BE-7010-8C8DCA542B27}"/>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cxnSp>
        <p:nvCxnSpPr>
          <p:cNvPr id="101" name="Straight Arrow Connector 100">
            <a:extLst>
              <a:ext uri="{FF2B5EF4-FFF2-40B4-BE49-F238E27FC236}">
                <a16:creationId xmlns:a16="http://schemas.microsoft.com/office/drawing/2014/main" id="{F2D0CFD8-E826-762E-D31D-42FFD4CC3DFC}"/>
              </a:ext>
            </a:extLst>
          </p:cNvPr>
          <p:cNvCxnSpPr>
            <a:cxnSpLocks/>
          </p:cNvCxnSpPr>
          <p:nvPr/>
        </p:nvCxnSpPr>
        <p:spPr>
          <a:xfrm flipH="1">
            <a:off x="7795307" y="4998336"/>
            <a:ext cx="72906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290D0AA1-7051-D25D-E351-7E2887DBA21E}"/>
              </a:ext>
            </a:extLst>
          </p:cNvPr>
          <p:cNvSpPr/>
          <p:nvPr/>
        </p:nvSpPr>
        <p:spPr>
          <a:xfrm>
            <a:off x="4568291" y="5944381"/>
            <a:ext cx="3253945" cy="550546"/>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&lt;--&gt; &lt;--&gt;</a:t>
            </a:r>
          </a:p>
        </p:txBody>
      </p:sp>
      <p:grpSp>
        <p:nvGrpSpPr>
          <p:cNvPr id="103" name="Group 102">
            <a:extLst>
              <a:ext uri="{FF2B5EF4-FFF2-40B4-BE49-F238E27FC236}">
                <a16:creationId xmlns:a16="http://schemas.microsoft.com/office/drawing/2014/main" id="{FADF3D00-10E2-2F65-2D05-8991F8AEF63A}"/>
              </a:ext>
            </a:extLst>
          </p:cNvPr>
          <p:cNvGrpSpPr/>
          <p:nvPr/>
        </p:nvGrpSpPr>
        <p:grpSpPr>
          <a:xfrm>
            <a:off x="4556573" y="3780295"/>
            <a:ext cx="3253945" cy="2088188"/>
            <a:chOff x="662546" y="2655828"/>
            <a:chExt cx="4764100" cy="2526702"/>
          </a:xfrm>
        </p:grpSpPr>
        <p:grpSp>
          <p:nvGrpSpPr>
            <p:cNvPr id="104" name="Group 103">
              <a:extLst>
                <a:ext uri="{FF2B5EF4-FFF2-40B4-BE49-F238E27FC236}">
                  <a16:creationId xmlns:a16="http://schemas.microsoft.com/office/drawing/2014/main" id="{298A20C4-3092-B7E8-331C-1815B87687E4}"/>
                </a:ext>
              </a:extLst>
            </p:cNvPr>
            <p:cNvGrpSpPr/>
            <p:nvPr/>
          </p:nvGrpSpPr>
          <p:grpSpPr>
            <a:xfrm>
              <a:off x="662546" y="3040562"/>
              <a:ext cx="4764100" cy="2141968"/>
              <a:chOff x="662546" y="2790923"/>
              <a:chExt cx="4764100" cy="2356163"/>
            </a:xfrm>
          </p:grpSpPr>
          <p:grpSp>
            <p:nvGrpSpPr>
              <p:cNvPr id="106" name="Group 105">
                <a:extLst>
                  <a:ext uri="{FF2B5EF4-FFF2-40B4-BE49-F238E27FC236}">
                    <a16:creationId xmlns:a16="http://schemas.microsoft.com/office/drawing/2014/main" id="{39A23CF7-56E0-0641-FBBD-917578E48C92}"/>
                  </a:ext>
                </a:extLst>
              </p:cNvPr>
              <p:cNvGrpSpPr/>
              <p:nvPr/>
            </p:nvGrpSpPr>
            <p:grpSpPr>
              <a:xfrm>
                <a:off x="662546" y="2790923"/>
                <a:ext cx="4764100" cy="2198186"/>
                <a:chOff x="895162" y="2638523"/>
                <a:chExt cx="4764100" cy="2198186"/>
              </a:xfrm>
            </p:grpSpPr>
            <p:grpSp>
              <p:nvGrpSpPr>
                <p:cNvPr id="108" name="Group 107">
                  <a:extLst>
                    <a:ext uri="{FF2B5EF4-FFF2-40B4-BE49-F238E27FC236}">
                      <a16:creationId xmlns:a16="http://schemas.microsoft.com/office/drawing/2014/main" id="{09EF4DA3-3D96-ED83-B5EC-0C7C37BE7762}"/>
                    </a:ext>
                  </a:extLst>
                </p:cNvPr>
                <p:cNvGrpSpPr/>
                <p:nvPr/>
              </p:nvGrpSpPr>
              <p:grpSpPr>
                <a:xfrm>
                  <a:off x="895162" y="2661534"/>
                  <a:ext cx="4764100" cy="2175175"/>
                  <a:chOff x="805543" y="3039910"/>
                  <a:chExt cx="5057939" cy="2175175"/>
                </a:xfrm>
                <a:noFill/>
              </p:grpSpPr>
              <p:sp>
                <p:nvSpPr>
                  <p:cNvPr id="110" name="Rectangle 109">
                    <a:extLst>
                      <a:ext uri="{FF2B5EF4-FFF2-40B4-BE49-F238E27FC236}">
                        <a16:creationId xmlns:a16="http://schemas.microsoft.com/office/drawing/2014/main" id="{053377CB-B2D5-C527-BD91-1ADF0A4D0448}"/>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11" name="Rectangle 110">
                    <a:extLst>
                      <a:ext uri="{FF2B5EF4-FFF2-40B4-BE49-F238E27FC236}">
                        <a16:creationId xmlns:a16="http://schemas.microsoft.com/office/drawing/2014/main" id="{17630901-1277-FA4B-694E-82DCA8C4EBB5}"/>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2" name="Rectangle 111">
                    <a:extLst>
                      <a:ext uri="{FF2B5EF4-FFF2-40B4-BE49-F238E27FC236}">
                        <a16:creationId xmlns:a16="http://schemas.microsoft.com/office/drawing/2014/main" id="{B2A94580-98AE-DE15-1FD1-3B0097AA26B2}"/>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3" name="TextBox 112">
                    <a:extLst>
                      <a:ext uri="{FF2B5EF4-FFF2-40B4-BE49-F238E27FC236}">
                        <a16:creationId xmlns:a16="http://schemas.microsoft.com/office/drawing/2014/main" id="{4CB855D4-4485-EEB9-869C-01485FD5051A}"/>
                      </a:ext>
                    </a:extLst>
                  </p:cNvPr>
                  <p:cNvSpPr txBox="1"/>
                  <p:nvPr/>
                </p:nvSpPr>
                <p:spPr>
                  <a:xfrm>
                    <a:off x="3503946" y="3781305"/>
                    <a:ext cx="2139942" cy="1433780"/>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Value </a:t>
                    </a:r>
                  </a:p>
                  <a:p>
                    <a:pPr algn="ctr"/>
                    <a:r>
                      <a:rPr lang="en-US" sz="1600" dirty="0">
                        <a:solidFill>
                          <a:schemeClr val="bg1"/>
                        </a:solidFill>
                        <a:latin typeface="Candara" panose="020E0502030303020204" pitchFamily="34" charset="0"/>
                      </a:rPr>
                      <a:t>OP_0 </a:t>
                    </a:r>
                  </a:p>
                  <a:p>
                    <a:pPr algn="ctr"/>
                    <a:r>
                      <a:rPr lang="en-US" sz="1600" dirty="0">
                        <a:solidFill>
                          <a:schemeClr val="bg1"/>
                        </a:solidFill>
                        <a:latin typeface="Candara" panose="020E0502030303020204" pitchFamily="34" charset="0"/>
                      </a:rPr>
                      <a:t>&lt;</a:t>
                    </a:r>
                    <a:r>
                      <a:rPr lang="en-US" sz="1600" dirty="0" err="1">
                        <a:solidFill>
                          <a:schemeClr val="bg1"/>
                        </a:solidFill>
                        <a:latin typeface="Candara" panose="020E0502030303020204" pitchFamily="34" charset="0"/>
                      </a:rPr>
                      <a:t>wsh_C_B</a:t>
                    </a:r>
                    <a:r>
                      <a:rPr lang="en-US" sz="1600" dirty="0">
                        <a:solidFill>
                          <a:schemeClr val="bg1"/>
                        </a:solidFill>
                        <a:latin typeface="Candara" panose="020E0502030303020204" pitchFamily="34" charset="0"/>
                      </a:rPr>
                      <a:t>&gt;</a:t>
                    </a:r>
                  </a:p>
                  <a:p>
                    <a:pPr algn="ctr"/>
                    <a:endParaRPr lang="en-US" sz="1600" dirty="0">
                      <a:latin typeface="Candara" panose="020E0502030303020204" pitchFamily="34" charset="0"/>
                    </a:endParaRPr>
                  </a:p>
                </p:txBody>
              </p:sp>
            </p:grpSp>
            <p:sp>
              <p:nvSpPr>
                <p:cNvPr id="109" name="Rectangle 108">
                  <a:extLst>
                    <a:ext uri="{FF2B5EF4-FFF2-40B4-BE49-F238E27FC236}">
                      <a16:creationId xmlns:a16="http://schemas.microsoft.com/office/drawing/2014/main" id="{046F8CCC-4482-B663-807A-2F1DBF03399F}"/>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Transaction-Level Fields </a:t>
                  </a:r>
                </a:p>
                <a:p>
                  <a:pPr algn="ctr"/>
                  <a:r>
                    <a:rPr lang="en-US" sz="1600" dirty="0">
                      <a:latin typeface="Candara" panose="020E0502030303020204" pitchFamily="34" charset="0"/>
                    </a:rPr>
                    <a:t>(Version, </a:t>
                  </a:r>
                  <a:r>
                    <a:rPr lang="en-US" sz="1600" dirty="0" err="1">
                      <a:latin typeface="Candara" panose="020E0502030303020204" pitchFamily="34" charset="0"/>
                    </a:rPr>
                    <a:t>nLockTime</a:t>
                  </a:r>
                  <a:r>
                    <a:rPr lang="en-US" sz="1600" dirty="0">
                      <a:latin typeface="Candara" panose="020E0502030303020204" pitchFamily="34" charset="0"/>
                    </a:rPr>
                    <a:t>, Flags)</a:t>
                  </a:r>
                </a:p>
              </p:txBody>
            </p:sp>
          </p:grpSp>
          <p:sp>
            <p:nvSpPr>
              <p:cNvPr id="107" name="Rectangle 106">
                <a:extLst>
                  <a:ext uri="{FF2B5EF4-FFF2-40B4-BE49-F238E27FC236}">
                    <a16:creationId xmlns:a16="http://schemas.microsoft.com/office/drawing/2014/main" id="{2394A683-CBB6-4FC4-F9EA-A5F744E1754A}"/>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HL5678C</a:t>
                </a:r>
              </a:p>
            </p:txBody>
          </p:sp>
        </p:grpSp>
        <p:sp>
          <p:nvSpPr>
            <p:cNvPr id="105" name="TextBox 104">
              <a:extLst>
                <a:ext uri="{FF2B5EF4-FFF2-40B4-BE49-F238E27FC236}">
                  <a16:creationId xmlns:a16="http://schemas.microsoft.com/office/drawing/2014/main" id="{ED8A0A0D-B06C-733B-28A4-1FB5AD91A609}"/>
                </a:ext>
              </a:extLst>
            </p:cNvPr>
            <p:cNvSpPr txBox="1"/>
            <p:nvPr/>
          </p:nvSpPr>
          <p:spPr>
            <a:xfrm>
              <a:off x="1046800" y="2655828"/>
              <a:ext cx="4222644" cy="446891"/>
            </a:xfrm>
            <a:prstGeom prst="rect">
              <a:avLst/>
            </a:prstGeom>
            <a:noFill/>
          </p:spPr>
          <p:txBody>
            <a:bodyPr wrap="none" rtlCol="0">
              <a:spAutoFit/>
            </a:bodyPr>
            <a:lstStyle/>
            <a:p>
              <a:r>
                <a:rPr lang="en-US" dirty="0">
                  <a:latin typeface="Candara" panose="020E0502030303020204" pitchFamily="34" charset="0"/>
                </a:rPr>
                <a:t>Charlie gives this </a:t>
              </a:r>
              <a:r>
                <a:rPr lang="en-US" dirty="0" err="1">
                  <a:latin typeface="Candara" panose="020E0502030303020204" pitchFamily="34" charset="0"/>
                </a:rPr>
                <a:t>txn</a:t>
              </a:r>
              <a:r>
                <a:rPr lang="en-US" dirty="0">
                  <a:latin typeface="Candara" panose="020E0502030303020204" pitchFamily="34" charset="0"/>
                </a:rPr>
                <a:t> to Bob</a:t>
              </a:r>
            </a:p>
          </p:txBody>
        </p:sp>
      </p:grpSp>
      <p:sp>
        <p:nvSpPr>
          <p:cNvPr id="114" name="Rectangle 113">
            <a:extLst>
              <a:ext uri="{FF2B5EF4-FFF2-40B4-BE49-F238E27FC236}">
                <a16:creationId xmlns:a16="http://schemas.microsoft.com/office/drawing/2014/main" id="{CA261A0C-E415-36E6-9D62-75398473B84B}"/>
              </a:ext>
            </a:extLst>
          </p:cNvPr>
          <p:cNvSpPr/>
          <p:nvPr/>
        </p:nvSpPr>
        <p:spPr>
          <a:xfrm>
            <a:off x="8505742" y="5884076"/>
            <a:ext cx="3253945" cy="61085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 </a:t>
            </a:r>
          </a:p>
          <a:p>
            <a:pPr algn="ctr"/>
            <a:r>
              <a:rPr lang="en-US" dirty="0">
                <a:solidFill>
                  <a:schemeClr val="tx1"/>
                </a:solidFill>
                <a:latin typeface="Candara" panose="020E0502030303020204" pitchFamily="34" charset="0"/>
              </a:rPr>
              <a:t>&lt;</a:t>
            </a:r>
            <a:r>
              <a:rPr lang="en-US" dirty="0" err="1">
                <a:solidFill>
                  <a:schemeClr val="tx1"/>
                </a:solidFill>
                <a:latin typeface="Candara" panose="020E0502030303020204" pitchFamily="34" charset="0"/>
              </a:rPr>
              <a:t>sigBob</a:t>
            </a:r>
            <a:r>
              <a:rPr lang="en-US" dirty="0">
                <a:solidFill>
                  <a:schemeClr val="tx1"/>
                </a:solidFill>
                <a:latin typeface="Candara" panose="020E0502030303020204" pitchFamily="34" charset="0"/>
              </a:rPr>
              <a:t>&gt; &lt;S&gt; &lt;</a:t>
            </a:r>
            <a:r>
              <a:rPr lang="en-US" dirty="0" err="1">
                <a:solidFill>
                  <a:schemeClr val="tx1"/>
                </a:solidFill>
                <a:latin typeface="Candara" panose="020E0502030303020204" pitchFamily="34" charset="0"/>
              </a:rPr>
              <a:t>ws_C_B</a:t>
            </a:r>
            <a:r>
              <a:rPr lang="en-US" dirty="0">
                <a:solidFill>
                  <a:schemeClr val="tx1"/>
                </a:solidFill>
                <a:latin typeface="Candara" panose="020E0502030303020204" pitchFamily="34" charset="0"/>
              </a:rPr>
              <a:t>&gt;</a:t>
            </a:r>
          </a:p>
        </p:txBody>
      </p:sp>
      <p:grpSp>
        <p:nvGrpSpPr>
          <p:cNvPr id="126" name="Group 125">
            <a:extLst>
              <a:ext uri="{FF2B5EF4-FFF2-40B4-BE49-F238E27FC236}">
                <a16:creationId xmlns:a16="http://schemas.microsoft.com/office/drawing/2014/main" id="{9C39E01D-F755-3819-B3EC-9FE1B30F1504}"/>
              </a:ext>
            </a:extLst>
          </p:cNvPr>
          <p:cNvGrpSpPr/>
          <p:nvPr/>
        </p:nvGrpSpPr>
        <p:grpSpPr>
          <a:xfrm>
            <a:off x="7813113" y="5287275"/>
            <a:ext cx="711256" cy="900149"/>
            <a:chOff x="5426646" y="4367463"/>
            <a:chExt cx="1400086" cy="1745433"/>
          </a:xfrm>
        </p:grpSpPr>
        <p:cxnSp>
          <p:nvCxnSpPr>
            <p:cNvPr id="127" name="Straight Connector 126">
              <a:extLst>
                <a:ext uri="{FF2B5EF4-FFF2-40B4-BE49-F238E27FC236}">
                  <a16:creationId xmlns:a16="http://schemas.microsoft.com/office/drawing/2014/main" id="{FE50BAFB-E9C1-C889-86B5-5D7A59B02B55}"/>
                </a:ext>
              </a:extLst>
            </p:cNvPr>
            <p:cNvCxnSpPr>
              <a:cxnSpLocks/>
            </p:cNvCxnSpPr>
            <p:nvPr/>
          </p:nvCxnSpPr>
          <p:spPr>
            <a:xfrm flipH="1">
              <a:off x="6448926" y="6112894"/>
              <a:ext cx="377806" cy="2"/>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FFC9619-2CE5-9ED4-F881-45AD1E29A2DE}"/>
                </a:ext>
              </a:extLst>
            </p:cNvPr>
            <p:cNvCxnSpPr>
              <a:cxnSpLocks/>
            </p:cNvCxnSpPr>
            <p:nvPr/>
          </p:nvCxnSpPr>
          <p:spPr>
            <a:xfrm flipV="1">
              <a:off x="6460957" y="4367463"/>
              <a:ext cx="0" cy="1745431"/>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5A038A76-6D71-FA82-7B64-109705B862B5}"/>
                </a:ext>
              </a:extLst>
            </p:cNvPr>
            <p:cNvCxnSpPr/>
            <p:nvPr/>
          </p:nvCxnSpPr>
          <p:spPr>
            <a:xfrm flipH="1">
              <a:off x="5426646" y="4379495"/>
              <a:ext cx="10222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F006BD79-CF32-88C6-C1FE-5CBA89F7E6A0}"/>
              </a:ext>
            </a:extLst>
          </p:cNvPr>
          <p:cNvSpPr txBox="1"/>
          <p:nvPr/>
        </p:nvSpPr>
        <p:spPr>
          <a:xfrm>
            <a:off x="483525" y="4605173"/>
            <a:ext cx="3725436" cy="1323439"/>
          </a:xfrm>
          <a:prstGeom prst="rect">
            <a:avLst/>
          </a:prstGeom>
          <a:noFill/>
          <a:ln>
            <a:solidFill>
              <a:schemeClr val="accent6">
                <a:lumMod val="50000"/>
              </a:schemeClr>
            </a:solidFill>
          </a:ln>
        </p:spPr>
        <p:txBody>
          <a:bodyPr wrap="square" rtlCol="0">
            <a:spAutoFit/>
          </a:bodyPr>
          <a:lstStyle/>
          <a:p>
            <a:r>
              <a:rPr lang="en-US" sz="1600" b="1" dirty="0">
                <a:latin typeface="Candara" panose="020E0502030303020204" pitchFamily="34" charset="0"/>
              </a:rPr>
              <a:t>Witness Script (</a:t>
            </a:r>
            <a:r>
              <a:rPr lang="en-US" sz="1600" b="1" dirty="0" err="1">
                <a:latin typeface="Candara" panose="020E0502030303020204" pitchFamily="34" charset="0"/>
              </a:rPr>
              <a:t>ws_C_B</a:t>
            </a:r>
            <a:r>
              <a:rPr lang="en-US" sz="1600" b="1" dirty="0">
                <a:latin typeface="Candara" panose="020E0502030303020204" pitchFamily="34" charset="0"/>
              </a:rPr>
              <a:t>)</a:t>
            </a:r>
            <a:r>
              <a:rPr lang="en-US" sz="1600" dirty="0">
                <a:latin typeface="Candara" panose="020E0502030303020204" pitchFamily="34" charset="0"/>
              </a:rPr>
              <a:t>:</a:t>
            </a:r>
          </a:p>
          <a:p>
            <a:r>
              <a:rPr lang="en-US" sz="1600" dirty="0">
                <a:solidFill>
                  <a:srgbClr val="7030A0"/>
                </a:solidFill>
                <a:latin typeface="Candara" panose="020E0502030303020204" pitchFamily="34" charset="0"/>
              </a:rPr>
              <a:t>OP_SHA256 &lt;H&gt; OP_EQUALVERIFY</a:t>
            </a:r>
          </a:p>
          <a:p>
            <a:r>
              <a:rPr lang="en-US" sz="1600" dirty="0">
                <a:solidFill>
                  <a:srgbClr val="7030A0"/>
                </a:solidFill>
                <a:latin typeface="Candara" panose="020E0502030303020204" pitchFamily="34" charset="0"/>
              </a:rPr>
              <a:t>&lt;</a:t>
            </a:r>
            <a:r>
              <a:rPr lang="en-US" sz="1600" dirty="0" err="1">
                <a:solidFill>
                  <a:srgbClr val="7030A0"/>
                </a:solidFill>
                <a:latin typeface="Candara" panose="020E0502030303020204" pitchFamily="34" charset="0"/>
              </a:rPr>
              <a:t>PubKeyBob</a:t>
            </a:r>
            <a:r>
              <a:rPr lang="en-US" sz="1600" dirty="0">
                <a:solidFill>
                  <a:srgbClr val="7030A0"/>
                </a:solidFill>
                <a:latin typeface="Candara" panose="020E0502030303020204" pitchFamily="34" charset="0"/>
              </a:rPr>
              <a:t>&gt; OP_CHECKSIG</a:t>
            </a:r>
          </a:p>
          <a:p>
            <a:endParaRPr lang="en-US" sz="1600" dirty="0">
              <a:latin typeface="Candara" panose="020E0502030303020204" pitchFamily="34" charset="0"/>
            </a:endParaRPr>
          </a:p>
          <a:p>
            <a:r>
              <a:rPr lang="en-US" sz="1600" dirty="0">
                <a:solidFill>
                  <a:srgbClr val="FF0000"/>
                </a:solidFill>
                <a:latin typeface="Candara" panose="020E0502030303020204" pitchFamily="34" charset="0"/>
              </a:rPr>
              <a:t>&lt;</a:t>
            </a:r>
            <a:r>
              <a:rPr lang="en-US" sz="1600" dirty="0" err="1">
                <a:solidFill>
                  <a:srgbClr val="FF0000"/>
                </a:solidFill>
                <a:latin typeface="Candara" panose="020E0502030303020204" pitchFamily="34" charset="0"/>
              </a:rPr>
              <a:t>wsh_C_B</a:t>
            </a:r>
            <a:r>
              <a:rPr lang="en-US" sz="1600" dirty="0">
                <a:solidFill>
                  <a:srgbClr val="FF0000"/>
                </a:solidFill>
                <a:latin typeface="Candara" panose="020E0502030303020204" pitchFamily="34" charset="0"/>
              </a:rPr>
              <a:t>&gt; = SHA256(</a:t>
            </a:r>
            <a:r>
              <a:rPr lang="en-US" sz="1600" dirty="0" err="1">
                <a:solidFill>
                  <a:srgbClr val="FF0000"/>
                </a:solidFill>
                <a:latin typeface="Candara" panose="020E0502030303020204" pitchFamily="34" charset="0"/>
              </a:rPr>
              <a:t>ws_C_B</a:t>
            </a:r>
            <a:r>
              <a:rPr lang="en-US" sz="1600" dirty="0">
                <a:solidFill>
                  <a:srgbClr val="FF0000"/>
                </a:solidFill>
                <a:latin typeface="Candara" panose="020E0502030303020204" pitchFamily="34" charset="0"/>
              </a:rPr>
              <a:t>)</a:t>
            </a:r>
            <a:r>
              <a:rPr lang="en-US" sz="1600" dirty="0">
                <a:latin typeface="Candara" panose="020E0502030303020204" pitchFamily="34" charset="0"/>
              </a:rPr>
              <a:t>  </a:t>
            </a:r>
          </a:p>
        </p:txBody>
      </p:sp>
      <p:sp>
        <p:nvSpPr>
          <p:cNvPr id="11" name="TextBox 10">
            <a:extLst>
              <a:ext uri="{FF2B5EF4-FFF2-40B4-BE49-F238E27FC236}">
                <a16:creationId xmlns:a16="http://schemas.microsoft.com/office/drawing/2014/main" id="{B47161EC-E4AE-6720-6870-A6A458D92902}"/>
              </a:ext>
            </a:extLst>
          </p:cNvPr>
          <p:cNvSpPr txBox="1"/>
          <p:nvPr/>
        </p:nvSpPr>
        <p:spPr>
          <a:xfrm>
            <a:off x="10475132" y="1792884"/>
            <a:ext cx="1247543" cy="954107"/>
          </a:xfrm>
          <a:prstGeom prst="rect">
            <a:avLst/>
          </a:prstGeom>
          <a:noFill/>
        </p:spPr>
        <p:txBody>
          <a:bodyPr wrap="square" rtlCol="0">
            <a:spAutoFit/>
          </a:bodyPr>
          <a:lstStyle/>
          <a:p>
            <a:pPr algn="ctr"/>
            <a:r>
              <a:rPr lang="en-US" sz="1400" dirty="0">
                <a:solidFill>
                  <a:schemeClr val="bg1"/>
                </a:solidFill>
                <a:latin typeface="Candara" panose="020E0502030303020204" pitchFamily="34" charset="0"/>
              </a:rPr>
              <a:t>Value </a:t>
            </a:r>
          </a:p>
          <a:p>
            <a:pPr algn="ctr"/>
            <a:r>
              <a:rPr lang="en-US" sz="1400" dirty="0">
                <a:solidFill>
                  <a:schemeClr val="bg1"/>
                </a:solidFill>
                <a:latin typeface="Candara" panose="020E0502030303020204" pitchFamily="34" charset="0"/>
              </a:rPr>
              <a:t>OP_0 </a:t>
            </a:r>
          </a:p>
          <a:p>
            <a:pPr algn="ctr"/>
            <a:r>
              <a:rPr lang="en-US" sz="1400" dirty="0">
                <a:solidFill>
                  <a:schemeClr val="bg1"/>
                </a:solidFill>
                <a:latin typeface="Candara" panose="020E0502030303020204" pitchFamily="34" charset="0"/>
              </a:rPr>
              <a:t>&lt;</a:t>
            </a:r>
            <a:r>
              <a:rPr lang="en-US" sz="1200" dirty="0" err="1">
                <a:solidFill>
                  <a:schemeClr val="bg1"/>
                </a:solidFill>
                <a:latin typeface="Candara" panose="020E0502030303020204" pitchFamily="34" charset="0"/>
              </a:rPr>
              <a:t>wpkh_Charlie</a:t>
            </a:r>
            <a:r>
              <a:rPr lang="en-US" sz="1200" dirty="0">
                <a:solidFill>
                  <a:schemeClr val="bg1"/>
                </a:solidFill>
                <a:latin typeface="Candara" panose="020E0502030303020204" pitchFamily="34" charset="0"/>
              </a:rPr>
              <a:t>&gt;</a:t>
            </a:r>
          </a:p>
          <a:p>
            <a:pPr algn="ctr"/>
            <a:endParaRPr lang="en-US" sz="1400" dirty="0">
              <a:latin typeface="Candara" panose="020E0502030303020204" pitchFamily="34" charset="0"/>
            </a:endParaRPr>
          </a:p>
        </p:txBody>
      </p:sp>
      <p:grpSp>
        <p:nvGrpSpPr>
          <p:cNvPr id="15" name="Group 14">
            <a:extLst>
              <a:ext uri="{FF2B5EF4-FFF2-40B4-BE49-F238E27FC236}">
                <a16:creationId xmlns:a16="http://schemas.microsoft.com/office/drawing/2014/main" id="{4F2B1112-FAAB-C7C9-B61C-4FE10659EA32}"/>
              </a:ext>
            </a:extLst>
          </p:cNvPr>
          <p:cNvGrpSpPr/>
          <p:nvPr/>
        </p:nvGrpSpPr>
        <p:grpSpPr>
          <a:xfrm>
            <a:off x="8317229" y="3770679"/>
            <a:ext cx="3671198" cy="2032685"/>
            <a:chOff x="8317229" y="3770679"/>
            <a:chExt cx="3671198" cy="2032685"/>
          </a:xfrm>
        </p:grpSpPr>
        <p:grpSp>
          <p:nvGrpSpPr>
            <p:cNvPr id="115" name="Group 114">
              <a:extLst>
                <a:ext uri="{FF2B5EF4-FFF2-40B4-BE49-F238E27FC236}">
                  <a16:creationId xmlns:a16="http://schemas.microsoft.com/office/drawing/2014/main" id="{B51C7D7C-D163-5D35-3D31-4A99A6D7B62D}"/>
                </a:ext>
              </a:extLst>
            </p:cNvPr>
            <p:cNvGrpSpPr/>
            <p:nvPr/>
          </p:nvGrpSpPr>
          <p:grpSpPr>
            <a:xfrm>
              <a:off x="8317229" y="3770679"/>
              <a:ext cx="3671198" cy="2032685"/>
              <a:chOff x="6550732" y="2631149"/>
              <a:chExt cx="5375002" cy="2459544"/>
            </a:xfrm>
          </p:grpSpPr>
          <p:grpSp>
            <p:nvGrpSpPr>
              <p:cNvPr id="116" name="Group 115">
                <a:extLst>
                  <a:ext uri="{FF2B5EF4-FFF2-40B4-BE49-F238E27FC236}">
                    <a16:creationId xmlns:a16="http://schemas.microsoft.com/office/drawing/2014/main" id="{4CDC8C18-2923-F403-D2E9-E0349699AFF0}"/>
                  </a:ext>
                </a:extLst>
              </p:cNvPr>
              <p:cNvGrpSpPr/>
              <p:nvPr/>
            </p:nvGrpSpPr>
            <p:grpSpPr>
              <a:xfrm>
                <a:off x="6826732" y="3040348"/>
                <a:ext cx="4764100" cy="2050345"/>
                <a:chOff x="6826732" y="2790923"/>
                <a:chExt cx="4764100" cy="2255376"/>
              </a:xfrm>
            </p:grpSpPr>
            <p:grpSp>
              <p:nvGrpSpPr>
                <p:cNvPr id="118" name="Group 117">
                  <a:extLst>
                    <a:ext uri="{FF2B5EF4-FFF2-40B4-BE49-F238E27FC236}">
                      <a16:creationId xmlns:a16="http://schemas.microsoft.com/office/drawing/2014/main" id="{A4C0EFA1-8D61-1B9E-6F09-869CC2B3F698}"/>
                    </a:ext>
                  </a:extLst>
                </p:cNvPr>
                <p:cNvGrpSpPr/>
                <p:nvPr/>
              </p:nvGrpSpPr>
              <p:grpSpPr>
                <a:xfrm>
                  <a:off x="6826732" y="2790923"/>
                  <a:ext cx="4764100" cy="2045687"/>
                  <a:chOff x="895162" y="2638523"/>
                  <a:chExt cx="4764100" cy="2045687"/>
                </a:xfrm>
              </p:grpSpPr>
              <p:grpSp>
                <p:nvGrpSpPr>
                  <p:cNvPr id="120" name="Group 119">
                    <a:extLst>
                      <a:ext uri="{FF2B5EF4-FFF2-40B4-BE49-F238E27FC236}">
                        <a16:creationId xmlns:a16="http://schemas.microsoft.com/office/drawing/2014/main" id="{8137C32F-B47E-3433-B49F-6E1541678B6C}"/>
                      </a:ext>
                    </a:extLst>
                  </p:cNvPr>
                  <p:cNvGrpSpPr/>
                  <p:nvPr/>
                </p:nvGrpSpPr>
                <p:grpSpPr>
                  <a:xfrm>
                    <a:off x="895162" y="2661533"/>
                    <a:ext cx="4764100" cy="2022677"/>
                    <a:chOff x="805543" y="3039909"/>
                    <a:chExt cx="5057939" cy="2022677"/>
                  </a:xfrm>
                  <a:noFill/>
                </p:grpSpPr>
                <p:sp>
                  <p:nvSpPr>
                    <p:cNvPr id="122" name="Rectangle 121">
                      <a:extLst>
                        <a:ext uri="{FF2B5EF4-FFF2-40B4-BE49-F238E27FC236}">
                          <a16:creationId xmlns:a16="http://schemas.microsoft.com/office/drawing/2014/main" id="{2D218DE8-D06F-6103-98AD-A97739A594F2}"/>
                        </a:ext>
                      </a:extLst>
                    </p:cNvPr>
                    <p:cNvSpPr/>
                    <p:nvPr/>
                  </p:nvSpPr>
                  <p:spPr>
                    <a:xfrm>
                      <a:off x="805543" y="3039909"/>
                      <a:ext cx="5057939" cy="1792253"/>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ndara" panose="020E0502030303020204" pitchFamily="34" charset="0"/>
                      </a:endParaRPr>
                    </a:p>
                  </p:txBody>
                </p:sp>
                <p:sp>
                  <p:nvSpPr>
                    <p:cNvPr id="123" name="Rectangle 122">
                      <a:extLst>
                        <a:ext uri="{FF2B5EF4-FFF2-40B4-BE49-F238E27FC236}">
                          <a16:creationId xmlns:a16="http://schemas.microsoft.com/office/drawing/2014/main" id="{0C5623DA-094A-6B73-6440-2E9ADAED5E68}"/>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4" name="Rectangle 123">
                      <a:extLst>
                        <a:ext uri="{FF2B5EF4-FFF2-40B4-BE49-F238E27FC236}">
                          <a16:creationId xmlns:a16="http://schemas.microsoft.com/office/drawing/2014/main" id="{063BE344-0D16-612C-12F2-59864F393054}"/>
                        </a:ext>
                      </a:extLst>
                    </p:cNvPr>
                    <p:cNvSpPr/>
                    <p:nvPr/>
                  </p:nvSpPr>
                  <p:spPr>
                    <a:xfrm>
                      <a:off x="3959209" y="3662430"/>
                      <a:ext cx="1797178"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5" name="TextBox 124">
                      <a:extLst>
                        <a:ext uri="{FF2B5EF4-FFF2-40B4-BE49-F238E27FC236}">
                          <a16:creationId xmlns:a16="http://schemas.microsoft.com/office/drawing/2014/main" id="{AF85B6B1-6922-DC8D-04E1-4FB556C10B94}"/>
                        </a:ext>
                      </a:extLst>
                    </p:cNvPr>
                    <p:cNvSpPr txBox="1"/>
                    <p:nvPr/>
                  </p:nvSpPr>
                  <p:spPr>
                    <a:xfrm>
                      <a:off x="1094376" y="3736386"/>
                      <a:ext cx="2888477" cy="1106056"/>
                    </a:xfrm>
                    <a:prstGeom prst="rect">
                      <a:avLst/>
                    </a:prstGeom>
                    <a:grpFill/>
                  </p:spPr>
                  <p:txBody>
                    <a:bodyPr wrap="square" rtlCol="0">
                      <a:spAutoFit/>
                    </a:bodyPr>
                    <a:lstStyle/>
                    <a:p>
                      <a:pPr algn="ctr"/>
                      <a:r>
                        <a:rPr lang="en-US" sz="1600" dirty="0">
                          <a:latin typeface="Candara" panose="020E0502030303020204" pitchFamily="34" charset="0"/>
                        </a:rPr>
                        <a:t>Prev </a:t>
                      </a:r>
                      <a:r>
                        <a:rPr lang="en-US" sz="1600" dirty="0" err="1">
                          <a:latin typeface="Candara" panose="020E0502030303020204" pitchFamily="34" charset="0"/>
                        </a:rPr>
                        <a:t>Txid</a:t>
                      </a:r>
                      <a:endParaRPr lang="en-US" sz="1600" dirty="0">
                        <a:latin typeface="Candara" panose="020E0502030303020204" pitchFamily="34" charset="0"/>
                      </a:endParaRPr>
                    </a:p>
                    <a:p>
                      <a:pPr algn="ctr"/>
                      <a:r>
                        <a:rPr lang="en-US" sz="1600" dirty="0" err="1">
                          <a:latin typeface="Candara" panose="020E0502030303020204" pitchFamily="34" charset="0"/>
                        </a:rPr>
                        <a:t>Idx</a:t>
                      </a:r>
                      <a:endParaRPr lang="en-US" sz="1600" dirty="0">
                        <a:latin typeface="Candara" panose="020E0502030303020204" pitchFamily="34" charset="0"/>
                      </a:endParaRPr>
                    </a:p>
                    <a:p>
                      <a:pPr algn="ctr"/>
                      <a:r>
                        <a:rPr lang="en-US" sz="1600" dirty="0" err="1">
                          <a:latin typeface="Candara" panose="020E0502030303020204" pitchFamily="34" charset="0"/>
                        </a:rPr>
                        <a:t>scriptSig</a:t>
                      </a:r>
                      <a:r>
                        <a:rPr lang="en-US" sz="1600" dirty="0">
                          <a:latin typeface="Candara" panose="020E0502030303020204" pitchFamily="34" charset="0"/>
                        </a:rPr>
                        <a:t>=empty</a:t>
                      </a:r>
                    </a:p>
                  </p:txBody>
                </p:sp>
              </p:grpSp>
              <p:sp>
                <p:nvSpPr>
                  <p:cNvPr id="121" name="Rectangle 120">
                    <a:extLst>
                      <a:ext uri="{FF2B5EF4-FFF2-40B4-BE49-F238E27FC236}">
                        <a16:creationId xmlns:a16="http://schemas.microsoft.com/office/drawing/2014/main" id="{C77BEB5E-0A7B-71B1-4885-25226318288E}"/>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Transaction-Level Fields </a:t>
                    </a:r>
                  </a:p>
                  <a:p>
                    <a:pPr algn="ctr"/>
                    <a:r>
                      <a:rPr lang="en-US" sz="1600" dirty="0">
                        <a:solidFill>
                          <a:schemeClr val="tx1"/>
                        </a:solidFill>
                        <a:latin typeface="Candara" panose="020E0502030303020204" pitchFamily="34" charset="0"/>
                      </a:rPr>
                      <a:t>(Version, </a:t>
                    </a:r>
                    <a:r>
                      <a:rPr lang="en-US" sz="1600" dirty="0" err="1">
                        <a:solidFill>
                          <a:schemeClr val="tx1"/>
                        </a:solidFill>
                        <a:latin typeface="Candara" panose="020E0502030303020204" pitchFamily="34" charset="0"/>
                      </a:rPr>
                      <a:t>nLockTime</a:t>
                    </a:r>
                    <a:r>
                      <a:rPr lang="en-US" sz="1600" dirty="0">
                        <a:solidFill>
                          <a:schemeClr val="tx1"/>
                        </a:solidFill>
                        <a:latin typeface="Candara" panose="020E0502030303020204" pitchFamily="34" charset="0"/>
                      </a:rPr>
                      <a:t>, Flags)</a:t>
                    </a:r>
                  </a:p>
                </p:txBody>
              </p:sp>
            </p:grpSp>
            <p:sp>
              <p:nvSpPr>
                <p:cNvPr id="119" name="Rectangle 118">
                  <a:extLst>
                    <a:ext uri="{FF2B5EF4-FFF2-40B4-BE49-F238E27FC236}">
                      <a16:creationId xmlns:a16="http://schemas.microsoft.com/office/drawing/2014/main" id="{E6DF559D-95C9-77D0-B432-C0C9FB2B407A}"/>
                    </a:ext>
                  </a:extLst>
                </p:cNvPr>
                <p:cNvSpPr/>
                <p:nvPr/>
              </p:nvSpPr>
              <p:spPr>
                <a:xfrm>
                  <a:off x="6826732" y="4608862"/>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HL5678B</a:t>
                  </a:r>
                </a:p>
              </p:txBody>
            </p:sp>
          </p:grpSp>
          <p:sp>
            <p:nvSpPr>
              <p:cNvPr id="117" name="TextBox 116">
                <a:extLst>
                  <a:ext uri="{FF2B5EF4-FFF2-40B4-BE49-F238E27FC236}">
                    <a16:creationId xmlns:a16="http://schemas.microsoft.com/office/drawing/2014/main" id="{31A58080-F670-9062-DA5F-5016ED75AB88}"/>
                  </a:ext>
                </a:extLst>
              </p:cNvPr>
              <p:cNvSpPr txBox="1"/>
              <p:nvPr/>
            </p:nvSpPr>
            <p:spPr>
              <a:xfrm>
                <a:off x="6550732" y="2631149"/>
                <a:ext cx="5375002" cy="446891"/>
              </a:xfrm>
              <a:prstGeom prst="rect">
                <a:avLst/>
              </a:prstGeom>
              <a:noFill/>
            </p:spPr>
            <p:txBody>
              <a:bodyPr wrap="none" rtlCol="0">
                <a:spAutoFit/>
              </a:bodyPr>
              <a:lstStyle/>
              <a:p>
                <a:r>
                  <a:rPr lang="en-US" dirty="0">
                    <a:latin typeface="Candara" panose="020E0502030303020204" pitchFamily="34" charset="0"/>
                  </a:rPr>
                  <a:t>Bob spends and reveals the secret S</a:t>
                </a:r>
              </a:p>
            </p:txBody>
          </p:sp>
        </p:grpSp>
        <p:sp>
          <p:nvSpPr>
            <p:cNvPr id="12" name="TextBox 11">
              <a:extLst>
                <a:ext uri="{FF2B5EF4-FFF2-40B4-BE49-F238E27FC236}">
                  <a16:creationId xmlns:a16="http://schemas.microsoft.com/office/drawing/2014/main" id="{C3F1E70A-833F-6483-D5F2-1A6BDB0310EF}"/>
                </a:ext>
              </a:extLst>
            </p:cNvPr>
            <p:cNvSpPr txBox="1"/>
            <p:nvPr/>
          </p:nvSpPr>
          <p:spPr>
            <a:xfrm>
              <a:off x="10458860" y="4668636"/>
              <a:ext cx="1247543" cy="954107"/>
            </a:xfrm>
            <a:prstGeom prst="rect">
              <a:avLst/>
            </a:prstGeom>
            <a:noFill/>
          </p:spPr>
          <p:txBody>
            <a:bodyPr wrap="square" rtlCol="0">
              <a:spAutoFit/>
            </a:bodyPr>
            <a:lstStyle/>
            <a:p>
              <a:pPr algn="ctr"/>
              <a:r>
                <a:rPr lang="en-US" sz="1400" dirty="0">
                  <a:latin typeface="Candara" panose="020E0502030303020204" pitchFamily="34" charset="0"/>
                </a:rPr>
                <a:t>Value </a:t>
              </a:r>
            </a:p>
            <a:p>
              <a:pPr algn="ctr"/>
              <a:r>
                <a:rPr lang="en-US" sz="1400" dirty="0">
                  <a:latin typeface="Candara" panose="020E0502030303020204" pitchFamily="34" charset="0"/>
                </a:rPr>
                <a:t>OP_0 </a:t>
              </a:r>
            </a:p>
            <a:p>
              <a:pPr algn="ctr"/>
              <a:r>
                <a:rPr lang="en-US" sz="1400" dirty="0">
                  <a:latin typeface="Candara" panose="020E0502030303020204" pitchFamily="34" charset="0"/>
                </a:rPr>
                <a:t>&lt;</a:t>
              </a:r>
              <a:r>
                <a:rPr lang="en-US" sz="1400" dirty="0" err="1">
                  <a:latin typeface="Candara" panose="020E0502030303020204" pitchFamily="34" charset="0"/>
                </a:rPr>
                <a:t>wpkh_Bob</a:t>
              </a:r>
              <a:r>
                <a:rPr lang="en-US" sz="1400" dirty="0">
                  <a:latin typeface="Candara" panose="020E0502030303020204" pitchFamily="34" charset="0"/>
                </a:rPr>
                <a:t>&gt;</a:t>
              </a:r>
            </a:p>
            <a:p>
              <a:pPr algn="ctr"/>
              <a:endParaRPr lang="en-US" sz="1400" dirty="0">
                <a:latin typeface="Candara" panose="020E0502030303020204" pitchFamily="34" charset="0"/>
              </a:endParaRPr>
            </a:p>
          </p:txBody>
        </p:sp>
      </p:grpSp>
    </p:spTree>
    <p:extLst>
      <p:ext uri="{BB962C8B-B14F-4D97-AF65-F5344CB8AC3E}">
        <p14:creationId xmlns:p14="http://schemas.microsoft.com/office/powerpoint/2010/main" val="952367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102" grpId="0" animBg="1"/>
      <p:bldP spid="114" grpId="0" animBg="1"/>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3EFBD-633C-E6A9-761B-E556D006E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1D0EEC-59D8-E017-EC1D-426B96270C37}"/>
              </a:ext>
            </a:extLst>
          </p:cNvPr>
          <p:cNvSpPr>
            <a:spLocks noGrp="1"/>
          </p:cNvSpPr>
          <p:nvPr>
            <p:ph type="title"/>
          </p:nvPr>
        </p:nvSpPr>
        <p:spPr/>
        <p:txBody>
          <a:bodyPr/>
          <a:lstStyle/>
          <a:p>
            <a:r>
              <a:rPr lang="en-US" dirty="0"/>
              <a:t>Hash Time Lock Contract (HTLC)</a:t>
            </a:r>
          </a:p>
        </p:txBody>
      </p:sp>
      <p:sp>
        <p:nvSpPr>
          <p:cNvPr id="4" name="Slide Number Placeholder 3">
            <a:extLst>
              <a:ext uri="{FF2B5EF4-FFF2-40B4-BE49-F238E27FC236}">
                <a16:creationId xmlns:a16="http://schemas.microsoft.com/office/drawing/2014/main" id="{942DA338-45C3-EF04-541B-B8FA70A6AB57}"/>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71</a:t>
            </a:fld>
            <a:endParaRPr lang="en-US" dirty="0">
              <a:latin typeface="Candara" panose="020E0502030303020204" pitchFamily="34" charset="0"/>
            </a:endParaRPr>
          </a:p>
        </p:txBody>
      </p:sp>
      <p:sp>
        <p:nvSpPr>
          <p:cNvPr id="3" name="TextBox 2">
            <a:extLst>
              <a:ext uri="{FF2B5EF4-FFF2-40B4-BE49-F238E27FC236}">
                <a16:creationId xmlns:a16="http://schemas.microsoft.com/office/drawing/2014/main" id="{550EE270-F723-6446-F041-06A4254B9490}"/>
              </a:ext>
            </a:extLst>
          </p:cNvPr>
          <p:cNvSpPr txBox="1"/>
          <p:nvPr/>
        </p:nvSpPr>
        <p:spPr>
          <a:xfrm>
            <a:off x="682977" y="1012326"/>
            <a:ext cx="10826045"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HTLC solves the funds hostage problem by creating a refund path with the help of time lock</a:t>
            </a:r>
          </a:p>
          <a:p>
            <a:pPr marL="285750" indent="-285750">
              <a:buFont typeface="Arial" panose="020B0604020202020204" pitchFamily="34" charset="0"/>
              <a:buChar char="•"/>
            </a:pPr>
            <a:r>
              <a:rPr lang="en-US" sz="2000" dirty="0">
                <a:latin typeface="Candara" panose="020E0502030303020204" pitchFamily="34" charset="0"/>
              </a:rPr>
              <a:t>Along with creating a hash lock spending condition for Charlie, Alice also creates a CSV locked spending condition for herself</a:t>
            </a:r>
          </a:p>
          <a:p>
            <a:pPr marL="742950" lvl="1" indent="-285750">
              <a:buFont typeface="Arial" panose="020B0604020202020204" pitchFamily="34" charset="0"/>
              <a:buChar char="•"/>
            </a:pPr>
            <a:r>
              <a:rPr lang="en-US" sz="2000" dirty="0">
                <a:latin typeface="Candara" panose="020E0502030303020204" pitchFamily="34" charset="0"/>
              </a:rPr>
              <a:t>Charlie can immediately spend the output with the help of the secret S if Bob reveals it </a:t>
            </a:r>
          </a:p>
          <a:p>
            <a:pPr marL="742950" lvl="1" indent="-285750">
              <a:buFont typeface="Arial" panose="020B0604020202020204" pitchFamily="34" charset="0"/>
              <a:buChar char="•"/>
            </a:pPr>
            <a:r>
              <a:rPr lang="en-US" sz="2000" dirty="0">
                <a:latin typeface="Candara" panose="020E0502030303020204" pitchFamily="34" charset="0"/>
              </a:rPr>
              <a:t>If Charlie does not cooperate or if Bob never reveals the secret S, Alice can reclaim her funds after an agreed upon relative time delay enforced through the CSV lock </a:t>
            </a:r>
          </a:p>
        </p:txBody>
      </p:sp>
      <p:sp>
        <p:nvSpPr>
          <p:cNvPr id="7" name="TextBox 6">
            <a:extLst>
              <a:ext uri="{FF2B5EF4-FFF2-40B4-BE49-F238E27FC236}">
                <a16:creationId xmlns:a16="http://schemas.microsoft.com/office/drawing/2014/main" id="{5E15A22D-ABA1-F844-83D3-50A17DD31AB5}"/>
              </a:ext>
            </a:extLst>
          </p:cNvPr>
          <p:cNvSpPr txBox="1"/>
          <p:nvPr/>
        </p:nvSpPr>
        <p:spPr>
          <a:xfrm>
            <a:off x="610785" y="3104421"/>
            <a:ext cx="5413023" cy="3416320"/>
          </a:xfrm>
          <a:prstGeom prst="rect">
            <a:avLst/>
          </a:prstGeom>
          <a:noFill/>
          <a:ln>
            <a:solidFill>
              <a:schemeClr val="tx1"/>
            </a:solidFill>
          </a:ln>
        </p:spPr>
        <p:txBody>
          <a:bodyPr wrap="square">
            <a:spAutoFit/>
          </a:bodyPr>
          <a:lstStyle/>
          <a:p>
            <a:r>
              <a:rPr lang="en-US" b="1" dirty="0">
                <a:latin typeface="Candara" panose="020E0502030303020204" pitchFamily="34" charset="0"/>
              </a:rPr>
              <a:t>Witness Script (</a:t>
            </a:r>
            <a:r>
              <a:rPr lang="en-US" b="1" dirty="0" err="1">
                <a:latin typeface="Candara" panose="020E0502030303020204" pitchFamily="34" charset="0"/>
              </a:rPr>
              <a:t>ws_HTLC_A_C</a:t>
            </a:r>
            <a:r>
              <a:rPr lang="en-US" b="1" dirty="0">
                <a:latin typeface="Candara" panose="020E0502030303020204" pitchFamily="34" charset="0"/>
              </a:rPr>
              <a:t>)</a:t>
            </a:r>
            <a:r>
              <a:rPr lang="en-US" dirty="0">
                <a:latin typeface="Candara" panose="020E0502030303020204" pitchFamily="34" charset="0"/>
              </a:rPr>
              <a:t>:</a:t>
            </a:r>
          </a:p>
          <a:p>
            <a:r>
              <a:rPr lang="en-US" dirty="0">
                <a:latin typeface="Candara" panose="020E0502030303020204" pitchFamily="34" charset="0"/>
              </a:rPr>
              <a:t>OP_IF</a:t>
            </a:r>
          </a:p>
          <a:p>
            <a:r>
              <a:rPr lang="en-US" dirty="0">
                <a:latin typeface="Candara" panose="020E0502030303020204" pitchFamily="34" charset="0"/>
              </a:rPr>
              <a:t>    # </a:t>
            </a:r>
            <a:r>
              <a:rPr lang="en-US" dirty="0" err="1">
                <a:latin typeface="Candara" panose="020E0502030303020204" pitchFamily="34" charset="0"/>
              </a:rPr>
              <a:t>Hashlock</a:t>
            </a:r>
            <a:r>
              <a:rPr lang="en-US" dirty="0">
                <a:latin typeface="Candara" panose="020E0502030303020204" pitchFamily="34" charset="0"/>
              </a:rPr>
              <a:t> branch: Charlie needs preimage S of H</a:t>
            </a:r>
          </a:p>
          <a:p>
            <a:r>
              <a:rPr lang="en-US" dirty="0">
                <a:latin typeface="Candara" panose="020E0502030303020204" pitchFamily="34" charset="0"/>
              </a:rPr>
              <a:t>    OP_SHA256 &lt;H&gt; OP_EQUALVERIFY</a:t>
            </a:r>
          </a:p>
          <a:p>
            <a:r>
              <a:rPr lang="en-US" dirty="0">
                <a:latin typeface="Candara" panose="020E0502030303020204" pitchFamily="34" charset="0"/>
              </a:rPr>
              <a:t>    &lt;</a:t>
            </a:r>
            <a:r>
              <a:rPr lang="en-US" dirty="0" err="1">
                <a:latin typeface="Candara" panose="020E0502030303020204" pitchFamily="34" charset="0"/>
              </a:rPr>
              <a:t>PubKeyCharlie</a:t>
            </a:r>
            <a:r>
              <a:rPr lang="en-US" dirty="0">
                <a:latin typeface="Candara" panose="020E0502030303020204" pitchFamily="34" charset="0"/>
              </a:rPr>
              <a:t>&gt; OP_CHECKSIG</a:t>
            </a:r>
          </a:p>
          <a:p>
            <a:r>
              <a:rPr lang="en-US" dirty="0">
                <a:latin typeface="Candara" panose="020E0502030303020204" pitchFamily="34" charset="0"/>
              </a:rPr>
              <a:t>OP_ELSE</a:t>
            </a:r>
          </a:p>
          <a:p>
            <a:r>
              <a:rPr lang="en-US" dirty="0">
                <a:latin typeface="Candara" panose="020E0502030303020204" pitchFamily="34" charset="0"/>
              </a:rPr>
              <a:t>    # Time lock branch: Alice refunds after L blocks</a:t>
            </a:r>
          </a:p>
          <a:p>
            <a:r>
              <a:rPr lang="en-US" dirty="0">
                <a:latin typeface="Candara" panose="020E0502030303020204" pitchFamily="34" charset="0"/>
              </a:rPr>
              <a:t>    &lt;L&gt; OP_CHECKSEQUENCEVERIFY OP_DROP</a:t>
            </a:r>
          </a:p>
          <a:p>
            <a:r>
              <a:rPr lang="en-US" dirty="0">
                <a:latin typeface="Candara" panose="020E0502030303020204" pitchFamily="34" charset="0"/>
              </a:rPr>
              <a:t>    &lt;</a:t>
            </a:r>
            <a:r>
              <a:rPr lang="en-US" dirty="0" err="1">
                <a:latin typeface="Candara" panose="020E0502030303020204" pitchFamily="34" charset="0"/>
              </a:rPr>
              <a:t>PubKeyAlice</a:t>
            </a:r>
            <a:r>
              <a:rPr lang="en-US" dirty="0">
                <a:latin typeface="Candara" panose="020E0502030303020204" pitchFamily="34" charset="0"/>
              </a:rPr>
              <a:t>&gt; OP_CHECKSIG</a:t>
            </a:r>
          </a:p>
          <a:p>
            <a:r>
              <a:rPr lang="en-US" dirty="0">
                <a:latin typeface="Candara" panose="020E0502030303020204" pitchFamily="34" charset="0"/>
              </a:rPr>
              <a:t>OP_ENDIF</a:t>
            </a:r>
          </a:p>
          <a:p>
            <a:endParaRPr lang="en-US" dirty="0">
              <a:latin typeface="Candara" panose="020E0502030303020204" pitchFamily="34" charset="0"/>
            </a:endParaRPr>
          </a:p>
          <a:p>
            <a:r>
              <a:rPr lang="en-US" dirty="0">
                <a:latin typeface="Candara" panose="020E0502030303020204" pitchFamily="34" charset="0"/>
              </a:rPr>
              <a:t>&lt;</a:t>
            </a:r>
            <a:r>
              <a:rPr lang="en-US" dirty="0" err="1">
                <a:latin typeface="Candara" panose="020E0502030303020204" pitchFamily="34" charset="0"/>
              </a:rPr>
              <a:t>wsh</a:t>
            </a:r>
            <a:r>
              <a:rPr lang="en-US" dirty="0">
                <a:latin typeface="Candara" panose="020E0502030303020204" pitchFamily="34" charset="0"/>
              </a:rPr>
              <a:t>&gt; = SHA256(</a:t>
            </a:r>
            <a:r>
              <a:rPr lang="en-US" b="1" dirty="0" err="1">
                <a:latin typeface="Candara" panose="020E0502030303020204" pitchFamily="34" charset="0"/>
              </a:rPr>
              <a:t>ws_HTLC_A_C</a:t>
            </a:r>
            <a:r>
              <a:rPr lang="en-US" dirty="0">
                <a:latin typeface="Candara" panose="020E0502030303020204" pitchFamily="34" charset="0"/>
              </a:rPr>
              <a:t>)  </a:t>
            </a:r>
          </a:p>
        </p:txBody>
      </p:sp>
      <p:sp>
        <p:nvSpPr>
          <p:cNvPr id="10" name="TextBox 9">
            <a:extLst>
              <a:ext uri="{FF2B5EF4-FFF2-40B4-BE49-F238E27FC236}">
                <a16:creationId xmlns:a16="http://schemas.microsoft.com/office/drawing/2014/main" id="{C7652B19-7FD0-7114-201D-245D205328C8}"/>
              </a:ext>
            </a:extLst>
          </p:cNvPr>
          <p:cNvSpPr txBox="1"/>
          <p:nvPr/>
        </p:nvSpPr>
        <p:spPr>
          <a:xfrm>
            <a:off x="6168194" y="3104421"/>
            <a:ext cx="5707717" cy="341632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7030A0"/>
                </a:solidFill>
                <a:latin typeface="Candara" panose="020E0502030303020204" pitchFamily="34" charset="0"/>
              </a:rPr>
              <a:t>Charlie can spend via the hash lock path:</a:t>
            </a:r>
          </a:p>
          <a:p>
            <a:pPr marL="742950" lvl="1" indent="-285750">
              <a:buFont typeface="Arial" panose="020B0604020202020204" pitchFamily="34" charset="0"/>
              <a:buChar char="•"/>
            </a:pPr>
            <a:r>
              <a:rPr lang="en-US" dirty="0">
                <a:solidFill>
                  <a:srgbClr val="7030A0"/>
                </a:solidFill>
                <a:latin typeface="Candara" panose="020E0502030303020204" pitchFamily="34" charset="0"/>
              </a:rPr>
              <a:t>scriptSig = empty</a:t>
            </a:r>
          </a:p>
          <a:p>
            <a:pPr marL="742950" lvl="1" indent="-285750">
              <a:buFont typeface="Arial" panose="020B0604020202020204" pitchFamily="34" charset="0"/>
              <a:buChar char="•"/>
            </a:pPr>
            <a:r>
              <a:rPr lang="en-US" dirty="0">
                <a:solidFill>
                  <a:srgbClr val="7030A0"/>
                </a:solidFill>
                <a:latin typeface="Candara" panose="020E0502030303020204" pitchFamily="34" charset="0"/>
              </a:rPr>
              <a:t>Witness = &lt;</a:t>
            </a:r>
            <a:r>
              <a:rPr lang="en-US" dirty="0" err="1">
                <a:solidFill>
                  <a:srgbClr val="7030A0"/>
                </a:solidFill>
                <a:latin typeface="Candara" panose="020E0502030303020204" pitchFamily="34" charset="0"/>
              </a:rPr>
              <a:t>SigCharlie</a:t>
            </a:r>
            <a:r>
              <a:rPr lang="en-US" dirty="0">
                <a:solidFill>
                  <a:srgbClr val="7030A0"/>
                </a:solidFill>
                <a:latin typeface="Candara" panose="020E0502030303020204" pitchFamily="34" charset="0"/>
              </a:rPr>
              <a:t>&gt; &lt;S&gt; 1 &lt;</a:t>
            </a:r>
            <a:r>
              <a:rPr lang="en-US" b="1" dirty="0">
                <a:latin typeface="Candara" panose="020E0502030303020204" pitchFamily="34" charset="0"/>
              </a:rPr>
              <a:t> </a:t>
            </a:r>
            <a:r>
              <a:rPr lang="en-US" b="1" dirty="0" err="1">
                <a:latin typeface="Candara" panose="020E0502030303020204" pitchFamily="34" charset="0"/>
              </a:rPr>
              <a:t>ws_HTLC_A_C</a:t>
            </a:r>
            <a:r>
              <a:rPr lang="en-US" b="1" dirty="0">
                <a:latin typeface="Candara" panose="020E0502030303020204" pitchFamily="34" charset="0"/>
              </a:rPr>
              <a:t> </a:t>
            </a:r>
            <a:r>
              <a:rPr lang="en-US" dirty="0">
                <a:solidFill>
                  <a:srgbClr val="7030A0"/>
                </a:solidFill>
                <a:latin typeface="Candara" panose="020E0502030303020204" pitchFamily="34" charset="0"/>
              </a:rPr>
              <a:t>&gt;</a:t>
            </a:r>
          </a:p>
          <a:p>
            <a:pPr marL="742950" lvl="1" indent="-285750">
              <a:buFont typeface="Arial" panose="020B0604020202020204" pitchFamily="34" charset="0"/>
              <a:buChar char="•"/>
            </a:pPr>
            <a:r>
              <a:rPr lang="en-US" dirty="0">
                <a:solidFill>
                  <a:srgbClr val="7030A0"/>
                </a:solidFill>
                <a:latin typeface="Candara" panose="020E0502030303020204" pitchFamily="34" charset="0"/>
              </a:rPr>
              <a:t>Condition: SHA256(S) = H and Charlie’s signature are valid</a:t>
            </a:r>
          </a:p>
          <a:p>
            <a:pPr marL="742950" lvl="1" indent="-285750">
              <a:buFont typeface="Arial" panose="020B0604020202020204" pitchFamily="34" charset="0"/>
              <a:buChar char="•"/>
            </a:pPr>
            <a:endParaRPr lang="en-US" dirty="0">
              <a:solidFill>
                <a:srgbClr val="7030A0"/>
              </a:solidFill>
              <a:latin typeface="Candara" panose="020E0502030303020204" pitchFamily="34" charset="0"/>
            </a:endParaRPr>
          </a:p>
          <a:p>
            <a:pPr marL="285750" indent="-285750">
              <a:buFont typeface="Arial" panose="020B0604020202020204" pitchFamily="34" charset="0"/>
              <a:buChar char="•"/>
            </a:pPr>
            <a:r>
              <a:rPr lang="en-US" b="1" dirty="0">
                <a:solidFill>
                  <a:srgbClr val="FF0000"/>
                </a:solidFill>
                <a:latin typeface="Candara" panose="020E0502030303020204" pitchFamily="34" charset="0"/>
              </a:rPr>
              <a:t>Alice can refund via time lock path:</a:t>
            </a:r>
            <a:endParaRPr lang="en-US" dirty="0">
              <a:solidFill>
                <a:srgbClr val="FF0000"/>
              </a:solidFill>
              <a:latin typeface="Candara" panose="020E0502030303020204" pitchFamily="34" charset="0"/>
            </a:endParaRPr>
          </a:p>
          <a:p>
            <a:pPr marL="742950" lvl="1" indent="-285750">
              <a:buFont typeface="Arial" panose="020B0604020202020204" pitchFamily="34" charset="0"/>
              <a:buChar char="•"/>
            </a:pPr>
            <a:r>
              <a:rPr lang="en-US" dirty="0">
                <a:solidFill>
                  <a:srgbClr val="FF0000"/>
                </a:solidFill>
                <a:latin typeface="Candara" panose="020E0502030303020204" pitchFamily="34" charset="0"/>
              </a:rPr>
              <a:t>scriptSig = empty</a:t>
            </a:r>
          </a:p>
          <a:p>
            <a:pPr marL="742950" lvl="1" indent="-285750">
              <a:buFont typeface="Arial" panose="020B0604020202020204" pitchFamily="34" charset="0"/>
              <a:buChar char="•"/>
            </a:pPr>
            <a:r>
              <a:rPr lang="en-US" dirty="0">
                <a:solidFill>
                  <a:srgbClr val="FF0000"/>
                </a:solidFill>
                <a:latin typeface="Candara" panose="020E0502030303020204" pitchFamily="34" charset="0"/>
              </a:rPr>
              <a:t>Witness: &lt;</a:t>
            </a:r>
            <a:r>
              <a:rPr lang="en-US" dirty="0" err="1">
                <a:solidFill>
                  <a:srgbClr val="FF0000"/>
                </a:solidFill>
                <a:latin typeface="Candara" panose="020E0502030303020204" pitchFamily="34" charset="0"/>
              </a:rPr>
              <a:t>SigAlice</a:t>
            </a:r>
            <a:r>
              <a:rPr lang="en-US" dirty="0">
                <a:solidFill>
                  <a:srgbClr val="FF0000"/>
                </a:solidFill>
                <a:latin typeface="Candara" panose="020E0502030303020204" pitchFamily="34" charset="0"/>
              </a:rPr>
              <a:t>&gt; 0 &lt;</a:t>
            </a:r>
            <a:r>
              <a:rPr lang="en-US" b="1" dirty="0">
                <a:latin typeface="Candara" panose="020E0502030303020204" pitchFamily="34" charset="0"/>
              </a:rPr>
              <a:t> </a:t>
            </a:r>
            <a:r>
              <a:rPr lang="en-US" b="1" dirty="0" err="1">
                <a:latin typeface="Candara" panose="020E0502030303020204" pitchFamily="34" charset="0"/>
              </a:rPr>
              <a:t>ws_HTLC_A_C</a:t>
            </a:r>
            <a:r>
              <a:rPr lang="en-US" b="1" dirty="0">
                <a:latin typeface="Candara" panose="020E0502030303020204" pitchFamily="34" charset="0"/>
              </a:rPr>
              <a:t> </a:t>
            </a:r>
            <a:r>
              <a:rPr lang="en-US" dirty="0">
                <a:solidFill>
                  <a:srgbClr val="FF0000"/>
                </a:solidFill>
                <a:latin typeface="Candara" panose="020E0502030303020204" pitchFamily="34" charset="0"/>
              </a:rPr>
              <a:t>&gt; </a:t>
            </a:r>
          </a:p>
          <a:p>
            <a:pPr marL="742950" lvl="1" indent="-285750">
              <a:buFont typeface="Arial" panose="020B0604020202020204" pitchFamily="34" charset="0"/>
              <a:buChar char="•"/>
            </a:pPr>
            <a:r>
              <a:rPr lang="en-US" dirty="0">
                <a:solidFill>
                  <a:srgbClr val="FF0000"/>
                </a:solidFill>
                <a:latin typeface="Candara" panose="020E0502030303020204" pitchFamily="34" charset="0"/>
              </a:rPr>
              <a:t>Condition: L blocks (CSV) after the confirmation of the funding transaction by Alice &amp; Alice’s signature  </a:t>
            </a:r>
          </a:p>
        </p:txBody>
      </p:sp>
    </p:spTree>
    <p:extLst>
      <p:ext uri="{BB962C8B-B14F-4D97-AF65-F5344CB8AC3E}">
        <p14:creationId xmlns:p14="http://schemas.microsoft.com/office/powerpoint/2010/main" val="191971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
                                            <p:txEl>
                                              <p:pRg st="7" end="7"/>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B9E52-ACE9-15B2-3F5F-893945813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82360-8B5C-6B55-6207-83707994DB3B}"/>
              </a:ext>
            </a:extLst>
          </p:cNvPr>
          <p:cNvSpPr>
            <a:spLocks noGrp="1"/>
          </p:cNvSpPr>
          <p:nvPr>
            <p:ph type="title"/>
          </p:nvPr>
        </p:nvSpPr>
        <p:spPr/>
        <p:txBody>
          <a:bodyPr/>
          <a:lstStyle/>
          <a:p>
            <a:r>
              <a:rPr lang="en-US" dirty="0"/>
              <a:t>HTLC – Spending Paths</a:t>
            </a:r>
          </a:p>
        </p:txBody>
      </p:sp>
      <p:sp>
        <p:nvSpPr>
          <p:cNvPr id="4" name="Slide Number Placeholder 3">
            <a:extLst>
              <a:ext uri="{FF2B5EF4-FFF2-40B4-BE49-F238E27FC236}">
                <a16:creationId xmlns:a16="http://schemas.microsoft.com/office/drawing/2014/main" id="{E8BA0A53-E4D5-D365-751E-14BA4E3C3098}"/>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72</a:t>
            </a:fld>
            <a:endParaRPr lang="en-US" dirty="0">
              <a:latin typeface="Candara" panose="020E0502030303020204" pitchFamily="34" charset="0"/>
            </a:endParaRPr>
          </a:p>
        </p:txBody>
      </p:sp>
      <p:cxnSp>
        <p:nvCxnSpPr>
          <p:cNvPr id="22" name="Straight Connector 21">
            <a:extLst>
              <a:ext uri="{FF2B5EF4-FFF2-40B4-BE49-F238E27FC236}">
                <a16:creationId xmlns:a16="http://schemas.microsoft.com/office/drawing/2014/main" id="{F8267511-CF60-5049-271F-47735E02A14F}"/>
              </a:ext>
            </a:extLst>
          </p:cNvPr>
          <p:cNvCxnSpPr>
            <a:cxnSpLocks/>
          </p:cNvCxnSpPr>
          <p:nvPr/>
        </p:nvCxnSpPr>
        <p:spPr>
          <a:xfrm>
            <a:off x="6479823" y="3778002"/>
            <a:ext cx="11288" cy="142171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2552D1B-1924-EA24-25A1-08C695BFF5B9}"/>
              </a:ext>
            </a:extLst>
          </p:cNvPr>
          <p:cNvCxnSpPr>
            <a:cxnSpLocks/>
          </p:cNvCxnSpPr>
          <p:nvPr/>
        </p:nvCxnSpPr>
        <p:spPr>
          <a:xfrm>
            <a:off x="5693508" y="3768164"/>
            <a:ext cx="794938" cy="983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744235-CD4B-C408-564B-60C91C590C76}"/>
              </a:ext>
            </a:extLst>
          </p:cNvPr>
          <p:cNvCxnSpPr>
            <a:cxnSpLocks/>
          </p:cNvCxnSpPr>
          <p:nvPr/>
        </p:nvCxnSpPr>
        <p:spPr>
          <a:xfrm flipV="1">
            <a:off x="6479823" y="2479097"/>
            <a:ext cx="11288" cy="12890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0E9678C-2F3D-B6F4-F45B-2E465F8AC0A8}"/>
              </a:ext>
            </a:extLst>
          </p:cNvPr>
          <p:cNvCxnSpPr/>
          <p:nvPr/>
        </p:nvCxnSpPr>
        <p:spPr>
          <a:xfrm>
            <a:off x="6491111" y="2479097"/>
            <a:ext cx="1354667" cy="0"/>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9A48FF3-97F5-728A-C7C9-87CB1860D195}"/>
              </a:ext>
            </a:extLst>
          </p:cNvPr>
          <p:cNvCxnSpPr/>
          <p:nvPr/>
        </p:nvCxnSpPr>
        <p:spPr>
          <a:xfrm>
            <a:off x="6491111" y="5199719"/>
            <a:ext cx="1309511" cy="0"/>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30BC065-442F-85A0-9408-EE5F93C530A1}"/>
              </a:ext>
            </a:extLst>
          </p:cNvPr>
          <p:cNvSpPr txBox="1"/>
          <p:nvPr/>
        </p:nvSpPr>
        <p:spPr>
          <a:xfrm>
            <a:off x="6548279" y="2533547"/>
            <a:ext cx="1185330" cy="923330"/>
          </a:xfrm>
          <a:prstGeom prst="rect">
            <a:avLst/>
          </a:prstGeom>
          <a:noFill/>
        </p:spPr>
        <p:txBody>
          <a:bodyPr wrap="square" rtlCol="0">
            <a:spAutoFit/>
          </a:bodyPr>
          <a:lstStyle/>
          <a:p>
            <a:pPr algn="ctr"/>
            <a:r>
              <a:rPr lang="en-US" dirty="0">
                <a:latin typeface="Candara" panose="020E0502030303020204" pitchFamily="34" charset="0"/>
              </a:rPr>
              <a:t>Spending path for Charlie</a:t>
            </a:r>
          </a:p>
        </p:txBody>
      </p:sp>
      <p:sp>
        <p:nvSpPr>
          <p:cNvPr id="50" name="TextBox 49">
            <a:extLst>
              <a:ext uri="{FF2B5EF4-FFF2-40B4-BE49-F238E27FC236}">
                <a16:creationId xmlns:a16="http://schemas.microsoft.com/office/drawing/2014/main" id="{EBCD449E-B5D7-CDAE-8E42-AB02B6862947}"/>
              </a:ext>
            </a:extLst>
          </p:cNvPr>
          <p:cNvSpPr txBox="1"/>
          <p:nvPr/>
        </p:nvSpPr>
        <p:spPr>
          <a:xfrm>
            <a:off x="6479823" y="4215446"/>
            <a:ext cx="1185330" cy="923330"/>
          </a:xfrm>
          <a:prstGeom prst="rect">
            <a:avLst/>
          </a:prstGeom>
          <a:noFill/>
        </p:spPr>
        <p:txBody>
          <a:bodyPr wrap="square" rtlCol="0">
            <a:spAutoFit/>
          </a:bodyPr>
          <a:lstStyle/>
          <a:p>
            <a:pPr algn="ctr"/>
            <a:r>
              <a:rPr lang="en-US" dirty="0">
                <a:latin typeface="Candara" panose="020E0502030303020204" pitchFamily="34" charset="0"/>
              </a:rPr>
              <a:t>Spending path for Alice</a:t>
            </a:r>
          </a:p>
        </p:txBody>
      </p:sp>
      <p:sp>
        <p:nvSpPr>
          <p:cNvPr id="3" name="Rectangle 2">
            <a:extLst>
              <a:ext uri="{FF2B5EF4-FFF2-40B4-BE49-F238E27FC236}">
                <a16:creationId xmlns:a16="http://schemas.microsoft.com/office/drawing/2014/main" id="{47E723B4-A3BA-8021-CD62-DF1001930200}"/>
              </a:ext>
            </a:extLst>
          </p:cNvPr>
          <p:cNvSpPr/>
          <p:nvPr/>
        </p:nvSpPr>
        <p:spPr>
          <a:xfrm>
            <a:off x="1084395" y="4548606"/>
            <a:ext cx="4630322" cy="47906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&lt;--&gt; &lt;--&gt;</a:t>
            </a:r>
          </a:p>
        </p:txBody>
      </p:sp>
      <p:grpSp>
        <p:nvGrpSpPr>
          <p:cNvPr id="6" name="Group 5">
            <a:extLst>
              <a:ext uri="{FF2B5EF4-FFF2-40B4-BE49-F238E27FC236}">
                <a16:creationId xmlns:a16="http://schemas.microsoft.com/office/drawing/2014/main" id="{B978D50A-256B-CC95-DDD6-2F2EF9B0C5B6}"/>
              </a:ext>
            </a:extLst>
          </p:cNvPr>
          <p:cNvGrpSpPr/>
          <p:nvPr/>
        </p:nvGrpSpPr>
        <p:grpSpPr>
          <a:xfrm>
            <a:off x="1072677" y="2383087"/>
            <a:ext cx="4630322" cy="2089621"/>
            <a:chOff x="662546" y="2654094"/>
            <a:chExt cx="4764100" cy="2528436"/>
          </a:xfrm>
        </p:grpSpPr>
        <p:grpSp>
          <p:nvGrpSpPr>
            <p:cNvPr id="9" name="Group 8">
              <a:extLst>
                <a:ext uri="{FF2B5EF4-FFF2-40B4-BE49-F238E27FC236}">
                  <a16:creationId xmlns:a16="http://schemas.microsoft.com/office/drawing/2014/main" id="{2A77F9FF-A7E5-274B-E810-D98BF4004721}"/>
                </a:ext>
              </a:extLst>
            </p:cNvPr>
            <p:cNvGrpSpPr/>
            <p:nvPr/>
          </p:nvGrpSpPr>
          <p:grpSpPr>
            <a:xfrm>
              <a:off x="662546" y="3040562"/>
              <a:ext cx="4764100" cy="2141968"/>
              <a:chOff x="662546" y="2790923"/>
              <a:chExt cx="4764100" cy="2356163"/>
            </a:xfrm>
          </p:grpSpPr>
          <p:grpSp>
            <p:nvGrpSpPr>
              <p:cNvPr id="17" name="Group 16">
                <a:extLst>
                  <a:ext uri="{FF2B5EF4-FFF2-40B4-BE49-F238E27FC236}">
                    <a16:creationId xmlns:a16="http://schemas.microsoft.com/office/drawing/2014/main" id="{764719B2-1320-F937-97B3-06F74DD07C0C}"/>
                  </a:ext>
                </a:extLst>
              </p:cNvPr>
              <p:cNvGrpSpPr/>
              <p:nvPr/>
            </p:nvGrpSpPr>
            <p:grpSpPr>
              <a:xfrm>
                <a:off x="662546" y="2790923"/>
                <a:ext cx="4764100" cy="2198186"/>
                <a:chOff x="895162" y="2638523"/>
                <a:chExt cx="4764100" cy="2198186"/>
              </a:xfrm>
            </p:grpSpPr>
            <p:grpSp>
              <p:nvGrpSpPr>
                <p:cNvPr id="21" name="Group 20">
                  <a:extLst>
                    <a:ext uri="{FF2B5EF4-FFF2-40B4-BE49-F238E27FC236}">
                      <a16:creationId xmlns:a16="http://schemas.microsoft.com/office/drawing/2014/main" id="{7D97AE64-0C82-A45D-6D22-8F0E8CA60E5D}"/>
                    </a:ext>
                  </a:extLst>
                </p:cNvPr>
                <p:cNvGrpSpPr/>
                <p:nvPr/>
              </p:nvGrpSpPr>
              <p:grpSpPr>
                <a:xfrm>
                  <a:off x="895162" y="2661534"/>
                  <a:ext cx="4764100" cy="2175175"/>
                  <a:chOff x="805543" y="3039910"/>
                  <a:chExt cx="5057939" cy="2175175"/>
                </a:xfrm>
                <a:noFill/>
              </p:grpSpPr>
              <p:sp>
                <p:nvSpPr>
                  <p:cNvPr id="25" name="Rectangle 24">
                    <a:extLst>
                      <a:ext uri="{FF2B5EF4-FFF2-40B4-BE49-F238E27FC236}">
                        <a16:creationId xmlns:a16="http://schemas.microsoft.com/office/drawing/2014/main" id="{578FBCBF-777B-D32C-897F-EB5AF371EB19}"/>
                      </a:ext>
                    </a:extLst>
                  </p:cNvPr>
                  <p:cNvSpPr/>
                  <p:nvPr/>
                </p:nvSpPr>
                <p:spPr>
                  <a:xfrm>
                    <a:off x="805543" y="3039910"/>
                    <a:ext cx="5057939" cy="190563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34" name="Rectangle 33">
                    <a:extLst>
                      <a:ext uri="{FF2B5EF4-FFF2-40B4-BE49-F238E27FC236}">
                        <a16:creationId xmlns:a16="http://schemas.microsoft.com/office/drawing/2014/main" id="{BBE9974A-1FFC-8E9A-A854-C49B92EEBE6A}"/>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51" name="Rectangle 50">
                    <a:extLst>
                      <a:ext uri="{FF2B5EF4-FFF2-40B4-BE49-F238E27FC236}">
                        <a16:creationId xmlns:a16="http://schemas.microsoft.com/office/drawing/2014/main" id="{0542353A-0AA0-9D39-E038-D6DB9AB14EFB}"/>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52" name="TextBox 51">
                    <a:extLst>
                      <a:ext uri="{FF2B5EF4-FFF2-40B4-BE49-F238E27FC236}">
                        <a16:creationId xmlns:a16="http://schemas.microsoft.com/office/drawing/2014/main" id="{47BD3136-C0C9-3DD4-5928-80AE83C4B76A}"/>
                      </a:ext>
                    </a:extLst>
                  </p:cNvPr>
                  <p:cNvSpPr txBox="1"/>
                  <p:nvPr/>
                </p:nvSpPr>
                <p:spPr>
                  <a:xfrm>
                    <a:off x="3503946" y="3781305"/>
                    <a:ext cx="2139942" cy="1433780"/>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Value </a:t>
                    </a:r>
                  </a:p>
                  <a:p>
                    <a:pPr algn="ctr"/>
                    <a:r>
                      <a:rPr lang="en-US" sz="1600" dirty="0">
                        <a:solidFill>
                          <a:schemeClr val="bg1"/>
                        </a:solidFill>
                        <a:latin typeface="Candara" panose="020E0502030303020204" pitchFamily="34" charset="0"/>
                      </a:rPr>
                      <a:t>OP_0 </a:t>
                    </a:r>
                  </a:p>
                  <a:p>
                    <a:pPr algn="ctr"/>
                    <a:r>
                      <a:rPr lang="en-US" sz="1600" dirty="0">
                        <a:solidFill>
                          <a:schemeClr val="bg1"/>
                        </a:solidFill>
                        <a:latin typeface="Candara" panose="020E0502030303020204" pitchFamily="34" charset="0"/>
                      </a:rPr>
                      <a:t>&lt;</a:t>
                    </a:r>
                    <a:r>
                      <a:rPr lang="en-US" sz="1600" dirty="0" err="1">
                        <a:solidFill>
                          <a:schemeClr val="bg1"/>
                        </a:solidFill>
                        <a:latin typeface="Candara" panose="020E0502030303020204" pitchFamily="34" charset="0"/>
                      </a:rPr>
                      <a:t>wsh_A_C</a:t>
                    </a:r>
                    <a:r>
                      <a:rPr lang="en-US" sz="1600" dirty="0">
                        <a:solidFill>
                          <a:schemeClr val="bg1"/>
                        </a:solidFill>
                        <a:latin typeface="Candara" panose="020E0502030303020204" pitchFamily="34" charset="0"/>
                      </a:rPr>
                      <a:t>&gt;</a:t>
                    </a:r>
                  </a:p>
                  <a:p>
                    <a:pPr algn="ctr"/>
                    <a:endParaRPr lang="en-US" sz="1600" dirty="0">
                      <a:latin typeface="Candara" panose="020E0502030303020204" pitchFamily="34" charset="0"/>
                    </a:endParaRPr>
                  </a:p>
                </p:txBody>
              </p:sp>
            </p:grpSp>
            <p:sp>
              <p:nvSpPr>
                <p:cNvPr id="23" name="Rectangle 22">
                  <a:extLst>
                    <a:ext uri="{FF2B5EF4-FFF2-40B4-BE49-F238E27FC236}">
                      <a16:creationId xmlns:a16="http://schemas.microsoft.com/office/drawing/2014/main" id="{35CB4D87-7DED-5922-57A1-810B485FCF60}"/>
                    </a:ext>
                  </a:extLst>
                </p:cNvPr>
                <p:cNvSpPr/>
                <p:nvPr/>
              </p:nvSpPr>
              <p:spPr>
                <a:xfrm>
                  <a:off x="895162" y="2638523"/>
                  <a:ext cx="4764100" cy="645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Transaction-Level Fields </a:t>
                  </a:r>
                </a:p>
                <a:p>
                  <a:pPr algn="ctr"/>
                  <a:r>
                    <a:rPr lang="en-US" sz="1600" dirty="0">
                      <a:latin typeface="Candara" panose="020E0502030303020204" pitchFamily="34" charset="0"/>
                    </a:rPr>
                    <a:t>(Version, </a:t>
                  </a:r>
                  <a:r>
                    <a:rPr lang="en-US" sz="1600" dirty="0" err="1">
                      <a:latin typeface="Candara" panose="020E0502030303020204" pitchFamily="34" charset="0"/>
                    </a:rPr>
                    <a:t>nLockTime</a:t>
                  </a:r>
                  <a:r>
                    <a:rPr lang="en-US" sz="1600" dirty="0">
                      <a:latin typeface="Candara" panose="020E0502030303020204" pitchFamily="34" charset="0"/>
                    </a:rPr>
                    <a:t>, Flags)</a:t>
                  </a:r>
                </a:p>
              </p:txBody>
            </p:sp>
          </p:grpSp>
          <p:sp>
            <p:nvSpPr>
              <p:cNvPr id="19" name="Rectangle 18">
                <a:extLst>
                  <a:ext uri="{FF2B5EF4-FFF2-40B4-BE49-F238E27FC236}">
                    <a16:creationId xmlns:a16="http://schemas.microsoft.com/office/drawing/2014/main" id="{29E08D8F-8911-BD5F-4346-DA13B5FC34E7}"/>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HTLC1234A</a:t>
                </a:r>
              </a:p>
            </p:txBody>
          </p:sp>
        </p:grpSp>
        <p:sp>
          <p:nvSpPr>
            <p:cNvPr id="13" name="TextBox 12">
              <a:extLst>
                <a:ext uri="{FF2B5EF4-FFF2-40B4-BE49-F238E27FC236}">
                  <a16:creationId xmlns:a16="http://schemas.microsoft.com/office/drawing/2014/main" id="{A0DB5207-07D9-A62F-C197-A5B1B7932E7E}"/>
                </a:ext>
              </a:extLst>
            </p:cNvPr>
            <p:cNvSpPr txBox="1"/>
            <p:nvPr/>
          </p:nvSpPr>
          <p:spPr>
            <a:xfrm>
              <a:off x="1333370" y="2654094"/>
              <a:ext cx="2773425" cy="446891"/>
            </a:xfrm>
            <a:prstGeom prst="rect">
              <a:avLst/>
            </a:prstGeom>
            <a:noFill/>
          </p:spPr>
          <p:txBody>
            <a:bodyPr wrap="none" rtlCol="0">
              <a:spAutoFit/>
            </a:bodyPr>
            <a:lstStyle/>
            <a:p>
              <a:r>
                <a:rPr lang="en-US" dirty="0">
                  <a:latin typeface="Candara" panose="020E0502030303020204" pitchFamily="34" charset="0"/>
                </a:rPr>
                <a:t>Parent Transaction (Alice)</a:t>
              </a:r>
            </a:p>
          </p:txBody>
        </p:sp>
      </p:grpSp>
      <p:sp>
        <p:nvSpPr>
          <p:cNvPr id="53" name="Rectangle 52">
            <a:extLst>
              <a:ext uri="{FF2B5EF4-FFF2-40B4-BE49-F238E27FC236}">
                <a16:creationId xmlns:a16="http://schemas.microsoft.com/office/drawing/2014/main" id="{FB8C97B5-EBC9-11CE-86D8-0F96F99C97AB}"/>
              </a:ext>
            </a:extLst>
          </p:cNvPr>
          <p:cNvSpPr/>
          <p:nvPr/>
        </p:nvSpPr>
        <p:spPr>
          <a:xfrm>
            <a:off x="7845777" y="3120377"/>
            <a:ext cx="3904235" cy="545491"/>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 </a:t>
            </a:r>
          </a:p>
          <a:p>
            <a:pPr algn="ctr"/>
            <a:r>
              <a:rPr lang="en-US" dirty="0">
                <a:solidFill>
                  <a:schemeClr val="tx1"/>
                </a:solidFill>
                <a:latin typeface="Candara" panose="020E0502030303020204" pitchFamily="34" charset="0"/>
              </a:rPr>
              <a:t>&lt;</a:t>
            </a:r>
            <a:r>
              <a:rPr lang="en-US" dirty="0" err="1">
                <a:solidFill>
                  <a:schemeClr val="tx1"/>
                </a:solidFill>
                <a:latin typeface="Candara" panose="020E0502030303020204" pitchFamily="34" charset="0"/>
              </a:rPr>
              <a:t>SigCharlie</a:t>
            </a:r>
            <a:r>
              <a:rPr lang="en-US" dirty="0">
                <a:solidFill>
                  <a:schemeClr val="tx1"/>
                </a:solidFill>
                <a:latin typeface="Candara" panose="020E0502030303020204" pitchFamily="34" charset="0"/>
              </a:rPr>
              <a:t>&gt; &lt;S&gt; 1 &lt;</a:t>
            </a:r>
            <a:r>
              <a:rPr lang="en-US" b="1" dirty="0">
                <a:latin typeface="Candara" panose="020E0502030303020204" pitchFamily="34" charset="0"/>
              </a:rPr>
              <a:t> </a:t>
            </a:r>
            <a:r>
              <a:rPr lang="en-US" b="1" dirty="0" err="1">
                <a:solidFill>
                  <a:schemeClr val="tx1"/>
                </a:solidFill>
                <a:latin typeface="Candara" panose="020E0502030303020204" pitchFamily="34" charset="0"/>
              </a:rPr>
              <a:t>ws_HTLC_A_C</a:t>
            </a:r>
            <a:r>
              <a:rPr lang="en-US" b="1" dirty="0">
                <a:solidFill>
                  <a:schemeClr val="tx1"/>
                </a:solidFill>
                <a:latin typeface="Candara" panose="020E0502030303020204" pitchFamily="34" charset="0"/>
              </a:rPr>
              <a:t> </a:t>
            </a:r>
            <a:r>
              <a:rPr lang="en-US" dirty="0">
                <a:solidFill>
                  <a:schemeClr val="tx1"/>
                </a:solidFill>
                <a:latin typeface="Candara" panose="020E0502030303020204" pitchFamily="34" charset="0"/>
              </a:rPr>
              <a:t>&gt;</a:t>
            </a:r>
          </a:p>
        </p:txBody>
      </p:sp>
      <p:grpSp>
        <p:nvGrpSpPr>
          <p:cNvPr id="54" name="Group 53">
            <a:extLst>
              <a:ext uri="{FF2B5EF4-FFF2-40B4-BE49-F238E27FC236}">
                <a16:creationId xmlns:a16="http://schemas.microsoft.com/office/drawing/2014/main" id="{7D1894FC-E511-F65B-6E82-5C8A822E60C9}"/>
              </a:ext>
            </a:extLst>
          </p:cNvPr>
          <p:cNvGrpSpPr/>
          <p:nvPr/>
        </p:nvGrpSpPr>
        <p:grpSpPr>
          <a:xfrm>
            <a:off x="7845778" y="1007614"/>
            <a:ext cx="3828062" cy="2032051"/>
            <a:chOff x="6826732" y="2631916"/>
            <a:chExt cx="4764100" cy="2458777"/>
          </a:xfrm>
        </p:grpSpPr>
        <p:grpSp>
          <p:nvGrpSpPr>
            <p:cNvPr id="55" name="Group 54">
              <a:extLst>
                <a:ext uri="{FF2B5EF4-FFF2-40B4-BE49-F238E27FC236}">
                  <a16:creationId xmlns:a16="http://schemas.microsoft.com/office/drawing/2014/main" id="{5700D8E6-29F1-4DAC-373F-04EF9207464B}"/>
                </a:ext>
              </a:extLst>
            </p:cNvPr>
            <p:cNvGrpSpPr/>
            <p:nvPr/>
          </p:nvGrpSpPr>
          <p:grpSpPr>
            <a:xfrm>
              <a:off x="6826732" y="3040348"/>
              <a:ext cx="4764100" cy="2050345"/>
              <a:chOff x="6826732" y="2790923"/>
              <a:chExt cx="4764100" cy="2255376"/>
            </a:xfrm>
          </p:grpSpPr>
          <p:grpSp>
            <p:nvGrpSpPr>
              <p:cNvPr id="57" name="Group 56">
                <a:extLst>
                  <a:ext uri="{FF2B5EF4-FFF2-40B4-BE49-F238E27FC236}">
                    <a16:creationId xmlns:a16="http://schemas.microsoft.com/office/drawing/2014/main" id="{4BFAA1C3-DDD3-0F32-D093-BD03E79B3AB2}"/>
                  </a:ext>
                </a:extLst>
              </p:cNvPr>
              <p:cNvGrpSpPr/>
              <p:nvPr/>
            </p:nvGrpSpPr>
            <p:grpSpPr>
              <a:xfrm>
                <a:off x="6826732" y="2790923"/>
                <a:ext cx="4764100" cy="2045687"/>
                <a:chOff x="895162" y="2638523"/>
                <a:chExt cx="4764100" cy="2045687"/>
              </a:xfrm>
            </p:grpSpPr>
            <p:grpSp>
              <p:nvGrpSpPr>
                <p:cNvPr id="59" name="Group 58">
                  <a:extLst>
                    <a:ext uri="{FF2B5EF4-FFF2-40B4-BE49-F238E27FC236}">
                      <a16:creationId xmlns:a16="http://schemas.microsoft.com/office/drawing/2014/main" id="{77C16D5B-3B14-9A4C-C2E8-D411F13D5BA7}"/>
                    </a:ext>
                  </a:extLst>
                </p:cNvPr>
                <p:cNvGrpSpPr/>
                <p:nvPr/>
              </p:nvGrpSpPr>
              <p:grpSpPr>
                <a:xfrm>
                  <a:off x="895162" y="2661533"/>
                  <a:ext cx="4764100" cy="2022677"/>
                  <a:chOff x="805543" y="3039909"/>
                  <a:chExt cx="5057939" cy="2022677"/>
                </a:xfrm>
                <a:noFill/>
              </p:grpSpPr>
              <p:sp>
                <p:nvSpPr>
                  <p:cNvPr id="61" name="Rectangle 60">
                    <a:extLst>
                      <a:ext uri="{FF2B5EF4-FFF2-40B4-BE49-F238E27FC236}">
                        <a16:creationId xmlns:a16="http://schemas.microsoft.com/office/drawing/2014/main" id="{086D93C2-53C7-E055-6477-DB795485D306}"/>
                      </a:ext>
                    </a:extLst>
                  </p:cNvPr>
                  <p:cNvSpPr/>
                  <p:nvPr/>
                </p:nvSpPr>
                <p:spPr>
                  <a:xfrm>
                    <a:off x="805543" y="3039909"/>
                    <a:ext cx="5057939" cy="1792253"/>
                  </a:xfrm>
                  <a:prstGeom prst="rect">
                    <a:avLst/>
                  </a:prstGeom>
                  <a:solidFill>
                    <a:schemeClr val="accent6">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62" name="Rectangle 61">
                    <a:extLst>
                      <a:ext uri="{FF2B5EF4-FFF2-40B4-BE49-F238E27FC236}">
                        <a16:creationId xmlns:a16="http://schemas.microsoft.com/office/drawing/2014/main" id="{91D7DAF2-69FB-29D1-EE5F-1960088838B1}"/>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63" name="Rectangle 62">
                    <a:extLst>
                      <a:ext uri="{FF2B5EF4-FFF2-40B4-BE49-F238E27FC236}">
                        <a16:creationId xmlns:a16="http://schemas.microsoft.com/office/drawing/2014/main" id="{311012A1-7638-C660-0E1F-F966D624B27F}"/>
                      </a:ext>
                    </a:extLst>
                  </p:cNvPr>
                  <p:cNvSpPr/>
                  <p:nvPr/>
                </p:nvSpPr>
                <p:spPr>
                  <a:xfrm>
                    <a:off x="3982852" y="3662430"/>
                    <a:ext cx="1773535"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64" name="TextBox 63">
                    <a:extLst>
                      <a:ext uri="{FF2B5EF4-FFF2-40B4-BE49-F238E27FC236}">
                        <a16:creationId xmlns:a16="http://schemas.microsoft.com/office/drawing/2014/main" id="{835A8D91-8B2E-790F-AFB5-B70A20DAA134}"/>
                      </a:ext>
                    </a:extLst>
                  </p:cNvPr>
                  <p:cNvSpPr txBox="1"/>
                  <p:nvPr/>
                </p:nvSpPr>
                <p:spPr>
                  <a:xfrm>
                    <a:off x="1094376" y="3736386"/>
                    <a:ext cx="2888477" cy="1106056"/>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Prev </a:t>
                    </a:r>
                    <a:r>
                      <a:rPr lang="en-US" sz="1600" dirty="0" err="1">
                        <a:solidFill>
                          <a:schemeClr val="bg1"/>
                        </a:solidFill>
                        <a:latin typeface="Candara" panose="020E0502030303020204" pitchFamily="34" charset="0"/>
                      </a:rPr>
                      <a:t>Txid</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Idx</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scriptSig</a:t>
                    </a:r>
                    <a:r>
                      <a:rPr lang="en-US" sz="1600" dirty="0">
                        <a:solidFill>
                          <a:schemeClr val="bg1"/>
                        </a:solidFill>
                        <a:latin typeface="Candara" panose="020E0502030303020204" pitchFamily="34" charset="0"/>
                      </a:rPr>
                      <a:t>=empty</a:t>
                    </a:r>
                  </a:p>
                </p:txBody>
              </p:sp>
            </p:grpSp>
            <p:sp>
              <p:nvSpPr>
                <p:cNvPr id="60" name="Rectangle 59">
                  <a:extLst>
                    <a:ext uri="{FF2B5EF4-FFF2-40B4-BE49-F238E27FC236}">
                      <a16:creationId xmlns:a16="http://schemas.microsoft.com/office/drawing/2014/main" id="{BB85A553-036E-586B-5EA1-46EF0F73B939}"/>
                    </a:ext>
                  </a:extLst>
                </p:cNvPr>
                <p:cNvSpPr/>
                <p:nvPr/>
              </p:nvSpPr>
              <p:spPr>
                <a:xfrm>
                  <a:off x="895162" y="2638523"/>
                  <a:ext cx="4764100" cy="6455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Transaction-Level Fields </a:t>
                  </a:r>
                </a:p>
                <a:p>
                  <a:pPr algn="ctr"/>
                  <a:r>
                    <a:rPr lang="en-US" sz="1600" dirty="0">
                      <a:solidFill>
                        <a:schemeClr val="tx1"/>
                      </a:solidFill>
                      <a:latin typeface="Candara" panose="020E0502030303020204" pitchFamily="34" charset="0"/>
                    </a:rPr>
                    <a:t>(Version, </a:t>
                  </a:r>
                  <a:r>
                    <a:rPr lang="en-US" sz="1600" dirty="0" err="1">
                      <a:solidFill>
                        <a:schemeClr val="tx1"/>
                      </a:solidFill>
                      <a:latin typeface="Candara" panose="020E0502030303020204" pitchFamily="34" charset="0"/>
                    </a:rPr>
                    <a:t>nLockTime</a:t>
                  </a:r>
                  <a:r>
                    <a:rPr lang="en-US" sz="1600" dirty="0">
                      <a:solidFill>
                        <a:schemeClr val="tx1"/>
                      </a:solidFill>
                      <a:latin typeface="Candara" panose="020E0502030303020204" pitchFamily="34" charset="0"/>
                    </a:rPr>
                    <a:t>, Flags)</a:t>
                  </a:r>
                </a:p>
              </p:txBody>
            </p:sp>
          </p:grpSp>
          <p:sp>
            <p:nvSpPr>
              <p:cNvPr id="58" name="Rectangle 57">
                <a:extLst>
                  <a:ext uri="{FF2B5EF4-FFF2-40B4-BE49-F238E27FC236}">
                    <a16:creationId xmlns:a16="http://schemas.microsoft.com/office/drawing/2014/main" id="{BBB4ECBE-CF03-01BC-8E55-0160994C59B1}"/>
                  </a:ext>
                </a:extLst>
              </p:cNvPr>
              <p:cNvSpPr/>
              <p:nvPr/>
            </p:nvSpPr>
            <p:spPr>
              <a:xfrm>
                <a:off x="6826732" y="4608862"/>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HTLC1234C</a:t>
                </a:r>
              </a:p>
            </p:txBody>
          </p:sp>
        </p:grpSp>
        <p:sp>
          <p:nvSpPr>
            <p:cNvPr id="56" name="TextBox 55">
              <a:extLst>
                <a:ext uri="{FF2B5EF4-FFF2-40B4-BE49-F238E27FC236}">
                  <a16:creationId xmlns:a16="http://schemas.microsoft.com/office/drawing/2014/main" id="{6127D76B-70AF-1BF3-5EDE-1A661D645B0C}"/>
                </a:ext>
              </a:extLst>
            </p:cNvPr>
            <p:cNvSpPr txBox="1"/>
            <p:nvPr/>
          </p:nvSpPr>
          <p:spPr>
            <a:xfrm>
              <a:off x="7518615" y="2631916"/>
              <a:ext cx="3392565" cy="446891"/>
            </a:xfrm>
            <a:prstGeom prst="rect">
              <a:avLst/>
            </a:prstGeom>
            <a:noFill/>
          </p:spPr>
          <p:txBody>
            <a:bodyPr wrap="none" rtlCol="0">
              <a:spAutoFit/>
            </a:bodyPr>
            <a:lstStyle/>
            <a:p>
              <a:r>
                <a:rPr lang="en-US" dirty="0">
                  <a:latin typeface="Candara" panose="020E0502030303020204" pitchFamily="34" charset="0"/>
                </a:rPr>
                <a:t>Child Transaction (Charlie)</a:t>
              </a:r>
            </a:p>
          </p:txBody>
        </p:sp>
      </p:grpSp>
      <p:sp>
        <p:nvSpPr>
          <p:cNvPr id="65" name="Rectangle 64">
            <a:extLst>
              <a:ext uri="{FF2B5EF4-FFF2-40B4-BE49-F238E27FC236}">
                <a16:creationId xmlns:a16="http://schemas.microsoft.com/office/drawing/2014/main" id="{D28E54F6-ADEF-061C-5EE0-903F241B4935}"/>
              </a:ext>
            </a:extLst>
          </p:cNvPr>
          <p:cNvSpPr/>
          <p:nvPr/>
        </p:nvSpPr>
        <p:spPr>
          <a:xfrm>
            <a:off x="7824686" y="5834197"/>
            <a:ext cx="3904239" cy="53731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 </a:t>
            </a:r>
          </a:p>
          <a:p>
            <a:pPr algn="ctr"/>
            <a:r>
              <a:rPr lang="en-US" dirty="0">
                <a:solidFill>
                  <a:schemeClr val="tx1"/>
                </a:solidFill>
                <a:latin typeface="Candara" panose="020E0502030303020204" pitchFamily="34" charset="0"/>
              </a:rPr>
              <a:t>&lt;</a:t>
            </a:r>
            <a:r>
              <a:rPr lang="en-US" dirty="0" err="1">
                <a:solidFill>
                  <a:schemeClr val="tx1"/>
                </a:solidFill>
                <a:latin typeface="Candara" panose="020E0502030303020204" pitchFamily="34" charset="0"/>
              </a:rPr>
              <a:t>SigAlice</a:t>
            </a:r>
            <a:r>
              <a:rPr lang="en-US" dirty="0">
                <a:solidFill>
                  <a:schemeClr val="tx1"/>
                </a:solidFill>
                <a:latin typeface="Candara" panose="020E0502030303020204" pitchFamily="34" charset="0"/>
              </a:rPr>
              <a:t>&gt; 0 &lt;</a:t>
            </a:r>
            <a:r>
              <a:rPr lang="en-US" b="1" dirty="0">
                <a:solidFill>
                  <a:schemeClr val="tx1"/>
                </a:solidFill>
                <a:latin typeface="Candara" panose="020E0502030303020204" pitchFamily="34" charset="0"/>
              </a:rPr>
              <a:t> </a:t>
            </a:r>
            <a:r>
              <a:rPr lang="en-US" b="1" dirty="0" err="1">
                <a:solidFill>
                  <a:schemeClr val="tx1"/>
                </a:solidFill>
                <a:latin typeface="Candara" panose="020E0502030303020204" pitchFamily="34" charset="0"/>
              </a:rPr>
              <a:t>ws_HTLC_A_C</a:t>
            </a:r>
            <a:r>
              <a:rPr lang="en-US" b="1" dirty="0">
                <a:solidFill>
                  <a:schemeClr val="tx1"/>
                </a:solidFill>
                <a:latin typeface="Candara" panose="020E0502030303020204" pitchFamily="34" charset="0"/>
              </a:rPr>
              <a:t> </a:t>
            </a:r>
            <a:r>
              <a:rPr lang="en-US" dirty="0">
                <a:solidFill>
                  <a:schemeClr val="tx1"/>
                </a:solidFill>
                <a:latin typeface="Candara" panose="020E0502030303020204" pitchFamily="34" charset="0"/>
              </a:rPr>
              <a:t>&gt;</a:t>
            </a:r>
          </a:p>
        </p:txBody>
      </p:sp>
      <p:grpSp>
        <p:nvGrpSpPr>
          <p:cNvPr id="66" name="Group 65">
            <a:extLst>
              <a:ext uri="{FF2B5EF4-FFF2-40B4-BE49-F238E27FC236}">
                <a16:creationId xmlns:a16="http://schemas.microsoft.com/office/drawing/2014/main" id="{7E3994E7-0183-D7DE-83AA-DCE4B9B34CE1}"/>
              </a:ext>
            </a:extLst>
          </p:cNvPr>
          <p:cNvGrpSpPr/>
          <p:nvPr/>
        </p:nvGrpSpPr>
        <p:grpSpPr>
          <a:xfrm>
            <a:off x="7800622" y="3721433"/>
            <a:ext cx="3904239" cy="2032051"/>
            <a:chOff x="6826732" y="2631916"/>
            <a:chExt cx="4764100" cy="2458777"/>
          </a:xfrm>
        </p:grpSpPr>
        <p:grpSp>
          <p:nvGrpSpPr>
            <p:cNvPr id="67" name="Group 66">
              <a:extLst>
                <a:ext uri="{FF2B5EF4-FFF2-40B4-BE49-F238E27FC236}">
                  <a16:creationId xmlns:a16="http://schemas.microsoft.com/office/drawing/2014/main" id="{11C2EAFC-C66C-778C-7EC5-40FF7F08AE6A}"/>
                </a:ext>
              </a:extLst>
            </p:cNvPr>
            <p:cNvGrpSpPr/>
            <p:nvPr/>
          </p:nvGrpSpPr>
          <p:grpSpPr>
            <a:xfrm>
              <a:off x="6826732" y="3040348"/>
              <a:ext cx="4764100" cy="2050345"/>
              <a:chOff x="6826732" y="2790923"/>
              <a:chExt cx="4764100" cy="2255376"/>
            </a:xfrm>
          </p:grpSpPr>
          <p:grpSp>
            <p:nvGrpSpPr>
              <p:cNvPr id="69" name="Group 68">
                <a:extLst>
                  <a:ext uri="{FF2B5EF4-FFF2-40B4-BE49-F238E27FC236}">
                    <a16:creationId xmlns:a16="http://schemas.microsoft.com/office/drawing/2014/main" id="{DF985ECB-0DC9-0C07-530D-A5D9CF9E7A88}"/>
                  </a:ext>
                </a:extLst>
              </p:cNvPr>
              <p:cNvGrpSpPr/>
              <p:nvPr/>
            </p:nvGrpSpPr>
            <p:grpSpPr>
              <a:xfrm>
                <a:off x="6826732" y="2790923"/>
                <a:ext cx="4764100" cy="2045687"/>
                <a:chOff x="895162" y="2638523"/>
                <a:chExt cx="4764100" cy="2045687"/>
              </a:xfrm>
            </p:grpSpPr>
            <p:grpSp>
              <p:nvGrpSpPr>
                <p:cNvPr id="71" name="Group 70">
                  <a:extLst>
                    <a:ext uri="{FF2B5EF4-FFF2-40B4-BE49-F238E27FC236}">
                      <a16:creationId xmlns:a16="http://schemas.microsoft.com/office/drawing/2014/main" id="{32AD6F00-21D1-8C27-B423-889641333489}"/>
                    </a:ext>
                  </a:extLst>
                </p:cNvPr>
                <p:cNvGrpSpPr/>
                <p:nvPr/>
              </p:nvGrpSpPr>
              <p:grpSpPr>
                <a:xfrm>
                  <a:off x="895162" y="2661533"/>
                  <a:ext cx="4764100" cy="2022677"/>
                  <a:chOff x="805543" y="3039909"/>
                  <a:chExt cx="5057939" cy="2022677"/>
                </a:xfrm>
                <a:noFill/>
              </p:grpSpPr>
              <p:sp>
                <p:nvSpPr>
                  <p:cNvPr id="73" name="Rectangle 72">
                    <a:extLst>
                      <a:ext uri="{FF2B5EF4-FFF2-40B4-BE49-F238E27FC236}">
                        <a16:creationId xmlns:a16="http://schemas.microsoft.com/office/drawing/2014/main" id="{2B9FCA4E-B1A1-B394-ED6D-65DBB0346C7D}"/>
                      </a:ext>
                    </a:extLst>
                  </p:cNvPr>
                  <p:cNvSpPr/>
                  <p:nvPr/>
                </p:nvSpPr>
                <p:spPr>
                  <a:xfrm>
                    <a:off x="805543" y="3039909"/>
                    <a:ext cx="5057939" cy="1792253"/>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ndara" panose="020E0502030303020204" pitchFamily="34" charset="0"/>
                    </a:endParaRPr>
                  </a:p>
                </p:txBody>
              </p:sp>
              <p:sp>
                <p:nvSpPr>
                  <p:cNvPr id="74" name="Rectangle 73">
                    <a:extLst>
                      <a:ext uri="{FF2B5EF4-FFF2-40B4-BE49-F238E27FC236}">
                        <a16:creationId xmlns:a16="http://schemas.microsoft.com/office/drawing/2014/main" id="{D8E15B50-513B-9672-0AA5-EF95A4C04A78}"/>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75" name="Rectangle 74">
                    <a:extLst>
                      <a:ext uri="{FF2B5EF4-FFF2-40B4-BE49-F238E27FC236}">
                        <a16:creationId xmlns:a16="http://schemas.microsoft.com/office/drawing/2014/main" id="{A2211EF1-683C-E8FD-D133-4EB0552A88E7}"/>
                      </a:ext>
                    </a:extLst>
                  </p:cNvPr>
                  <p:cNvSpPr/>
                  <p:nvPr/>
                </p:nvSpPr>
                <p:spPr>
                  <a:xfrm>
                    <a:off x="3979358" y="3662430"/>
                    <a:ext cx="1777029"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76" name="TextBox 75">
                    <a:extLst>
                      <a:ext uri="{FF2B5EF4-FFF2-40B4-BE49-F238E27FC236}">
                        <a16:creationId xmlns:a16="http://schemas.microsoft.com/office/drawing/2014/main" id="{98E6869A-0FDE-114B-BA8F-FF1013E3045D}"/>
                      </a:ext>
                    </a:extLst>
                  </p:cNvPr>
                  <p:cNvSpPr txBox="1"/>
                  <p:nvPr/>
                </p:nvSpPr>
                <p:spPr>
                  <a:xfrm>
                    <a:off x="1094376" y="3736386"/>
                    <a:ext cx="2888476" cy="1106054"/>
                  </a:xfrm>
                  <a:prstGeom prst="rect">
                    <a:avLst/>
                  </a:prstGeom>
                  <a:grpFill/>
                </p:spPr>
                <p:txBody>
                  <a:bodyPr wrap="square" rtlCol="0">
                    <a:spAutoFit/>
                  </a:bodyPr>
                  <a:lstStyle/>
                  <a:p>
                    <a:pPr algn="ctr"/>
                    <a:r>
                      <a:rPr lang="en-US" sz="1600" dirty="0">
                        <a:solidFill>
                          <a:schemeClr val="bg1"/>
                        </a:solidFill>
                        <a:latin typeface="Candara" panose="020E0502030303020204" pitchFamily="34" charset="0"/>
                      </a:rPr>
                      <a:t>Prev </a:t>
                    </a:r>
                    <a:r>
                      <a:rPr lang="en-US" sz="1600" dirty="0" err="1">
                        <a:solidFill>
                          <a:schemeClr val="bg1"/>
                        </a:solidFill>
                        <a:latin typeface="Candara" panose="020E0502030303020204" pitchFamily="34" charset="0"/>
                      </a:rPr>
                      <a:t>Txid</a:t>
                    </a:r>
                    <a:r>
                      <a:rPr lang="en-US" sz="1600" dirty="0">
                        <a:solidFill>
                          <a:schemeClr val="bg1"/>
                        </a:solidFill>
                        <a:latin typeface="Candara" panose="020E0502030303020204" pitchFamily="34" charset="0"/>
                      </a:rPr>
                      <a:t> </a:t>
                    </a:r>
                    <a:r>
                      <a:rPr lang="en-US" sz="1600" dirty="0" err="1">
                        <a:solidFill>
                          <a:schemeClr val="bg1"/>
                        </a:solidFill>
                        <a:latin typeface="Candara" panose="020E0502030303020204" pitchFamily="34" charset="0"/>
                      </a:rPr>
                      <a:t>Idx</a:t>
                    </a:r>
                    <a:endParaRPr lang="en-US" sz="1600" dirty="0">
                      <a:solidFill>
                        <a:schemeClr val="bg1"/>
                      </a:solidFill>
                      <a:latin typeface="Candara" panose="020E0502030303020204" pitchFamily="34" charset="0"/>
                    </a:endParaRPr>
                  </a:p>
                  <a:p>
                    <a:pPr algn="ctr"/>
                    <a:r>
                      <a:rPr lang="en-US" sz="1600" dirty="0" err="1">
                        <a:solidFill>
                          <a:schemeClr val="bg1"/>
                        </a:solidFill>
                        <a:latin typeface="Candara" panose="020E0502030303020204" pitchFamily="34" charset="0"/>
                      </a:rPr>
                      <a:t>scriptSig</a:t>
                    </a:r>
                    <a:r>
                      <a:rPr lang="en-US" sz="1600" dirty="0">
                        <a:solidFill>
                          <a:schemeClr val="bg1"/>
                        </a:solidFill>
                        <a:latin typeface="Candara" panose="020E0502030303020204" pitchFamily="34" charset="0"/>
                      </a:rPr>
                      <a:t>=empty</a:t>
                    </a:r>
                  </a:p>
                  <a:p>
                    <a:pPr algn="ctr"/>
                    <a:r>
                      <a:rPr lang="en-US" sz="1600" b="1" i="1" dirty="0" err="1">
                        <a:solidFill>
                          <a:schemeClr val="bg1"/>
                        </a:solidFill>
                        <a:latin typeface="Candara" panose="020E0502030303020204" pitchFamily="34" charset="0"/>
                      </a:rPr>
                      <a:t>nSequence</a:t>
                    </a:r>
                    <a:r>
                      <a:rPr lang="en-US" sz="1600" b="1" i="1" dirty="0">
                        <a:solidFill>
                          <a:schemeClr val="bg1"/>
                        </a:solidFill>
                        <a:latin typeface="Candara" panose="020E0502030303020204" pitchFamily="34" charset="0"/>
                      </a:rPr>
                      <a:t> &gt;= L</a:t>
                    </a:r>
                  </a:p>
                </p:txBody>
              </p:sp>
            </p:grpSp>
            <p:sp>
              <p:nvSpPr>
                <p:cNvPr id="72" name="Rectangle 71">
                  <a:extLst>
                    <a:ext uri="{FF2B5EF4-FFF2-40B4-BE49-F238E27FC236}">
                      <a16:creationId xmlns:a16="http://schemas.microsoft.com/office/drawing/2014/main" id="{5BBF8CA6-9FC8-8750-A9E4-A4E6A1F5AE75}"/>
                    </a:ext>
                  </a:extLst>
                </p:cNvPr>
                <p:cNvSpPr/>
                <p:nvPr/>
              </p:nvSpPr>
              <p:spPr>
                <a:xfrm>
                  <a:off x="895162" y="2638523"/>
                  <a:ext cx="4764100" cy="64553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andara" panose="020E0502030303020204" pitchFamily="34" charset="0"/>
                    </a:rPr>
                    <a:t>Transaction-Level Fields </a:t>
                  </a:r>
                </a:p>
                <a:p>
                  <a:pPr algn="ctr"/>
                  <a:r>
                    <a:rPr lang="en-US" sz="1600" dirty="0">
                      <a:solidFill>
                        <a:schemeClr val="bg1"/>
                      </a:solidFill>
                      <a:latin typeface="Candara" panose="020E0502030303020204" pitchFamily="34" charset="0"/>
                    </a:rPr>
                    <a:t>(Version, </a:t>
                  </a:r>
                  <a:r>
                    <a:rPr lang="en-US" sz="1600" dirty="0" err="1">
                      <a:solidFill>
                        <a:schemeClr val="bg1"/>
                      </a:solidFill>
                      <a:latin typeface="Candara" panose="020E0502030303020204" pitchFamily="34" charset="0"/>
                    </a:rPr>
                    <a:t>nLockTime</a:t>
                  </a:r>
                  <a:r>
                    <a:rPr lang="en-US" sz="1600" dirty="0">
                      <a:solidFill>
                        <a:schemeClr val="bg1"/>
                      </a:solidFill>
                      <a:latin typeface="Candara" panose="020E0502030303020204" pitchFamily="34" charset="0"/>
                    </a:rPr>
                    <a:t>, Flags)</a:t>
                  </a:r>
                </a:p>
              </p:txBody>
            </p:sp>
          </p:grpSp>
          <p:sp>
            <p:nvSpPr>
              <p:cNvPr id="70" name="Rectangle 69">
                <a:extLst>
                  <a:ext uri="{FF2B5EF4-FFF2-40B4-BE49-F238E27FC236}">
                    <a16:creationId xmlns:a16="http://schemas.microsoft.com/office/drawing/2014/main" id="{3A7EF987-75D6-7CD0-8E32-F5DC24BD55F1}"/>
                  </a:ext>
                </a:extLst>
              </p:cNvPr>
              <p:cNvSpPr/>
              <p:nvPr/>
            </p:nvSpPr>
            <p:spPr>
              <a:xfrm>
                <a:off x="6826732" y="4608862"/>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HTLC1234AR</a:t>
                </a:r>
              </a:p>
            </p:txBody>
          </p:sp>
        </p:grpSp>
        <p:sp>
          <p:nvSpPr>
            <p:cNvPr id="68" name="TextBox 67">
              <a:extLst>
                <a:ext uri="{FF2B5EF4-FFF2-40B4-BE49-F238E27FC236}">
                  <a16:creationId xmlns:a16="http://schemas.microsoft.com/office/drawing/2014/main" id="{0203522F-5DC2-4CF5-06C7-A09E30DDB946}"/>
                </a:ext>
              </a:extLst>
            </p:cNvPr>
            <p:cNvSpPr txBox="1"/>
            <p:nvPr/>
          </p:nvSpPr>
          <p:spPr>
            <a:xfrm>
              <a:off x="7518617" y="2631916"/>
              <a:ext cx="3081867" cy="446891"/>
            </a:xfrm>
            <a:prstGeom prst="rect">
              <a:avLst/>
            </a:prstGeom>
            <a:noFill/>
          </p:spPr>
          <p:txBody>
            <a:bodyPr wrap="none" rtlCol="0">
              <a:spAutoFit/>
            </a:bodyPr>
            <a:lstStyle/>
            <a:p>
              <a:r>
                <a:rPr lang="en-US" dirty="0">
                  <a:latin typeface="Candara" panose="020E0502030303020204" pitchFamily="34" charset="0"/>
                </a:rPr>
                <a:t>Child Transaction (Alice)</a:t>
              </a:r>
            </a:p>
          </p:txBody>
        </p:sp>
      </p:grpSp>
      <p:sp>
        <p:nvSpPr>
          <p:cNvPr id="79" name="TextBox 78">
            <a:extLst>
              <a:ext uri="{FF2B5EF4-FFF2-40B4-BE49-F238E27FC236}">
                <a16:creationId xmlns:a16="http://schemas.microsoft.com/office/drawing/2014/main" id="{CBBE7770-9AE8-22BC-4AD7-E1796159B715}"/>
              </a:ext>
            </a:extLst>
          </p:cNvPr>
          <p:cNvSpPr txBox="1"/>
          <p:nvPr/>
        </p:nvSpPr>
        <p:spPr>
          <a:xfrm>
            <a:off x="1001144" y="1173766"/>
            <a:ext cx="6298519" cy="646331"/>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Candara" panose="020E0502030303020204" pitchFamily="34" charset="0"/>
              </a:rPr>
              <a:t>Alice can reclaim her funds after the expiry of the time lock</a:t>
            </a:r>
          </a:p>
          <a:p>
            <a:pPr marL="285750" indent="-285750">
              <a:buFont typeface="Arial" panose="020B0604020202020204" pitchFamily="34" charset="0"/>
              <a:buChar char="•"/>
            </a:pPr>
            <a:r>
              <a:rPr lang="en-US" dirty="0">
                <a:latin typeface="Candara" panose="020E0502030303020204" pitchFamily="34" charset="0"/>
              </a:rPr>
              <a:t>As soon as Alice claims her funds, the parent output is spent</a:t>
            </a:r>
          </a:p>
        </p:txBody>
      </p:sp>
      <p:sp>
        <p:nvSpPr>
          <p:cNvPr id="80" name="TextBox 79">
            <a:extLst>
              <a:ext uri="{FF2B5EF4-FFF2-40B4-BE49-F238E27FC236}">
                <a16:creationId xmlns:a16="http://schemas.microsoft.com/office/drawing/2014/main" id="{2D3936A9-8FB1-6D9E-DB7E-F0F90B18BA2E}"/>
              </a:ext>
            </a:extLst>
          </p:cNvPr>
          <p:cNvSpPr txBox="1"/>
          <p:nvPr/>
        </p:nvSpPr>
        <p:spPr>
          <a:xfrm>
            <a:off x="10295653" y="1877754"/>
            <a:ext cx="1247543" cy="954107"/>
          </a:xfrm>
          <a:prstGeom prst="rect">
            <a:avLst/>
          </a:prstGeom>
          <a:noFill/>
        </p:spPr>
        <p:txBody>
          <a:bodyPr wrap="square" rtlCol="0">
            <a:spAutoFit/>
          </a:bodyPr>
          <a:lstStyle/>
          <a:p>
            <a:pPr algn="ctr"/>
            <a:r>
              <a:rPr lang="en-US" sz="1400" dirty="0">
                <a:solidFill>
                  <a:schemeClr val="bg1"/>
                </a:solidFill>
                <a:latin typeface="Candara" panose="020E0502030303020204" pitchFamily="34" charset="0"/>
              </a:rPr>
              <a:t>Value </a:t>
            </a:r>
          </a:p>
          <a:p>
            <a:pPr algn="ctr"/>
            <a:r>
              <a:rPr lang="en-US" sz="1400" dirty="0">
                <a:solidFill>
                  <a:schemeClr val="bg1"/>
                </a:solidFill>
                <a:latin typeface="Candara" panose="020E0502030303020204" pitchFamily="34" charset="0"/>
              </a:rPr>
              <a:t>OP_0 </a:t>
            </a:r>
          </a:p>
          <a:p>
            <a:pPr algn="ctr"/>
            <a:r>
              <a:rPr lang="en-US" sz="1400" dirty="0">
                <a:solidFill>
                  <a:schemeClr val="bg1"/>
                </a:solidFill>
                <a:latin typeface="Candara" panose="020E0502030303020204" pitchFamily="34" charset="0"/>
              </a:rPr>
              <a:t>&lt;</a:t>
            </a:r>
            <a:r>
              <a:rPr lang="en-US" sz="1200" dirty="0" err="1">
                <a:solidFill>
                  <a:schemeClr val="bg1"/>
                </a:solidFill>
                <a:latin typeface="Candara" panose="020E0502030303020204" pitchFamily="34" charset="0"/>
              </a:rPr>
              <a:t>wpkh_Charlie</a:t>
            </a:r>
            <a:r>
              <a:rPr lang="en-US" sz="1400" dirty="0">
                <a:solidFill>
                  <a:schemeClr val="bg1"/>
                </a:solidFill>
                <a:latin typeface="Candara" panose="020E0502030303020204" pitchFamily="34" charset="0"/>
              </a:rPr>
              <a:t>&gt;</a:t>
            </a:r>
          </a:p>
          <a:p>
            <a:pPr algn="ctr"/>
            <a:endParaRPr lang="en-US" sz="1400" dirty="0">
              <a:latin typeface="Candara" panose="020E0502030303020204" pitchFamily="34" charset="0"/>
            </a:endParaRPr>
          </a:p>
        </p:txBody>
      </p:sp>
      <p:sp>
        <p:nvSpPr>
          <p:cNvPr id="81" name="TextBox 80">
            <a:extLst>
              <a:ext uri="{FF2B5EF4-FFF2-40B4-BE49-F238E27FC236}">
                <a16:creationId xmlns:a16="http://schemas.microsoft.com/office/drawing/2014/main" id="{D79D8815-59AF-CA75-58C5-A95DD8B27584}"/>
              </a:ext>
            </a:extLst>
          </p:cNvPr>
          <p:cNvSpPr txBox="1"/>
          <p:nvPr/>
        </p:nvSpPr>
        <p:spPr>
          <a:xfrm>
            <a:off x="10248210" y="4641834"/>
            <a:ext cx="1247543" cy="954107"/>
          </a:xfrm>
          <a:prstGeom prst="rect">
            <a:avLst/>
          </a:prstGeom>
          <a:noFill/>
        </p:spPr>
        <p:txBody>
          <a:bodyPr wrap="square" rtlCol="0">
            <a:spAutoFit/>
          </a:bodyPr>
          <a:lstStyle/>
          <a:p>
            <a:pPr algn="ctr"/>
            <a:r>
              <a:rPr lang="en-US" sz="1400" dirty="0">
                <a:solidFill>
                  <a:schemeClr val="bg1"/>
                </a:solidFill>
                <a:latin typeface="Candara" panose="020E0502030303020204" pitchFamily="34" charset="0"/>
              </a:rPr>
              <a:t>Value </a:t>
            </a:r>
          </a:p>
          <a:p>
            <a:pPr algn="ctr"/>
            <a:r>
              <a:rPr lang="en-US" sz="1400" dirty="0">
                <a:solidFill>
                  <a:schemeClr val="bg1"/>
                </a:solidFill>
                <a:latin typeface="Candara" panose="020E0502030303020204" pitchFamily="34" charset="0"/>
              </a:rPr>
              <a:t>OP_0 </a:t>
            </a:r>
          </a:p>
          <a:p>
            <a:pPr algn="ctr"/>
            <a:r>
              <a:rPr lang="en-US" sz="1400" dirty="0">
                <a:solidFill>
                  <a:schemeClr val="bg1"/>
                </a:solidFill>
                <a:latin typeface="Candara" panose="020E0502030303020204" pitchFamily="34" charset="0"/>
              </a:rPr>
              <a:t>&lt;</a:t>
            </a:r>
            <a:r>
              <a:rPr lang="en-US" sz="1400" dirty="0" err="1">
                <a:solidFill>
                  <a:schemeClr val="bg1"/>
                </a:solidFill>
                <a:latin typeface="Candara" panose="020E0502030303020204" pitchFamily="34" charset="0"/>
              </a:rPr>
              <a:t>wpkh_Alice</a:t>
            </a:r>
            <a:r>
              <a:rPr lang="en-US" sz="1400" dirty="0">
                <a:solidFill>
                  <a:schemeClr val="bg1"/>
                </a:solidFill>
                <a:latin typeface="Candara" panose="020E0502030303020204" pitchFamily="34" charset="0"/>
              </a:rPr>
              <a:t>&gt;</a:t>
            </a:r>
          </a:p>
          <a:p>
            <a:pPr algn="ctr"/>
            <a:endParaRPr lang="en-US" sz="1400" dirty="0">
              <a:latin typeface="Candara" panose="020E0502030303020204" pitchFamily="34" charset="0"/>
            </a:endParaRPr>
          </a:p>
        </p:txBody>
      </p:sp>
      <p:sp>
        <p:nvSpPr>
          <p:cNvPr id="5" name="TextBox 4">
            <a:extLst>
              <a:ext uri="{FF2B5EF4-FFF2-40B4-BE49-F238E27FC236}">
                <a16:creationId xmlns:a16="http://schemas.microsoft.com/office/drawing/2014/main" id="{F51F46F7-2C1D-571B-10CD-7D7C0D07D85A}"/>
              </a:ext>
            </a:extLst>
          </p:cNvPr>
          <p:cNvSpPr txBox="1"/>
          <p:nvPr/>
        </p:nvSpPr>
        <p:spPr>
          <a:xfrm>
            <a:off x="517447" y="5564688"/>
            <a:ext cx="6593960"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ndara" panose="020E0502030303020204" pitchFamily="34" charset="0"/>
              </a:rPr>
              <a:t>All these transactions remain off-chain in the payment channels</a:t>
            </a:r>
          </a:p>
          <a:p>
            <a:pPr marL="285750" indent="-285750">
              <a:buFont typeface="Arial" panose="020B0604020202020204" pitchFamily="34" charset="0"/>
              <a:buChar char="•"/>
            </a:pPr>
            <a:r>
              <a:rPr lang="en-US" dirty="0">
                <a:latin typeface="Candara" panose="020E0502030303020204" pitchFamily="34" charset="0"/>
              </a:rPr>
              <a:t>However, either party can broadcast them to the bitcoin blockchain to settle and close their channels</a:t>
            </a:r>
          </a:p>
        </p:txBody>
      </p:sp>
    </p:spTree>
    <p:extLst>
      <p:ext uri="{BB962C8B-B14F-4D97-AF65-F5344CB8AC3E}">
        <p14:creationId xmlns:p14="http://schemas.microsoft.com/office/powerpoint/2010/main" val="375480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3" grpId="0" animBg="1"/>
      <p:bldP spid="65" grpId="0" animBg="1"/>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7C820-0336-DEEF-95EB-0E15F5D80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D124B-09AE-E0FC-5BD7-307078297090}"/>
              </a:ext>
            </a:extLst>
          </p:cNvPr>
          <p:cNvSpPr>
            <a:spLocks noGrp="1"/>
          </p:cNvSpPr>
          <p:nvPr>
            <p:ph type="title"/>
          </p:nvPr>
        </p:nvSpPr>
        <p:spPr/>
        <p:txBody>
          <a:bodyPr/>
          <a:lstStyle/>
          <a:p>
            <a:r>
              <a:rPr lang="en-US" dirty="0"/>
              <a:t>Scalability Issues in Payment Channels</a:t>
            </a:r>
          </a:p>
        </p:txBody>
      </p:sp>
      <p:sp>
        <p:nvSpPr>
          <p:cNvPr id="4" name="Slide Number Placeholder 3">
            <a:extLst>
              <a:ext uri="{FF2B5EF4-FFF2-40B4-BE49-F238E27FC236}">
                <a16:creationId xmlns:a16="http://schemas.microsoft.com/office/drawing/2014/main" id="{8DAACE62-FD65-AD63-5071-04A76941BE55}"/>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73</a:t>
            </a:fld>
            <a:endParaRPr lang="en-US" dirty="0">
              <a:latin typeface="Candara" panose="020E0502030303020204" pitchFamily="34" charset="0"/>
            </a:endParaRPr>
          </a:p>
        </p:txBody>
      </p:sp>
      <p:pic>
        <p:nvPicPr>
          <p:cNvPr id="15" name="Picture 14">
            <a:extLst>
              <a:ext uri="{FF2B5EF4-FFF2-40B4-BE49-F238E27FC236}">
                <a16:creationId xmlns:a16="http://schemas.microsoft.com/office/drawing/2014/main" id="{01FACDD2-08E0-11FA-A629-67EB34BBC4B0}"/>
              </a:ext>
            </a:extLst>
          </p:cNvPr>
          <p:cNvPicPr>
            <a:picLocks noChangeAspect="1"/>
          </p:cNvPicPr>
          <p:nvPr/>
        </p:nvPicPr>
        <p:blipFill>
          <a:blip r:embed="rId2"/>
          <a:stretch>
            <a:fillRect/>
          </a:stretch>
        </p:blipFill>
        <p:spPr>
          <a:xfrm>
            <a:off x="392332" y="1233531"/>
            <a:ext cx="5195363" cy="4704888"/>
          </a:xfrm>
          <a:prstGeom prst="rect">
            <a:avLst/>
          </a:prstGeom>
        </p:spPr>
      </p:pic>
      <p:sp>
        <p:nvSpPr>
          <p:cNvPr id="8" name="TextBox 7">
            <a:extLst>
              <a:ext uri="{FF2B5EF4-FFF2-40B4-BE49-F238E27FC236}">
                <a16:creationId xmlns:a16="http://schemas.microsoft.com/office/drawing/2014/main" id="{3CB16460-19A5-B0B3-7A73-14DA84DE3F49}"/>
              </a:ext>
            </a:extLst>
          </p:cNvPr>
          <p:cNvSpPr txBox="1"/>
          <p:nvPr/>
        </p:nvSpPr>
        <p:spPr>
          <a:xfrm>
            <a:off x="4824662" y="1303372"/>
            <a:ext cx="6975006" cy="400110"/>
          </a:xfrm>
          <a:prstGeom prst="rect">
            <a:avLst/>
          </a:prstGeom>
          <a:solidFill>
            <a:srgbClr val="7030A0"/>
          </a:solidFill>
        </p:spPr>
        <p:txBody>
          <a:bodyPr wrap="square" rtlCol="0">
            <a:spAutoFit/>
          </a:bodyPr>
          <a:lstStyle/>
          <a:p>
            <a:pPr algn="ctr"/>
            <a:r>
              <a:rPr lang="en-US" sz="2000" dirty="0">
                <a:solidFill>
                  <a:schemeClr val="bg1"/>
                </a:solidFill>
                <a:latin typeface="Candara" panose="020E0502030303020204" pitchFamily="34" charset="0"/>
              </a:rPr>
              <a:t>Direct payment channel between all the peers is not scalable</a:t>
            </a:r>
          </a:p>
        </p:txBody>
      </p:sp>
      <p:sp>
        <p:nvSpPr>
          <p:cNvPr id="9" name="TextBox 8">
            <a:extLst>
              <a:ext uri="{FF2B5EF4-FFF2-40B4-BE49-F238E27FC236}">
                <a16:creationId xmlns:a16="http://schemas.microsoft.com/office/drawing/2014/main" id="{BB0BEA7F-8D52-6FCE-0C41-48F12EECBF22}"/>
              </a:ext>
            </a:extLst>
          </p:cNvPr>
          <p:cNvSpPr txBox="1"/>
          <p:nvPr/>
        </p:nvSpPr>
        <p:spPr>
          <a:xfrm>
            <a:off x="5887472" y="3199306"/>
            <a:ext cx="5912196" cy="1015663"/>
          </a:xfrm>
          <a:prstGeom prst="rect">
            <a:avLst/>
          </a:prstGeom>
          <a:noFill/>
        </p:spPr>
        <p:txBody>
          <a:bodyPr wrap="none" rtlCol="0">
            <a:spAutoFit/>
          </a:bodyPr>
          <a:lstStyle/>
          <a:p>
            <a:pPr marL="285750" indent="-285750">
              <a:buFont typeface="Arial" panose="020B0604020202020204" pitchFamily="34" charset="0"/>
              <a:buChar char="•"/>
            </a:pPr>
            <a:r>
              <a:rPr lang="en-US" sz="2000" dirty="0">
                <a:latin typeface="Candara" panose="020E0502030303020204" pitchFamily="34" charset="0"/>
              </a:rPr>
              <a:t>On-chain funding transaction with everyone</a:t>
            </a:r>
          </a:p>
          <a:p>
            <a:pPr marL="285750" indent="-285750">
              <a:buFont typeface="Arial" panose="020B0604020202020204" pitchFamily="34" charset="0"/>
              <a:buChar char="•"/>
            </a:pPr>
            <a:r>
              <a:rPr lang="en-US" sz="2000" dirty="0">
                <a:latin typeface="Candara" panose="020E0502030303020204" pitchFamily="34" charset="0"/>
              </a:rPr>
              <a:t>Channel management &amp; monitoring overheads</a:t>
            </a:r>
          </a:p>
          <a:p>
            <a:pPr marL="285750" indent="-285750">
              <a:buFont typeface="Arial" panose="020B0604020202020204" pitchFamily="34" charset="0"/>
              <a:buChar char="•"/>
            </a:pPr>
            <a:r>
              <a:rPr lang="en-US" sz="2000" dirty="0">
                <a:latin typeface="Candara" panose="020E0502030303020204" pitchFamily="34" charset="0"/>
              </a:rPr>
              <a:t>Locked funds in every channel (liquidity problems)</a:t>
            </a:r>
          </a:p>
        </p:txBody>
      </p:sp>
      <p:sp>
        <p:nvSpPr>
          <p:cNvPr id="3" name="TextBox 2">
            <a:extLst>
              <a:ext uri="{FF2B5EF4-FFF2-40B4-BE49-F238E27FC236}">
                <a16:creationId xmlns:a16="http://schemas.microsoft.com/office/drawing/2014/main" id="{FFBB1397-57E5-E1C7-F80C-7F20C251FA4F}"/>
              </a:ext>
            </a:extLst>
          </p:cNvPr>
          <p:cNvSpPr txBox="1"/>
          <p:nvPr/>
        </p:nvSpPr>
        <p:spPr>
          <a:xfrm>
            <a:off x="4449834" y="5447694"/>
            <a:ext cx="7349834" cy="707886"/>
          </a:xfrm>
          <a:prstGeom prst="rect">
            <a:avLst/>
          </a:prstGeom>
          <a:solidFill>
            <a:schemeClr val="accent6">
              <a:lumMod val="50000"/>
            </a:schemeClr>
          </a:solidFill>
        </p:spPr>
        <p:txBody>
          <a:bodyPr wrap="square" rtlCol="0">
            <a:spAutoFit/>
          </a:bodyPr>
          <a:lstStyle/>
          <a:p>
            <a:pPr algn="ctr"/>
            <a:r>
              <a:rPr lang="en-US" sz="2000" dirty="0">
                <a:solidFill>
                  <a:schemeClr val="bg1"/>
                </a:solidFill>
                <a:latin typeface="Candara" panose="020E0502030303020204" pitchFamily="34" charset="0"/>
              </a:rPr>
              <a:t>HTLC solves the scalability problem because it ensures secure payment routing</a:t>
            </a:r>
          </a:p>
        </p:txBody>
      </p:sp>
    </p:spTree>
    <p:extLst>
      <p:ext uri="{BB962C8B-B14F-4D97-AF65-F5344CB8AC3E}">
        <p14:creationId xmlns:p14="http://schemas.microsoft.com/office/powerpoint/2010/main" val="32976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EF19-34C2-2CC9-0520-D44B1230B454}"/>
              </a:ext>
            </a:extLst>
          </p:cNvPr>
          <p:cNvSpPr>
            <a:spLocks noGrp="1"/>
          </p:cNvSpPr>
          <p:nvPr>
            <p:ph type="title"/>
          </p:nvPr>
        </p:nvSpPr>
        <p:spPr/>
        <p:txBody>
          <a:bodyPr/>
          <a:lstStyle/>
          <a:p>
            <a:r>
              <a:rPr lang="en-US" dirty="0"/>
              <a:t>Micropayments with Routing</a:t>
            </a:r>
          </a:p>
        </p:txBody>
      </p:sp>
      <p:sp>
        <p:nvSpPr>
          <p:cNvPr id="4" name="Slide Number Placeholder 3">
            <a:extLst>
              <a:ext uri="{FF2B5EF4-FFF2-40B4-BE49-F238E27FC236}">
                <a16:creationId xmlns:a16="http://schemas.microsoft.com/office/drawing/2014/main" id="{993C3250-D4F0-8A9E-18B5-3471D61307E7}"/>
              </a:ext>
            </a:extLst>
          </p:cNvPr>
          <p:cNvSpPr>
            <a:spLocks noGrp="1"/>
          </p:cNvSpPr>
          <p:nvPr>
            <p:ph type="sldNum" sz="quarter" idx="12"/>
          </p:nvPr>
        </p:nvSpPr>
        <p:spPr/>
        <p:txBody>
          <a:bodyPr/>
          <a:lstStyle/>
          <a:p>
            <a:fld id="{D57F1E4F-1CFF-5643-939E-217C01CDF565}" type="slidenum">
              <a:rPr lang="en-US" smtClean="0"/>
              <a:pPr/>
              <a:t>74</a:t>
            </a:fld>
            <a:endParaRPr lang="en-US" dirty="0"/>
          </a:p>
        </p:txBody>
      </p:sp>
      <p:sp>
        <p:nvSpPr>
          <p:cNvPr id="8" name="TextBox 7">
            <a:extLst>
              <a:ext uri="{FF2B5EF4-FFF2-40B4-BE49-F238E27FC236}">
                <a16:creationId xmlns:a16="http://schemas.microsoft.com/office/drawing/2014/main" id="{5CF7DC8D-AA0C-6641-90BA-1A60BCC3B4AC}"/>
              </a:ext>
            </a:extLst>
          </p:cNvPr>
          <p:cNvSpPr txBox="1"/>
          <p:nvPr/>
        </p:nvSpPr>
        <p:spPr>
          <a:xfrm>
            <a:off x="580964" y="1087120"/>
            <a:ext cx="7059089" cy="532453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Bob (cafe owner) creates and displays a QR code that contains the required payment and the routing information including the hash of the secret to facilitate routing </a:t>
            </a:r>
          </a:p>
          <a:p>
            <a:pPr marL="285750" indent="-285750">
              <a:buFont typeface="Arial" panose="020B0604020202020204" pitchFamily="34" charset="0"/>
              <a:buChar char="•"/>
            </a:pPr>
            <a:r>
              <a:rPr lang="en-US" sz="2000" dirty="0">
                <a:latin typeface="Candara" panose="020E0502030303020204" pitchFamily="34" charset="0"/>
              </a:rPr>
              <a:t>Alice scans the QR code, creates an HTLC in her payment channel with Charlie (assuming the payment is routed through Charlie)</a:t>
            </a:r>
          </a:p>
          <a:p>
            <a:pPr marL="285750" indent="-285750">
              <a:buFont typeface="Arial" panose="020B0604020202020204" pitchFamily="34" charset="0"/>
              <a:buChar char="•"/>
            </a:pPr>
            <a:r>
              <a:rPr lang="en-US" sz="2000" dirty="0">
                <a:latin typeface="Candara" panose="020E0502030303020204" pitchFamily="34" charset="0"/>
              </a:rPr>
              <a:t>In the background, Charlie creates another HTLC in his payment channel with Bob</a:t>
            </a:r>
          </a:p>
          <a:p>
            <a:pPr marL="285750" indent="-285750">
              <a:buFont typeface="Arial" panose="020B0604020202020204" pitchFamily="34" charset="0"/>
              <a:buChar char="•"/>
            </a:pPr>
            <a:r>
              <a:rPr lang="en-US" sz="2000" dirty="0">
                <a:latin typeface="Candara" panose="020E0502030303020204" pitchFamily="34" charset="0"/>
              </a:rPr>
              <a:t>Bob receives the payment from Charlie, and consolidates his balance in his commitment transactions with Charlie </a:t>
            </a:r>
          </a:p>
          <a:p>
            <a:pPr marL="285750" indent="-285750">
              <a:buFont typeface="Arial" panose="020B0604020202020204" pitchFamily="34" charset="0"/>
              <a:buChar char="•"/>
            </a:pPr>
            <a:r>
              <a:rPr lang="en-US" sz="2000" dirty="0">
                <a:latin typeface="Candara" panose="020E0502030303020204" pitchFamily="34" charset="0"/>
              </a:rPr>
              <a:t>Charlie receives the payment from Alice, and consolidates his balance in his commitment transactions with Alice</a:t>
            </a:r>
          </a:p>
          <a:p>
            <a:pPr marL="285750" indent="-285750">
              <a:buFont typeface="Arial" panose="020B0604020202020204" pitchFamily="34" charset="0"/>
              <a:buChar char="•"/>
            </a:pPr>
            <a:r>
              <a:rPr lang="en-US" sz="2000" dirty="0">
                <a:latin typeface="Candara" panose="020E0502030303020204" pitchFamily="34" charset="0"/>
              </a:rPr>
              <a:t>Payment received message is displayed in Bob’s wallet, payment debited in Alice’s wallet</a:t>
            </a:r>
          </a:p>
          <a:p>
            <a:pPr marL="285750" indent="-285750">
              <a:buFont typeface="Arial" panose="020B0604020202020204" pitchFamily="34" charset="0"/>
              <a:buChar char="•"/>
            </a:pPr>
            <a:r>
              <a:rPr lang="en-US" sz="2000" dirty="0">
                <a:latin typeface="Candara" panose="020E0502030303020204" pitchFamily="34" charset="0"/>
              </a:rPr>
              <a:t>Bob gives coffee to Alice</a:t>
            </a:r>
          </a:p>
          <a:p>
            <a:pPr marL="285750" indent="-285750">
              <a:buFont typeface="Arial" panose="020B0604020202020204" pitchFamily="34" charset="0"/>
              <a:buChar char="•"/>
            </a:pPr>
            <a:r>
              <a:rPr lang="en-US" sz="2000" dirty="0">
                <a:latin typeface="Candara" panose="020E0502030303020204" pitchFamily="34" charset="0"/>
              </a:rPr>
              <a:t>Routing nodes charge very small fees (1 to 2 sats as base fee and some component proportional to </a:t>
            </a:r>
            <a:r>
              <a:rPr lang="en-US" sz="2000" dirty="0" err="1">
                <a:latin typeface="Candara" panose="020E0502030303020204" pitchFamily="34" charset="0"/>
              </a:rPr>
              <a:t>txn</a:t>
            </a:r>
            <a:r>
              <a:rPr lang="en-US" sz="2000" dirty="0">
                <a:latin typeface="Candara" panose="020E0502030303020204" pitchFamily="34" charset="0"/>
              </a:rPr>
              <a:t> value)</a:t>
            </a:r>
          </a:p>
        </p:txBody>
      </p:sp>
      <p:pic>
        <p:nvPicPr>
          <p:cNvPr id="12" name="Picture 11">
            <a:extLst>
              <a:ext uri="{FF2B5EF4-FFF2-40B4-BE49-F238E27FC236}">
                <a16:creationId xmlns:a16="http://schemas.microsoft.com/office/drawing/2014/main" id="{E66AEAC0-A219-E396-EFD4-57FC81A8FAB5}"/>
              </a:ext>
            </a:extLst>
          </p:cNvPr>
          <p:cNvPicPr>
            <a:picLocks noChangeAspect="1"/>
          </p:cNvPicPr>
          <p:nvPr/>
        </p:nvPicPr>
        <p:blipFill>
          <a:blip r:embed="rId2"/>
          <a:stretch>
            <a:fillRect/>
          </a:stretch>
        </p:blipFill>
        <p:spPr>
          <a:xfrm>
            <a:off x="7640052" y="2827421"/>
            <a:ext cx="4360837" cy="1546459"/>
          </a:xfrm>
          <a:prstGeom prst="rect">
            <a:avLst/>
          </a:prstGeom>
        </p:spPr>
      </p:pic>
    </p:spTree>
    <p:extLst>
      <p:ext uri="{BB962C8B-B14F-4D97-AF65-F5344CB8AC3E}">
        <p14:creationId xmlns:p14="http://schemas.microsoft.com/office/powerpoint/2010/main" val="169761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08CD-198A-9D36-0B3B-64237A899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75760-8DCF-EE34-851B-C28C8382E245}"/>
              </a:ext>
            </a:extLst>
          </p:cNvPr>
          <p:cNvSpPr>
            <a:spLocks noGrp="1"/>
          </p:cNvSpPr>
          <p:nvPr>
            <p:ph type="title"/>
          </p:nvPr>
        </p:nvSpPr>
        <p:spPr/>
        <p:txBody>
          <a:bodyPr/>
          <a:lstStyle/>
          <a:p>
            <a:r>
              <a:rPr lang="en-US" dirty="0"/>
              <a:t>Commitment Transaction with HTLC Output</a:t>
            </a:r>
          </a:p>
        </p:txBody>
      </p:sp>
      <p:sp>
        <p:nvSpPr>
          <p:cNvPr id="4" name="Slide Number Placeholder 3">
            <a:extLst>
              <a:ext uri="{FF2B5EF4-FFF2-40B4-BE49-F238E27FC236}">
                <a16:creationId xmlns:a16="http://schemas.microsoft.com/office/drawing/2014/main" id="{6373EA28-C415-90EF-EEB6-FE366DB87D9A}"/>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75</a:t>
            </a:fld>
            <a:endParaRPr lang="en-US" dirty="0">
              <a:latin typeface="Candara" panose="020E0502030303020204" pitchFamily="34" charset="0"/>
            </a:endParaRPr>
          </a:p>
        </p:txBody>
      </p:sp>
      <p:sp>
        <p:nvSpPr>
          <p:cNvPr id="5" name="Rectangle 4">
            <a:extLst>
              <a:ext uri="{FF2B5EF4-FFF2-40B4-BE49-F238E27FC236}">
                <a16:creationId xmlns:a16="http://schemas.microsoft.com/office/drawing/2014/main" id="{F6A4695D-2795-7664-977A-00ED583A1379}"/>
              </a:ext>
            </a:extLst>
          </p:cNvPr>
          <p:cNvSpPr/>
          <p:nvPr/>
        </p:nvSpPr>
        <p:spPr>
          <a:xfrm>
            <a:off x="385001" y="5627633"/>
            <a:ext cx="5039934" cy="722689"/>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Witness Field</a:t>
            </a:r>
          </a:p>
          <a:p>
            <a:pPr algn="ctr"/>
            <a:r>
              <a:rPr lang="en-US" sz="1600" dirty="0">
                <a:solidFill>
                  <a:schemeClr val="tx1"/>
                </a:solidFill>
                <a:latin typeface="Candara" panose="020E0502030303020204" pitchFamily="34" charset="0"/>
              </a:rPr>
              <a:t>&lt;Placeholder for Alice Sig&gt; &lt;</a:t>
            </a:r>
            <a:r>
              <a:rPr lang="en-US" sz="1600" dirty="0" err="1">
                <a:solidFill>
                  <a:schemeClr val="tx1"/>
                </a:solidFill>
                <a:latin typeface="Candara" panose="020E0502030303020204" pitchFamily="34" charset="0"/>
              </a:rPr>
              <a:t>SigCharlie</a:t>
            </a:r>
            <a:r>
              <a:rPr lang="en-US" sz="1600" dirty="0">
                <a:solidFill>
                  <a:schemeClr val="tx1"/>
                </a:solidFill>
                <a:latin typeface="Candara" panose="020E0502030303020204" pitchFamily="34" charset="0"/>
              </a:rPr>
              <a:t>&gt;&lt;2-of-2 </a:t>
            </a:r>
            <a:r>
              <a:rPr lang="en-US" sz="1600" dirty="0" err="1">
                <a:solidFill>
                  <a:schemeClr val="tx1"/>
                </a:solidFill>
                <a:latin typeface="Candara" panose="020E0502030303020204" pitchFamily="34" charset="0"/>
              </a:rPr>
              <a:t>redeemScript</a:t>
            </a:r>
            <a:r>
              <a:rPr lang="en-US" sz="1600" dirty="0">
                <a:solidFill>
                  <a:schemeClr val="tx1"/>
                </a:solidFill>
                <a:latin typeface="Candara" panose="020E0502030303020204" pitchFamily="34" charset="0"/>
              </a:rPr>
              <a:t>&gt;</a:t>
            </a:r>
          </a:p>
        </p:txBody>
      </p:sp>
      <p:grpSp>
        <p:nvGrpSpPr>
          <p:cNvPr id="16" name="Group 15">
            <a:extLst>
              <a:ext uri="{FF2B5EF4-FFF2-40B4-BE49-F238E27FC236}">
                <a16:creationId xmlns:a16="http://schemas.microsoft.com/office/drawing/2014/main" id="{C9A888DA-F551-450E-B2B0-1E2BA90BCE51}"/>
              </a:ext>
            </a:extLst>
          </p:cNvPr>
          <p:cNvGrpSpPr/>
          <p:nvPr/>
        </p:nvGrpSpPr>
        <p:grpSpPr>
          <a:xfrm>
            <a:off x="385001" y="1130960"/>
            <a:ext cx="5039934" cy="4418288"/>
            <a:chOff x="1283119" y="2790924"/>
            <a:chExt cx="4143527" cy="2465072"/>
          </a:xfrm>
        </p:grpSpPr>
        <p:grpSp>
          <p:nvGrpSpPr>
            <p:cNvPr id="18" name="Group 17">
              <a:extLst>
                <a:ext uri="{FF2B5EF4-FFF2-40B4-BE49-F238E27FC236}">
                  <a16:creationId xmlns:a16="http://schemas.microsoft.com/office/drawing/2014/main" id="{735693EE-BD5B-65C6-5EFE-3B50443785B9}"/>
                </a:ext>
              </a:extLst>
            </p:cNvPr>
            <p:cNvGrpSpPr/>
            <p:nvPr/>
          </p:nvGrpSpPr>
          <p:grpSpPr>
            <a:xfrm>
              <a:off x="1283120" y="2790924"/>
              <a:ext cx="4143526" cy="2181934"/>
              <a:chOff x="1515736" y="2638524"/>
              <a:chExt cx="4143526" cy="2181934"/>
            </a:xfrm>
          </p:grpSpPr>
          <p:grpSp>
            <p:nvGrpSpPr>
              <p:cNvPr id="20" name="Group 19">
                <a:extLst>
                  <a:ext uri="{FF2B5EF4-FFF2-40B4-BE49-F238E27FC236}">
                    <a16:creationId xmlns:a16="http://schemas.microsoft.com/office/drawing/2014/main" id="{A18C7526-740D-F74D-2CC2-5138055EE695}"/>
                  </a:ext>
                </a:extLst>
              </p:cNvPr>
              <p:cNvGrpSpPr/>
              <p:nvPr/>
            </p:nvGrpSpPr>
            <p:grpSpPr>
              <a:xfrm>
                <a:off x="1515736" y="2661534"/>
                <a:ext cx="4143525" cy="2158924"/>
                <a:chOff x="1464392" y="3039910"/>
                <a:chExt cx="4399089" cy="2158924"/>
              </a:xfrm>
              <a:noFill/>
            </p:grpSpPr>
            <p:sp>
              <p:nvSpPr>
                <p:cNvPr id="22" name="Rectangle 21">
                  <a:extLst>
                    <a:ext uri="{FF2B5EF4-FFF2-40B4-BE49-F238E27FC236}">
                      <a16:creationId xmlns:a16="http://schemas.microsoft.com/office/drawing/2014/main" id="{4966623B-8BBB-A26C-939D-B36860C610F6}"/>
                    </a:ext>
                  </a:extLst>
                </p:cNvPr>
                <p:cNvSpPr/>
                <p:nvPr/>
              </p:nvSpPr>
              <p:spPr>
                <a:xfrm>
                  <a:off x="1464392" y="3039910"/>
                  <a:ext cx="4399089" cy="2158924"/>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Candara" panose="020E0502030303020204" pitchFamily="34" charset="0"/>
                  </a:endParaRPr>
                </a:p>
              </p:txBody>
            </p:sp>
            <p:sp>
              <p:nvSpPr>
                <p:cNvPr id="23" name="Rectangle 22">
                  <a:extLst>
                    <a:ext uri="{FF2B5EF4-FFF2-40B4-BE49-F238E27FC236}">
                      <a16:creationId xmlns:a16="http://schemas.microsoft.com/office/drawing/2014/main" id="{BD64B99E-BF66-E540-DF92-8253F1EE475D}"/>
                    </a:ext>
                  </a:extLst>
                </p:cNvPr>
                <p:cNvSpPr/>
                <p:nvPr/>
              </p:nvSpPr>
              <p:spPr>
                <a:xfrm>
                  <a:off x="1545961" y="3379292"/>
                  <a:ext cx="4210425" cy="1683294"/>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4" name="Rectangle 23">
                  <a:extLst>
                    <a:ext uri="{FF2B5EF4-FFF2-40B4-BE49-F238E27FC236}">
                      <a16:creationId xmlns:a16="http://schemas.microsoft.com/office/drawing/2014/main" id="{1B954EEA-7744-0575-78C6-8C8F19D0DDCE}"/>
                    </a:ext>
                  </a:extLst>
                </p:cNvPr>
                <p:cNvSpPr/>
                <p:nvPr/>
              </p:nvSpPr>
              <p:spPr>
                <a:xfrm>
                  <a:off x="2813783" y="3379292"/>
                  <a:ext cx="2942605" cy="1683294"/>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sp>
            <p:nvSpPr>
              <p:cNvPr id="21" name="Rectangle 20">
                <a:extLst>
                  <a:ext uri="{FF2B5EF4-FFF2-40B4-BE49-F238E27FC236}">
                    <a16:creationId xmlns:a16="http://schemas.microsoft.com/office/drawing/2014/main" id="{6995685A-F169-695F-2543-42C51583965C}"/>
                  </a:ext>
                </a:extLst>
              </p:cNvPr>
              <p:cNvSpPr/>
              <p:nvPr/>
            </p:nvSpPr>
            <p:spPr>
              <a:xfrm>
                <a:off x="1515736" y="2638524"/>
                <a:ext cx="4143526" cy="362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19" name="Rectangle 18">
              <a:extLst>
                <a:ext uri="{FF2B5EF4-FFF2-40B4-BE49-F238E27FC236}">
                  <a16:creationId xmlns:a16="http://schemas.microsoft.com/office/drawing/2014/main" id="{785E9124-8055-FA13-A3CA-76E8A98F5630}"/>
                </a:ext>
              </a:extLst>
            </p:cNvPr>
            <p:cNvSpPr/>
            <p:nvPr/>
          </p:nvSpPr>
          <p:spPr>
            <a:xfrm>
              <a:off x="1283119" y="4972858"/>
              <a:ext cx="4143526" cy="28313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tx1"/>
                  </a:solidFill>
                  <a:latin typeface="Candara" panose="020E0502030303020204" pitchFamily="34" charset="0"/>
                </a:rPr>
                <a:t>Txid</a:t>
              </a:r>
              <a:r>
                <a:rPr lang="en-US" sz="2800" dirty="0">
                  <a:solidFill>
                    <a:schemeClr val="tx1"/>
                  </a:solidFill>
                  <a:latin typeface="Candara" panose="020E0502030303020204" pitchFamily="34" charset="0"/>
                </a:rPr>
                <a:t>: C1a (Alice-Charlie-HTLC)</a:t>
              </a:r>
            </a:p>
          </p:txBody>
        </p:sp>
      </p:grpSp>
      <p:cxnSp>
        <p:nvCxnSpPr>
          <p:cNvPr id="27" name="Straight Connector 26">
            <a:extLst>
              <a:ext uri="{FF2B5EF4-FFF2-40B4-BE49-F238E27FC236}">
                <a16:creationId xmlns:a16="http://schemas.microsoft.com/office/drawing/2014/main" id="{B5CF3655-06DF-0747-CD89-063702208AAD}"/>
              </a:ext>
            </a:extLst>
          </p:cNvPr>
          <p:cNvCxnSpPr>
            <a:cxnSpLocks/>
          </p:cNvCxnSpPr>
          <p:nvPr/>
        </p:nvCxnSpPr>
        <p:spPr>
          <a:xfrm>
            <a:off x="1940251" y="2780830"/>
            <a:ext cx="337127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1307A31-B515-49F2-7BB1-518616D690CC}"/>
              </a:ext>
            </a:extLst>
          </p:cNvPr>
          <p:cNvCxnSpPr>
            <a:cxnSpLocks/>
          </p:cNvCxnSpPr>
          <p:nvPr/>
        </p:nvCxnSpPr>
        <p:spPr>
          <a:xfrm>
            <a:off x="1928219" y="3546832"/>
            <a:ext cx="337127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535F100-49F5-E6B4-24E5-BC6DF017F7DA}"/>
              </a:ext>
            </a:extLst>
          </p:cNvPr>
          <p:cNvSpPr txBox="1"/>
          <p:nvPr/>
        </p:nvSpPr>
        <p:spPr>
          <a:xfrm>
            <a:off x="1951498" y="1813221"/>
            <a:ext cx="3347993" cy="954107"/>
          </a:xfrm>
          <a:prstGeom prst="rect">
            <a:avLst/>
          </a:prstGeom>
          <a:noFill/>
        </p:spPr>
        <p:txBody>
          <a:bodyPr wrap="square" rtlCol="0">
            <a:spAutoFit/>
          </a:bodyPr>
          <a:lstStyle/>
          <a:p>
            <a:r>
              <a:rPr lang="en-US" sz="1400" dirty="0">
                <a:solidFill>
                  <a:schemeClr val="bg1"/>
                </a:solidFill>
                <a:latin typeface="Candara" panose="020E0502030303020204" pitchFamily="34" charset="0"/>
              </a:rPr>
              <a:t>Alice’s output (2 spending paths)</a:t>
            </a:r>
          </a:p>
          <a:p>
            <a:pPr marL="285750" indent="-285750">
              <a:buFont typeface="Arial" panose="020B0604020202020204" pitchFamily="34" charset="0"/>
              <a:buChar char="•"/>
            </a:pPr>
            <a:r>
              <a:rPr lang="en-US" sz="1400" dirty="0">
                <a:solidFill>
                  <a:schemeClr val="bg1"/>
                </a:solidFill>
                <a:latin typeface="Candara" panose="020E0502030303020204" pitchFamily="34" charset="0"/>
              </a:rPr>
              <a:t>Alice can spend after time lock </a:t>
            </a:r>
          </a:p>
          <a:p>
            <a:pPr marL="285750" indent="-285750">
              <a:buFont typeface="Arial" panose="020B0604020202020204" pitchFamily="34" charset="0"/>
              <a:buChar char="•"/>
            </a:pPr>
            <a:r>
              <a:rPr lang="en-US" sz="1400" dirty="0">
                <a:solidFill>
                  <a:schemeClr val="bg1"/>
                </a:solidFill>
                <a:latin typeface="Candara" panose="020E0502030303020204" pitchFamily="34" charset="0"/>
              </a:rPr>
              <a:t>Charlie can immediately spend Alice’s funds with revocation key</a:t>
            </a:r>
          </a:p>
        </p:txBody>
      </p:sp>
      <p:sp>
        <p:nvSpPr>
          <p:cNvPr id="37" name="TextBox 36">
            <a:extLst>
              <a:ext uri="{FF2B5EF4-FFF2-40B4-BE49-F238E27FC236}">
                <a16:creationId xmlns:a16="http://schemas.microsoft.com/office/drawing/2014/main" id="{6C745A66-E4A2-CE46-1E1B-9ACEACEE8E7E}"/>
              </a:ext>
            </a:extLst>
          </p:cNvPr>
          <p:cNvSpPr txBox="1"/>
          <p:nvPr/>
        </p:nvSpPr>
        <p:spPr>
          <a:xfrm>
            <a:off x="1915402" y="2822076"/>
            <a:ext cx="3347993" cy="738664"/>
          </a:xfrm>
          <a:prstGeom prst="rect">
            <a:avLst/>
          </a:prstGeom>
          <a:noFill/>
        </p:spPr>
        <p:txBody>
          <a:bodyPr wrap="square" rtlCol="0">
            <a:spAutoFit/>
          </a:bodyPr>
          <a:lstStyle/>
          <a:p>
            <a:r>
              <a:rPr lang="en-US" sz="1400" dirty="0">
                <a:solidFill>
                  <a:schemeClr val="bg1"/>
                </a:solidFill>
                <a:latin typeface="Candara" panose="020E0502030303020204" pitchFamily="34" charset="0"/>
              </a:rPr>
              <a:t>Charlie’s output (1 spending path)</a:t>
            </a:r>
          </a:p>
          <a:p>
            <a:pPr marL="285750" indent="-285750">
              <a:buFont typeface="Arial" panose="020B0604020202020204" pitchFamily="34" charset="0"/>
              <a:buChar char="•"/>
            </a:pPr>
            <a:r>
              <a:rPr lang="en-US" sz="1400" dirty="0">
                <a:solidFill>
                  <a:schemeClr val="bg1"/>
                </a:solidFill>
                <a:latin typeface="Candara" panose="020E0502030303020204" pitchFamily="34" charset="0"/>
              </a:rPr>
              <a:t>Charlie can immediately spend his funds</a:t>
            </a:r>
          </a:p>
        </p:txBody>
      </p:sp>
      <p:sp>
        <p:nvSpPr>
          <p:cNvPr id="38" name="TextBox 37">
            <a:extLst>
              <a:ext uri="{FF2B5EF4-FFF2-40B4-BE49-F238E27FC236}">
                <a16:creationId xmlns:a16="http://schemas.microsoft.com/office/drawing/2014/main" id="{0A514E85-783F-03AC-BDC2-CFA7E818C1BD}"/>
              </a:ext>
            </a:extLst>
          </p:cNvPr>
          <p:cNvSpPr txBox="1"/>
          <p:nvPr/>
        </p:nvSpPr>
        <p:spPr>
          <a:xfrm>
            <a:off x="1928219" y="3608537"/>
            <a:ext cx="3383304" cy="1169551"/>
          </a:xfrm>
          <a:prstGeom prst="rect">
            <a:avLst/>
          </a:prstGeom>
          <a:noFill/>
        </p:spPr>
        <p:txBody>
          <a:bodyPr wrap="square" rtlCol="0">
            <a:spAutoFit/>
          </a:bodyPr>
          <a:lstStyle/>
          <a:p>
            <a:r>
              <a:rPr lang="en-US" sz="1400" dirty="0">
                <a:solidFill>
                  <a:schemeClr val="bg1"/>
                </a:solidFill>
                <a:latin typeface="Candara" panose="020E0502030303020204" pitchFamily="34" charset="0"/>
              </a:rPr>
              <a:t>HTLC output (3 spending paths)</a:t>
            </a:r>
          </a:p>
          <a:p>
            <a:pPr marL="285750" indent="-285750">
              <a:buFont typeface="Arial" panose="020B0604020202020204" pitchFamily="34" charset="0"/>
              <a:buChar char="•"/>
            </a:pPr>
            <a:r>
              <a:rPr lang="en-US" sz="1400" dirty="0">
                <a:solidFill>
                  <a:schemeClr val="bg1"/>
                </a:solidFill>
                <a:latin typeface="Candara" panose="020E0502030303020204" pitchFamily="34" charset="0"/>
              </a:rPr>
              <a:t>Anyone can claim with preimage of H</a:t>
            </a:r>
          </a:p>
          <a:p>
            <a:pPr marL="285750" indent="-285750">
              <a:buFont typeface="Arial" panose="020B0604020202020204" pitchFamily="34" charset="0"/>
              <a:buChar char="•"/>
            </a:pPr>
            <a:r>
              <a:rPr lang="en-US" sz="1400" dirty="0">
                <a:solidFill>
                  <a:schemeClr val="bg1"/>
                </a:solidFill>
                <a:latin typeface="Candara" panose="020E0502030303020204" pitchFamily="34" charset="0"/>
              </a:rPr>
              <a:t>Alice can reclaim after time lock</a:t>
            </a:r>
          </a:p>
          <a:p>
            <a:pPr marL="285750" indent="-285750">
              <a:buFont typeface="Arial" panose="020B0604020202020204" pitchFamily="34" charset="0"/>
              <a:buChar char="•"/>
            </a:pPr>
            <a:r>
              <a:rPr lang="en-US" sz="1400" dirty="0">
                <a:solidFill>
                  <a:schemeClr val="bg1"/>
                </a:solidFill>
                <a:latin typeface="Candara" panose="020E0502030303020204" pitchFamily="34" charset="0"/>
              </a:rPr>
              <a:t>Charlie can immediately spend with revocation key  </a:t>
            </a:r>
          </a:p>
        </p:txBody>
      </p:sp>
      <p:sp>
        <p:nvSpPr>
          <p:cNvPr id="39" name="TextBox 38">
            <a:extLst>
              <a:ext uri="{FF2B5EF4-FFF2-40B4-BE49-F238E27FC236}">
                <a16:creationId xmlns:a16="http://schemas.microsoft.com/office/drawing/2014/main" id="{4ECEDB6D-169D-8B98-726B-96040E89518C}"/>
              </a:ext>
            </a:extLst>
          </p:cNvPr>
          <p:cNvSpPr txBox="1"/>
          <p:nvPr/>
        </p:nvSpPr>
        <p:spPr>
          <a:xfrm>
            <a:off x="600581" y="3165425"/>
            <a:ext cx="1266693" cy="369332"/>
          </a:xfrm>
          <a:prstGeom prst="rect">
            <a:avLst/>
          </a:prstGeom>
          <a:noFill/>
        </p:spPr>
        <p:txBody>
          <a:bodyPr wrap="none" rtlCol="0">
            <a:spAutoFit/>
          </a:bodyPr>
          <a:lstStyle/>
          <a:p>
            <a:r>
              <a:rPr lang="en-US" dirty="0">
                <a:solidFill>
                  <a:schemeClr val="bg1"/>
                </a:solidFill>
                <a:latin typeface="Candara" panose="020E0502030303020204" pitchFamily="34" charset="0"/>
              </a:rPr>
              <a:t>Funding TX</a:t>
            </a:r>
          </a:p>
        </p:txBody>
      </p:sp>
      <p:sp>
        <p:nvSpPr>
          <p:cNvPr id="40" name="TextBox 39">
            <a:extLst>
              <a:ext uri="{FF2B5EF4-FFF2-40B4-BE49-F238E27FC236}">
                <a16:creationId xmlns:a16="http://schemas.microsoft.com/office/drawing/2014/main" id="{E5F93CB5-F5CE-3C2E-AA2C-47970A190D85}"/>
              </a:ext>
            </a:extLst>
          </p:cNvPr>
          <p:cNvSpPr txBox="1"/>
          <p:nvPr/>
        </p:nvSpPr>
        <p:spPr>
          <a:xfrm>
            <a:off x="5575063" y="1103349"/>
            <a:ext cx="5818842" cy="1938992"/>
          </a:xfrm>
          <a:prstGeom prst="rect">
            <a:avLst/>
          </a:prstGeom>
          <a:noFill/>
          <a:ln>
            <a:solidFill>
              <a:schemeClr val="tx1"/>
            </a:solidFill>
          </a:ln>
        </p:spPr>
        <p:txBody>
          <a:bodyPr wrap="square" rtlCol="0">
            <a:spAutoFit/>
          </a:bodyPr>
          <a:lstStyle/>
          <a:p>
            <a:r>
              <a:rPr lang="en-US" sz="1200" dirty="0">
                <a:latin typeface="Candara" panose="020E0502030303020204" pitchFamily="34" charset="0"/>
              </a:rPr>
              <a:t>Alice’s output script (</a:t>
            </a:r>
            <a:r>
              <a:rPr lang="en-US" sz="1200" dirty="0" err="1">
                <a:latin typeface="Candara" panose="020E0502030303020204" pitchFamily="34" charset="0"/>
              </a:rPr>
              <a:t>output_alice_script</a:t>
            </a:r>
            <a:r>
              <a:rPr lang="en-US" sz="1200" dirty="0">
                <a:latin typeface="Candara" panose="020E0502030303020204" pitchFamily="34" charset="0"/>
              </a:rPr>
              <a:t>)</a:t>
            </a:r>
          </a:p>
          <a:p>
            <a:r>
              <a:rPr lang="en-US" sz="1200" dirty="0">
                <a:latin typeface="Candara" panose="020E0502030303020204" pitchFamily="34" charset="0"/>
              </a:rPr>
              <a:t>OP_IF  # Revocation path for Charlie if Alice cheats </a:t>
            </a:r>
          </a:p>
          <a:p>
            <a:r>
              <a:rPr lang="en-US" sz="1200" dirty="0">
                <a:latin typeface="Candara" panose="020E0502030303020204" pitchFamily="34" charset="0"/>
              </a:rPr>
              <a:t>     &lt;</a:t>
            </a:r>
            <a:r>
              <a:rPr lang="en-US" sz="1200" dirty="0" err="1">
                <a:latin typeface="Candara" panose="020E0502030303020204" pitchFamily="34" charset="0"/>
              </a:rPr>
              <a:t>revocationpubkey</a:t>
            </a:r>
            <a:r>
              <a:rPr lang="en-US" sz="1200" dirty="0">
                <a:latin typeface="Candara" panose="020E0502030303020204" pitchFamily="34" charset="0"/>
              </a:rPr>
              <a:t>&gt; </a:t>
            </a:r>
          </a:p>
          <a:p>
            <a:r>
              <a:rPr lang="en-US" sz="1200" dirty="0">
                <a:latin typeface="Candara" panose="020E0502030303020204" pitchFamily="34" charset="0"/>
              </a:rPr>
              <a:t>OP_ELSE  # Normal delayed spend path</a:t>
            </a:r>
          </a:p>
          <a:p>
            <a:r>
              <a:rPr lang="en-US" sz="1200" dirty="0">
                <a:latin typeface="Candara" panose="020E0502030303020204" pitchFamily="34" charset="0"/>
              </a:rPr>
              <a:t>    &lt;</a:t>
            </a:r>
            <a:r>
              <a:rPr lang="en-US" sz="1200" dirty="0" err="1">
                <a:latin typeface="Candara" panose="020E0502030303020204" pitchFamily="34" charset="0"/>
              </a:rPr>
              <a:t>to_self_delay</a:t>
            </a:r>
            <a:r>
              <a:rPr lang="en-US" sz="1200" dirty="0">
                <a:latin typeface="Candara" panose="020E0502030303020204" pitchFamily="34" charset="0"/>
              </a:rPr>
              <a:t>&gt;  OP_CHECKSEQUENCEVERIFY     OP_DROP</a:t>
            </a:r>
          </a:p>
          <a:p>
            <a:r>
              <a:rPr lang="en-US" sz="1200" dirty="0">
                <a:latin typeface="Candara" panose="020E0502030303020204" pitchFamily="34" charset="0"/>
              </a:rPr>
              <a:t>    &lt;</a:t>
            </a:r>
            <a:r>
              <a:rPr lang="en-US" sz="1200" dirty="0" err="1">
                <a:latin typeface="Candara" panose="020E0502030303020204" pitchFamily="34" charset="0"/>
              </a:rPr>
              <a:t>pubkeyAlice</a:t>
            </a:r>
            <a:r>
              <a:rPr lang="en-US" sz="1200" dirty="0">
                <a:latin typeface="Candara" panose="020E0502030303020204" pitchFamily="34" charset="0"/>
              </a:rPr>
              <a:t>&gt;   # Alice's delayed spend key</a:t>
            </a:r>
          </a:p>
          <a:p>
            <a:r>
              <a:rPr lang="en-US" sz="1200" dirty="0">
                <a:latin typeface="Candara" panose="020E0502030303020204" pitchFamily="34" charset="0"/>
              </a:rPr>
              <a:t>OP_ENDIF</a:t>
            </a:r>
          </a:p>
          <a:p>
            <a:r>
              <a:rPr lang="en-US" sz="1200" dirty="0">
                <a:latin typeface="Candara" panose="020E0502030303020204" pitchFamily="34" charset="0"/>
              </a:rPr>
              <a:t>OP_CHECKSIG</a:t>
            </a:r>
          </a:p>
          <a:p>
            <a:endParaRPr lang="en-US" sz="1200" dirty="0">
              <a:latin typeface="Candara" panose="020E0502030303020204" pitchFamily="34" charset="0"/>
            </a:endParaRPr>
          </a:p>
          <a:p>
            <a:r>
              <a:rPr lang="en-US" sz="1200" dirty="0">
                <a:latin typeface="Candara" panose="020E0502030303020204" pitchFamily="34" charset="0"/>
              </a:rPr>
              <a:t>&lt;wsh_ouptput_1&gt;=SHA256(</a:t>
            </a:r>
            <a:r>
              <a:rPr lang="en-US" sz="1200" dirty="0" err="1">
                <a:latin typeface="Candara" panose="020E0502030303020204" pitchFamily="34" charset="0"/>
              </a:rPr>
              <a:t>output_alice_script</a:t>
            </a:r>
            <a:r>
              <a:rPr lang="en-US" sz="1200" dirty="0">
                <a:latin typeface="Candara" panose="020E0502030303020204" pitchFamily="34" charset="0"/>
              </a:rPr>
              <a:t>)</a:t>
            </a:r>
          </a:p>
        </p:txBody>
      </p:sp>
      <p:sp>
        <p:nvSpPr>
          <p:cNvPr id="41" name="TextBox 40">
            <a:extLst>
              <a:ext uri="{FF2B5EF4-FFF2-40B4-BE49-F238E27FC236}">
                <a16:creationId xmlns:a16="http://schemas.microsoft.com/office/drawing/2014/main" id="{27D25958-44E2-A3FD-A75A-E52A650BB8C7}"/>
              </a:ext>
            </a:extLst>
          </p:cNvPr>
          <p:cNvSpPr txBox="1"/>
          <p:nvPr/>
        </p:nvSpPr>
        <p:spPr>
          <a:xfrm>
            <a:off x="5575063" y="3119000"/>
            <a:ext cx="5818842" cy="461665"/>
          </a:xfrm>
          <a:prstGeom prst="rect">
            <a:avLst/>
          </a:prstGeom>
          <a:noFill/>
          <a:ln>
            <a:solidFill>
              <a:schemeClr val="tx1"/>
            </a:solidFill>
          </a:ln>
        </p:spPr>
        <p:txBody>
          <a:bodyPr wrap="square" rtlCol="0">
            <a:spAutoFit/>
          </a:bodyPr>
          <a:lstStyle/>
          <a:p>
            <a:r>
              <a:rPr lang="en-US" sz="1200" dirty="0">
                <a:latin typeface="Candara" panose="020E0502030303020204" pitchFamily="34" charset="0"/>
              </a:rPr>
              <a:t>Charlie’s output has no script </a:t>
            </a:r>
          </a:p>
          <a:p>
            <a:r>
              <a:rPr lang="en-US" sz="1200" dirty="0">
                <a:latin typeface="Candara" panose="020E0502030303020204" pitchFamily="34" charset="0"/>
              </a:rPr>
              <a:t>OP_0 &lt;p2wpkh_Charlie&gt; </a:t>
            </a:r>
          </a:p>
        </p:txBody>
      </p:sp>
      <p:sp>
        <p:nvSpPr>
          <p:cNvPr id="42" name="TextBox 41">
            <a:extLst>
              <a:ext uri="{FF2B5EF4-FFF2-40B4-BE49-F238E27FC236}">
                <a16:creationId xmlns:a16="http://schemas.microsoft.com/office/drawing/2014/main" id="{29485C6A-9EEC-7F88-8F0B-46C3B2B9B265}"/>
              </a:ext>
            </a:extLst>
          </p:cNvPr>
          <p:cNvSpPr txBox="1"/>
          <p:nvPr/>
        </p:nvSpPr>
        <p:spPr>
          <a:xfrm>
            <a:off x="5575062" y="3677501"/>
            <a:ext cx="5818843" cy="2862322"/>
          </a:xfrm>
          <a:prstGeom prst="rect">
            <a:avLst/>
          </a:prstGeom>
          <a:noFill/>
          <a:ln>
            <a:solidFill>
              <a:schemeClr val="tx1"/>
            </a:solidFill>
          </a:ln>
        </p:spPr>
        <p:txBody>
          <a:bodyPr wrap="square" rtlCol="0">
            <a:spAutoFit/>
          </a:bodyPr>
          <a:lstStyle/>
          <a:p>
            <a:r>
              <a:rPr lang="en-US" sz="1200" dirty="0">
                <a:latin typeface="Candara" panose="020E0502030303020204" pitchFamily="34" charset="0"/>
              </a:rPr>
              <a:t>HTLC output script (</a:t>
            </a:r>
            <a:r>
              <a:rPr lang="en-US" sz="1200" dirty="0" err="1">
                <a:latin typeface="Candara" panose="020E0502030303020204" pitchFamily="34" charset="0"/>
              </a:rPr>
              <a:t>output_htlc_script</a:t>
            </a:r>
            <a:r>
              <a:rPr lang="en-US" sz="1200" dirty="0">
                <a:latin typeface="Candara" panose="020E0502030303020204" pitchFamily="34" charset="0"/>
              </a:rPr>
              <a:t>)</a:t>
            </a:r>
          </a:p>
          <a:p>
            <a:r>
              <a:rPr lang="en-US" sz="1200" dirty="0">
                <a:latin typeface="Candara" panose="020E0502030303020204" pitchFamily="34" charset="0"/>
              </a:rPr>
              <a:t>OP_IF # Revocation path for Charlie if Alice cheats </a:t>
            </a:r>
          </a:p>
          <a:p>
            <a:r>
              <a:rPr lang="en-US" sz="1200" dirty="0">
                <a:latin typeface="Candara" panose="020E0502030303020204" pitchFamily="34" charset="0"/>
              </a:rPr>
              <a:t>    &lt;</a:t>
            </a:r>
            <a:r>
              <a:rPr lang="en-US" sz="1200" dirty="0" err="1">
                <a:latin typeface="Candara" panose="020E0502030303020204" pitchFamily="34" charset="0"/>
              </a:rPr>
              <a:t>revocationpubkey</a:t>
            </a:r>
            <a:r>
              <a:rPr lang="en-US" sz="1200" dirty="0">
                <a:latin typeface="Candara" panose="020E0502030303020204" pitchFamily="34" charset="0"/>
              </a:rPr>
              <a:t>&gt; </a:t>
            </a:r>
          </a:p>
          <a:p>
            <a:r>
              <a:rPr lang="en-US" sz="1200" dirty="0">
                <a:latin typeface="Candara" panose="020E0502030303020204" pitchFamily="34" charset="0"/>
              </a:rPr>
              <a:t>OP_ELSE </a:t>
            </a:r>
          </a:p>
          <a:p>
            <a:r>
              <a:rPr lang="en-US" sz="1200" dirty="0">
                <a:latin typeface="Candara" panose="020E0502030303020204" pitchFamily="34" charset="0"/>
              </a:rPr>
              <a:t>    OP_IF  # Anyone can claim HTLC with preimage of H before timeout </a:t>
            </a:r>
          </a:p>
          <a:p>
            <a:r>
              <a:rPr lang="en-US" sz="1200" dirty="0">
                <a:latin typeface="Candara" panose="020E0502030303020204" pitchFamily="34" charset="0"/>
              </a:rPr>
              <a:t>        OP_SHA256 &lt;H&gt; OP_EQUALVERIFY</a:t>
            </a:r>
          </a:p>
          <a:p>
            <a:r>
              <a:rPr lang="en-US" sz="1200" dirty="0">
                <a:latin typeface="Candara" panose="020E0502030303020204" pitchFamily="34" charset="0"/>
              </a:rPr>
              <a:t>        &lt;</a:t>
            </a:r>
            <a:r>
              <a:rPr lang="en-US" sz="1200" dirty="0" err="1">
                <a:latin typeface="Candara" panose="020E0502030303020204" pitchFamily="34" charset="0"/>
              </a:rPr>
              <a:t>recoverpubkey</a:t>
            </a:r>
            <a:r>
              <a:rPr lang="en-US" sz="1200" dirty="0">
                <a:latin typeface="Candara" panose="020E0502030303020204" pitchFamily="34" charset="0"/>
              </a:rPr>
              <a:t>&gt; </a:t>
            </a:r>
          </a:p>
          <a:p>
            <a:r>
              <a:rPr lang="en-US" sz="1200" dirty="0">
                <a:latin typeface="Candara" panose="020E0502030303020204" pitchFamily="34" charset="0"/>
              </a:rPr>
              <a:t>OP_ELSE  # Alice refunds after CLTV timeout </a:t>
            </a:r>
          </a:p>
          <a:p>
            <a:r>
              <a:rPr lang="en-US" sz="1200" dirty="0">
                <a:latin typeface="Candara" panose="020E0502030303020204" pitchFamily="34" charset="0"/>
              </a:rPr>
              <a:t>        &lt;</a:t>
            </a:r>
            <a:r>
              <a:rPr lang="en-US" sz="1200" dirty="0" err="1">
                <a:latin typeface="Candara" panose="020E0502030303020204" pitchFamily="34" charset="0"/>
              </a:rPr>
              <a:t>cltv_expiry</a:t>
            </a:r>
            <a:r>
              <a:rPr lang="en-US" sz="1200" dirty="0">
                <a:latin typeface="Candara" panose="020E0502030303020204" pitchFamily="34" charset="0"/>
              </a:rPr>
              <a:t>&gt; OP_CHECKLOCKTIMEVERIFY OP_DROP</a:t>
            </a:r>
          </a:p>
          <a:p>
            <a:r>
              <a:rPr lang="en-US" sz="1200" dirty="0">
                <a:latin typeface="Candara" panose="020E0502030303020204" pitchFamily="34" charset="0"/>
              </a:rPr>
              <a:t>        &lt;</a:t>
            </a:r>
            <a:r>
              <a:rPr lang="en-US" sz="1200" dirty="0" err="1">
                <a:latin typeface="Candara" panose="020E0502030303020204" pitchFamily="34" charset="0"/>
              </a:rPr>
              <a:t>pubkeyAlice</a:t>
            </a:r>
            <a:r>
              <a:rPr lang="en-US" sz="1200" dirty="0">
                <a:latin typeface="Candara" panose="020E0502030303020204" pitchFamily="34" charset="0"/>
              </a:rPr>
              <a:t>&gt; </a:t>
            </a:r>
          </a:p>
          <a:p>
            <a:r>
              <a:rPr lang="en-US" sz="1200" dirty="0">
                <a:latin typeface="Candara" panose="020E0502030303020204" pitchFamily="34" charset="0"/>
              </a:rPr>
              <a:t>    OP_ENDIF</a:t>
            </a:r>
          </a:p>
          <a:p>
            <a:endParaRPr lang="en-US" sz="1200" dirty="0">
              <a:latin typeface="Candara" panose="020E0502030303020204" pitchFamily="34" charset="0"/>
            </a:endParaRPr>
          </a:p>
          <a:p>
            <a:r>
              <a:rPr lang="en-US" sz="1200" dirty="0">
                <a:latin typeface="Candara" panose="020E0502030303020204" pitchFamily="34" charset="0"/>
              </a:rPr>
              <a:t>OP_ENDIF</a:t>
            </a:r>
          </a:p>
          <a:p>
            <a:r>
              <a:rPr lang="en-US" sz="1200" dirty="0">
                <a:latin typeface="Candara" panose="020E0502030303020204" pitchFamily="34" charset="0"/>
              </a:rPr>
              <a:t>OP_CHECKSIG</a:t>
            </a:r>
          </a:p>
          <a:p>
            <a:r>
              <a:rPr lang="en-US" sz="1200" dirty="0">
                <a:latin typeface="Candara" panose="020E0502030303020204" pitchFamily="34" charset="0"/>
              </a:rPr>
              <a:t>&lt;</a:t>
            </a:r>
            <a:r>
              <a:rPr lang="en-US" sz="1200" dirty="0" err="1">
                <a:latin typeface="Candara" panose="020E0502030303020204" pitchFamily="34" charset="0"/>
              </a:rPr>
              <a:t>wsh_ouptput_htlc</a:t>
            </a:r>
            <a:r>
              <a:rPr lang="en-US" sz="1200" dirty="0">
                <a:latin typeface="Candara" panose="020E0502030303020204" pitchFamily="34" charset="0"/>
              </a:rPr>
              <a:t>&gt;=SHA256(</a:t>
            </a:r>
            <a:r>
              <a:rPr lang="en-US" sz="1200" dirty="0" err="1">
                <a:latin typeface="Candara" panose="020E0502030303020204" pitchFamily="34" charset="0"/>
              </a:rPr>
              <a:t>output_htlc_script</a:t>
            </a:r>
            <a:r>
              <a:rPr lang="en-US" sz="1200" dirty="0">
                <a:latin typeface="Candara" panose="020E0502030303020204" pitchFamily="34" charset="0"/>
              </a:rPr>
              <a:t>)</a:t>
            </a:r>
          </a:p>
        </p:txBody>
      </p:sp>
    </p:spTree>
    <p:extLst>
      <p:ext uri="{BB962C8B-B14F-4D97-AF65-F5344CB8AC3E}">
        <p14:creationId xmlns:p14="http://schemas.microsoft.com/office/powerpoint/2010/main" val="343402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4" grpId="0"/>
      <p:bldP spid="37" grpId="0"/>
      <p:bldP spid="38" grpId="0"/>
      <p:bldP spid="40" grpId="0" animBg="1"/>
      <p:bldP spid="41" grpId="0" animBg="1"/>
      <p:bldP spid="4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08134-6A65-48D2-D769-995D3E6C1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D0783-B4B6-D252-F52A-E3615C73B7D6}"/>
              </a:ext>
            </a:extLst>
          </p:cNvPr>
          <p:cNvSpPr>
            <a:spLocks noGrp="1"/>
          </p:cNvSpPr>
          <p:nvPr>
            <p:ph type="title"/>
          </p:nvPr>
        </p:nvSpPr>
        <p:spPr/>
        <p:txBody>
          <a:bodyPr/>
          <a:lstStyle/>
          <a:p>
            <a:r>
              <a:rPr lang="en-US" dirty="0"/>
              <a:t>Network of Payment Channels</a:t>
            </a:r>
          </a:p>
        </p:txBody>
      </p:sp>
      <p:sp>
        <p:nvSpPr>
          <p:cNvPr id="4" name="Slide Number Placeholder 3">
            <a:extLst>
              <a:ext uri="{FF2B5EF4-FFF2-40B4-BE49-F238E27FC236}">
                <a16:creationId xmlns:a16="http://schemas.microsoft.com/office/drawing/2014/main" id="{AE21ED1A-6ADC-5D43-9AB0-9CDFFE6528FA}"/>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76</a:t>
            </a:fld>
            <a:endParaRPr lang="en-US" dirty="0">
              <a:latin typeface="Candara" panose="020E0502030303020204" pitchFamily="34" charset="0"/>
            </a:endParaRPr>
          </a:p>
        </p:txBody>
      </p:sp>
      <p:grpSp>
        <p:nvGrpSpPr>
          <p:cNvPr id="3" name="Group 2">
            <a:extLst>
              <a:ext uri="{FF2B5EF4-FFF2-40B4-BE49-F238E27FC236}">
                <a16:creationId xmlns:a16="http://schemas.microsoft.com/office/drawing/2014/main" id="{0DF0E069-F1FA-8CFA-F828-7DD439B7F960}"/>
              </a:ext>
            </a:extLst>
          </p:cNvPr>
          <p:cNvGrpSpPr/>
          <p:nvPr/>
        </p:nvGrpSpPr>
        <p:grpSpPr>
          <a:xfrm>
            <a:off x="5856981" y="2396234"/>
            <a:ext cx="4912916" cy="3185667"/>
            <a:chOff x="891656" y="1917210"/>
            <a:chExt cx="5710865" cy="3696018"/>
          </a:xfrm>
        </p:grpSpPr>
        <p:pic>
          <p:nvPicPr>
            <p:cNvPr id="8" name="Picture 7">
              <a:extLst>
                <a:ext uri="{FF2B5EF4-FFF2-40B4-BE49-F238E27FC236}">
                  <a16:creationId xmlns:a16="http://schemas.microsoft.com/office/drawing/2014/main" id="{BE65B664-B27C-C882-1CFA-7DAFD1430319}"/>
                </a:ext>
              </a:extLst>
            </p:cNvPr>
            <p:cNvPicPr>
              <a:picLocks noChangeAspect="1"/>
            </p:cNvPicPr>
            <p:nvPr/>
          </p:nvPicPr>
          <p:blipFill>
            <a:blip r:embed="rId3"/>
            <a:stretch>
              <a:fillRect/>
            </a:stretch>
          </p:blipFill>
          <p:spPr>
            <a:xfrm>
              <a:off x="891656" y="3412427"/>
              <a:ext cx="571261" cy="905070"/>
            </a:xfrm>
            <a:prstGeom prst="rect">
              <a:avLst/>
            </a:prstGeom>
          </p:spPr>
        </p:pic>
        <p:sp>
          <p:nvSpPr>
            <p:cNvPr id="13" name="Oval 12">
              <a:extLst>
                <a:ext uri="{FF2B5EF4-FFF2-40B4-BE49-F238E27FC236}">
                  <a16:creationId xmlns:a16="http://schemas.microsoft.com/office/drawing/2014/main" id="{D58FA802-8559-C443-16E8-60FE30E76108}"/>
                </a:ext>
              </a:extLst>
            </p:cNvPr>
            <p:cNvSpPr/>
            <p:nvPr/>
          </p:nvSpPr>
          <p:spPr>
            <a:xfrm>
              <a:off x="3066109" y="3103380"/>
              <a:ext cx="1479697" cy="1523162"/>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ndara" panose="020E0502030303020204" pitchFamily="34" charset="0"/>
                </a:rPr>
                <a:t>Routing</a:t>
              </a:r>
            </a:p>
          </p:txBody>
        </p:sp>
        <p:cxnSp>
          <p:nvCxnSpPr>
            <p:cNvPr id="15" name="Straight Arrow Connector 14">
              <a:extLst>
                <a:ext uri="{FF2B5EF4-FFF2-40B4-BE49-F238E27FC236}">
                  <a16:creationId xmlns:a16="http://schemas.microsoft.com/office/drawing/2014/main" id="{59E73F7B-ECFD-AAE1-1645-232D6122D894}"/>
                </a:ext>
              </a:extLst>
            </p:cNvPr>
            <p:cNvCxnSpPr>
              <a:cxnSpLocks/>
            </p:cNvCxnSpPr>
            <p:nvPr/>
          </p:nvCxnSpPr>
          <p:spPr>
            <a:xfrm>
              <a:off x="1462917" y="3833023"/>
              <a:ext cx="1603192" cy="1"/>
            </a:xfrm>
            <a:prstGeom prst="straightConnector1">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00614F8-1394-F7B8-CC92-A78FE0579452}"/>
                </a:ext>
              </a:extLst>
            </p:cNvPr>
            <p:cNvCxnSpPr>
              <a:cxnSpLocks/>
            </p:cNvCxnSpPr>
            <p:nvPr/>
          </p:nvCxnSpPr>
          <p:spPr>
            <a:xfrm flipV="1">
              <a:off x="4381633" y="2702285"/>
              <a:ext cx="1041549" cy="636851"/>
            </a:xfrm>
            <a:prstGeom prst="straightConnector1">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97EC5A3-2FAE-5A01-A308-4C4E501426BF}"/>
                </a:ext>
              </a:extLst>
            </p:cNvPr>
            <p:cNvCxnSpPr>
              <a:cxnSpLocks/>
            </p:cNvCxnSpPr>
            <p:nvPr/>
          </p:nvCxnSpPr>
          <p:spPr>
            <a:xfrm>
              <a:off x="4543289" y="3864961"/>
              <a:ext cx="883426" cy="0"/>
            </a:xfrm>
            <a:prstGeom prst="straightConnector1">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A481893-2704-C454-7BD7-B61D0A19DA17}"/>
                </a:ext>
              </a:extLst>
            </p:cNvPr>
            <p:cNvCxnSpPr>
              <a:cxnSpLocks/>
            </p:cNvCxnSpPr>
            <p:nvPr/>
          </p:nvCxnSpPr>
          <p:spPr>
            <a:xfrm>
              <a:off x="4399987" y="4326394"/>
              <a:ext cx="1054596" cy="701243"/>
            </a:xfrm>
            <a:prstGeom prst="straightConnector1">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7BFDCF0A-0B33-B05F-64F2-4B57DD8049E7}"/>
                </a:ext>
              </a:extLst>
            </p:cNvPr>
            <p:cNvPicPr>
              <a:picLocks noChangeAspect="1"/>
            </p:cNvPicPr>
            <p:nvPr/>
          </p:nvPicPr>
          <p:blipFill>
            <a:blip r:embed="rId4"/>
            <a:stretch>
              <a:fillRect/>
            </a:stretch>
          </p:blipFill>
          <p:spPr>
            <a:xfrm>
              <a:off x="5416351" y="1917210"/>
              <a:ext cx="1186170" cy="1186170"/>
            </a:xfrm>
            <a:prstGeom prst="rect">
              <a:avLst/>
            </a:prstGeom>
          </p:spPr>
        </p:pic>
        <p:pic>
          <p:nvPicPr>
            <p:cNvPr id="7" name="Picture 6">
              <a:extLst>
                <a:ext uri="{FF2B5EF4-FFF2-40B4-BE49-F238E27FC236}">
                  <a16:creationId xmlns:a16="http://schemas.microsoft.com/office/drawing/2014/main" id="{09BBF3C3-E766-3CD2-6A1F-930375171E67}"/>
                </a:ext>
              </a:extLst>
            </p:cNvPr>
            <p:cNvPicPr>
              <a:picLocks noChangeAspect="1"/>
            </p:cNvPicPr>
            <p:nvPr/>
          </p:nvPicPr>
          <p:blipFill>
            <a:blip r:embed="rId5"/>
            <a:stretch>
              <a:fillRect/>
            </a:stretch>
          </p:blipFill>
          <p:spPr>
            <a:xfrm>
              <a:off x="5454583" y="4544923"/>
              <a:ext cx="1068305" cy="1068305"/>
            </a:xfrm>
            <a:prstGeom prst="rect">
              <a:avLst/>
            </a:prstGeom>
          </p:spPr>
        </p:pic>
        <p:pic>
          <p:nvPicPr>
            <p:cNvPr id="26" name="Picture 25">
              <a:extLst>
                <a:ext uri="{FF2B5EF4-FFF2-40B4-BE49-F238E27FC236}">
                  <a16:creationId xmlns:a16="http://schemas.microsoft.com/office/drawing/2014/main" id="{DC94D3CA-892F-27E0-D43D-8EFF4D0A9EF1}"/>
                </a:ext>
              </a:extLst>
            </p:cNvPr>
            <p:cNvPicPr>
              <a:picLocks noChangeAspect="1"/>
            </p:cNvPicPr>
            <p:nvPr/>
          </p:nvPicPr>
          <p:blipFill>
            <a:blip r:embed="rId6"/>
            <a:stretch>
              <a:fillRect/>
            </a:stretch>
          </p:blipFill>
          <p:spPr>
            <a:xfrm>
              <a:off x="5426715" y="3289910"/>
              <a:ext cx="1120237" cy="1051651"/>
            </a:xfrm>
            <a:prstGeom prst="rect">
              <a:avLst/>
            </a:prstGeom>
          </p:spPr>
        </p:pic>
      </p:grpSp>
      <p:sp>
        <p:nvSpPr>
          <p:cNvPr id="32" name="TextBox 31">
            <a:extLst>
              <a:ext uri="{FF2B5EF4-FFF2-40B4-BE49-F238E27FC236}">
                <a16:creationId xmlns:a16="http://schemas.microsoft.com/office/drawing/2014/main" id="{A604368C-2D2C-B53B-3FC8-368DB769DD9F}"/>
              </a:ext>
            </a:extLst>
          </p:cNvPr>
          <p:cNvSpPr txBox="1"/>
          <p:nvPr/>
        </p:nvSpPr>
        <p:spPr>
          <a:xfrm>
            <a:off x="518161" y="1011862"/>
            <a:ext cx="11155680"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A network of payment channels emerges with the help of trustless routing enforced through HTLC </a:t>
            </a:r>
          </a:p>
          <a:p>
            <a:pPr marL="285750" indent="-285750">
              <a:buFont typeface="Arial" panose="020B0604020202020204" pitchFamily="34" charset="0"/>
              <a:buChar char="•"/>
            </a:pPr>
            <a:r>
              <a:rPr lang="en-US" sz="2000" dirty="0">
                <a:latin typeface="Candara" panose="020E0502030303020204" pitchFamily="34" charset="0"/>
              </a:rPr>
              <a:t>Each channel becomes an edge in a graph and payment can be safely routed across multiple hops</a:t>
            </a:r>
          </a:p>
          <a:p>
            <a:pPr marL="285750" indent="-285750">
              <a:buFont typeface="Arial" panose="020B0604020202020204" pitchFamily="34" charset="0"/>
              <a:buChar char="•"/>
            </a:pPr>
            <a:r>
              <a:rPr lang="en-US" sz="2000" dirty="0">
                <a:latin typeface="Candara" panose="020E0502030303020204" pitchFamily="34" charset="0"/>
              </a:rPr>
              <a:t>Typical pathfinding algorithms like Dijkstra algorithms can be used to find the optimal paths (shortest path or with lowest fees)</a:t>
            </a:r>
          </a:p>
        </p:txBody>
      </p:sp>
      <p:grpSp>
        <p:nvGrpSpPr>
          <p:cNvPr id="100" name="Group 99">
            <a:extLst>
              <a:ext uri="{FF2B5EF4-FFF2-40B4-BE49-F238E27FC236}">
                <a16:creationId xmlns:a16="http://schemas.microsoft.com/office/drawing/2014/main" id="{C1EAFFB0-5C92-C439-7D4B-458581617C3B}"/>
              </a:ext>
            </a:extLst>
          </p:cNvPr>
          <p:cNvGrpSpPr/>
          <p:nvPr/>
        </p:nvGrpSpPr>
        <p:grpSpPr>
          <a:xfrm>
            <a:off x="1373862" y="2463826"/>
            <a:ext cx="3217295" cy="3924411"/>
            <a:chOff x="8053754" y="2096758"/>
            <a:chExt cx="2365637" cy="3554466"/>
          </a:xfrm>
        </p:grpSpPr>
        <p:grpSp>
          <p:nvGrpSpPr>
            <p:cNvPr id="82" name="Group 81">
              <a:extLst>
                <a:ext uri="{FF2B5EF4-FFF2-40B4-BE49-F238E27FC236}">
                  <a16:creationId xmlns:a16="http://schemas.microsoft.com/office/drawing/2014/main" id="{93B385B3-8679-39DC-1993-AD0FC2E0115B}"/>
                </a:ext>
              </a:extLst>
            </p:cNvPr>
            <p:cNvGrpSpPr/>
            <p:nvPr/>
          </p:nvGrpSpPr>
          <p:grpSpPr>
            <a:xfrm>
              <a:off x="8053754" y="2096758"/>
              <a:ext cx="2365637" cy="2930879"/>
              <a:chOff x="8053754" y="2096758"/>
              <a:chExt cx="2365637" cy="2930879"/>
            </a:xfrm>
          </p:grpSpPr>
          <p:sp>
            <p:nvSpPr>
              <p:cNvPr id="34" name="Oval 33">
                <a:extLst>
                  <a:ext uri="{FF2B5EF4-FFF2-40B4-BE49-F238E27FC236}">
                    <a16:creationId xmlns:a16="http://schemas.microsoft.com/office/drawing/2014/main" id="{10331F08-3AC6-3095-DE4C-08AD9632C138}"/>
                  </a:ext>
                </a:extLst>
              </p:cNvPr>
              <p:cNvSpPr/>
              <p:nvPr/>
            </p:nvSpPr>
            <p:spPr>
              <a:xfrm>
                <a:off x="8053754" y="2332892"/>
                <a:ext cx="152400" cy="175846"/>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5" name="Oval 34">
                <a:extLst>
                  <a:ext uri="{FF2B5EF4-FFF2-40B4-BE49-F238E27FC236}">
                    <a16:creationId xmlns:a16="http://schemas.microsoft.com/office/drawing/2014/main" id="{86B6F8E0-2F26-F9BB-3596-1D22F5CC92D9}"/>
                  </a:ext>
                </a:extLst>
              </p:cNvPr>
              <p:cNvSpPr/>
              <p:nvPr/>
            </p:nvSpPr>
            <p:spPr>
              <a:xfrm>
                <a:off x="8053754" y="2679558"/>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6" name="Oval 35">
                <a:extLst>
                  <a:ext uri="{FF2B5EF4-FFF2-40B4-BE49-F238E27FC236}">
                    <a16:creationId xmlns:a16="http://schemas.microsoft.com/office/drawing/2014/main" id="{CD234D4B-EAD7-2B27-0DDC-A488F0582069}"/>
                  </a:ext>
                </a:extLst>
              </p:cNvPr>
              <p:cNvSpPr/>
              <p:nvPr/>
            </p:nvSpPr>
            <p:spPr>
              <a:xfrm>
                <a:off x="8053754" y="3020710"/>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7" name="Oval 36">
                <a:extLst>
                  <a:ext uri="{FF2B5EF4-FFF2-40B4-BE49-F238E27FC236}">
                    <a16:creationId xmlns:a16="http://schemas.microsoft.com/office/drawing/2014/main" id="{002C0AC3-094E-D009-4B52-E97767163E75}"/>
                  </a:ext>
                </a:extLst>
              </p:cNvPr>
              <p:cNvSpPr/>
              <p:nvPr/>
            </p:nvSpPr>
            <p:spPr>
              <a:xfrm>
                <a:off x="9002212" y="2096758"/>
                <a:ext cx="348299" cy="369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1</a:t>
                </a:r>
              </a:p>
            </p:txBody>
          </p:sp>
          <p:sp>
            <p:nvSpPr>
              <p:cNvPr id="38" name="Oval 37">
                <a:extLst>
                  <a:ext uri="{FF2B5EF4-FFF2-40B4-BE49-F238E27FC236}">
                    <a16:creationId xmlns:a16="http://schemas.microsoft.com/office/drawing/2014/main" id="{5EA5B656-085E-DF47-6FC0-F54A3050FC27}"/>
                  </a:ext>
                </a:extLst>
              </p:cNvPr>
              <p:cNvSpPr/>
              <p:nvPr/>
            </p:nvSpPr>
            <p:spPr>
              <a:xfrm>
                <a:off x="9002212" y="3412225"/>
                <a:ext cx="348299" cy="369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2</a:t>
                </a:r>
              </a:p>
            </p:txBody>
          </p:sp>
          <p:sp>
            <p:nvSpPr>
              <p:cNvPr id="39" name="Oval 38">
                <a:extLst>
                  <a:ext uri="{FF2B5EF4-FFF2-40B4-BE49-F238E27FC236}">
                    <a16:creationId xmlns:a16="http://schemas.microsoft.com/office/drawing/2014/main" id="{FFCD6138-8251-4E2B-7095-931501ABDC8E}"/>
                  </a:ext>
                </a:extLst>
              </p:cNvPr>
              <p:cNvSpPr/>
              <p:nvPr/>
            </p:nvSpPr>
            <p:spPr>
              <a:xfrm>
                <a:off x="8053754" y="3401193"/>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0" name="Oval 39">
                <a:extLst>
                  <a:ext uri="{FF2B5EF4-FFF2-40B4-BE49-F238E27FC236}">
                    <a16:creationId xmlns:a16="http://schemas.microsoft.com/office/drawing/2014/main" id="{F9EAEFD4-89E5-F478-63F1-57742EE32ACA}"/>
                  </a:ext>
                </a:extLst>
              </p:cNvPr>
              <p:cNvSpPr/>
              <p:nvPr/>
            </p:nvSpPr>
            <p:spPr>
              <a:xfrm>
                <a:off x="8053754" y="3747859"/>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1" name="Oval 40">
                <a:extLst>
                  <a:ext uri="{FF2B5EF4-FFF2-40B4-BE49-F238E27FC236}">
                    <a16:creationId xmlns:a16="http://schemas.microsoft.com/office/drawing/2014/main" id="{8EFB1ACA-5C63-19BF-F08A-BA11F1F76CAE}"/>
                  </a:ext>
                </a:extLst>
              </p:cNvPr>
              <p:cNvSpPr/>
              <p:nvPr/>
            </p:nvSpPr>
            <p:spPr>
              <a:xfrm>
                <a:off x="8053754" y="4089011"/>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2" name="Oval 41">
                <a:extLst>
                  <a:ext uri="{FF2B5EF4-FFF2-40B4-BE49-F238E27FC236}">
                    <a16:creationId xmlns:a16="http://schemas.microsoft.com/office/drawing/2014/main" id="{6E935A9E-8155-70D8-7CED-EFDFA1EA5B34}"/>
                  </a:ext>
                </a:extLst>
              </p:cNvPr>
              <p:cNvSpPr/>
              <p:nvPr/>
            </p:nvSpPr>
            <p:spPr>
              <a:xfrm>
                <a:off x="9014242" y="4658306"/>
                <a:ext cx="348299" cy="369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3</a:t>
                </a:r>
              </a:p>
            </p:txBody>
          </p:sp>
          <p:sp>
            <p:nvSpPr>
              <p:cNvPr id="43" name="Oval 42">
                <a:extLst>
                  <a:ext uri="{FF2B5EF4-FFF2-40B4-BE49-F238E27FC236}">
                    <a16:creationId xmlns:a16="http://schemas.microsoft.com/office/drawing/2014/main" id="{3FCC279B-C73A-79DA-F585-D2DC23F998DE}"/>
                  </a:ext>
                </a:extLst>
              </p:cNvPr>
              <p:cNvSpPr/>
              <p:nvPr/>
            </p:nvSpPr>
            <p:spPr>
              <a:xfrm>
                <a:off x="10122405" y="2162297"/>
                <a:ext cx="296986" cy="3426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4" name="Oval 43">
                <a:extLst>
                  <a:ext uri="{FF2B5EF4-FFF2-40B4-BE49-F238E27FC236}">
                    <a16:creationId xmlns:a16="http://schemas.microsoft.com/office/drawing/2014/main" id="{BE3C5A62-0CC4-5348-E37A-D024CC426166}"/>
                  </a:ext>
                </a:extLst>
              </p:cNvPr>
              <p:cNvSpPr/>
              <p:nvPr/>
            </p:nvSpPr>
            <p:spPr>
              <a:xfrm>
                <a:off x="10203542" y="2723150"/>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5" name="Oval 44">
                <a:extLst>
                  <a:ext uri="{FF2B5EF4-FFF2-40B4-BE49-F238E27FC236}">
                    <a16:creationId xmlns:a16="http://schemas.microsoft.com/office/drawing/2014/main" id="{0A9B1CED-9940-01DE-1B14-F678306C4B89}"/>
                  </a:ext>
                </a:extLst>
              </p:cNvPr>
              <p:cNvSpPr/>
              <p:nvPr/>
            </p:nvSpPr>
            <p:spPr>
              <a:xfrm>
                <a:off x="10194695" y="3020710"/>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6" name="Oval 45">
                <a:extLst>
                  <a:ext uri="{FF2B5EF4-FFF2-40B4-BE49-F238E27FC236}">
                    <a16:creationId xmlns:a16="http://schemas.microsoft.com/office/drawing/2014/main" id="{5E529248-B32C-6DE6-CCE2-DBD6283119B3}"/>
                  </a:ext>
                </a:extLst>
              </p:cNvPr>
              <p:cNvSpPr/>
              <p:nvPr/>
            </p:nvSpPr>
            <p:spPr>
              <a:xfrm>
                <a:off x="10194695" y="3401193"/>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7" name="Oval 46">
                <a:extLst>
                  <a:ext uri="{FF2B5EF4-FFF2-40B4-BE49-F238E27FC236}">
                    <a16:creationId xmlns:a16="http://schemas.microsoft.com/office/drawing/2014/main" id="{C68C34B5-9523-F951-6B08-2A050ECED042}"/>
                  </a:ext>
                </a:extLst>
              </p:cNvPr>
              <p:cNvSpPr/>
              <p:nvPr/>
            </p:nvSpPr>
            <p:spPr>
              <a:xfrm>
                <a:off x="10194695" y="3747859"/>
                <a:ext cx="152400" cy="175846"/>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8" name="Oval 47">
                <a:extLst>
                  <a:ext uri="{FF2B5EF4-FFF2-40B4-BE49-F238E27FC236}">
                    <a16:creationId xmlns:a16="http://schemas.microsoft.com/office/drawing/2014/main" id="{F5C29077-AC0F-F2B1-6013-8462AF478EA8}"/>
                  </a:ext>
                </a:extLst>
              </p:cNvPr>
              <p:cNvSpPr/>
              <p:nvPr/>
            </p:nvSpPr>
            <p:spPr>
              <a:xfrm>
                <a:off x="10194695" y="4089011"/>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49" name="Straight Arrow Connector 48">
                <a:extLst>
                  <a:ext uri="{FF2B5EF4-FFF2-40B4-BE49-F238E27FC236}">
                    <a16:creationId xmlns:a16="http://schemas.microsoft.com/office/drawing/2014/main" id="{1E0BD750-E3AC-A061-F98E-4E8E07F7D42E}"/>
                  </a:ext>
                </a:extLst>
              </p:cNvPr>
              <p:cNvCxnSpPr>
                <a:cxnSpLocks/>
                <a:endCxn id="37" idx="1"/>
              </p:cNvCxnSpPr>
              <p:nvPr/>
            </p:nvCxnSpPr>
            <p:spPr>
              <a:xfrm flipV="1">
                <a:off x="8206154" y="2150845"/>
                <a:ext cx="847065" cy="290182"/>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18F192B-E373-D4EF-09D1-4A2937BE7C34}"/>
                  </a:ext>
                </a:extLst>
              </p:cNvPr>
              <p:cNvCxnSpPr>
                <a:cxnSpLocks/>
                <a:endCxn id="37" idx="2"/>
              </p:cNvCxnSpPr>
              <p:nvPr/>
            </p:nvCxnSpPr>
            <p:spPr>
              <a:xfrm flipV="1">
                <a:off x="8206154" y="2281424"/>
                <a:ext cx="796058" cy="492227"/>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3B24FAC-6532-B518-2AC0-13A25C968217}"/>
                  </a:ext>
                </a:extLst>
              </p:cNvPr>
              <p:cNvCxnSpPr>
                <a:cxnSpLocks/>
                <a:endCxn id="38" idx="1"/>
              </p:cNvCxnSpPr>
              <p:nvPr/>
            </p:nvCxnSpPr>
            <p:spPr>
              <a:xfrm>
                <a:off x="8180650" y="3098707"/>
                <a:ext cx="872569" cy="367605"/>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BC6251B-739A-0E54-3DE4-EBB1B6B12980}"/>
                  </a:ext>
                </a:extLst>
              </p:cNvPr>
              <p:cNvCxnSpPr>
                <a:cxnSpLocks/>
                <a:endCxn id="38" idx="2"/>
              </p:cNvCxnSpPr>
              <p:nvPr/>
            </p:nvCxnSpPr>
            <p:spPr>
              <a:xfrm>
                <a:off x="8193401" y="3507794"/>
                <a:ext cx="808811" cy="89097"/>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BCB047A-5A8E-0AFE-8F04-82DF7C1E1741}"/>
                  </a:ext>
                </a:extLst>
              </p:cNvPr>
              <p:cNvCxnSpPr>
                <a:cxnSpLocks/>
                <a:stCxn id="40" idx="5"/>
                <a:endCxn id="42" idx="1"/>
              </p:cNvCxnSpPr>
              <p:nvPr/>
            </p:nvCxnSpPr>
            <p:spPr>
              <a:xfrm>
                <a:off x="8183836" y="3897953"/>
                <a:ext cx="881413" cy="814440"/>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68F6A9B-F31C-FE1E-8AE4-03C074CD3A38}"/>
                  </a:ext>
                </a:extLst>
              </p:cNvPr>
              <p:cNvCxnSpPr>
                <a:cxnSpLocks/>
                <a:endCxn id="42" idx="2"/>
              </p:cNvCxnSpPr>
              <p:nvPr/>
            </p:nvCxnSpPr>
            <p:spPr>
              <a:xfrm>
                <a:off x="8144554" y="4203405"/>
                <a:ext cx="869688" cy="639567"/>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019DF49-DC2D-49B7-AB81-4492B92865AA}"/>
                  </a:ext>
                </a:extLst>
              </p:cNvPr>
              <p:cNvCxnSpPr>
                <a:cxnSpLocks/>
                <a:stCxn id="37" idx="4"/>
                <a:endCxn id="38" idx="0"/>
              </p:cNvCxnSpPr>
              <p:nvPr/>
            </p:nvCxnSpPr>
            <p:spPr>
              <a:xfrm>
                <a:off x="9176362" y="2466089"/>
                <a:ext cx="0" cy="946136"/>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FE0D7E3-7492-A414-BBF5-E770FDD49D6D}"/>
                  </a:ext>
                </a:extLst>
              </p:cNvPr>
              <p:cNvCxnSpPr>
                <a:cxnSpLocks/>
                <a:stCxn id="38" idx="4"/>
                <a:endCxn id="42" idx="0"/>
              </p:cNvCxnSpPr>
              <p:nvPr/>
            </p:nvCxnSpPr>
            <p:spPr>
              <a:xfrm>
                <a:off x="9176362" y="3781556"/>
                <a:ext cx="12030" cy="876750"/>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D2F6BBA-E3D0-C907-1978-AA381D0CBD2D}"/>
                  </a:ext>
                </a:extLst>
              </p:cNvPr>
              <p:cNvCxnSpPr>
                <a:cxnSpLocks/>
                <a:stCxn id="37" idx="6"/>
              </p:cNvCxnSpPr>
              <p:nvPr/>
            </p:nvCxnSpPr>
            <p:spPr>
              <a:xfrm>
                <a:off x="9350511" y="2281424"/>
                <a:ext cx="771894" cy="83541"/>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F8B7166-2B61-0770-97BC-140182209F92}"/>
                  </a:ext>
                </a:extLst>
              </p:cNvPr>
              <p:cNvCxnSpPr>
                <a:cxnSpLocks/>
                <a:stCxn id="37" idx="5"/>
                <a:endCxn id="44" idx="2"/>
              </p:cNvCxnSpPr>
              <p:nvPr/>
            </p:nvCxnSpPr>
            <p:spPr>
              <a:xfrm>
                <a:off x="9299504" y="2412002"/>
                <a:ext cx="904038" cy="399071"/>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25D240E-D7E2-9C10-B2CA-C911EE1D6FCD}"/>
                  </a:ext>
                </a:extLst>
              </p:cNvPr>
              <p:cNvCxnSpPr>
                <a:cxnSpLocks/>
                <a:stCxn id="38" idx="7"/>
              </p:cNvCxnSpPr>
              <p:nvPr/>
            </p:nvCxnSpPr>
            <p:spPr>
              <a:xfrm flipV="1">
                <a:off x="9299504" y="3113399"/>
                <a:ext cx="895191" cy="352913"/>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958E8F6A-E7FB-4314-161F-B53F0C801791}"/>
                  </a:ext>
                </a:extLst>
              </p:cNvPr>
              <p:cNvCxnSpPr>
                <a:cxnSpLocks/>
                <a:stCxn id="38" idx="6"/>
                <a:endCxn id="46" idx="2"/>
              </p:cNvCxnSpPr>
              <p:nvPr/>
            </p:nvCxnSpPr>
            <p:spPr>
              <a:xfrm flipV="1">
                <a:off x="9350511" y="3489116"/>
                <a:ext cx="844184" cy="107775"/>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05E870D8-DD5C-6215-0D93-689FF76C84EF}"/>
                  </a:ext>
                </a:extLst>
              </p:cNvPr>
              <p:cNvCxnSpPr>
                <a:cxnSpLocks/>
                <a:stCxn id="42" idx="7"/>
              </p:cNvCxnSpPr>
              <p:nvPr/>
            </p:nvCxnSpPr>
            <p:spPr>
              <a:xfrm flipV="1">
                <a:off x="9311534" y="3848880"/>
                <a:ext cx="883161" cy="863513"/>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BC74168E-2A58-9A89-A708-FF75E42D3E1F}"/>
                  </a:ext>
                </a:extLst>
              </p:cNvPr>
              <p:cNvCxnSpPr>
                <a:cxnSpLocks/>
                <a:stCxn id="42" idx="6"/>
              </p:cNvCxnSpPr>
              <p:nvPr/>
            </p:nvCxnSpPr>
            <p:spPr>
              <a:xfrm flipV="1">
                <a:off x="9362541" y="4221606"/>
                <a:ext cx="826139" cy="621366"/>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grpSp>
        <p:sp>
          <p:nvSpPr>
            <p:cNvPr id="85" name="Oval 84">
              <a:extLst>
                <a:ext uri="{FF2B5EF4-FFF2-40B4-BE49-F238E27FC236}">
                  <a16:creationId xmlns:a16="http://schemas.microsoft.com/office/drawing/2014/main" id="{F64121E9-D0A9-4FC3-DB68-6E6D7E8E6814}"/>
                </a:ext>
              </a:extLst>
            </p:cNvPr>
            <p:cNvSpPr/>
            <p:nvPr/>
          </p:nvSpPr>
          <p:spPr>
            <a:xfrm>
              <a:off x="10194695" y="4755048"/>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86" name="Straight Arrow Connector 85">
              <a:extLst>
                <a:ext uri="{FF2B5EF4-FFF2-40B4-BE49-F238E27FC236}">
                  <a16:creationId xmlns:a16="http://schemas.microsoft.com/office/drawing/2014/main" id="{06ADC5B1-20E0-0062-513D-8CF976FF6758}"/>
                </a:ext>
              </a:extLst>
            </p:cNvPr>
            <p:cNvCxnSpPr>
              <a:cxnSpLocks/>
            </p:cNvCxnSpPr>
            <p:nvPr/>
          </p:nvCxnSpPr>
          <p:spPr>
            <a:xfrm>
              <a:off x="10275182" y="4279392"/>
              <a:ext cx="0" cy="485517"/>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0CA49A8F-8D18-8E67-C95A-C4C2400A206F}"/>
                </a:ext>
              </a:extLst>
            </p:cNvPr>
            <p:cNvSpPr/>
            <p:nvPr/>
          </p:nvSpPr>
          <p:spPr>
            <a:xfrm>
              <a:off x="8073985" y="4737681"/>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88" name="Straight Arrow Connector 87">
              <a:extLst>
                <a:ext uri="{FF2B5EF4-FFF2-40B4-BE49-F238E27FC236}">
                  <a16:creationId xmlns:a16="http://schemas.microsoft.com/office/drawing/2014/main" id="{01F4FC1B-7136-25C7-94F0-870CB358E9BF}"/>
                </a:ext>
              </a:extLst>
            </p:cNvPr>
            <p:cNvCxnSpPr>
              <a:cxnSpLocks/>
            </p:cNvCxnSpPr>
            <p:nvPr/>
          </p:nvCxnSpPr>
          <p:spPr>
            <a:xfrm>
              <a:off x="8152789" y="4264857"/>
              <a:ext cx="0" cy="485517"/>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C91604B5-42DC-F738-E3B4-235C5C3AEE4F}"/>
                </a:ext>
              </a:extLst>
            </p:cNvPr>
            <p:cNvSpPr/>
            <p:nvPr/>
          </p:nvSpPr>
          <p:spPr>
            <a:xfrm>
              <a:off x="9112191" y="5447133"/>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90" name="Straight Arrow Connector 89">
              <a:extLst>
                <a:ext uri="{FF2B5EF4-FFF2-40B4-BE49-F238E27FC236}">
                  <a16:creationId xmlns:a16="http://schemas.microsoft.com/office/drawing/2014/main" id="{C6E5C7E6-296C-2DE0-2106-7E214F13B705}"/>
                </a:ext>
              </a:extLst>
            </p:cNvPr>
            <p:cNvCxnSpPr>
              <a:cxnSpLocks/>
            </p:cNvCxnSpPr>
            <p:nvPr/>
          </p:nvCxnSpPr>
          <p:spPr>
            <a:xfrm>
              <a:off x="8204611" y="4908178"/>
              <a:ext cx="869688" cy="639567"/>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51ADAC83-8A7C-9FE9-3ABD-484714AB522D}"/>
                </a:ext>
              </a:extLst>
            </p:cNvPr>
            <p:cNvSpPr/>
            <p:nvPr/>
          </p:nvSpPr>
          <p:spPr>
            <a:xfrm>
              <a:off x="10188680" y="5459822"/>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92" name="Straight Arrow Connector 91">
              <a:extLst>
                <a:ext uri="{FF2B5EF4-FFF2-40B4-BE49-F238E27FC236}">
                  <a16:creationId xmlns:a16="http://schemas.microsoft.com/office/drawing/2014/main" id="{E971ED75-8707-23A2-772D-F41582DF8575}"/>
                </a:ext>
              </a:extLst>
            </p:cNvPr>
            <p:cNvCxnSpPr>
              <a:cxnSpLocks/>
            </p:cNvCxnSpPr>
            <p:nvPr/>
          </p:nvCxnSpPr>
          <p:spPr>
            <a:xfrm>
              <a:off x="9262853" y="5563301"/>
              <a:ext cx="925827" cy="25842"/>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A60EA916-3E38-9FB0-283D-6F40465F5D28}"/>
                </a:ext>
              </a:extLst>
            </p:cNvPr>
            <p:cNvSpPr/>
            <p:nvPr/>
          </p:nvSpPr>
          <p:spPr>
            <a:xfrm>
              <a:off x="10188680" y="5140873"/>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95" name="Straight Arrow Connector 94">
              <a:extLst>
                <a:ext uri="{FF2B5EF4-FFF2-40B4-BE49-F238E27FC236}">
                  <a16:creationId xmlns:a16="http://schemas.microsoft.com/office/drawing/2014/main" id="{0DBF1869-352A-E33D-7074-F16DE465DBC3}"/>
                </a:ext>
              </a:extLst>
            </p:cNvPr>
            <p:cNvCxnSpPr>
              <a:cxnSpLocks/>
              <a:stCxn id="42" idx="5"/>
            </p:cNvCxnSpPr>
            <p:nvPr/>
          </p:nvCxnSpPr>
          <p:spPr>
            <a:xfrm>
              <a:off x="9311534" y="4973550"/>
              <a:ext cx="877865" cy="292684"/>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69A433C5-BD0F-C997-AD8B-253C422FD7E9}"/>
                </a:ext>
              </a:extLst>
            </p:cNvPr>
            <p:cNvSpPr/>
            <p:nvPr/>
          </p:nvSpPr>
          <p:spPr>
            <a:xfrm>
              <a:off x="8076589" y="5475378"/>
              <a:ext cx="152400" cy="175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98" name="Straight Arrow Connector 97">
              <a:extLst>
                <a:ext uri="{FF2B5EF4-FFF2-40B4-BE49-F238E27FC236}">
                  <a16:creationId xmlns:a16="http://schemas.microsoft.com/office/drawing/2014/main" id="{3F3B7A24-B50A-1002-DFEB-366FFDF55553}"/>
                </a:ext>
              </a:extLst>
            </p:cNvPr>
            <p:cNvCxnSpPr>
              <a:cxnSpLocks/>
            </p:cNvCxnSpPr>
            <p:nvPr/>
          </p:nvCxnSpPr>
          <p:spPr>
            <a:xfrm>
              <a:off x="8217314" y="5560721"/>
              <a:ext cx="796928" cy="34116"/>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1A0FD4C2-0069-EDFC-0F03-CEE7FB617F65}"/>
              </a:ext>
            </a:extLst>
          </p:cNvPr>
          <p:cNvSpPr txBox="1"/>
          <p:nvPr/>
        </p:nvSpPr>
        <p:spPr>
          <a:xfrm>
            <a:off x="4815611" y="5838956"/>
            <a:ext cx="6518135" cy="646331"/>
          </a:xfrm>
          <a:prstGeom prst="rect">
            <a:avLst/>
          </a:prstGeom>
          <a:solidFill>
            <a:srgbClr val="7030A0"/>
          </a:solidFill>
        </p:spPr>
        <p:txBody>
          <a:bodyPr wrap="square">
            <a:spAutoFit/>
          </a:bodyPr>
          <a:lstStyle/>
          <a:p>
            <a:pPr algn="ctr"/>
            <a:r>
              <a:rPr lang="en-US" dirty="0">
                <a:solidFill>
                  <a:schemeClr val="bg1"/>
                </a:solidFill>
                <a:latin typeface="Candara" panose="020E0502030303020204" pitchFamily="34" charset="0"/>
              </a:rPr>
              <a:t>Some nodes (1, 2, 3 in the graph) become highly connected hubs, offering routing as a service and earning small routing fee</a:t>
            </a:r>
          </a:p>
        </p:txBody>
      </p:sp>
      <p:cxnSp>
        <p:nvCxnSpPr>
          <p:cNvPr id="10" name="Straight Arrow Connector 9">
            <a:extLst>
              <a:ext uri="{FF2B5EF4-FFF2-40B4-BE49-F238E27FC236}">
                <a16:creationId xmlns:a16="http://schemas.microsoft.com/office/drawing/2014/main" id="{5E347132-F97D-9902-03AC-7CD769095C7A}"/>
              </a:ext>
            </a:extLst>
          </p:cNvPr>
          <p:cNvCxnSpPr>
            <a:cxnSpLocks/>
          </p:cNvCxnSpPr>
          <p:nvPr/>
        </p:nvCxnSpPr>
        <p:spPr>
          <a:xfrm>
            <a:off x="4395031" y="2882430"/>
            <a:ext cx="0" cy="275077"/>
          </a:xfrm>
          <a:prstGeom prst="straightConnector1">
            <a:avLst/>
          </a:prstGeom>
          <a:ln w="63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4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A41F7-A183-EEE3-74AF-E82BD69CAB97}"/>
              </a:ext>
            </a:extLst>
          </p:cNvPr>
          <p:cNvSpPr>
            <a:spLocks noGrp="1"/>
          </p:cNvSpPr>
          <p:nvPr>
            <p:ph type="title"/>
          </p:nvPr>
        </p:nvSpPr>
        <p:spPr/>
        <p:txBody>
          <a:bodyPr/>
          <a:lstStyle/>
          <a:p>
            <a:r>
              <a:rPr lang="en-US" dirty="0"/>
              <a:t>Lightning Network</a:t>
            </a:r>
          </a:p>
        </p:txBody>
      </p:sp>
      <p:sp>
        <p:nvSpPr>
          <p:cNvPr id="3" name="Content Placeholder 2">
            <a:extLst>
              <a:ext uri="{FF2B5EF4-FFF2-40B4-BE49-F238E27FC236}">
                <a16:creationId xmlns:a16="http://schemas.microsoft.com/office/drawing/2014/main" id="{84C97655-A4BE-FF3B-7994-EA4BAB4D470A}"/>
              </a:ext>
            </a:extLst>
          </p:cNvPr>
          <p:cNvSpPr>
            <a:spLocks noGrp="1"/>
          </p:cNvSpPr>
          <p:nvPr>
            <p:ph idx="1"/>
          </p:nvPr>
        </p:nvSpPr>
        <p:spPr>
          <a:xfrm>
            <a:off x="487680" y="1097281"/>
            <a:ext cx="11186160" cy="3065645"/>
          </a:xfrm>
        </p:spPr>
        <p:txBody>
          <a:bodyPr>
            <a:normAutofit fontScale="70000" lnSpcReduction="20000"/>
          </a:bodyPr>
          <a:lstStyle/>
          <a:p>
            <a:r>
              <a:rPr lang="en-US" dirty="0"/>
              <a:t>The concept of payment channels for off-chain Bitcoin transactions was introduced in 2015 in a Whitepaper by Joseph Poon &amp; Thaddeus Dryja</a:t>
            </a:r>
          </a:p>
          <a:p>
            <a:pPr lvl="1"/>
            <a:r>
              <a:rPr lang="en-US" dirty="0"/>
              <a:t>“The Bitcoin Lightning Network: Scalable On-Chain Instant Payments”</a:t>
            </a:r>
          </a:p>
          <a:p>
            <a:r>
              <a:rPr lang="en-US" dirty="0"/>
              <a:t>Lightning network (LN) was launched by Lightning Labs in 2018</a:t>
            </a:r>
          </a:p>
          <a:p>
            <a:pPr lvl="1"/>
            <a:r>
              <a:rPr lang="en-US" dirty="0"/>
              <a:t>After the activation of </a:t>
            </a:r>
            <a:r>
              <a:rPr lang="en-US" dirty="0" err="1"/>
              <a:t>SegWit</a:t>
            </a:r>
            <a:r>
              <a:rPr lang="en-US" dirty="0"/>
              <a:t> on the Bitcoin blockchain that solved the transaction malleability problem</a:t>
            </a:r>
          </a:p>
          <a:p>
            <a:pPr lvl="1"/>
            <a:r>
              <a:rPr lang="en-US" dirty="0"/>
              <a:t>The ideas that we discussed are at the core principles of the LN</a:t>
            </a:r>
          </a:p>
          <a:p>
            <a:r>
              <a:rPr lang="en-US" dirty="0"/>
              <a:t>LN is called a layer 2 protocol for Bitcoin </a:t>
            </a:r>
          </a:p>
          <a:p>
            <a:pPr lvl="1"/>
            <a:r>
              <a:rPr lang="en-US" dirty="0"/>
              <a:t>It is neither a blockchain nor a cryptocurrency</a:t>
            </a:r>
          </a:p>
          <a:p>
            <a:r>
              <a:rPr lang="en-US" dirty="0"/>
              <a:t>LN continues to grow and adapt </a:t>
            </a:r>
          </a:p>
        </p:txBody>
      </p:sp>
      <p:sp>
        <p:nvSpPr>
          <p:cNvPr id="4" name="Slide Number Placeholder 3">
            <a:extLst>
              <a:ext uri="{FF2B5EF4-FFF2-40B4-BE49-F238E27FC236}">
                <a16:creationId xmlns:a16="http://schemas.microsoft.com/office/drawing/2014/main" id="{84177C8C-EBF9-0503-7371-9D07548838B4}"/>
              </a:ext>
            </a:extLst>
          </p:cNvPr>
          <p:cNvSpPr>
            <a:spLocks noGrp="1"/>
          </p:cNvSpPr>
          <p:nvPr>
            <p:ph type="sldNum" sz="quarter" idx="12"/>
          </p:nvPr>
        </p:nvSpPr>
        <p:spPr/>
        <p:txBody>
          <a:bodyPr/>
          <a:lstStyle/>
          <a:p>
            <a:fld id="{D57F1E4F-1CFF-5643-939E-217C01CDF565}" type="slidenum">
              <a:rPr lang="en-US" smtClean="0"/>
              <a:pPr/>
              <a:t>77</a:t>
            </a:fld>
            <a:endParaRPr lang="en-US" dirty="0"/>
          </a:p>
        </p:txBody>
      </p:sp>
      <p:pic>
        <p:nvPicPr>
          <p:cNvPr id="8" name="Picture 7">
            <a:extLst>
              <a:ext uri="{FF2B5EF4-FFF2-40B4-BE49-F238E27FC236}">
                <a16:creationId xmlns:a16="http://schemas.microsoft.com/office/drawing/2014/main" id="{EDC8FD05-00E7-D571-EA82-AB940F2307BB}"/>
              </a:ext>
            </a:extLst>
          </p:cNvPr>
          <p:cNvPicPr>
            <a:picLocks noChangeAspect="1"/>
          </p:cNvPicPr>
          <p:nvPr/>
        </p:nvPicPr>
        <p:blipFill>
          <a:blip r:embed="rId3"/>
          <a:stretch>
            <a:fillRect/>
          </a:stretch>
        </p:blipFill>
        <p:spPr>
          <a:xfrm>
            <a:off x="6316577" y="4207505"/>
            <a:ext cx="5669280" cy="1022653"/>
          </a:xfrm>
          <a:prstGeom prst="rect">
            <a:avLst/>
          </a:prstGeom>
        </p:spPr>
      </p:pic>
      <p:pic>
        <p:nvPicPr>
          <p:cNvPr id="10" name="Picture 9">
            <a:extLst>
              <a:ext uri="{FF2B5EF4-FFF2-40B4-BE49-F238E27FC236}">
                <a16:creationId xmlns:a16="http://schemas.microsoft.com/office/drawing/2014/main" id="{E88A5058-3558-8B63-A3E0-7CED05E68F7A}"/>
              </a:ext>
            </a:extLst>
          </p:cNvPr>
          <p:cNvPicPr>
            <a:picLocks noChangeAspect="1"/>
          </p:cNvPicPr>
          <p:nvPr/>
        </p:nvPicPr>
        <p:blipFill>
          <a:blip r:embed="rId4"/>
          <a:stretch>
            <a:fillRect/>
          </a:stretch>
        </p:blipFill>
        <p:spPr>
          <a:xfrm>
            <a:off x="283142" y="4207505"/>
            <a:ext cx="5669280" cy="1060800"/>
          </a:xfrm>
          <a:prstGeom prst="rect">
            <a:avLst/>
          </a:prstGeom>
        </p:spPr>
      </p:pic>
      <p:sp>
        <p:nvSpPr>
          <p:cNvPr id="12" name="TextBox 11">
            <a:extLst>
              <a:ext uri="{FF2B5EF4-FFF2-40B4-BE49-F238E27FC236}">
                <a16:creationId xmlns:a16="http://schemas.microsoft.com/office/drawing/2014/main" id="{CBD1A34D-B20C-7812-8A83-359720CBA10A}"/>
              </a:ext>
            </a:extLst>
          </p:cNvPr>
          <p:cNvSpPr txBox="1"/>
          <p:nvPr/>
        </p:nvSpPr>
        <p:spPr>
          <a:xfrm>
            <a:off x="7876558" y="6391158"/>
            <a:ext cx="3360938" cy="261610"/>
          </a:xfrm>
          <a:prstGeom prst="rect">
            <a:avLst/>
          </a:prstGeom>
          <a:noFill/>
        </p:spPr>
        <p:txBody>
          <a:bodyPr wrap="square">
            <a:spAutoFit/>
          </a:bodyPr>
          <a:lstStyle/>
          <a:p>
            <a:pPr algn="ctr"/>
            <a:r>
              <a:rPr lang="en-US" sz="1100" dirty="0">
                <a:hlinkClick r:id="rId5"/>
              </a:rPr>
              <a:t>https://1ml.com/statistics</a:t>
            </a:r>
            <a:r>
              <a:rPr lang="en-US" sz="1100" dirty="0"/>
              <a:t> </a:t>
            </a:r>
          </a:p>
        </p:txBody>
      </p:sp>
      <p:sp>
        <p:nvSpPr>
          <p:cNvPr id="14" name="TextBox 13">
            <a:extLst>
              <a:ext uri="{FF2B5EF4-FFF2-40B4-BE49-F238E27FC236}">
                <a16:creationId xmlns:a16="http://schemas.microsoft.com/office/drawing/2014/main" id="{E2299551-BDFF-20BA-739B-61964B1929AA}"/>
              </a:ext>
            </a:extLst>
          </p:cNvPr>
          <p:cNvSpPr txBox="1"/>
          <p:nvPr/>
        </p:nvSpPr>
        <p:spPr>
          <a:xfrm>
            <a:off x="854243" y="5414233"/>
            <a:ext cx="10527628" cy="830997"/>
          </a:xfrm>
          <a:prstGeom prst="rect">
            <a:avLst/>
          </a:prstGeom>
          <a:solidFill>
            <a:srgbClr val="7030A0"/>
          </a:solidFill>
        </p:spPr>
        <p:txBody>
          <a:bodyPr wrap="square">
            <a:spAutoFit/>
          </a:bodyPr>
          <a:lstStyle/>
          <a:p>
            <a:pPr algn="ctr"/>
            <a:r>
              <a:rPr lang="en-US" sz="2400" dirty="0">
                <a:solidFill>
                  <a:schemeClr val="bg1"/>
                </a:solidFill>
              </a:rPr>
              <a:t>The LN is a critical component of Bitcoin scalability, and many ideas for Bitcoin’s future evolution revolve around it</a:t>
            </a:r>
          </a:p>
        </p:txBody>
      </p:sp>
    </p:spTree>
    <p:extLst>
      <p:ext uri="{BB962C8B-B14F-4D97-AF65-F5344CB8AC3E}">
        <p14:creationId xmlns:p14="http://schemas.microsoft.com/office/powerpoint/2010/main" val="6600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73144F-669E-4DF3-107A-21123BCC5C1F}"/>
              </a:ext>
            </a:extLst>
          </p:cNvPr>
          <p:cNvSpPr>
            <a:spLocks noGrp="1"/>
          </p:cNvSpPr>
          <p:nvPr>
            <p:ph type="sldNum" sz="quarter" idx="12"/>
          </p:nvPr>
        </p:nvSpPr>
        <p:spPr/>
        <p:txBody>
          <a:bodyPr/>
          <a:lstStyle/>
          <a:p>
            <a:fld id="{D57F1E4F-1CFF-5643-939E-217C01CDF565}" type="slidenum">
              <a:rPr lang="en-US" smtClean="0"/>
              <a:pPr/>
              <a:t>78</a:t>
            </a:fld>
            <a:endParaRPr lang="en-US" dirty="0"/>
          </a:p>
        </p:txBody>
      </p:sp>
      <p:sp>
        <p:nvSpPr>
          <p:cNvPr id="5" name="TextBox 4">
            <a:extLst>
              <a:ext uri="{FF2B5EF4-FFF2-40B4-BE49-F238E27FC236}">
                <a16:creationId xmlns:a16="http://schemas.microsoft.com/office/drawing/2014/main" id="{24925231-5D8E-4244-6C2E-FA2404087400}"/>
              </a:ext>
            </a:extLst>
          </p:cNvPr>
          <p:cNvSpPr txBox="1"/>
          <p:nvPr/>
        </p:nvSpPr>
        <p:spPr>
          <a:xfrm>
            <a:off x="3401543" y="2696760"/>
            <a:ext cx="5424883" cy="646331"/>
          </a:xfrm>
          <a:prstGeom prst="rect">
            <a:avLst/>
          </a:prstGeom>
          <a:noFill/>
        </p:spPr>
        <p:txBody>
          <a:bodyPr wrap="none" rtlCol="0">
            <a:spAutoFit/>
          </a:bodyPr>
          <a:lstStyle/>
          <a:p>
            <a:r>
              <a:rPr lang="en-US" sz="3600" dirty="0">
                <a:latin typeface="Candara" panose="020E0502030303020204" pitchFamily="34" charset="0"/>
              </a:rPr>
              <a:t>Privacy Evolution in Bitcoin</a:t>
            </a:r>
          </a:p>
        </p:txBody>
      </p:sp>
    </p:spTree>
    <p:extLst>
      <p:ext uri="{BB962C8B-B14F-4D97-AF65-F5344CB8AC3E}">
        <p14:creationId xmlns:p14="http://schemas.microsoft.com/office/powerpoint/2010/main" val="5600480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BB93-5CCA-8C7C-81FE-50C6F29BB3C8}"/>
              </a:ext>
            </a:extLst>
          </p:cNvPr>
          <p:cNvSpPr>
            <a:spLocks noGrp="1"/>
          </p:cNvSpPr>
          <p:nvPr>
            <p:ph type="title"/>
          </p:nvPr>
        </p:nvSpPr>
        <p:spPr/>
        <p:txBody>
          <a:bodyPr/>
          <a:lstStyle/>
          <a:p>
            <a:r>
              <a:rPr lang="en-US" dirty="0"/>
              <a:t>Privacy Evolution in Bitcoin</a:t>
            </a:r>
          </a:p>
        </p:txBody>
      </p:sp>
      <p:sp>
        <p:nvSpPr>
          <p:cNvPr id="3" name="Content Placeholder 2">
            <a:extLst>
              <a:ext uri="{FF2B5EF4-FFF2-40B4-BE49-F238E27FC236}">
                <a16:creationId xmlns:a16="http://schemas.microsoft.com/office/drawing/2014/main" id="{CAB7BB6E-361E-397A-A0D9-E70A098EC728}"/>
              </a:ext>
            </a:extLst>
          </p:cNvPr>
          <p:cNvSpPr>
            <a:spLocks noGrp="1"/>
          </p:cNvSpPr>
          <p:nvPr>
            <p:ph idx="1"/>
          </p:nvPr>
        </p:nvSpPr>
        <p:spPr>
          <a:xfrm>
            <a:off x="487680" y="1097280"/>
            <a:ext cx="11186160" cy="5481650"/>
          </a:xfrm>
        </p:spPr>
        <p:txBody>
          <a:bodyPr>
            <a:normAutofit fontScale="85000" lnSpcReduction="20000"/>
          </a:bodyPr>
          <a:lstStyle/>
          <a:p>
            <a:r>
              <a:rPr lang="en-US" dirty="0">
                <a:solidFill>
                  <a:srgbClr val="7030A0"/>
                </a:solidFill>
              </a:rPr>
              <a:t>Privacy: The goal is to hide how you are using your coins; it is not about hiding your identity or making you anonymous</a:t>
            </a:r>
          </a:p>
          <a:p>
            <a:pPr lvl="1"/>
            <a:r>
              <a:rPr lang="en-US" dirty="0"/>
              <a:t>In banking, your transactions are hidden from public view and only the bank knows how you are spending your money</a:t>
            </a:r>
          </a:p>
          <a:p>
            <a:pPr lvl="1"/>
            <a:r>
              <a:rPr lang="en-US" dirty="0"/>
              <a:t>Bitcoin is a public ledger with all the transactions available on-chain </a:t>
            </a:r>
          </a:p>
          <a:p>
            <a:r>
              <a:rPr lang="en-US" dirty="0">
                <a:solidFill>
                  <a:srgbClr val="FF0000"/>
                </a:solidFill>
              </a:rPr>
              <a:t>How to hide the spending scripts in Bitcoin?</a:t>
            </a:r>
          </a:p>
          <a:p>
            <a:r>
              <a:rPr lang="en-US" dirty="0">
                <a:solidFill>
                  <a:schemeClr val="accent4">
                    <a:lumMod val="75000"/>
                  </a:schemeClr>
                </a:solidFill>
              </a:rPr>
              <a:t>Legacy transactions (Very poor privacy)</a:t>
            </a:r>
          </a:p>
          <a:p>
            <a:pPr lvl="1"/>
            <a:r>
              <a:rPr lang="en-US" dirty="0">
                <a:solidFill>
                  <a:schemeClr val="accent4">
                    <a:lumMod val="75000"/>
                  </a:schemeClr>
                </a:solidFill>
              </a:rPr>
              <a:t>The outputs reveal a lot of information including the </a:t>
            </a:r>
            <a:r>
              <a:rPr lang="en-US" dirty="0" err="1">
                <a:solidFill>
                  <a:schemeClr val="accent4">
                    <a:lumMod val="75000"/>
                  </a:schemeClr>
                </a:solidFill>
              </a:rPr>
              <a:t>pubkeyhash</a:t>
            </a:r>
            <a:r>
              <a:rPr lang="en-US" dirty="0">
                <a:solidFill>
                  <a:schemeClr val="accent4">
                    <a:lumMod val="75000"/>
                  </a:schemeClr>
                </a:solidFill>
              </a:rPr>
              <a:t>, </a:t>
            </a:r>
            <a:r>
              <a:rPr lang="en-US" dirty="0" err="1">
                <a:solidFill>
                  <a:schemeClr val="accent4">
                    <a:lumMod val="75000"/>
                  </a:schemeClr>
                </a:solidFill>
              </a:rPr>
              <a:t>multisig</a:t>
            </a:r>
            <a:r>
              <a:rPr lang="en-US" dirty="0">
                <a:solidFill>
                  <a:schemeClr val="accent4">
                    <a:lumMod val="75000"/>
                  </a:schemeClr>
                </a:solidFill>
              </a:rPr>
              <a:t> public keys, spending paths, complexity of the lock, full script structure </a:t>
            </a:r>
          </a:p>
          <a:p>
            <a:r>
              <a:rPr lang="en-US" dirty="0" err="1">
                <a:solidFill>
                  <a:srgbClr val="0070C0"/>
                </a:solidFill>
              </a:rPr>
              <a:t>Segwit</a:t>
            </a:r>
            <a:r>
              <a:rPr lang="en-US" dirty="0">
                <a:solidFill>
                  <a:srgbClr val="0070C0"/>
                </a:solidFill>
              </a:rPr>
              <a:t> transactions (Some privacy improvements)</a:t>
            </a:r>
          </a:p>
          <a:p>
            <a:pPr lvl="1"/>
            <a:r>
              <a:rPr lang="en-US" dirty="0">
                <a:solidFill>
                  <a:srgbClr val="0070C0"/>
                </a:solidFill>
              </a:rPr>
              <a:t>Standardized the output formats and reduced them to only two types</a:t>
            </a:r>
          </a:p>
          <a:p>
            <a:pPr lvl="1"/>
            <a:r>
              <a:rPr lang="en-US" dirty="0">
                <a:solidFill>
                  <a:srgbClr val="0070C0"/>
                </a:solidFill>
              </a:rPr>
              <a:t>Outputs still reveal the transaction type (p2wpkh, or p2wsh) but the spending paths, script structure remain hidden initially  </a:t>
            </a:r>
          </a:p>
          <a:p>
            <a:pPr lvl="1"/>
            <a:r>
              <a:rPr lang="en-US" dirty="0">
                <a:solidFill>
                  <a:srgbClr val="0070C0"/>
                </a:solidFill>
              </a:rPr>
              <a:t>Spending conditions are revealed in the child transaction when the coins are spent and once again the entire script structure becomes visible  </a:t>
            </a:r>
          </a:p>
          <a:p>
            <a:r>
              <a:rPr lang="en-US" dirty="0">
                <a:solidFill>
                  <a:schemeClr val="accent6">
                    <a:lumMod val="50000"/>
                  </a:schemeClr>
                </a:solidFill>
              </a:rPr>
              <a:t>Can we further improve privacy?</a:t>
            </a:r>
          </a:p>
        </p:txBody>
      </p:sp>
      <p:sp>
        <p:nvSpPr>
          <p:cNvPr id="4" name="Slide Number Placeholder 3">
            <a:extLst>
              <a:ext uri="{FF2B5EF4-FFF2-40B4-BE49-F238E27FC236}">
                <a16:creationId xmlns:a16="http://schemas.microsoft.com/office/drawing/2014/main" id="{C25A4095-B254-FCF1-CD3A-EF9A587418F9}"/>
              </a:ext>
            </a:extLst>
          </p:cNvPr>
          <p:cNvSpPr>
            <a:spLocks noGrp="1"/>
          </p:cNvSpPr>
          <p:nvPr>
            <p:ph type="sldNum" sz="quarter" idx="12"/>
          </p:nvPr>
        </p:nvSpPr>
        <p:spPr/>
        <p:txBody>
          <a:bodyPr/>
          <a:lstStyle/>
          <a:p>
            <a:fld id="{D57F1E4F-1CFF-5643-939E-217C01CDF565}" type="slidenum">
              <a:rPr lang="en-US" smtClean="0"/>
              <a:pPr/>
              <a:t>79</a:t>
            </a:fld>
            <a:endParaRPr lang="en-US" dirty="0"/>
          </a:p>
        </p:txBody>
      </p:sp>
    </p:spTree>
    <p:extLst>
      <p:ext uri="{BB962C8B-B14F-4D97-AF65-F5344CB8AC3E}">
        <p14:creationId xmlns:p14="http://schemas.microsoft.com/office/powerpoint/2010/main" val="243287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8724-894F-B6EA-DFA8-CF588C56857B}"/>
              </a:ext>
            </a:extLst>
          </p:cNvPr>
          <p:cNvSpPr>
            <a:spLocks noGrp="1"/>
          </p:cNvSpPr>
          <p:nvPr>
            <p:ph type="title"/>
          </p:nvPr>
        </p:nvSpPr>
        <p:spPr/>
        <p:txBody>
          <a:bodyPr/>
          <a:lstStyle/>
          <a:p>
            <a:r>
              <a:rPr lang="en-US" dirty="0"/>
              <a:t>Privacy Improvements</a:t>
            </a:r>
          </a:p>
        </p:txBody>
      </p:sp>
      <p:sp>
        <p:nvSpPr>
          <p:cNvPr id="3" name="Content Placeholder 2">
            <a:extLst>
              <a:ext uri="{FF2B5EF4-FFF2-40B4-BE49-F238E27FC236}">
                <a16:creationId xmlns:a16="http://schemas.microsoft.com/office/drawing/2014/main" id="{A3636E53-EE6B-414D-C925-A8E7CE6F9C75}"/>
              </a:ext>
            </a:extLst>
          </p:cNvPr>
          <p:cNvSpPr>
            <a:spLocks noGrp="1"/>
          </p:cNvSpPr>
          <p:nvPr>
            <p:ph idx="1"/>
          </p:nvPr>
        </p:nvSpPr>
        <p:spPr>
          <a:xfrm>
            <a:off x="487680" y="1097280"/>
            <a:ext cx="11186160" cy="1228467"/>
          </a:xfrm>
        </p:spPr>
        <p:txBody>
          <a:bodyPr>
            <a:normAutofit fontScale="92500" lnSpcReduction="20000"/>
          </a:bodyPr>
          <a:lstStyle/>
          <a:p>
            <a:r>
              <a:rPr lang="en-US" dirty="0">
                <a:solidFill>
                  <a:schemeClr val="accent6">
                    <a:lumMod val="50000"/>
                  </a:schemeClr>
                </a:solidFill>
              </a:rPr>
              <a:t>Make all the outputs same i.e., only one type</a:t>
            </a:r>
          </a:p>
          <a:p>
            <a:r>
              <a:rPr lang="en-US" dirty="0">
                <a:solidFill>
                  <a:schemeClr val="accent6">
                    <a:lumMod val="50000"/>
                  </a:schemeClr>
                </a:solidFill>
              </a:rPr>
              <a:t>Do not reveal the entire script or all the spending paths when unlocking the coins </a:t>
            </a:r>
          </a:p>
        </p:txBody>
      </p:sp>
      <p:sp>
        <p:nvSpPr>
          <p:cNvPr id="4" name="Slide Number Placeholder 3">
            <a:extLst>
              <a:ext uri="{FF2B5EF4-FFF2-40B4-BE49-F238E27FC236}">
                <a16:creationId xmlns:a16="http://schemas.microsoft.com/office/drawing/2014/main" id="{FBF0272C-C663-2E09-CB9C-BB0712B86404}"/>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80</a:t>
            </a:fld>
            <a:endParaRPr lang="en-US" dirty="0">
              <a:latin typeface="Candara" panose="020E0502030303020204" pitchFamily="34" charset="0"/>
            </a:endParaRPr>
          </a:p>
        </p:txBody>
      </p:sp>
      <p:grpSp>
        <p:nvGrpSpPr>
          <p:cNvPr id="5" name="Group 4">
            <a:extLst>
              <a:ext uri="{FF2B5EF4-FFF2-40B4-BE49-F238E27FC236}">
                <a16:creationId xmlns:a16="http://schemas.microsoft.com/office/drawing/2014/main" id="{A65612C8-09C4-CFA5-98FD-4AC2B18ABFA3}"/>
              </a:ext>
            </a:extLst>
          </p:cNvPr>
          <p:cNvGrpSpPr/>
          <p:nvPr/>
        </p:nvGrpSpPr>
        <p:grpSpPr>
          <a:xfrm>
            <a:off x="630444" y="2791504"/>
            <a:ext cx="4651419" cy="2885886"/>
            <a:chOff x="662546" y="2790923"/>
            <a:chExt cx="4764100" cy="2356163"/>
          </a:xfrm>
        </p:grpSpPr>
        <p:grpSp>
          <p:nvGrpSpPr>
            <p:cNvPr id="6" name="Group 5">
              <a:extLst>
                <a:ext uri="{FF2B5EF4-FFF2-40B4-BE49-F238E27FC236}">
                  <a16:creationId xmlns:a16="http://schemas.microsoft.com/office/drawing/2014/main" id="{F1911C47-5910-DE4E-CE3E-3B198F89D342}"/>
                </a:ext>
              </a:extLst>
            </p:cNvPr>
            <p:cNvGrpSpPr/>
            <p:nvPr/>
          </p:nvGrpSpPr>
          <p:grpSpPr>
            <a:xfrm>
              <a:off x="662546" y="2790923"/>
              <a:ext cx="4764100" cy="2066732"/>
              <a:chOff x="895162" y="2638523"/>
              <a:chExt cx="4764100" cy="2066732"/>
            </a:xfrm>
          </p:grpSpPr>
          <p:grpSp>
            <p:nvGrpSpPr>
              <p:cNvPr id="8" name="Group 7">
                <a:extLst>
                  <a:ext uri="{FF2B5EF4-FFF2-40B4-BE49-F238E27FC236}">
                    <a16:creationId xmlns:a16="http://schemas.microsoft.com/office/drawing/2014/main" id="{A2D98C32-D01A-7DEE-D837-AAB6B3285053}"/>
                  </a:ext>
                </a:extLst>
              </p:cNvPr>
              <p:cNvGrpSpPr/>
              <p:nvPr/>
            </p:nvGrpSpPr>
            <p:grpSpPr>
              <a:xfrm>
                <a:off x="895162" y="2661534"/>
                <a:ext cx="4764100" cy="2043721"/>
                <a:chOff x="805543" y="3039910"/>
                <a:chExt cx="5057939" cy="2043721"/>
              </a:xfrm>
              <a:noFill/>
            </p:grpSpPr>
            <p:sp>
              <p:nvSpPr>
                <p:cNvPr id="10" name="Rectangle 9">
                  <a:extLst>
                    <a:ext uri="{FF2B5EF4-FFF2-40B4-BE49-F238E27FC236}">
                      <a16:creationId xmlns:a16="http://schemas.microsoft.com/office/drawing/2014/main" id="{BD83E7E5-AE71-A99F-7E91-CAAA4F386079}"/>
                    </a:ext>
                  </a:extLst>
                </p:cNvPr>
                <p:cNvSpPr/>
                <p:nvPr/>
              </p:nvSpPr>
              <p:spPr>
                <a:xfrm>
                  <a:off x="805543" y="3039910"/>
                  <a:ext cx="5057939" cy="1905633"/>
                </a:xfrm>
                <a:prstGeom prst="rect">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1" name="Rectangle 10">
                  <a:extLst>
                    <a:ext uri="{FF2B5EF4-FFF2-40B4-BE49-F238E27FC236}">
                      <a16:creationId xmlns:a16="http://schemas.microsoft.com/office/drawing/2014/main" id="{D380627E-F2B3-E63B-1715-685A2C9BF0FF}"/>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 name="Rectangle 11">
                  <a:extLst>
                    <a:ext uri="{FF2B5EF4-FFF2-40B4-BE49-F238E27FC236}">
                      <a16:creationId xmlns:a16="http://schemas.microsoft.com/office/drawing/2014/main" id="{26274A0A-2DCB-C92F-2655-FF6DD88C6AFC}"/>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3" name="TextBox 12">
                  <a:extLst>
                    <a:ext uri="{FF2B5EF4-FFF2-40B4-BE49-F238E27FC236}">
                      <a16:creationId xmlns:a16="http://schemas.microsoft.com/office/drawing/2014/main" id="{0229F0C6-F2ED-94D9-B209-C2BD9F71CD05}"/>
                    </a:ext>
                  </a:extLst>
                </p:cNvPr>
                <p:cNvSpPr txBox="1"/>
                <p:nvPr/>
              </p:nvSpPr>
              <p:spPr>
                <a:xfrm>
                  <a:off x="3503946" y="3751835"/>
                  <a:ext cx="2139943" cy="1331796"/>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a:t>
                  </a:r>
                </a:p>
                <a:p>
                  <a:pPr algn="ctr"/>
                  <a:r>
                    <a:rPr lang="en-US" sz="2000" dirty="0">
                      <a:solidFill>
                        <a:schemeClr val="bg1"/>
                      </a:solidFill>
                      <a:latin typeface="Candara" panose="020E0502030303020204" pitchFamily="34" charset="0"/>
                    </a:rPr>
                    <a:t> </a:t>
                  </a:r>
                </a:p>
                <a:p>
                  <a:pPr algn="ctr"/>
                  <a:r>
                    <a:rPr lang="en-US" sz="2000" dirty="0">
                      <a:solidFill>
                        <a:schemeClr val="bg1"/>
                      </a:solidFill>
                      <a:latin typeface="Candara" panose="020E0502030303020204" pitchFamily="34" charset="0"/>
                    </a:rPr>
                    <a:t>OP_1 </a:t>
                  </a:r>
                </a:p>
                <a:p>
                  <a:pPr algn="ctr"/>
                  <a:r>
                    <a:rPr lang="en-US" sz="2000" dirty="0">
                      <a:solidFill>
                        <a:schemeClr val="bg1"/>
                      </a:solidFill>
                      <a:latin typeface="Candara" panose="020E0502030303020204" pitchFamily="34" charset="0"/>
                    </a:rPr>
                    <a:t>&lt;32-byte data&gt;</a:t>
                  </a:r>
                </a:p>
                <a:p>
                  <a:pPr algn="ctr"/>
                  <a:endParaRPr lang="en-US" sz="2000" dirty="0">
                    <a:latin typeface="Candara" panose="020E0502030303020204" pitchFamily="34" charset="0"/>
                  </a:endParaRPr>
                </a:p>
              </p:txBody>
            </p:sp>
          </p:grpSp>
          <p:sp>
            <p:nvSpPr>
              <p:cNvPr id="9" name="Rectangle 8">
                <a:extLst>
                  <a:ext uri="{FF2B5EF4-FFF2-40B4-BE49-F238E27FC236}">
                    <a16:creationId xmlns:a16="http://schemas.microsoft.com/office/drawing/2014/main" id="{DFD18F4E-9BAA-56DF-4F56-F529615C7BFF}"/>
                  </a:ext>
                </a:extLst>
              </p:cNvPr>
              <p:cNvSpPr/>
              <p:nvPr/>
            </p:nvSpPr>
            <p:spPr>
              <a:xfrm>
                <a:off x="895162" y="2638523"/>
                <a:ext cx="4764100" cy="645532"/>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7" name="Rectangle 6">
              <a:extLst>
                <a:ext uri="{FF2B5EF4-FFF2-40B4-BE49-F238E27FC236}">
                  <a16:creationId xmlns:a16="http://schemas.microsoft.com/office/drawing/2014/main" id="{34ED0C92-2594-2415-B902-5F3FDD439229}"/>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endParaRPr lang="en-US" sz="2000" dirty="0">
                <a:solidFill>
                  <a:schemeClr val="tx1"/>
                </a:solidFill>
                <a:latin typeface="Candara" panose="020E0502030303020204" pitchFamily="34" charset="0"/>
              </a:endParaRPr>
            </a:p>
          </p:txBody>
        </p:sp>
      </p:grpSp>
      <p:sp>
        <p:nvSpPr>
          <p:cNvPr id="16" name="TextBox 15">
            <a:extLst>
              <a:ext uri="{FF2B5EF4-FFF2-40B4-BE49-F238E27FC236}">
                <a16:creationId xmlns:a16="http://schemas.microsoft.com/office/drawing/2014/main" id="{E7F61AC8-B1DE-B419-4703-A61D9DA06E7E}"/>
              </a:ext>
            </a:extLst>
          </p:cNvPr>
          <p:cNvSpPr txBox="1"/>
          <p:nvPr/>
        </p:nvSpPr>
        <p:spPr>
          <a:xfrm>
            <a:off x="5861530" y="2815068"/>
            <a:ext cx="5818843" cy="2862322"/>
          </a:xfrm>
          <a:prstGeom prst="rect">
            <a:avLst/>
          </a:prstGeom>
          <a:noFill/>
          <a:ln>
            <a:solidFill>
              <a:schemeClr val="tx1"/>
            </a:solidFill>
          </a:ln>
        </p:spPr>
        <p:txBody>
          <a:bodyPr wrap="square" rtlCol="0">
            <a:spAutoFit/>
          </a:bodyPr>
          <a:lstStyle/>
          <a:p>
            <a:r>
              <a:rPr lang="en-US" sz="1200" dirty="0">
                <a:latin typeface="Candara" panose="020E0502030303020204" pitchFamily="34" charset="0"/>
              </a:rPr>
              <a:t>HTLC output script (</a:t>
            </a:r>
            <a:r>
              <a:rPr lang="en-US" sz="1200" dirty="0" err="1">
                <a:latin typeface="Candara" panose="020E0502030303020204" pitchFamily="34" charset="0"/>
              </a:rPr>
              <a:t>output_htlc_script</a:t>
            </a:r>
            <a:r>
              <a:rPr lang="en-US" sz="1200" dirty="0">
                <a:latin typeface="Candara" panose="020E0502030303020204" pitchFamily="34" charset="0"/>
              </a:rPr>
              <a:t>)</a:t>
            </a:r>
          </a:p>
          <a:p>
            <a:r>
              <a:rPr lang="en-US" sz="1200" dirty="0">
                <a:latin typeface="Candara" panose="020E0502030303020204" pitchFamily="34" charset="0"/>
              </a:rPr>
              <a:t>OP_IF # Revocation path for Charlie if Alice cheats </a:t>
            </a:r>
          </a:p>
          <a:p>
            <a:r>
              <a:rPr lang="en-US" sz="1200" dirty="0">
                <a:latin typeface="Candara" panose="020E0502030303020204" pitchFamily="34" charset="0"/>
              </a:rPr>
              <a:t>    &lt;</a:t>
            </a:r>
            <a:r>
              <a:rPr lang="en-US" sz="1200" dirty="0" err="1">
                <a:latin typeface="Candara" panose="020E0502030303020204" pitchFamily="34" charset="0"/>
              </a:rPr>
              <a:t>revocationpubkey</a:t>
            </a:r>
            <a:r>
              <a:rPr lang="en-US" sz="1200" dirty="0">
                <a:latin typeface="Candara" panose="020E0502030303020204" pitchFamily="34" charset="0"/>
              </a:rPr>
              <a:t>&gt; </a:t>
            </a:r>
          </a:p>
          <a:p>
            <a:r>
              <a:rPr lang="en-US" sz="1200" dirty="0">
                <a:latin typeface="Candara" panose="020E0502030303020204" pitchFamily="34" charset="0"/>
              </a:rPr>
              <a:t>OP_ELSE </a:t>
            </a:r>
          </a:p>
          <a:p>
            <a:r>
              <a:rPr lang="en-US" sz="1200" dirty="0">
                <a:latin typeface="Candara" panose="020E0502030303020204" pitchFamily="34" charset="0"/>
              </a:rPr>
              <a:t>    OP_IF  # Anyone can claim HTLC with preimage of H before timeout </a:t>
            </a:r>
          </a:p>
          <a:p>
            <a:r>
              <a:rPr lang="en-US" sz="1200" dirty="0">
                <a:latin typeface="Candara" panose="020E0502030303020204" pitchFamily="34" charset="0"/>
              </a:rPr>
              <a:t>        OP_SHA256 &lt;H&gt; OP_EQUALVERIFY</a:t>
            </a:r>
          </a:p>
          <a:p>
            <a:r>
              <a:rPr lang="en-US" sz="1200" dirty="0">
                <a:latin typeface="Candara" panose="020E0502030303020204" pitchFamily="34" charset="0"/>
              </a:rPr>
              <a:t>        &lt;</a:t>
            </a:r>
            <a:r>
              <a:rPr lang="en-US" sz="1200" dirty="0" err="1">
                <a:latin typeface="Candara" panose="020E0502030303020204" pitchFamily="34" charset="0"/>
              </a:rPr>
              <a:t>recoverpubkey</a:t>
            </a:r>
            <a:r>
              <a:rPr lang="en-US" sz="1200" dirty="0">
                <a:latin typeface="Candara" panose="020E0502030303020204" pitchFamily="34" charset="0"/>
              </a:rPr>
              <a:t>&gt; </a:t>
            </a:r>
          </a:p>
          <a:p>
            <a:r>
              <a:rPr lang="en-US" sz="1200" dirty="0">
                <a:latin typeface="Candara" panose="020E0502030303020204" pitchFamily="34" charset="0"/>
              </a:rPr>
              <a:t>OP_ELSE  # Alice refunds after CLTV timeout </a:t>
            </a:r>
          </a:p>
          <a:p>
            <a:r>
              <a:rPr lang="en-US" sz="1200" dirty="0">
                <a:latin typeface="Candara" panose="020E0502030303020204" pitchFamily="34" charset="0"/>
              </a:rPr>
              <a:t>        &lt;</a:t>
            </a:r>
            <a:r>
              <a:rPr lang="en-US" sz="1200" dirty="0" err="1">
                <a:latin typeface="Candara" panose="020E0502030303020204" pitchFamily="34" charset="0"/>
              </a:rPr>
              <a:t>cltv_expiry</a:t>
            </a:r>
            <a:r>
              <a:rPr lang="en-US" sz="1200" dirty="0">
                <a:latin typeface="Candara" panose="020E0502030303020204" pitchFamily="34" charset="0"/>
              </a:rPr>
              <a:t>&gt; OP_CHECKLOCKTIMEVERIFY OP_DROP</a:t>
            </a:r>
          </a:p>
          <a:p>
            <a:r>
              <a:rPr lang="en-US" sz="1200" dirty="0">
                <a:latin typeface="Candara" panose="020E0502030303020204" pitchFamily="34" charset="0"/>
              </a:rPr>
              <a:t>        &lt;</a:t>
            </a:r>
            <a:r>
              <a:rPr lang="en-US" sz="1200" dirty="0" err="1">
                <a:latin typeface="Candara" panose="020E0502030303020204" pitchFamily="34" charset="0"/>
              </a:rPr>
              <a:t>pubkeyAlice</a:t>
            </a:r>
            <a:r>
              <a:rPr lang="en-US" sz="1200" dirty="0">
                <a:latin typeface="Candara" panose="020E0502030303020204" pitchFamily="34" charset="0"/>
              </a:rPr>
              <a:t>&gt; </a:t>
            </a:r>
          </a:p>
          <a:p>
            <a:r>
              <a:rPr lang="en-US" sz="1200" dirty="0">
                <a:latin typeface="Candara" panose="020E0502030303020204" pitchFamily="34" charset="0"/>
              </a:rPr>
              <a:t>    OP_ENDIF</a:t>
            </a:r>
          </a:p>
          <a:p>
            <a:endParaRPr lang="en-US" sz="1200" dirty="0">
              <a:latin typeface="Candara" panose="020E0502030303020204" pitchFamily="34" charset="0"/>
            </a:endParaRPr>
          </a:p>
          <a:p>
            <a:r>
              <a:rPr lang="en-US" sz="1200" dirty="0">
                <a:latin typeface="Candara" panose="020E0502030303020204" pitchFamily="34" charset="0"/>
              </a:rPr>
              <a:t>OP_ENDIF</a:t>
            </a:r>
          </a:p>
          <a:p>
            <a:r>
              <a:rPr lang="en-US" sz="1200" dirty="0">
                <a:latin typeface="Candara" panose="020E0502030303020204" pitchFamily="34" charset="0"/>
              </a:rPr>
              <a:t>OP_CHECKSIG</a:t>
            </a:r>
          </a:p>
          <a:p>
            <a:r>
              <a:rPr lang="en-US" sz="1200" dirty="0">
                <a:latin typeface="Candara" panose="020E0502030303020204" pitchFamily="34" charset="0"/>
              </a:rPr>
              <a:t>&lt;</a:t>
            </a:r>
            <a:r>
              <a:rPr lang="en-US" sz="1200" dirty="0" err="1">
                <a:latin typeface="Candara" panose="020E0502030303020204" pitchFamily="34" charset="0"/>
              </a:rPr>
              <a:t>wsh_ouptput_htlc</a:t>
            </a:r>
            <a:r>
              <a:rPr lang="en-US" sz="1200" dirty="0">
                <a:latin typeface="Candara" panose="020E0502030303020204" pitchFamily="34" charset="0"/>
              </a:rPr>
              <a:t>&gt;=SHA256(</a:t>
            </a:r>
            <a:r>
              <a:rPr lang="en-US" sz="1200" dirty="0" err="1">
                <a:latin typeface="Candara" panose="020E0502030303020204" pitchFamily="34" charset="0"/>
              </a:rPr>
              <a:t>output_htlc_script</a:t>
            </a:r>
            <a:r>
              <a:rPr lang="en-US" sz="1200" dirty="0">
                <a:latin typeface="Candara" panose="020E0502030303020204" pitchFamily="34" charset="0"/>
              </a:rPr>
              <a:t>)</a:t>
            </a:r>
          </a:p>
        </p:txBody>
      </p:sp>
      <p:sp>
        <p:nvSpPr>
          <p:cNvPr id="14" name="TextBox 13">
            <a:extLst>
              <a:ext uri="{FF2B5EF4-FFF2-40B4-BE49-F238E27FC236}">
                <a16:creationId xmlns:a16="http://schemas.microsoft.com/office/drawing/2014/main" id="{64097001-3301-BFF8-E59E-95D2EECC4636}"/>
              </a:ext>
            </a:extLst>
          </p:cNvPr>
          <p:cNvSpPr txBox="1"/>
          <p:nvPr/>
        </p:nvSpPr>
        <p:spPr>
          <a:xfrm>
            <a:off x="6341440" y="2356416"/>
            <a:ext cx="4859022" cy="369332"/>
          </a:xfrm>
          <a:prstGeom prst="rect">
            <a:avLst/>
          </a:prstGeom>
          <a:noFill/>
        </p:spPr>
        <p:txBody>
          <a:bodyPr wrap="none" rtlCol="0">
            <a:spAutoFit/>
          </a:bodyPr>
          <a:lstStyle/>
          <a:p>
            <a:r>
              <a:rPr lang="en-US" dirty="0">
                <a:solidFill>
                  <a:srgbClr val="FF0000"/>
                </a:solidFill>
                <a:latin typeface="Candara" panose="020E0502030303020204" pitchFamily="34" charset="0"/>
              </a:rPr>
              <a:t>Reveal only one path when spending the output</a:t>
            </a:r>
          </a:p>
        </p:txBody>
      </p:sp>
      <p:sp>
        <p:nvSpPr>
          <p:cNvPr id="15" name="TextBox 14">
            <a:extLst>
              <a:ext uri="{FF2B5EF4-FFF2-40B4-BE49-F238E27FC236}">
                <a16:creationId xmlns:a16="http://schemas.microsoft.com/office/drawing/2014/main" id="{110C923F-0B32-03E8-4F4B-DD0351E2146D}"/>
              </a:ext>
            </a:extLst>
          </p:cNvPr>
          <p:cNvSpPr txBox="1"/>
          <p:nvPr/>
        </p:nvSpPr>
        <p:spPr>
          <a:xfrm>
            <a:off x="1724409" y="2356416"/>
            <a:ext cx="2515432" cy="369332"/>
          </a:xfrm>
          <a:prstGeom prst="rect">
            <a:avLst/>
          </a:prstGeom>
          <a:noFill/>
        </p:spPr>
        <p:txBody>
          <a:bodyPr wrap="none" rtlCol="0">
            <a:spAutoFit/>
          </a:bodyPr>
          <a:lstStyle/>
          <a:p>
            <a:r>
              <a:rPr lang="en-US" dirty="0">
                <a:solidFill>
                  <a:srgbClr val="FF0000"/>
                </a:solidFill>
                <a:latin typeface="Candara" panose="020E0502030303020204" pitchFamily="34" charset="0"/>
              </a:rPr>
              <a:t>Only one type of output</a:t>
            </a:r>
          </a:p>
        </p:txBody>
      </p:sp>
      <p:sp>
        <p:nvSpPr>
          <p:cNvPr id="17" name="TextBox 16">
            <a:extLst>
              <a:ext uri="{FF2B5EF4-FFF2-40B4-BE49-F238E27FC236}">
                <a16:creationId xmlns:a16="http://schemas.microsoft.com/office/drawing/2014/main" id="{5189E1A0-5E65-5F26-BB9D-70D3536F0D92}"/>
              </a:ext>
            </a:extLst>
          </p:cNvPr>
          <p:cNvSpPr txBox="1"/>
          <p:nvPr/>
        </p:nvSpPr>
        <p:spPr>
          <a:xfrm>
            <a:off x="1195417" y="6008984"/>
            <a:ext cx="9924576" cy="430887"/>
          </a:xfrm>
          <a:prstGeom prst="rect">
            <a:avLst/>
          </a:prstGeom>
          <a:solidFill>
            <a:srgbClr val="7030A0"/>
          </a:solidFill>
        </p:spPr>
        <p:txBody>
          <a:bodyPr wrap="none" rtlCol="0">
            <a:spAutoFit/>
          </a:bodyPr>
          <a:lstStyle/>
          <a:p>
            <a:pPr algn="ctr"/>
            <a:r>
              <a:rPr lang="en-US" sz="2200" dirty="0">
                <a:solidFill>
                  <a:schemeClr val="bg1"/>
                </a:solidFill>
                <a:latin typeface="Candara" panose="020E0502030303020204" pitchFamily="34" charset="0"/>
              </a:rPr>
              <a:t>Bitcoin supports both these privacy improvements through the ‘Taproot upgrade’ </a:t>
            </a:r>
          </a:p>
        </p:txBody>
      </p:sp>
    </p:spTree>
    <p:extLst>
      <p:ext uri="{BB962C8B-B14F-4D97-AF65-F5344CB8AC3E}">
        <p14:creationId xmlns:p14="http://schemas.microsoft.com/office/powerpoint/2010/main" val="423242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4" grpId="0"/>
      <p:bldP spid="15" grpId="0"/>
      <p:bldP spid="1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7F18E-C53E-9FFC-ECB0-3B56FB4B5B54}"/>
              </a:ext>
            </a:extLst>
          </p:cNvPr>
          <p:cNvSpPr>
            <a:spLocks noGrp="1"/>
          </p:cNvSpPr>
          <p:nvPr>
            <p:ph type="title"/>
          </p:nvPr>
        </p:nvSpPr>
        <p:spPr/>
        <p:txBody>
          <a:bodyPr/>
          <a:lstStyle/>
          <a:p>
            <a:r>
              <a:rPr lang="en-US" dirty="0"/>
              <a:t>Taproot Upgrade</a:t>
            </a:r>
          </a:p>
        </p:txBody>
      </p:sp>
      <p:sp>
        <p:nvSpPr>
          <p:cNvPr id="4" name="Slide Number Placeholder 3">
            <a:extLst>
              <a:ext uri="{FF2B5EF4-FFF2-40B4-BE49-F238E27FC236}">
                <a16:creationId xmlns:a16="http://schemas.microsoft.com/office/drawing/2014/main" id="{C56AD1A3-77D2-A928-7ED9-6C9A6F40EB27}"/>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81</a:t>
            </a:fld>
            <a:endParaRPr lang="en-US" dirty="0">
              <a:latin typeface="Candara" panose="020E0502030303020204" pitchFamily="34" charset="0"/>
            </a:endParaRPr>
          </a:p>
        </p:txBody>
      </p:sp>
      <p:sp>
        <p:nvSpPr>
          <p:cNvPr id="5" name="Rectangle 4">
            <a:extLst>
              <a:ext uri="{FF2B5EF4-FFF2-40B4-BE49-F238E27FC236}">
                <a16:creationId xmlns:a16="http://schemas.microsoft.com/office/drawing/2014/main" id="{C78F7CA4-0493-11FB-D0B7-986605FDFA61}"/>
              </a:ext>
            </a:extLst>
          </p:cNvPr>
          <p:cNvSpPr/>
          <p:nvPr/>
        </p:nvSpPr>
        <p:spPr>
          <a:xfrm>
            <a:off x="618412" y="3588214"/>
            <a:ext cx="4651419" cy="48707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&lt;--&gt; &lt;--&gt;</a:t>
            </a:r>
          </a:p>
        </p:txBody>
      </p:sp>
      <p:grpSp>
        <p:nvGrpSpPr>
          <p:cNvPr id="7" name="Group 6">
            <a:extLst>
              <a:ext uri="{FF2B5EF4-FFF2-40B4-BE49-F238E27FC236}">
                <a16:creationId xmlns:a16="http://schemas.microsoft.com/office/drawing/2014/main" id="{658DD0E8-EFCF-9A7C-BA8E-4A01767F60A1}"/>
              </a:ext>
            </a:extLst>
          </p:cNvPr>
          <p:cNvGrpSpPr/>
          <p:nvPr/>
        </p:nvGrpSpPr>
        <p:grpSpPr>
          <a:xfrm>
            <a:off x="618412" y="1145041"/>
            <a:ext cx="4651419" cy="2385030"/>
            <a:chOff x="662546" y="2790923"/>
            <a:chExt cx="4764100" cy="2356163"/>
          </a:xfrm>
        </p:grpSpPr>
        <p:grpSp>
          <p:nvGrpSpPr>
            <p:cNvPr id="9" name="Group 8">
              <a:extLst>
                <a:ext uri="{FF2B5EF4-FFF2-40B4-BE49-F238E27FC236}">
                  <a16:creationId xmlns:a16="http://schemas.microsoft.com/office/drawing/2014/main" id="{09BA9D16-141B-AAB6-9415-63ADCC0AA098}"/>
                </a:ext>
              </a:extLst>
            </p:cNvPr>
            <p:cNvGrpSpPr/>
            <p:nvPr/>
          </p:nvGrpSpPr>
          <p:grpSpPr>
            <a:xfrm>
              <a:off x="662546" y="2790923"/>
              <a:ext cx="4764100" cy="2045687"/>
              <a:chOff x="895162" y="2638523"/>
              <a:chExt cx="4764100" cy="2045687"/>
            </a:xfrm>
          </p:grpSpPr>
          <p:grpSp>
            <p:nvGrpSpPr>
              <p:cNvPr id="11" name="Group 10">
                <a:extLst>
                  <a:ext uri="{FF2B5EF4-FFF2-40B4-BE49-F238E27FC236}">
                    <a16:creationId xmlns:a16="http://schemas.microsoft.com/office/drawing/2014/main" id="{FD3C430D-23EC-D278-2262-CB06BF59EEC6}"/>
                  </a:ext>
                </a:extLst>
              </p:cNvPr>
              <p:cNvGrpSpPr/>
              <p:nvPr/>
            </p:nvGrpSpPr>
            <p:grpSpPr>
              <a:xfrm>
                <a:off x="895162" y="2661534"/>
                <a:ext cx="4764100" cy="2022676"/>
                <a:chOff x="805543" y="3039910"/>
                <a:chExt cx="5057939" cy="2022676"/>
              </a:xfrm>
              <a:noFill/>
            </p:grpSpPr>
            <p:sp>
              <p:nvSpPr>
                <p:cNvPr id="13" name="Rectangle 12">
                  <a:extLst>
                    <a:ext uri="{FF2B5EF4-FFF2-40B4-BE49-F238E27FC236}">
                      <a16:creationId xmlns:a16="http://schemas.microsoft.com/office/drawing/2014/main" id="{4F794C23-C20B-B7A4-AE1B-FC9CEF46F238}"/>
                    </a:ext>
                  </a:extLst>
                </p:cNvPr>
                <p:cNvSpPr/>
                <p:nvPr/>
              </p:nvSpPr>
              <p:spPr>
                <a:xfrm>
                  <a:off x="805543" y="3039910"/>
                  <a:ext cx="5057939" cy="1905633"/>
                </a:xfrm>
                <a:prstGeom prst="rect">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4" name="Rectangle 13">
                  <a:extLst>
                    <a:ext uri="{FF2B5EF4-FFF2-40B4-BE49-F238E27FC236}">
                      <a16:creationId xmlns:a16="http://schemas.microsoft.com/office/drawing/2014/main" id="{FF7420CE-ED1E-CBB6-8766-57EFBD6A4A38}"/>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5" name="Rectangle 14">
                  <a:extLst>
                    <a:ext uri="{FF2B5EF4-FFF2-40B4-BE49-F238E27FC236}">
                      <a16:creationId xmlns:a16="http://schemas.microsoft.com/office/drawing/2014/main" id="{327002FF-2A71-B78F-E523-A2B68BD8CABD}"/>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6" name="TextBox 15">
                  <a:extLst>
                    <a:ext uri="{FF2B5EF4-FFF2-40B4-BE49-F238E27FC236}">
                      <a16:creationId xmlns:a16="http://schemas.microsoft.com/office/drawing/2014/main" id="{FC43BC2E-898D-722E-6096-FB8A457A5122}"/>
                    </a:ext>
                  </a:extLst>
                </p:cNvPr>
                <p:cNvSpPr txBox="1"/>
                <p:nvPr/>
              </p:nvSpPr>
              <p:spPr>
                <a:xfrm>
                  <a:off x="3503945" y="3690727"/>
                  <a:ext cx="2139943" cy="1331796"/>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a:t>
                  </a:r>
                </a:p>
                <a:p>
                  <a:pPr algn="ctr"/>
                  <a:r>
                    <a:rPr lang="en-US" sz="2000" dirty="0">
                      <a:solidFill>
                        <a:schemeClr val="bg1"/>
                      </a:solidFill>
                      <a:latin typeface="Candara" panose="020E0502030303020204" pitchFamily="34" charset="0"/>
                    </a:rPr>
                    <a:t> </a:t>
                  </a:r>
                </a:p>
                <a:p>
                  <a:pPr algn="ctr"/>
                  <a:r>
                    <a:rPr lang="en-US" sz="2000" dirty="0">
                      <a:solidFill>
                        <a:schemeClr val="bg1"/>
                      </a:solidFill>
                      <a:latin typeface="Candara" panose="020E0502030303020204" pitchFamily="34" charset="0"/>
                    </a:rPr>
                    <a:t>OP_1 </a:t>
                  </a:r>
                </a:p>
                <a:p>
                  <a:pPr algn="ctr"/>
                  <a:r>
                    <a:rPr lang="en-US" sz="2000" dirty="0">
                      <a:solidFill>
                        <a:schemeClr val="bg1"/>
                      </a:solidFill>
                      <a:latin typeface="Candara" panose="020E0502030303020204" pitchFamily="34" charset="0"/>
                    </a:rPr>
                    <a:t>&lt;32-byte data&gt;</a:t>
                  </a:r>
                </a:p>
                <a:p>
                  <a:pPr algn="ctr"/>
                  <a:endParaRPr lang="en-US" sz="2000" dirty="0">
                    <a:latin typeface="Candara" panose="020E0502030303020204" pitchFamily="34" charset="0"/>
                  </a:endParaRPr>
                </a:p>
              </p:txBody>
            </p:sp>
          </p:grpSp>
          <p:sp>
            <p:nvSpPr>
              <p:cNvPr id="12" name="Rectangle 11">
                <a:extLst>
                  <a:ext uri="{FF2B5EF4-FFF2-40B4-BE49-F238E27FC236}">
                    <a16:creationId xmlns:a16="http://schemas.microsoft.com/office/drawing/2014/main" id="{FCFBD072-9B24-8680-98EC-A7939FD2FFF4}"/>
                  </a:ext>
                </a:extLst>
              </p:cNvPr>
              <p:cNvSpPr/>
              <p:nvPr/>
            </p:nvSpPr>
            <p:spPr>
              <a:xfrm>
                <a:off x="895162" y="2638523"/>
                <a:ext cx="4764100" cy="645532"/>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10" name="Rectangle 9">
              <a:extLst>
                <a:ext uri="{FF2B5EF4-FFF2-40B4-BE49-F238E27FC236}">
                  <a16:creationId xmlns:a16="http://schemas.microsoft.com/office/drawing/2014/main" id="{42557F2F-97C7-EB43-B08D-4DC3DF4D2FED}"/>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TAPROOT1234</a:t>
              </a:r>
            </a:p>
          </p:txBody>
        </p:sp>
      </p:grpSp>
      <p:sp>
        <p:nvSpPr>
          <p:cNvPr id="17" name="TextBox 16">
            <a:extLst>
              <a:ext uri="{FF2B5EF4-FFF2-40B4-BE49-F238E27FC236}">
                <a16:creationId xmlns:a16="http://schemas.microsoft.com/office/drawing/2014/main" id="{8DB397EE-3842-0AD1-239B-621D00FBB3EB}"/>
              </a:ext>
            </a:extLst>
          </p:cNvPr>
          <p:cNvSpPr txBox="1"/>
          <p:nvPr/>
        </p:nvSpPr>
        <p:spPr>
          <a:xfrm>
            <a:off x="5469742" y="1168334"/>
            <a:ext cx="6489647" cy="532453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Taproot is the second major Bitcoin upgrade </a:t>
            </a:r>
          </a:p>
          <a:p>
            <a:pPr marL="742950" lvl="1" indent="-285750">
              <a:buFont typeface="Arial" panose="020B0604020202020204" pitchFamily="34" charset="0"/>
              <a:buChar char="•"/>
            </a:pPr>
            <a:r>
              <a:rPr lang="en-US" sz="2000" dirty="0">
                <a:latin typeface="Candara" panose="020E0502030303020204" pitchFamily="34" charset="0"/>
              </a:rPr>
              <a:t>Activated in Nov 2021 at the block height 709,632, as a soft fork</a:t>
            </a:r>
          </a:p>
          <a:p>
            <a:pPr marL="285750" indent="-285750">
              <a:buFont typeface="Arial" panose="020B0604020202020204" pitchFamily="34" charset="0"/>
              <a:buChar char="•"/>
            </a:pPr>
            <a:r>
              <a:rPr lang="en-US" sz="2000" dirty="0">
                <a:latin typeface="Candara" panose="020E0502030303020204" pitchFamily="34" charset="0"/>
              </a:rPr>
              <a:t>It has only one output type for all type of spending conditions called pay-to-taproot (P2TR)</a:t>
            </a:r>
          </a:p>
          <a:p>
            <a:pPr marL="742950" lvl="1" indent="-285750">
              <a:buFont typeface="Arial" panose="020B0604020202020204" pitchFamily="34" charset="0"/>
              <a:buChar char="•"/>
            </a:pPr>
            <a:r>
              <a:rPr lang="en-US" sz="2000" dirty="0">
                <a:latin typeface="Candara" panose="020E0502030303020204" pitchFamily="34" charset="0"/>
              </a:rPr>
              <a:t>OP_1 &lt;32-byte data&gt;</a:t>
            </a:r>
          </a:p>
          <a:p>
            <a:pPr marL="742950" lvl="1" indent="-285750">
              <a:buFont typeface="Arial" panose="020B0604020202020204" pitchFamily="34" charset="0"/>
              <a:buChar char="•"/>
            </a:pPr>
            <a:r>
              <a:rPr lang="en-US" sz="2000" dirty="0">
                <a:latin typeface="Candara" panose="020E0502030303020204" pitchFamily="34" charset="0"/>
              </a:rPr>
              <a:t>OP_1 is an indication that it is a taproot transaction </a:t>
            </a:r>
          </a:p>
          <a:p>
            <a:pPr marL="285750" indent="-285750">
              <a:buFont typeface="Arial" panose="020B0604020202020204" pitchFamily="34" charset="0"/>
              <a:buChar char="•"/>
            </a:pPr>
            <a:r>
              <a:rPr lang="en-US" sz="2000" dirty="0">
                <a:latin typeface="Candara" panose="020E0502030303020204" pitchFamily="34" charset="0"/>
              </a:rPr>
              <a:t>Legacy as well as </a:t>
            </a:r>
            <a:r>
              <a:rPr lang="en-US" sz="2000" dirty="0" err="1">
                <a:latin typeface="Candara" panose="020E0502030303020204" pitchFamily="34" charset="0"/>
              </a:rPr>
              <a:t>SegWit</a:t>
            </a:r>
            <a:r>
              <a:rPr lang="en-US" sz="2000" dirty="0">
                <a:latin typeface="Candara" panose="020E0502030303020204" pitchFamily="34" charset="0"/>
              </a:rPr>
              <a:t> nodes accept taproot transactions</a:t>
            </a:r>
          </a:p>
          <a:p>
            <a:pPr marL="742950" lvl="1" indent="-285750">
              <a:buFont typeface="Arial" panose="020B0604020202020204" pitchFamily="34" charset="0"/>
              <a:buChar char="•"/>
            </a:pPr>
            <a:r>
              <a:rPr lang="en-US" sz="2000" dirty="0">
                <a:latin typeface="Candara" panose="020E0502030303020204" pitchFamily="34" charset="0"/>
              </a:rPr>
              <a:t>Legacy nodes treat them as “anyone can spend”</a:t>
            </a:r>
          </a:p>
          <a:p>
            <a:pPr marL="742950" lvl="1" indent="-285750">
              <a:buFont typeface="Arial" panose="020B0604020202020204" pitchFamily="34" charset="0"/>
              <a:buChar char="•"/>
            </a:pPr>
            <a:r>
              <a:rPr lang="en-US" sz="2000" dirty="0" err="1">
                <a:latin typeface="Candara" panose="020E0502030303020204" pitchFamily="34" charset="0"/>
              </a:rPr>
              <a:t>SegWit</a:t>
            </a:r>
            <a:r>
              <a:rPr lang="en-US" sz="2000" dirty="0">
                <a:latin typeface="Candara" panose="020E0502030303020204" pitchFamily="34" charset="0"/>
              </a:rPr>
              <a:t> V0 nodes know it is a future version with OP_1 so they accept them</a:t>
            </a:r>
          </a:p>
          <a:p>
            <a:pPr marL="285750" indent="-285750">
              <a:buFont typeface="Arial" panose="020B0604020202020204" pitchFamily="34" charset="0"/>
              <a:buChar char="•"/>
            </a:pPr>
            <a:r>
              <a:rPr lang="en-US" sz="2000" dirty="0">
                <a:latin typeface="Candara" panose="020E0502030303020204" pitchFamily="34" charset="0"/>
              </a:rPr>
              <a:t>The witness field in the child transaction contains the required data that allows to unlock the taproot output</a:t>
            </a:r>
          </a:p>
          <a:p>
            <a:pPr marL="742950" lvl="1" indent="-285750">
              <a:buFont typeface="Arial" panose="020B0604020202020204" pitchFamily="34" charset="0"/>
              <a:buChar char="•"/>
            </a:pPr>
            <a:r>
              <a:rPr lang="en-US" sz="2000" dirty="0">
                <a:latin typeface="Candara" panose="020E0502030303020204" pitchFamily="34" charset="0"/>
              </a:rPr>
              <a:t>While unlocking, only one spending path is revealed, and all the other branches in the script remain hidden  </a:t>
            </a:r>
          </a:p>
        </p:txBody>
      </p:sp>
      <p:sp>
        <p:nvSpPr>
          <p:cNvPr id="3" name="TextBox 2">
            <a:extLst>
              <a:ext uri="{FF2B5EF4-FFF2-40B4-BE49-F238E27FC236}">
                <a16:creationId xmlns:a16="http://schemas.microsoft.com/office/drawing/2014/main" id="{3C265FEF-ED96-D8FF-1012-68C736901B12}"/>
              </a:ext>
            </a:extLst>
          </p:cNvPr>
          <p:cNvSpPr txBox="1"/>
          <p:nvPr/>
        </p:nvSpPr>
        <p:spPr>
          <a:xfrm>
            <a:off x="475709" y="4270805"/>
            <a:ext cx="4892843" cy="2308324"/>
          </a:xfrm>
          <a:prstGeom prst="rect">
            <a:avLst/>
          </a:prstGeom>
          <a:noFill/>
        </p:spPr>
        <p:txBody>
          <a:bodyPr wrap="square" rtlCol="0">
            <a:spAutoFit/>
          </a:bodyPr>
          <a:lstStyle/>
          <a:p>
            <a:r>
              <a:rPr lang="en-US" sz="1600" dirty="0">
                <a:latin typeface="Candara" panose="020E0502030303020204" pitchFamily="34" charset="0"/>
              </a:rPr>
              <a:t>Technical improvements:</a:t>
            </a:r>
          </a:p>
          <a:p>
            <a:pPr marL="285750" indent="-285750">
              <a:buFont typeface="Arial" panose="020B0604020202020204" pitchFamily="34" charset="0"/>
              <a:buChar char="•"/>
            </a:pPr>
            <a:r>
              <a:rPr lang="en-US" sz="1600" dirty="0">
                <a:latin typeface="Candara" panose="020E0502030303020204" pitchFamily="34" charset="0"/>
              </a:rPr>
              <a:t>Signature: Replaced ECDSA with Schnor Signature (only one output structure, batch verification, privacy benefits)</a:t>
            </a:r>
          </a:p>
          <a:p>
            <a:pPr marL="285750" indent="-285750">
              <a:buFont typeface="Arial" panose="020B0604020202020204" pitchFamily="34" charset="0"/>
              <a:buChar char="•"/>
            </a:pPr>
            <a:r>
              <a:rPr lang="en-US" sz="1600" dirty="0">
                <a:latin typeface="Candara" panose="020E0502030303020204" pitchFamily="34" charset="0"/>
              </a:rPr>
              <a:t>MAST: </a:t>
            </a:r>
            <a:r>
              <a:rPr lang="en-US" sz="1600" dirty="0" err="1">
                <a:latin typeface="Candara" panose="020E0502030303020204" pitchFamily="34" charset="0"/>
              </a:rPr>
              <a:t>Merkelized</a:t>
            </a:r>
            <a:r>
              <a:rPr lang="en-US" sz="1600" dirty="0">
                <a:latin typeface="Candara" panose="020E0502030303020204" pitchFamily="34" charset="0"/>
              </a:rPr>
              <a:t> Abstract Syntax Tree (only reveal the script branch that is used for spending, while keep all other options hidden) </a:t>
            </a:r>
          </a:p>
          <a:p>
            <a:pPr marL="285750" indent="-285750">
              <a:buFont typeface="Arial" panose="020B0604020202020204" pitchFamily="34" charset="0"/>
              <a:buChar char="•"/>
            </a:pPr>
            <a:r>
              <a:rPr lang="en-US" sz="1600" dirty="0" err="1">
                <a:latin typeface="Candara" panose="020E0502030303020204" pitchFamily="34" charset="0"/>
              </a:rPr>
              <a:t>Tapscript</a:t>
            </a:r>
            <a:r>
              <a:rPr lang="en-US" sz="1600" dirty="0">
                <a:latin typeface="Candara" panose="020E0502030303020204" pitchFamily="34" charset="0"/>
              </a:rPr>
              <a:t>: New op-code, new interpretation of some op-codes to validate Schnor and MAST </a:t>
            </a:r>
          </a:p>
        </p:txBody>
      </p:sp>
    </p:spTree>
    <p:extLst>
      <p:ext uri="{BB962C8B-B14F-4D97-AF65-F5344CB8AC3E}">
        <p14:creationId xmlns:p14="http://schemas.microsoft.com/office/powerpoint/2010/main" val="35081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D53-3CC7-2DB7-6670-59467B9DC9DA}"/>
              </a:ext>
            </a:extLst>
          </p:cNvPr>
          <p:cNvSpPr>
            <a:spLocks noGrp="1"/>
          </p:cNvSpPr>
          <p:nvPr>
            <p:ph type="title"/>
          </p:nvPr>
        </p:nvSpPr>
        <p:spPr/>
        <p:txBody>
          <a:bodyPr/>
          <a:lstStyle/>
          <a:p>
            <a:r>
              <a:rPr lang="en-US" dirty="0"/>
              <a:t>Privacy Advantages of Schnorr Signature</a:t>
            </a:r>
          </a:p>
        </p:txBody>
      </p:sp>
      <p:sp>
        <p:nvSpPr>
          <p:cNvPr id="3" name="Content Placeholder 2">
            <a:extLst>
              <a:ext uri="{FF2B5EF4-FFF2-40B4-BE49-F238E27FC236}">
                <a16:creationId xmlns:a16="http://schemas.microsoft.com/office/drawing/2014/main" id="{BADBCF7F-6C85-4656-B57E-9FBCF2B36509}"/>
              </a:ext>
            </a:extLst>
          </p:cNvPr>
          <p:cNvSpPr>
            <a:spLocks noGrp="1"/>
          </p:cNvSpPr>
          <p:nvPr>
            <p:ph idx="1"/>
          </p:nvPr>
        </p:nvSpPr>
        <p:spPr>
          <a:xfrm>
            <a:off x="487680" y="1739483"/>
            <a:ext cx="11186160" cy="3919653"/>
          </a:xfrm>
        </p:spPr>
        <p:txBody>
          <a:bodyPr>
            <a:normAutofit fontScale="92500" lnSpcReduction="10000"/>
          </a:bodyPr>
          <a:lstStyle/>
          <a:p>
            <a:r>
              <a:rPr lang="en-US" sz="2800" dirty="0"/>
              <a:t>Suppose Alice, Bob and Charlie want to create a 3-of-3 </a:t>
            </a:r>
            <a:r>
              <a:rPr lang="en-US" sz="2800" dirty="0" err="1"/>
              <a:t>multisig</a:t>
            </a:r>
            <a:r>
              <a:rPr lang="en-US" sz="2800" dirty="0"/>
              <a:t> </a:t>
            </a:r>
          </a:p>
          <a:p>
            <a:pPr lvl="1"/>
            <a:r>
              <a:rPr lang="en-US" sz="2400" dirty="0"/>
              <a:t>They first aggregate their public keys &lt;</a:t>
            </a:r>
            <a:r>
              <a:rPr lang="en-US" sz="2400" dirty="0" err="1"/>
              <a:t>pkAgg</a:t>
            </a:r>
            <a:r>
              <a:rPr lang="en-US" sz="2400" dirty="0"/>
              <a:t>&gt; = &lt;</a:t>
            </a:r>
            <a:r>
              <a:rPr lang="en-US" sz="2400" dirty="0" err="1"/>
              <a:t>pkA</a:t>
            </a:r>
            <a:r>
              <a:rPr lang="en-US" sz="2400" dirty="0"/>
              <a:t>&gt;+&lt;</a:t>
            </a:r>
            <a:r>
              <a:rPr lang="en-US" sz="2400" dirty="0" err="1"/>
              <a:t>pkB</a:t>
            </a:r>
            <a:r>
              <a:rPr lang="en-US" sz="2400" dirty="0"/>
              <a:t>&gt;+&lt;</a:t>
            </a:r>
            <a:r>
              <a:rPr lang="en-US" sz="2400" dirty="0" err="1"/>
              <a:t>PkC</a:t>
            </a:r>
            <a:r>
              <a:rPr lang="en-US" sz="2400" dirty="0"/>
              <a:t>&gt; </a:t>
            </a:r>
          </a:p>
          <a:p>
            <a:pPr lvl="1"/>
            <a:r>
              <a:rPr lang="en-US" sz="2400" dirty="0"/>
              <a:t>They then derive a 32 B tweaked public key Q from &lt;</a:t>
            </a:r>
            <a:r>
              <a:rPr lang="en-US" sz="2400" dirty="0" err="1"/>
              <a:t>pkAgg</a:t>
            </a:r>
            <a:r>
              <a:rPr lang="en-US" sz="2400" dirty="0"/>
              <a:t>&gt; </a:t>
            </a:r>
          </a:p>
          <a:p>
            <a:pPr lvl="1"/>
            <a:r>
              <a:rPr lang="en-US" sz="2400" dirty="0"/>
              <a:t>Lock funds in a P2TR transaction output: OP_1 &lt;Q&gt;</a:t>
            </a:r>
          </a:p>
          <a:p>
            <a:r>
              <a:rPr lang="en-US" sz="2800" dirty="0"/>
              <a:t>To unlock, they cooperate to create a spending transaction because they only know their individual private keys </a:t>
            </a:r>
          </a:p>
          <a:p>
            <a:pPr lvl="1"/>
            <a:r>
              <a:rPr lang="en-US" sz="2400" dirty="0"/>
              <a:t>Each party individually signs the spending transaction with the help of its private key and produce partial signatures &lt;</a:t>
            </a:r>
            <a:r>
              <a:rPr lang="en-US" sz="2400" dirty="0" err="1"/>
              <a:t>sigA</a:t>
            </a:r>
            <a:r>
              <a:rPr lang="en-US" sz="2400" dirty="0"/>
              <a:t>&gt;, &lt;</a:t>
            </a:r>
            <a:r>
              <a:rPr lang="en-US" sz="2400" dirty="0" err="1"/>
              <a:t>sigB</a:t>
            </a:r>
            <a:r>
              <a:rPr lang="en-US" sz="2400" dirty="0"/>
              <a:t>&gt; and &lt;</a:t>
            </a:r>
            <a:r>
              <a:rPr lang="en-US" sz="2400" dirty="0" err="1"/>
              <a:t>sigC</a:t>
            </a:r>
            <a:r>
              <a:rPr lang="en-US" sz="2400" dirty="0"/>
              <a:t>&gt; </a:t>
            </a:r>
          </a:p>
          <a:p>
            <a:pPr lvl="1"/>
            <a:r>
              <a:rPr lang="en-US" sz="2400" dirty="0"/>
              <a:t>They aggregate the signatures: &lt;</a:t>
            </a:r>
            <a:r>
              <a:rPr lang="en-US" sz="2400" dirty="0" err="1"/>
              <a:t>sigAgg</a:t>
            </a:r>
            <a:r>
              <a:rPr lang="en-US" sz="2400" dirty="0"/>
              <a:t>&gt; = &lt;</a:t>
            </a:r>
            <a:r>
              <a:rPr lang="en-US" sz="2400" dirty="0" err="1"/>
              <a:t>sigA</a:t>
            </a:r>
            <a:r>
              <a:rPr lang="en-US" sz="2400" dirty="0"/>
              <a:t>&gt;+&lt;</a:t>
            </a:r>
            <a:r>
              <a:rPr lang="en-US" sz="2400" dirty="0" err="1"/>
              <a:t>sigB</a:t>
            </a:r>
            <a:r>
              <a:rPr lang="en-US" sz="2400" dirty="0"/>
              <a:t>&gt;+&lt;</a:t>
            </a:r>
            <a:r>
              <a:rPr lang="en-US" sz="2400" dirty="0" err="1"/>
              <a:t>sigC</a:t>
            </a:r>
            <a:r>
              <a:rPr lang="en-US" sz="2400" dirty="0"/>
              <a:t>&gt; </a:t>
            </a:r>
          </a:p>
          <a:p>
            <a:pPr lvl="1"/>
            <a:r>
              <a:rPr lang="en-US" sz="2400" dirty="0"/>
              <a:t>The witness field of the spending transaction only contains &lt;</a:t>
            </a:r>
            <a:r>
              <a:rPr lang="en-US" sz="2400" dirty="0" err="1"/>
              <a:t>sigAgg</a:t>
            </a:r>
            <a:r>
              <a:rPr lang="en-US" sz="2400" dirty="0"/>
              <a:t>&gt; (</a:t>
            </a:r>
            <a:r>
              <a:rPr lang="en-US" sz="2400" i="1" dirty="0">
                <a:solidFill>
                  <a:schemeClr val="accent6">
                    <a:lumMod val="50000"/>
                  </a:schemeClr>
                </a:solidFill>
              </a:rPr>
              <a:t>transaction size is also reduced so lower fee becomes an added advantage</a:t>
            </a:r>
            <a:r>
              <a:rPr lang="en-US" sz="2400" dirty="0"/>
              <a:t>)</a:t>
            </a:r>
          </a:p>
        </p:txBody>
      </p:sp>
      <p:sp>
        <p:nvSpPr>
          <p:cNvPr id="4" name="Slide Number Placeholder 3">
            <a:extLst>
              <a:ext uri="{FF2B5EF4-FFF2-40B4-BE49-F238E27FC236}">
                <a16:creationId xmlns:a16="http://schemas.microsoft.com/office/drawing/2014/main" id="{7619A926-C142-04A4-3414-F2E8F7C66F87}"/>
              </a:ext>
            </a:extLst>
          </p:cNvPr>
          <p:cNvSpPr>
            <a:spLocks noGrp="1"/>
          </p:cNvSpPr>
          <p:nvPr>
            <p:ph type="sldNum" sz="quarter" idx="12"/>
          </p:nvPr>
        </p:nvSpPr>
        <p:spPr/>
        <p:txBody>
          <a:bodyPr/>
          <a:lstStyle/>
          <a:p>
            <a:fld id="{D57F1E4F-1CFF-5643-939E-217C01CDF565}" type="slidenum">
              <a:rPr lang="en-US" smtClean="0"/>
              <a:pPr/>
              <a:t>82</a:t>
            </a:fld>
            <a:endParaRPr lang="en-US" dirty="0"/>
          </a:p>
        </p:txBody>
      </p:sp>
      <p:sp>
        <p:nvSpPr>
          <p:cNvPr id="8" name="TextBox 7">
            <a:extLst>
              <a:ext uri="{FF2B5EF4-FFF2-40B4-BE49-F238E27FC236}">
                <a16:creationId xmlns:a16="http://schemas.microsoft.com/office/drawing/2014/main" id="{78A1FDA7-D46B-94FF-8C17-485CB027B94A}"/>
              </a:ext>
            </a:extLst>
          </p:cNvPr>
          <p:cNvSpPr txBox="1"/>
          <p:nvPr/>
        </p:nvSpPr>
        <p:spPr>
          <a:xfrm>
            <a:off x="842211" y="1109547"/>
            <a:ext cx="10515599" cy="523220"/>
          </a:xfrm>
          <a:prstGeom prst="rect">
            <a:avLst/>
          </a:prstGeom>
          <a:solidFill>
            <a:srgbClr val="7030A0"/>
          </a:solidFill>
        </p:spPr>
        <p:txBody>
          <a:bodyPr wrap="square">
            <a:spAutoFit/>
          </a:bodyPr>
          <a:lstStyle/>
          <a:p>
            <a:pPr algn="ctr"/>
            <a:r>
              <a:rPr lang="en-US" sz="2800" dirty="0">
                <a:solidFill>
                  <a:schemeClr val="bg1"/>
                </a:solidFill>
                <a:latin typeface="Candara" panose="020E0502030303020204" pitchFamily="34" charset="0"/>
              </a:rPr>
              <a:t>Hides the </a:t>
            </a:r>
            <a:r>
              <a:rPr lang="en-US" sz="2800" dirty="0" err="1">
                <a:solidFill>
                  <a:schemeClr val="bg1"/>
                </a:solidFill>
                <a:latin typeface="Candara" panose="020E0502030303020204" pitchFamily="34" charset="0"/>
              </a:rPr>
              <a:t>mutlisig</a:t>
            </a:r>
            <a:r>
              <a:rPr lang="en-US" sz="2800" dirty="0">
                <a:solidFill>
                  <a:schemeClr val="bg1"/>
                </a:solidFill>
                <a:latin typeface="Candara" panose="020E0502030303020204" pitchFamily="34" charset="0"/>
              </a:rPr>
              <a:t> public keys through key aggregation</a:t>
            </a:r>
          </a:p>
        </p:txBody>
      </p:sp>
      <p:sp>
        <p:nvSpPr>
          <p:cNvPr id="10" name="TextBox 9">
            <a:extLst>
              <a:ext uri="{FF2B5EF4-FFF2-40B4-BE49-F238E27FC236}">
                <a16:creationId xmlns:a16="http://schemas.microsoft.com/office/drawing/2014/main" id="{E2D6C654-6C1A-3105-FEA7-507873854380}"/>
              </a:ext>
            </a:extLst>
          </p:cNvPr>
          <p:cNvSpPr txBox="1"/>
          <p:nvPr/>
        </p:nvSpPr>
        <p:spPr>
          <a:xfrm>
            <a:off x="842211" y="5659136"/>
            <a:ext cx="10515599" cy="830997"/>
          </a:xfrm>
          <a:prstGeom prst="rect">
            <a:avLst/>
          </a:prstGeom>
          <a:solidFill>
            <a:srgbClr val="7030A0"/>
          </a:solidFill>
        </p:spPr>
        <p:txBody>
          <a:bodyPr wrap="square">
            <a:spAutoFit/>
          </a:bodyPr>
          <a:lstStyle/>
          <a:p>
            <a:pPr algn="ctr"/>
            <a:r>
              <a:rPr lang="en-US" sz="2400" dirty="0">
                <a:solidFill>
                  <a:schemeClr val="bg1"/>
                </a:solidFill>
                <a:latin typeface="Candara" panose="020E0502030303020204" pitchFamily="34" charset="0"/>
              </a:rPr>
              <a:t>The spending transaction now reveals nothing about the number of participants or their individual public keys (great for privacy) </a:t>
            </a:r>
          </a:p>
        </p:txBody>
      </p:sp>
    </p:spTree>
    <p:extLst>
      <p:ext uri="{BB962C8B-B14F-4D97-AF65-F5344CB8AC3E}">
        <p14:creationId xmlns:p14="http://schemas.microsoft.com/office/powerpoint/2010/main" val="2560445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0AFB-7C15-A5EF-8525-A23BE6D3EFB5}"/>
              </a:ext>
            </a:extLst>
          </p:cNvPr>
          <p:cNvSpPr>
            <a:spLocks noGrp="1"/>
          </p:cNvSpPr>
          <p:nvPr>
            <p:ph type="title"/>
          </p:nvPr>
        </p:nvSpPr>
        <p:spPr/>
        <p:txBody>
          <a:bodyPr/>
          <a:lstStyle/>
          <a:p>
            <a:r>
              <a:rPr lang="en-US" dirty="0"/>
              <a:t>Batch Verification</a:t>
            </a:r>
          </a:p>
        </p:txBody>
      </p:sp>
      <p:sp>
        <p:nvSpPr>
          <p:cNvPr id="3" name="Content Placeholder 2">
            <a:extLst>
              <a:ext uri="{FF2B5EF4-FFF2-40B4-BE49-F238E27FC236}">
                <a16:creationId xmlns:a16="http://schemas.microsoft.com/office/drawing/2014/main" id="{492A5729-3A36-3AB6-D783-5D6E0364C1B0}"/>
              </a:ext>
            </a:extLst>
          </p:cNvPr>
          <p:cNvSpPr>
            <a:spLocks noGrp="1"/>
          </p:cNvSpPr>
          <p:nvPr>
            <p:ph idx="1"/>
          </p:nvPr>
        </p:nvSpPr>
        <p:spPr/>
        <p:txBody>
          <a:bodyPr>
            <a:normAutofit fontScale="92500" lnSpcReduction="10000"/>
          </a:bodyPr>
          <a:lstStyle/>
          <a:p>
            <a:r>
              <a:rPr lang="en-US" dirty="0">
                <a:solidFill>
                  <a:srgbClr val="7030A0"/>
                </a:solidFill>
              </a:rPr>
              <a:t>Key aggregation and signature aggregation are powerful features of Schnorr signatures that also accelerate transaction verification</a:t>
            </a:r>
          </a:p>
          <a:p>
            <a:r>
              <a:rPr lang="en-US" dirty="0"/>
              <a:t>In a single </a:t>
            </a:r>
            <a:r>
              <a:rPr lang="en-US" dirty="0" err="1"/>
              <a:t>multisig</a:t>
            </a:r>
            <a:r>
              <a:rPr lang="en-US" dirty="0"/>
              <a:t> transaction, multiple public keys and signatures can be aggregated into one, improving efficiency and privacy</a:t>
            </a:r>
          </a:p>
          <a:p>
            <a:r>
              <a:rPr lang="en-US" dirty="0"/>
              <a:t>At the block level, validators can use batch verification, where multiple Schnorr signatures from independent transactions are combined into a single verification equation</a:t>
            </a:r>
          </a:p>
          <a:p>
            <a:r>
              <a:rPr lang="en-US" dirty="0"/>
              <a:t>If this batch check succeeds, all signatures are validated simultaneously</a:t>
            </a:r>
          </a:p>
          <a:p>
            <a:r>
              <a:rPr lang="en-US" dirty="0">
                <a:solidFill>
                  <a:srgbClr val="7030A0"/>
                </a:solidFill>
              </a:rPr>
              <a:t>If it fails, the validator falls back to individual verification to identify the invalid signature</a:t>
            </a:r>
          </a:p>
        </p:txBody>
      </p:sp>
      <p:sp>
        <p:nvSpPr>
          <p:cNvPr id="4" name="Slide Number Placeholder 3">
            <a:extLst>
              <a:ext uri="{FF2B5EF4-FFF2-40B4-BE49-F238E27FC236}">
                <a16:creationId xmlns:a16="http://schemas.microsoft.com/office/drawing/2014/main" id="{EE04B8E3-C67C-5387-31FB-3E33DD73FEF2}"/>
              </a:ext>
            </a:extLst>
          </p:cNvPr>
          <p:cNvSpPr>
            <a:spLocks noGrp="1"/>
          </p:cNvSpPr>
          <p:nvPr>
            <p:ph type="sldNum" sz="quarter" idx="12"/>
          </p:nvPr>
        </p:nvSpPr>
        <p:spPr/>
        <p:txBody>
          <a:bodyPr/>
          <a:lstStyle/>
          <a:p>
            <a:fld id="{D57F1E4F-1CFF-5643-939E-217C01CDF565}" type="slidenum">
              <a:rPr lang="en-US" smtClean="0"/>
              <a:pPr/>
              <a:t>83</a:t>
            </a:fld>
            <a:endParaRPr lang="en-US" dirty="0"/>
          </a:p>
        </p:txBody>
      </p:sp>
    </p:spTree>
    <p:extLst>
      <p:ext uri="{BB962C8B-B14F-4D97-AF65-F5344CB8AC3E}">
        <p14:creationId xmlns:p14="http://schemas.microsoft.com/office/powerpoint/2010/main" val="215772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1D286-127B-9C79-128A-489900075F4A}"/>
              </a:ext>
            </a:extLst>
          </p:cNvPr>
          <p:cNvSpPr>
            <a:spLocks noGrp="1"/>
          </p:cNvSpPr>
          <p:nvPr>
            <p:ph type="title"/>
          </p:nvPr>
        </p:nvSpPr>
        <p:spPr/>
        <p:txBody>
          <a:bodyPr/>
          <a:lstStyle/>
          <a:p>
            <a:r>
              <a:rPr lang="en-US" dirty="0" err="1"/>
              <a:t>Merkelized</a:t>
            </a:r>
            <a:r>
              <a:rPr lang="en-US" dirty="0"/>
              <a:t> Abstract Syntax Tree (MAST)</a:t>
            </a:r>
          </a:p>
        </p:txBody>
      </p:sp>
      <p:sp>
        <p:nvSpPr>
          <p:cNvPr id="4" name="Slide Number Placeholder 3">
            <a:extLst>
              <a:ext uri="{FF2B5EF4-FFF2-40B4-BE49-F238E27FC236}">
                <a16:creationId xmlns:a16="http://schemas.microsoft.com/office/drawing/2014/main" id="{47C69A23-BAC6-EB3D-25A2-D00A42AF03E9}"/>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84</a:t>
            </a:fld>
            <a:endParaRPr lang="en-US" dirty="0">
              <a:latin typeface="Candara" panose="020E0502030303020204" pitchFamily="34" charset="0"/>
            </a:endParaRPr>
          </a:p>
        </p:txBody>
      </p:sp>
      <p:sp>
        <p:nvSpPr>
          <p:cNvPr id="5" name="TextBox 4">
            <a:extLst>
              <a:ext uri="{FF2B5EF4-FFF2-40B4-BE49-F238E27FC236}">
                <a16:creationId xmlns:a16="http://schemas.microsoft.com/office/drawing/2014/main" id="{5AFBE5ED-A7E4-01D6-B344-CB154656AA47}"/>
              </a:ext>
            </a:extLst>
          </p:cNvPr>
          <p:cNvSpPr txBox="1"/>
          <p:nvPr/>
        </p:nvSpPr>
        <p:spPr>
          <a:xfrm>
            <a:off x="518160" y="985534"/>
            <a:ext cx="11155680" cy="830997"/>
          </a:xfrm>
          <a:prstGeom prst="rect">
            <a:avLst/>
          </a:prstGeom>
          <a:solidFill>
            <a:srgbClr val="7030A0"/>
          </a:solidFill>
        </p:spPr>
        <p:txBody>
          <a:bodyPr wrap="square" rtlCol="0">
            <a:spAutoFit/>
          </a:bodyPr>
          <a:lstStyle/>
          <a:p>
            <a:pPr algn="ctr"/>
            <a:r>
              <a:rPr lang="en-US" sz="2400" dirty="0">
                <a:solidFill>
                  <a:schemeClr val="bg1"/>
                </a:solidFill>
                <a:latin typeface="Candara" panose="020E0502030303020204" pitchFamily="34" charset="0"/>
              </a:rPr>
              <a:t>Only reveal the script branch that is actually used for spending, while keeping all other spending conditions hidden</a:t>
            </a:r>
          </a:p>
        </p:txBody>
      </p:sp>
      <p:sp>
        <p:nvSpPr>
          <p:cNvPr id="6" name="TextBox 5">
            <a:extLst>
              <a:ext uri="{FF2B5EF4-FFF2-40B4-BE49-F238E27FC236}">
                <a16:creationId xmlns:a16="http://schemas.microsoft.com/office/drawing/2014/main" id="{60ADF94D-8381-7071-C73A-42587C0E89F9}"/>
              </a:ext>
            </a:extLst>
          </p:cNvPr>
          <p:cNvSpPr txBox="1"/>
          <p:nvPr/>
        </p:nvSpPr>
        <p:spPr>
          <a:xfrm>
            <a:off x="487680" y="1971053"/>
            <a:ext cx="4926531" cy="4278094"/>
          </a:xfrm>
          <a:prstGeom prst="rect">
            <a:avLst/>
          </a:prstGeom>
          <a:noFill/>
          <a:ln>
            <a:solidFill>
              <a:schemeClr val="tx1"/>
            </a:solidFill>
          </a:ln>
        </p:spPr>
        <p:txBody>
          <a:bodyPr wrap="square" rtlCol="0">
            <a:spAutoFit/>
          </a:bodyPr>
          <a:lstStyle/>
          <a:p>
            <a:r>
              <a:rPr lang="en-US" sz="1600" dirty="0">
                <a:latin typeface="Candara" panose="020E0502030303020204" pitchFamily="34" charset="0"/>
              </a:rPr>
              <a:t>HTLC output script (</a:t>
            </a:r>
            <a:r>
              <a:rPr lang="en-US" sz="1600" dirty="0" err="1">
                <a:latin typeface="Candara" panose="020E0502030303020204" pitchFamily="34" charset="0"/>
              </a:rPr>
              <a:t>output_htlc_script</a:t>
            </a:r>
            <a:r>
              <a:rPr lang="en-US" sz="1600" dirty="0">
                <a:latin typeface="Candara" panose="020E0502030303020204" pitchFamily="34" charset="0"/>
              </a:rPr>
              <a:t>)</a:t>
            </a:r>
          </a:p>
          <a:p>
            <a:r>
              <a:rPr lang="en-US" sz="1600" dirty="0">
                <a:solidFill>
                  <a:srgbClr val="7030A0"/>
                </a:solidFill>
                <a:latin typeface="Candara" panose="020E0502030303020204" pitchFamily="34" charset="0"/>
              </a:rPr>
              <a:t>OP_IF # Revocation path for Charlie if Alice cheats </a:t>
            </a:r>
          </a:p>
          <a:p>
            <a:r>
              <a:rPr lang="en-US" sz="1600" dirty="0">
                <a:solidFill>
                  <a:srgbClr val="7030A0"/>
                </a:solidFill>
                <a:latin typeface="Candara" panose="020E0502030303020204" pitchFamily="34" charset="0"/>
              </a:rPr>
              <a:t>    &lt;</a:t>
            </a:r>
            <a:r>
              <a:rPr lang="en-US" sz="1600" dirty="0" err="1">
                <a:solidFill>
                  <a:srgbClr val="7030A0"/>
                </a:solidFill>
                <a:latin typeface="Candara" panose="020E0502030303020204" pitchFamily="34" charset="0"/>
              </a:rPr>
              <a:t>revocationpubkey</a:t>
            </a:r>
            <a:r>
              <a:rPr lang="en-US" sz="1600" dirty="0">
                <a:solidFill>
                  <a:srgbClr val="7030A0"/>
                </a:solidFill>
                <a:latin typeface="Candara" panose="020E0502030303020204" pitchFamily="34" charset="0"/>
              </a:rPr>
              <a:t>&gt; </a:t>
            </a:r>
          </a:p>
          <a:p>
            <a:r>
              <a:rPr lang="en-US" sz="1600" dirty="0">
                <a:solidFill>
                  <a:schemeClr val="accent6">
                    <a:lumMod val="50000"/>
                  </a:schemeClr>
                </a:solidFill>
                <a:latin typeface="Candara" panose="020E0502030303020204" pitchFamily="34" charset="0"/>
              </a:rPr>
              <a:t>OP_ELSE </a:t>
            </a:r>
          </a:p>
          <a:p>
            <a:r>
              <a:rPr lang="en-US" sz="1600" dirty="0">
                <a:solidFill>
                  <a:schemeClr val="accent6">
                    <a:lumMod val="50000"/>
                  </a:schemeClr>
                </a:solidFill>
                <a:latin typeface="Candara" panose="020E0502030303020204" pitchFamily="34" charset="0"/>
              </a:rPr>
              <a:t>    OP_IF  # Anyone can claim HTLC with preimage of H before timeout </a:t>
            </a:r>
          </a:p>
          <a:p>
            <a:r>
              <a:rPr lang="en-US" sz="1600" dirty="0">
                <a:solidFill>
                  <a:schemeClr val="accent6">
                    <a:lumMod val="50000"/>
                  </a:schemeClr>
                </a:solidFill>
                <a:latin typeface="Candara" panose="020E0502030303020204" pitchFamily="34" charset="0"/>
              </a:rPr>
              <a:t>        OP_SHA256 &lt;H&gt; OP_EQUALVERIFY</a:t>
            </a:r>
          </a:p>
          <a:p>
            <a:r>
              <a:rPr lang="en-US" sz="1600" dirty="0">
                <a:solidFill>
                  <a:schemeClr val="accent6">
                    <a:lumMod val="50000"/>
                  </a:schemeClr>
                </a:solidFill>
                <a:latin typeface="Candara" panose="020E0502030303020204" pitchFamily="34" charset="0"/>
              </a:rPr>
              <a:t>        &lt;</a:t>
            </a:r>
            <a:r>
              <a:rPr lang="en-US" sz="1600" dirty="0" err="1">
                <a:solidFill>
                  <a:schemeClr val="accent6">
                    <a:lumMod val="50000"/>
                  </a:schemeClr>
                </a:solidFill>
                <a:latin typeface="Candara" panose="020E0502030303020204" pitchFamily="34" charset="0"/>
              </a:rPr>
              <a:t>recoverpubkey</a:t>
            </a:r>
            <a:r>
              <a:rPr lang="en-US" sz="1600" dirty="0">
                <a:solidFill>
                  <a:schemeClr val="accent6">
                    <a:lumMod val="50000"/>
                  </a:schemeClr>
                </a:solidFill>
                <a:latin typeface="Candara" panose="020E0502030303020204" pitchFamily="34" charset="0"/>
              </a:rPr>
              <a:t>&gt; </a:t>
            </a:r>
          </a:p>
          <a:p>
            <a:r>
              <a:rPr lang="en-US" sz="1600" dirty="0">
                <a:solidFill>
                  <a:schemeClr val="accent2">
                    <a:lumMod val="75000"/>
                  </a:schemeClr>
                </a:solidFill>
                <a:latin typeface="Candara" panose="020E0502030303020204" pitchFamily="34" charset="0"/>
              </a:rPr>
              <a:t>OP_ELSE  # Alice refunds after CLTV timeout </a:t>
            </a:r>
          </a:p>
          <a:p>
            <a:r>
              <a:rPr lang="en-US" sz="1600" dirty="0">
                <a:solidFill>
                  <a:schemeClr val="accent2">
                    <a:lumMod val="75000"/>
                  </a:schemeClr>
                </a:solidFill>
                <a:latin typeface="Candara" panose="020E0502030303020204" pitchFamily="34" charset="0"/>
              </a:rPr>
              <a:t>        &lt;</a:t>
            </a:r>
            <a:r>
              <a:rPr lang="en-US" sz="1600" dirty="0" err="1">
                <a:solidFill>
                  <a:schemeClr val="accent2">
                    <a:lumMod val="75000"/>
                  </a:schemeClr>
                </a:solidFill>
                <a:latin typeface="Candara" panose="020E0502030303020204" pitchFamily="34" charset="0"/>
              </a:rPr>
              <a:t>cltv_expiry</a:t>
            </a:r>
            <a:r>
              <a:rPr lang="en-US" sz="1600" dirty="0">
                <a:solidFill>
                  <a:schemeClr val="accent2">
                    <a:lumMod val="75000"/>
                  </a:schemeClr>
                </a:solidFill>
                <a:latin typeface="Candara" panose="020E0502030303020204" pitchFamily="34" charset="0"/>
              </a:rPr>
              <a:t>&gt; OP_CHECKLOCKTIMEVERIFY OP_DROP</a:t>
            </a:r>
          </a:p>
          <a:p>
            <a:r>
              <a:rPr lang="en-US" sz="1600" dirty="0">
                <a:solidFill>
                  <a:schemeClr val="accent2">
                    <a:lumMod val="75000"/>
                  </a:schemeClr>
                </a:solidFill>
                <a:latin typeface="Candara" panose="020E0502030303020204" pitchFamily="34" charset="0"/>
              </a:rPr>
              <a:t>        &lt;</a:t>
            </a:r>
            <a:r>
              <a:rPr lang="en-US" sz="1600" dirty="0" err="1">
                <a:solidFill>
                  <a:schemeClr val="accent2">
                    <a:lumMod val="75000"/>
                  </a:schemeClr>
                </a:solidFill>
                <a:latin typeface="Candara" panose="020E0502030303020204" pitchFamily="34" charset="0"/>
              </a:rPr>
              <a:t>pubkeyAlice</a:t>
            </a:r>
            <a:r>
              <a:rPr lang="en-US" sz="1600" dirty="0">
                <a:solidFill>
                  <a:schemeClr val="accent2">
                    <a:lumMod val="75000"/>
                  </a:schemeClr>
                </a:solidFill>
                <a:latin typeface="Candara" panose="020E0502030303020204" pitchFamily="34" charset="0"/>
              </a:rPr>
              <a:t>&gt; </a:t>
            </a:r>
          </a:p>
          <a:p>
            <a:r>
              <a:rPr lang="en-US" sz="1600" dirty="0">
                <a:solidFill>
                  <a:schemeClr val="accent2">
                    <a:lumMod val="75000"/>
                  </a:schemeClr>
                </a:solidFill>
                <a:latin typeface="Candara" panose="020E0502030303020204" pitchFamily="34" charset="0"/>
              </a:rPr>
              <a:t>    OP_ENDIF</a:t>
            </a:r>
          </a:p>
          <a:p>
            <a:endParaRPr lang="en-US" sz="1600" dirty="0">
              <a:latin typeface="Candara" panose="020E0502030303020204" pitchFamily="34" charset="0"/>
            </a:endParaRPr>
          </a:p>
          <a:p>
            <a:r>
              <a:rPr lang="en-US" sz="1600" dirty="0">
                <a:latin typeface="Candara" panose="020E0502030303020204" pitchFamily="34" charset="0"/>
              </a:rPr>
              <a:t>OP_ENDIF</a:t>
            </a:r>
          </a:p>
          <a:p>
            <a:r>
              <a:rPr lang="en-US" sz="1600" dirty="0">
                <a:latin typeface="Candara" panose="020E0502030303020204" pitchFamily="34" charset="0"/>
              </a:rPr>
              <a:t>OP_CHECKSIG</a:t>
            </a:r>
          </a:p>
          <a:p>
            <a:r>
              <a:rPr lang="en-US" sz="1600" dirty="0">
                <a:latin typeface="Candara" panose="020E0502030303020204" pitchFamily="34" charset="0"/>
              </a:rPr>
              <a:t>&lt;</a:t>
            </a:r>
            <a:r>
              <a:rPr lang="en-US" sz="1600" dirty="0" err="1">
                <a:latin typeface="Candara" panose="020E0502030303020204" pitchFamily="34" charset="0"/>
              </a:rPr>
              <a:t>wsh_ouptput_htlc</a:t>
            </a:r>
            <a:r>
              <a:rPr lang="en-US" sz="1600" dirty="0">
                <a:latin typeface="Candara" panose="020E0502030303020204" pitchFamily="34" charset="0"/>
              </a:rPr>
              <a:t>&gt;=SHA256(</a:t>
            </a:r>
            <a:r>
              <a:rPr lang="en-US" sz="1600" dirty="0" err="1">
                <a:latin typeface="Candara" panose="020E0502030303020204" pitchFamily="34" charset="0"/>
              </a:rPr>
              <a:t>output_htlc_script</a:t>
            </a:r>
            <a:r>
              <a:rPr lang="en-US" sz="1600" dirty="0">
                <a:latin typeface="Candara" panose="020E0502030303020204" pitchFamily="34" charset="0"/>
              </a:rPr>
              <a:t>)</a:t>
            </a:r>
          </a:p>
        </p:txBody>
      </p:sp>
      <p:sp>
        <p:nvSpPr>
          <p:cNvPr id="7" name="TextBox 6">
            <a:extLst>
              <a:ext uri="{FF2B5EF4-FFF2-40B4-BE49-F238E27FC236}">
                <a16:creationId xmlns:a16="http://schemas.microsoft.com/office/drawing/2014/main" id="{CFA8AC4B-47F7-5ABB-4092-7933E4308EBE}"/>
              </a:ext>
            </a:extLst>
          </p:cNvPr>
          <p:cNvSpPr txBox="1"/>
          <p:nvPr/>
        </p:nvSpPr>
        <p:spPr>
          <a:xfrm>
            <a:off x="5574051" y="1908453"/>
            <a:ext cx="5129930" cy="1200329"/>
          </a:xfrm>
          <a:prstGeom prst="rect">
            <a:avLst/>
          </a:prstGeom>
          <a:noFill/>
        </p:spPr>
        <p:txBody>
          <a:bodyPr wrap="none" rtlCol="0">
            <a:spAutoFit/>
          </a:bodyPr>
          <a:lstStyle/>
          <a:p>
            <a:r>
              <a:rPr lang="en-US" dirty="0">
                <a:latin typeface="Candara" panose="020E0502030303020204" pitchFamily="34" charset="0"/>
              </a:rPr>
              <a:t>3 spending conditions – 3 </a:t>
            </a:r>
            <a:r>
              <a:rPr lang="en-US" dirty="0" err="1">
                <a:latin typeface="Candara" panose="020E0502030303020204" pitchFamily="34" charset="0"/>
              </a:rPr>
              <a:t>leafs</a:t>
            </a:r>
            <a:r>
              <a:rPr lang="en-US" dirty="0">
                <a:latin typeface="Candara" panose="020E0502030303020204" pitchFamily="34" charset="0"/>
              </a:rPr>
              <a:t> in the MAST</a:t>
            </a:r>
          </a:p>
          <a:p>
            <a:r>
              <a:rPr lang="en-US" dirty="0">
                <a:latin typeface="Candara" panose="020E0502030303020204" pitchFamily="34" charset="0"/>
              </a:rPr>
              <a:t>Leaf 1 (h1): Script for the first path (revocation key)</a:t>
            </a:r>
          </a:p>
          <a:p>
            <a:r>
              <a:rPr lang="en-US" dirty="0">
                <a:latin typeface="Candara" panose="020E0502030303020204" pitchFamily="34" charset="0"/>
              </a:rPr>
              <a:t>Leaf 2 (h2): Script for the second path (HTLC path)</a:t>
            </a:r>
          </a:p>
          <a:p>
            <a:r>
              <a:rPr lang="en-US" dirty="0">
                <a:latin typeface="Candara" panose="020E0502030303020204" pitchFamily="34" charset="0"/>
              </a:rPr>
              <a:t>Leaf 3 (h3): Script for the third path (</a:t>
            </a:r>
            <a:r>
              <a:rPr lang="en-US">
                <a:latin typeface="Candara" panose="020E0502030303020204" pitchFamily="34" charset="0"/>
              </a:rPr>
              <a:t>Refund path)</a:t>
            </a:r>
            <a:endParaRPr lang="en-US" dirty="0">
              <a:latin typeface="Candara" panose="020E0502030303020204" pitchFamily="34" charset="0"/>
            </a:endParaRPr>
          </a:p>
        </p:txBody>
      </p:sp>
      <p:grpSp>
        <p:nvGrpSpPr>
          <p:cNvPr id="8" name="Group 7">
            <a:extLst>
              <a:ext uri="{FF2B5EF4-FFF2-40B4-BE49-F238E27FC236}">
                <a16:creationId xmlns:a16="http://schemas.microsoft.com/office/drawing/2014/main" id="{E34D33C4-ACCD-9CC7-3632-9BF007AC766A}"/>
              </a:ext>
            </a:extLst>
          </p:cNvPr>
          <p:cNvGrpSpPr/>
          <p:nvPr/>
        </p:nvGrpSpPr>
        <p:grpSpPr>
          <a:xfrm>
            <a:off x="6354172" y="5844383"/>
            <a:ext cx="4579497" cy="440858"/>
            <a:chOff x="5160763" y="4137886"/>
            <a:chExt cx="4579497" cy="645460"/>
          </a:xfrm>
        </p:grpSpPr>
        <p:sp>
          <p:nvSpPr>
            <p:cNvPr id="9" name="Rectangle 8">
              <a:extLst>
                <a:ext uri="{FF2B5EF4-FFF2-40B4-BE49-F238E27FC236}">
                  <a16:creationId xmlns:a16="http://schemas.microsoft.com/office/drawing/2014/main" id="{5196F338-E87C-7463-93B3-6E0C64A92DB1}"/>
                </a:ext>
              </a:extLst>
            </p:cNvPr>
            <p:cNvSpPr/>
            <p:nvPr/>
          </p:nvSpPr>
          <p:spPr>
            <a:xfrm>
              <a:off x="5160763" y="4137887"/>
              <a:ext cx="1032734" cy="645459"/>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andara" panose="020E0502030303020204" pitchFamily="34" charset="0"/>
                </a:rPr>
                <a:t>Script </a:t>
              </a:r>
            </a:p>
            <a:p>
              <a:pPr algn="ctr"/>
              <a:r>
                <a:rPr lang="en-US" sz="1600" dirty="0">
                  <a:solidFill>
                    <a:schemeClr val="bg1"/>
                  </a:solidFill>
                  <a:latin typeface="Candara" panose="020E0502030303020204" pitchFamily="34" charset="0"/>
                </a:rPr>
                <a:t>(1</a:t>
              </a:r>
              <a:r>
                <a:rPr lang="en-US" sz="1600" baseline="30000" dirty="0">
                  <a:solidFill>
                    <a:schemeClr val="bg1"/>
                  </a:solidFill>
                  <a:latin typeface="Candara" panose="020E0502030303020204" pitchFamily="34" charset="0"/>
                </a:rPr>
                <a:t>st</a:t>
              </a:r>
              <a:r>
                <a:rPr lang="en-US" sz="1600" dirty="0">
                  <a:solidFill>
                    <a:schemeClr val="bg1"/>
                  </a:solidFill>
                  <a:latin typeface="Candara" panose="020E0502030303020204" pitchFamily="34" charset="0"/>
                </a:rPr>
                <a:t> Path)</a:t>
              </a:r>
            </a:p>
          </p:txBody>
        </p:sp>
        <p:sp>
          <p:nvSpPr>
            <p:cNvPr id="10" name="Rectangle 9">
              <a:extLst>
                <a:ext uri="{FF2B5EF4-FFF2-40B4-BE49-F238E27FC236}">
                  <a16:creationId xmlns:a16="http://schemas.microsoft.com/office/drawing/2014/main" id="{2C6C8A3F-08BE-7B68-437A-3A7E239948E5}"/>
                </a:ext>
              </a:extLst>
            </p:cNvPr>
            <p:cNvSpPr/>
            <p:nvPr/>
          </p:nvSpPr>
          <p:spPr>
            <a:xfrm>
              <a:off x="6614770" y="4137887"/>
              <a:ext cx="1032734" cy="645459"/>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andara" panose="020E0502030303020204" pitchFamily="34" charset="0"/>
                </a:rPr>
                <a:t>Script (2</a:t>
              </a:r>
              <a:r>
                <a:rPr lang="en-US" sz="1600" baseline="30000" dirty="0">
                  <a:solidFill>
                    <a:schemeClr val="bg1"/>
                  </a:solidFill>
                  <a:latin typeface="Candara" panose="020E0502030303020204" pitchFamily="34" charset="0"/>
                </a:rPr>
                <a:t>nd</a:t>
              </a:r>
              <a:r>
                <a:rPr lang="en-US" sz="1600" dirty="0">
                  <a:solidFill>
                    <a:schemeClr val="bg1"/>
                  </a:solidFill>
                  <a:latin typeface="Candara" panose="020E0502030303020204" pitchFamily="34" charset="0"/>
                </a:rPr>
                <a:t> Path)</a:t>
              </a:r>
            </a:p>
          </p:txBody>
        </p:sp>
        <p:sp>
          <p:nvSpPr>
            <p:cNvPr id="11" name="Rectangle 10">
              <a:extLst>
                <a:ext uri="{FF2B5EF4-FFF2-40B4-BE49-F238E27FC236}">
                  <a16:creationId xmlns:a16="http://schemas.microsoft.com/office/drawing/2014/main" id="{6D7069AE-1218-7FA1-BEC7-CC682B8B38C7}"/>
                </a:ext>
              </a:extLst>
            </p:cNvPr>
            <p:cNvSpPr/>
            <p:nvPr/>
          </p:nvSpPr>
          <p:spPr>
            <a:xfrm>
              <a:off x="8707526" y="4137886"/>
              <a:ext cx="1032734" cy="645459"/>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andara" panose="020E0502030303020204" pitchFamily="34" charset="0"/>
                </a:rPr>
                <a:t>Script </a:t>
              </a:r>
            </a:p>
            <a:p>
              <a:pPr algn="ctr"/>
              <a:r>
                <a:rPr lang="en-US" sz="1600" dirty="0">
                  <a:solidFill>
                    <a:schemeClr val="bg1"/>
                  </a:solidFill>
                  <a:latin typeface="Candara" panose="020E0502030303020204" pitchFamily="34" charset="0"/>
                </a:rPr>
                <a:t>(3</a:t>
              </a:r>
              <a:r>
                <a:rPr lang="en-US" sz="1600" baseline="30000" dirty="0">
                  <a:solidFill>
                    <a:schemeClr val="bg1"/>
                  </a:solidFill>
                  <a:latin typeface="Candara" panose="020E0502030303020204" pitchFamily="34" charset="0"/>
                </a:rPr>
                <a:t>rd</a:t>
              </a:r>
              <a:r>
                <a:rPr lang="en-US" sz="1600" dirty="0">
                  <a:solidFill>
                    <a:schemeClr val="bg1"/>
                  </a:solidFill>
                  <a:latin typeface="Candara" panose="020E0502030303020204" pitchFamily="34" charset="0"/>
                </a:rPr>
                <a:t> Path)</a:t>
              </a:r>
            </a:p>
          </p:txBody>
        </p:sp>
      </p:grpSp>
      <p:grpSp>
        <p:nvGrpSpPr>
          <p:cNvPr id="12" name="Group 11">
            <a:extLst>
              <a:ext uri="{FF2B5EF4-FFF2-40B4-BE49-F238E27FC236}">
                <a16:creationId xmlns:a16="http://schemas.microsoft.com/office/drawing/2014/main" id="{F8CF3F9C-CB08-5B26-1C8A-69DE0E603D5E}"/>
              </a:ext>
            </a:extLst>
          </p:cNvPr>
          <p:cNvGrpSpPr/>
          <p:nvPr/>
        </p:nvGrpSpPr>
        <p:grpSpPr>
          <a:xfrm>
            <a:off x="6878618" y="3251450"/>
            <a:ext cx="3548981" cy="2000366"/>
            <a:chOff x="4293354" y="1173481"/>
            <a:chExt cx="3548981" cy="2145032"/>
          </a:xfrm>
        </p:grpSpPr>
        <p:cxnSp>
          <p:nvCxnSpPr>
            <p:cNvPr id="13" name="Straight Arrow Connector 12">
              <a:extLst>
                <a:ext uri="{FF2B5EF4-FFF2-40B4-BE49-F238E27FC236}">
                  <a16:creationId xmlns:a16="http://schemas.microsoft.com/office/drawing/2014/main" id="{6B1D4C9E-CE5C-5C56-831C-9B85F0877DA5}"/>
                </a:ext>
              </a:extLst>
            </p:cNvPr>
            <p:cNvCxnSpPr>
              <a:cxnSpLocks/>
            </p:cNvCxnSpPr>
            <p:nvPr/>
          </p:nvCxnSpPr>
          <p:spPr>
            <a:xfrm flipV="1">
              <a:off x="4857586" y="1663288"/>
              <a:ext cx="812139" cy="55592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585AACE-413F-FA7F-1BAF-946DBE702EAC}"/>
                </a:ext>
              </a:extLst>
            </p:cNvPr>
            <p:cNvCxnSpPr>
              <a:cxnSpLocks/>
              <a:endCxn id="16" idx="2"/>
            </p:cNvCxnSpPr>
            <p:nvPr/>
          </p:nvCxnSpPr>
          <p:spPr>
            <a:xfrm flipV="1">
              <a:off x="4293354" y="2774577"/>
              <a:ext cx="606354" cy="54393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507B05D-F5F0-0C5B-5312-90A4733708F3}"/>
                </a:ext>
              </a:extLst>
            </p:cNvPr>
            <p:cNvCxnSpPr>
              <a:cxnSpLocks/>
            </p:cNvCxnSpPr>
            <p:nvPr/>
          </p:nvCxnSpPr>
          <p:spPr>
            <a:xfrm flipH="1" flipV="1">
              <a:off x="4989695" y="2774577"/>
              <a:ext cx="687435" cy="54393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251ACB3-77FC-6B3B-52A2-B0BF4F5C7DD5}"/>
                </a:ext>
              </a:extLst>
            </p:cNvPr>
            <p:cNvSpPr/>
            <p:nvPr/>
          </p:nvSpPr>
          <p:spPr>
            <a:xfrm>
              <a:off x="4383341" y="2129118"/>
              <a:ext cx="1032734" cy="64545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h12 = hash</a:t>
              </a:r>
            </a:p>
            <a:p>
              <a:pPr algn="ctr"/>
              <a:r>
                <a:rPr lang="en-US" sz="1400" dirty="0">
                  <a:latin typeface="Candara" panose="020E0502030303020204" pitchFamily="34" charset="0"/>
                </a:rPr>
                <a:t>(h1,h2)</a:t>
              </a:r>
            </a:p>
          </p:txBody>
        </p:sp>
        <p:sp>
          <p:nvSpPr>
            <p:cNvPr id="20" name="Rectangle 19">
              <a:extLst>
                <a:ext uri="{FF2B5EF4-FFF2-40B4-BE49-F238E27FC236}">
                  <a16:creationId xmlns:a16="http://schemas.microsoft.com/office/drawing/2014/main" id="{C1ED1E21-C0EB-A880-AD89-5DBC1B9B5D5A}"/>
                </a:ext>
              </a:extLst>
            </p:cNvPr>
            <p:cNvSpPr/>
            <p:nvPr/>
          </p:nvSpPr>
          <p:spPr>
            <a:xfrm>
              <a:off x="5677130" y="1173481"/>
              <a:ext cx="1032734" cy="64545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ndara" panose="020E0502030303020204" pitchFamily="34" charset="0"/>
                </a:rPr>
                <a:t>Hash</a:t>
              </a:r>
            </a:p>
            <a:p>
              <a:pPr algn="ctr"/>
              <a:r>
                <a:rPr lang="en-US" sz="1400" dirty="0">
                  <a:latin typeface="Candara" panose="020E0502030303020204" pitchFamily="34" charset="0"/>
                </a:rPr>
                <a:t>(h12,h3)</a:t>
              </a:r>
            </a:p>
          </p:txBody>
        </p:sp>
        <p:cxnSp>
          <p:nvCxnSpPr>
            <p:cNvPr id="21" name="Straight Arrow Connector 20">
              <a:extLst>
                <a:ext uri="{FF2B5EF4-FFF2-40B4-BE49-F238E27FC236}">
                  <a16:creationId xmlns:a16="http://schemas.microsoft.com/office/drawing/2014/main" id="{0AD45DD3-97B1-63AC-B266-60CE00C078D3}"/>
                </a:ext>
              </a:extLst>
            </p:cNvPr>
            <p:cNvCxnSpPr>
              <a:cxnSpLocks/>
            </p:cNvCxnSpPr>
            <p:nvPr/>
          </p:nvCxnSpPr>
          <p:spPr>
            <a:xfrm flipH="1" flipV="1">
              <a:off x="6729747" y="1536586"/>
              <a:ext cx="1112588" cy="175752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208F5930-BBA2-6B89-9386-CF5873CDECB0}"/>
              </a:ext>
            </a:extLst>
          </p:cNvPr>
          <p:cNvSpPr txBox="1"/>
          <p:nvPr/>
        </p:nvSpPr>
        <p:spPr>
          <a:xfrm>
            <a:off x="9295128" y="3291866"/>
            <a:ext cx="2131324" cy="523220"/>
          </a:xfrm>
          <a:prstGeom prst="rect">
            <a:avLst/>
          </a:prstGeom>
          <a:noFill/>
        </p:spPr>
        <p:txBody>
          <a:bodyPr wrap="square" rtlCol="0">
            <a:spAutoFit/>
          </a:bodyPr>
          <a:lstStyle/>
          <a:p>
            <a:pPr algn="ctr"/>
            <a:r>
              <a:rPr lang="en-US" sz="1400" dirty="0">
                <a:latin typeface="Candara" panose="020E0502030303020204" pitchFamily="34" charset="0"/>
              </a:rPr>
              <a:t>Merkel Root of the Tap Tree (h)</a:t>
            </a:r>
          </a:p>
        </p:txBody>
      </p:sp>
      <p:grpSp>
        <p:nvGrpSpPr>
          <p:cNvPr id="25" name="Group 24">
            <a:extLst>
              <a:ext uri="{FF2B5EF4-FFF2-40B4-BE49-F238E27FC236}">
                <a16:creationId xmlns:a16="http://schemas.microsoft.com/office/drawing/2014/main" id="{2F4015EC-E1DE-80F9-48EE-5A1139F1CC64}"/>
              </a:ext>
            </a:extLst>
          </p:cNvPr>
          <p:cNvGrpSpPr/>
          <p:nvPr/>
        </p:nvGrpSpPr>
        <p:grpSpPr>
          <a:xfrm>
            <a:off x="6360453" y="5251816"/>
            <a:ext cx="4579497" cy="301112"/>
            <a:chOff x="5160763" y="4137886"/>
            <a:chExt cx="4579497" cy="645460"/>
          </a:xfrm>
        </p:grpSpPr>
        <p:sp>
          <p:nvSpPr>
            <p:cNvPr id="26" name="Rectangle 25">
              <a:extLst>
                <a:ext uri="{FF2B5EF4-FFF2-40B4-BE49-F238E27FC236}">
                  <a16:creationId xmlns:a16="http://schemas.microsoft.com/office/drawing/2014/main" id="{2CE26CC1-6FDF-19E0-EFE2-FC2B9B50A112}"/>
                </a:ext>
              </a:extLst>
            </p:cNvPr>
            <p:cNvSpPr/>
            <p:nvPr/>
          </p:nvSpPr>
          <p:spPr>
            <a:xfrm>
              <a:off x="5160763" y="4137887"/>
              <a:ext cx="1032734" cy="645459"/>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h1</a:t>
              </a:r>
            </a:p>
          </p:txBody>
        </p:sp>
        <p:sp>
          <p:nvSpPr>
            <p:cNvPr id="27" name="Rectangle 26">
              <a:extLst>
                <a:ext uri="{FF2B5EF4-FFF2-40B4-BE49-F238E27FC236}">
                  <a16:creationId xmlns:a16="http://schemas.microsoft.com/office/drawing/2014/main" id="{6E62B800-427F-FDDA-11DA-3981E4E0517C}"/>
                </a:ext>
              </a:extLst>
            </p:cNvPr>
            <p:cNvSpPr/>
            <p:nvPr/>
          </p:nvSpPr>
          <p:spPr>
            <a:xfrm>
              <a:off x="6614770" y="4137887"/>
              <a:ext cx="1032734" cy="645459"/>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h2</a:t>
              </a:r>
            </a:p>
          </p:txBody>
        </p:sp>
        <p:sp>
          <p:nvSpPr>
            <p:cNvPr id="28" name="Rectangle 27">
              <a:extLst>
                <a:ext uri="{FF2B5EF4-FFF2-40B4-BE49-F238E27FC236}">
                  <a16:creationId xmlns:a16="http://schemas.microsoft.com/office/drawing/2014/main" id="{F88A7B6F-77D3-4C6A-0595-7620FBB7B7BC}"/>
                </a:ext>
              </a:extLst>
            </p:cNvPr>
            <p:cNvSpPr/>
            <p:nvPr/>
          </p:nvSpPr>
          <p:spPr>
            <a:xfrm>
              <a:off x="8707526" y="4137886"/>
              <a:ext cx="1032734" cy="645459"/>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h3</a:t>
              </a:r>
            </a:p>
          </p:txBody>
        </p:sp>
      </p:grpSp>
      <p:cxnSp>
        <p:nvCxnSpPr>
          <p:cNvPr id="29" name="Straight Arrow Connector 28">
            <a:extLst>
              <a:ext uri="{FF2B5EF4-FFF2-40B4-BE49-F238E27FC236}">
                <a16:creationId xmlns:a16="http://schemas.microsoft.com/office/drawing/2014/main" id="{D0952447-4D59-DB44-7CA9-39D1DFBE4319}"/>
              </a:ext>
            </a:extLst>
          </p:cNvPr>
          <p:cNvCxnSpPr>
            <a:cxnSpLocks/>
            <a:stCxn id="9" idx="0"/>
            <a:endCxn id="26" idx="2"/>
          </p:cNvCxnSpPr>
          <p:nvPr/>
        </p:nvCxnSpPr>
        <p:spPr>
          <a:xfrm flipV="1">
            <a:off x="6870539" y="5552928"/>
            <a:ext cx="6281" cy="29145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BC1EB3D-F263-E94B-A570-292BC2A347F4}"/>
              </a:ext>
            </a:extLst>
          </p:cNvPr>
          <p:cNvCxnSpPr>
            <a:cxnSpLocks/>
          </p:cNvCxnSpPr>
          <p:nvPr/>
        </p:nvCxnSpPr>
        <p:spPr>
          <a:xfrm flipV="1">
            <a:off x="8330297" y="5552631"/>
            <a:ext cx="6281" cy="29145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25E7C6C-93BB-C4E5-54B6-7294F88646FF}"/>
              </a:ext>
            </a:extLst>
          </p:cNvPr>
          <p:cNvCxnSpPr>
            <a:cxnSpLocks/>
          </p:cNvCxnSpPr>
          <p:nvPr/>
        </p:nvCxnSpPr>
        <p:spPr>
          <a:xfrm flipV="1">
            <a:off x="10427872" y="5575684"/>
            <a:ext cx="6281" cy="29145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62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2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CAD2-B044-AA6C-A492-0F152242F342}"/>
              </a:ext>
            </a:extLst>
          </p:cNvPr>
          <p:cNvSpPr>
            <a:spLocks noGrp="1"/>
          </p:cNvSpPr>
          <p:nvPr>
            <p:ph type="title"/>
          </p:nvPr>
        </p:nvSpPr>
        <p:spPr/>
        <p:txBody>
          <a:bodyPr/>
          <a:lstStyle/>
          <a:p>
            <a:r>
              <a:rPr lang="en-US" dirty="0"/>
              <a:t>Witness Elements</a:t>
            </a:r>
          </a:p>
        </p:txBody>
      </p:sp>
      <p:sp>
        <p:nvSpPr>
          <p:cNvPr id="4" name="Slide Number Placeholder 3">
            <a:extLst>
              <a:ext uri="{FF2B5EF4-FFF2-40B4-BE49-F238E27FC236}">
                <a16:creationId xmlns:a16="http://schemas.microsoft.com/office/drawing/2014/main" id="{A3BD0913-2F83-8E93-30E8-D8508C14D01D}"/>
              </a:ext>
            </a:extLst>
          </p:cNvPr>
          <p:cNvSpPr>
            <a:spLocks noGrp="1"/>
          </p:cNvSpPr>
          <p:nvPr>
            <p:ph type="sldNum" sz="quarter" idx="12"/>
          </p:nvPr>
        </p:nvSpPr>
        <p:spPr/>
        <p:txBody>
          <a:bodyPr/>
          <a:lstStyle/>
          <a:p>
            <a:fld id="{D57F1E4F-1CFF-5643-939E-217C01CDF565}" type="slidenum">
              <a:rPr lang="en-US" smtClean="0"/>
              <a:pPr/>
              <a:t>85</a:t>
            </a:fld>
            <a:endParaRPr lang="en-US" dirty="0"/>
          </a:p>
        </p:txBody>
      </p:sp>
      <p:sp>
        <p:nvSpPr>
          <p:cNvPr id="5" name="Rectangle 4">
            <a:extLst>
              <a:ext uri="{FF2B5EF4-FFF2-40B4-BE49-F238E27FC236}">
                <a16:creationId xmlns:a16="http://schemas.microsoft.com/office/drawing/2014/main" id="{86A07ACA-C34D-D9B5-3094-2D15A29086B5}"/>
              </a:ext>
            </a:extLst>
          </p:cNvPr>
          <p:cNvSpPr/>
          <p:nvPr/>
        </p:nvSpPr>
        <p:spPr>
          <a:xfrm>
            <a:off x="225173" y="4290523"/>
            <a:ext cx="5628217" cy="51152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&lt;Signature&gt;</a:t>
            </a:r>
          </a:p>
        </p:txBody>
      </p:sp>
      <p:grpSp>
        <p:nvGrpSpPr>
          <p:cNvPr id="6" name="Group 5">
            <a:extLst>
              <a:ext uri="{FF2B5EF4-FFF2-40B4-BE49-F238E27FC236}">
                <a16:creationId xmlns:a16="http://schemas.microsoft.com/office/drawing/2014/main" id="{1546C718-C9DA-C194-3E4E-A85495FF99B1}"/>
              </a:ext>
            </a:extLst>
          </p:cNvPr>
          <p:cNvGrpSpPr/>
          <p:nvPr/>
        </p:nvGrpSpPr>
        <p:grpSpPr>
          <a:xfrm>
            <a:off x="225173" y="1821774"/>
            <a:ext cx="5628217" cy="2385030"/>
            <a:chOff x="662546" y="2790923"/>
            <a:chExt cx="4764100" cy="2356163"/>
          </a:xfrm>
        </p:grpSpPr>
        <p:grpSp>
          <p:nvGrpSpPr>
            <p:cNvPr id="7" name="Group 6">
              <a:extLst>
                <a:ext uri="{FF2B5EF4-FFF2-40B4-BE49-F238E27FC236}">
                  <a16:creationId xmlns:a16="http://schemas.microsoft.com/office/drawing/2014/main" id="{DECC9308-94A3-D408-7F8C-0B492DD72733}"/>
                </a:ext>
              </a:extLst>
            </p:cNvPr>
            <p:cNvGrpSpPr/>
            <p:nvPr/>
          </p:nvGrpSpPr>
          <p:grpSpPr>
            <a:xfrm>
              <a:off x="662546" y="2790923"/>
              <a:ext cx="4764100" cy="2045687"/>
              <a:chOff x="895162" y="2638523"/>
              <a:chExt cx="4764100" cy="2045687"/>
            </a:xfrm>
          </p:grpSpPr>
          <p:grpSp>
            <p:nvGrpSpPr>
              <p:cNvPr id="9" name="Group 8">
                <a:extLst>
                  <a:ext uri="{FF2B5EF4-FFF2-40B4-BE49-F238E27FC236}">
                    <a16:creationId xmlns:a16="http://schemas.microsoft.com/office/drawing/2014/main" id="{80253577-3076-2BC8-EB8D-425D862A32B9}"/>
                  </a:ext>
                </a:extLst>
              </p:cNvPr>
              <p:cNvGrpSpPr/>
              <p:nvPr/>
            </p:nvGrpSpPr>
            <p:grpSpPr>
              <a:xfrm>
                <a:off x="895162" y="2661534"/>
                <a:ext cx="4764100" cy="2022676"/>
                <a:chOff x="805543" y="3039910"/>
                <a:chExt cx="5057939" cy="2022676"/>
              </a:xfrm>
              <a:noFill/>
            </p:grpSpPr>
            <p:sp>
              <p:nvSpPr>
                <p:cNvPr id="11" name="Rectangle 10">
                  <a:extLst>
                    <a:ext uri="{FF2B5EF4-FFF2-40B4-BE49-F238E27FC236}">
                      <a16:creationId xmlns:a16="http://schemas.microsoft.com/office/drawing/2014/main" id="{935552A8-D9AE-08F3-8042-B8E2B5AF3E94}"/>
                    </a:ext>
                  </a:extLst>
                </p:cNvPr>
                <p:cNvSpPr/>
                <p:nvPr/>
              </p:nvSpPr>
              <p:spPr>
                <a:xfrm>
                  <a:off x="805543" y="3039910"/>
                  <a:ext cx="5057939" cy="1905633"/>
                </a:xfrm>
                <a:prstGeom prst="rect">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12" name="Rectangle 11">
                  <a:extLst>
                    <a:ext uri="{FF2B5EF4-FFF2-40B4-BE49-F238E27FC236}">
                      <a16:creationId xmlns:a16="http://schemas.microsoft.com/office/drawing/2014/main" id="{DA9292BA-D6CE-2E2B-E5EC-825C6DF94919}"/>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3" name="Rectangle 12">
                  <a:extLst>
                    <a:ext uri="{FF2B5EF4-FFF2-40B4-BE49-F238E27FC236}">
                      <a16:creationId xmlns:a16="http://schemas.microsoft.com/office/drawing/2014/main" id="{8DEF8410-5578-8004-82D1-D37415D0A558}"/>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4" name="TextBox 13">
                  <a:extLst>
                    <a:ext uri="{FF2B5EF4-FFF2-40B4-BE49-F238E27FC236}">
                      <a16:creationId xmlns:a16="http://schemas.microsoft.com/office/drawing/2014/main" id="{842E4FDF-0944-C4CF-B269-BB88831CEDF7}"/>
                    </a:ext>
                  </a:extLst>
                </p:cNvPr>
                <p:cNvSpPr txBox="1"/>
                <p:nvPr/>
              </p:nvSpPr>
              <p:spPr>
                <a:xfrm>
                  <a:off x="3503945" y="3690727"/>
                  <a:ext cx="2139943" cy="1331796"/>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a:t>
                  </a:r>
                </a:p>
                <a:p>
                  <a:pPr algn="ctr"/>
                  <a:r>
                    <a:rPr lang="en-US" sz="2000" dirty="0">
                      <a:solidFill>
                        <a:schemeClr val="bg1"/>
                      </a:solidFill>
                      <a:latin typeface="Candara" panose="020E0502030303020204" pitchFamily="34" charset="0"/>
                    </a:rPr>
                    <a:t> </a:t>
                  </a:r>
                </a:p>
                <a:p>
                  <a:pPr algn="ctr"/>
                  <a:r>
                    <a:rPr lang="en-US" sz="2000" dirty="0">
                      <a:solidFill>
                        <a:schemeClr val="bg1"/>
                      </a:solidFill>
                      <a:latin typeface="Candara" panose="020E0502030303020204" pitchFamily="34" charset="0"/>
                    </a:rPr>
                    <a:t>OP_1 </a:t>
                  </a:r>
                </a:p>
                <a:p>
                  <a:pPr algn="ctr"/>
                  <a:r>
                    <a:rPr lang="en-US" sz="2000" dirty="0">
                      <a:solidFill>
                        <a:schemeClr val="bg1"/>
                      </a:solidFill>
                      <a:latin typeface="Candara" panose="020E0502030303020204" pitchFamily="34" charset="0"/>
                    </a:rPr>
                    <a:t>&lt;32-byte data&gt;</a:t>
                  </a:r>
                </a:p>
                <a:p>
                  <a:pPr algn="ctr"/>
                  <a:endParaRPr lang="en-US" sz="2000" dirty="0">
                    <a:latin typeface="Candara" panose="020E0502030303020204" pitchFamily="34" charset="0"/>
                  </a:endParaRPr>
                </a:p>
              </p:txBody>
            </p:sp>
          </p:grpSp>
          <p:sp>
            <p:nvSpPr>
              <p:cNvPr id="10" name="Rectangle 9">
                <a:extLst>
                  <a:ext uri="{FF2B5EF4-FFF2-40B4-BE49-F238E27FC236}">
                    <a16:creationId xmlns:a16="http://schemas.microsoft.com/office/drawing/2014/main" id="{A2B7F00E-100E-D99E-C1B9-324D5B19E2FB}"/>
                  </a:ext>
                </a:extLst>
              </p:cNvPr>
              <p:cNvSpPr/>
              <p:nvPr/>
            </p:nvSpPr>
            <p:spPr>
              <a:xfrm>
                <a:off x="895162" y="2638523"/>
                <a:ext cx="4764100" cy="645532"/>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8" name="Rectangle 7">
              <a:extLst>
                <a:ext uri="{FF2B5EF4-FFF2-40B4-BE49-F238E27FC236}">
                  <a16:creationId xmlns:a16="http://schemas.microsoft.com/office/drawing/2014/main" id="{F6695E8E-954D-6510-00DE-499270D42360}"/>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TAPROOT1234</a:t>
              </a:r>
            </a:p>
          </p:txBody>
        </p:sp>
      </p:grpSp>
      <p:sp>
        <p:nvSpPr>
          <p:cNvPr id="15" name="Rectangle 14">
            <a:extLst>
              <a:ext uri="{FF2B5EF4-FFF2-40B4-BE49-F238E27FC236}">
                <a16:creationId xmlns:a16="http://schemas.microsoft.com/office/drawing/2014/main" id="{F3759F56-791D-762E-7F4A-4451CFABA587}"/>
              </a:ext>
            </a:extLst>
          </p:cNvPr>
          <p:cNvSpPr/>
          <p:nvPr/>
        </p:nvSpPr>
        <p:spPr>
          <a:xfrm>
            <a:off x="6167567" y="4267230"/>
            <a:ext cx="5628217" cy="51152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Witness Field</a:t>
            </a:r>
          </a:p>
          <a:p>
            <a:pPr algn="ctr"/>
            <a:r>
              <a:rPr lang="en-US" dirty="0">
                <a:solidFill>
                  <a:schemeClr val="tx1"/>
                </a:solidFill>
                <a:latin typeface="Candara" panose="020E0502030303020204" pitchFamily="34" charset="0"/>
              </a:rPr>
              <a:t>&lt;Leaf Script arguments&gt; &lt;Leaf Script&gt; &lt;Control Block&gt;</a:t>
            </a:r>
          </a:p>
        </p:txBody>
      </p:sp>
      <p:grpSp>
        <p:nvGrpSpPr>
          <p:cNvPr id="16" name="Group 15">
            <a:extLst>
              <a:ext uri="{FF2B5EF4-FFF2-40B4-BE49-F238E27FC236}">
                <a16:creationId xmlns:a16="http://schemas.microsoft.com/office/drawing/2014/main" id="{9BFEA07C-0D66-6493-9C93-4080D14D52F4}"/>
              </a:ext>
            </a:extLst>
          </p:cNvPr>
          <p:cNvGrpSpPr/>
          <p:nvPr/>
        </p:nvGrpSpPr>
        <p:grpSpPr>
          <a:xfrm>
            <a:off x="6167567" y="1798481"/>
            <a:ext cx="5628217" cy="2385030"/>
            <a:chOff x="662546" y="2790923"/>
            <a:chExt cx="4764100" cy="2356163"/>
          </a:xfrm>
        </p:grpSpPr>
        <p:grpSp>
          <p:nvGrpSpPr>
            <p:cNvPr id="17" name="Group 16">
              <a:extLst>
                <a:ext uri="{FF2B5EF4-FFF2-40B4-BE49-F238E27FC236}">
                  <a16:creationId xmlns:a16="http://schemas.microsoft.com/office/drawing/2014/main" id="{52707ECF-14E8-FCF0-F31C-D091A2048C87}"/>
                </a:ext>
              </a:extLst>
            </p:cNvPr>
            <p:cNvGrpSpPr/>
            <p:nvPr/>
          </p:nvGrpSpPr>
          <p:grpSpPr>
            <a:xfrm>
              <a:off x="662546" y="2790923"/>
              <a:ext cx="4764100" cy="2045687"/>
              <a:chOff x="895162" y="2638523"/>
              <a:chExt cx="4764100" cy="2045687"/>
            </a:xfrm>
          </p:grpSpPr>
          <p:grpSp>
            <p:nvGrpSpPr>
              <p:cNvPr id="19" name="Group 18">
                <a:extLst>
                  <a:ext uri="{FF2B5EF4-FFF2-40B4-BE49-F238E27FC236}">
                    <a16:creationId xmlns:a16="http://schemas.microsoft.com/office/drawing/2014/main" id="{43210ACF-3B10-677A-12BA-8C34BB8A5840}"/>
                  </a:ext>
                </a:extLst>
              </p:cNvPr>
              <p:cNvGrpSpPr/>
              <p:nvPr/>
            </p:nvGrpSpPr>
            <p:grpSpPr>
              <a:xfrm>
                <a:off x="895162" y="2661534"/>
                <a:ext cx="4764100" cy="2022676"/>
                <a:chOff x="805543" y="3039910"/>
                <a:chExt cx="5057939" cy="2022676"/>
              </a:xfrm>
              <a:noFill/>
            </p:grpSpPr>
            <p:sp>
              <p:nvSpPr>
                <p:cNvPr id="21" name="Rectangle 20">
                  <a:extLst>
                    <a:ext uri="{FF2B5EF4-FFF2-40B4-BE49-F238E27FC236}">
                      <a16:creationId xmlns:a16="http://schemas.microsoft.com/office/drawing/2014/main" id="{71DF4D45-059C-746C-40A8-D462A0ABFE02}"/>
                    </a:ext>
                  </a:extLst>
                </p:cNvPr>
                <p:cNvSpPr/>
                <p:nvPr/>
              </p:nvSpPr>
              <p:spPr>
                <a:xfrm>
                  <a:off x="805543" y="3039910"/>
                  <a:ext cx="5057939" cy="1905633"/>
                </a:xfrm>
                <a:prstGeom prst="rect">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22" name="Rectangle 21">
                  <a:extLst>
                    <a:ext uri="{FF2B5EF4-FFF2-40B4-BE49-F238E27FC236}">
                      <a16:creationId xmlns:a16="http://schemas.microsoft.com/office/drawing/2014/main" id="{20449EC6-C7CD-DBA5-7610-1B3ABA5C29A0}"/>
                    </a:ext>
                  </a:extLst>
                </p:cNvPr>
                <p:cNvSpPr/>
                <p:nvPr/>
              </p:nvSpPr>
              <p:spPr>
                <a:xfrm>
                  <a:off x="915577" y="3662430"/>
                  <a:ext cx="4840810"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3" name="Rectangle 22">
                  <a:extLst>
                    <a:ext uri="{FF2B5EF4-FFF2-40B4-BE49-F238E27FC236}">
                      <a16:creationId xmlns:a16="http://schemas.microsoft.com/office/drawing/2014/main" id="{8067F5B3-486B-C7C5-1962-586BEBB37D04}"/>
                    </a:ext>
                  </a:extLst>
                </p:cNvPr>
                <p:cNvSpPr/>
                <p:nvPr/>
              </p:nvSpPr>
              <p:spPr>
                <a:xfrm>
                  <a:off x="3391446" y="3662430"/>
                  <a:ext cx="2364941" cy="140015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4" name="TextBox 23">
                  <a:extLst>
                    <a:ext uri="{FF2B5EF4-FFF2-40B4-BE49-F238E27FC236}">
                      <a16:creationId xmlns:a16="http://schemas.microsoft.com/office/drawing/2014/main" id="{005C5439-64FC-B207-8B24-1E00356A3AF0}"/>
                    </a:ext>
                  </a:extLst>
                </p:cNvPr>
                <p:cNvSpPr txBox="1"/>
                <p:nvPr/>
              </p:nvSpPr>
              <p:spPr>
                <a:xfrm>
                  <a:off x="3503945" y="3690727"/>
                  <a:ext cx="2139943" cy="1331796"/>
                </a:xfrm>
                <a:prstGeom prst="rect">
                  <a:avLst/>
                </a:prstGeom>
                <a:grpFill/>
              </p:spPr>
              <p:txBody>
                <a:bodyPr wrap="square" rtlCol="0">
                  <a:spAutoFit/>
                </a:bodyPr>
                <a:lstStyle/>
                <a:p>
                  <a:pPr algn="ctr"/>
                  <a:r>
                    <a:rPr lang="en-US" sz="2000" dirty="0">
                      <a:solidFill>
                        <a:schemeClr val="bg1"/>
                      </a:solidFill>
                      <a:latin typeface="Candara" panose="020E0502030303020204" pitchFamily="34" charset="0"/>
                    </a:rPr>
                    <a:t>Value</a:t>
                  </a:r>
                </a:p>
                <a:p>
                  <a:pPr algn="ctr"/>
                  <a:r>
                    <a:rPr lang="en-US" sz="2000" dirty="0">
                      <a:solidFill>
                        <a:schemeClr val="bg1"/>
                      </a:solidFill>
                      <a:latin typeface="Candara" panose="020E0502030303020204" pitchFamily="34" charset="0"/>
                    </a:rPr>
                    <a:t> </a:t>
                  </a:r>
                </a:p>
                <a:p>
                  <a:pPr algn="ctr"/>
                  <a:r>
                    <a:rPr lang="en-US" sz="2000" dirty="0">
                      <a:solidFill>
                        <a:schemeClr val="bg1"/>
                      </a:solidFill>
                      <a:latin typeface="Candara" panose="020E0502030303020204" pitchFamily="34" charset="0"/>
                    </a:rPr>
                    <a:t>OP_1 </a:t>
                  </a:r>
                </a:p>
                <a:p>
                  <a:pPr algn="ctr"/>
                  <a:r>
                    <a:rPr lang="en-US" sz="2000" dirty="0">
                      <a:solidFill>
                        <a:schemeClr val="bg1"/>
                      </a:solidFill>
                      <a:latin typeface="Candara" panose="020E0502030303020204" pitchFamily="34" charset="0"/>
                    </a:rPr>
                    <a:t>&lt;32-byte data&gt;</a:t>
                  </a:r>
                </a:p>
                <a:p>
                  <a:pPr algn="ctr"/>
                  <a:endParaRPr lang="en-US" sz="2000" dirty="0">
                    <a:latin typeface="Candara" panose="020E0502030303020204" pitchFamily="34" charset="0"/>
                  </a:endParaRPr>
                </a:p>
              </p:txBody>
            </p:sp>
          </p:grpSp>
          <p:sp>
            <p:nvSpPr>
              <p:cNvPr id="20" name="Rectangle 19">
                <a:extLst>
                  <a:ext uri="{FF2B5EF4-FFF2-40B4-BE49-F238E27FC236}">
                    <a16:creationId xmlns:a16="http://schemas.microsoft.com/office/drawing/2014/main" id="{F145084C-EE4D-402C-ED21-C38EA531791C}"/>
                  </a:ext>
                </a:extLst>
              </p:cNvPr>
              <p:cNvSpPr/>
              <p:nvPr/>
            </p:nvSpPr>
            <p:spPr>
              <a:xfrm>
                <a:off x="895162" y="2638523"/>
                <a:ext cx="4764100" cy="645532"/>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Candara" panose="020E0502030303020204" pitchFamily="34" charset="0"/>
                  </a:rPr>
                  <a:t>Transaction-Level Fields </a:t>
                </a:r>
              </a:p>
              <a:p>
                <a:pPr algn="ctr"/>
                <a:r>
                  <a:rPr lang="en-US" sz="2000" dirty="0">
                    <a:latin typeface="Candara" panose="020E0502030303020204" pitchFamily="34" charset="0"/>
                  </a:rPr>
                  <a:t>(Version, </a:t>
                </a:r>
                <a:r>
                  <a:rPr lang="en-US" sz="2000" dirty="0" err="1">
                    <a:latin typeface="Candara" panose="020E0502030303020204" pitchFamily="34" charset="0"/>
                  </a:rPr>
                  <a:t>nLockTime</a:t>
                </a:r>
                <a:r>
                  <a:rPr lang="en-US" sz="2000" dirty="0">
                    <a:latin typeface="Candara" panose="020E0502030303020204" pitchFamily="34" charset="0"/>
                  </a:rPr>
                  <a:t>, Flags)</a:t>
                </a:r>
              </a:p>
            </p:txBody>
          </p:sp>
        </p:grpSp>
        <p:sp>
          <p:nvSpPr>
            <p:cNvPr id="18" name="Rectangle 17">
              <a:extLst>
                <a:ext uri="{FF2B5EF4-FFF2-40B4-BE49-F238E27FC236}">
                  <a16:creationId xmlns:a16="http://schemas.microsoft.com/office/drawing/2014/main" id="{1A521414-5DDE-5EE8-7C88-54A32FC28925}"/>
                </a:ext>
              </a:extLst>
            </p:cNvPr>
            <p:cNvSpPr/>
            <p:nvPr/>
          </p:nvSpPr>
          <p:spPr>
            <a:xfrm>
              <a:off x="662546" y="4709649"/>
              <a:ext cx="4764100" cy="43743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Candara" panose="020E0502030303020204" pitchFamily="34" charset="0"/>
                </a:rPr>
                <a:t>Txid</a:t>
              </a:r>
              <a:r>
                <a:rPr lang="en-US" sz="2000" dirty="0">
                  <a:solidFill>
                    <a:schemeClr val="tx1"/>
                  </a:solidFill>
                  <a:latin typeface="Candara" panose="020E0502030303020204" pitchFamily="34" charset="0"/>
                </a:rPr>
                <a:t>: TAPROOT1234</a:t>
              </a:r>
            </a:p>
          </p:txBody>
        </p:sp>
      </p:grpSp>
      <p:sp>
        <p:nvSpPr>
          <p:cNvPr id="25" name="TextBox 24">
            <a:extLst>
              <a:ext uri="{FF2B5EF4-FFF2-40B4-BE49-F238E27FC236}">
                <a16:creationId xmlns:a16="http://schemas.microsoft.com/office/drawing/2014/main" id="{0C1E39DA-6C40-07BB-6282-9BFDD8D13243}"/>
              </a:ext>
            </a:extLst>
          </p:cNvPr>
          <p:cNvSpPr txBox="1"/>
          <p:nvPr/>
        </p:nvSpPr>
        <p:spPr>
          <a:xfrm>
            <a:off x="1562136" y="1340704"/>
            <a:ext cx="3331361" cy="461665"/>
          </a:xfrm>
          <a:prstGeom prst="rect">
            <a:avLst/>
          </a:prstGeom>
          <a:noFill/>
        </p:spPr>
        <p:txBody>
          <a:bodyPr wrap="none" rtlCol="0">
            <a:spAutoFit/>
          </a:bodyPr>
          <a:lstStyle/>
          <a:p>
            <a:r>
              <a:rPr lang="en-US" sz="2400" dirty="0">
                <a:latin typeface="Candara" panose="020E0502030303020204" pitchFamily="34" charset="0"/>
              </a:rPr>
              <a:t>Spending from Key path</a:t>
            </a:r>
          </a:p>
        </p:txBody>
      </p:sp>
      <p:sp>
        <p:nvSpPr>
          <p:cNvPr id="26" name="TextBox 25">
            <a:extLst>
              <a:ext uri="{FF2B5EF4-FFF2-40B4-BE49-F238E27FC236}">
                <a16:creationId xmlns:a16="http://schemas.microsoft.com/office/drawing/2014/main" id="{9B069418-A479-1374-668A-6F1F15043B18}"/>
              </a:ext>
            </a:extLst>
          </p:cNvPr>
          <p:cNvSpPr txBox="1"/>
          <p:nvPr/>
        </p:nvSpPr>
        <p:spPr>
          <a:xfrm>
            <a:off x="7345315" y="1301302"/>
            <a:ext cx="3602268" cy="461665"/>
          </a:xfrm>
          <a:prstGeom prst="rect">
            <a:avLst/>
          </a:prstGeom>
          <a:noFill/>
        </p:spPr>
        <p:txBody>
          <a:bodyPr wrap="none" rtlCol="0">
            <a:spAutoFit/>
          </a:bodyPr>
          <a:lstStyle/>
          <a:p>
            <a:r>
              <a:rPr lang="en-US" sz="2400" dirty="0">
                <a:latin typeface="Candara" panose="020E0502030303020204" pitchFamily="34" charset="0"/>
              </a:rPr>
              <a:t>Spending from Script path</a:t>
            </a:r>
          </a:p>
        </p:txBody>
      </p:sp>
      <p:sp>
        <p:nvSpPr>
          <p:cNvPr id="27" name="TextBox 26">
            <a:extLst>
              <a:ext uri="{FF2B5EF4-FFF2-40B4-BE49-F238E27FC236}">
                <a16:creationId xmlns:a16="http://schemas.microsoft.com/office/drawing/2014/main" id="{6A141F5F-BD80-503F-3B7E-0D1722407DA8}"/>
              </a:ext>
            </a:extLst>
          </p:cNvPr>
          <p:cNvSpPr txBox="1"/>
          <p:nvPr/>
        </p:nvSpPr>
        <p:spPr>
          <a:xfrm>
            <a:off x="347613" y="5087815"/>
            <a:ext cx="5505777" cy="646331"/>
          </a:xfrm>
          <a:prstGeom prst="rect">
            <a:avLst/>
          </a:prstGeom>
          <a:noFill/>
        </p:spPr>
        <p:txBody>
          <a:bodyPr wrap="square" rtlCol="0">
            <a:spAutoFit/>
          </a:bodyPr>
          <a:lstStyle/>
          <a:p>
            <a:pPr algn="ctr"/>
            <a:r>
              <a:rPr lang="en-US" dirty="0"/>
              <a:t>Only one witness element, which is the signature created with the tweaked private key </a:t>
            </a:r>
          </a:p>
        </p:txBody>
      </p:sp>
      <p:sp>
        <p:nvSpPr>
          <p:cNvPr id="28" name="TextBox 27">
            <a:extLst>
              <a:ext uri="{FF2B5EF4-FFF2-40B4-BE49-F238E27FC236}">
                <a16:creationId xmlns:a16="http://schemas.microsoft.com/office/drawing/2014/main" id="{BC4B9998-7157-CD0F-303E-1AD6590556AE}"/>
              </a:ext>
            </a:extLst>
          </p:cNvPr>
          <p:cNvSpPr txBox="1"/>
          <p:nvPr/>
        </p:nvSpPr>
        <p:spPr>
          <a:xfrm>
            <a:off x="6228786" y="4847124"/>
            <a:ext cx="5505777" cy="1754326"/>
          </a:xfrm>
          <a:prstGeom prst="rect">
            <a:avLst/>
          </a:prstGeom>
          <a:noFill/>
        </p:spPr>
        <p:txBody>
          <a:bodyPr wrap="square" rtlCol="0">
            <a:spAutoFit/>
          </a:bodyPr>
          <a:lstStyle/>
          <a:p>
            <a:pPr algn="ctr"/>
            <a:r>
              <a:rPr lang="en-US" dirty="0"/>
              <a:t>The script of the spending path only along with the arguments needed by the script (such as signature, hash, something else)</a:t>
            </a:r>
          </a:p>
          <a:p>
            <a:pPr algn="ctr"/>
            <a:r>
              <a:rPr lang="en-US" dirty="0"/>
              <a:t>The control block proves that the included script is part of the committed taproot key in the tweaked public key (provides the Merkel path hashes) </a:t>
            </a:r>
          </a:p>
        </p:txBody>
      </p:sp>
    </p:spTree>
    <p:extLst>
      <p:ext uri="{BB962C8B-B14F-4D97-AF65-F5344CB8AC3E}">
        <p14:creationId xmlns:p14="http://schemas.microsoft.com/office/powerpoint/2010/main" val="335842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6" grpId="0"/>
      <p:bldP spid="2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6A2C-3C5B-0712-75B9-64E1BB8CD210}"/>
              </a:ext>
            </a:extLst>
          </p:cNvPr>
          <p:cNvSpPr>
            <a:spLocks noGrp="1"/>
          </p:cNvSpPr>
          <p:nvPr>
            <p:ph type="title"/>
          </p:nvPr>
        </p:nvSpPr>
        <p:spPr/>
        <p:txBody>
          <a:bodyPr/>
          <a:lstStyle/>
          <a:p>
            <a:r>
              <a:rPr lang="en-US" dirty="0"/>
              <a:t>Public Key Privacy </a:t>
            </a:r>
          </a:p>
        </p:txBody>
      </p:sp>
      <p:sp>
        <p:nvSpPr>
          <p:cNvPr id="3" name="Content Placeholder 2">
            <a:extLst>
              <a:ext uri="{FF2B5EF4-FFF2-40B4-BE49-F238E27FC236}">
                <a16:creationId xmlns:a16="http://schemas.microsoft.com/office/drawing/2014/main" id="{10FE8FBB-C59C-DE22-62C5-1D3AD38B6A74}"/>
              </a:ext>
            </a:extLst>
          </p:cNvPr>
          <p:cNvSpPr>
            <a:spLocks noGrp="1"/>
          </p:cNvSpPr>
          <p:nvPr>
            <p:ph idx="1"/>
          </p:nvPr>
        </p:nvSpPr>
        <p:spPr>
          <a:xfrm>
            <a:off x="487680" y="1097280"/>
            <a:ext cx="11186160" cy="5135078"/>
          </a:xfrm>
        </p:spPr>
        <p:txBody>
          <a:bodyPr>
            <a:normAutofit fontScale="92500"/>
          </a:bodyPr>
          <a:lstStyle/>
          <a:p>
            <a:r>
              <a:rPr lang="en-US" sz="2800" dirty="0">
                <a:solidFill>
                  <a:srgbClr val="7030A0"/>
                </a:solidFill>
              </a:rPr>
              <a:t>Public keys are sensitive privacy identifiers </a:t>
            </a:r>
          </a:p>
          <a:p>
            <a:r>
              <a:rPr lang="en-US" sz="2800" dirty="0"/>
              <a:t>Bitcoin design has evolved to minimize the on-chain visibility of raw public keys</a:t>
            </a:r>
          </a:p>
          <a:p>
            <a:pPr lvl="1"/>
            <a:r>
              <a:rPr lang="en-US" sz="2400" dirty="0"/>
              <a:t>In P2WPKH &amp; P2WSH, raw public keys are exposed in the spending transactions (single user public key in p2wpkh, and </a:t>
            </a:r>
            <a:r>
              <a:rPr lang="en-US" sz="2400" dirty="0" err="1"/>
              <a:t>multisig</a:t>
            </a:r>
            <a:r>
              <a:rPr lang="en-US" sz="2400" dirty="0"/>
              <a:t> public keys in p2wsh)</a:t>
            </a:r>
          </a:p>
          <a:p>
            <a:pPr lvl="1"/>
            <a:r>
              <a:rPr lang="en-US" sz="2400" dirty="0"/>
              <a:t>Taproot improves privacy by locking funds to a tweaked public key and in the spending transaction only the signature is required </a:t>
            </a:r>
          </a:p>
          <a:p>
            <a:pPr lvl="1"/>
            <a:r>
              <a:rPr lang="en-US" sz="2400" dirty="0"/>
              <a:t>In taproot </a:t>
            </a:r>
            <a:r>
              <a:rPr lang="en-US" sz="2400" dirty="0" err="1"/>
              <a:t>multisig</a:t>
            </a:r>
            <a:r>
              <a:rPr lang="en-US" sz="2400" dirty="0"/>
              <a:t> transactions, key aggregation and signature aggregation techniques, which are the key features of Schnorr signature conceal the public keys (</a:t>
            </a:r>
            <a:r>
              <a:rPr lang="en-US" sz="2400" dirty="0" err="1"/>
              <a:t>multisig</a:t>
            </a:r>
            <a:r>
              <a:rPr lang="en-US" sz="2400" dirty="0"/>
              <a:t> looks like a single sig transaction)</a:t>
            </a:r>
          </a:p>
          <a:p>
            <a:pPr lvl="1"/>
            <a:r>
              <a:rPr lang="en-US" sz="2400" dirty="0"/>
              <a:t>The actual public key is only exposed when spending through the script path in taproot </a:t>
            </a:r>
          </a:p>
          <a:p>
            <a:r>
              <a:rPr lang="en-US" sz="2800" dirty="0">
                <a:solidFill>
                  <a:srgbClr val="FF0000"/>
                </a:solidFill>
              </a:rPr>
              <a:t>A growing best practice is to generate a new key pair for every transaction </a:t>
            </a:r>
          </a:p>
          <a:p>
            <a:pPr lvl="1"/>
            <a:r>
              <a:rPr lang="en-US" sz="2400" dirty="0">
                <a:solidFill>
                  <a:srgbClr val="FF0000"/>
                </a:solidFill>
              </a:rPr>
              <a:t>Exposing public key only to the counterparty and never broadcasting it unnecessarily </a:t>
            </a:r>
          </a:p>
        </p:txBody>
      </p:sp>
      <p:sp>
        <p:nvSpPr>
          <p:cNvPr id="4" name="Slide Number Placeholder 3">
            <a:extLst>
              <a:ext uri="{FF2B5EF4-FFF2-40B4-BE49-F238E27FC236}">
                <a16:creationId xmlns:a16="http://schemas.microsoft.com/office/drawing/2014/main" id="{28DE5510-6971-4E71-520C-81BC3873DD1C}"/>
              </a:ext>
            </a:extLst>
          </p:cNvPr>
          <p:cNvSpPr>
            <a:spLocks noGrp="1"/>
          </p:cNvSpPr>
          <p:nvPr>
            <p:ph type="sldNum" sz="quarter" idx="12"/>
          </p:nvPr>
        </p:nvSpPr>
        <p:spPr/>
        <p:txBody>
          <a:bodyPr/>
          <a:lstStyle/>
          <a:p>
            <a:fld id="{D57F1E4F-1CFF-5643-939E-217C01CDF565}" type="slidenum">
              <a:rPr lang="en-US" smtClean="0"/>
              <a:pPr/>
              <a:t>86</a:t>
            </a:fld>
            <a:endParaRPr lang="en-US" dirty="0"/>
          </a:p>
        </p:txBody>
      </p:sp>
    </p:spTree>
    <p:extLst>
      <p:ext uri="{BB962C8B-B14F-4D97-AF65-F5344CB8AC3E}">
        <p14:creationId xmlns:p14="http://schemas.microsoft.com/office/powerpoint/2010/main" val="296437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897D9-0D8F-3E70-AA14-6766B625EC00}"/>
              </a:ext>
            </a:extLst>
          </p:cNvPr>
          <p:cNvSpPr>
            <a:spLocks noGrp="1"/>
          </p:cNvSpPr>
          <p:nvPr>
            <p:ph type="title"/>
          </p:nvPr>
        </p:nvSpPr>
        <p:spPr/>
        <p:txBody>
          <a:bodyPr/>
          <a:lstStyle/>
          <a:p>
            <a:r>
              <a:rPr lang="en-US" dirty="0"/>
              <a:t>Scope &amp; Limits of Privacy in Bitcoin</a:t>
            </a:r>
          </a:p>
        </p:txBody>
      </p:sp>
      <p:sp>
        <p:nvSpPr>
          <p:cNvPr id="3" name="Content Placeholder 2">
            <a:extLst>
              <a:ext uri="{FF2B5EF4-FFF2-40B4-BE49-F238E27FC236}">
                <a16:creationId xmlns:a16="http://schemas.microsoft.com/office/drawing/2014/main" id="{53604D63-FD52-0D8B-404F-08FDD419BB6B}"/>
              </a:ext>
            </a:extLst>
          </p:cNvPr>
          <p:cNvSpPr>
            <a:spLocks noGrp="1"/>
          </p:cNvSpPr>
          <p:nvPr>
            <p:ph idx="1"/>
          </p:nvPr>
        </p:nvSpPr>
        <p:spPr>
          <a:xfrm>
            <a:off x="487680" y="1097280"/>
            <a:ext cx="11186160" cy="5375709"/>
          </a:xfrm>
        </p:spPr>
        <p:txBody>
          <a:bodyPr>
            <a:normAutofit fontScale="92500" lnSpcReduction="10000"/>
          </a:bodyPr>
          <a:lstStyle/>
          <a:p>
            <a:r>
              <a:rPr lang="en-US" sz="2400" dirty="0">
                <a:solidFill>
                  <a:srgbClr val="7030A0"/>
                </a:solidFill>
              </a:rPr>
              <a:t>Wallet level</a:t>
            </a:r>
          </a:p>
          <a:p>
            <a:pPr lvl="1"/>
            <a:r>
              <a:rPr lang="en-US" sz="1800" dirty="0"/>
              <a:t>Some privacy features can be implemented entirely within the wallet software, without requiring any change to Bitcoin’s consensus rules</a:t>
            </a:r>
          </a:p>
          <a:p>
            <a:r>
              <a:rPr lang="en-US" sz="2400" dirty="0">
                <a:solidFill>
                  <a:srgbClr val="7030A0"/>
                </a:solidFill>
              </a:rPr>
              <a:t>Protocol level</a:t>
            </a:r>
          </a:p>
          <a:p>
            <a:pPr lvl="1"/>
            <a:r>
              <a:rPr lang="en-US" sz="1800" dirty="0"/>
              <a:t>Some privacy features require a consensus-level change, usually via a soft fork, to introduce new transaction rules, opcodes, or validation logic </a:t>
            </a:r>
          </a:p>
          <a:p>
            <a:r>
              <a:rPr lang="en-US" sz="2400" dirty="0"/>
              <a:t>There are three dimensions of transaction privacy</a:t>
            </a:r>
          </a:p>
          <a:p>
            <a:r>
              <a:rPr lang="en-US" sz="2400" dirty="0">
                <a:solidFill>
                  <a:srgbClr val="7030A0"/>
                </a:solidFill>
              </a:rPr>
              <a:t>Sender privacy </a:t>
            </a:r>
          </a:p>
          <a:p>
            <a:pPr lvl="1"/>
            <a:r>
              <a:rPr lang="en-US" sz="1800" dirty="0"/>
              <a:t>Solutions exist to achieve sender privacy entirely at the wallet level (e.g., </a:t>
            </a:r>
            <a:r>
              <a:rPr lang="en-US" sz="1800" dirty="0" err="1"/>
              <a:t>PayJoin</a:t>
            </a:r>
            <a:r>
              <a:rPr lang="en-US" sz="1800" dirty="0"/>
              <a:t> protocol)</a:t>
            </a:r>
          </a:p>
          <a:p>
            <a:r>
              <a:rPr lang="en-US" sz="2400" dirty="0">
                <a:solidFill>
                  <a:srgbClr val="7030A0"/>
                </a:solidFill>
              </a:rPr>
              <a:t>Receiver privacy</a:t>
            </a:r>
          </a:p>
          <a:p>
            <a:pPr lvl="1"/>
            <a:r>
              <a:rPr lang="en-US" sz="1800" dirty="0"/>
              <a:t>Silent or Stealth Payments (wallet level): Sender derives a one-time address from the receiver’s public key using cryptography</a:t>
            </a:r>
          </a:p>
          <a:p>
            <a:pPr lvl="1"/>
            <a:r>
              <a:rPr lang="en-US" sz="1800" dirty="0"/>
              <a:t>Receiver continuously scans the blockchain to detect payments but only they can unlock them, breaking the payer–payee link </a:t>
            </a:r>
          </a:p>
          <a:p>
            <a:r>
              <a:rPr lang="en-US" sz="2400" dirty="0">
                <a:solidFill>
                  <a:srgbClr val="7030A0"/>
                </a:solidFill>
              </a:rPr>
              <a:t>Value privacy</a:t>
            </a:r>
          </a:p>
          <a:p>
            <a:pPr lvl="1"/>
            <a:r>
              <a:rPr lang="en-US" sz="1800" dirty="0"/>
              <a:t>Conceals transaction amounts using cryptographic proofs (solutions exist)</a:t>
            </a:r>
          </a:p>
          <a:p>
            <a:pPr lvl="1"/>
            <a:r>
              <a:rPr lang="en-US" sz="1800" dirty="0"/>
              <a:t>Requires consensus-level changes and likely a hard fork – Not currently possible on Bitcoin </a:t>
            </a:r>
          </a:p>
        </p:txBody>
      </p:sp>
      <p:sp>
        <p:nvSpPr>
          <p:cNvPr id="4" name="Slide Number Placeholder 3">
            <a:extLst>
              <a:ext uri="{FF2B5EF4-FFF2-40B4-BE49-F238E27FC236}">
                <a16:creationId xmlns:a16="http://schemas.microsoft.com/office/drawing/2014/main" id="{8F79C6FA-36A9-ABDF-0909-07A1B9766001}"/>
              </a:ext>
            </a:extLst>
          </p:cNvPr>
          <p:cNvSpPr>
            <a:spLocks noGrp="1"/>
          </p:cNvSpPr>
          <p:nvPr>
            <p:ph type="sldNum" sz="quarter" idx="12"/>
          </p:nvPr>
        </p:nvSpPr>
        <p:spPr/>
        <p:txBody>
          <a:bodyPr/>
          <a:lstStyle/>
          <a:p>
            <a:fld id="{D57F1E4F-1CFF-5643-939E-217C01CDF565}" type="slidenum">
              <a:rPr lang="en-US" smtClean="0"/>
              <a:pPr/>
              <a:t>87</a:t>
            </a:fld>
            <a:endParaRPr lang="en-US" dirty="0"/>
          </a:p>
        </p:txBody>
      </p:sp>
    </p:spTree>
    <p:extLst>
      <p:ext uri="{BB962C8B-B14F-4D97-AF65-F5344CB8AC3E}">
        <p14:creationId xmlns:p14="http://schemas.microsoft.com/office/powerpoint/2010/main" val="324641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61438</TotalTime>
  <Words>12254</Words>
  <Application>Microsoft Office PowerPoint</Application>
  <PresentationFormat>Widescreen</PresentationFormat>
  <Paragraphs>1529</Paragraphs>
  <Slides>87</Slides>
  <Notes>41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87</vt:i4>
      </vt:variant>
    </vt:vector>
  </HeadingPairs>
  <TitlesOfParts>
    <vt:vector size="97" baseType="lpstr">
      <vt:lpstr>-apple-system</vt:lpstr>
      <vt:lpstr>Aptos</vt:lpstr>
      <vt:lpstr>Arial</vt:lpstr>
      <vt:lpstr>Calibri</vt:lpstr>
      <vt:lpstr>Cambria Math</vt:lpstr>
      <vt:lpstr>Candara</vt:lpstr>
      <vt:lpstr>System Font Regular</vt:lpstr>
      <vt:lpstr>Wingdings</vt:lpstr>
      <vt:lpstr>1_Office Theme</vt:lpstr>
      <vt:lpstr>2_Office Theme</vt:lpstr>
      <vt:lpstr>Introduction to Blockchain  CSE-355</vt:lpstr>
      <vt:lpstr>Lecture 13 Tuesday, Mar 3, 2026</vt:lpstr>
      <vt:lpstr>Blockchain Block Header</vt:lpstr>
      <vt:lpstr>Can We Pay for Coffee in BTC?</vt:lpstr>
      <vt:lpstr>Bitcoin Statistics: Jan 22, 2026</vt:lpstr>
      <vt:lpstr>Bitcoin – Decentralized Digital Currency</vt:lpstr>
      <vt:lpstr>Bitcoin as a Micropayment Platform?</vt:lpstr>
      <vt:lpstr>Bitcoin Scripts Revisited</vt:lpstr>
      <vt:lpstr>What is possible with Bitcoin Scripts?</vt:lpstr>
      <vt:lpstr>Miniscript</vt:lpstr>
      <vt:lpstr>Comparison</vt:lpstr>
      <vt:lpstr>Bitcoin Transactions – UTXO Model</vt:lpstr>
      <vt:lpstr>Spending an Output</vt:lpstr>
      <vt:lpstr>Transaction Chaining</vt:lpstr>
      <vt:lpstr>UTXO Database</vt:lpstr>
      <vt:lpstr>Lecture 14 Thursday, Mar 5, 2026</vt:lpstr>
      <vt:lpstr>UTXO Model</vt:lpstr>
      <vt:lpstr>Race between Transactions</vt:lpstr>
      <vt:lpstr>Making payments</vt:lpstr>
      <vt:lpstr>Payment with a ‘Change Output’</vt:lpstr>
      <vt:lpstr>Collaborative Transaction</vt:lpstr>
      <vt:lpstr>BTC Price vs a Cup of Coffee</vt:lpstr>
      <vt:lpstr>Start Thinking in Satoshis!</vt:lpstr>
      <vt:lpstr>Transaction Fee</vt:lpstr>
      <vt:lpstr>Transaction Fee Depends on Size</vt:lpstr>
      <vt:lpstr>Reducing the Fee for Micropayments</vt:lpstr>
      <vt:lpstr>Funding &amp; Commitment Transactions</vt:lpstr>
      <vt:lpstr>Unobserved Events</vt:lpstr>
      <vt:lpstr>Payment Channel</vt:lpstr>
      <vt:lpstr>Payment Channel</vt:lpstr>
      <vt:lpstr>Lecture 15 Tuesday, Mar 24, 2026</vt:lpstr>
      <vt:lpstr>Security Risks</vt:lpstr>
      <vt:lpstr>Preventing Old Commitment Publishing</vt:lpstr>
      <vt:lpstr>Trustless Payment Channel</vt:lpstr>
      <vt:lpstr>Fundamental Challenges</vt:lpstr>
      <vt:lpstr>Assigning Blame</vt:lpstr>
      <vt:lpstr>Add Asymmetric Time Delays</vt:lpstr>
      <vt:lpstr>Commitment Transaction Creation</vt:lpstr>
      <vt:lpstr>Do We Need SegWit?</vt:lpstr>
      <vt:lpstr>SegWit Solves the Problem</vt:lpstr>
      <vt:lpstr>Lecture 16 Thursday, Mar 26, 2026</vt:lpstr>
      <vt:lpstr>P2WPKH</vt:lpstr>
      <vt:lpstr>P2WSH</vt:lpstr>
      <vt:lpstr>SegWit Transaction Validation</vt:lpstr>
      <vt:lpstr>Conditional Spending Rules using P2WSH</vt:lpstr>
      <vt:lpstr>Spending Transactions – P2WSH </vt:lpstr>
      <vt:lpstr>Custom Locking using P2WSH</vt:lpstr>
      <vt:lpstr>Storing Data on Bitcoin Blockchain</vt:lpstr>
      <vt:lpstr>Coinbase Transaction</vt:lpstr>
      <vt:lpstr>Committing Witness Data to the Block</vt:lpstr>
      <vt:lpstr>Lecture 17 Tuesday, Mar 31, 2026</vt:lpstr>
      <vt:lpstr>Prevent Cheating in Payment Channels</vt:lpstr>
      <vt:lpstr>Add Punishment for Cheating</vt:lpstr>
      <vt:lpstr>Revocation Key – Naïve Construction</vt:lpstr>
      <vt:lpstr>Safe Revocation Key</vt:lpstr>
      <vt:lpstr>Revoking the Old Commitment</vt:lpstr>
      <vt:lpstr>The Complete Picture</vt:lpstr>
      <vt:lpstr>Watch Tower</vt:lpstr>
      <vt:lpstr>Time locks</vt:lpstr>
      <vt:lpstr>Lecture 18 Thursday, Apr 2, 2026</vt:lpstr>
      <vt:lpstr>Absolute Time Lock</vt:lpstr>
      <vt:lpstr>Transaction Lock</vt:lpstr>
      <vt:lpstr>CHECKLOCKTIMEVERIFY (CLTV)</vt:lpstr>
      <vt:lpstr>Relative Time Lock</vt:lpstr>
      <vt:lpstr>CSV + nSequence</vt:lpstr>
      <vt:lpstr>Relative Time Lock: nSequence Only</vt:lpstr>
      <vt:lpstr>Summary of Time Locks</vt:lpstr>
      <vt:lpstr>Payment Routing</vt:lpstr>
      <vt:lpstr>Hash Lock</vt:lpstr>
      <vt:lpstr>Hash Lock Transactions &amp; Scripts</vt:lpstr>
      <vt:lpstr>Hash Time Lock Contract (HTLC)</vt:lpstr>
      <vt:lpstr>HTLC – Spending Paths</vt:lpstr>
      <vt:lpstr>Scalability Issues in Payment Channels</vt:lpstr>
      <vt:lpstr>Micropayments with Routing</vt:lpstr>
      <vt:lpstr>Commitment Transaction with HTLC Output</vt:lpstr>
      <vt:lpstr>Network of Payment Channels</vt:lpstr>
      <vt:lpstr>Lightning Network</vt:lpstr>
      <vt:lpstr>PowerPoint Presentation</vt:lpstr>
      <vt:lpstr>Privacy Evolution in Bitcoin</vt:lpstr>
      <vt:lpstr>Privacy Improvements</vt:lpstr>
      <vt:lpstr>Taproot Upgrade</vt:lpstr>
      <vt:lpstr>Privacy Advantages of Schnorr Signature</vt:lpstr>
      <vt:lpstr>Batch Verification</vt:lpstr>
      <vt:lpstr>Merkelized Abstract Syntax Tree (MAST)</vt:lpstr>
      <vt:lpstr>Witness Elements</vt:lpstr>
      <vt:lpstr>Public Key Privacy </vt:lpstr>
      <vt:lpstr>Scope &amp; Limits of Privacy in Bitcoin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Naveed ul Hassan</dc:creator>
  <cp:lastModifiedBy>Dr. Ahmed Akhtar / Assistant Professor</cp:lastModifiedBy>
  <cp:revision>1381</cp:revision>
  <dcterms:created xsi:type="dcterms:W3CDTF">2025-09-04T06:31:15Z</dcterms:created>
  <dcterms:modified xsi:type="dcterms:W3CDTF">2026-04-02T10:45:47Z</dcterms:modified>
</cp:coreProperties>
</file>